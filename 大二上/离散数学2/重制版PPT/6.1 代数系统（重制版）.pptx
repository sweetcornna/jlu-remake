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2_6-1_algebraic_syste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2_6-1_algebraic_syste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50050b6c5493d8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fd8ff32feb28ad7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e6b43c80aed06d2.jp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fea617121680dcc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638659cef814a21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fcbdb0015dc32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36a2f1ba11b3731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8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0" name="cover-title"/>
          <p:cNvGrpSpPr/>
          <p:nvPr/>
        </p:nvGrpSpPr>
        <p:grpSpPr>
          <a:xfrm>
            <a:off x="666750" y="1695450"/>
            <a:ext cx="3945849" cy="3318701"/>
            <a:chOff x="666750" y="1695450"/>
            <a:chExt cx="3945849" cy="3318701"/>
          </a:xfrm>
        </p:grpSpPr>
        <p:sp>
          <p:nvSpPr>
            <p:cNvPr id="4" name="Rectangle 4"/>
            <p:cNvSpPr/>
            <p:nvPr/>
          </p:nvSpPr>
          <p:spPr>
            <a:xfrm>
              <a:off x="685800" y="1695450"/>
              <a:ext cx="2971800" cy="3619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0204" y="1813560"/>
              <a:ext cx="2315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离散数学II · 第六章 群、环、域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396490"/>
              <a:ext cx="394584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代数系统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8135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894" y="3599498"/>
              <a:ext cx="2743962" cy="80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不关心元素是什么，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只关心</a:t>
              </a:r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运算守什么规矩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4750118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从“解方程”走向“研究结构”的第一步</a:t>
              </a:r>
            </a:p>
          </p:txBody>
        </p:sp>
      </p:grpSp>
      <p:grpSp>
        <p:nvGrpSpPr>
          <p:cNvPr id="12" name="cover-credit"/>
          <p:cNvGrpSpPr/>
          <p:nvPr/>
        </p:nvGrpSpPr>
        <p:grpSpPr>
          <a:xfrm>
            <a:off x="680466" y="6192202"/>
            <a:ext cx="5294928" cy="205359"/>
            <a:chOff x="680466" y="6192202"/>
            <a:chExt cx="5294928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680466" y="6192202"/>
              <a:ext cx="529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重制讲义 · 自学复习版 ｜ 据吉林大学计算机科学与技术学院《离散数学II》课件整理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414670" cy="960501"/>
            <a:chOff x="494134" y="361950"/>
            <a:chExt cx="441467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学习地图：我们从哪里出发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route"/>
          <p:cNvGrpSpPr/>
          <p:nvPr/>
        </p:nvGrpSpPr>
        <p:grpSpPr>
          <a:xfrm>
            <a:off x="533400" y="1866900"/>
            <a:ext cx="11125200" cy="1333881"/>
            <a:chOff x="533400" y="1866900"/>
            <a:chExt cx="11125200" cy="1333881"/>
          </a:xfrm>
        </p:grpSpPr>
        <p:sp>
          <p:nvSpPr>
            <p:cNvPr id="7" name="Freeform 7"/>
            <p:cNvSpPr/>
            <p:nvPr/>
          </p:nvSpPr>
          <p:spPr>
            <a:xfrm>
              <a:off x="533400" y="1866900"/>
              <a:ext cx="2514600" cy="9144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860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9913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440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306068" y="2088832"/>
              <a:ext cx="9374695" cy="582169"/>
              <a:chOff x="1306068" y="2088832"/>
              <a:chExt cx="9374695" cy="5821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4756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060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425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301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952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43931" y="2406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子群及其陪集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78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05712" y="24069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群的同态与同构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05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21836" y="2406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环与域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1143000" y="289560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75127" y="29660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▲ 你在这里</a:t>
              </a:r>
            </a:p>
          </p:txBody>
        </p:sp>
      </p:grpSp>
      <p:grpSp>
        <p:nvGrpSpPr>
          <p:cNvPr id="29" name="chapter-note"/>
          <p:cNvGrpSpPr/>
          <p:nvPr/>
        </p:nvGrpSpPr>
        <p:grpSpPr>
          <a:xfrm>
            <a:off x="526542" y="3352800"/>
            <a:ext cx="11132058" cy="381000"/>
            <a:chOff x="526542" y="3352800"/>
            <a:chExt cx="11132058" cy="381000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454718"/>
              <a:ext cx="6092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第六章共 8 节，本套讲义覆盖 6.1–6.5（后 3 节：素域、多项式、有限域）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86700" y="3352800"/>
              <a:ext cx="3771900" cy="3810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2533" y="3454718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另一条主线：第7章 格与布尔代数</a:t>
              </a:r>
            </a:p>
          </p:txBody>
        </p:sp>
      </p:grpSp>
      <p:grpSp>
        <p:nvGrpSpPr>
          <p:cNvPr id="49" name="goals"/>
          <p:cNvGrpSpPr/>
          <p:nvPr/>
        </p:nvGrpSpPr>
        <p:grpSpPr>
          <a:xfrm>
            <a:off x="525018" y="3974782"/>
            <a:ext cx="11133582" cy="1721168"/>
            <a:chOff x="525018" y="3974782"/>
            <a:chExt cx="11133582" cy="1721168"/>
          </a:xfrm>
        </p:grpSpPr>
        <p:sp>
          <p:nvSpPr>
            <p:cNvPr id="30" name="TextBox 30"/>
            <p:cNvSpPr txBox="1"/>
            <p:nvPr/>
          </p:nvSpPr>
          <p:spPr>
            <a:xfrm>
              <a:off x="525018" y="3974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本册三个目标</a:t>
              </a:r>
            </a:p>
          </p:txBody>
        </p:sp>
        <p:grpSp>
          <p:nvGrpSpPr>
            <p:cNvPr id="36" name="goal-1"/>
            <p:cNvGrpSpPr/>
            <p:nvPr/>
          </p:nvGrpSpPr>
          <p:grpSpPr>
            <a:xfrm>
              <a:off x="533400" y="4324350"/>
              <a:ext cx="3505200" cy="1371600"/>
              <a:chOff x="533400" y="4324350"/>
              <a:chExt cx="3505200" cy="1371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4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7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87018" y="462248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判断二元代数运算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5142" y="5073968"/>
                <a:ext cx="176250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抓住“唯一”与“封闭”，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会读写运算表</a:t>
                </a:r>
              </a:p>
            </p:txBody>
          </p:sp>
        </p:grpSp>
        <p:grpSp>
          <p:nvGrpSpPr>
            <p:cNvPr id="42" name="goal-2"/>
            <p:cNvGrpSpPr/>
            <p:nvPr/>
          </p:nvGrpSpPr>
          <p:grpSpPr>
            <a:xfrm>
              <a:off x="4343400" y="4324350"/>
              <a:ext cx="3505200" cy="1371600"/>
              <a:chOff x="4343400" y="4324350"/>
              <a:chExt cx="3505200" cy="13716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34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455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68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097018" y="462248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检验六大运算性质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65142" y="5073968"/>
                <a:ext cx="258546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交换、结合、幂等、分配、吸收、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消去：会证明，也会举反例</a:t>
                </a:r>
              </a:p>
            </p:txBody>
          </p:sp>
        </p:grpSp>
        <p:grpSp>
          <p:nvGrpSpPr>
            <p:cNvPr id="48" name="goal-3"/>
            <p:cNvGrpSpPr/>
            <p:nvPr/>
          </p:nvGrpSpPr>
          <p:grpSpPr>
            <a:xfrm>
              <a:off x="8153400" y="4324350"/>
              <a:ext cx="3505200" cy="1371600"/>
              <a:chOff x="8153400" y="4324350"/>
              <a:chExt cx="3505200" cy="13716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5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36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49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907018" y="462248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写出并判断代数系统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75142" y="5073968"/>
                <a:ext cx="2053971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350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(S, f₁, …, fₘ)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＝ 非空集合 ＋ 封闭的运算</a:t>
                </a:r>
              </a:p>
            </p:txBody>
          </p:sp>
        </p:grpSp>
      </p:grpSp>
      <p:grpSp>
        <p:nvGrpSpPr>
          <p:cNvPr id="56" name="study-tip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135380" y="6019800"/>
              <a:ext cx="93143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学习提示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离散数学II 是一个严密的整体，新知识依赖前面的知识——及时复习、看教材、独立完成作业。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163873" cy="960501"/>
            <a:chOff x="494134" y="361950"/>
            <a:chExt cx="416387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1383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从“解方程”到“研究结构”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ontrast-classical"/>
          <p:cNvGrpSpPr/>
          <p:nvPr/>
        </p:nvGrpSpPr>
        <p:grpSpPr>
          <a:xfrm>
            <a:off x="533400" y="1524000"/>
            <a:ext cx="4953000" cy="1276350"/>
            <a:chOff x="533400" y="1524000"/>
            <a:chExt cx="4953000" cy="1276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53000" cy="1276350"/>
            </a:xfrm>
            <a:prstGeom prst="roundRect">
              <a:avLst>
                <a:gd name="adj" fmla="val 1194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古典代数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718" y="21269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研究对象：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324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中心问题：方程根的计算与分布</a:t>
              </a:r>
            </a:p>
          </p:txBody>
        </p:sp>
      </p:grpSp>
      <p:grpSp>
        <p:nvGrpSpPr>
          <p:cNvPr id="14" name="contrast-shift"/>
          <p:cNvGrpSpPr/>
          <p:nvPr/>
        </p:nvGrpSpPr>
        <p:grpSpPr>
          <a:xfrm>
            <a:off x="5676900" y="1885950"/>
            <a:ext cx="838200" cy="905256"/>
            <a:chOff x="5676900" y="1885950"/>
            <a:chExt cx="838200" cy="905256"/>
          </a:xfrm>
        </p:grpSpPr>
        <p:sp>
          <p:nvSpPr>
            <p:cNvPr id="12" name="Freeform 12"/>
            <p:cNvSpPr/>
            <p:nvPr/>
          </p:nvSpPr>
          <p:spPr>
            <a:xfrm>
              <a:off x="5676900" y="1885950"/>
              <a:ext cx="838200" cy="53340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54296" y="2556510"/>
              <a:ext cx="6834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催生“群”</a:t>
              </a:r>
            </a:p>
          </p:txBody>
        </p:sp>
      </p:grpSp>
      <p:grpSp>
        <p:nvGrpSpPr>
          <p:cNvPr id="19" name="contrast-modern"/>
          <p:cNvGrpSpPr/>
          <p:nvPr/>
        </p:nvGrpSpPr>
        <p:grpSpPr>
          <a:xfrm>
            <a:off x="6705600" y="1524000"/>
            <a:ext cx="4953000" cy="1276350"/>
            <a:chOff x="6705600" y="1524000"/>
            <a:chExt cx="4953000" cy="1276350"/>
          </a:xfrm>
        </p:grpSpPr>
        <p:sp>
          <p:nvSpPr>
            <p:cNvPr id="15" name="Rectangle 15"/>
            <p:cNvSpPr/>
            <p:nvPr/>
          </p:nvSpPr>
          <p:spPr>
            <a:xfrm>
              <a:off x="6705600" y="1524000"/>
              <a:ext cx="4953000" cy="1276350"/>
            </a:xfrm>
            <a:prstGeom prst="roundRect">
              <a:avLst>
                <a:gd name="adj" fmla="val 1194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631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近世代数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3918" y="2126932"/>
              <a:ext cx="3704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研究对象：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代数系统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（集合 ＋ 运算）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65442" y="24831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中心问题：运算满足哪些规律、形成什么结构</a:t>
              </a:r>
            </a:p>
          </p:txBody>
        </p:sp>
      </p:grpSp>
      <p:grpSp>
        <p:nvGrpSpPr>
          <p:cNvPr id="43" name="equation-timeline"/>
          <p:cNvGrpSpPr/>
          <p:nvPr/>
        </p:nvGrpSpPr>
        <p:grpSpPr>
          <a:xfrm>
            <a:off x="525018" y="3117532"/>
            <a:ext cx="11133582" cy="2616518"/>
            <a:chOff x="525018" y="3117532"/>
            <a:chExt cx="11133582" cy="2616518"/>
          </a:xfrm>
        </p:grpSpPr>
        <p:sp>
          <p:nvSpPr>
            <p:cNvPr id="20" name="TextBox 20"/>
            <p:cNvSpPr txBox="1"/>
            <p:nvPr/>
          </p:nvSpPr>
          <p:spPr>
            <a:xfrm>
              <a:off x="525018" y="31175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一部解方程的历史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4019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 cap="rnd">
              <a:solidFill>
                <a:schemeClr val="accent6"/>
              </a:solidFill>
            </a:ln>
          </p:spPr>
        </p:sp>
        <p:grpSp>
          <p:nvGrpSpPr>
            <p:cNvPr id="25" name="tl-degree-1"/>
            <p:cNvGrpSpPr/>
            <p:nvPr/>
          </p:nvGrpSpPr>
          <p:grpSpPr>
            <a:xfrm>
              <a:off x="677418" y="3612832"/>
              <a:ext cx="1432789" cy="963169"/>
              <a:chOff x="677418" y="3612832"/>
              <a:chExt cx="1432789" cy="96316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77418" y="36128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一元一次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685800" y="3905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78942" y="4311968"/>
                <a:ext cx="14312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约公元前 1700 年</a:t>
                </a:r>
              </a:p>
            </p:txBody>
          </p:sp>
        </p:grpSp>
        <p:grpSp>
          <p:nvGrpSpPr>
            <p:cNvPr id="29" name="tl-degree-2"/>
            <p:cNvGrpSpPr/>
            <p:nvPr/>
          </p:nvGrpSpPr>
          <p:grpSpPr>
            <a:xfrm>
              <a:off x="2772918" y="3612832"/>
              <a:ext cx="1043940" cy="1229869"/>
              <a:chOff x="2772918" y="3612832"/>
              <a:chExt cx="1043940" cy="1229869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2772918" y="36128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一元二次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2781300" y="3905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774442" y="4311968"/>
                <a:ext cx="104241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公元前几世纪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巴比伦人</a:t>
                </a:r>
              </a:p>
            </p:txBody>
          </p:sp>
        </p:grpSp>
        <p:grpSp>
          <p:nvGrpSpPr>
            <p:cNvPr id="33" name="tl-degree-3"/>
            <p:cNvGrpSpPr/>
            <p:nvPr/>
          </p:nvGrpSpPr>
          <p:grpSpPr>
            <a:xfrm>
              <a:off x="4868418" y="3612832"/>
              <a:ext cx="1798320" cy="1763269"/>
              <a:chOff x="4868418" y="3612832"/>
              <a:chExt cx="1798320" cy="1763269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4868418" y="36128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一元三次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4876800" y="3905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69942" y="4311968"/>
                <a:ext cx="1796796" cy="10641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中国：7 世纪唐·王孝通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《缉古算经》近似解法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西方：16 世纪意大利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卡丹公式</a:t>
                </a:r>
              </a:p>
            </p:txBody>
          </p:sp>
        </p:grpSp>
        <p:grpSp>
          <p:nvGrpSpPr>
            <p:cNvPr id="37" name="tl-degree-4"/>
            <p:cNvGrpSpPr/>
            <p:nvPr/>
          </p:nvGrpSpPr>
          <p:grpSpPr>
            <a:xfrm>
              <a:off x="6963918" y="3612832"/>
              <a:ext cx="1729740" cy="1229869"/>
              <a:chOff x="6963918" y="3612832"/>
              <a:chExt cx="1729740" cy="1229869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963918" y="36128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一元四次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972300" y="3905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965442" y="4311968"/>
                <a:ext cx="172821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费拉里：化为一个三次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方程和两个二次方程</a:t>
                </a:r>
              </a:p>
            </p:txBody>
          </p:sp>
        </p:grpSp>
        <p:grpSp>
          <p:nvGrpSpPr>
            <p:cNvPr id="42" name="tl-degree-5"/>
            <p:cNvGrpSpPr/>
            <p:nvPr/>
          </p:nvGrpSpPr>
          <p:grpSpPr>
            <a:xfrm>
              <a:off x="8991600" y="3524250"/>
              <a:ext cx="2667000" cy="2209800"/>
              <a:chOff x="8991600" y="3524250"/>
              <a:chExt cx="2667000" cy="22098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991600" y="3524250"/>
                <a:ext cx="2667000" cy="2209800"/>
              </a:xfrm>
              <a:prstGeom prst="roundRect">
                <a:avLst>
                  <a:gd name="adj" fmla="val 689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173718" y="36128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一元五次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9144000" y="386715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175242" y="4311968"/>
                <a:ext cx="1899666" cy="1407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欧拉、高斯、范德蒙德、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鲁菲尼、拉格朗日都失败</a:t>
                </a:r>
              </a:p>
              <a:p>
                <a:pPr algn="l">
                  <a:lnSpc>
                    <a:spcPts val="2100"/>
                  </a:lnSpc>
                  <a:spcBef>
                    <a:spcPts val="600"/>
                  </a:spcBef>
                </a:pPr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19 世纪 伽罗瓦：</a:t>
                </a:r>
                <a:br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五次及以上一般方程</a:t>
                </a:r>
                <a:br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没有根式解</a:t>
                </a:r>
              </a:p>
            </p:txBody>
          </p:sp>
        </p:grpSp>
      </p:grpSp>
      <p:grpSp>
        <p:nvGrpSpPr>
          <p:cNvPr id="49" name="takeaway"/>
          <p:cNvGrpSpPr/>
          <p:nvPr/>
        </p:nvGrpSpPr>
        <p:grpSpPr>
          <a:xfrm>
            <a:off x="533400" y="5886450"/>
            <a:ext cx="11125200" cy="495300"/>
            <a:chOff x="533400" y="5886450"/>
            <a:chExt cx="11125200" cy="4953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86450"/>
              <a:ext cx="11125200" cy="495300"/>
            </a:xfrm>
            <a:prstGeom prst="roundRect">
              <a:avLst>
                <a:gd name="adj" fmla="val 26923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62000" y="6019802"/>
              <a:ext cx="228597" cy="228597"/>
              <a:chOff x="762000" y="6019802"/>
              <a:chExt cx="228597" cy="22859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62000" y="6019802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14400" y="6096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134618" y="6032182"/>
              <a:ext cx="80476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求五次方程根式解的失败逼出了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“群”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的概念：代数的研究对象从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变成了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3687722" cy="960501"/>
            <a:chOff x="494134" y="361950"/>
            <a:chExt cx="368772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同一套规律，两个世界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law-table"/>
          <p:cNvGrpSpPr/>
          <p:nvPr/>
        </p:nvGrpSpPr>
        <p:grpSpPr>
          <a:xfrm>
            <a:off x="533400" y="1485900"/>
            <a:ext cx="7505700" cy="4191000"/>
            <a:chOff x="533400" y="1485900"/>
            <a:chExt cx="7505700" cy="4191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7505700" cy="419100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485900"/>
              <a:ext cx="7505700" cy="4572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54380" y="1619250"/>
              <a:ext cx="6097143" cy="293370"/>
              <a:chOff x="754380" y="1619250"/>
              <a:chExt cx="6097143" cy="29337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54380" y="16192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规律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859280" y="1619250"/>
                <a:ext cx="22183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集合代数 (ρ(S), ∩, ∪)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964430" y="1619250"/>
                <a:ext cx="18870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命题代数 (S, ∧, ∨)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85800" y="1943100"/>
              <a:ext cx="7200900" cy="3057525"/>
              <a:chOff x="685800" y="1943100"/>
              <a:chExt cx="7200900" cy="305752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685800" y="19431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85800" y="24384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85800" y="29337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85800" y="36195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685800" y="43053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85800" y="49911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754380" y="2105025"/>
              <a:ext cx="822960" cy="3322320"/>
              <a:chOff x="754380" y="2105025"/>
              <a:chExt cx="822960" cy="332232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54380" y="21050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幂等律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4380" y="2600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交换律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4380" y="31908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4380" y="38766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54380" y="45624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吸收律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4380" y="51339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德摩根律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859280" y="2105025"/>
              <a:ext cx="5690616" cy="3550920"/>
              <a:chOff x="1859280" y="2105025"/>
              <a:chExt cx="5690616" cy="355092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859280" y="2105025"/>
                <a:ext cx="16466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A∩A = A，A∪A = 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859280" y="2600325"/>
                <a:ext cx="21160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A∩B = B∩A，A∪B = B∪A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859280" y="3057525"/>
                <a:ext cx="17011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(A∩B)∩C = A∩(B∩C)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(A∪B)∪C = A∪(B∪C)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859280" y="3743325"/>
                <a:ext cx="21202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A∩(B∪C) = (A∩B)∪(A∩C)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A∪(B∩C) = (A∪B)∩(A∪C)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859280" y="4562475"/>
                <a:ext cx="25854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A∩(A∪B) = A，A∪(A∩B) = A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59280" y="5095875"/>
                <a:ext cx="13868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(A∩B)ᶜ = Aᶜ∪Bᶜ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(A∪B)ᶜ = Aᶜ∩Bᶜ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64430" y="2105025"/>
                <a:ext cx="16466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A∧A = A，A∨A = A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64430" y="2600325"/>
                <a:ext cx="21160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A∧B = B∧A，A∨B = B∨A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64430" y="3057525"/>
                <a:ext cx="17011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(A∧B)∧C = A∧(B∧C)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(A∨B)∨C = A∨(B∨C)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64430" y="3743325"/>
                <a:ext cx="21202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A∧(B∨C) = (A∧B)∨(A∧C)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A∨(B∧C) = (A∨B)∧(A∨C)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964430" y="4562475"/>
                <a:ext cx="25854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A∧(A∨B) = A，A∨(A∧B) = 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64430" y="5095875"/>
                <a:ext cx="13868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¬(A∧B) = ¬A∨¬B</a:t>
                </a:r>
                <a:br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¬(A∨B) = ¬A∧¬B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756666" y="5430202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需引入余集/否定</a:t>
              </a:r>
            </a:p>
          </p:txBody>
        </p:sp>
      </p:grpSp>
      <p:grpSp>
        <p:nvGrpSpPr>
          <p:cNvPr id="43" name="two-worlds-figure"/>
          <p:cNvGrpSpPr/>
          <p:nvPr/>
        </p:nvGrpSpPr>
        <p:grpSpPr>
          <a:xfrm>
            <a:off x="8305800" y="1524000"/>
            <a:ext cx="3352800" cy="2514600"/>
            <a:chOff x="8305800" y="1524000"/>
            <a:chExt cx="3352800" cy="2514600"/>
          </a:xfrm>
        </p:grpSpPr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5800" y="1524000"/>
              <a:ext cx="3352800" cy="2514600"/>
            </a:xfrm>
            <a:prstGeom prst="roundRect">
              <a:avLst>
                <a:gd name="adj" fmla="val 6060"/>
              </a:avLst>
            </a:prstGeom>
          </p:spPr>
        </p:pic>
      </p:grpSp>
      <p:grpSp>
        <p:nvGrpSpPr>
          <p:cNvPr id="47" name="method-card"/>
          <p:cNvGrpSpPr/>
          <p:nvPr/>
        </p:nvGrpSpPr>
        <p:grpSpPr>
          <a:xfrm>
            <a:off x="8305800" y="4229100"/>
            <a:ext cx="3352800" cy="1447800"/>
            <a:chOff x="8305800" y="4229100"/>
            <a:chExt cx="3352800" cy="1447800"/>
          </a:xfrm>
        </p:grpSpPr>
        <p:sp>
          <p:nvSpPr>
            <p:cNvPr id="44" name="Rectangle 44"/>
            <p:cNvSpPr/>
            <p:nvPr/>
          </p:nvSpPr>
          <p:spPr>
            <a:xfrm>
              <a:off x="8305800" y="4229100"/>
              <a:ext cx="3352800" cy="1447800"/>
            </a:xfrm>
            <a:prstGeom prst="roundRect">
              <a:avLst>
                <a:gd name="adj" fmla="val 105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26780" y="4410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近世代数的方法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27542" y="4750118"/>
              <a:ext cx="24140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不看对象的具体特性和运算的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具体意义，只按运算遵循的规律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给数学结构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分类研究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67400"/>
            <a:ext cx="11125200" cy="514350"/>
            <a:chOff x="533400" y="5867400"/>
            <a:chExt cx="11125200" cy="514350"/>
          </a:xfrm>
        </p:grpSpPr>
        <p:sp>
          <p:nvSpPr>
            <p:cNvPr id="48" name="Rectangle 48"/>
            <p:cNvSpPr/>
            <p:nvPr/>
          </p:nvSpPr>
          <p:spPr>
            <a:xfrm>
              <a:off x="533400" y="586740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62000" y="6010275"/>
              <a:ext cx="228599" cy="228600"/>
              <a:chOff x="762000" y="6010275"/>
              <a:chExt cx="228599" cy="228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62000" y="601027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07415" y="606107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7090" y="618807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134618" y="6022658"/>
              <a:ext cx="98012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集合的 ∩∪ 与逻辑的 ∧∨ 满足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完全相同的规律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——它们本质上是同一种代数结构（第7章的布尔代数）。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7030774" cy="960501"/>
            <a:chOff x="494134" y="361950"/>
            <a:chExt cx="703077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00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伽罗瓦（1811—1832）：近世代数的创始人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portrait"/>
          <p:cNvGrpSpPr/>
          <p:nvPr/>
        </p:nvGrpSpPr>
        <p:grpSpPr>
          <a:xfrm>
            <a:off x="525780" y="1524000"/>
            <a:ext cx="2407920" cy="3838956"/>
            <a:chOff x="525780" y="1524000"/>
            <a:chExt cx="2407920" cy="3838956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94" r="0" b="93"/>
            <a:stretch>
              <a:fillRect/>
            </a:stretch>
          </p:blipFill>
          <p:spPr>
            <a:xfrm>
              <a:off x="533400" y="1524000"/>
              <a:ext cx="2400300" cy="3200400"/>
            </a:xfrm>
            <a:prstGeom prst="roundRect">
              <a:avLst>
                <a:gd name="adj" fmla="val 7936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525780" y="4848225"/>
              <a:ext cx="1747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埃瓦里斯特·伽罗瓦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7304" y="5128260"/>
              <a:ext cx="17032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Évariste Galois · 法国</a:t>
              </a:r>
            </a:p>
          </p:txBody>
        </p:sp>
      </p:grpSp>
      <p:grpSp>
        <p:nvGrpSpPr>
          <p:cNvPr id="32" name="timeline-youth"/>
          <p:cNvGrpSpPr/>
          <p:nvPr/>
        </p:nvGrpSpPr>
        <p:grpSpPr>
          <a:xfrm>
            <a:off x="3238500" y="1562100"/>
            <a:ext cx="2978658" cy="2985326"/>
            <a:chOff x="3238500" y="1562100"/>
            <a:chExt cx="2978658" cy="2985326"/>
          </a:xfrm>
        </p:grpSpPr>
        <p:sp>
          <p:nvSpPr>
            <p:cNvPr id="11" name="Line 11"/>
            <p:cNvSpPr/>
            <p:nvPr/>
          </p:nvSpPr>
          <p:spPr>
            <a:xfrm>
              <a:off x="3638550" y="167640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5" name="ev-a1"/>
            <p:cNvGrpSpPr/>
            <p:nvPr/>
          </p:nvGrpSpPr>
          <p:grpSpPr>
            <a:xfrm>
              <a:off x="3238500" y="1562100"/>
              <a:ext cx="2011680" cy="308801"/>
              <a:chOff x="3238500" y="1562100"/>
              <a:chExt cx="2011680" cy="308801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38500" y="1562100"/>
                <a:ext cx="8001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445871" y="16135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1811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46042" y="16068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生于巴黎近郊</a:t>
                </a:r>
              </a:p>
            </p:txBody>
          </p:sp>
        </p:grpSp>
        <p:grpSp>
          <p:nvGrpSpPr>
            <p:cNvPr id="19" name="ev-a2"/>
            <p:cNvGrpSpPr/>
            <p:nvPr/>
          </p:nvGrpSpPr>
          <p:grpSpPr>
            <a:xfrm>
              <a:off x="3238500" y="2171700"/>
              <a:ext cx="2920365" cy="308801"/>
              <a:chOff x="3238500" y="2171700"/>
              <a:chExt cx="2920365" cy="308801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238500" y="2171700"/>
                <a:ext cx="8001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32947" y="2223135"/>
                <a:ext cx="4112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 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146042" y="22164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考试不及格，重读三年级</a:t>
                </a:r>
              </a:p>
            </p:txBody>
          </p:sp>
        </p:grpSp>
        <p:grpSp>
          <p:nvGrpSpPr>
            <p:cNvPr id="23" name="ev-a3"/>
            <p:cNvGrpSpPr/>
            <p:nvPr/>
          </p:nvGrpSpPr>
          <p:grpSpPr>
            <a:xfrm>
              <a:off x="3238500" y="2781300"/>
              <a:ext cx="2920365" cy="308801"/>
              <a:chOff x="3238500" y="2781300"/>
              <a:chExt cx="2920365" cy="308801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238500" y="2781300"/>
                <a:ext cx="8001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432947" y="2832735"/>
                <a:ext cx="4112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15 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46042" y="28260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开始自学数学大师的论著</a:t>
                </a:r>
              </a:p>
            </p:txBody>
          </p:sp>
        </p:grpSp>
        <p:grpSp>
          <p:nvGrpSpPr>
            <p:cNvPr id="27" name="ev-a4"/>
            <p:cNvGrpSpPr/>
            <p:nvPr/>
          </p:nvGrpSpPr>
          <p:grpSpPr>
            <a:xfrm>
              <a:off x="3238500" y="3390900"/>
              <a:ext cx="2978658" cy="546926"/>
              <a:chOff x="3238500" y="3390900"/>
              <a:chExt cx="2978658" cy="546926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38500" y="3390900"/>
                <a:ext cx="8001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445871" y="34423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1828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146042" y="3435668"/>
                <a:ext cx="2071116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两次报考巴黎综合工科学校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均被拒绝</a:t>
                </a:r>
              </a:p>
            </p:txBody>
          </p:sp>
        </p:grpSp>
        <p:grpSp>
          <p:nvGrpSpPr>
            <p:cNvPr id="31" name="ev-a5"/>
            <p:cNvGrpSpPr/>
            <p:nvPr/>
          </p:nvGrpSpPr>
          <p:grpSpPr>
            <a:xfrm>
              <a:off x="3238500" y="4000500"/>
              <a:ext cx="2464308" cy="546926"/>
              <a:chOff x="3238500" y="4000500"/>
              <a:chExt cx="2464308" cy="546926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238500" y="4000500"/>
                <a:ext cx="8001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445871" y="40519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1829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146042" y="4045268"/>
                <a:ext cx="1556766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父亲自杀；考入巴黎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高等师范学院</a:t>
                </a:r>
              </a:p>
            </p:txBody>
          </p:sp>
        </p:grpSp>
      </p:grpSp>
      <p:grpSp>
        <p:nvGrpSpPr>
          <p:cNvPr id="58" name="timeline-fate"/>
          <p:cNvGrpSpPr/>
          <p:nvPr/>
        </p:nvGrpSpPr>
        <p:grpSpPr>
          <a:xfrm>
            <a:off x="7524750" y="1562100"/>
            <a:ext cx="3624453" cy="3594926"/>
            <a:chOff x="7524750" y="1562100"/>
            <a:chExt cx="3624453" cy="3594926"/>
          </a:xfrm>
        </p:grpSpPr>
        <p:sp>
          <p:nvSpPr>
            <p:cNvPr id="33" name="Line 33"/>
            <p:cNvSpPr/>
            <p:nvPr/>
          </p:nvSpPr>
          <p:spPr>
            <a:xfrm>
              <a:off x="7981950" y="16764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37" name="ev-b1"/>
            <p:cNvGrpSpPr/>
            <p:nvPr/>
          </p:nvGrpSpPr>
          <p:grpSpPr>
            <a:xfrm>
              <a:off x="7524750" y="1562100"/>
              <a:ext cx="3264408" cy="546926"/>
              <a:chOff x="7524750" y="1562100"/>
              <a:chExt cx="3264408" cy="546926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524750" y="1562100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789271" y="16135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1829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546592" y="1606868"/>
                <a:ext cx="2242566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五次方程论文交傅立叶审阅，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傅立叶去世，论文遗失</a:t>
                </a:r>
              </a:p>
            </p:txBody>
          </p:sp>
        </p:grpSp>
        <p:grpSp>
          <p:nvGrpSpPr>
            <p:cNvPr id="41" name="ev-b2"/>
            <p:cNvGrpSpPr/>
            <p:nvPr/>
          </p:nvGrpSpPr>
          <p:grpSpPr>
            <a:xfrm>
              <a:off x="7524750" y="2171700"/>
              <a:ext cx="2852928" cy="308801"/>
              <a:chOff x="7524750" y="2171700"/>
              <a:chExt cx="2852928" cy="308801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524750" y="2171700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49333" y="2223135"/>
                <a:ext cx="6652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1830.12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546592" y="22164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抨击校长，被学校开除</a:t>
                </a:r>
              </a:p>
            </p:txBody>
          </p:sp>
        </p:grpSp>
        <p:grpSp>
          <p:nvGrpSpPr>
            <p:cNvPr id="45" name="ev-b3"/>
            <p:cNvGrpSpPr/>
            <p:nvPr/>
          </p:nvGrpSpPr>
          <p:grpSpPr>
            <a:xfrm>
              <a:off x="7524750" y="2781300"/>
              <a:ext cx="3624453" cy="546926"/>
              <a:chOff x="7524750" y="2781300"/>
              <a:chExt cx="3624453" cy="546926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7524750" y="2781300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789271" y="28327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1831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546592" y="2826068"/>
                <a:ext cx="2602611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论文被泊松评为“完全不能理解”；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两次被捕，狱中 9 个月写出定理</a:t>
                </a:r>
              </a:p>
            </p:txBody>
          </p:sp>
        </p:grpSp>
        <p:grpSp>
          <p:nvGrpSpPr>
            <p:cNvPr id="49" name="ev-b4"/>
            <p:cNvGrpSpPr/>
            <p:nvPr/>
          </p:nvGrpSpPr>
          <p:grpSpPr>
            <a:xfrm>
              <a:off x="7524750" y="3390900"/>
              <a:ext cx="3092958" cy="546926"/>
              <a:chOff x="7524750" y="3390900"/>
              <a:chExt cx="3092958" cy="546926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7524750" y="3390900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556042" y="3442335"/>
                <a:ext cx="8518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1832.5.29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546592" y="3435668"/>
                <a:ext cx="2071116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致信友人：请雅可比或高斯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评价这些定理的重要性</a:t>
                </a:r>
              </a:p>
            </p:txBody>
          </p:sp>
        </p:grpSp>
        <p:grpSp>
          <p:nvGrpSpPr>
            <p:cNvPr id="53" name="ev-b5"/>
            <p:cNvGrpSpPr/>
            <p:nvPr/>
          </p:nvGrpSpPr>
          <p:grpSpPr>
            <a:xfrm>
              <a:off x="7524750" y="4000500"/>
              <a:ext cx="2750058" cy="546926"/>
              <a:chOff x="7524750" y="4000500"/>
              <a:chExt cx="2750058" cy="546926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524750" y="4000500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556042" y="4051935"/>
                <a:ext cx="8518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1832.5.30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546592" y="4045268"/>
                <a:ext cx="1728216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决斗重伤，次日去世，</a:t>
                </a:r>
                <a:br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不满 21 岁</a:t>
                </a:r>
              </a:p>
            </p:txBody>
          </p:sp>
        </p:grpSp>
        <p:grpSp>
          <p:nvGrpSpPr>
            <p:cNvPr id="57" name="ev-b6"/>
            <p:cNvGrpSpPr/>
            <p:nvPr/>
          </p:nvGrpSpPr>
          <p:grpSpPr>
            <a:xfrm>
              <a:off x="7524750" y="4610100"/>
              <a:ext cx="3350133" cy="546926"/>
              <a:chOff x="7524750" y="4610100"/>
              <a:chExt cx="3350133" cy="546926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24750" y="4610100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789271" y="46615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1846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546592" y="4654868"/>
                <a:ext cx="2328291" cy="50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遗作经友人整理发表；1870 年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若尔当《论置换与代数方程》</a:t>
                </a:r>
              </a:p>
            </p:txBody>
          </p:sp>
        </p:grpSp>
      </p:grpSp>
      <p:grpSp>
        <p:nvGrpSpPr>
          <p:cNvPr id="64" name="contribution"/>
          <p:cNvGrpSpPr/>
          <p:nvPr/>
        </p:nvGrpSpPr>
        <p:grpSpPr>
          <a:xfrm>
            <a:off x="533400" y="5467350"/>
            <a:ext cx="11125200" cy="914400"/>
            <a:chOff x="533400" y="5467350"/>
            <a:chExt cx="11125200" cy="914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467350"/>
              <a:ext cx="11125200" cy="9144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5800" y="561975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14400" y="56197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51560" y="5680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贡献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668780" y="5657850"/>
              <a:ext cx="69018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开创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置换群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理论，建立伽罗瓦理论（群与域），彻底解决一般方程的根式解问题；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为三等分任意角、倍立方、正 n 边形作图等古希腊作图难题提供了代数判别工具。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5868566" cy="960501"/>
            <a:chOff x="494134" y="361950"/>
            <a:chExt cx="586856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从伽罗瓦到诺特：近世代数走向成熟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milestones"/>
          <p:cNvGrpSpPr/>
          <p:nvPr/>
        </p:nvGrpSpPr>
        <p:grpSpPr>
          <a:xfrm>
            <a:off x="581149" y="1685925"/>
            <a:ext cx="5355860" cy="3747326"/>
            <a:chOff x="581149" y="1685925"/>
            <a:chExt cx="5355860" cy="3747326"/>
          </a:xfrm>
        </p:grpSpPr>
        <p:sp>
          <p:nvSpPr>
            <p:cNvPr id="7" name="Line 7"/>
            <p:cNvSpPr/>
            <p:nvPr/>
          </p:nvSpPr>
          <p:spPr>
            <a:xfrm>
              <a:off x="1866900" y="1771650"/>
              <a:ext cx="9525" cy="3181350"/>
            </a:xfrm>
            <a:custGeom>
              <a:avLst/>
              <a:gdLst/>
              <a:ahLst/>
              <a:cxnLst/>
              <a:rect l="l" t="t" r="r" b="b"/>
              <a:pathLst>
                <a:path w="9525" h="3181350">
                  <a:moveTo>
                    <a:pt x="0" y="0"/>
                  </a:moveTo>
                  <a:lnTo>
                    <a:pt x="0" y="31813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2" name="ms-1"/>
            <p:cNvGrpSpPr/>
            <p:nvPr/>
          </p:nvGrpSpPr>
          <p:grpSpPr>
            <a:xfrm>
              <a:off x="728053" y="1685925"/>
              <a:ext cx="5208956" cy="546926"/>
              <a:chOff x="728053" y="1685925"/>
              <a:chExt cx="5208956" cy="546926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28053" y="1685925"/>
                <a:ext cx="91786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 世纪初</a:t>
                </a:r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71650" y="168592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087880" y="1685925"/>
                <a:ext cx="20658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伽罗瓦引入“群”的概念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088642" y="1968818"/>
                <a:ext cx="3848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证明五次及以上一般方程没有根式解——学科诞生</a:t>
                </a:r>
              </a:p>
            </p:txBody>
          </p:sp>
        </p:grpSp>
        <p:grpSp>
          <p:nvGrpSpPr>
            <p:cNvPr id="17" name="ms-2"/>
            <p:cNvGrpSpPr/>
            <p:nvPr/>
          </p:nvGrpSpPr>
          <p:grpSpPr>
            <a:xfrm>
              <a:off x="1164222" y="2486025"/>
              <a:ext cx="3765918" cy="546926"/>
              <a:chOff x="1164222" y="2486025"/>
              <a:chExt cx="3765918" cy="54692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164222" y="24860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1911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771650" y="248602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087880" y="248602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施泰尼茨发表《域的代数理论》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88642" y="27689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抽象代数的重要里程碑</a:t>
                </a:r>
              </a:p>
            </p:txBody>
          </p:sp>
        </p:grpSp>
        <p:grpSp>
          <p:nvGrpSpPr>
            <p:cNvPr id="22" name="ms-3"/>
            <p:cNvGrpSpPr/>
            <p:nvPr/>
          </p:nvGrpSpPr>
          <p:grpSpPr>
            <a:xfrm>
              <a:off x="581149" y="3286125"/>
              <a:ext cx="4892430" cy="546926"/>
              <a:chOff x="581149" y="3286125"/>
              <a:chExt cx="4892430" cy="54692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81149" y="3286125"/>
                <a:ext cx="10647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1920–1930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1771650" y="328612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087880" y="3286125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诺特与阿廷的奠基性工作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088642" y="3569018"/>
                <a:ext cx="33849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德国数学家艾米·诺特、奥地利数学家阿廷</a:t>
                </a:r>
              </a:p>
            </p:txBody>
          </p:sp>
        </p:grpSp>
        <p:grpSp>
          <p:nvGrpSpPr>
            <p:cNvPr id="27" name="ms-4"/>
            <p:cNvGrpSpPr/>
            <p:nvPr/>
          </p:nvGrpSpPr>
          <p:grpSpPr>
            <a:xfrm>
              <a:off x="581149" y="4057650"/>
              <a:ext cx="5337686" cy="575501"/>
              <a:chOff x="581149" y="4057650"/>
              <a:chExt cx="5337686" cy="57550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581149" y="4086225"/>
                <a:ext cx="10647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1930–1931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1743075" y="4057650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87880" y="4086225"/>
                <a:ext cx="307548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范·德·瓦尔登《近世代数学》两卷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088642" y="4369118"/>
                <a:ext cx="3830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根据诺特和阿廷的讲稿写成，</a:t>
                </a:r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标志近世代数成熟</a:t>
                </a:r>
              </a:p>
            </p:txBody>
          </p:sp>
        </p:grpSp>
        <p:grpSp>
          <p:nvGrpSpPr>
            <p:cNvPr id="32" name="ms-5"/>
            <p:cNvGrpSpPr/>
            <p:nvPr/>
          </p:nvGrpSpPr>
          <p:grpSpPr>
            <a:xfrm>
              <a:off x="1164222" y="4886325"/>
              <a:ext cx="3765918" cy="546926"/>
              <a:chOff x="1164222" y="4886325"/>
              <a:chExt cx="3765918" cy="54692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1164222" y="48863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1955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1771650" y="488632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087880" y="488632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第四版出版，更名为《代数学》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088642" y="51692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采纳德国数学家布兰特的意见</a:t>
                </a:r>
              </a:p>
            </p:txBody>
          </p:sp>
        </p:grpSp>
      </p:grpSp>
      <p:grpSp>
        <p:nvGrpSpPr>
          <p:cNvPr id="45" name="noether-card"/>
          <p:cNvGrpSpPr/>
          <p:nvPr/>
        </p:nvGrpSpPr>
        <p:grpSpPr>
          <a:xfrm>
            <a:off x="7772400" y="1524000"/>
            <a:ext cx="3886200" cy="4114800"/>
            <a:chOff x="7772400" y="1524000"/>
            <a:chExt cx="38862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7772400" y="1524000"/>
              <a:ext cx="3886200" cy="4114800"/>
            </a:xfrm>
            <a:prstGeom prst="roundRect">
              <a:avLst>
                <a:gd name="adj" fmla="val 49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029700" y="1638300"/>
              <a:ext cx="1371600" cy="1371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0" t="8942" r="0" b="8941"/>
            <a:stretch>
              <a:fillRect/>
            </a:stretch>
          </p:blipFill>
          <p:spPr>
            <a:xfrm>
              <a:off x="9067800" y="1676400"/>
              <a:ext cx="1295400" cy="1295400"/>
            </a:xfrm>
            <a:prstGeom prst="ellipse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519017" y="3152775"/>
              <a:ext cx="2392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艾米·诺特（1882—1935）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59368" y="34518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近世代数发展史上的丰碑人物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056563" y="3857625"/>
              <a:ext cx="155575" cy="133350"/>
              <a:chOff x="8056563" y="3857625"/>
              <a:chExt cx="155575" cy="1333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056563" y="3857625"/>
                <a:ext cx="55563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133350">
                    <a:moveTo>
                      <a:pt x="55563" y="55563"/>
                    </a:moveTo>
                    <a:lnTo>
                      <a:pt x="11113" y="55563"/>
                    </a:lnTo>
                    <a:cubicBezTo>
                      <a:pt x="4975" y="55563"/>
                      <a:pt x="0" y="50587"/>
                      <a:pt x="0" y="44450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44450" y="0"/>
                    </a:lnTo>
                    <a:cubicBezTo>
                      <a:pt x="50587" y="0"/>
                      <a:pt x="55563" y="4975"/>
                      <a:pt x="55563" y="11113"/>
                    </a:cubicBezTo>
                    <a:lnTo>
                      <a:pt x="55563" y="77788"/>
                    </a:lnTo>
                    <a:cubicBezTo>
                      <a:pt x="55563" y="107425"/>
                      <a:pt x="40750" y="125938"/>
                      <a:pt x="11113" y="1333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56575" y="3857625"/>
                <a:ext cx="55563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133350">
                    <a:moveTo>
                      <a:pt x="55563" y="55563"/>
                    </a:moveTo>
                    <a:lnTo>
                      <a:pt x="11113" y="55563"/>
                    </a:lnTo>
                    <a:cubicBezTo>
                      <a:pt x="4975" y="55563"/>
                      <a:pt x="0" y="50587"/>
                      <a:pt x="0" y="44450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44450" y="0"/>
                    </a:lnTo>
                    <a:cubicBezTo>
                      <a:pt x="50587" y="0"/>
                      <a:pt x="55563" y="4975"/>
                      <a:pt x="55563" y="11113"/>
                    </a:cubicBezTo>
                    <a:lnTo>
                      <a:pt x="55563" y="77788"/>
                    </a:lnTo>
                    <a:cubicBezTo>
                      <a:pt x="55563" y="107425"/>
                      <a:pt x="40750" y="125938"/>
                      <a:pt x="11113" y="1333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337804" y="3851910"/>
              <a:ext cx="293065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i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Emmy Noether was the most significant</a:t>
              </a:r>
              <a:br/>
              <a:r>
                <a:rPr lang="en-US" sz="1200" i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creative mathematical genius thus far</a:t>
              </a:r>
              <a:br/>
              <a:r>
                <a:rPr lang="en-US" sz="1200" i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produced since the higher education</a:t>
              </a:r>
              <a:br/>
              <a:r>
                <a:rPr lang="en-US" sz="1200" i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of women began.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16541" y="49187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—— 阿尔伯特·爱因斯坦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94904" y="52997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有史以来最杰出、最具创造性的女性数学家之一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62635" y="5989451"/>
              <a:ext cx="234340" cy="239721"/>
              <a:chOff x="762635" y="5989451"/>
              <a:chExt cx="234340" cy="2397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76300" y="6054725"/>
                <a:ext cx="25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200">
                    <a:moveTo>
                      <a:pt x="0" y="0"/>
                    </a:moveTo>
                    <a:lnTo>
                      <a:pt x="0" y="50800"/>
                    </a:lnTo>
                    <a:lnTo>
                      <a:pt x="25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62635" y="5989451"/>
                <a:ext cx="234340" cy="239721"/>
              </a:xfrm>
              <a:custGeom>
                <a:avLst/>
                <a:gdLst/>
                <a:ahLst/>
                <a:cxnLst/>
                <a:rect l="l" t="t" r="r" b="b"/>
                <a:pathLst>
                  <a:path w="234340" h="239721">
                    <a:moveTo>
                      <a:pt x="0" y="103373"/>
                    </a:moveTo>
                    <a:cubicBezTo>
                      <a:pt x="5892" y="45531"/>
                      <a:pt x="54268" y="1328"/>
                      <a:pt x="112406" y="664"/>
                    </a:cubicBezTo>
                    <a:cubicBezTo>
                      <a:pt x="170544" y="0"/>
                      <a:pt x="219917" y="43086"/>
                      <a:pt x="227128" y="100779"/>
                    </a:cubicBezTo>
                    <a:cubicBezTo>
                      <a:pt x="234340" y="158472"/>
                      <a:pt x="197092" y="212386"/>
                      <a:pt x="140580" y="226053"/>
                    </a:cubicBezTo>
                    <a:cubicBezTo>
                      <a:pt x="84067" y="239721"/>
                      <a:pt x="26299" y="208786"/>
                      <a:pt x="6350" y="154173"/>
                    </a:cubicBezTo>
                    <a:moveTo>
                      <a:pt x="0" y="217673"/>
                    </a:moveTo>
                    <a:lnTo>
                      <a:pt x="0" y="154173"/>
                    </a:lnTo>
                    <a:lnTo>
                      <a:pt x="63500" y="154173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34618" y="6003608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一百年间，代数的主角从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具体的数与方程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，变成了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抽象的结构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5042116" cy="1885379"/>
            <a:chOff x="743712" y="1866900"/>
            <a:chExt cx="5042116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1715" y="1956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第一部分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代数运算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50337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先弄清：什么样的规则，才算一个“运算”？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3604374" cy="1747647"/>
            <a:chOff x="755142" y="4102418"/>
            <a:chExt cx="3604374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2667762" cy="363665"/>
              <a:chOff x="781050" y="4457700"/>
              <a:chExt cx="2667762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什么是二元代数运算？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578466" cy="363665"/>
              <a:chOff x="781050" y="4972050"/>
              <a:chExt cx="3578466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31486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怎样用运算表把运算“画”出来？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3578466" cy="363665"/>
              <a:chOff x="781050" y="5486400"/>
              <a:chExt cx="3578466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1486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怎样判断一个运算是否“封闭”？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6940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6.1 代数系统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326097" cy="960501"/>
            <a:chOff x="456415" y="361950"/>
            <a:chExt cx="632609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代数运算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628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二元代数运算：一台“两进一出”的机器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-card"/>
          <p:cNvGrpSpPr/>
          <p:nvPr/>
        </p:nvGrpSpPr>
        <p:grpSpPr>
          <a:xfrm>
            <a:off x="533400" y="1485900"/>
            <a:ext cx="6515100" cy="2247900"/>
            <a:chOff x="533400" y="1485900"/>
            <a:chExt cx="6515100" cy="2247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515100" cy="224790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38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99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925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二元代数运算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2088832"/>
              <a:ext cx="456399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S 是一个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非空集合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，称 S×S 到 S 的一个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映射 f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 S 的一个二元代数运算。即对 S 中任意 a、b，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通过 f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 S 中一个元素 c：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048000"/>
              <a:ext cx="5905500" cy="51435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17140" y="3180398"/>
              <a:ext cx="53000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f : S×S → S， f(a, b) = c，常记为 a ∗ b = c</a:t>
              </a:r>
            </a:p>
          </p:txBody>
        </p:sp>
      </p:grpSp>
      <p:grpSp>
        <p:nvGrpSpPr>
          <p:cNvPr id="35" name="three-checks"/>
          <p:cNvGrpSpPr/>
          <p:nvPr/>
        </p:nvGrpSpPr>
        <p:grpSpPr>
          <a:xfrm>
            <a:off x="525780" y="3914775"/>
            <a:ext cx="6522720" cy="1152525"/>
            <a:chOff x="525780" y="3914775"/>
            <a:chExt cx="6522720" cy="1152525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9147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判定三要点</a:t>
              </a:r>
            </a:p>
          </p:txBody>
        </p:sp>
        <p:grpSp>
          <p:nvGrpSpPr>
            <p:cNvPr id="22" name="check-input"/>
            <p:cNvGrpSpPr/>
            <p:nvPr/>
          </p:nvGrpSpPr>
          <p:grpSpPr>
            <a:xfrm>
              <a:off x="533400" y="4210050"/>
              <a:ext cx="2066925" cy="857250"/>
              <a:chOff x="533400" y="4210050"/>
              <a:chExt cx="2066925" cy="8572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4210050"/>
                <a:ext cx="2066925" cy="857250"/>
              </a:xfrm>
              <a:prstGeom prst="roundRect">
                <a:avLst>
                  <a:gd name="adj" fmla="val 15556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666750" y="4343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47358" y="4404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1080" y="43815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两个输入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7042" y="4769168"/>
                <a:ext cx="11583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a、b 都取自 S</a:t>
                </a:r>
              </a:p>
            </p:txBody>
          </p:sp>
        </p:grpSp>
        <p:grpSp>
          <p:nvGrpSpPr>
            <p:cNvPr id="28" name="check-unique"/>
            <p:cNvGrpSpPr/>
            <p:nvPr/>
          </p:nvGrpSpPr>
          <p:grpSpPr>
            <a:xfrm>
              <a:off x="2752725" y="4210050"/>
              <a:ext cx="2105596" cy="857250"/>
              <a:chOff x="2752725" y="4210050"/>
              <a:chExt cx="2105596" cy="857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752725" y="4210050"/>
                <a:ext cx="2066925" cy="857250"/>
              </a:xfrm>
              <a:prstGeom prst="roundRect">
                <a:avLst>
                  <a:gd name="adj" fmla="val 15556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2886075" y="4343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966683" y="4404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240405" y="43815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结果唯一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936367" y="4769168"/>
                <a:ext cx="19219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每对 (a, b) 只出一个 c</a:t>
                </a:r>
              </a:p>
            </p:txBody>
          </p:sp>
        </p:grpSp>
        <p:grpSp>
          <p:nvGrpSpPr>
            <p:cNvPr id="34" name="check-closed"/>
            <p:cNvGrpSpPr/>
            <p:nvPr/>
          </p:nvGrpSpPr>
          <p:grpSpPr>
            <a:xfrm>
              <a:off x="4972050" y="4210050"/>
              <a:ext cx="2076450" cy="857250"/>
              <a:chOff x="4972050" y="4210050"/>
              <a:chExt cx="2076450" cy="85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972050" y="4210050"/>
                <a:ext cx="207645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5105400" y="43434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186008" y="4404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459730" y="43815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结果封闭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155692" y="4769168"/>
                <a:ext cx="10583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 仍然属于 S</a:t>
                </a:r>
              </a:p>
            </p:txBody>
          </p:sp>
        </p:grpSp>
      </p:grpSp>
      <p:grpSp>
        <p:nvGrpSpPr>
          <p:cNvPr id="38" name="machine-figure"/>
          <p:cNvGrpSpPr/>
          <p:nvPr/>
        </p:nvGrpSpPr>
        <p:grpSpPr>
          <a:xfrm>
            <a:off x="7353300" y="1485900"/>
            <a:ext cx="4305300" cy="3623501"/>
            <a:chOff x="7353300" y="1485900"/>
            <a:chExt cx="4305300" cy="3623501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3300" y="1485900"/>
              <a:ext cx="4305300" cy="3228975"/>
            </a:xfrm>
            <a:prstGeom prst="roundRect">
              <a:avLst>
                <a:gd name="adj" fmla="val 4719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830283" y="4845368"/>
              <a:ext cx="33513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两个输入 → 唯一输出，且输出仍落在 S 里</a:t>
              </a:r>
            </a:p>
          </p:txBody>
        </p:sp>
      </p:grpSp>
      <p:grpSp>
        <p:nvGrpSpPr>
          <p:cNvPr id="44" name="note-order"/>
          <p:cNvGrpSpPr/>
          <p:nvPr/>
        </p:nvGrpSpPr>
        <p:grpSpPr>
          <a:xfrm>
            <a:off x="533400" y="5257800"/>
            <a:ext cx="5524500" cy="1122045"/>
            <a:chOff x="533400" y="5257800"/>
            <a:chExt cx="5524500" cy="1122045"/>
          </a:xfrm>
        </p:grpSpPr>
        <p:sp>
          <p:nvSpPr>
            <p:cNvPr id="39" name="Rectangle 39"/>
            <p:cNvSpPr/>
            <p:nvPr/>
          </p:nvSpPr>
          <p:spPr>
            <a:xfrm>
              <a:off x="533400" y="5257800"/>
              <a:ext cx="5524500" cy="1104900"/>
            </a:xfrm>
            <a:prstGeom prst="roundRect">
              <a:avLst>
                <a:gd name="adj" fmla="val 1379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5800" y="54102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14400" y="53911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1560" y="5452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780" y="5800725"/>
              <a:ext cx="3510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 ∗ b 与 b ∗ a 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不一定相等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输入是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有序对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(a, b)，交换律要另外验证</a:t>
              </a:r>
            </a:p>
          </p:txBody>
        </p:sp>
      </p:grpSp>
      <p:grpSp>
        <p:nvGrpSpPr>
          <p:cNvPr id="50" name="note-general"/>
          <p:cNvGrpSpPr/>
          <p:nvPr/>
        </p:nvGrpSpPr>
        <p:grpSpPr>
          <a:xfrm>
            <a:off x="6134100" y="5257800"/>
            <a:ext cx="5524500" cy="1122045"/>
            <a:chOff x="6134100" y="5257800"/>
            <a:chExt cx="5524500" cy="1122045"/>
          </a:xfrm>
        </p:grpSpPr>
        <p:sp>
          <p:nvSpPr>
            <p:cNvPr id="45" name="Rectangle 45"/>
            <p:cNvSpPr/>
            <p:nvPr/>
          </p:nvSpPr>
          <p:spPr>
            <a:xfrm>
              <a:off x="6134100" y="5257800"/>
              <a:ext cx="5524500" cy="110490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54102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515100" y="53911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2260" y="5452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7480" y="5800725"/>
              <a:ext cx="3158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 元代数运算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：Sⁿ 到 S 的映射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运算高度抽象，不局限于 +、−、×、÷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145253" cy="960501"/>
            <a:chOff x="456415" y="361950"/>
            <a:chExt cx="414525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代数运算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0819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运算表：把运算“画”出来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mapping-to-table"/>
          <p:cNvGrpSpPr/>
          <p:nvPr/>
        </p:nvGrpSpPr>
        <p:grpSpPr>
          <a:xfrm>
            <a:off x="533400" y="1485900"/>
            <a:ext cx="3429000" cy="4239006"/>
            <a:chOff x="533400" y="1485900"/>
            <a:chExt cx="3429000" cy="4239006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429000" cy="42291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99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5880" y="1676400"/>
              <a:ext cx="2317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{a, b} 上的一个运算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83118"/>
              <a:ext cx="2626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 S×S 的每个有序对指定结果：</a:t>
              </a:r>
            </a:p>
          </p:txBody>
        </p:sp>
        <p:grpSp>
          <p:nvGrpSpPr>
            <p:cNvPr id="24" name="map-rows"/>
            <p:cNvGrpSpPr/>
            <p:nvPr/>
          </p:nvGrpSpPr>
          <p:grpSpPr>
            <a:xfrm>
              <a:off x="685800" y="2381250"/>
              <a:ext cx="3124200" cy="1392365"/>
              <a:chOff x="685800" y="2381250"/>
              <a:chExt cx="3124200" cy="139236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85800" y="2381250"/>
                <a:ext cx="31242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29818" y="2422208"/>
                <a:ext cx="10718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(a, a) ↦ a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241042" y="2454592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即 a ∗ a = a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85800" y="2724150"/>
                <a:ext cx="31242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818" y="2765108"/>
                <a:ext cx="10718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(a, b) ↦ a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241042" y="2797492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即 a ∗ b = a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85800" y="3067050"/>
                <a:ext cx="31242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29818" y="3108008"/>
                <a:ext cx="10718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(b, a) ↦ 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241042" y="3140392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即 b ∗ a = b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85800" y="3409950"/>
                <a:ext cx="3124200" cy="304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29818" y="3450908"/>
                <a:ext cx="10718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(b, b) ↦ b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241042" y="3483292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即 b ∗ b = b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614731" y="3845242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↓ 整理成运算表</a:t>
              </a:r>
            </a:p>
          </p:txBody>
        </p:sp>
        <p:grpSp>
          <p:nvGrpSpPr>
            <p:cNvPr id="43" name="table-s2"/>
            <p:cNvGrpSpPr/>
            <p:nvPr/>
          </p:nvGrpSpPr>
          <p:grpSpPr>
            <a:xfrm>
              <a:off x="1447800" y="4114800"/>
              <a:ext cx="1600200" cy="1259015"/>
              <a:chOff x="1447800" y="4114800"/>
              <a:chExt cx="1600200" cy="125901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447800" y="4114800"/>
                <a:ext cx="1600200" cy="4191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447800" y="4533900"/>
                <a:ext cx="533400" cy="8382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981200" y="4533900"/>
                <a:ext cx="1066800" cy="838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447800" y="45339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447800" y="49530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981200" y="411480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2514600" y="411480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447800" y="4114800"/>
                <a:ext cx="1600200" cy="12573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641980" y="42129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∗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175380" y="42129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708780" y="42129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641980" y="46320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178434" y="4632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711834" y="4632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641980" y="50511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178434" y="50511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711834" y="50511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018108" y="549021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一张表 = 一个运算，两种写法等价</a:t>
              </a:r>
            </a:p>
          </p:txBody>
        </p:sp>
      </p:grpSp>
      <p:grpSp>
        <p:nvGrpSpPr>
          <p:cNvPr id="86" name="read-table"/>
          <p:cNvGrpSpPr/>
          <p:nvPr/>
        </p:nvGrpSpPr>
        <p:grpSpPr>
          <a:xfrm>
            <a:off x="4191000" y="1485900"/>
            <a:ext cx="3619500" cy="4229100"/>
            <a:chOff x="4191000" y="1485900"/>
            <a:chExt cx="3619500" cy="4229100"/>
          </a:xfrm>
        </p:grpSpPr>
        <p:sp>
          <p:nvSpPr>
            <p:cNvPr id="46" name="Rectangle 46"/>
            <p:cNvSpPr/>
            <p:nvPr/>
          </p:nvSpPr>
          <p:spPr>
            <a:xfrm>
              <a:off x="4191000" y="1485900"/>
              <a:ext cx="3619500" cy="4229100"/>
            </a:xfrm>
            <a:prstGeom prst="roundRect">
              <a:avLst>
                <a:gd name="adj" fmla="val 42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19600" y="16383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61332" y="1699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83480" y="1676400"/>
              <a:ext cx="2209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= {a, b, c} 的运算表</a:t>
              </a:r>
            </a:p>
          </p:txBody>
        </p:sp>
        <p:grpSp>
          <p:nvGrpSpPr>
            <p:cNvPr id="79" name="table-g3"/>
            <p:cNvGrpSpPr/>
            <p:nvPr/>
          </p:nvGrpSpPr>
          <p:grpSpPr>
            <a:xfrm>
              <a:off x="4781550" y="2095500"/>
              <a:ext cx="2438400" cy="1828800"/>
              <a:chOff x="4781550" y="2095500"/>
              <a:chExt cx="2438400" cy="18288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781550" y="2095500"/>
                <a:ext cx="2438400" cy="4572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4781550" y="2552700"/>
                <a:ext cx="609600" cy="13716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5391150" y="2552700"/>
                <a:ext cx="18288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5391150" y="2095500"/>
                <a:ext cx="609600" cy="4572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4781550" y="3009900"/>
                <a:ext cx="609600" cy="4572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4781550" y="255270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4781550" y="300990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4781550" y="346710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5391150" y="2095500"/>
                <a:ext cx="9525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8800">
                    <a:moveTo>
                      <a:pt x="0" y="0"/>
                    </a:moveTo>
                    <a:lnTo>
                      <a:pt x="0" y="18288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6000750" y="2095500"/>
                <a:ext cx="9525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8800">
                    <a:moveTo>
                      <a:pt x="0" y="0"/>
                    </a:moveTo>
                    <a:lnTo>
                      <a:pt x="0" y="18288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610350" y="2095500"/>
                <a:ext cx="9525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8800">
                    <a:moveTo>
                      <a:pt x="0" y="0"/>
                    </a:moveTo>
                    <a:lnTo>
                      <a:pt x="0" y="18288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4781550" y="2095500"/>
                <a:ext cx="2438400" cy="18288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5410200" y="3028950"/>
                <a:ext cx="571500" cy="419100"/>
              </a:xfrm>
              <a:prstGeom prst="rect">
                <a:avLst/>
              </a:prstGeom>
              <a:solidFill>
                <a:srgbClr val="FDEEE7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5013830" y="2222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∗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623430" y="2222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233030" y="2222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842630" y="2222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013830" y="26793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626484" y="26793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236084" y="26793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845684" y="26793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013830" y="31365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5623430" y="31365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236084" y="31365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845684" y="31365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013830" y="35937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626484" y="35937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236084" y="35937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845684" y="35937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</p:grpSp>
        <p:sp>
          <p:nvSpPr>
            <p:cNvPr id="80" name="TextBox 80"/>
            <p:cNvSpPr txBox="1"/>
            <p:nvPr/>
          </p:nvSpPr>
          <p:spPr>
            <a:xfrm>
              <a:off x="4412742" y="4140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读表规则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411980" y="441007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 x 行、第 y 列的格子 = x ∗ y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411980" y="4733925"/>
              <a:ext cx="18623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如橙色格：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∗ a = b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4343400" y="5048250"/>
              <a:ext cx="3314700" cy="514350"/>
            </a:xfrm>
            <a:prstGeom prst="roundRect">
              <a:avLst>
                <a:gd name="adj" fmla="val 22222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4532313" y="5249863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rgbClr val="0F7A6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831842" y="5226368"/>
              <a:ext cx="2442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所有格子都在 G 内 ⇔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运算封闭</a:t>
              </a:r>
            </a:p>
          </p:txBody>
        </p:sp>
      </p:grpSp>
      <p:grpSp>
        <p:nvGrpSpPr>
          <p:cNvPr id="103" name="count-card"/>
          <p:cNvGrpSpPr/>
          <p:nvPr/>
        </p:nvGrpSpPr>
        <p:grpSpPr>
          <a:xfrm>
            <a:off x="8039100" y="1485900"/>
            <a:ext cx="3619500" cy="4229100"/>
            <a:chOff x="8039100" y="1485900"/>
            <a:chExt cx="3619500" cy="4229100"/>
          </a:xfrm>
        </p:grpSpPr>
        <p:sp>
          <p:nvSpPr>
            <p:cNvPr id="87" name="Rectangle 87"/>
            <p:cNvSpPr/>
            <p:nvPr/>
          </p:nvSpPr>
          <p:spPr>
            <a:xfrm>
              <a:off x="8039100" y="1485900"/>
              <a:ext cx="3619500" cy="4229100"/>
            </a:xfrm>
            <a:prstGeom prst="roundRect">
              <a:avLst>
                <a:gd name="adj" fmla="val 42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267700" y="16383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400288" y="16992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137142" y="16925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一共有多少个二元运算？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8267700" y="21526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348308" y="2213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622030" y="2190750"/>
              <a:ext cx="2799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{a, b}：共 2×2 = 4 个格子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8267700" y="2686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348308" y="2747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622030" y="2724150"/>
              <a:ext cx="156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每格有 2 种填法，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共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2⁴ = 16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个运算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8267700" y="3448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48308" y="3509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622030" y="3486150"/>
              <a:ext cx="2406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一般地 |S| = n：n² 个格子，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每格 n 种填法，共有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count-formula"/>
                <p:cNvSpPr txBox="1">
                  <a:spLocks noGrp="1"/>
                </p:cNvSpPr>
                <p:nvPr/>
              </p:nvSpPr>
              <p:spPr>
                <a:xfrm>
                  <a:off x="8229600" y="4076700"/>
                  <a:ext cx="323850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33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sSup>
                              <m:e>
                                <m:r>
                                  <a:rPr lang="zh-CN" sz="330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330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01" name="Rectangle 101"/>
            <p:cNvSpPr/>
            <p:nvPr/>
          </p:nvSpPr>
          <p:spPr>
            <a:xfrm>
              <a:off x="8229600" y="5010150"/>
              <a:ext cx="3238500" cy="552450"/>
            </a:xfrm>
            <a:prstGeom prst="roundRect">
              <a:avLst>
                <a:gd name="adj" fmla="val 2069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591817" y="5200650"/>
              <a:ext cx="251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|S| = 3 时：3⁹ = 19 683 个</a:t>
              </a:r>
            </a:p>
          </p:txBody>
        </p:sp>
      </p:grpSp>
      <p:grpSp>
        <p:nvGrpSpPr>
          <p:cNvPr id="11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04" name="Rectangle 10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203199"/>
                    </a:lnTo>
                    <a:cubicBezTo>
                      <a:pt x="228599" y="217227"/>
                      <a:pt x="217227" y="228599"/>
                      <a:pt x="203199" y="228599"/>
                    </a:cubicBez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62000" y="60801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509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1134618" y="6003608"/>
              <a:ext cx="78243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有限集上的一个二元运算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一张填满的运算表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；每格都在集合内，运算才封闭。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11" name="TextBox 11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815863" cy="960501"/>
            <a:chOff x="456415" y="361950"/>
            <a:chExt cx="481586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代数运算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谁是二元运算？常见例子一览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losure-matrix"/>
          <p:cNvGrpSpPr/>
          <p:nvPr/>
        </p:nvGrpSpPr>
        <p:grpSpPr>
          <a:xfrm>
            <a:off x="533400" y="1524000"/>
            <a:ext cx="5905500" cy="2667000"/>
            <a:chOff x="533400" y="1524000"/>
            <a:chExt cx="5905500" cy="26670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05500" cy="495300"/>
            </a:xfrm>
            <a:prstGeom prst="roundRect">
              <a:avLst>
                <a:gd name="adj" fmla="val 2307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042" y="1683068"/>
              <a:ext cx="1036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集合 ＼ 运算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86070" y="16659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33820" y="16659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81570" y="16659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29320" y="16659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÷</a:t>
              </a:r>
            </a:p>
          </p:txBody>
        </p:sp>
        <p:grpSp>
          <p:nvGrpSpPr>
            <p:cNvPr id="28" name="row-n"/>
            <p:cNvGrpSpPr/>
            <p:nvPr/>
          </p:nvGrpSpPr>
          <p:grpSpPr>
            <a:xfrm>
              <a:off x="533400" y="2076450"/>
              <a:ext cx="5905500" cy="666750"/>
              <a:chOff x="533400" y="2076450"/>
              <a:chExt cx="5905500" cy="666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076450"/>
                <a:ext cx="59055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52094" y="2294572"/>
                <a:ext cx="1799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3498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自然数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2581275" y="22193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705100" y="23622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629025" y="2219325"/>
                <a:ext cx="381000" cy="38100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762375" y="2352675"/>
                <a:ext cx="114300" cy="114300"/>
                <a:chOff x="3762375" y="2352675"/>
                <a:chExt cx="114300" cy="1143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762375" y="23526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762375" y="23526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</p:grpSp>
          <p:sp>
            <p:nvSpPr>
              <p:cNvPr id="22" name="Ellipse 22"/>
              <p:cNvSpPr/>
              <p:nvPr/>
            </p:nvSpPr>
            <p:spPr>
              <a:xfrm>
                <a:off x="4676775" y="22193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00600" y="23622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724525" y="2219325"/>
                <a:ext cx="381000" cy="38100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5857875" y="2352675"/>
                <a:ext cx="114300" cy="114300"/>
                <a:chOff x="5857875" y="2352675"/>
                <a:chExt cx="114300" cy="1143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857875" y="23526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857875" y="23526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</p:grpSp>
        </p:grpSp>
        <p:grpSp>
          <p:nvGrpSpPr>
            <p:cNvPr id="42" name="row-z"/>
            <p:cNvGrpSpPr/>
            <p:nvPr/>
          </p:nvGrpSpPr>
          <p:grpSpPr>
            <a:xfrm>
              <a:off x="533400" y="2800350"/>
              <a:ext cx="5905500" cy="666750"/>
              <a:chOff x="533400" y="2800350"/>
              <a:chExt cx="5905500" cy="666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33400" y="2800350"/>
                <a:ext cx="59055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52094" y="3018472"/>
                <a:ext cx="1799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31392" y="30737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整数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2581275" y="29432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705100" y="30861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3629025" y="29432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752850" y="30861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676775" y="29432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800600" y="30861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724525" y="2943225"/>
                <a:ext cx="381000" cy="38100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5857875" y="3076575"/>
                <a:ext cx="114300" cy="114300"/>
                <a:chOff x="5857875" y="3076575"/>
                <a:chExt cx="114300" cy="11430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5857875" y="30765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857875" y="30765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</p:grpSp>
        </p:grpSp>
        <p:grpSp>
          <p:nvGrpSpPr>
            <p:cNvPr id="58" name="row-r"/>
            <p:cNvGrpSpPr/>
            <p:nvPr/>
          </p:nvGrpSpPr>
          <p:grpSpPr>
            <a:xfrm>
              <a:off x="533400" y="3524250"/>
              <a:ext cx="5905500" cy="666750"/>
              <a:chOff x="533400" y="3524250"/>
              <a:chExt cx="5905500" cy="666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33400" y="3524250"/>
                <a:ext cx="59055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52094" y="3742372"/>
                <a:ext cx="34017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R*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231392" y="37976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非零实数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2581275" y="3667125"/>
                <a:ext cx="381000" cy="38100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2714625" y="3800475"/>
                <a:ext cx="114300" cy="114300"/>
                <a:chOff x="2714625" y="3800475"/>
                <a:chExt cx="114300" cy="1143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2714625" y="38004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2714625" y="38004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</p:grpSp>
          <p:sp>
            <p:nvSpPr>
              <p:cNvPr id="50" name="Ellipse 50"/>
              <p:cNvSpPr/>
              <p:nvPr/>
            </p:nvSpPr>
            <p:spPr>
              <a:xfrm>
                <a:off x="3629025" y="3667125"/>
                <a:ext cx="381000" cy="38100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3762375" y="3800475"/>
                <a:ext cx="114300" cy="114300"/>
                <a:chOff x="3762375" y="3800475"/>
                <a:chExt cx="114300" cy="11430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3762375" y="38004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3762375" y="38004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B42318"/>
                  </a:solidFill>
                </a:ln>
              </p:spPr>
            </p:sp>
          </p:grpSp>
          <p:sp>
            <p:nvSpPr>
              <p:cNvPr id="54" name="Ellipse 54"/>
              <p:cNvSpPr/>
              <p:nvPr/>
            </p:nvSpPr>
            <p:spPr>
              <a:xfrm>
                <a:off x="4676775" y="36671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800600" y="38100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5724525" y="3667125"/>
                <a:ext cx="381000" cy="3810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848350" y="38100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0F7A68"/>
                </a:solidFill>
              </a:ln>
            </p:spPr>
          </p:sp>
        </p:grpSp>
      </p:grpSp>
      <p:grpSp>
        <p:nvGrpSpPr>
          <p:cNvPr id="76" name="counterexamples"/>
          <p:cNvGrpSpPr/>
          <p:nvPr/>
        </p:nvGrpSpPr>
        <p:grpSpPr>
          <a:xfrm>
            <a:off x="533400" y="4448175"/>
            <a:ext cx="5905500" cy="1247775"/>
            <a:chOff x="533400" y="4448175"/>
            <a:chExt cx="5905500" cy="1247775"/>
          </a:xfrm>
        </p:grpSpPr>
        <p:grpSp>
          <p:nvGrpSpPr>
            <p:cNvPr id="62" name="Group 62"/>
            <p:cNvGrpSpPr/>
            <p:nvPr/>
          </p:nvGrpSpPr>
          <p:grpSpPr>
            <a:xfrm>
              <a:off x="590550" y="4476750"/>
              <a:ext cx="114300" cy="114300"/>
              <a:chOff x="590550" y="4476750"/>
              <a:chExt cx="114300" cy="1143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590550" y="4476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90550" y="4476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30580" y="4448175"/>
              <a:ext cx="3414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 ✗ 只需一个“跑出集合”的结果：</a:t>
              </a:r>
            </a:p>
          </p:txBody>
        </p:sp>
        <p:grpSp>
          <p:nvGrpSpPr>
            <p:cNvPr id="67" name="ce-n"/>
            <p:cNvGrpSpPr/>
            <p:nvPr/>
          </p:nvGrpSpPr>
          <p:grpSpPr>
            <a:xfrm>
              <a:off x="533400" y="4781550"/>
              <a:ext cx="1866900" cy="914400"/>
              <a:chOff x="533400" y="4781550"/>
              <a:chExt cx="1866900" cy="9144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533400" y="4781550"/>
                <a:ext cx="1866900" cy="914400"/>
              </a:xfrm>
              <a:prstGeom prst="roundRect">
                <a:avLst>
                  <a:gd name="adj" fmla="val 1458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065124" y="4956810"/>
                <a:ext cx="8034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N 上的减法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4743" y="5286375"/>
                <a:ext cx="14042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1 − 2 = −1 ∉ N</a:t>
                </a:r>
              </a:p>
            </p:txBody>
          </p:sp>
        </p:grpSp>
        <p:grpSp>
          <p:nvGrpSpPr>
            <p:cNvPr id="71" name="ce-z"/>
            <p:cNvGrpSpPr/>
            <p:nvPr/>
          </p:nvGrpSpPr>
          <p:grpSpPr>
            <a:xfrm>
              <a:off x="2552700" y="4781550"/>
              <a:ext cx="1866900" cy="914400"/>
              <a:chOff x="2552700" y="4781550"/>
              <a:chExt cx="1866900" cy="9144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2552700" y="4781550"/>
                <a:ext cx="1866900" cy="914400"/>
              </a:xfrm>
              <a:prstGeom prst="roundRect">
                <a:avLst>
                  <a:gd name="adj" fmla="val 1458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3084424" y="4956810"/>
                <a:ext cx="8034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Z 上的除法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3036075" y="5286375"/>
                <a:ext cx="90015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1 ÷ 2 ∉ Z</a:t>
                </a:r>
              </a:p>
            </p:txBody>
          </p:sp>
        </p:grpSp>
        <p:grpSp>
          <p:nvGrpSpPr>
            <p:cNvPr id="75" name="ce-r"/>
            <p:cNvGrpSpPr/>
            <p:nvPr/>
          </p:nvGrpSpPr>
          <p:grpSpPr>
            <a:xfrm>
              <a:off x="4572000" y="4781550"/>
              <a:ext cx="1866900" cy="914400"/>
              <a:chOff x="4572000" y="4781550"/>
              <a:chExt cx="1866900" cy="9144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4572000" y="4781550"/>
                <a:ext cx="1866900" cy="914400"/>
              </a:xfrm>
              <a:prstGeom prst="roundRect">
                <a:avLst>
                  <a:gd name="adj" fmla="val 1458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5056784" y="4956810"/>
                <a:ext cx="8973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R* 上的加法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707213" y="5302568"/>
                <a:ext cx="15964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1 + (−1) = 0 ∉ R*</a:t>
                </a:r>
              </a:p>
            </p:txBody>
          </p:sp>
        </p:grpSp>
      </p:grpSp>
      <p:grpSp>
        <p:nvGrpSpPr>
          <p:cNvPr id="116" name="other-operations"/>
          <p:cNvGrpSpPr/>
          <p:nvPr/>
        </p:nvGrpSpPr>
        <p:grpSpPr>
          <a:xfrm>
            <a:off x="6667500" y="1485900"/>
            <a:ext cx="4991100" cy="4229100"/>
            <a:chOff x="6667500" y="1485900"/>
            <a:chExt cx="4991100" cy="4229100"/>
          </a:xfrm>
        </p:grpSpPr>
        <p:sp>
          <p:nvSpPr>
            <p:cNvPr id="77" name="Rectangle 77"/>
            <p:cNvSpPr/>
            <p:nvPr/>
          </p:nvSpPr>
          <p:spPr>
            <a:xfrm>
              <a:off x="6667500" y="1485900"/>
              <a:ext cx="49911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87718" y="16887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这些也都是二元代数运算</a:t>
              </a:r>
            </a:p>
          </p:txBody>
        </p:sp>
        <p:grpSp>
          <p:nvGrpSpPr>
            <p:cNvPr id="86" name="op-matrix"/>
            <p:cNvGrpSpPr/>
            <p:nvPr/>
          </p:nvGrpSpPr>
          <p:grpSpPr>
            <a:xfrm>
              <a:off x="6953250" y="2133600"/>
              <a:ext cx="2335530" cy="543306"/>
              <a:chOff x="6953250" y="2133600"/>
              <a:chExt cx="2335530" cy="543306"/>
            </a:xfrm>
          </p:grpSpPr>
          <p:sp>
            <p:nvSpPr>
              <p:cNvPr id="79" name="Ellipse 79"/>
              <p:cNvSpPr/>
              <p:nvPr/>
            </p:nvSpPr>
            <p:spPr>
              <a:xfrm>
                <a:off x="6953250" y="21336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7069931" y="2250281"/>
                <a:ext cx="185737" cy="185737"/>
                <a:chOff x="7069931" y="2250281"/>
                <a:chExt cx="185737" cy="185737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7069931" y="2250281"/>
                  <a:ext cx="185737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85737">
                      <a:moveTo>
                        <a:pt x="0" y="20637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165099" y="0"/>
                      </a:lnTo>
                      <a:cubicBezTo>
                        <a:pt x="176497" y="0"/>
                        <a:pt x="185737" y="9240"/>
                        <a:pt x="185737" y="20637"/>
                      </a:cubicBezTo>
                      <a:lnTo>
                        <a:pt x="185737" y="165099"/>
                      </a:lnTo>
                      <a:cubicBezTo>
                        <a:pt x="185737" y="176497"/>
                        <a:pt x="176497" y="185737"/>
                        <a:pt x="165099" y="185737"/>
                      </a:cubicBezTo>
                      <a:lnTo>
                        <a:pt x="20637" y="185737"/>
                      </a:lnTo>
                      <a:cubicBezTo>
                        <a:pt x="9240" y="185737"/>
                        <a:pt x="0" y="176497"/>
                        <a:pt x="0" y="165099"/>
                      </a:cubicBezTo>
                      <a:lnTo>
                        <a:pt x="0" y="20637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7069931" y="2322512"/>
                  <a:ext cx="1857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9525">
                      <a:moveTo>
                        <a:pt x="0" y="0"/>
                      </a:moveTo>
                      <a:lnTo>
                        <a:pt x="185737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7142162" y="2250281"/>
                  <a:ext cx="9525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5737">
                      <a:moveTo>
                        <a:pt x="0" y="0"/>
                      </a:moveTo>
                      <a:lnTo>
                        <a:pt x="0" y="185737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7498080" y="2143125"/>
                <a:ext cx="10031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阶实矩阵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499604" y="244221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矩阵的加法、矩阵的乘法</a:t>
                </a:r>
              </a:p>
            </p:txBody>
          </p:sp>
        </p:grpSp>
        <p:grpSp>
          <p:nvGrpSpPr>
            <p:cNvPr id="94" name="op-powerset"/>
            <p:cNvGrpSpPr/>
            <p:nvPr/>
          </p:nvGrpSpPr>
          <p:grpSpPr>
            <a:xfrm>
              <a:off x="6953250" y="2857500"/>
              <a:ext cx="1802435" cy="543306"/>
              <a:chOff x="6953250" y="2857500"/>
              <a:chExt cx="1802435" cy="543306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6953250" y="28575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91" name="Group 91"/>
              <p:cNvGrpSpPr/>
              <p:nvPr/>
            </p:nvGrpSpPr>
            <p:grpSpPr>
              <a:xfrm>
                <a:off x="7064772" y="2974181"/>
                <a:ext cx="196056" cy="185737"/>
                <a:chOff x="7064772" y="2974181"/>
                <a:chExt cx="196056" cy="185737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7121525" y="2974181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7064772" y="3077368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7178278" y="3077368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92" name="TextBox 92"/>
              <p:cNvSpPr txBox="1"/>
              <p:nvPr/>
            </p:nvSpPr>
            <p:spPr>
              <a:xfrm>
                <a:off x="7498080" y="2867025"/>
                <a:ext cx="9641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幂集 ρ(S)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7499604" y="3166110"/>
                <a:ext cx="12560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集合的交 ∩、并 ∪</a:t>
                </a:r>
              </a:p>
            </p:txBody>
          </p:sp>
        </p:grpSp>
        <p:grpSp>
          <p:nvGrpSpPr>
            <p:cNvPr id="101" name="op-truth"/>
            <p:cNvGrpSpPr/>
            <p:nvPr/>
          </p:nvGrpSpPr>
          <p:grpSpPr>
            <a:xfrm>
              <a:off x="6953250" y="3581400"/>
              <a:ext cx="2884780" cy="543306"/>
              <a:chOff x="6953250" y="3581400"/>
              <a:chExt cx="2884780" cy="543306"/>
            </a:xfrm>
          </p:grpSpPr>
          <p:sp>
            <p:nvSpPr>
              <p:cNvPr id="95" name="Ellipse 95"/>
              <p:cNvSpPr/>
              <p:nvPr/>
            </p:nvSpPr>
            <p:spPr>
              <a:xfrm>
                <a:off x="6953250" y="35814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98" name="Group 98"/>
              <p:cNvGrpSpPr/>
              <p:nvPr/>
            </p:nvGrpSpPr>
            <p:grpSpPr>
              <a:xfrm>
                <a:off x="7090569" y="3708400"/>
                <a:ext cx="144461" cy="165099"/>
                <a:chOff x="7090569" y="3708400"/>
                <a:chExt cx="144461" cy="165099"/>
              </a:xfrm>
            </p:grpSpPr>
            <p:sp>
              <p:nvSpPr>
                <p:cNvPr id="96" name="Freeform 96"/>
                <p:cNvSpPr/>
                <p:nvPr/>
              </p:nvSpPr>
              <p:spPr>
                <a:xfrm>
                  <a:off x="7090569" y="3708400"/>
                  <a:ext cx="30956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165099">
                      <a:moveTo>
                        <a:pt x="30956" y="0"/>
                      </a:moveTo>
                      <a:lnTo>
                        <a:pt x="0" y="0"/>
                      </a:lnTo>
                      <a:lnTo>
                        <a:pt x="0" y="165099"/>
                      </a:lnTo>
                      <a:lnTo>
                        <a:pt x="30956" y="165099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7204074" y="3708400"/>
                  <a:ext cx="30956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165099">
                      <a:moveTo>
                        <a:pt x="0" y="0"/>
                      </a:moveTo>
                      <a:lnTo>
                        <a:pt x="30956" y="0"/>
                      </a:lnTo>
                      <a:lnTo>
                        <a:pt x="30956" y="165099"/>
                      </a:lnTo>
                      <a:lnTo>
                        <a:pt x="0" y="165099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99" name="TextBox 99"/>
              <p:cNvSpPr txBox="1"/>
              <p:nvPr/>
            </p:nvSpPr>
            <p:spPr>
              <a:xfrm>
                <a:off x="7498080" y="3590925"/>
                <a:ext cx="15332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真值集合 {0, 1}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7499604" y="3890010"/>
                <a:ext cx="23384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合取 ∧、析取 ∨、蕴含 →、等价 ↔</a:t>
                </a:r>
              </a:p>
            </p:txBody>
          </p:sp>
        </p:grpSp>
        <p:grpSp>
          <p:nvGrpSpPr>
            <p:cNvPr id="108" name="op-maps"/>
            <p:cNvGrpSpPr/>
            <p:nvPr/>
          </p:nvGrpSpPr>
          <p:grpSpPr>
            <a:xfrm>
              <a:off x="6953250" y="4305300"/>
              <a:ext cx="3239948" cy="543306"/>
              <a:chOff x="6953250" y="4305300"/>
              <a:chExt cx="3239948" cy="543306"/>
            </a:xfrm>
          </p:grpSpPr>
          <p:sp>
            <p:nvSpPr>
              <p:cNvPr id="102" name="Ellipse 102"/>
              <p:cNvSpPr/>
              <p:nvPr/>
            </p:nvSpPr>
            <p:spPr>
              <a:xfrm>
                <a:off x="6953250" y="43053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05" name="Group 105"/>
              <p:cNvGrpSpPr/>
              <p:nvPr/>
            </p:nvGrpSpPr>
            <p:grpSpPr>
              <a:xfrm>
                <a:off x="7080250" y="4421981"/>
                <a:ext cx="165099" cy="185737"/>
                <a:chOff x="7080250" y="4421981"/>
                <a:chExt cx="165099" cy="185737"/>
              </a:xfrm>
            </p:grpSpPr>
            <p:sp>
              <p:nvSpPr>
                <p:cNvPr id="103" name="Freeform 103"/>
                <p:cNvSpPr/>
                <p:nvPr/>
              </p:nvSpPr>
              <p:spPr>
                <a:xfrm>
                  <a:off x="7080250" y="4421981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92868"/>
                      </a:moveTo>
                      <a:lnTo>
                        <a:pt x="0" y="61912"/>
                      </a:lnTo>
                      <a:cubicBezTo>
                        <a:pt x="0" y="44816"/>
                        <a:pt x="13860" y="30956"/>
                        <a:pt x="30956" y="30956"/>
                      </a:cubicBezTo>
                      <a:lnTo>
                        <a:pt x="165099" y="30956"/>
                      </a:lnTo>
                      <a:moveTo>
                        <a:pt x="134143" y="0"/>
                      </a:moveTo>
                      <a:lnTo>
                        <a:pt x="165099" y="30956"/>
                      </a:lnTo>
                      <a:lnTo>
                        <a:pt x="134143" y="61912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04" name="Freeform 104"/>
                <p:cNvSpPr/>
                <p:nvPr/>
              </p:nvSpPr>
              <p:spPr>
                <a:xfrm>
                  <a:off x="7080250" y="4514850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165099" y="0"/>
                      </a:moveTo>
                      <a:lnTo>
                        <a:pt x="165099" y="30956"/>
                      </a:lnTo>
                      <a:cubicBezTo>
                        <a:pt x="165099" y="48053"/>
                        <a:pt x="151240" y="61912"/>
                        <a:pt x="134143" y="61912"/>
                      </a:cubicBezTo>
                      <a:lnTo>
                        <a:pt x="0" y="61912"/>
                      </a:lnTo>
                      <a:moveTo>
                        <a:pt x="30956" y="92868"/>
                      </a:moveTo>
                      <a:lnTo>
                        <a:pt x="0" y="61912"/>
                      </a:lnTo>
                      <a:lnTo>
                        <a:pt x="30956" y="30956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106" name="TextBox 106"/>
              <p:cNvSpPr txBox="1"/>
              <p:nvPr/>
            </p:nvSpPr>
            <p:spPr>
              <a:xfrm>
                <a:off x="7498080" y="4314825"/>
                <a:ext cx="26951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非空集合 A 上全体映射 M(A)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7499604" y="461391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运算：映射的乘积（复合）</a:t>
                </a:r>
              </a:p>
            </p:txBody>
          </p:sp>
        </p:grpSp>
        <p:grpSp>
          <p:nvGrpSpPr>
            <p:cNvPr id="115" name="op-bijections"/>
            <p:cNvGrpSpPr/>
            <p:nvPr/>
          </p:nvGrpSpPr>
          <p:grpSpPr>
            <a:xfrm>
              <a:off x="6953250" y="5029200"/>
              <a:ext cx="3466338" cy="543306"/>
              <a:chOff x="6953250" y="5029200"/>
              <a:chExt cx="3466338" cy="543306"/>
            </a:xfrm>
          </p:grpSpPr>
          <p:sp>
            <p:nvSpPr>
              <p:cNvPr id="109" name="Ellipse 109"/>
              <p:cNvSpPr/>
              <p:nvPr/>
            </p:nvSpPr>
            <p:spPr>
              <a:xfrm>
                <a:off x="6953250" y="5029200"/>
                <a:ext cx="419100" cy="419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12" name="Group 112"/>
              <p:cNvGrpSpPr/>
              <p:nvPr/>
            </p:nvGrpSpPr>
            <p:grpSpPr>
              <a:xfrm>
                <a:off x="7069931" y="5176837"/>
                <a:ext cx="185737" cy="123825"/>
                <a:chOff x="7069931" y="5176837"/>
                <a:chExt cx="185737" cy="123825"/>
              </a:xfrm>
            </p:grpSpPr>
            <p:sp>
              <p:nvSpPr>
                <p:cNvPr id="110" name="Freeform 110"/>
                <p:cNvSpPr/>
                <p:nvPr/>
              </p:nvSpPr>
              <p:spPr>
                <a:xfrm>
                  <a:off x="7111206" y="5176837"/>
                  <a:ext cx="14446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41275">
                      <a:moveTo>
                        <a:pt x="0" y="41275"/>
                      </a:moveTo>
                      <a:lnTo>
                        <a:pt x="144462" y="41275"/>
                      </a:lnTo>
                      <a:lnTo>
                        <a:pt x="103187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11" name="Freeform 111"/>
                <p:cNvSpPr/>
                <p:nvPr/>
              </p:nvSpPr>
              <p:spPr>
                <a:xfrm>
                  <a:off x="7069931" y="5259387"/>
                  <a:ext cx="14446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41275">
                      <a:moveTo>
                        <a:pt x="144462" y="0"/>
                      </a:moveTo>
                      <a:lnTo>
                        <a:pt x="0" y="0"/>
                      </a:lnTo>
                      <a:lnTo>
                        <a:pt x="41275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113" name="TextBox 113"/>
              <p:cNvSpPr txBox="1"/>
              <p:nvPr/>
            </p:nvSpPr>
            <p:spPr>
              <a:xfrm>
                <a:off x="7498080" y="5038725"/>
                <a:ext cx="17753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上全体双射 B(A)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7499604" y="5337810"/>
                <a:ext cx="29199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运算：映射的乘积（双射复合仍是双射）</a:t>
                </a:r>
              </a:p>
            </p:txBody>
          </p:sp>
        </p:grpSp>
      </p:grpSp>
      <p:grpSp>
        <p:nvGrpSpPr>
          <p:cNvPr id="12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17" name="Rectangle 11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134618" y="6003608"/>
              <a:ext cx="69936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同一个运算换个集合就可能不封闭——判断时要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同时看“集合”和“运算”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23" name="TextBox 123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452389" cy="960501"/>
            <a:chOff x="456415" y="361950"/>
            <a:chExt cx="445238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代数运算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练一练：它是二元运算吗？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ex-setops"/>
          <p:cNvGrpSpPr/>
          <p:nvPr/>
        </p:nvGrpSpPr>
        <p:grpSpPr>
          <a:xfrm>
            <a:off x="533400" y="1485900"/>
            <a:ext cx="5448300" cy="2000250"/>
            <a:chOff x="533400" y="1485900"/>
            <a:chExt cx="54483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48300" cy="2000250"/>
            </a:xfrm>
            <a:prstGeom prst="roundRect">
              <a:avLst>
                <a:gd name="adj" fmla="val 76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573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843" y="17183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7518" y="1688782"/>
              <a:ext cx="2000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= {∅, {a}, {b}}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6406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运算：集合的交 ∩、并 ∪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00100" y="2457450"/>
              <a:ext cx="304800" cy="30480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96937" y="25701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5875">
              <a:solidFill>
                <a:srgbClr val="0F7A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11580" y="2514600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∩ 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31542" y="2530792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任意两元素之交仍为 ∅、{a} 或 {b}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00100" y="2952750"/>
              <a:ext cx="304800" cy="30480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04875" y="3057525"/>
              <a:ext cx="95250" cy="95250"/>
              <a:chOff x="904875" y="3057525"/>
              <a:chExt cx="95250" cy="952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04875" y="30575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04875" y="30575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11580" y="300990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∪ 不是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31542" y="3026092"/>
              <a:ext cx="1915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{a} ∪ {b} = {a, b} ∉ A</a:t>
              </a:r>
            </a:p>
          </p:txBody>
        </p:sp>
      </p:grpSp>
      <p:grpSp>
        <p:nvGrpSpPr>
          <p:cNvPr id="41" name="ex-even"/>
          <p:cNvGrpSpPr/>
          <p:nvPr/>
        </p:nvGrpSpPr>
        <p:grpSpPr>
          <a:xfrm>
            <a:off x="6210300" y="1485900"/>
            <a:ext cx="5448300" cy="2000250"/>
            <a:chOff x="6210300" y="1485900"/>
            <a:chExt cx="5448300" cy="2000250"/>
          </a:xfrm>
        </p:grpSpPr>
        <p:sp>
          <p:nvSpPr>
            <p:cNvPr id="23" name="Rectangle 23"/>
            <p:cNvSpPr/>
            <p:nvPr/>
          </p:nvSpPr>
          <p:spPr>
            <a:xfrm>
              <a:off x="6210300" y="1485900"/>
              <a:ext cx="5448300" cy="2000250"/>
            </a:xfrm>
            <a:prstGeom prst="roundRect">
              <a:avLst>
                <a:gd name="adj" fmla="val 76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38900" y="16573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4743" y="17183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4418" y="1688782"/>
              <a:ext cx="1532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= {0, 2, 4}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2042" y="2064068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运算：普通加法 +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77000" y="2457450"/>
              <a:ext cx="304800" cy="30480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581775" y="2562225"/>
              <a:ext cx="95250" cy="95250"/>
              <a:chOff x="6581775" y="2562225"/>
              <a:chExt cx="95250" cy="952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581775" y="25622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81775" y="25622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888480" y="251460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+ 不是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8442" y="2530792"/>
              <a:ext cx="1098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+ 4 = 6 ∉ A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2952750"/>
              <a:ext cx="304800" cy="30480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57962" y="3033712"/>
              <a:ext cx="142875" cy="142875"/>
              <a:chOff x="6557962" y="3033712"/>
              <a:chExt cx="142875" cy="14287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557962" y="3033712"/>
                <a:ext cx="142875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7">
                    <a:moveTo>
                      <a:pt x="0" y="71437"/>
                    </a:moveTo>
                    <a:lnTo>
                      <a:pt x="7937" y="71437"/>
                    </a:lnTo>
                    <a:moveTo>
                      <a:pt x="71437" y="0"/>
                    </a:moveTo>
                    <a:lnTo>
                      <a:pt x="71437" y="7937"/>
                    </a:lnTo>
                    <a:moveTo>
                      <a:pt x="134937" y="71437"/>
                    </a:moveTo>
                    <a:lnTo>
                      <a:pt x="142875" y="71437"/>
                    </a:lnTo>
                    <a:moveTo>
                      <a:pt x="20637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587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86347" y="306546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7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7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7"/>
                      <a:pt x="51820" y="111125"/>
                      <a:pt x="43053" y="111125"/>
                    </a:cubicBezTo>
                    <a:cubicBezTo>
                      <a:pt x="34285" y="111125"/>
                      <a:pt x="27178" y="104017"/>
                      <a:pt x="27178" y="95250"/>
                    </a:cubicBezTo>
                    <a:cubicBezTo>
                      <a:pt x="28473" y="86502"/>
                      <a:pt x="25526" y="77659"/>
                      <a:pt x="19240" y="71437"/>
                    </a:cubicBezTo>
                  </a:path>
                </a:pathLst>
              </a:custGeom>
              <a:noFill/>
              <a:ln w="1587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11144" y="3144837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587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888480" y="30099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8442" y="3026092"/>
              <a:ext cx="2913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只验 0 + 0 ∈ A 不够：要验全部 9 对</a:t>
              </a:r>
            </a:p>
          </p:txBody>
        </p:sp>
      </p:grpSp>
      <p:grpSp>
        <p:nvGrpSpPr>
          <p:cNvPr id="57" name="ex-powers"/>
          <p:cNvGrpSpPr/>
          <p:nvPr/>
        </p:nvGrpSpPr>
        <p:grpSpPr>
          <a:xfrm>
            <a:off x="533400" y="3619500"/>
            <a:ext cx="5448300" cy="2000250"/>
            <a:chOff x="533400" y="3619500"/>
            <a:chExt cx="5448300" cy="2000250"/>
          </a:xfrm>
        </p:grpSpPr>
        <p:sp>
          <p:nvSpPr>
            <p:cNvPr id="42" name="Rectangle 42"/>
            <p:cNvSpPr/>
            <p:nvPr/>
          </p:nvSpPr>
          <p:spPr>
            <a:xfrm>
              <a:off x="533400" y="3619500"/>
              <a:ext cx="5448300" cy="2000250"/>
            </a:xfrm>
            <a:prstGeom prst="roundRect">
              <a:avLst>
                <a:gd name="adj" fmla="val 76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37909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0988" y="38519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习题 6.1-2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58518" y="3822382"/>
              <a:ext cx="1723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{2ⁿ | n ∈ N}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5142" y="419766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运算：普通加法 +、普通乘法 ×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00100" y="4591050"/>
              <a:ext cx="304800" cy="30480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04875" y="4695825"/>
              <a:ext cx="95250" cy="95250"/>
              <a:chOff x="904875" y="4695825"/>
              <a:chExt cx="95250" cy="95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04875" y="46958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04875" y="46958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211580" y="464820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+ 不是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431542" y="4664392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+ 4 = 6，6 不是 2 的幂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00100" y="5086350"/>
              <a:ext cx="304800" cy="30480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96937" y="51990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5875">
              <a:solidFill>
                <a:srgbClr val="0F7A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11580" y="5143500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× 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31542" y="5159692"/>
              <a:ext cx="2179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2ᵐ · 2ⁿ = 2ᵐ⁺ⁿ，仍在 S 中</a:t>
              </a:r>
            </a:p>
          </p:txBody>
        </p:sp>
      </p:grpSp>
      <p:grpSp>
        <p:nvGrpSpPr>
          <p:cNvPr id="73" name="ex-residues"/>
          <p:cNvGrpSpPr/>
          <p:nvPr/>
        </p:nvGrpSpPr>
        <p:grpSpPr>
          <a:xfrm>
            <a:off x="6210300" y="3619500"/>
            <a:ext cx="5448300" cy="2000250"/>
            <a:chOff x="6210300" y="3619500"/>
            <a:chExt cx="5448300" cy="2000250"/>
          </a:xfrm>
        </p:grpSpPr>
        <p:sp>
          <p:nvSpPr>
            <p:cNvPr id="58" name="Rectangle 58"/>
            <p:cNvSpPr/>
            <p:nvPr/>
          </p:nvSpPr>
          <p:spPr>
            <a:xfrm>
              <a:off x="6210300" y="3619500"/>
              <a:ext cx="5448300" cy="2000250"/>
            </a:xfrm>
            <a:prstGeom prst="roundRect">
              <a:avLst>
                <a:gd name="adj" fmla="val 76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38900" y="37909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07888" y="38519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习题 6.1-1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5418" y="3822382"/>
              <a:ext cx="23608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Z₆ 的子集，剩余类加法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32804" y="4213860"/>
              <a:ext cx="4568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W₁={[0],[3]}，W₂={[0],[2],[4]}，W₃={[1],[3],[5]}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77000" y="4591050"/>
              <a:ext cx="304800" cy="30480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6573837" y="47037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5875">
              <a:solidFill>
                <a:srgbClr val="0F7A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88480" y="4648200"/>
              <a:ext cx="10687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W₁、W₂ 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08442" y="46643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任意两元素相加，结果仍在子集内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77000" y="5086350"/>
              <a:ext cx="304800" cy="30480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581775" y="5191125"/>
              <a:ext cx="95250" cy="95250"/>
              <a:chOff x="6581775" y="5191125"/>
              <a:chExt cx="95250" cy="9525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581775" y="5191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81775" y="5191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888480" y="5143500"/>
              <a:ext cx="777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W₃ 不是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08442" y="5159692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[1] + [1] = [2] ∉ W₃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4" name="Rectangle 7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63600" y="60928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800" y="60420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134618" y="6003608"/>
              <a:ext cx="62806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判断“是”：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所有元素对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都要验证；判断“不是”：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一个反例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就够。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1" name="TextBox 8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381250" y="54292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section-title"/>
          <p:cNvGrpSpPr/>
          <p:nvPr/>
        </p:nvGrpSpPr>
        <p:grpSpPr>
          <a:xfrm>
            <a:off x="438150" y="1581150"/>
            <a:ext cx="3505962" cy="3396234"/>
            <a:chOff x="438150" y="1581150"/>
            <a:chExt cx="3505962" cy="3396234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3115" y="167068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6.1 代数系统 · 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133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7261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运算的六大性质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3434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4256" y="4625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六条性质，各管一件事</a:t>
              </a:r>
            </a:p>
          </p:txBody>
        </p:sp>
      </p:grpSp>
      <p:grpSp>
        <p:nvGrpSpPr>
          <p:cNvPr id="53" name="group-single"/>
          <p:cNvGrpSpPr/>
          <p:nvPr/>
        </p:nvGrpSpPr>
        <p:grpSpPr>
          <a:xfrm>
            <a:off x="4381500" y="800100"/>
            <a:ext cx="7277100" cy="2781300"/>
            <a:chOff x="4381500" y="800100"/>
            <a:chExt cx="7277100" cy="2781300"/>
          </a:xfrm>
        </p:grpSpPr>
        <p:sp>
          <p:nvSpPr>
            <p:cNvPr id="12" name="Rectangle 12"/>
            <p:cNvSpPr/>
            <p:nvPr/>
          </p:nvSpPr>
          <p:spPr>
            <a:xfrm>
              <a:off x="4381500" y="8001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5330" y="819150"/>
              <a:ext cx="207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一个运算：只看 ∗ 自己</a:t>
              </a:r>
            </a:p>
          </p:txBody>
        </p:sp>
        <p:grpSp>
          <p:nvGrpSpPr>
            <p:cNvPr id="22" name="badge-commutative"/>
            <p:cNvGrpSpPr/>
            <p:nvPr/>
          </p:nvGrpSpPr>
          <p:grpSpPr>
            <a:xfrm>
              <a:off x="4381500" y="1143000"/>
              <a:ext cx="3524250" cy="1143000"/>
              <a:chOff x="4381500" y="1143000"/>
              <a:chExt cx="352425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381500" y="1143000"/>
                <a:ext cx="35242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572000" y="13335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693444" y="1490662"/>
                <a:ext cx="214313" cy="142875"/>
                <a:chOff x="4693444" y="1490662"/>
                <a:chExt cx="214313" cy="14287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741069" y="1490662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0" y="47625"/>
                      </a:moveTo>
                      <a:lnTo>
                        <a:pt x="166688" y="47625"/>
                      </a:lnTo>
                      <a:lnTo>
                        <a:pt x="119062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693444" y="1585912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166688" y="0"/>
                      </a:moveTo>
                      <a:lnTo>
                        <a:pt x="0" y="0"/>
                      </a:lnTo>
                      <a:lnTo>
                        <a:pt x="47625" y="47625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173218" y="13649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交换律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73980" y="1704975"/>
                <a:ext cx="11561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∗ b = b ∗ a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75504" y="2004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换顺序，结果不变</a:t>
                </a:r>
              </a:p>
            </p:txBody>
          </p:sp>
        </p:grpSp>
        <p:grpSp>
          <p:nvGrpSpPr>
            <p:cNvPr id="31" name="badge-associative"/>
            <p:cNvGrpSpPr/>
            <p:nvPr/>
          </p:nvGrpSpPr>
          <p:grpSpPr>
            <a:xfrm>
              <a:off x="8134350" y="1143000"/>
              <a:ext cx="3524250" cy="1143000"/>
              <a:chOff x="8134350" y="1143000"/>
              <a:chExt cx="352425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8134350" y="1143000"/>
                <a:ext cx="35242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8324850" y="13335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8470106" y="1466850"/>
                <a:ext cx="166688" cy="190500"/>
                <a:chOff x="8470106" y="1466850"/>
                <a:chExt cx="166688" cy="1905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470106" y="1466850"/>
                  <a:ext cx="35719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190500">
                      <a:moveTo>
                        <a:pt x="35719" y="0"/>
                      </a:moveTo>
                      <a:lnTo>
                        <a:pt x="0" y="0"/>
                      </a:lnTo>
                      <a:lnTo>
                        <a:pt x="0" y="190500"/>
                      </a:lnTo>
                      <a:lnTo>
                        <a:pt x="35719" y="19050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601075" y="1466850"/>
                  <a:ext cx="35719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190500">
                      <a:moveTo>
                        <a:pt x="0" y="0"/>
                      </a:moveTo>
                      <a:lnTo>
                        <a:pt x="35719" y="0"/>
                      </a:lnTo>
                      <a:lnTo>
                        <a:pt x="35719" y="190500"/>
                      </a:lnTo>
                      <a:lnTo>
                        <a:pt x="0" y="19050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8926068" y="13649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26830" y="1704975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 ∗ b) ∗ c = a ∗ (b ∗ c)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28354" y="2004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换括号，结果不变</a:t>
                </a:r>
              </a:p>
            </p:txBody>
          </p:sp>
        </p:grpSp>
        <p:grpSp>
          <p:nvGrpSpPr>
            <p:cNvPr id="40" name="badge-idempotent"/>
            <p:cNvGrpSpPr/>
            <p:nvPr/>
          </p:nvGrpSpPr>
          <p:grpSpPr>
            <a:xfrm>
              <a:off x="4381500" y="2438400"/>
              <a:ext cx="3524250" cy="1143000"/>
              <a:chOff x="4381500" y="2438400"/>
              <a:chExt cx="3524250" cy="1143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381500" y="2438400"/>
                <a:ext cx="35242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572000" y="26289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705350" y="2750344"/>
                <a:ext cx="190500" cy="214312"/>
                <a:chOff x="4705350" y="2750344"/>
                <a:chExt cx="190500" cy="21431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4705350" y="2750344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0" y="107156"/>
                      </a:moveTo>
                      <a:lnTo>
                        <a:pt x="0" y="71438"/>
                      </a:lnTo>
                      <a:cubicBezTo>
                        <a:pt x="0" y="51711"/>
                        <a:pt x="15992" y="35719"/>
                        <a:pt x="35719" y="35719"/>
                      </a:cubicBezTo>
                      <a:lnTo>
                        <a:pt x="190500" y="35719"/>
                      </a:lnTo>
                      <a:moveTo>
                        <a:pt x="154781" y="0"/>
                      </a:moveTo>
                      <a:lnTo>
                        <a:pt x="190500" y="35719"/>
                      </a:lnTo>
                      <a:lnTo>
                        <a:pt x="154781" y="71438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05350" y="2857500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190500" y="0"/>
                      </a:moveTo>
                      <a:lnTo>
                        <a:pt x="190500" y="35719"/>
                      </a:lnTo>
                      <a:cubicBezTo>
                        <a:pt x="190500" y="55446"/>
                        <a:pt x="174508" y="71438"/>
                        <a:pt x="154781" y="71438"/>
                      </a:cubicBezTo>
                      <a:lnTo>
                        <a:pt x="0" y="71438"/>
                      </a:lnTo>
                      <a:moveTo>
                        <a:pt x="35719" y="107156"/>
                      </a:moveTo>
                      <a:lnTo>
                        <a:pt x="0" y="71438"/>
                      </a:lnTo>
                      <a:lnTo>
                        <a:pt x="35719" y="35719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5173218" y="26603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幂等律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173980" y="3000375"/>
                <a:ext cx="8128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∗ a = a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175504" y="329946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自己和自己运算，还是自己</a:t>
                </a:r>
              </a:p>
            </p:txBody>
          </p:sp>
        </p:grpSp>
        <p:grpSp>
          <p:nvGrpSpPr>
            <p:cNvPr id="52" name="badge-cancellation"/>
            <p:cNvGrpSpPr/>
            <p:nvPr/>
          </p:nvGrpSpPr>
          <p:grpSpPr>
            <a:xfrm>
              <a:off x="8134350" y="2438400"/>
              <a:ext cx="3524250" cy="1143000"/>
              <a:chOff x="8134350" y="2438400"/>
              <a:chExt cx="3524250" cy="1143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134350" y="2438400"/>
                <a:ext cx="35242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324850" y="26289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8446294" y="2750344"/>
                <a:ext cx="214313" cy="211931"/>
                <a:chOff x="8446294" y="2750344"/>
                <a:chExt cx="214313" cy="211931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8493919" y="2952750"/>
                  <a:ext cx="1190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9525">
                      <a:moveTo>
                        <a:pt x="0" y="0"/>
                      </a:moveTo>
                      <a:lnTo>
                        <a:pt x="119062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482012" y="2774156"/>
                  <a:ext cx="142875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1906">
                      <a:moveTo>
                        <a:pt x="0" y="11906"/>
                      </a:moveTo>
                      <a:lnTo>
                        <a:pt x="71438" y="0"/>
                      </a:lnTo>
                      <a:lnTo>
                        <a:pt x="142875" y="11906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553450" y="2750344"/>
                  <a:ext cx="9525" cy="20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2406">
                      <a:moveTo>
                        <a:pt x="0" y="0"/>
                      </a:moveTo>
                      <a:lnTo>
                        <a:pt x="0" y="202406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446294" y="2786062"/>
                  <a:ext cx="7143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07156">
                      <a:moveTo>
                        <a:pt x="71438" y="71438"/>
                      </a:moveTo>
                      <a:lnTo>
                        <a:pt x="35719" y="0"/>
                      </a:lnTo>
                      <a:lnTo>
                        <a:pt x="0" y="71438"/>
                      </a:lnTo>
                      <a:cubicBezTo>
                        <a:pt x="0" y="91164"/>
                        <a:pt x="15992" y="107156"/>
                        <a:pt x="35719" y="107156"/>
                      </a:cubicBezTo>
                      <a:cubicBezTo>
                        <a:pt x="55446" y="107156"/>
                        <a:pt x="71438" y="91164"/>
                        <a:pt x="71438" y="71438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589169" y="2786062"/>
                  <a:ext cx="7143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07156">
                      <a:moveTo>
                        <a:pt x="71438" y="71438"/>
                      </a:moveTo>
                      <a:lnTo>
                        <a:pt x="35719" y="0"/>
                      </a:lnTo>
                      <a:lnTo>
                        <a:pt x="0" y="71438"/>
                      </a:lnTo>
                      <a:cubicBezTo>
                        <a:pt x="0" y="91164"/>
                        <a:pt x="15992" y="107156"/>
                        <a:pt x="35719" y="107156"/>
                      </a:cubicBezTo>
                      <a:cubicBezTo>
                        <a:pt x="55446" y="107156"/>
                        <a:pt x="71438" y="91164"/>
                        <a:pt x="71438" y="71438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8926068" y="26603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消去律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926830" y="3000375"/>
                <a:ext cx="18427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∗ b = a ∗ c ⇒ b = c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928354" y="32994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公共因子能约掉</a:t>
                </a:r>
              </a:p>
            </p:txBody>
          </p:sp>
        </p:grpSp>
      </p:grpSp>
      <p:grpSp>
        <p:nvGrpSpPr>
          <p:cNvPr id="77" name="group-double"/>
          <p:cNvGrpSpPr/>
          <p:nvPr/>
        </p:nvGrpSpPr>
        <p:grpSpPr>
          <a:xfrm>
            <a:off x="4381500" y="3962400"/>
            <a:ext cx="7277100" cy="1485900"/>
            <a:chOff x="4381500" y="3962400"/>
            <a:chExt cx="7277100" cy="1485900"/>
          </a:xfrm>
        </p:grpSpPr>
        <p:sp>
          <p:nvSpPr>
            <p:cNvPr id="54" name="Rectangle 54"/>
            <p:cNvSpPr/>
            <p:nvPr/>
          </p:nvSpPr>
          <p:spPr>
            <a:xfrm>
              <a:off x="4381500" y="39624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45330" y="3981450"/>
              <a:ext cx="29260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两个运算：看 ∗ 与 + 之间的关系</a:t>
              </a:r>
            </a:p>
          </p:txBody>
        </p:sp>
        <p:grpSp>
          <p:nvGrpSpPr>
            <p:cNvPr id="66" name="badge-distributive"/>
            <p:cNvGrpSpPr/>
            <p:nvPr/>
          </p:nvGrpSpPr>
          <p:grpSpPr>
            <a:xfrm>
              <a:off x="4381500" y="4305300"/>
              <a:ext cx="4095750" cy="1143000"/>
              <a:chOff x="4381500" y="4305300"/>
              <a:chExt cx="4095750" cy="11430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4381500" y="4305300"/>
                <a:ext cx="40957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4572000" y="44958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4693444" y="4629150"/>
                <a:ext cx="214313" cy="190500"/>
                <a:chOff x="4693444" y="4629150"/>
                <a:chExt cx="214313" cy="19050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4693444" y="4724400"/>
                  <a:ext cx="214312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59531">
                      <a:moveTo>
                        <a:pt x="214312" y="59531"/>
                      </a:moveTo>
                      <a:lnTo>
                        <a:pt x="119062" y="59531"/>
                      </a:lnTo>
                      <a:lnTo>
                        <a:pt x="7739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770894" y="4664869"/>
                  <a:ext cx="136862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62" h="59531">
                      <a:moveTo>
                        <a:pt x="136862" y="0"/>
                      </a:moveTo>
                      <a:lnTo>
                        <a:pt x="41612" y="0"/>
                      </a:lnTo>
                      <a:lnTo>
                        <a:pt x="0" y="59531"/>
                      </a:ln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872038" y="4629150"/>
                  <a:ext cx="35719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71438">
                      <a:moveTo>
                        <a:pt x="0" y="71438"/>
                      </a:moveTo>
                      <a:lnTo>
                        <a:pt x="35719" y="3571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72038" y="4748212"/>
                  <a:ext cx="35719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71438">
                      <a:moveTo>
                        <a:pt x="0" y="71438"/>
                      </a:moveTo>
                      <a:lnTo>
                        <a:pt x="35719" y="3571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5173218" y="45272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分配律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173980" y="4867275"/>
                <a:ext cx="28523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∗ (b + c) = (a ∗ b) + (a ∗ c)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175504" y="5166360"/>
                <a:ext cx="21284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∗ 能“分配”进 + 里（有方向）</a:t>
                </a:r>
              </a:p>
            </p:txBody>
          </p:sp>
        </p:grpSp>
        <p:grpSp>
          <p:nvGrpSpPr>
            <p:cNvPr id="76" name="badge-absorption"/>
            <p:cNvGrpSpPr/>
            <p:nvPr/>
          </p:nvGrpSpPr>
          <p:grpSpPr>
            <a:xfrm>
              <a:off x="8705850" y="4305300"/>
              <a:ext cx="2952750" cy="1143000"/>
              <a:chOff x="8705850" y="4305300"/>
              <a:chExt cx="2952750" cy="11430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8705850" y="4305300"/>
                <a:ext cx="29527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8896350" y="44958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9011841" y="4617244"/>
                <a:ext cx="226218" cy="214312"/>
                <a:chOff x="9011841" y="4617244"/>
                <a:chExt cx="226218" cy="214312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9077325" y="4617244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9011841" y="4736306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9142809" y="4736306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23812">
                  <a:solidFill>
                    <a:srgbClr val="C2410C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9497568" y="45272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吸收律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498330" y="4867275"/>
                <a:ext cx="13782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∗ (a + b) = a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499854" y="516636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多余的 b 被 a 吞掉</a:t>
                </a:r>
              </a:p>
            </p:txBody>
          </p:sp>
        </p:grpSp>
      </p:grpSp>
      <p:grpSp>
        <p:nvGrpSpPr>
          <p:cNvPr id="87" name="method-tip"/>
          <p:cNvGrpSpPr/>
          <p:nvPr/>
        </p:nvGrpSpPr>
        <p:grpSpPr>
          <a:xfrm>
            <a:off x="4381500" y="5715000"/>
            <a:ext cx="7277100" cy="609600"/>
            <a:chOff x="4381500" y="5715000"/>
            <a:chExt cx="7277100" cy="609600"/>
          </a:xfrm>
        </p:grpSpPr>
        <p:sp>
          <p:nvSpPr>
            <p:cNvPr id="78" name="Rectangle 78"/>
            <p:cNvSpPr/>
            <p:nvPr/>
          </p:nvSpPr>
          <p:spPr>
            <a:xfrm>
              <a:off x="4381500" y="5715000"/>
              <a:ext cx="7277100" cy="609600"/>
            </a:xfrm>
            <a:prstGeom prst="roundRect">
              <a:avLst>
                <a:gd name="adj" fmla="val 2187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4616450" y="5924550"/>
              <a:ext cx="209550" cy="184149"/>
              <a:chOff x="4616450" y="5924550"/>
              <a:chExt cx="209550" cy="184149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4616450" y="5924550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4616450" y="6000750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4616450" y="6076949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4711700" y="59436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4711700" y="6019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4711700" y="6095999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5002530" y="5934075"/>
              <a:ext cx="4583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接下来逐条拆解：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→ 正例 → 反例 → 一句话记忆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528066" y="6573202"/>
            <a:ext cx="16940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6.1 代数系统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542811" cy="960501"/>
            <a:chOff x="456415" y="361950"/>
            <a:chExt cx="554281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交换律：换个顺序，结果一样吗？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"/>
          <p:cNvGrpSpPr/>
          <p:nvPr/>
        </p:nvGrpSpPr>
        <p:grpSpPr>
          <a:xfrm>
            <a:off x="533400" y="1485900"/>
            <a:ext cx="11125200" cy="914400"/>
            <a:chOff x="533400" y="1485900"/>
            <a:chExt cx="11125200" cy="914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6.1.2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6866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对 S 中任意 a、b，都有 a ∗ b = b ∗ a，则称 S 上的二元运算 ∗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满足交换律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0" y="1638300"/>
              <a:ext cx="2324100" cy="609600"/>
            </a:xfrm>
            <a:prstGeom prst="roundRect">
              <a:avLst>
                <a:gd name="adj" fmla="val 2187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56817" y="1811655"/>
              <a:ext cx="16984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∗ b = b ∗ a</a:t>
              </a:r>
            </a:p>
          </p:txBody>
        </p:sp>
      </p:grpSp>
      <p:grpSp>
        <p:nvGrpSpPr>
          <p:cNvPr id="29" name="positive"/>
          <p:cNvGrpSpPr/>
          <p:nvPr/>
        </p:nvGrpSpPr>
        <p:grpSpPr>
          <a:xfrm>
            <a:off x="533400" y="2552700"/>
            <a:ext cx="3619500" cy="3162300"/>
            <a:chOff x="533400" y="2552700"/>
            <a:chExt cx="3619500" cy="3162300"/>
          </a:xfrm>
        </p:grpSpPr>
        <p:sp>
          <p:nvSpPr>
            <p:cNvPr id="16" name="Rectangle 16"/>
            <p:cNvSpPr/>
            <p:nvPr/>
          </p:nvSpPr>
          <p:spPr>
            <a:xfrm>
              <a:off x="533400" y="2552700"/>
              <a:ext cx="3619500" cy="3162300"/>
            </a:xfrm>
            <a:prstGeom prst="roundRect">
              <a:avLst>
                <a:gd name="adj" fmla="val 481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7051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9160" y="276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8280" y="2743200"/>
              <a:ext cx="2403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 上 a ☉ b = a + b − a·b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3105150"/>
              <a:ext cx="3314700" cy="1181100"/>
            </a:xfrm>
            <a:prstGeom prst="roundRect">
              <a:avLst>
                <a:gd name="adj" fmla="val 967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3269932"/>
              <a:ext cx="19936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☉ b = a + b − a·b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5618" y="3612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b + a − b·a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5618" y="3955732"/>
              <a:ext cx="844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= b ☉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904" y="44043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依据：有理数的加法、乘法都可交换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09625" y="47720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724400"/>
              <a:ext cx="1300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☉ 满足交换律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51054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5904" y="5242560"/>
              <a:ext cx="19705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 +、× 满足；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 −、矩阵乘法一般不满足</a:t>
              </a:r>
            </a:p>
          </p:txBody>
        </p:sp>
      </p:grpSp>
      <p:grpSp>
        <p:nvGrpSpPr>
          <p:cNvPr id="63" name="negative"/>
          <p:cNvGrpSpPr/>
          <p:nvPr/>
        </p:nvGrpSpPr>
        <p:grpSpPr>
          <a:xfrm>
            <a:off x="4305300" y="2552700"/>
            <a:ext cx="3619500" cy="3162300"/>
            <a:chOff x="4305300" y="2552700"/>
            <a:chExt cx="3619500" cy="3162300"/>
          </a:xfrm>
        </p:grpSpPr>
        <p:sp>
          <p:nvSpPr>
            <p:cNvPr id="30" name="Rectangle 30"/>
            <p:cNvSpPr/>
            <p:nvPr/>
          </p:nvSpPr>
          <p:spPr>
            <a:xfrm>
              <a:off x="4305300" y="2552700"/>
              <a:ext cx="3619500" cy="3162300"/>
            </a:xfrm>
            <a:prstGeom prst="roundRect">
              <a:avLst>
                <a:gd name="adj" fmla="val 481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33900" y="27051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71060" y="276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50180" y="2743200"/>
              <a:ext cx="2094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{a, b} 上的运算 ∗</a:t>
              </a:r>
            </a:p>
          </p:txBody>
        </p:sp>
        <p:grpSp>
          <p:nvGrpSpPr>
            <p:cNvPr id="54" name="table-comm"/>
            <p:cNvGrpSpPr/>
            <p:nvPr/>
          </p:nvGrpSpPr>
          <p:grpSpPr>
            <a:xfrm>
              <a:off x="5143500" y="3086100"/>
              <a:ext cx="1828800" cy="1371600"/>
              <a:chOff x="5143500" y="3086100"/>
              <a:chExt cx="1828800" cy="13716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143500" y="3086100"/>
                <a:ext cx="1828800" cy="4572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143500" y="3543300"/>
                <a:ext cx="609600" cy="9144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53100" y="3543300"/>
                <a:ext cx="1219200" cy="9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381750" y="3562350"/>
                <a:ext cx="571500" cy="419100"/>
              </a:xfrm>
              <a:prstGeom prst="rect">
                <a:avLst/>
              </a:prstGeom>
              <a:solidFill>
                <a:srgbClr val="FDECEA"/>
              </a:solidFill>
              <a:ln w="19050">
                <a:solidFill>
                  <a:srgbClr val="B42318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772150" y="4019550"/>
                <a:ext cx="571500" cy="419100"/>
              </a:xfrm>
              <a:prstGeom prst="rect">
                <a:avLst/>
              </a:prstGeom>
              <a:solidFill>
                <a:srgbClr val="FDECEA"/>
              </a:solidFill>
              <a:ln w="19050">
                <a:solidFill>
                  <a:srgbClr val="B42318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5143500" y="35433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5143500" y="40005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5753100" y="3086100"/>
                <a:ext cx="9525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71600">
                    <a:moveTo>
                      <a:pt x="0" y="0"/>
                    </a:moveTo>
                    <a:lnTo>
                      <a:pt x="0" y="13716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362700" y="3086100"/>
                <a:ext cx="9525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71600">
                    <a:moveTo>
                      <a:pt x="0" y="0"/>
                    </a:moveTo>
                    <a:lnTo>
                      <a:pt x="0" y="13716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5143500" y="3086100"/>
                <a:ext cx="1828800" cy="13716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5753100" y="3543300"/>
                <a:ext cx="12192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914400">
                    <a:moveTo>
                      <a:pt x="0" y="0"/>
                    </a:moveTo>
                    <a:lnTo>
                      <a:pt x="1219200" y="914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  <a:custDash>
                  <a:ds d="300000" sp="250000"/>
                </a:custDash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375780" y="32127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∗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985380" y="32127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594980" y="32127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375780" y="36699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988434" y="36699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94980" y="36699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375780" y="4127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985380" y="4127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598034" y="41271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526280" y="4619625"/>
              <a:ext cx="2157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∗ b = b，但 b ∗ a = 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27042" y="4902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表关于对角线不对称 ⇒ 不满足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457700" y="5200650"/>
              <a:ext cx="3314700" cy="400050"/>
            </a:xfrm>
            <a:prstGeom prst="roundRect">
              <a:avLst>
                <a:gd name="adj" fmla="val 23810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4600575" y="5314950"/>
              <a:ext cx="171450" cy="171450"/>
              <a:chOff x="4600575" y="5314950"/>
              <a:chExt cx="171450" cy="17145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600575" y="5314950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3" y="31432"/>
                    </a:lnTo>
                    <a:moveTo>
                      <a:pt x="146685" y="24765"/>
                    </a:moveTo>
                    <a:lnTo>
                      <a:pt x="140017" y="3143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634637" y="5353050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664392" y="5448300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4870704" y="5328285"/>
              <a:ext cx="2791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读表技巧：交换律 ⇔ 关于主对角线对称</a:t>
              </a:r>
            </a:p>
          </p:txBody>
        </p:sp>
      </p:grpSp>
      <p:grpSp>
        <p:nvGrpSpPr>
          <p:cNvPr id="66" name="analogy"/>
          <p:cNvGrpSpPr/>
          <p:nvPr/>
        </p:nvGrpSpPr>
        <p:grpSpPr>
          <a:xfrm>
            <a:off x="8077200" y="2552700"/>
            <a:ext cx="3581400" cy="3128201"/>
            <a:chOff x="8077200" y="2552700"/>
            <a:chExt cx="3581400" cy="3128201"/>
          </a:xfrm>
        </p:grpSpPr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77200" y="2552700"/>
              <a:ext cx="3581400" cy="2686050"/>
            </a:xfrm>
            <a:prstGeom prst="roundRect">
              <a:avLst>
                <a:gd name="adj" fmla="val 5673"/>
              </a:avLst>
            </a:prstGeom>
          </p:spPr>
        </p:pic>
        <p:sp>
          <p:nvSpPr>
            <p:cNvPr id="65" name="TextBox 65"/>
            <p:cNvSpPr txBox="1"/>
            <p:nvPr/>
          </p:nvSpPr>
          <p:spPr>
            <a:xfrm>
              <a:off x="8481885" y="5416868"/>
              <a:ext cx="2772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先穿袜子再穿鞋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先穿鞋再穿袜子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7" name="Rectangle 6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62000" y="6029325"/>
              <a:ext cx="228600" cy="152400"/>
              <a:chOff x="762000" y="6029325"/>
              <a:chExt cx="228600" cy="1524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12800" y="60293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0" y="50800"/>
                    </a:moveTo>
                    <a:lnTo>
                      <a:pt x="177800" y="508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62000" y="61309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177800" y="0"/>
                    </a:moveTo>
                    <a:lnTo>
                      <a:pt x="0" y="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134618" y="6003608"/>
              <a:ext cx="72801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交换律要对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a、b 成立；有限集上，看运算表是否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关于主对角线对称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3" name="TextBox 73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542811" cy="960501"/>
            <a:chOff x="456415" y="361950"/>
            <a:chExt cx="554281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结合律：换个括号，结果一样吗？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"/>
          <p:cNvGrpSpPr/>
          <p:nvPr/>
        </p:nvGrpSpPr>
        <p:grpSpPr>
          <a:xfrm>
            <a:off x="533400" y="1485900"/>
            <a:ext cx="11125200" cy="914400"/>
            <a:chOff x="533400" y="1485900"/>
            <a:chExt cx="11125200" cy="914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6.1.3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68536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对 S 中任意 a、b、c，都有 (a ∗ b) ∗ c = a ∗ (b ∗ c)，则称 ∗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满足结合律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610600" y="1638300"/>
              <a:ext cx="2857500" cy="609600"/>
            </a:xfrm>
            <a:prstGeom prst="roundRect">
              <a:avLst>
                <a:gd name="adj" fmla="val 2187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4345" y="1834515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(a∗b)∗c = a∗(b∗c)</a:t>
              </a:r>
            </a:p>
          </p:txBody>
        </p:sp>
      </p:grpSp>
      <p:grpSp>
        <p:nvGrpSpPr>
          <p:cNvPr id="26" name="positive"/>
          <p:cNvGrpSpPr/>
          <p:nvPr/>
        </p:nvGrpSpPr>
        <p:grpSpPr>
          <a:xfrm>
            <a:off x="533400" y="2552700"/>
            <a:ext cx="4381500" cy="2400300"/>
            <a:chOff x="533400" y="2552700"/>
            <a:chExt cx="4381500" cy="2400300"/>
          </a:xfrm>
        </p:grpSpPr>
        <p:sp>
          <p:nvSpPr>
            <p:cNvPr id="16" name="Rectangle 16"/>
            <p:cNvSpPr/>
            <p:nvPr/>
          </p:nvSpPr>
          <p:spPr>
            <a:xfrm>
              <a:off x="533400" y="2552700"/>
              <a:ext cx="4381500" cy="2400300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7051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9160" y="276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8280" y="2743200"/>
              <a:ext cx="2279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非空集合 A 上 a ☉ b =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31089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运算结果总是右边那个元素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3371850"/>
              <a:ext cx="4076700" cy="990600"/>
            </a:xfrm>
            <a:prstGeom prst="roundRect">
              <a:avLst>
                <a:gd name="adj" fmla="val 1153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3574732"/>
              <a:ext cx="25772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(a ☉ b) ☉ c = b ☉ c = </a:t>
              </a:r>
              <a:r>
                <a:rPr lang="en-US" sz="16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6018" y="3974782"/>
              <a:ext cx="25772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a ☉ (b ☉ c) = a ☉ c = </a:t>
              </a:r>
              <a:r>
                <a:rPr lang="en-US" sz="16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c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625" y="46005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180" y="4552950"/>
              <a:ext cx="26923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两边都等于 c，☉ 满足结合律</a:t>
              </a:r>
            </a:p>
          </p:txBody>
        </p:sp>
      </p:grpSp>
      <p:grpSp>
        <p:nvGrpSpPr>
          <p:cNvPr id="61" name="negative"/>
          <p:cNvGrpSpPr/>
          <p:nvPr/>
        </p:nvGrpSpPr>
        <p:grpSpPr>
          <a:xfrm>
            <a:off x="5067300" y="2552700"/>
            <a:ext cx="6591300" cy="2400300"/>
            <a:chOff x="5067300" y="2552700"/>
            <a:chExt cx="6591300" cy="2400300"/>
          </a:xfrm>
        </p:grpSpPr>
        <p:sp>
          <p:nvSpPr>
            <p:cNvPr id="27" name="Rectangle 27"/>
            <p:cNvSpPr/>
            <p:nvPr/>
          </p:nvSpPr>
          <p:spPr>
            <a:xfrm>
              <a:off x="5067300" y="2552700"/>
              <a:ext cx="6591300" cy="2400300"/>
            </a:xfrm>
            <a:prstGeom prst="roundRect">
              <a:avLst>
                <a:gd name="adj" fmla="val 634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295900" y="27051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33060" y="276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2180" y="2743200"/>
              <a:ext cx="3782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{a, b} 上的运算 ∗：取 a、b、a 检验</a:t>
              </a:r>
            </a:p>
          </p:txBody>
        </p:sp>
        <p:grpSp>
          <p:nvGrpSpPr>
            <p:cNvPr id="48" name="table-assoc"/>
            <p:cNvGrpSpPr/>
            <p:nvPr/>
          </p:nvGrpSpPr>
          <p:grpSpPr>
            <a:xfrm>
              <a:off x="5295900" y="3143250"/>
              <a:ext cx="1828800" cy="1371600"/>
              <a:chOff x="5295900" y="3143250"/>
              <a:chExt cx="1828800" cy="1371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295900" y="3143250"/>
                <a:ext cx="1828800" cy="4572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295900" y="3600450"/>
                <a:ext cx="609600" cy="9144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5905500" y="3600450"/>
                <a:ext cx="1219200" cy="9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5295900" y="36004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5295900" y="40576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5905500" y="3143250"/>
                <a:ext cx="9525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71600">
                    <a:moveTo>
                      <a:pt x="0" y="0"/>
                    </a:moveTo>
                    <a:lnTo>
                      <a:pt x="0" y="13716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6515100" y="3143250"/>
                <a:ext cx="9525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71600">
                    <a:moveTo>
                      <a:pt x="0" y="0"/>
                    </a:moveTo>
                    <a:lnTo>
                      <a:pt x="0" y="13716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295900" y="3143250"/>
                <a:ext cx="1828800" cy="13716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528180" y="32699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∗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37780" y="32699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747380" y="32699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528180" y="37271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140834" y="37271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0434" y="37271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528180" y="41843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140834" y="41843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50434" y="41843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2" name="chain-left"/>
            <p:cNvGrpSpPr/>
            <p:nvPr/>
          </p:nvGrpSpPr>
          <p:grpSpPr>
            <a:xfrm>
              <a:off x="7353300" y="3124200"/>
              <a:ext cx="4152900" cy="647700"/>
              <a:chOff x="7353300" y="3124200"/>
              <a:chExt cx="4152900" cy="6477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7353300" y="3124200"/>
                <a:ext cx="4152900" cy="647700"/>
              </a:xfrm>
              <a:prstGeom prst="roundRect">
                <a:avLst>
                  <a:gd name="adj" fmla="val 176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536180" y="3248025"/>
                <a:ext cx="20703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 xml:space="preserve">(a ∗ b) ∗ a = a ∗ a = </a:t>
                </a:r>
                <a:r>
                  <a:rPr lang="en-US" sz="1500" b="1" dirty="0">
                    <a:solidFill>
                      <a:srgbClr val="B42318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538466" y="3544252"/>
                <a:ext cx="191890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先算 a ∗ b = a，再算 a ∗ a = b</a:t>
                </a:r>
              </a:p>
            </p:txBody>
          </p:sp>
        </p:grpSp>
        <p:grpSp>
          <p:nvGrpSpPr>
            <p:cNvPr id="56" name="chain-right"/>
            <p:cNvGrpSpPr/>
            <p:nvPr/>
          </p:nvGrpSpPr>
          <p:grpSpPr>
            <a:xfrm>
              <a:off x="7353300" y="3867150"/>
              <a:ext cx="4152900" cy="647700"/>
              <a:chOff x="7353300" y="3867150"/>
              <a:chExt cx="4152900" cy="6477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353300" y="3867150"/>
                <a:ext cx="4152900" cy="647700"/>
              </a:xfrm>
              <a:prstGeom prst="roundRect">
                <a:avLst>
                  <a:gd name="adj" fmla="val 176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536180" y="3990975"/>
                <a:ext cx="20703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 xml:space="preserve">a ∗ (b ∗ a) = a ∗ b = </a:t>
                </a:r>
                <a:r>
                  <a:rPr lang="en-US" sz="1500" b="1" dirty="0">
                    <a:solidFill>
                      <a:srgbClr val="B42318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38466" y="4287202"/>
                <a:ext cx="191890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先算 b ∗ a = b，再算 a ∗ b = a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410450" y="4686300"/>
              <a:ext cx="114300" cy="114300"/>
              <a:chOff x="7410450" y="4686300"/>
              <a:chExt cx="114300" cy="1143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410450" y="46863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10450" y="46863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650480" y="4648200"/>
              <a:ext cx="2086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 ≠ a，∗ 不满足结合律</a:t>
              </a:r>
            </a:p>
          </p:txBody>
        </p:sp>
      </p:grpSp>
      <p:grpSp>
        <p:nvGrpSpPr>
          <p:cNvPr id="66" name="contrast-commutative"/>
          <p:cNvGrpSpPr/>
          <p:nvPr/>
        </p:nvGrpSpPr>
        <p:grpSpPr>
          <a:xfrm>
            <a:off x="533400" y="5067300"/>
            <a:ext cx="5486400" cy="647700"/>
            <a:chOff x="533400" y="5067300"/>
            <a:chExt cx="5486400" cy="647700"/>
          </a:xfrm>
        </p:grpSpPr>
        <p:sp>
          <p:nvSpPr>
            <p:cNvPr id="62" name="Rectangle 62"/>
            <p:cNvSpPr/>
            <p:nvPr/>
          </p:nvSpPr>
          <p:spPr>
            <a:xfrm>
              <a:off x="533400" y="5067300"/>
              <a:ext cx="5486400" cy="647700"/>
            </a:xfrm>
            <a:prstGeom prst="roundRect">
              <a:avLst>
                <a:gd name="adj" fmla="val 20588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7042" y="53120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21130" y="5305425"/>
              <a:ext cx="1156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∗ b = b ∗ 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37154" y="53282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元素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换位置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，括号不涉及</a:t>
              </a:r>
            </a:p>
          </p:txBody>
        </p:sp>
      </p:grpSp>
      <p:grpSp>
        <p:nvGrpSpPr>
          <p:cNvPr id="71" name="contrast-associative"/>
          <p:cNvGrpSpPr/>
          <p:nvPr/>
        </p:nvGrpSpPr>
        <p:grpSpPr>
          <a:xfrm>
            <a:off x="6172200" y="5067300"/>
            <a:ext cx="5486400" cy="647700"/>
            <a:chOff x="6172200" y="5067300"/>
            <a:chExt cx="5486400" cy="647700"/>
          </a:xfrm>
        </p:grpSpPr>
        <p:sp>
          <p:nvSpPr>
            <p:cNvPr id="67" name="Rectangle 67"/>
            <p:cNvSpPr/>
            <p:nvPr/>
          </p:nvSpPr>
          <p:spPr>
            <a:xfrm>
              <a:off x="6172200" y="5067300"/>
              <a:ext cx="5486400" cy="647700"/>
            </a:xfrm>
            <a:prstGeom prst="roundRect">
              <a:avLst>
                <a:gd name="adj" fmla="val 20588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5842" y="53120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59930" y="5305425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∗ b) ∗ c = a ∗ (b ∗ c)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04654" y="53282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顺序不动，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只改括号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87400" y="6003925"/>
              <a:ext cx="177799" cy="203199"/>
              <a:chOff x="787400" y="6003925"/>
              <a:chExt cx="177799" cy="203199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87400" y="6003925"/>
                <a:ext cx="381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03199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03199"/>
                    </a:lnTo>
                    <a:lnTo>
                      <a:pt x="3810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7099" y="6003925"/>
                <a:ext cx="381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03199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03199"/>
                    </a:lnTo>
                    <a:lnTo>
                      <a:pt x="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34618" y="6003608"/>
              <a:ext cx="7243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运算表看不出结合律：要检验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全部 n³ 组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(a, b, c)；否定只需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一组反例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8" name="TextBox 78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906285" cy="960501"/>
            <a:chOff x="456415" y="361950"/>
            <a:chExt cx="590628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幂等律：自己和自己运算，还是自己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definition"/>
          <p:cNvGrpSpPr/>
          <p:nvPr/>
        </p:nvGrpSpPr>
        <p:grpSpPr>
          <a:xfrm>
            <a:off x="533400" y="1485900"/>
            <a:ext cx="5181600" cy="4229100"/>
            <a:chOff x="533400" y="1485900"/>
            <a:chExt cx="51816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1816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88" y="169926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6.1.4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60042" y="16925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两层概念，别混为一谈</a:t>
              </a:r>
            </a:p>
          </p:txBody>
        </p:sp>
        <p:grpSp>
          <p:nvGrpSpPr>
            <p:cNvPr id="14" name="layer-element"/>
            <p:cNvGrpSpPr/>
            <p:nvPr/>
          </p:nvGrpSpPr>
          <p:grpSpPr>
            <a:xfrm>
              <a:off x="762000" y="2038350"/>
              <a:ext cx="4724400" cy="990600"/>
              <a:chOff x="762000" y="2038350"/>
              <a:chExt cx="4724400" cy="9906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2038350"/>
                <a:ext cx="47244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45642" y="2197418"/>
                <a:ext cx="27093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① 幂等元 —— 说的是“某一个元素”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4118" y="2584132"/>
                <a:ext cx="37367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若 </a:t>
                </a:r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 ∗ a = a</a:t>
                </a: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，称 a 是关于 ∗ 的幂等元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127557" y="3149918"/>
              <a:ext cx="1993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↓ 每一个元素都是幂等元</a:t>
              </a:r>
            </a:p>
          </p:txBody>
        </p:sp>
        <p:grpSp>
          <p:nvGrpSpPr>
            <p:cNvPr id="19" name="layer-law"/>
            <p:cNvGrpSpPr/>
            <p:nvPr/>
          </p:nvGrpSpPr>
          <p:grpSpPr>
            <a:xfrm>
              <a:off x="762000" y="3429000"/>
              <a:ext cx="4724400" cy="990600"/>
              <a:chOff x="762000" y="3429000"/>
              <a:chExt cx="4724400" cy="9906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3429000"/>
                <a:ext cx="47244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45642" y="3588068"/>
                <a:ext cx="25275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② 幂等律 —— 说的是“整个运算”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4118" y="3974782"/>
                <a:ext cx="42477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 中</a:t>
                </a:r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每个</a:t>
                </a: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元素都是幂等元，称 ∗ 满足幂等律</a:t>
                </a:r>
              </a:p>
            </p:txBody>
          </p:sp>
        </p:grpSp>
        <p:grpSp>
          <p:nvGrpSpPr>
            <p:cNvPr id="24" name="corollary"/>
            <p:cNvGrpSpPr/>
            <p:nvPr/>
          </p:nvGrpSpPr>
          <p:grpSpPr>
            <a:xfrm>
              <a:off x="762000" y="4572000"/>
              <a:ext cx="4724400" cy="952500"/>
              <a:chOff x="762000" y="4572000"/>
              <a:chExt cx="4724400" cy="952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4572000"/>
                <a:ext cx="4724400" cy="952500"/>
              </a:xfrm>
              <a:prstGeom prst="roundRect">
                <a:avLst>
                  <a:gd name="adj" fmla="val 14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952500" y="4705350"/>
                <a:ext cx="533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51560" y="47567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推论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4880" y="5153025"/>
                <a:ext cx="34056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是幂等元 ⇒ 对任意正整数 n，</a:t>
                </a:r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aⁿ = a</a:t>
                </a:r>
              </a:p>
            </p:txBody>
          </p:sp>
        </p:grpSp>
      </p:grpSp>
      <p:grpSp>
        <p:nvGrpSpPr>
          <p:cNvPr id="51" name="examples"/>
          <p:cNvGrpSpPr/>
          <p:nvPr/>
        </p:nvGrpSpPr>
        <p:grpSpPr>
          <a:xfrm>
            <a:off x="5943600" y="1485900"/>
            <a:ext cx="5715000" cy="4229100"/>
            <a:chOff x="5943600" y="1485900"/>
            <a:chExt cx="5715000" cy="4229100"/>
          </a:xfrm>
        </p:grpSpPr>
        <p:sp>
          <p:nvSpPr>
            <p:cNvPr id="26" name="Rectangle 26"/>
            <p:cNvSpPr/>
            <p:nvPr/>
          </p:nvSpPr>
          <p:spPr>
            <a:xfrm>
              <a:off x="5943600" y="1485900"/>
              <a:ext cx="5715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72200" y="16383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13932" y="1699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6842" y="16925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数一数：各有几个幂等元？</a:t>
              </a:r>
            </a:p>
          </p:txBody>
        </p:sp>
        <p:grpSp>
          <p:nvGrpSpPr>
            <p:cNvPr id="35" name="ex-cap3"/>
            <p:cNvGrpSpPr/>
            <p:nvPr/>
          </p:nvGrpSpPr>
          <p:grpSpPr>
            <a:xfrm>
              <a:off x="6172200" y="2019300"/>
              <a:ext cx="5257800" cy="762000"/>
              <a:chOff x="6172200" y="2019300"/>
              <a:chExt cx="52578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172200" y="2019300"/>
                <a:ext cx="525780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55842" y="2178368"/>
                <a:ext cx="23445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 = {∅, {a}, {b}}，运算 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56604" y="2480310"/>
                <a:ext cx="2029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∩ A = A 对每个元素都成立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10668000" y="2133600"/>
                <a:ext cx="533400" cy="5334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848995" y="2285048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41" name="ex-cup4"/>
            <p:cNvGrpSpPr/>
            <p:nvPr/>
          </p:nvGrpSpPr>
          <p:grpSpPr>
            <a:xfrm>
              <a:off x="6172200" y="2857500"/>
              <a:ext cx="5257800" cy="762000"/>
              <a:chOff x="6172200" y="2857500"/>
              <a:chExt cx="5257800" cy="762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172200" y="2857500"/>
                <a:ext cx="525780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55842" y="3016568"/>
                <a:ext cx="28208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 = {∅, {a}, {b}, {c}}，运算 ∪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56604" y="3318510"/>
                <a:ext cx="2029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∪ A = A 对每个元素都成立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10668000" y="2971800"/>
                <a:ext cx="533400" cy="5334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848995" y="3123248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47" name="ex-cap4"/>
            <p:cNvGrpSpPr/>
            <p:nvPr/>
          </p:nvGrpSpPr>
          <p:grpSpPr>
            <a:xfrm>
              <a:off x="6172200" y="3695700"/>
              <a:ext cx="5257800" cy="762000"/>
              <a:chOff x="6172200" y="3695700"/>
              <a:chExt cx="5257800" cy="762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172200" y="3695700"/>
                <a:ext cx="525780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55842" y="3854768"/>
                <a:ext cx="28208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 = {∅, {a}, {b}, {c}}，运算 ∩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56604" y="4156710"/>
                <a:ext cx="27584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同一集合换成交运算，依然全是幂等元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0668000" y="3810000"/>
                <a:ext cx="533400" cy="53340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848995" y="3961448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6166104" y="4575810"/>
              <a:ext cx="2094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 集合的交、并都满足幂等律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72200" y="4838700"/>
              <a:ext cx="5257800" cy="762000"/>
            </a:xfrm>
            <a:prstGeom prst="roundRect">
              <a:avLst>
                <a:gd name="adj" fmla="val 15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5842" y="4997768"/>
              <a:ext cx="339599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整数乘法：幂等元只有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 和 1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整数加法：幂等元只有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⇒ 都不满足幂等律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48219" y="5987006"/>
              <a:ext cx="256151" cy="220068"/>
              <a:chOff x="748219" y="5987006"/>
              <a:chExt cx="256151" cy="22006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76300" y="60674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48219" y="5987006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134618" y="6003608"/>
              <a:ext cx="70397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易错：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“存在幂等元” ≠ “满足幂等律”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——后者要求每个元素都是幂等元。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6326097" cy="960501"/>
            <a:chOff x="456415" y="361950"/>
            <a:chExt cx="632609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628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分配律：两种运算，谁能“分配”给谁？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definition"/>
          <p:cNvGrpSpPr/>
          <p:nvPr/>
        </p:nvGrpSpPr>
        <p:grpSpPr>
          <a:xfrm>
            <a:off x="533400" y="1485900"/>
            <a:ext cx="11125200" cy="1122045"/>
            <a:chOff x="533400" y="1485900"/>
            <a:chExt cx="11125200" cy="1122045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110490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6.1.5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28825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∗、+ 是 S 上两个二元代数运算，若对任意 a、b、c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右侧两个等式都成立，则称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∗ 对 + 满足分配律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1600200"/>
              <a:ext cx="5410200" cy="876300"/>
            </a:xfrm>
            <a:prstGeom prst="roundRect">
              <a:avLst>
                <a:gd name="adj" fmla="val 1521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18504" y="1832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9118" y="1793558"/>
              <a:ext cx="3137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∗ (b + c) = (a ∗ b) + (a ∗ c)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18504" y="2194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9118" y="2155508"/>
              <a:ext cx="3137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 + c) ∗ a = (b ∗ a) + (c ∗ a)</a:t>
              </a:r>
            </a:p>
          </p:txBody>
        </p:sp>
      </p:grpSp>
      <p:grpSp>
        <p:nvGrpSpPr>
          <p:cNvPr id="63" name="tables"/>
          <p:cNvGrpSpPr/>
          <p:nvPr/>
        </p:nvGrpSpPr>
        <p:grpSpPr>
          <a:xfrm>
            <a:off x="533400" y="2705100"/>
            <a:ext cx="3238500" cy="3009900"/>
            <a:chOff x="533400" y="2705100"/>
            <a:chExt cx="3238500" cy="3009900"/>
          </a:xfrm>
        </p:grpSpPr>
        <p:sp>
          <p:nvSpPr>
            <p:cNvPr id="19" name="Rectangle 19"/>
            <p:cNvSpPr/>
            <p:nvPr/>
          </p:nvSpPr>
          <p:spPr>
            <a:xfrm>
              <a:off x="533400" y="2705100"/>
              <a:ext cx="3238500" cy="3009900"/>
            </a:xfrm>
            <a:prstGeom prst="roundRect">
              <a:avLst>
                <a:gd name="adj" fmla="val 50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" y="28384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632" y="28994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7780" y="2876550"/>
              <a:ext cx="1041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= {α, β}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69971" y="3223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运算 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55871" y="3223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运算 +</a:t>
              </a:r>
            </a:p>
          </p:txBody>
        </p:sp>
        <p:grpSp>
          <p:nvGrpSpPr>
            <p:cNvPr id="42" name="table-star"/>
            <p:cNvGrpSpPr/>
            <p:nvPr/>
          </p:nvGrpSpPr>
          <p:grpSpPr>
            <a:xfrm>
              <a:off x="723900" y="3448050"/>
              <a:ext cx="1371600" cy="1150620"/>
              <a:chOff x="723900" y="3448050"/>
              <a:chExt cx="1371600" cy="115062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23900" y="3448050"/>
                <a:ext cx="1371600" cy="3810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23900" y="3829050"/>
                <a:ext cx="457200" cy="7620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181100" y="3829050"/>
                <a:ext cx="914400" cy="762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23900" y="3829050"/>
                <a:ext cx="137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">
                    <a:moveTo>
                      <a:pt x="0" y="0"/>
                    </a:moveTo>
                    <a:lnTo>
                      <a:pt x="13716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23900" y="4210050"/>
                <a:ext cx="137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">
                    <a:moveTo>
                      <a:pt x="0" y="0"/>
                    </a:moveTo>
                    <a:lnTo>
                      <a:pt x="13716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181100" y="344805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638300" y="344805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723900" y="3448050"/>
                <a:ext cx="1371600" cy="11430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86573" y="3543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∗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343773" y="3543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00973" y="3543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6573" y="3924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46549" y="3924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803749" y="3924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86573" y="4305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346549" y="4305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803749" y="4305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</p:grpSp>
        <p:grpSp>
          <p:nvGrpSpPr>
            <p:cNvPr id="60" name="table-plus"/>
            <p:cNvGrpSpPr/>
            <p:nvPr/>
          </p:nvGrpSpPr>
          <p:grpSpPr>
            <a:xfrm>
              <a:off x="2209800" y="3448050"/>
              <a:ext cx="1371600" cy="1150620"/>
              <a:chOff x="2209800" y="3448050"/>
              <a:chExt cx="1371600" cy="115062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2209800" y="3448050"/>
                <a:ext cx="1371600" cy="3810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2209800" y="3829050"/>
                <a:ext cx="457200" cy="7620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2667000" y="3829050"/>
                <a:ext cx="914400" cy="762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2209800" y="3829050"/>
                <a:ext cx="137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">
                    <a:moveTo>
                      <a:pt x="0" y="0"/>
                    </a:moveTo>
                    <a:lnTo>
                      <a:pt x="13716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2209800" y="4210050"/>
                <a:ext cx="137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">
                    <a:moveTo>
                      <a:pt x="0" y="0"/>
                    </a:moveTo>
                    <a:lnTo>
                      <a:pt x="13716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2667000" y="344805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3124200" y="344805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2209800" y="3448050"/>
                <a:ext cx="1371600" cy="1143000"/>
              </a:xfrm>
              <a:prstGeom prst="rect">
                <a:avLst/>
              </a:prstGeom>
              <a:noFill/>
              <a:ln w="14288">
                <a:solidFill>
                  <a:srgbClr val="C2410C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372473" y="3543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829673" y="3543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286873" y="3543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372473" y="3924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832449" y="3924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289649" y="3924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372473" y="43053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832449" y="4305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α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289649" y="43053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β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685800" y="4743450"/>
              <a:ext cx="2933700" cy="85725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104" y="4861560"/>
              <a:ext cx="1688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+ u = α，β + u = u</a:t>
              </a:r>
              <a:br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∗：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∗ u = u，β ∗ β = α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两张表都关于对角线对称</a:t>
              </a:r>
            </a:p>
          </p:txBody>
        </p:sp>
      </p:grpSp>
      <p:grpSp>
        <p:nvGrpSpPr>
          <p:cNvPr id="80" name="case-holds"/>
          <p:cNvGrpSpPr/>
          <p:nvPr/>
        </p:nvGrpSpPr>
        <p:grpSpPr>
          <a:xfrm>
            <a:off x="3924300" y="2705100"/>
            <a:ext cx="7734300" cy="1447800"/>
            <a:chOff x="3924300" y="2705100"/>
            <a:chExt cx="7734300" cy="1447800"/>
          </a:xfrm>
        </p:grpSpPr>
        <p:sp>
          <p:nvSpPr>
            <p:cNvPr id="64" name="Rectangle 64"/>
            <p:cNvSpPr/>
            <p:nvPr/>
          </p:nvSpPr>
          <p:spPr>
            <a:xfrm>
              <a:off x="3924300" y="2705100"/>
              <a:ext cx="7734300" cy="1447800"/>
            </a:xfrm>
            <a:prstGeom prst="roundRect">
              <a:avLst>
                <a:gd name="adj" fmla="val 1052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152900" y="28384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238979" y="2899410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满足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97780" y="2876550"/>
              <a:ext cx="1045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对 ∗ 满足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55080" y="2886075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x + (y ∗ z) = (x + y) ∗ (x + z)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616184" y="29089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右分配同理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152900" y="3200400"/>
              <a:ext cx="7277100" cy="3810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336542" y="3302318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α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136642" y="3302318"/>
              <a:ext cx="1631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 = α + (y ∗ z) = α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22642" y="33023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右 = (α + y) ∗ (α + z) = α ∗ α = α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11134725" y="33432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4152900" y="3657600"/>
              <a:ext cx="7277100" cy="3810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336542" y="3759518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β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136642" y="3759518"/>
              <a:ext cx="1940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 = β + (y ∗ z) = y ∗ z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22642" y="3759518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右 = (β + y) ∗ (β + z) = y ∗ z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11134725" y="38004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</p:grpSp>
      <p:grpSp>
        <p:nvGrpSpPr>
          <p:cNvPr id="97" name="case-fails"/>
          <p:cNvGrpSpPr/>
          <p:nvPr/>
        </p:nvGrpSpPr>
        <p:grpSpPr>
          <a:xfrm>
            <a:off x="3924300" y="4267200"/>
            <a:ext cx="7734300" cy="1447800"/>
            <a:chOff x="3924300" y="4267200"/>
            <a:chExt cx="7734300" cy="1447800"/>
          </a:xfrm>
        </p:grpSpPr>
        <p:sp>
          <p:nvSpPr>
            <p:cNvPr id="81" name="Rectangle 81"/>
            <p:cNvSpPr/>
            <p:nvPr/>
          </p:nvSpPr>
          <p:spPr>
            <a:xfrm>
              <a:off x="3924300" y="4267200"/>
              <a:ext cx="7734300" cy="1447800"/>
            </a:xfrm>
            <a:prstGeom prst="roundRect">
              <a:avLst>
                <a:gd name="adj" fmla="val 1052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4152900" y="44005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15357" y="4461510"/>
              <a:ext cx="827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(2) 不满足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212080" y="443865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∗ 对 + 不满足：一个反例就够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152900" y="4762500"/>
              <a:ext cx="72771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335780" y="4876800"/>
              <a:ext cx="2070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β ∗ (α + β) = β ∗ α = </a:t>
              </a:r>
              <a:r>
                <a:rPr lang="el-GR" sz="150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β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664587" y="4853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≠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040880" y="4876800"/>
              <a:ext cx="2635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(β ∗ α) + (β ∗ β) = β + α = </a:t>
              </a:r>
              <a:r>
                <a:rPr lang="el-GR" sz="1500" b="1" dirty="0">
                  <a:solidFill>
                    <a:srgbClr val="B42318"/>
                  </a:solidFill>
                  <a:latin typeface="Cambria Math"/>
                  <a:ea typeface="Cambria Math"/>
                  <a:cs typeface="Cambria Math"/>
                </a:rPr>
                <a:t>α</a:t>
              </a:r>
            </a:p>
          </p:txBody>
        </p:sp>
        <p:grpSp>
          <p:nvGrpSpPr>
            <p:cNvPr id="91" name="Group 91"/>
            <p:cNvGrpSpPr/>
            <p:nvPr/>
          </p:nvGrpSpPr>
          <p:grpSpPr>
            <a:xfrm>
              <a:off x="11144250" y="4914900"/>
              <a:ext cx="114300" cy="114300"/>
              <a:chOff x="11144250" y="4914900"/>
              <a:chExt cx="114300" cy="1143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11144250" y="49149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1144250" y="49149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grpSp>
          <p:nvGrpSpPr>
            <p:cNvPr id="95" name="Group 95"/>
            <p:cNvGrpSpPr/>
            <p:nvPr/>
          </p:nvGrpSpPr>
          <p:grpSpPr>
            <a:xfrm>
              <a:off x="4181475" y="5362575"/>
              <a:ext cx="171450" cy="171450"/>
              <a:chOff x="4181475" y="5362575"/>
              <a:chExt cx="171450" cy="17145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4181475" y="53625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3" y="31432"/>
                    </a:lnTo>
                    <a:moveTo>
                      <a:pt x="146685" y="24765"/>
                    </a:moveTo>
                    <a:lnTo>
                      <a:pt x="140017" y="31432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4215537" y="540067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245292" y="549592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451604" y="5385435"/>
              <a:ext cx="6360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熟悉的例子：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 × 对 + 满足；+ 对 × 不满足：1 + (2 × 3) = 7 ≠ (1 + 2) × (1 + 3) = 12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8" name="Rectangle 9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62000" y="6105525"/>
                <a:ext cx="22859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63500">
                    <a:moveTo>
                      <a:pt x="228599" y="63500"/>
                    </a:moveTo>
                    <a:lnTo>
                      <a:pt x="127000" y="63500"/>
                    </a:lnTo>
                    <a:lnTo>
                      <a:pt x="82550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44613" y="6042025"/>
                <a:ext cx="14598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5986" h="63500">
                    <a:moveTo>
                      <a:pt x="145986" y="0"/>
                    </a:moveTo>
                    <a:lnTo>
                      <a:pt x="44386" y="0"/>
                    </a:lnTo>
                    <a:lnTo>
                      <a:pt x="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952499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134618" y="6003608"/>
              <a:ext cx="8501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分配律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有方向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：“∗ 对 + 满足”和“+ 对 ∗ 满足”是两回事；不可交换时左右两式都要验。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6" name="TextBox 106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4776790" cy="960501"/>
            <a:chOff x="456415" y="361950"/>
            <a:chExt cx="477679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135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吸收律：绕了一圈，又回到 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definition"/>
          <p:cNvGrpSpPr/>
          <p:nvPr/>
        </p:nvGrpSpPr>
        <p:grpSpPr>
          <a:xfrm>
            <a:off x="533400" y="1485900"/>
            <a:ext cx="4762500" cy="4229100"/>
            <a:chOff x="533400" y="1485900"/>
            <a:chExt cx="47625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7625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2514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6.1.6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吸收律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3339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∗ 和 + 是 S 上的两个二元代数运算，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若对任意 a、b ∈ S 都有：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67000"/>
              <a:ext cx="4152900" cy="5334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50678" y="2808922"/>
              <a:ext cx="1880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∗ (a + b) = a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3276600"/>
              <a:ext cx="4152900" cy="5334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50678" y="3418522"/>
              <a:ext cx="1880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+ (a ∗ b) =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780" y="39528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则称 ∗ 和 +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满足吸收律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343400"/>
              <a:ext cx="4305300" cy="1219200"/>
            </a:xfrm>
            <a:prstGeom prst="roundRect">
              <a:avLst>
                <a:gd name="adj" fmla="val 10938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4400" y="44767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3460" y="45281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542" y="4845368"/>
              <a:ext cx="327126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两个等式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必须同时成立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，描述的是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两个运算之间的关系。反例：整数的 × 与 +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2 × (2 + 3) = 10 ≠ 2</a:t>
              </a:r>
            </a:p>
          </p:txBody>
        </p:sp>
      </p:grpSp>
      <p:grpSp>
        <p:nvGrpSpPr>
          <p:cNvPr id="34" name="venn"/>
          <p:cNvGrpSpPr/>
          <p:nvPr/>
        </p:nvGrpSpPr>
        <p:grpSpPr>
          <a:xfrm>
            <a:off x="5524500" y="1485900"/>
            <a:ext cx="6134100" cy="2133600"/>
            <a:chOff x="5524500" y="1485900"/>
            <a:chExt cx="6134100" cy="2133600"/>
          </a:xfrm>
        </p:grpSpPr>
        <p:sp>
          <p:nvSpPr>
            <p:cNvPr id="23" name="Rectangle 23"/>
            <p:cNvSpPr/>
            <p:nvPr/>
          </p:nvSpPr>
          <p:spPr>
            <a:xfrm>
              <a:off x="5524500" y="1485900"/>
              <a:ext cx="6134100" cy="21336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867400" y="1752600"/>
              <a:ext cx="1600200" cy="1600200"/>
            </a:xfrm>
            <a:prstGeom prst="ellipse">
              <a:avLst/>
            </a:prstGeom>
            <a:solidFill>
              <a:srgbClr val="E3F5F1"/>
            </a:solidFill>
            <a:ln w="23812">
              <a:solidFill>
                <a:srgbClr val="0F7A6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819900" y="1752600"/>
              <a:ext cx="1600200" cy="16002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  <a:custDash>
                <a:ds d="280000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34604" y="2418398"/>
              <a:ext cx="17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91954" y="2418398"/>
              <a:ext cx="17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9942" y="1816418"/>
              <a:ext cx="171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∪ B：两个圆合起来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79942" y="2140268"/>
              <a:ext cx="1705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再与 A 求交 →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只剩 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610600" y="2457450"/>
              <a:ext cx="28575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99264" y="2565082"/>
              <a:ext cx="1680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 ∩ (A ∪ B) = A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610600" y="2952750"/>
              <a:ext cx="2857500" cy="419100"/>
            </a:xfrm>
            <a:prstGeom prst="roundRect">
              <a:avLst>
                <a:gd name="adj" fmla="val 2272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99264" y="3060382"/>
              <a:ext cx="1680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 ∪ (A ∩ B) = A</a:t>
              </a:r>
            </a:p>
          </p:txBody>
        </p:sp>
      </p:grpSp>
      <p:grpSp>
        <p:nvGrpSpPr>
          <p:cNvPr id="44" name="maxmin"/>
          <p:cNvGrpSpPr/>
          <p:nvPr/>
        </p:nvGrpSpPr>
        <p:grpSpPr>
          <a:xfrm>
            <a:off x="5524500" y="3771900"/>
            <a:ext cx="6134100" cy="1943100"/>
            <a:chOff x="5524500" y="3771900"/>
            <a:chExt cx="6134100" cy="1943100"/>
          </a:xfrm>
        </p:grpSpPr>
        <p:sp>
          <p:nvSpPr>
            <p:cNvPr id="35" name="Rectangle 35"/>
            <p:cNvSpPr/>
            <p:nvPr/>
          </p:nvSpPr>
          <p:spPr>
            <a:xfrm>
              <a:off x="5524500" y="3771900"/>
              <a:ext cx="6134100" cy="1943100"/>
            </a:xfrm>
            <a:prstGeom prst="roundRect">
              <a:avLst>
                <a:gd name="adj" fmla="val 784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53100" y="3905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94832" y="3966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17742" y="3959542"/>
              <a:ext cx="3725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上 a ∗ b = max{a, b}，a + b = min{a, b}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45480" y="4314825"/>
              <a:ext cx="3433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a ∗ (a + b) = max{a, min{a, b}} = </a:t>
              </a:r>
              <a:r>
                <a:rPr lang="en-US" sz="15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45480" y="4638675"/>
              <a:ext cx="3433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a + (a ∗ b) = min{a, max{a, b}} = </a:t>
              </a:r>
              <a:r>
                <a:rPr lang="en-US" sz="15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47004" y="4994910"/>
              <a:ext cx="43011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试一试 a = 3，b = 5：max{3, min{3, 5}} = max{3, 3} = 3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800725" y="53625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50280" y="5314950"/>
              <a:ext cx="2149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max 与 min 满足吸收律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5" name="Rectangle 4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55650" y="5991225"/>
              <a:ext cx="241300" cy="228600"/>
              <a:chOff x="755650" y="5991225"/>
              <a:chExt cx="241300" cy="228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255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56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953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34618" y="6003608"/>
              <a:ext cx="72024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先和 b 做一种运算，再和 a 做另一种运算——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多余的 b 被吸收，回到 a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5179337" cy="960501"/>
            <a:chOff x="456415" y="361950"/>
            <a:chExt cx="517933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消去律：公共因子能不能约掉？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definition"/>
          <p:cNvGrpSpPr/>
          <p:nvPr/>
        </p:nvGrpSpPr>
        <p:grpSpPr>
          <a:xfrm>
            <a:off x="533400" y="1485900"/>
            <a:ext cx="4762500" cy="2118551"/>
            <a:chOff x="533400" y="1485900"/>
            <a:chExt cx="4762500" cy="2118551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762500" cy="2114550"/>
            </a:xfrm>
            <a:prstGeom prst="roundRect">
              <a:avLst>
                <a:gd name="adj" fmla="val 72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6.1.7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消去律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2067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 S 中任意 a、b、c：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43150"/>
              <a:ext cx="4152900" cy="419100"/>
            </a:xfrm>
            <a:prstGeom prst="roundRect">
              <a:avLst>
                <a:gd name="adj" fmla="val 2727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704" y="2480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左消去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0418" y="2450782"/>
              <a:ext cx="20269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∗ b = a ∗ c ⇒ b = 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2838450"/>
              <a:ext cx="4152900" cy="419100"/>
            </a:xfrm>
            <a:prstGeom prst="roundRect">
              <a:avLst>
                <a:gd name="adj" fmla="val 2727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2975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右消去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0418" y="2946082"/>
              <a:ext cx="20269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 ∗ a = c ∗ a ⇒ b =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3340418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两条都成立，才称 ∗ 满足消去律</a:t>
              </a:r>
            </a:p>
          </p:txBody>
        </p:sp>
      </p:grpSp>
      <p:grpSp>
        <p:nvGrpSpPr>
          <p:cNvPr id="24" name="analogy"/>
          <p:cNvGrpSpPr/>
          <p:nvPr/>
        </p:nvGrpSpPr>
        <p:grpSpPr>
          <a:xfrm>
            <a:off x="533400" y="3733800"/>
            <a:ext cx="4197858" cy="1985201"/>
            <a:chOff x="533400" y="3733800"/>
            <a:chExt cx="4197858" cy="1985201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3733800"/>
              <a:ext cx="2628900" cy="1971675"/>
            </a:xfrm>
            <a:prstGeom prst="roundRect">
              <a:avLst>
                <a:gd name="adj" fmla="val 7729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3345942" y="3950018"/>
              <a:ext cx="13853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天平两边同时拿掉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相同的砝码，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依然平衡——</a:t>
              </a:r>
              <a:br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这就是消去。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45942" y="5188268"/>
              <a:ext cx="124044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但乘法里的 0</a:t>
              </a:r>
              <a:br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会“吞掉”一切。</a:t>
              </a:r>
            </a:p>
          </p:txBody>
        </p:sp>
      </p:grpSp>
      <p:grpSp>
        <p:nvGrpSpPr>
          <p:cNvPr id="30" name="holds"/>
          <p:cNvGrpSpPr/>
          <p:nvPr/>
        </p:nvGrpSpPr>
        <p:grpSpPr>
          <a:xfrm>
            <a:off x="5524500" y="1485900"/>
            <a:ext cx="6134100" cy="1409700"/>
            <a:chOff x="5524500" y="1485900"/>
            <a:chExt cx="6134100" cy="1409700"/>
          </a:xfrm>
        </p:grpSpPr>
        <p:sp>
          <p:nvSpPr>
            <p:cNvPr id="25" name="Rectangle 25"/>
            <p:cNvSpPr/>
            <p:nvPr/>
          </p:nvSpPr>
          <p:spPr>
            <a:xfrm>
              <a:off x="5524500" y="1485900"/>
              <a:ext cx="6134100" cy="1409700"/>
            </a:xfrm>
            <a:prstGeom prst="roundRect">
              <a:avLst>
                <a:gd name="adj" fmla="val 1081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531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902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142" y="1673542"/>
              <a:ext cx="1314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可以放心“约掉”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46242" y="2025968"/>
              <a:ext cx="2568321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整数加法：</a:t>
              </a: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+ b = a + c ⇒ b = c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非零整数 Z* 上的乘法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阶实矩阵的加法</a:t>
              </a:r>
            </a:p>
          </p:txBody>
        </p:sp>
      </p:grpSp>
      <p:grpSp>
        <p:nvGrpSpPr>
          <p:cNvPr id="40" name="fails"/>
          <p:cNvGrpSpPr/>
          <p:nvPr/>
        </p:nvGrpSpPr>
        <p:grpSpPr>
          <a:xfrm>
            <a:off x="5524500" y="3009900"/>
            <a:ext cx="6134100" cy="2705100"/>
            <a:chOff x="5524500" y="3009900"/>
            <a:chExt cx="6134100" cy="2705100"/>
          </a:xfrm>
        </p:grpSpPr>
        <p:sp>
          <p:nvSpPr>
            <p:cNvPr id="31" name="Rectangle 31"/>
            <p:cNvSpPr/>
            <p:nvPr/>
          </p:nvSpPr>
          <p:spPr>
            <a:xfrm>
              <a:off x="5524500" y="3009900"/>
              <a:ext cx="6134100" cy="2705100"/>
            </a:xfrm>
            <a:prstGeom prst="roundRect">
              <a:avLst>
                <a:gd name="adj" fmla="val 5634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53100" y="3143250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66638" y="3204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84442" y="3197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随手约分会出错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6242" y="3549968"/>
              <a:ext cx="2776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整数乘法：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· 1 = 0 · 2，但 1 ≠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46242" y="3873818"/>
              <a:ext cx="4174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阶实矩阵乘法：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左边的矩阵不是零矩阵，也消不掉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matrix-equal"/>
                <p:cNvSpPr txBox="1">
                  <a:spLocks noGrp="1"/>
                </p:cNvSpPr>
                <p:nvPr/>
              </p:nvSpPr>
              <p:spPr>
                <a:xfrm>
                  <a:off x="5753100" y="4114800"/>
                  <a:ext cx="5676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7219950" y="51911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matrix-unequal"/>
                <p:cNvSpPr txBox="1">
                  <a:spLocks noGrp="1"/>
                </p:cNvSpPr>
                <p:nvPr/>
              </p:nvSpPr>
              <p:spPr>
                <a:xfrm>
                  <a:off x="7620000" y="4933950"/>
                  <a:ext cx="22860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B4231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B4231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B4231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B4231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1" name="Rectangle 4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62000" y="5991225"/>
              <a:ext cx="228600" cy="225424"/>
              <a:chOff x="762000" y="5991225"/>
              <a:chExt cx="228600" cy="22542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12800" y="6207124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0100" y="6016625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6300" y="5991225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620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144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134618" y="6003608"/>
              <a:ext cx="7146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“约分”不是天然合法的：先确认运算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满足消去律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，而且左、右都要满足。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header"/>
          <p:cNvGrpSpPr/>
          <p:nvPr/>
        </p:nvGrpSpPr>
        <p:grpSpPr>
          <a:xfrm>
            <a:off x="456415" y="361950"/>
            <a:ext cx="10911863" cy="960501"/>
            <a:chOff x="456415" y="361950"/>
            <a:chExt cx="1091186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性质速查表：常见运算一次对齐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686925" y="904875"/>
              <a:ext cx="247650" cy="247650"/>
            </a:xfrm>
            <a:prstGeom prst="ellipse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9760744" y="99298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4288">
              <a:solidFill>
                <a:srgbClr val="0F7A6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95154" y="956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0563225" y="904875"/>
              <a:ext cx="247650" cy="247650"/>
            </a:xfrm>
            <a:prstGeom prst="ellipse">
              <a:avLst/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644188" y="985838"/>
              <a:ext cx="85725" cy="85725"/>
              <a:chOff x="10644188" y="985838"/>
              <a:chExt cx="85725" cy="857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644188" y="9858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644188" y="9858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871454" y="956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</a:t>
              </a:r>
            </a:p>
          </p:txBody>
        </p:sp>
      </p:grpSp>
      <p:grpSp>
        <p:nvGrpSpPr>
          <p:cNvPr id="168" name="property-table"/>
          <p:cNvGrpSpPr/>
          <p:nvPr/>
        </p:nvGrpSpPr>
        <p:grpSpPr>
          <a:xfrm>
            <a:off x="533400" y="1485900"/>
            <a:ext cx="11125200" cy="4133850"/>
            <a:chOff x="533400" y="1485900"/>
            <a:chExt cx="11125200" cy="4133850"/>
          </a:xfrm>
        </p:grpSpPr>
        <p:sp>
          <p:nvSpPr>
            <p:cNvPr id="15" name="Rectangle 15"/>
            <p:cNvSpPr/>
            <p:nvPr/>
          </p:nvSpPr>
          <p:spPr>
            <a:xfrm>
              <a:off x="533400" y="14859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019300"/>
              <a:ext cx="11125200" cy="1543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562350"/>
              <a:ext cx="11125200" cy="102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591050"/>
              <a:ext cx="111252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533400" y="2533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33400" y="3048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33400" y="35623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33400" y="4076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33400" y="459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33400" y="5105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867650" y="148590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1485900"/>
              <a:ext cx="11125200" cy="4133850"/>
            </a:xfrm>
            <a:prstGeom prst="roundRect">
              <a:avLst>
                <a:gd name="adj" fmla="val 2765"/>
              </a:avLst>
            </a:pr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7042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64180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1930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59680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幂等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07430" y="1587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吸收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07989" y="18202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（配对）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55180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1292" y="1664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备注（分配律等）</a:t>
              </a:r>
            </a:p>
          </p:txBody>
        </p:sp>
        <p:grpSp>
          <p:nvGrpSpPr>
            <p:cNvPr id="52" name="row-z-add"/>
            <p:cNvGrpSpPr/>
            <p:nvPr/>
          </p:nvGrpSpPr>
          <p:grpSpPr>
            <a:xfrm>
              <a:off x="717042" y="2133600"/>
              <a:ext cx="8801100" cy="318325"/>
              <a:chOff x="717042" y="2133600"/>
              <a:chExt cx="8801100" cy="318325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717042" y="2187892"/>
                <a:ext cx="5485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 Z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669542" y="2187892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加法 +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3009900" y="21336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097212" y="22367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057650" y="21336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144962" y="22367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105400" y="21336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5200650" y="2228850"/>
                <a:ext cx="95250" cy="95250"/>
                <a:chOff x="5200650" y="2228850"/>
                <a:chExt cx="95250" cy="9525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5200650" y="22288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200650" y="22288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45" name="Ellipse 45"/>
              <p:cNvSpPr/>
              <p:nvPr/>
            </p:nvSpPr>
            <p:spPr>
              <a:xfrm>
                <a:off x="6153150" y="21336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248400" y="2228850"/>
                <a:ext cx="95250" cy="95250"/>
                <a:chOff x="6248400" y="2228850"/>
                <a:chExt cx="95250" cy="9525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248400" y="22288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248400" y="22288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49" name="Ellipse 49"/>
              <p:cNvSpPr/>
              <p:nvPr/>
            </p:nvSpPr>
            <p:spPr>
              <a:xfrm>
                <a:off x="7200900" y="21336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88212" y="22367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052054" y="2204085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 对 × 不满足分配律</a:t>
                </a:r>
              </a:p>
            </p:txBody>
          </p:sp>
        </p:grpSp>
        <p:grpSp>
          <p:nvGrpSpPr>
            <p:cNvPr id="72" name="row-z-mul"/>
            <p:cNvGrpSpPr/>
            <p:nvPr/>
          </p:nvGrpSpPr>
          <p:grpSpPr>
            <a:xfrm>
              <a:off x="717042" y="2647950"/>
              <a:ext cx="10117684" cy="318325"/>
              <a:chOff x="717042" y="2647950"/>
              <a:chExt cx="10117684" cy="318325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717042" y="2702242"/>
                <a:ext cx="5485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 Z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669542" y="2702242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乘法 ×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3009900" y="26479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097212" y="27511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4057650" y="26479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144962" y="27511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5105400" y="264795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5200650" y="2743200"/>
                <a:ext cx="95250" cy="95250"/>
                <a:chOff x="5200650" y="2743200"/>
                <a:chExt cx="95250" cy="952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5200650" y="27432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5200650" y="27432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63" name="Ellipse 63"/>
              <p:cNvSpPr/>
              <p:nvPr/>
            </p:nvSpPr>
            <p:spPr>
              <a:xfrm>
                <a:off x="6153150" y="264795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6248400" y="2743200"/>
                <a:ext cx="95250" cy="95250"/>
                <a:chOff x="6248400" y="2743200"/>
                <a:chExt cx="95250" cy="95250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6248400" y="27432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6248400" y="27432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67" name="Ellipse 67"/>
              <p:cNvSpPr/>
              <p:nvPr/>
            </p:nvSpPr>
            <p:spPr>
              <a:xfrm>
                <a:off x="7200900" y="264795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7296150" y="2743200"/>
                <a:ext cx="95250" cy="95250"/>
                <a:chOff x="7296150" y="2743200"/>
                <a:chExt cx="95250" cy="95250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7296150" y="27432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296150" y="27432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8052054" y="2718435"/>
                <a:ext cx="27826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× 对 + 满足分配律；因子 0 使消去失败</a:t>
                </a:r>
              </a:p>
            </p:txBody>
          </p:sp>
        </p:grpSp>
        <p:grpSp>
          <p:nvGrpSpPr>
            <p:cNvPr id="94" name="row-z-sub"/>
            <p:cNvGrpSpPr/>
            <p:nvPr/>
          </p:nvGrpSpPr>
          <p:grpSpPr>
            <a:xfrm>
              <a:off x="717042" y="3162300"/>
              <a:ext cx="9778441" cy="318325"/>
              <a:chOff x="717042" y="3162300"/>
              <a:chExt cx="9778441" cy="318325"/>
            </a:xfrm>
          </p:grpSpPr>
          <p:sp>
            <p:nvSpPr>
              <p:cNvPr id="73" name="TextBox 73"/>
              <p:cNvSpPr txBox="1"/>
              <p:nvPr/>
            </p:nvSpPr>
            <p:spPr>
              <a:xfrm>
                <a:off x="717042" y="3216592"/>
                <a:ext cx="5485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 Z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669542" y="3216592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减法 −</a:t>
                </a:r>
              </a:p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3009900" y="31623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3105150" y="3257550"/>
                <a:ext cx="95250" cy="95250"/>
                <a:chOff x="3105150" y="3257550"/>
                <a:chExt cx="95250" cy="95250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310515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310515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79" name="Ellipse 79"/>
              <p:cNvSpPr/>
              <p:nvPr/>
            </p:nvSpPr>
            <p:spPr>
              <a:xfrm>
                <a:off x="4057650" y="31623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>
                <a:off x="4152900" y="3257550"/>
                <a:ext cx="95250" cy="95250"/>
                <a:chOff x="4152900" y="3257550"/>
                <a:chExt cx="95250" cy="95250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415290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415290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83" name="Ellipse 83"/>
              <p:cNvSpPr/>
              <p:nvPr/>
            </p:nvSpPr>
            <p:spPr>
              <a:xfrm>
                <a:off x="5105400" y="31623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86" name="Group 86"/>
              <p:cNvGrpSpPr/>
              <p:nvPr/>
            </p:nvGrpSpPr>
            <p:grpSpPr>
              <a:xfrm>
                <a:off x="5200650" y="3257550"/>
                <a:ext cx="95250" cy="95250"/>
                <a:chOff x="5200650" y="3257550"/>
                <a:chExt cx="95250" cy="95250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520065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520065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87" name="Ellipse 87"/>
              <p:cNvSpPr/>
              <p:nvPr/>
            </p:nvSpPr>
            <p:spPr>
              <a:xfrm>
                <a:off x="6153150" y="31623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6248400" y="3257550"/>
                <a:ext cx="95250" cy="95250"/>
                <a:chOff x="6248400" y="3257550"/>
                <a:chExt cx="95250" cy="95250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624840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6248400" y="3257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91" name="Ellipse 91"/>
              <p:cNvSpPr/>
              <p:nvPr/>
            </p:nvSpPr>
            <p:spPr>
              <a:xfrm>
                <a:off x="7200900" y="31623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88212" y="32654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8052054" y="3232785"/>
                <a:ext cx="24434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− b = a − c ⇒ b = c，左右都能消</a:t>
                </a:r>
              </a:p>
            </p:txBody>
          </p:sp>
        </p:grpSp>
        <p:grpSp>
          <p:nvGrpSpPr>
            <p:cNvPr id="112" name="row-m-add"/>
            <p:cNvGrpSpPr/>
            <p:nvPr/>
          </p:nvGrpSpPr>
          <p:grpSpPr>
            <a:xfrm>
              <a:off x="717042" y="3676650"/>
              <a:ext cx="8962644" cy="318325"/>
              <a:chOff x="717042" y="3676650"/>
              <a:chExt cx="8962644" cy="318325"/>
            </a:xfrm>
          </p:grpSpPr>
          <p:sp>
            <p:nvSpPr>
              <p:cNvPr id="95" name="TextBox 95"/>
              <p:cNvSpPr txBox="1"/>
              <p:nvPr/>
            </p:nvSpPr>
            <p:spPr>
              <a:xfrm>
                <a:off x="717042" y="3730942"/>
                <a:ext cx="7211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阶矩阵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669542" y="3730942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加法 +</a:t>
                </a:r>
              </a:p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3009900" y="36766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3097212" y="37798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057650" y="36766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4144962" y="37798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5105400" y="367665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5200650" y="3771900"/>
                <a:ext cx="95250" cy="95250"/>
                <a:chOff x="5200650" y="3771900"/>
                <a:chExt cx="95250" cy="95250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5200650" y="37719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5200650" y="37719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05" name="Ellipse 105"/>
              <p:cNvSpPr/>
              <p:nvPr/>
            </p:nvSpPr>
            <p:spPr>
              <a:xfrm>
                <a:off x="6153150" y="367665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08" name="Group 108"/>
              <p:cNvGrpSpPr/>
              <p:nvPr/>
            </p:nvGrpSpPr>
            <p:grpSpPr>
              <a:xfrm>
                <a:off x="6248400" y="3771900"/>
                <a:ext cx="95250" cy="95250"/>
                <a:chOff x="6248400" y="3771900"/>
                <a:chExt cx="95250" cy="95250"/>
              </a:xfrm>
            </p:grpSpPr>
            <p:sp>
              <p:nvSpPr>
                <p:cNvPr id="106" name="Freeform 106"/>
                <p:cNvSpPr/>
                <p:nvPr/>
              </p:nvSpPr>
              <p:spPr>
                <a:xfrm>
                  <a:off x="6248400" y="37719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6248400" y="37719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09" name="Ellipse 109"/>
              <p:cNvSpPr/>
              <p:nvPr/>
            </p:nvSpPr>
            <p:spPr>
              <a:xfrm>
                <a:off x="7200900" y="36766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288212" y="37798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8052054" y="3747135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与整数加法的性质相同</a:t>
                </a:r>
              </a:p>
            </p:txBody>
          </p:sp>
        </p:grpSp>
        <p:grpSp>
          <p:nvGrpSpPr>
            <p:cNvPr id="135" name="row-m-mul"/>
            <p:cNvGrpSpPr/>
            <p:nvPr/>
          </p:nvGrpSpPr>
          <p:grpSpPr>
            <a:xfrm>
              <a:off x="717042" y="4191000"/>
              <a:ext cx="9747199" cy="318325"/>
              <a:chOff x="717042" y="4191000"/>
              <a:chExt cx="9747199" cy="318325"/>
            </a:xfrm>
          </p:grpSpPr>
          <p:sp>
            <p:nvSpPr>
              <p:cNvPr id="113" name="TextBox 113"/>
              <p:cNvSpPr txBox="1"/>
              <p:nvPr/>
            </p:nvSpPr>
            <p:spPr>
              <a:xfrm>
                <a:off x="717042" y="4245292"/>
                <a:ext cx="7211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阶矩阵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1669542" y="4245292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乘法 ×</a:t>
                </a:r>
              </a:p>
            </p:txBody>
          </p:sp>
          <p:sp>
            <p:nvSpPr>
              <p:cNvPr id="115" name="Ellipse 115"/>
              <p:cNvSpPr/>
              <p:nvPr/>
            </p:nvSpPr>
            <p:spPr>
              <a:xfrm>
                <a:off x="3009900" y="41910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18" name="Group 118"/>
              <p:cNvGrpSpPr/>
              <p:nvPr/>
            </p:nvGrpSpPr>
            <p:grpSpPr>
              <a:xfrm>
                <a:off x="3105150" y="4286250"/>
                <a:ext cx="95250" cy="95250"/>
                <a:chOff x="3105150" y="4286250"/>
                <a:chExt cx="95250" cy="95250"/>
              </a:xfrm>
            </p:grpSpPr>
            <p:sp>
              <p:nvSpPr>
                <p:cNvPr id="116" name="Freeform 116"/>
                <p:cNvSpPr/>
                <p:nvPr/>
              </p:nvSpPr>
              <p:spPr>
                <a:xfrm>
                  <a:off x="310515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17" name="Freeform 117"/>
                <p:cNvSpPr/>
                <p:nvPr/>
              </p:nvSpPr>
              <p:spPr>
                <a:xfrm>
                  <a:off x="310515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19" name="TextBox 119"/>
              <p:cNvSpPr txBox="1"/>
              <p:nvPr/>
            </p:nvSpPr>
            <p:spPr>
              <a:xfrm>
                <a:off x="3347466" y="42776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一般</a:t>
                </a:r>
              </a:p>
            </p:txBody>
          </p:sp>
          <p:sp>
            <p:nvSpPr>
              <p:cNvPr id="120" name="Ellipse 120"/>
              <p:cNvSpPr/>
              <p:nvPr/>
            </p:nvSpPr>
            <p:spPr>
              <a:xfrm>
                <a:off x="4057650" y="41910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4144962" y="42941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5105400" y="41910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25" name="Group 125"/>
              <p:cNvGrpSpPr/>
              <p:nvPr/>
            </p:nvGrpSpPr>
            <p:grpSpPr>
              <a:xfrm>
                <a:off x="5200650" y="4286250"/>
                <a:ext cx="95250" cy="95250"/>
                <a:chOff x="5200650" y="4286250"/>
                <a:chExt cx="95250" cy="95250"/>
              </a:xfrm>
            </p:grpSpPr>
            <p:sp>
              <p:nvSpPr>
                <p:cNvPr id="123" name="Freeform 123"/>
                <p:cNvSpPr/>
                <p:nvPr/>
              </p:nvSpPr>
              <p:spPr>
                <a:xfrm>
                  <a:off x="520065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24" name="Freeform 124"/>
                <p:cNvSpPr/>
                <p:nvPr/>
              </p:nvSpPr>
              <p:spPr>
                <a:xfrm>
                  <a:off x="520065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26" name="Ellipse 126"/>
              <p:cNvSpPr/>
              <p:nvPr/>
            </p:nvSpPr>
            <p:spPr>
              <a:xfrm>
                <a:off x="6153150" y="41910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29" name="Group 129"/>
              <p:cNvGrpSpPr/>
              <p:nvPr/>
            </p:nvGrpSpPr>
            <p:grpSpPr>
              <a:xfrm>
                <a:off x="6248400" y="4286250"/>
                <a:ext cx="95250" cy="95250"/>
                <a:chOff x="6248400" y="4286250"/>
                <a:chExt cx="95250" cy="95250"/>
              </a:xfrm>
            </p:grpSpPr>
            <p:sp>
              <p:nvSpPr>
                <p:cNvPr id="127" name="Freeform 127"/>
                <p:cNvSpPr/>
                <p:nvPr/>
              </p:nvSpPr>
              <p:spPr>
                <a:xfrm>
                  <a:off x="624840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28" name="Freeform 128"/>
                <p:cNvSpPr/>
                <p:nvPr/>
              </p:nvSpPr>
              <p:spPr>
                <a:xfrm>
                  <a:off x="624840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30" name="Ellipse 130"/>
              <p:cNvSpPr/>
              <p:nvPr/>
            </p:nvSpPr>
            <p:spPr>
              <a:xfrm>
                <a:off x="7200900" y="41910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33" name="Group 133"/>
              <p:cNvGrpSpPr/>
              <p:nvPr/>
            </p:nvGrpSpPr>
            <p:grpSpPr>
              <a:xfrm>
                <a:off x="7296150" y="4286250"/>
                <a:ext cx="95250" cy="95250"/>
                <a:chOff x="7296150" y="4286250"/>
                <a:chExt cx="95250" cy="95250"/>
              </a:xfrm>
            </p:grpSpPr>
            <p:sp>
              <p:nvSpPr>
                <p:cNvPr id="131" name="Freeform 131"/>
                <p:cNvSpPr/>
                <p:nvPr/>
              </p:nvSpPr>
              <p:spPr>
                <a:xfrm>
                  <a:off x="729615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32" name="Freeform 132"/>
                <p:cNvSpPr/>
                <p:nvPr/>
              </p:nvSpPr>
              <p:spPr>
                <a:xfrm>
                  <a:off x="7296150" y="4286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34" name="TextBox 134"/>
              <p:cNvSpPr txBox="1"/>
              <p:nvPr/>
            </p:nvSpPr>
            <p:spPr>
              <a:xfrm>
                <a:off x="8052054" y="4261485"/>
                <a:ext cx="24121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一般 AB ≠ BA；× 对 + 满足分配律</a:t>
                </a:r>
              </a:p>
            </p:txBody>
          </p:sp>
        </p:grpSp>
        <p:grpSp>
          <p:nvGrpSpPr>
            <p:cNvPr id="151" name="row-p-cap"/>
            <p:cNvGrpSpPr/>
            <p:nvPr/>
          </p:nvGrpSpPr>
          <p:grpSpPr>
            <a:xfrm>
              <a:off x="717042" y="4705350"/>
              <a:ext cx="9956140" cy="318325"/>
              <a:chOff x="717042" y="4705350"/>
              <a:chExt cx="9956140" cy="318325"/>
            </a:xfrm>
          </p:grpSpPr>
          <p:sp>
            <p:nvSpPr>
              <p:cNvPr id="136" name="TextBox 136"/>
              <p:cNvSpPr txBox="1"/>
              <p:nvPr/>
            </p:nvSpPr>
            <p:spPr>
              <a:xfrm>
                <a:off x="717042" y="4759642"/>
                <a:ext cx="8677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幂集 ρ(S)</a:t>
                </a: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1669542" y="4759642"/>
                <a:ext cx="3499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 ∩</a:t>
                </a:r>
              </a:p>
            </p:txBody>
          </p:sp>
          <p:sp>
            <p:nvSpPr>
              <p:cNvPr id="138" name="Ellipse 138"/>
              <p:cNvSpPr/>
              <p:nvPr/>
            </p:nvSpPr>
            <p:spPr>
              <a:xfrm>
                <a:off x="3009900" y="47053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39" name="Freeform 139"/>
              <p:cNvSpPr/>
              <p:nvPr/>
            </p:nvSpPr>
            <p:spPr>
              <a:xfrm>
                <a:off x="3097212" y="48085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4057650" y="47053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4144962" y="48085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5105400" y="47053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43" name="Freeform 143"/>
              <p:cNvSpPr/>
              <p:nvPr/>
            </p:nvSpPr>
            <p:spPr>
              <a:xfrm>
                <a:off x="5192712" y="48085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6153150" y="470535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6240462" y="480853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46" name="Ellipse 146"/>
              <p:cNvSpPr/>
              <p:nvPr/>
            </p:nvSpPr>
            <p:spPr>
              <a:xfrm>
                <a:off x="7200900" y="470535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49" name="Group 149"/>
              <p:cNvGrpSpPr/>
              <p:nvPr/>
            </p:nvGrpSpPr>
            <p:grpSpPr>
              <a:xfrm>
                <a:off x="7296150" y="4800600"/>
                <a:ext cx="95250" cy="95250"/>
                <a:chOff x="7296150" y="4800600"/>
                <a:chExt cx="95250" cy="95250"/>
              </a:xfrm>
            </p:grpSpPr>
            <p:sp>
              <p:nvSpPr>
                <p:cNvPr id="147" name="Freeform 147"/>
                <p:cNvSpPr/>
                <p:nvPr/>
              </p:nvSpPr>
              <p:spPr>
                <a:xfrm>
                  <a:off x="7296150" y="48006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48" name="Freeform 148"/>
                <p:cNvSpPr/>
                <p:nvPr/>
              </p:nvSpPr>
              <p:spPr>
                <a:xfrm>
                  <a:off x="7296150" y="48006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50" name="TextBox 150"/>
              <p:cNvSpPr txBox="1"/>
              <p:nvPr/>
            </p:nvSpPr>
            <p:spPr>
              <a:xfrm>
                <a:off x="8052054" y="4775835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∩ 对 ∪ 满足分配律；吸收律与 ∪ 配对</a:t>
                </a:r>
              </a:p>
            </p:txBody>
          </p:sp>
        </p:grpSp>
        <p:grpSp>
          <p:nvGrpSpPr>
            <p:cNvPr id="167" name="row-p-cup"/>
            <p:cNvGrpSpPr/>
            <p:nvPr/>
          </p:nvGrpSpPr>
          <p:grpSpPr>
            <a:xfrm>
              <a:off x="717042" y="5219700"/>
              <a:ext cx="9956140" cy="318325"/>
              <a:chOff x="717042" y="5219700"/>
              <a:chExt cx="9956140" cy="318325"/>
            </a:xfrm>
          </p:grpSpPr>
          <p:sp>
            <p:nvSpPr>
              <p:cNvPr id="152" name="TextBox 152"/>
              <p:cNvSpPr txBox="1"/>
              <p:nvPr/>
            </p:nvSpPr>
            <p:spPr>
              <a:xfrm>
                <a:off x="717042" y="5273992"/>
                <a:ext cx="8677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幂集 ρ(S)</a:t>
                </a:r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1669542" y="5273992"/>
                <a:ext cx="3499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并 ∪</a:t>
                </a:r>
              </a:p>
            </p:txBody>
          </p:sp>
          <p:sp>
            <p:nvSpPr>
              <p:cNvPr id="154" name="Ellipse 154"/>
              <p:cNvSpPr/>
              <p:nvPr/>
            </p:nvSpPr>
            <p:spPr>
              <a:xfrm>
                <a:off x="3009900" y="52197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3097212" y="53228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56" name="Ellipse 156"/>
              <p:cNvSpPr/>
              <p:nvPr/>
            </p:nvSpPr>
            <p:spPr>
              <a:xfrm>
                <a:off x="4057650" y="52197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4144962" y="53228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58" name="Ellipse 158"/>
              <p:cNvSpPr/>
              <p:nvPr/>
            </p:nvSpPr>
            <p:spPr>
              <a:xfrm>
                <a:off x="5105400" y="52197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59" name="Freeform 159"/>
              <p:cNvSpPr/>
              <p:nvPr/>
            </p:nvSpPr>
            <p:spPr>
              <a:xfrm>
                <a:off x="5192712" y="53228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60" name="Ellipse 160"/>
              <p:cNvSpPr/>
              <p:nvPr/>
            </p:nvSpPr>
            <p:spPr>
              <a:xfrm>
                <a:off x="6153150" y="5219700"/>
                <a:ext cx="285750" cy="285750"/>
              </a:xfrm>
              <a:prstGeom prst="ellipse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61" name="Freeform 161"/>
              <p:cNvSpPr/>
              <p:nvPr/>
            </p:nvSpPr>
            <p:spPr>
              <a:xfrm>
                <a:off x="6240462" y="53228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0F7A68"/>
                </a:solidFill>
              </a:ln>
            </p:spPr>
          </p:sp>
          <p:sp>
            <p:nvSpPr>
              <p:cNvPr id="162" name="Ellipse 162"/>
              <p:cNvSpPr/>
              <p:nvPr/>
            </p:nvSpPr>
            <p:spPr>
              <a:xfrm>
                <a:off x="7200900" y="5219700"/>
                <a:ext cx="285750" cy="285750"/>
              </a:xfrm>
              <a:prstGeom prst="ellipse">
                <a:avLst/>
              </a:prstGeom>
              <a:solidFill>
                <a:srgbClr val="FDECEA"/>
              </a:solidFill>
              <a:ln>
                <a:noFill/>
              </a:ln>
            </p:spPr>
          </p:sp>
          <p:grpSp>
            <p:nvGrpSpPr>
              <p:cNvPr id="165" name="Group 165"/>
              <p:cNvGrpSpPr/>
              <p:nvPr/>
            </p:nvGrpSpPr>
            <p:grpSpPr>
              <a:xfrm>
                <a:off x="7296150" y="5314950"/>
                <a:ext cx="95250" cy="95250"/>
                <a:chOff x="7296150" y="5314950"/>
                <a:chExt cx="95250" cy="95250"/>
              </a:xfrm>
            </p:grpSpPr>
            <p:sp>
              <p:nvSpPr>
                <p:cNvPr id="163" name="Freeform 163"/>
                <p:cNvSpPr/>
                <p:nvPr/>
              </p:nvSpPr>
              <p:spPr>
                <a:xfrm>
                  <a:off x="7296150" y="53149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  <p:sp>
              <p:nvSpPr>
                <p:cNvPr id="164" name="Freeform 164"/>
                <p:cNvSpPr/>
                <p:nvPr/>
              </p:nvSpPr>
              <p:spPr>
                <a:xfrm>
                  <a:off x="7296150" y="53149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5875">
                  <a:solidFill>
                    <a:srgbClr val="B42318"/>
                  </a:solidFill>
                </a:ln>
              </p:spPr>
            </p:sp>
          </p:grpSp>
          <p:sp>
            <p:nvSpPr>
              <p:cNvPr id="166" name="TextBox 166"/>
              <p:cNvSpPr txBox="1"/>
              <p:nvPr/>
            </p:nvSpPr>
            <p:spPr>
              <a:xfrm>
                <a:off x="8052054" y="5290185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∪ 对 ∩ 满足分配律；吸收律与 ∩ 配对</a:t>
                </a:r>
              </a:p>
            </p:txBody>
          </p:sp>
        </p:grpSp>
      </p:grpSp>
      <p:grpSp>
        <p:nvGrpSpPr>
          <p:cNvPr id="17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69" name="Rectangle 16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73" name="Group 173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203199"/>
                    </a:lnTo>
                    <a:cubicBezTo>
                      <a:pt x="228599" y="217227"/>
                      <a:pt x="217227" y="228599"/>
                      <a:pt x="203199" y="228599"/>
                    </a:cubicBez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1" name="Freeform 171"/>
              <p:cNvSpPr/>
              <p:nvPr/>
            </p:nvSpPr>
            <p:spPr>
              <a:xfrm>
                <a:off x="762000" y="60801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2" name="Freeform 172"/>
              <p:cNvSpPr/>
              <p:nvPr/>
            </p:nvSpPr>
            <p:spPr>
              <a:xfrm>
                <a:off x="8509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74" name="TextBox 174"/>
            <p:cNvSpPr txBox="1"/>
            <p:nvPr/>
          </p:nvSpPr>
          <p:spPr>
            <a:xfrm>
              <a:off x="1134618" y="6003608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同一个集合上的不同运算，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性质组合各不相同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；把这张表记熟，判断题就快了。</a:t>
              </a:r>
            </a:p>
          </p:txBody>
        </p:sp>
      </p:grpSp>
      <p:grpSp>
        <p:nvGrpSpPr>
          <p:cNvPr id="17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76" name="TextBox 176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2998493" cy="960501"/>
            <a:chOff x="456415" y="361950"/>
            <a:chExt cx="299849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六大性质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易错点与判定模板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pitfalls"/>
          <p:cNvGrpSpPr/>
          <p:nvPr/>
        </p:nvGrpSpPr>
        <p:grpSpPr>
          <a:xfrm>
            <a:off x="533400" y="1549411"/>
            <a:ext cx="5562600" cy="4051289"/>
            <a:chOff x="533400" y="1549411"/>
            <a:chExt cx="5562600" cy="4051289"/>
          </a:xfrm>
        </p:grpSpPr>
        <p:grpSp>
          <p:nvGrpSpPr>
            <p:cNvPr id="10" name="Group 10"/>
            <p:cNvGrpSpPr/>
            <p:nvPr/>
          </p:nvGrpSpPr>
          <p:grpSpPr>
            <a:xfrm>
              <a:off x="551639" y="1549411"/>
              <a:ext cx="192114" cy="165051"/>
              <a:chOff x="551639" y="1549411"/>
              <a:chExt cx="192114" cy="1650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7700" y="16097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51639" y="15494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47700" y="167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31342" y="1559242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 个易错点</a:t>
              </a:r>
            </a:p>
          </p:txBody>
        </p:sp>
        <p:grpSp>
          <p:nvGrpSpPr>
            <p:cNvPr id="17" name="pit-1"/>
            <p:cNvGrpSpPr/>
            <p:nvPr/>
          </p:nvGrpSpPr>
          <p:grpSpPr>
            <a:xfrm>
              <a:off x="533400" y="1866900"/>
              <a:ext cx="5562600" cy="685800"/>
              <a:chOff x="533400" y="1866900"/>
              <a:chExt cx="5562600" cy="6858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866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04850" y="2038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16965" y="2121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3480" y="1990725"/>
                <a:ext cx="30441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二元运算只要求封闭，不要求交换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75004" y="2270760"/>
                <a:ext cx="29846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∗ b 与 b ∗ a 可以不同，照样是二元运算</a:t>
                </a:r>
              </a:p>
            </p:txBody>
          </p:sp>
        </p:grpSp>
        <p:grpSp>
          <p:nvGrpSpPr>
            <p:cNvPr id="23" name="pit-2"/>
            <p:cNvGrpSpPr/>
            <p:nvPr/>
          </p:nvGrpSpPr>
          <p:grpSpPr>
            <a:xfrm>
              <a:off x="533400" y="2628900"/>
              <a:ext cx="5562600" cy="685800"/>
              <a:chOff x="533400" y="2628900"/>
              <a:chExt cx="5562600" cy="685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2628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704850" y="2800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16965" y="2883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73480" y="275272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交换律改顺序，结合律改括号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5004" y="3032760"/>
                <a:ext cx="33319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(a ∗ b) ∗ c = a ∗ (b ∗ c) 里元素顺序从不改变</a:t>
                </a:r>
              </a:p>
            </p:txBody>
          </p:sp>
        </p:grpSp>
        <p:grpSp>
          <p:nvGrpSpPr>
            <p:cNvPr id="29" name="pit-3"/>
            <p:cNvGrpSpPr/>
            <p:nvPr/>
          </p:nvGrpSpPr>
          <p:grpSpPr>
            <a:xfrm>
              <a:off x="533400" y="3390900"/>
              <a:ext cx="5562600" cy="685800"/>
              <a:chOff x="533400" y="3390900"/>
              <a:chExt cx="5562600" cy="6858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390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704850" y="3562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16965" y="3645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3480" y="35147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分配律有方向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5004" y="3794760"/>
                <a:ext cx="27907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“∗ 对 + 满足”与“+ 对 ∗ 满足”是两回事</a:t>
                </a:r>
              </a:p>
            </p:txBody>
          </p:sp>
        </p:grpSp>
        <p:grpSp>
          <p:nvGrpSpPr>
            <p:cNvPr id="35" name="pit-4"/>
            <p:cNvGrpSpPr/>
            <p:nvPr/>
          </p:nvGrpSpPr>
          <p:grpSpPr>
            <a:xfrm>
              <a:off x="533400" y="4152900"/>
              <a:ext cx="5562600" cy="685800"/>
              <a:chOff x="533400" y="4152900"/>
              <a:chExt cx="5562600" cy="685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4152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704850" y="4324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6965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73480" y="4276725"/>
                <a:ext cx="22783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存在幂等元 ≠ 满足幂等律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75004" y="4556760"/>
                <a:ext cx="29846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整数乘法有幂等元 0、1，但不满足幂等律</a:t>
                </a:r>
              </a:p>
            </p:txBody>
          </p:sp>
        </p:grpSp>
        <p:grpSp>
          <p:nvGrpSpPr>
            <p:cNvPr id="41" name="pit-5"/>
            <p:cNvGrpSpPr/>
            <p:nvPr/>
          </p:nvGrpSpPr>
          <p:grpSpPr>
            <a:xfrm>
              <a:off x="533400" y="4914900"/>
              <a:ext cx="5562600" cy="685800"/>
              <a:chOff x="533400" y="4914900"/>
              <a:chExt cx="5562600" cy="685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4914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04850" y="5086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6965" y="5169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73480" y="50387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整数乘法不能随手消去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75004" y="5318760"/>
                <a:ext cx="16599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 · 1 = 0 · 2，但 1 ≠ 2</a:t>
                </a:r>
              </a:p>
            </p:txBody>
          </p:sp>
        </p:grpSp>
      </p:grpSp>
      <p:grpSp>
        <p:nvGrpSpPr>
          <p:cNvPr id="93" name="templates"/>
          <p:cNvGrpSpPr/>
          <p:nvPr/>
        </p:nvGrpSpPr>
        <p:grpSpPr>
          <a:xfrm>
            <a:off x="6324600" y="1559242"/>
            <a:ext cx="5334000" cy="4013264"/>
            <a:chOff x="6324600" y="1559242"/>
            <a:chExt cx="5334000" cy="4013264"/>
          </a:xfrm>
        </p:grpSpPr>
        <p:grpSp>
          <p:nvGrpSpPr>
            <p:cNvPr id="49" name="Group 49"/>
            <p:cNvGrpSpPr/>
            <p:nvPr/>
          </p:nvGrpSpPr>
          <p:grpSpPr>
            <a:xfrm>
              <a:off x="6357938" y="1566862"/>
              <a:ext cx="157162" cy="138113"/>
              <a:chOff x="6357938" y="1566862"/>
              <a:chExt cx="157162" cy="13811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357938" y="15668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57938" y="16240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57938" y="16811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29375" y="15811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29375" y="16383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29375" y="16954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622542" y="1559242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个判定模板</a:t>
              </a:r>
            </a:p>
          </p:txBody>
        </p:sp>
        <p:grpSp>
          <p:nvGrpSpPr>
            <p:cNvPr id="64" name="tpl-operation"/>
            <p:cNvGrpSpPr/>
            <p:nvPr/>
          </p:nvGrpSpPr>
          <p:grpSpPr>
            <a:xfrm>
              <a:off x="6324600" y="1866900"/>
              <a:ext cx="5334000" cy="1191006"/>
              <a:chOff x="6324600" y="1866900"/>
              <a:chExt cx="5334000" cy="1191006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324600" y="18669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6553200" y="19812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656371" y="20326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46442" y="20259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判断是不是二元运算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553200" y="22860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754101" y="2442210"/>
                <a:ext cx="10078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a、b ∈ 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017137" y="23964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229600" y="22860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560841" y="2442210"/>
                <a:ext cx="7472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计算 a ∗ b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693537" y="23964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906000" y="2286000"/>
                <a:ext cx="15240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998354" y="2442210"/>
                <a:ext cx="13392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检查是否仍在 S 中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547104" y="2823210"/>
                <a:ext cx="26558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找到一个不在 S 中的结果 ⇒ 立即否定</a:t>
                </a:r>
              </a:p>
            </p:txBody>
          </p:sp>
        </p:grpSp>
        <p:grpSp>
          <p:nvGrpSpPr>
            <p:cNvPr id="78" name="tpl-property"/>
            <p:cNvGrpSpPr/>
            <p:nvPr/>
          </p:nvGrpSpPr>
          <p:grpSpPr>
            <a:xfrm>
              <a:off x="6324600" y="3124200"/>
              <a:ext cx="5334000" cy="1191006"/>
              <a:chOff x="6324600" y="3124200"/>
              <a:chExt cx="5334000" cy="1191006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6324600" y="31242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553200" y="32385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656371" y="32899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2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346442" y="32832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判断运算性质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6553200" y="35433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767322" y="36995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写出定义等式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017137" y="3653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8229600" y="35433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362950" y="36995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对任意元素证明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693537" y="3653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9906000" y="3543300"/>
                <a:ext cx="15240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015728" y="369951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否定：给一个反例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547104" y="4080510"/>
                <a:ext cx="29199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涉及两个运算时，注意方向（如分配律）</a:t>
                </a:r>
              </a:p>
            </p:txBody>
          </p:sp>
        </p:grpSp>
        <p:grpSp>
          <p:nvGrpSpPr>
            <p:cNvPr id="92" name="tpl-system"/>
            <p:cNvGrpSpPr/>
            <p:nvPr/>
          </p:nvGrpSpPr>
          <p:grpSpPr>
            <a:xfrm>
              <a:off x="6324600" y="4381500"/>
              <a:ext cx="5334000" cy="1191006"/>
              <a:chOff x="6324600" y="4381500"/>
              <a:chExt cx="5334000" cy="1191006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6324600" y="43815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6553200" y="44958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6656371" y="45472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3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346442" y="45405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判断代数系统</a:t>
                </a:r>
              </a:p>
            </p:txBody>
          </p:sp>
          <p:sp>
            <p:nvSpPr>
              <p:cNvPr id="83" name="Rectangle 83"/>
              <p:cNvSpPr/>
              <p:nvPr/>
            </p:nvSpPr>
            <p:spPr>
              <a:xfrm>
                <a:off x="6553200" y="48006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6928866" y="49568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集合非空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017137" y="49110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8229600" y="48006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362950" y="49568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每个运算都封闭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693537" y="49110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9906000" y="4800600"/>
                <a:ext cx="15240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10177272" y="49568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再验题目要求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547104" y="5337810"/>
                <a:ext cx="20378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例：(N, −) 在第二步就失败</a:t>
                </a:r>
              </a:p>
            </p:txBody>
          </p:sp>
        </p:grpSp>
      </p:grpSp>
      <p:grpSp>
        <p:nvGrpSpPr>
          <p:cNvPr id="10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4" name="Rectangle 9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63600" y="60928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12800" y="60420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134618" y="6003608"/>
              <a:ext cx="6749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一个原则贯穿始终：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“满足”靠证明所有情况，“不满足”靠一个反例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206490" cy="960501"/>
            <a:chOff x="519684" y="361950"/>
            <a:chExt cx="620649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050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65892" y="432435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· 代数系统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064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代数系统：把集合和运算当成一个整体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definition"/>
          <p:cNvGrpSpPr/>
          <p:nvPr/>
        </p:nvGrpSpPr>
        <p:grpSpPr>
          <a:xfrm>
            <a:off x="533400" y="1485900"/>
            <a:ext cx="4762500" cy="4229100"/>
            <a:chOff x="533400" y="1485900"/>
            <a:chExt cx="47625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7625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981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S 是非空集合，f₁, …, fₘ 是 S 上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的若干代数运算。把 S 及其运算作为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一个整体来看，叫做一个代数系统，记为：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system-formula"/>
                <p:cNvSpPr txBox="1">
                  <a:spLocks noGrp="1"/>
                </p:cNvSpPr>
                <p:nvPr/>
              </p:nvSpPr>
              <p:spPr>
                <a:xfrm>
                  <a:off x="914400" y="2914650"/>
                  <a:ext cx="4152900" cy="666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b>
                              <m:e>
                                <m:r>
                                  <a:rPr lang="zh-CN" sz="25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25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…,</m:t>
                            </m:r>
                            <m:r>
                              <a:rPr lang="zh-CN" sz="25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b>
                              <m:e>
                                <m:r>
                                  <a:rPr lang="zh-CN" sz="25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25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grpSp>
          <p:nvGrpSpPr>
            <p:cNvPr id="22" name="system-equation"/>
            <p:cNvGrpSpPr/>
            <p:nvPr/>
          </p:nvGrpSpPr>
          <p:grpSpPr>
            <a:xfrm>
              <a:off x="762000" y="3771900"/>
              <a:ext cx="4305300" cy="685800"/>
              <a:chOff x="762000" y="3771900"/>
              <a:chExt cx="4305300" cy="6858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62000" y="3771900"/>
                <a:ext cx="12954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59942" y="3911918"/>
                <a:ext cx="69951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非空集合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105045" y="3990022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324100" y="3771900"/>
                <a:ext cx="12954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583466" y="3911918"/>
                <a:ext cx="776668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封闭运算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f₁, …, fₘ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67145" y="3990022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3886200" y="3771900"/>
                <a:ext cx="1181100" cy="685800"/>
              </a:xfrm>
              <a:prstGeom prst="roundRect">
                <a:avLst>
                  <a:gd name="adj" fmla="val 19444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065270" y="40100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762000" y="4686300"/>
              <a:ext cx="4305300" cy="876300"/>
            </a:xfrm>
            <a:prstGeom prst="roundRect">
              <a:avLst>
                <a:gd name="adj" fmla="val 1521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09650" y="4895850"/>
              <a:ext cx="114300" cy="114300"/>
              <a:chOff x="1009650" y="4895850"/>
              <a:chExt cx="114300" cy="1143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09650" y="48958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09650" y="48958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268730" y="4857750"/>
              <a:ext cx="197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(N, −) 不是代数系统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242560"/>
              <a:ext cx="2507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上的减法不封闭：1 − 2 = −1 ∉ N</a:t>
              </a:r>
            </a:p>
          </p:txBody>
        </p:sp>
      </p:grpSp>
      <p:grpSp>
        <p:nvGrpSpPr>
          <p:cNvPr id="68" name="examples"/>
          <p:cNvGrpSpPr/>
          <p:nvPr/>
        </p:nvGrpSpPr>
        <p:grpSpPr>
          <a:xfrm>
            <a:off x="5524500" y="1485900"/>
            <a:ext cx="6134100" cy="4229100"/>
            <a:chOff x="5524500" y="1485900"/>
            <a:chExt cx="6134100" cy="4229100"/>
          </a:xfrm>
        </p:grpSpPr>
        <p:sp>
          <p:nvSpPr>
            <p:cNvPr id="30" name="Rectangle 30"/>
            <p:cNvSpPr/>
            <p:nvPr/>
          </p:nvSpPr>
          <p:spPr>
            <a:xfrm>
              <a:off x="5524500" y="1485900"/>
              <a:ext cx="61341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53100" y="1676400"/>
              <a:ext cx="47625" cy="171450"/>
            </a:xfrm>
            <a:prstGeom prst="roundRect">
              <a:avLst>
                <a:gd name="adj" fmla="val 50000"/>
              </a:avLst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79592" y="1683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集合与逻辑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53100" y="19621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07513" y="2057400"/>
              <a:ext cx="1281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(ρ(S), ∩, ∪)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96200" y="19621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82223" y="2057400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({0, 1}, ∧, ∨)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53100" y="2552700"/>
              <a:ext cx="47625" cy="171450"/>
            </a:xfrm>
            <a:prstGeom prst="roundRect">
              <a:avLst>
                <a:gd name="adj" fmla="val 50000"/>
              </a:avLst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9592" y="25593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数集 + 普通加法、乘法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50169" y="2591752"/>
              <a:ext cx="785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Z₀ 为偶数集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53100" y="28384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15456" y="2933700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(Z, +)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96200" y="28384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58556" y="2933700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(Z, ·)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639300" y="28384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52304" y="2933700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(Z, +, ·)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53100" y="32956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56782" y="33909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(Z₀, +)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96200" y="32956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99882" y="33909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(Z₀, ·)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639300" y="32956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993630" y="3390900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(Z₀, +, ·)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753100" y="37528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15456" y="3848100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(N, +)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96200" y="37528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58556" y="3848100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(N, ·)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639300" y="37528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52304" y="3848100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(N, +, ·)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53100" y="4343400"/>
              <a:ext cx="47625" cy="171450"/>
            </a:xfrm>
            <a:prstGeom prst="roundRect">
              <a:avLst>
                <a:gd name="adj" fmla="val 50000"/>
              </a:avLst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79592" y="4350068"/>
              <a:ext cx="27006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⊕ 求最大公约数，⊙ 求最小公倍数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53100" y="46291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66104" y="4724400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(Z, ⊕, ⊙)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96200" y="46291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050530" y="4724400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(Z₀, ⊕, ⊙)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639300" y="4629150"/>
              <a:ext cx="179070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052304" y="4724400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(N, ⊕, ⊙)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5800725" y="53054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51804" y="52901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它们都满足：集合非空，且每个运算都封闭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134618" y="6003608"/>
              <a:ext cx="5522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判断代数系统两步走：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集合非空　② 每个运算都封闭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5" name="TextBox 75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56415" y="361950"/>
            <a:ext cx="3725441" cy="960501"/>
            <a:chOff x="456415" y="361950"/>
            <a:chExt cx="372544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64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习题精讲：证明分配律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problem"/>
          <p:cNvGrpSpPr/>
          <p:nvPr/>
        </p:nvGrpSpPr>
        <p:grpSpPr>
          <a:xfrm>
            <a:off x="533400" y="1485900"/>
            <a:ext cx="3810000" cy="4229100"/>
            <a:chOff x="533400" y="1485900"/>
            <a:chExt cx="3810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810000" cy="42291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88" y="169926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习题 6.1-5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2066925"/>
              <a:ext cx="2787015" cy="1283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+ 和 ∗ 是集合 S 上的两个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二元代数运算，对 S 中任意 x、y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都有 </a:t>
              </a:r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 + y = x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  <a:p>
              <a:pPr algn="l">
                <a:lnSpc>
                  <a:spcPts val="2400"/>
                </a:lnSpc>
                <a:spcBef>
                  <a:spcPts val="600"/>
                </a:spcBef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证明：∗ 对 + 满足分配律。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34290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9156" y="3593306"/>
              <a:ext cx="185737" cy="185737"/>
              <a:chOff x="869156" y="3593306"/>
              <a:chExt cx="185737" cy="18573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69156" y="359330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6056" y="363458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38292" y="373776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5192" y="3607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3930968"/>
              <a:ext cx="208826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+ y = x 意味着：+ 的结果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永远是左边那个元素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667250"/>
              <a:ext cx="3505200" cy="914400"/>
            </a:xfrm>
            <a:prstGeom prst="roundRect">
              <a:avLst>
                <a:gd name="adj" fmla="val 1458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104" y="4785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要证的两个等式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5052060"/>
              <a:ext cx="24582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左：x ∗ (y + z) = (x ∗ y) + (x ∗ z)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右：(y + z) ∗ x = (y ∗ x) + (z ∗ x)</a:t>
              </a:r>
            </a:p>
          </p:txBody>
        </p:sp>
      </p:grpSp>
      <p:grpSp>
        <p:nvGrpSpPr>
          <p:cNvPr id="52" name="proof-steps"/>
          <p:cNvGrpSpPr/>
          <p:nvPr/>
        </p:nvGrpSpPr>
        <p:grpSpPr>
          <a:xfrm>
            <a:off x="4705350" y="1543050"/>
            <a:ext cx="6800850" cy="4179570"/>
            <a:chOff x="4705350" y="1543050"/>
            <a:chExt cx="6800850" cy="4179570"/>
          </a:xfrm>
        </p:grpSpPr>
        <p:sp>
          <p:nvSpPr>
            <p:cNvPr id="22" name="Line 22"/>
            <p:cNvSpPr/>
            <p:nvPr/>
          </p:nvSpPr>
          <p:spPr>
            <a:xfrm>
              <a:off x="48768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27" name="step-1"/>
            <p:cNvGrpSpPr/>
            <p:nvPr/>
          </p:nvGrpSpPr>
          <p:grpSpPr>
            <a:xfrm>
              <a:off x="4705350" y="1543050"/>
              <a:ext cx="3404806" cy="664845"/>
              <a:chOff x="4705350" y="1543050"/>
              <a:chExt cx="3404806" cy="664845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4705350" y="15430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817465" y="16259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75504" y="16421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设任意元素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173980" y="1914525"/>
                <a:ext cx="29361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 x、y、z 为 S 中任意三个元素</a:t>
                </a:r>
              </a:p>
            </p:txBody>
          </p:sp>
        </p:grpSp>
        <p:grpSp>
          <p:nvGrpSpPr>
            <p:cNvPr id="37" name="step-2"/>
            <p:cNvGrpSpPr/>
            <p:nvPr/>
          </p:nvGrpSpPr>
          <p:grpSpPr>
            <a:xfrm>
              <a:off x="4705350" y="2228850"/>
              <a:ext cx="6800850" cy="1466850"/>
              <a:chOff x="4705350" y="2228850"/>
              <a:chExt cx="6800850" cy="146685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705350" y="2228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17465" y="23117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175504" y="23279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验证左分配律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181600" y="2571750"/>
                <a:ext cx="6324600" cy="1123950"/>
              </a:xfrm>
              <a:prstGeom prst="roundRect">
                <a:avLst>
                  <a:gd name="adj" fmla="val 1016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364480" y="2714625"/>
                <a:ext cx="1721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x ∗ (y + z) = x ∗ 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299954" y="2747010"/>
                <a:ext cx="10218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因为 y + z = y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64480" y="3038475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(x ∗ y) + (x ∗ z) = x ∗ 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299954" y="3070860"/>
                <a:ext cx="10218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因为 u + v = u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364480" y="3381375"/>
                <a:ext cx="31744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⇒ x ∗ (y + z) = (x ∗ y) + (x ∗ z)</a:t>
                </a:r>
              </a:p>
            </p:txBody>
          </p:sp>
        </p:grpSp>
        <p:grpSp>
          <p:nvGrpSpPr>
            <p:cNvPr id="47" name="step-3"/>
            <p:cNvGrpSpPr/>
            <p:nvPr/>
          </p:nvGrpSpPr>
          <p:grpSpPr>
            <a:xfrm>
              <a:off x="4705350" y="3810000"/>
              <a:ext cx="6800850" cy="1466850"/>
              <a:chOff x="4705350" y="3810000"/>
              <a:chExt cx="6800850" cy="146685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4705350" y="3810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817465" y="38928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175504" y="39090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验证右分配律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5181600" y="4152900"/>
                <a:ext cx="6324600" cy="1123950"/>
              </a:xfrm>
              <a:prstGeom prst="roundRect">
                <a:avLst>
                  <a:gd name="adj" fmla="val 1016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364480" y="4295775"/>
                <a:ext cx="1721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(y + z) ∗ x = y ∗ x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299954" y="4328160"/>
                <a:ext cx="10218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因为 y + z = y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64480" y="4619625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(y ∗ x) + (z ∗ x) = y ∗ x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299954" y="4652010"/>
                <a:ext cx="10218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因为 u + v = u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364480" y="4962525"/>
                <a:ext cx="31744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⇒ (y + z) ∗ x = (y ∗ x) + (z ∗ x)</a:t>
                </a:r>
              </a:p>
            </p:txBody>
          </p:sp>
        </p:grpSp>
        <p:grpSp>
          <p:nvGrpSpPr>
            <p:cNvPr id="51" name="step-4"/>
            <p:cNvGrpSpPr/>
            <p:nvPr/>
          </p:nvGrpSpPr>
          <p:grpSpPr>
            <a:xfrm>
              <a:off x="4705350" y="5353050"/>
              <a:ext cx="2905516" cy="369570"/>
              <a:chOff x="4705350" y="5353050"/>
              <a:chExt cx="2905516" cy="36957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4705350" y="5353050"/>
                <a:ext cx="342900" cy="3429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821237" y="54848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173980" y="5429250"/>
                <a:ext cx="2436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所以 ∗ 对 + 满足分配律。∎</a:t>
                </a:r>
              </a:p>
            </p:txBody>
          </p:sp>
        </p:grpSp>
      </p:grpSp>
      <p:grpSp>
        <p:nvGrpSpPr>
          <p:cNvPr id="5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74700" y="6008947"/>
              <a:ext cx="198178" cy="198178"/>
              <a:chOff x="774700" y="6008947"/>
              <a:chExt cx="198178" cy="19817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74700" y="6008947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95350" y="6035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134618" y="6003608"/>
              <a:ext cx="7683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证明“对任意元素成立”：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设出任意元素 → 只用已知条件化简两边 → 两边相等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752594" cy="960501"/>
            <a:chOff x="519684" y="361950"/>
            <a:chExt cx="475259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7187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下一站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下一站预告：一级一级加规律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stairs-intro"/>
          <p:cNvGrpSpPr/>
          <p:nvPr/>
        </p:nvGrpSpPr>
        <p:grpSpPr>
          <a:xfrm>
            <a:off x="557212" y="1596390"/>
            <a:ext cx="4728020" cy="598361"/>
            <a:chOff x="557212" y="1596390"/>
            <a:chExt cx="4728020" cy="598361"/>
          </a:xfrm>
        </p:grpSpPr>
        <p:grpSp>
          <p:nvGrpSpPr>
            <p:cNvPr id="10" name="Group 10"/>
            <p:cNvGrpSpPr/>
            <p:nvPr/>
          </p:nvGrpSpPr>
          <p:grpSpPr>
            <a:xfrm>
              <a:off x="557212" y="1597819"/>
              <a:ext cx="238125" cy="214313"/>
              <a:chOff x="557212" y="1597819"/>
              <a:chExt cx="238125" cy="2143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57212" y="1633538"/>
                <a:ext cx="238125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78594">
                    <a:moveTo>
                      <a:pt x="238125" y="0"/>
                    </a:moveTo>
                    <a:lnTo>
                      <a:pt x="178594" y="0"/>
                    </a:lnTo>
                    <a:lnTo>
                      <a:pt x="178594" y="59531"/>
                    </a:lnTo>
                    <a:lnTo>
                      <a:pt x="119062" y="59531"/>
                    </a:lnTo>
                    <a:lnTo>
                      <a:pt x="119062" y="119062"/>
                    </a:lnTo>
                    <a:lnTo>
                      <a:pt x="59531" y="119062"/>
                    </a:lnTo>
                    <a:lnTo>
                      <a:pt x="59531" y="178594"/>
                    </a:lnTo>
                    <a:lnTo>
                      <a:pt x="0" y="178594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4838" y="1597819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69119" y="15978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05256" y="159639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一个运算：每加一条规律，就上一级台阶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1930718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6.1 打地基，后面各册逐级往上盖</a:t>
              </a:r>
            </a:p>
          </p:txBody>
        </p:sp>
      </p:grpSp>
      <p:grpSp>
        <p:nvGrpSpPr>
          <p:cNvPr id="36" name="stairs"/>
          <p:cNvGrpSpPr/>
          <p:nvPr/>
        </p:nvGrpSpPr>
        <p:grpSpPr>
          <a:xfrm>
            <a:off x="533400" y="2247900"/>
            <a:ext cx="7696200" cy="3467100"/>
            <a:chOff x="533400" y="2247900"/>
            <a:chExt cx="7696200" cy="3467100"/>
          </a:xfrm>
        </p:grpSpPr>
        <p:sp>
          <p:nvSpPr>
            <p:cNvPr id="14" name="Rectangle 14"/>
            <p:cNvSpPr/>
            <p:nvPr/>
          </p:nvSpPr>
          <p:spPr>
            <a:xfrm>
              <a:off x="533400" y="4667250"/>
              <a:ext cx="1809750" cy="1047750"/>
            </a:xfrm>
            <a:prstGeom prst="roundRect">
              <a:avLst>
                <a:gd name="adj" fmla="val 10909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5518" y="4851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7804" y="51663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集合 + 封闭运算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804" y="54330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← 本册 6.1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95550" y="3581400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51299" y="366141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 结合律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495550" y="4000500"/>
              <a:ext cx="1809750" cy="1714500"/>
            </a:xfrm>
            <a:prstGeom prst="roundRect">
              <a:avLst>
                <a:gd name="adj" fmla="val 666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76144" y="419004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79954" y="4556760"/>
              <a:ext cx="9265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满足结合律的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代数系统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79954" y="505206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6.2.1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57700" y="2914650"/>
              <a:ext cx="1333500" cy="3048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1633" y="2994660"/>
              <a:ext cx="1125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 单位元、逆元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57700" y="3333750"/>
              <a:ext cx="1809750" cy="2381250"/>
            </a:xfrm>
            <a:prstGeom prst="roundRect">
              <a:avLst>
                <a:gd name="adj" fmla="val 6316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8294" y="354234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2104" y="3909060"/>
              <a:ext cx="120853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半群 + 单位元</a:t>
              </a:r>
              <a:br/>
              <a:r>
                <a:rPr lang="zh-CN" sz="12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+ 每个元素有逆元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2104" y="440436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6.2.2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19850" y="2247900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5599" y="232791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 交换律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19850" y="2667000"/>
              <a:ext cx="1809750" cy="3048000"/>
            </a:xfrm>
            <a:prstGeom prst="roundRect">
              <a:avLst>
                <a:gd name="adj" fmla="val 631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00444" y="287559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4254" y="3242310"/>
              <a:ext cx="8580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又称 Abel 群</a:t>
              </a:r>
              <a:br/>
              <a:r>
                <a:rPr lang="zh-CN" sz="12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群 + 交换律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04254" y="3737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6.2</a:t>
              </a:r>
            </a:p>
          </p:txBody>
        </p:sp>
      </p:grpSp>
      <p:grpSp>
        <p:nvGrpSpPr>
          <p:cNvPr id="46" name="two-operations"/>
          <p:cNvGrpSpPr/>
          <p:nvPr/>
        </p:nvGrpSpPr>
        <p:grpSpPr>
          <a:xfrm>
            <a:off x="8610600" y="1485900"/>
            <a:ext cx="3048000" cy="2324100"/>
            <a:chOff x="8610600" y="1485900"/>
            <a:chExt cx="3048000" cy="2324100"/>
          </a:xfrm>
        </p:grpSpPr>
        <p:sp>
          <p:nvSpPr>
            <p:cNvPr id="37" name="Rectangle 37"/>
            <p:cNvSpPr/>
            <p:nvPr/>
          </p:nvSpPr>
          <p:spPr>
            <a:xfrm>
              <a:off x="8610600" y="1485900"/>
              <a:ext cx="3048000" cy="2324100"/>
            </a:xfrm>
            <a:prstGeom prst="roundRect">
              <a:avLst>
                <a:gd name="adj" fmla="val 655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1580" y="17049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两个运算的结构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839200" y="2019300"/>
              <a:ext cx="2590800" cy="762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20556" y="21488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23604" y="24993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加法交换群 + 乘法半群 + 分配律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33327" y="293751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↓ 再加条件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39200" y="3181350"/>
              <a:ext cx="2590800" cy="514350"/>
            </a:xfrm>
            <a:prstGeom prst="roundRect">
              <a:avLst>
                <a:gd name="adj" fmla="val 2222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20556" y="33299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3654" y="338518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详见 6.5 环与域</a:t>
              </a:r>
            </a:p>
          </p:txBody>
        </p:sp>
      </p:grpSp>
      <p:grpSp>
        <p:nvGrpSpPr>
          <p:cNvPr id="51" name="chapter-seven"/>
          <p:cNvGrpSpPr/>
          <p:nvPr/>
        </p:nvGrpSpPr>
        <p:grpSpPr>
          <a:xfrm>
            <a:off x="8610600" y="3962400"/>
            <a:ext cx="3048000" cy="1752600"/>
            <a:chOff x="8610600" y="3962400"/>
            <a:chExt cx="3048000" cy="1752600"/>
          </a:xfrm>
        </p:grpSpPr>
        <p:sp>
          <p:nvSpPr>
            <p:cNvPr id="47" name="Rectangle 47"/>
            <p:cNvSpPr/>
            <p:nvPr/>
          </p:nvSpPr>
          <p:spPr>
            <a:xfrm>
              <a:off x="8610600" y="3962400"/>
              <a:ext cx="3048000" cy="1752600"/>
            </a:xfrm>
            <a:prstGeom prst="roundRect">
              <a:avLst>
                <a:gd name="adj" fmla="val 869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832342" y="4178618"/>
              <a:ext cx="1724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另一条主线 · 第 7 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30056" y="4511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格与布尔代数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33104" y="4918710"/>
              <a:ext cx="2145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本节的幂等律、吸收律、分配律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将在那里再次登场</a:t>
              </a:r>
            </a:p>
          </p:txBody>
        </p:sp>
      </p:grpSp>
      <p:grpSp>
        <p:nvGrpSpPr>
          <p:cNvPr id="53" name="footnote"/>
          <p:cNvGrpSpPr/>
          <p:nvPr/>
        </p:nvGrpSpPr>
        <p:grpSpPr>
          <a:xfrm>
            <a:off x="527304" y="5985510"/>
            <a:ext cx="5020056" cy="234696"/>
            <a:chOff x="527304" y="5985510"/>
            <a:chExt cx="5020056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527304" y="598551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说明：本页只做预告，半群、群、环、域的严格定义在后续各册展开。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94134" y="361950"/>
            <a:ext cx="4853565" cy="960501"/>
            <a:chOff x="494134" y="361950"/>
            <a:chExt cx="485356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94134" y="43243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6.1 代数系统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本册小结：一张图 + 五道自测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oncept-map"/>
          <p:cNvGrpSpPr/>
          <p:nvPr/>
        </p:nvGrpSpPr>
        <p:grpSpPr>
          <a:xfrm>
            <a:off x="533400" y="1524000"/>
            <a:ext cx="5562600" cy="4095750"/>
            <a:chOff x="533400" y="1524000"/>
            <a:chExt cx="5562600" cy="4095750"/>
          </a:xfrm>
        </p:grpSpPr>
        <p:sp>
          <p:nvSpPr>
            <p:cNvPr id="7" name="Line 7"/>
            <p:cNvSpPr/>
            <p:nvPr/>
          </p:nvSpPr>
          <p:spPr>
            <a:xfrm>
              <a:off x="3314700" y="25146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38325" y="3752850"/>
              <a:ext cx="1476375" cy="533400"/>
            </a:xfrm>
            <a:custGeom>
              <a:avLst/>
              <a:gdLst/>
              <a:ahLst/>
              <a:cxnLst/>
              <a:rect l="l" t="t" r="r" b="b"/>
              <a:pathLst>
                <a:path w="1476375" h="533400">
                  <a:moveTo>
                    <a:pt x="1476375" y="0"/>
                  </a:moveTo>
                  <a:lnTo>
                    <a:pt x="1476375" y="266700"/>
                  </a:lnTo>
                  <a:lnTo>
                    <a:pt x="0" y="266700"/>
                  </a:ln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14700" y="4019550"/>
              <a:ext cx="1476375" cy="266700"/>
            </a:xfrm>
            <a:custGeom>
              <a:avLst/>
              <a:gdLst/>
              <a:ahLst/>
              <a:cxnLst/>
              <a:rect l="l" t="t" r="r" b="b"/>
              <a:pathLst>
                <a:path w="1476375" h="266700">
                  <a:moveTo>
                    <a:pt x="0" y="0"/>
                  </a:moveTo>
                  <a:lnTo>
                    <a:pt x="1476375" y="0"/>
                  </a:lnTo>
                  <a:lnTo>
                    <a:pt x="1476375" y="2667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1524000"/>
              <a:ext cx="4800600" cy="990600"/>
            </a:xfrm>
            <a:prstGeom prst="roundRect">
              <a:avLst>
                <a:gd name="adj" fmla="val 1538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16859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二元代数运算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142" y="2006918"/>
              <a:ext cx="37856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 : S×S → S，结果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封闭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有限集用运算表表示；|S| = n 时共 n 的 n² 次方个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90700" y="3028950"/>
              <a:ext cx="3048000" cy="723900"/>
            </a:xfrm>
            <a:prstGeom prst="roundRect">
              <a:avLst>
                <a:gd name="adj" fmla="val 2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20924" y="3158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代数系统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02943" y="3489960"/>
              <a:ext cx="2823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(S, f₁, …, fₘ) = 非空集合 + 封闭运算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286250"/>
              <a:ext cx="2609850" cy="133350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7042" y="44453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性质 · 一个运算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6280" y="4752975"/>
              <a:ext cx="96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　结合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幂等　消去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3730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看运算表或逐个验证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86150" y="4286250"/>
              <a:ext cx="2609850" cy="1333500"/>
            </a:xfrm>
            <a:prstGeom prst="roundRect">
              <a:avLst>
                <a:gd name="adj" fmla="val 11429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69792" y="44453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· 两个运算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9030" y="47529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分配（有方向）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吸收（两式同时）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71316" y="53730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看两个运算之间的关系</a:t>
              </a:r>
            </a:p>
          </p:txBody>
        </p:sp>
      </p:grpSp>
      <p:grpSp>
        <p:nvGrpSpPr>
          <p:cNvPr id="57" name="self-test"/>
          <p:cNvGrpSpPr/>
          <p:nvPr/>
        </p:nvGrpSpPr>
        <p:grpSpPr>
          <a:xfrm>
            <a:off x="6324600" y="1485900"/>
            <a:ext cx="5334000" cy="4229100"/>
            <a:chOff x="6324600" y="1485900"/>
            <a:chExt cx="5334000" cy="4229100"/>
          </a:xfrm>
        </p:grpSpPr>
        <p:sp>
          <p:nvSpPr>
            <p:cNvPr id="25" name="Rectangle 25"/>
            <p:cNvSpPr/>
            <p:nvPr/>
          </p:nvSpPr>
          <p:spPr>
            <a:xfrm>
              <a:off x="63246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86538" y="1690688"/>
              <a:ext cx="200026" cy="200026"/>
              <a:chOff x="6586538" y="169068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86538" y="169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6550" y="1835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69882" y="17551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907530" y="170497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自测 5 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93858" y="1744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先遮住答案再作答</a:t>
              </a:r>
            </a:p>
          </p:txBody>
        </p:sp>
        <p:grpSp>
          <p:nvGrpSpPr>
            <p:cNvPr id="36" name="q-1"/>
            <p:cNvGrpSpPr/>
            <p:nvPr/>
          </p:nvGrpSpPr>
          <p:grpSpPr>
            <a:xfrm>
              <a:off x="6534150" y="2133600"/>
              <a:ext cx="3076346" cy="562356"/>
              <a:chOff x="6534150" y="2133600"/>
              <a:chExt cx="3076346" cy="56235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534150" y="2133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614758" y="2194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889242" y="2178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上的减法为什么不是二元运算？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90004" y="2461260"/>
                <a:ext cx="20397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答：1 − 2 = −1 ∉ N，不封闭</a:t>
                </a:r>
              </a:p>
            </p:txBody>
          </p:sp>
        </p:grpSp>
        <p:grpSp>
          <p:nvGrpSpPr>
            <p:cNvPr id="41" name="q-2"/>
            <p:cNvGrpSpPr/>
            <p:nvPr/>
          </p:nvGrpSpPr>
          <p:grpSpPr>
            <a:xfrm>
              <a:off x="6534150" y="2857500"/>
              <a:ext cx="3094863" cy="562356"/>
              <a:chOff x="6534150" y="2857500"/>
              <a:chExt cx="3094863" cy="56235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534150" y="2857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614758" y="2918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89242" y="290226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三元素集合上有多少个二元运算？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890004" y="3185160"/>
                <a:ext cx="1401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答：3⁹ = 19 683 个</a:t>
                </a:r>
              </a:p>
            </p:txBody>
          </p:sp>
        </p:grpSp>
        <p:grpSp>
          <p:nvGrpSpPr>
            <p:cNvPr id="46" name="q-3"/>
            <p:cNvGrpSpPr/>
            <p:nvPr/>
          </p:nvGrpSpPr>
          <p:grpSpPr>
            <a:xfrm>
              <a:off x="6534150" y="3581400"/>
              <a:ext cx="3469691" cy="562356"/>
              <a:chOff x="6534150" y="3581400"/>
              <a:chExt cx="3469691" cy="562356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534150" y="3581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14758" y="3642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89242" y="36261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矩阵乘法满足结合律吗？交换律呢？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90004" y="3909060"/>
                <a:ext cx="31138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答：(AB)C = A(BC) 满足；但一般 AB ≠ BA</a:t>
                </a:r>
              </a:p>
            </p:txBody>
          </p:sp>
        </p:grpSp>
        <p:grpSp>
          <p:nvGrpSpPr>
            <p:cNvPr id="51" name="q-4"/>
            <p:cNvGrpSpPr/>
            <p:nvPr/>
          </p:nvGrpSpPr>
          <p:grpSpPr>
            <a:xfrm>
              <a:off x="6534150" y="4305300"/>
              <a:ext cx="2913126" cy="562356"/>
              <a:chOff x="6534150" y="4305300"/>
              <a:chExt cx="2913126" cy="562356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534150" y="4305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614758" y="4366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89242" y="4350068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整数乘法为什么不满足消去律？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90004" y="4632960"/>
                <a:ext cx="19830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答：0 · 1 = 0 · 2，但 1 ≠ 2</a:t>
                </a:r>
              </a:p>
            </p:txBody>
          </p:sp>
        </p:grpSp>
        <p:grpSp>
          <p:nvGrpSpPr>
            <p:cNvPr id="56" name="q-5"/>
            <p:cNvGrpSpPr/>
            <p:nvPr/>
          </p:nvGrpSpPr>
          <p:grpSpPr>
            <a:xfrm>
              <a:off x="6534150" y="5029200"/>
              <a:ext cx="2502865" cy="562356"/>
              <a:chOff x="6534150" y="5029200"/>
              <a:chExt cx="2502865" cy="562356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534150" y="5029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614758" y="5090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89242" y="5073968"/>
                <a:ext cx="1929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(N, −) 是代数系统吗？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890004" y="5356860"/>
                <a:ext cx="21470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答：不是，减法在 N 上不封闭</a:t>
                </a:r>
              </a:p>
            </p:txBody>
          </p:sp>
        </p:grpSp>
      </p:grpSp>
      <p:grpSp>
        <p:nvGrpSpPr>
          <p:cNvPr id="6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134618" y="6003608"/>
              <a:ext cx="8746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代数系统 = 非空集合 + 封闭运算；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判断满足要证明所有情况，判断不满足只需一个反例。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528066" y="6573202"/>
              <a:ext cx="1694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6.1 代数系统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2_6-1_algebraic_system">
  <a:themeElements>
    <a:clrScheme name="dm2_6-1_algebraic_system">
      <a:dk1>
        <a:srgbClr val="1F2937"/>
      </a:dk1>
      <a:lt1>
        <a:srgbClr val="FFFFFF"/>
      </a:lt1>
      <a:dk2>
        <a:srgbClr val="1F497D"/>
      </a:dk2>
      <a:lt2>
        <a:srgbClr val="F4F6FB"/>
      </a:lt2>
      <a:accent1>
        <a:srgbClr val="2F4B9A"/>
      </a:accent1>
      <a:accent2>
        <a:srgbClr val="F26B3A"/>
      </a:accent2>
      <a:accent3>
        <a:srgbClr val="14A38B"/>
      </a:accent3>
      <a:accent4>
        <a:srgbClr val="2F4B9A"/>
      </a:accent4>
      <a:accent5>
        <a:srgbClr val="5B6475"/>
      </a:accent5>
      <a:accent6>
        <a:srgbClr val="D9DFEA"/>
      </a:accent6>
      <a:hlink>
        <a:srgbClr val="F26B3A"/>
      </a:hlink>
      <a:folHlink>
        <a:srgbClr val="14A38B"/>
      </a:folHlink>
    </a:clrScheme>
    <a:fontScheme name="dm2_6-1_algebraic_system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2_6-1_algebraic_syste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2026-09-16T10:47:08Z</dcterms:created>
  <dcterms:modified xsi:type="dcterms:W3CDTF">2026-09-16T10:47:08Z</dcterms:modified>
  <cp:category/>
  <cp:contentStatus/>
</cp:coreProperties>
</file>