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2_7_lattice_boolea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2_7_lattice_boolea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86448a476cd5fd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08c318862766fa1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e3f8883c6fbcaab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ec650ef3428d1ac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2e14be287992ede.png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gradFill>
            <a:gsLst>
              <a:gs pos="0">
                <a:schemeClr val="lt1">
                  <a:alpha val="96000"/>
                </a:schemeClr>
              </a:gs>
              <a:gs pos="60000">
                <a:schemeClr val="lt1">
                  <a:alpha val="82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0" name="cover-title"/>
          <p:cNvGrpSpPr/>
          <p:nvPr/>
        </p:nvGrpSpPr>
        <p:grpSpPr>
          <a:xfrm>
            <a:off x="666750" y="1695450"/>
            <a:ext cx="5784220" cy="3318701"/>
            <a:chOff x="666750" y="1695450"/>
            <a:chExt cx="5784220" cy="3318701"/>
          </a:xfrm>
        </p:grpSpPr>
        <p:sp>
          <p:nvSpPr>
            <p:cNvPr id="4" name="Rectangle 4"/>
            <p:cNvSpPr/>
            <p:nvPr/>
          </p:nvSpPr>
          <p:spPr>
            <a:xfrm>
              <a:off x="685800" y="1695450"/>
              <a:ext cx="1981200" cy="3619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8080" y="1813560"/>
              <a:ext cx="1456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离散数学II · 第七章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396490"/>
              <a:ext cx="578422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</a:t>
              </a: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格与布尔代数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8135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894" y="3599498"/>
              <a:ext cx="3239262" cy="800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任意两个元素，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总有唯一的</a:t>
              </a:r>
              <a:r>
                <a:rPr lang="zh-CN" sz="19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上确界与下确界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47501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从偏序集出发，一步步走到布尔代数</a:t>
              </a:r>
            </a:p>
          </p:txBody>
        </p:sp>
      </p:grpSp>
      <p:grpSp>
        <p:nvGrpSpPr>
          <p:cNvPr id="12" name="cover-credit"/>
          <p:cNvGrpSpPr/>
          <p:nvPr/>
        </p:nvGrpSpPr>
        <p:grpSpPr>
          <a:xfrm>
            <a:off x="680466" y="6192202"/>
            <a:ext cx="5294928" cy="205359"/>
            <a:chOff x="680466" y="6192202"/>
            <a:chExt cx="5294928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680466" y="6192202"/>
              <a:ext cx="5294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重制讲义 · 自学复习版 ｜ 据吉林大学计算机科学与技术学院《离散数学II》课件整理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3298698" cy="960501"/>
            <a:chOff x="519684" y="361950"/>
            <a:chExt cx="329869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0764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188" y="432435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学习地图：本章五站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route"/>
          <p:cNvGrpSpPr/>
          <p:nvPr/>
        </p:nvGrpSpPr>
        <p:grpSpPr>
          <a:xfrm>
            <a:off x="533400" y="1866900"/>
            <a:ext cx="11125200" cy="1333881"/>
            <a:chOff x="533400" y="1866900"/>
            <a:chExt cx="11125200" cy="1333881"/>
          </a:xfrm>
        </p:grpSpPr>
        <p:sp>
          <p:nvSpPr>
            <p:cNvPr id="7" name="Freeform 7"/>
            <p:cNvSpPr/>
            <p:nvPr/>
          </p:nvSpPr>
          <p:spPr>
            <a:xfrm>
              <a:off x="533400" y="1866900"/>
              <a:ext cx="2514600" cy="9144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6860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387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9913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440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215200" y="2088832"/>
              <a:ext cx="9556432" cy="582169"/>
              <a:chOff x="1215200" y="2088832"/>
              <a:chExt cx="9556432" cy="58216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445895" y="20888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预备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15200" y="2406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偏序集回顾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425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7.2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7301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格的定义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952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7.3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72566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格的性质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78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7.4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96581" y="2406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几种特殊的格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005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7.5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03096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布尔代数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1066800" y="2895600"/>
              <a:ext cx="1219200" cy="2857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94355" y="2966085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▲ 从这里出发</a:t>
              </a:r>
            </a:p>
          </p:txBody>
        </p:sp>
      </p:grpSp>
      <p:grpSp>
        <p:nvGrpSpPr>
          <p:cNvPr id="33" name="chapter-note"/>
          <p:cNvGrpSpPr/>
          <p:nvPr/>
        </p:nvGrpSpPr>
        <p:grpSpPr>
          <a:xfrm>
            <a:off x="526542" y="3352800"/>
            <a:ext cx="11132058" cy="381000"/>
            <a:chOff x="526542" y="3352800"/>
            <a:chExt cx="11132058" cy="381000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3454718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7.3.1 对偶原理、7.4.4 模格课程已删除，本册只作阅读提示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67500" y="3352800"/>
              <a:ext cx="4991100" cy="3810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896099" y="3462446"/>
              <a:ext cx="157041" cy="161688"/>
              <a:chOff x="6896099" y="3462446"/>
              <a:chExt cx="157041" cy="1616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943725" y="35147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62775" y="3462446"/>
                <a:ext cx="90365" cy="90379"/>
              </a:xfrm>
              <a:custGeom>
                <a:avLst/>
                <a:gdLst/>
                <a:ahLst/>
                <a:cxnLst/>
                <a:rect l="l" t="t" r="r" b="b"/>
                <a:pathLst>
                  <a:path w="90365" h="90379">
                    <a:moveTo>
                      <a:pt x="0" y="23704"/>
                    </a:moveTo>
                    <a:lnTo>
                      <a:pt x="4410" y="18599"/>
                    </a:lnTo>
                    <a:cubicBezTo>
                      <a:pt x="23011" y="0"/>
                      <a:pt x="53168" y="2"/>
                      <a:pt x="71766" y="18603"/>
                    </a:cubicBezTo>
                    <a:cubicBezTo>
                      <a:pt x="90365" y="37204"/>
                      <a:pt x="90363" y="67361"/>
                      <a:pt x="71761" y="85959"/>
                    </a:cubicBezTo>
                    <a:lnTo>
                      <a:pt x="66675" y="90379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896099" y="3533775"/>
                <a:ext cx="85726" cy="90359"/>
              </a:xfrm>
              <a:custGeom>
                <a:avLst/>
                <a:gdLst/>
                <a:ahLst/>
                <a:cxnLst/>
                <a:rect l="l" t="t" r="r" b="b"/>
                <a:pathLst>
                  <a:path w="85726" h="90359">
                    <a:moveTo>
                      <a:pt x="85726" y="66675"/>
                    </a:moveTo>
                    <a:lnTo>
                      <a:pt x="81945" y="71761"/>
                    </a:lnTo>
                    <a:cubicBezTo>
                      <a:pt x="63138" y="90359"/>
                      <a:pt x="32867" y="90359"/>
                      <a:pt x="14060" y="71761"/>
                    </a:cubicBezTo>
                    <a:cubicBezTo>
                      <a:pt x="5063" y="62865"/>
                      <a:pt x="0" y="50738"/>
                      <a:pt x="0" y="38086"/>
                    </a:cubicBezTo>
                    <a:cubicBezTo>
                      <a:pt x="0" y="25433"/>
                      <a:pt x="5063" y="13306"/>
                      <a:pt x="14060" y="4410"/>
                    </a:cubicBezTo>
                    <a:lnTo>
                      <a:pt x="19051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410674" y="3454718"/>
              <a:ext cx="4228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延续 6.1 运算律：幂等 · 交换 · 结合 · 分配 · 吸收</a:t>
              </a:r>
            </a:p>
          </p:txBody>
        </p:sp>
      </p:grpSp>
      <p:grpSp>
        <p:nvGrpSpPr>
          <p:cNvPr id="53" name="goals"/>
          <p:cNvGrpSpPr/>
          <p:nvPr/>
        </p:nvGrpSpPr>
        <p:grpSpPr>
          <a:xfrm>
            <a:off x="525018" y="3974782"/>
            <a:ext cx="11133582" cy="1721168"/>
            <a:chOff x="525018" y="3974782"/>
            <a:chExt cx="11133582" cy="1721168"/>
          </a:xfrm>
        </p:grpSpPr>
        <p:sp>
          <p:nvSpPr>
            <p:cNvPr id="34" name="TextBox 34"/>
            <p:cNvSpPr txBox="1"/>
            <p:nvPr/>
          </p:nvSpPr>
          <p:spPr>
            <a:xfrm>
              <a:off x="525018" y="3974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本册三个目标</a:t>
              </a:r>
            </a:p>
          </p:txBody>
        </p:sp>
        <p:grpSp>
          <p:nvGrpSpPr>
            <p:cNvPr id="40" name="goal-1"/>
            <p:cNvGrpSpPr/>
            <p:nvPr/>
          </p:nvGrpSpPr>
          <p:grpSpPr>
            <a:xfrm>
              <a:off x="533400" y="4324350"/>
              <a:ext cx="3505200" cy="1371600"/>
              <a:chOff x="533400" y="4324350"/>
              <a:chExt cx="3505200" cy="13716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3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74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7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287018" y="462248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会判断格与子格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55142" y="5073968"/>
                <a:ext cx="224256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从哈斯图找上确界、下确界；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在 ≤ 与 ×、⊕ 之间互译</a:t>
                </a:r>
              </a:p>
            </p:txBody>
          </p:sp>
        </p:grpSp>
        <p:grpSp>
          <p:nvGrpSpPr>
            <p:cNvPr id="46" name="goal-2"/>
            <p:cNvGrpSpPr/>
            <p:nvPr/>
          </p:nvGrpSpPr>
          <p:grpSpPr>
            <a:xfrm>
              <a:off x="4343400" y="4324350"/>
              <a:ext cx="3505200" cy="1371600"/>
              <a:chOff x="4343400" y="4324350"/>
              <a:chExt cx="3505200" cy="1371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434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455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68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097018" y="462248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会判断特殊的格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565142" y="5073968"/>
                <a:ext cx="207111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有界格、有余格、分配格；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认出钻石格与五角格</a:t>
                </a:r>
              </a:p>
            </p:txBody>
          </p:sp>
        </p:grpSp>
        <p:grpSp>
          <p:nvGrpSpPr>
            <p:cNvPr id="52" name="goal-3"/>
            <p:cNvGrpSpPr/>
            <p:nvPr/>
          </p:nvGrpSpPr>
          <p:grpSpPr>
            <a:xfrm>
              <a:off x="8153400" y="4324350"/>
              <a:ext cx="3505200" cy="1371600"/>
              <a:chOff x="8153400" y="4324350"/>
              <a:chExt cx="3505200" cy="13716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815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836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9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907018" y="462248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会用布尔代数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375142" y="5073968"/>
                <a:ext cx="155676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定义与亨廷顿公理、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性质速查与子代数</a:t>
                </a:r>
              </a:p>
            </p:txBody>
          </p:sp>
        </p:grpSp>
      </p:grpSp>
      <p:grpSp>
        <p:nvGrpSpPr>
          <p:cNvPr id="60" name="study-tip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135380" y="6019800"/>
              <a:ext cx="7930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学习提示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先把哈斯图画熟——判断格、子格、分配格、布尔代数，大多靠“看图找反例”。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479542" cy="960501"/>
            <a:chOff x="519684" y="361950"/>
            <a:chExt cx="547954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预备知识：偏序集、确界与哈斯图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ard-poset"/>
          <p:cNvGrpSpPr/>
          <p:nvPr/>
        </p:nvGrpSpPr>
        <p:grpSpPr>
          <a:xfrm>
            <a:off x="533400" y="1485900"/>
            <a:ext cx="5562600" cy="1352550"/>
            <a:chOff x="533400" y="1485900"/>
            <a:chExt cx="5562600" cy="13525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562600" cy="1352550"/>
            </a:xfrm>
            <a:prstGeom prst="roundRect">
              <a:avLst>
                <a:gd name="adj" fmla="val 1126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偏序集与链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06918"/>
              <a:ext cx="417995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 A 上的关系 R 若具有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自反性、反对称性、传递性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则称 R 为偏序关系，(A, ≤) 为偏序集（部分序集）。</a:t>
              </a:r>
              <a:br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全序集（链）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：任意 a、b 都有 a ≤ b 或 b ≤ a。</a:t>
              </a:r>
            </a:p>
          </p:txBody>
        </p:sp>
      </p:grpSp>
      <p:grpSp>
        <p:nvGrpSpPr>
          <p:cNvPr id="20" name="card-bounds"/>
          <p:cNvGrpSpPr/>
          <p:nvPr/>
        </p:nvGrpSpPr>
        <p:grpSpPr>
          <a:xfrm>
            <a:off x="533400" y="2914650"/>
            <a:ext cx="5562600" cy="1352550"/>
            <a:chOff x="533400" y="2914650"/>
            <a:chExt cx="5562600" cy="1352550"/>
          </a:xfrm>
        </p:grpSpPr>
        <p:sp>
          <p:nvSpPr>
            <p:cNvPr id="14" name="Rectangle 14"/>
            <p:cNvSpPr/>
            <p:nvPr/>
          </p:nvSpPr>
          <p:spPr>
            <a:xfrm>
              <a:off x="533400" y="2914650"/>
              <a:ext cx="5562600" cy="1352550"/>
            </a:xfrm>
            <a:prstGeom prst="roundRect">
              <a:avLst>
                <a:gd name="adj" fmla="val 1126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5800" y="306705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4400" y="3048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1560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31442" y="31022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上界与下界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542" y="3435668"/>
              <a:ext cx="3674174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 ⊆ A，若对 M 中任意 m 都有 m ≤ a（a ≤ m），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则称 a 为 M 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上界（下界）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上界未必在 M 中，M 甚至可能没有上界。</a:t>
              </a:r>
            </a:p>
          </p:txBody>
        </p:sp>
      </p:grpSp>
      <p:grpSp>
        <p:nvGrpSpPr>
          <p:cNvPr id="27" name="card-sup"/>
          <p:cNvGrpSpPr/>
          <p:nvPr/>
        </p:nvGrpSpPr>
        <p:grpSpPr>
          <a:xfrm>
            <a:off x="533400" y="4343400"/>
            <a:ext cx="5562600" cy="1352550"/>
            <a:chOff x="533400" y="4343400"/>
            <a:chExt cx="5562600" cy="1352550"/>
          </a:xfrm>
        </p:grpSpPr>
        <p:sp>
          <p:nvSpPr>
            <p:cNvPr id="21" name="Rectangle 21"/>
            <p:cNvSpPr/>
            <p:nvPr/>
          </p:nvSpPr>
          <p:spPr>
            <a:xfrm>
              <a:off x="533400" y="4343400"/>
              <a:ext cx="5562600" cy="1352550"/>
            </a:xfrm>
            <a:prstGeom prst="roundRect">
              <a:avLst>
                <a:gd name="adj" fmla="val 1126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5800" y="449580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14400" y="44767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1560" y="4537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31442" y="45310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上确界与下确界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7542" y="4864418"/>
              <a:ext cx="382847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是 M 的上界，且对 M 的任意上界 x 都有 a ≤ x，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 a 为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最小上界（上确界）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，记 sup M；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同理有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最大下界（下确界）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，记 inf M。</a:t>
              </a:r>
            </a:p>
          </p:txBody>
        </p:sp>
      </p:grpSp>
      <p:grpSp>
        <p:nvGrpSpPr>
          <p:cNvPr id="38" name="card-hasse-rules"/>
          <p:cNvGrpSpPr/>
          <p:nvPr/>
        </p:nvGrpSpPr>
        <p:grpSpPr>
          <a:xfrm>
            <a:off x="6286500" y="1485900"/>
            <a:ext cx="5372100" cy="1352550"/>
            <a:chOff x="6286500" y="1485900"/>
            <a:chExt cx="5372100" cy="1352550"/>
          </a:xfrm>
        </p:grpSpPr>
        <p:sp>
          <p:nvSpPr>
            <p:cNvPr id="28" name="Rectangle 28"/>
            <p:cNvSpPr/>
            <p:nvPr/>
          </p:nvSpPr>
          <p:spPr>
            <a:xfrm>
              <a:off x="6286500" y="1485900"/>
              <a:ext cx="5372100" cy="1352550"/>
            </a:xfrm>
            <a:prstGeom prst="roundRect">
              <a:avLst>
                <a:gd name="adj" fmla="val 112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15100" y="16192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47688" y="1680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哈斯图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4542" y="16735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把偏序关系画成图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24625" y="21050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95708" y="21564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0192" y="2140268"/>
              <a:ext cx="2812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≤ y 且 x ≠ y：把 x 画在 y 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下面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24625" y="25050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95708" y="25565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0192" y="2540318"/>
              <a:ext cx="3612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y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盖住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x（x &lt; y，中间没有别的 z）：才连线</a:t>
              </a:r>
            </a:p>
          </p:txBody>
        </p:sp>
      </p:grpSp>
      <p:grpSp>
        <p:nvGrpSpPr>
          <p:cNvPr id="73" name="card-example"/>
          <p:cNvGrpSpPr/>
          <p:nvPr/>
        </p:nvGrpSpPr>
        <p:grpSpPr>
          <a:xfrm>
            <a:off x="6286500" y="2914650"/>
            <a:ext cx="5372100" cy="2781300"/>
            <a:chOff x="6286500" y="2914650"/>
            <a:chExt cx="5372100" cy="2781300"/>
          </a:xfrm>
        </p:grpSpPr>
        <p:sp>
          <p:nvSpPr>
            <p:cNvPr id="39" name="Rectangle 39"/>
            <p:cNvSpPr/>
            <p:nvPr/>
          </p:nvSpPr>
          <p:spPr>
            <a:xfrm>
              <a:off x="6286500" y="2914650"/>
              <a:ext cx="5372100" cy="2781300"/>
            </a:xfrm>
            <a:prstGeom prst="roundRect">
              <a:avLst>
                <a:gd name="adj" fmla="val 547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515100" y="3143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6832" y="3204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79742" y="3197542"/>
              <a:ext cx="3051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(A, ⊆) 是偏序集，但有的确界不存在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9004" y="3528060"/>
              <a:ext cx="4364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Cambria Math"/>
                  <a:ea typeface="Cambria Math"/>
                  <a:cs typeface="Cambria Math"/>
                </a:rPr>
                <a:t>A = {{a}, {b}, {a,b}, {a,b,c}, {a,b,c,d}, {a,b,c,e}}</a:t>
              </a:r>
            </a:p>
          </p:txBody>
        </p:sp>
        <p:grpSp>
          <p:nvGrpSpPr>
            <p:cNvPr id="61" name="hasse-a"/>
            <p:cNvGrpSpPr/>
            <p:nvPr/>
          </p:nvGrpSpPr>
          <p:grpSpPr>
            <a:xfrm>
              <a:off x="6318961" y="3890010"/>
              <a:ext cx="2983078" cy="1720596"/>
              <a:chOff x="6318961" y="3890010"/>
              <a:chExt cx="2983078" cy="1720596"/>
            </a:xfrm>
          </p:grpSpPr>
          <p:sp>
            <p:nvSpPr>
              <p:cNvPr id="44" name="Line 44"/>
              <p:cNvSpPr/>
              <p:nvPr/>
            </p:nvSpPr>
            <p:spPr>
              <a:xfrm>
                <a:off x="7239000" y="4933950"/>
                <a:ext cx="57150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14350">
                    <a:moveTo>
                      <a:pt x="0" y="514350"/>
                    </a:moveTo>
                    <a:lnTo>
                      <a:pt x="5715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7810500" y="4933950"/>
                <a:ext cx="57150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14350">
                    <a:moveTo>
                      <a:pt x="571500" y="5143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7810500" y="4438650"/>
                <a:ext cx="95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95300">
                    <a:moveTo>
                      <a:pt x="0" y="4953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7239000" y="3962400"/>
                <a:ext cx="571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76250">
                    <a:moveTo>
                      <a:pt x="571500" y="476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7810500" y="3962400"/>
                <a:ext cx="571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76250">
                    <a:moveTo>
                      <a:pt x="0" y="476250"/>
                    </a:moveTo>
                    <a:lnTo>
                      <a:pt x="5715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7172325" y="38957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8315325" y="38957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743825" y="43719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7743825" y="48672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7172325" y="53816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315325" y="53816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318961" y="3890010"/>
                <a:ext cx="8118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{a,b,c,d}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90204" y="3890010"/>
                <a:ext cx="8118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{a,b,c,e}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37754" y="43662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{a,b,c}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937754" y="48615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{a,b}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852056" y="5375910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{a}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490204" y="5375910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{b}</a:t>
                </a:r>
              </a:p>
            </p:txBody>
          </p:sp>
        </p:grpSp>
        <p:sp>
          <p:nvSpPr>
            <p:cNvPr id="62" name="Line 62"/>
            <p:cNvSpPr/>
            <p:nvPr/>
          </p:nvSpPr>
          <p:spPr>
            <a:xfrm>
              <a:off x="9258300" y="38481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412287" y="39798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5875">
              <a:solidFill>
                <a:srgbClr val="0F7A6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614154" y="3947160"/>
              <a:ext cx="13228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{a}、{b} 的上确界</a:t>
              </a:r>
              <a:br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{a,b}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9420225" y="4581525"/>
              <a:ext cx="95250" cy="95250"/>
              <a:chOff x="9420225" y="4581525"/>
              <a:chExt cx="95250" cy="9525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420225" y="45815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420225" y="45815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9614154" y="4556760"/>
              <a:ext cx="16276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{a}、{b} 没有公共下界</a:t>
              </a:r>
              <a:br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⇒ inf 不存在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9420225" y="5191125"/>
              <a:ext cx="95250" cy="95250"/>
              <a:chOff x="9420225" y="5191125"/>
              <a:chExt cx="95250" cy="9525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9420225" y="5191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420225" y="5191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9614154" y="5166360"/>
              <a:ext cx="1840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两个顶端元素没有公共上界</a:t>
              </a:r>
              <a:br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⇒ sup 不存在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4" name="Rectangle 7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50900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939799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06450" y="6118225"/>
                <a:ext cx="1397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57150">
                    <a:moveTo>
                      <a:pt x="0" y="57150"/>
                    </a:moveTo>
                    <a:lnTo>
                      <a:pt x="69850" y="0"/>
                    </a:lnTo>
                    <a:lnTo>
                      <a:pt x="139700" y="5715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76300" y="60420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134618" y="6003608"/>
              <a:ext cx="7835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偏序集里两个元素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不一定有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上确界、下确界——要求“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任意两元素都有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”，就是格。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3" name="TextBox 83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843016" cy="960501"/>
            <a:chOff x="519684" y="361950"/>
            <a:chExt cx="584301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同一套运算律：集合代数与命题代数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law-table"/>
          <p:cNvGrpSpPr/>
          <p:nvPr/>
        </p:nvGrpSpPr>
        <p:grpSpPr>
          <a:xfrm>
            <a:off x="533400" y="1485900"/>
            <a:ext cx="7543800" cy="4263961"/>
            <a:chOff x="533400" y="1485900"/>
            <a:chExt cx="7543800" cy="4263961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75438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485900"/>
              <a:ext cx="7543800" cy="4572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54380" y="1619250"/>
              <a:ext cx="6097143" cy="293370"/>
              <a:chOff x="754380" y="1619250"/>
              <a:chExt cx="6097143" cy="29337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54380" y="161925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规律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859280" y="1619250"/>
                <a:ext cx="22183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集合代数 (ρ(S), ∩, ∪)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964430" y="1619250"/>
                <a:ext cx="18870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命题代数 (S, ∧, ∨)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85800" y="1943100"/>
              <a:ext cx="7239000" cy="2981325"/>
              <a:chOff x="685800" y="1943100"/>
              <a:chExt cx="7239000" cy="2981325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685800" y="19431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85800" y="24384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685800" y="29337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685800" y="36195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685800" y="43053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685800" y="49149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754380" y="2105025"/>
              <a:ext cx="822960" cy="3265170"/>
              <a:chOff x="754380" y="2105025"/>
              <a:chExt cx="822960" cy="32651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54380" y="21050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等幂律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4380" y="26003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交换律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4380" y="31908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4380" y="38766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分配律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54380" y="45243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吸收律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4380" y="50768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德摩根律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859280" y="2105025"/>
              <a:ext cx="5690616" cy="3512820"/>
              <a:chOff x="1859280" y="2105025"/>
              <a:chExt cx="5690616" cy="351282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859280" y="2105025"/>
                <a:ext cx="16466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A∩A = A，A∪A = A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859280" y="2600325"/>
                <a:ext cx="21160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A∩B = B∩A，A∪B = B∪A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859280" y="3057525"/>
                <a:ext cx="17011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A∩(B∩C) = (A∩B)∩C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A∪(B∪C) = (A∪B)∪C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859280" y="3743325"/>
                <a:ext cx="21202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A∩(B∪C) = (A∩B)∪(A∩C)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A∪(B∩C) = (A∪B)∩(A∪C)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859280" y="4524375"/>
                <a:ext cx="25854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A∩(A∪B) = A，A∪(A∩B) = A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59280" y="5057775"/>
                <a:ext cx="13868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(A∩B)ᶜ = Aᶜ∪Bᶜ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(A∪B)ᶜ = Aᶜ∩Bᶜ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964430" y="2105025"/>
                <a:ext cx="16466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A∧A = A，A∨A = A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964430" y="2600325"/>
                <a:ext cx="21160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A∧B = B∧A，A∨B = B∨A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64430" y="3057525"/>
                <a:ext cx="17011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A∧(B∧C) = (A∧B)∧C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A∨(B∨C) = (A∨B)∨C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964430" y="3743325"/>
                <a:ext cx="21202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A∧(B∨C) = (A∧B)∨(A∧C)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A∨(B∧C) = (A∨B)∧(A∨C)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964430" y="4524375"/>
                <a:ext cx="25854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A∧(A∨B) = A，A∨(A∧B) = 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964430" y="5057775"/>
                <a:ext cx="13868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¬(A∧B) = ¬A∨¬B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¬(A∨B) = ¬A∧¬B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756666" y="5373052"/>
              <a:ext cx="544068" cy="376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引进余集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或否定后</a:t>
              </a:r>
            </a:p>
          </p:txBody>
        </p:sp>
      </p:grpSp>
      <p:grpSp>
        <p:nvGrpSpPr>
          <p:cNvPr id="66" name="ladder-card"/>
          <p:cNvGrpSpPr/>
          <p:nvPr/>
        </p:nvGrpSpPr>
        <p:grpSpPr>
          <a:xfrm>
            <a:off x="8267700" y="1485900"/>
            <a:ext cx="3390900" cy="4229100"/>
            <a:chOff x="8267700" y="1485900"/>
            <a:chExt cx="3390900" cy="4229100"/>
          </a:xfrm>
        </p:grpSpPr>
        <p:sp>
          <p:nvSpPr>
            <p:cNvPr id="42" name="Rectangle 42"/>
            <p:cNvSpPr/>
            <p:nvPr/>
          </p:nvSpPr>
          <p:spPr>
            <a:xfrm>
              <a:off x="8267700" y="1485900"/>
              <a:ext cx="3390900" cy="422910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502650" y="1682750"/>
              <a:ext cx="177801" cy="177801"/>
              <a:chOff x="8502650" y="1682750"/>
              <a:chExt cx="177801" cy="17780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502650" y="1682750"/>
                <a:ext cx="177801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8900">
                    <a:moveTo>
                      <a:pt x="88900" y="0"/>
                    </a:moveTo>
                    <a:lnTo>
                      <a:pt x="0" y="44450"/>
                    </a:lnTo>
                    <a:lnTo>
                      <a:pt x="88900" y="88900"/>
                    </a:lnTo>
                    <a:lnTo>
                      <a:pt x="177801" y="44450"/>
                    </a:ln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02650" y="1771650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02650" y="1816101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812530" y="1685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运算律搭出本章结构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458200" y="2038350"/>
              <a:ext cx="3009900" cy="876300"/>
            </a:xfrm>
            <a:prstGeom prst="roundRect">
              <a:avLst>
                <a:gd name="adj" fmla="val 1521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41080" y="2200275"/>
              <a:ext cx="1714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 + 结合 + 吸收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41842" y="2559368"/>
              <a:ext cx="21114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⇒ 格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（7.2）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幂等律可推出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763000" y="29527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686800" y="32575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0" y="0"/>
                  </a:moveTo>
                  <a:lnTo>
                    <a:pt x="76200" y="1333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84742" y="3092768"/>
              <a:ext cx="797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＋ 分配律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458200" y="3429000"/>
              <a:ext cx="3009900" cy="571500"/>
            </a:xfrm>
            <a:prstGeom prst="roundRect">
              <a:avLst>
                <a:gd name="adj" fmla="val 2333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41080" y="3629025"/>
              <a:ext cx="15382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⇒ 分配格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（7.4）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763000" y="40386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686800" y="43434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0" y="0"/>
                  </a:moveTo>
                  <a:lnTo>
                    <a:pt x="76200" y="1333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984742" y="4178618"/>
              <a:ext cx="2155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＋ 有 0、1，每个元素有余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458200" y="4514850"/>
              <a:ext cx="3009900" cy="571500"/>
            </a:xfrm>
            <a:prstGeom prst="roundRect">
              <a:avLst>
                <a:gd name="adj" fmla="val 2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641080" y="4714875"/>
              <a:ext cx="17402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⇒ 布尔代数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（7.5）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8493124" y="5297984"/>
              <a:ext cx="143954" cy="148214"/>
              <a:chOff x="8493124" y="5297984"/>
              <a:chExt cx="143954" cy="14821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536781" y="5345906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54244" y="5297984"/>
                <a:ext cx="82834" cy="82847"/>
              </a:xfrm>
              <a:custGeom>
                <a:avLst/>
                <a:gdLst/>
                <a:ahLst/>
                <a:cxnLst/>
                <a:rect l="l" t="t" r="r" b="b"/>
                <a:pathLst>
                  <a:path w="82834" h="82847">
                    <a:moveTo>
                      <a:pt x="0" y="21729"/>
                    </a:moveTo>
                    <a:lnTo>
                      <a:pt x="4043" y="17049"/>
                    </a:lnTo>
                    <a:cubicBezTo>
                      <a:pt x="21094" y="0"/>
                      <a:pt x="48737" y="2"/>
                      <a:pt x="65786" y="17053"/>
                    </a:cubicBezTo>
                    <a:cubicBezTo>
                      <a:pt x="82834" y="34104"/>
                      <a:pt x="82832" y="61747"/>
                      <a:pt x="65781" y="78796"/>
                    </a:cubicBezTo>
                    <a:lnTo>
                      <a:pt x="61119" y="82847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493124" y="5363369"/>
                <a:ext cx="78583" cy="82829"/>
              </a:xfrm>
              <a:custGeom>
                <a:avLst/>
                <a:gdLst/>
                <a:ahLst/>
                <a:cxnLst/>
                <a:rect l="l" t="t" r="r" b="b"/>
                <a:pathLst>
                  <a:path w="78583" h="82829">
                    <a:moveTo>
                      <a:pt x="78583" y="61119"/>
                    </a:moveTo>
                    <a:lnTo>
                      <a:pt x="75116" y="65781"/>
                    </a:lnTo>
                    <a:cubicBezTo>
                      <a:pt x="57876" y="82829"/>
                      <a:pt x="30128" y="82829"/>
                      <a:pt x="12889" y="65781"/>
                    </a:cubicBezTo>
                    <a:cubicBezTo>
                      <a:pt x="4641" y="57626"/>
                      <a:pt x="0" y="46510"/>
                      <a:pt x="0" y="34912"/>
                    </a:cubicBezTo>
                    <a:cubicBezTo>
                      <a:pt x="0" y="23314"/>
                      <a:pt x="4641" y="12197"/>
                      <a:pt x="12889" y="4043"/>
                    </a:cubicBezTo>
                    <a:lnTo>
                      <a:pt x="17464" y="0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8737854" y="5299710"/>
              <a:ext cx="1829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这些运算律都在 6.1 学过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7" name="Rectangle 6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74698" y="5997720"/>
              <a:ext cx="209388" cy="215583"/>
              <a:chOff x="774698" y="5997720"/>
              <a:chExt cx="209388" cy="21558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38200" y="60674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63600" y="5997720"/>
                <a:ext cx="120486" cy="120505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120505">
                    <a:moveTo>
                      <a:pt x="0" y="31605"/>
                    </a:moveTo>
                    <a:lnTo>
                      <a:pt x="5880" y="24798"/>
                    </a:lnTo>
                    <a:cubicBezTo>
                      <a:pt x="30682" y="0"/>
                      <a:pt x="70890" y="3"/>
                      <a:pt x="95688" y="24804"/>
                    </a:cubicBezTo>
                    <a:cubicBezTo>
                      <a:pt x="120486" y="49606"/>
                      <a:pt x="120483" y="89814"/>
                      <a:pt x="95682" y="114612"/>
                    </a:cubicBezTo>
                    <a:lnTo>
                      <a:pt x="88900" y="12050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74698" y="6092825"/>
                <a:ext cx="114302" cy="120478"/>
              </a:xfrm>
              <a:custGeom>
                <a:avLst/>
                <a:gdLst/>
                <a:ahLst/>
                <a:cxnLst/>
                <a:rect l="l" t="t" r="r" b="b"/>
                <a:pathLst>
                  <a:path w="114302" h="120478">
                    <a:moveTo>
                      <a:pt x="114302" y="88900"/>
                    </a:moveTo>
                    <a:lnTo>
                      <a:pt x="109260" y="95682"/>
                    </a:lnTo>
                    <a:cubicBezTo>
                      <a:pt x="84184" y="120478"/>
                      <a:pt x="43823" y="120478"/>
                      <a:pt x="18747" y="95682"/>
                    </a:cubicBezTo>
                    <a:cubicBezTo>
                      <a:pt x="6751" y="83820"/>
                      <a:pt x="0" y="67651"/>
                      <a:pt x="0" y="50781"/>
                    </a:cubicBezTo>
                    <a:cubicBezTo>
                      <a:pt x="0" y="33911"/>
                      <a:pt x="6751" y="17742"/>
                      <a:pt x="18747" y="5880"/>
                    </a:cubicBezTo>
                    <a:lnTo>
                      <a:pt x="25402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134618" y="6003608"/>
              <a:ext cx="81242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集合的 ∩、∪ 与逻辑的 ∧、∨ 守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同一套运算律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——把它们抽出来，就是格与布尔代数。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4" name="TextBox 74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477000" y="-3810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620250" y="371475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11620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763533" y="2514600"/>
            <a:ext cx="1903933" cy="2305050"/>
            <a:chOff x="87635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7635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4228338" cy="1885379"/>
            <a:chOff x="743712" y="1866900"/>
            <a:chExt cx="4228338" cy="1885379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238125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7644" y="1956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第一部分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格的定义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094" y="3370898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两种眼光看同一个结构：偏序与运算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4026408" cy="1747647"/>
            <a:chOff x="755142" y="4102418"/>
            <a:chExt cx="4026408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2889885" cy="363665"/>
              <a:chOff x="781050" y="4457700"/>
              <a:chExt cx="2889885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什么样的偏序集才是格？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3112008" cy="363665"/>
              <a:chOff x="781050" y="4972050"/>
              <a:chExt cx="3112008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2682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怎样只用运算律来定义格？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4000500" cy="363665"/>
              <a:chOff x="781050" y="5486400"/>
              <a:chExt cx="4000500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35707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两种定义为何等价？子格怎么判断？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528066" y="6573202"/>
            <a:ext cx="20883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第7章 格与布尔代数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933438" cy="960501"/>
            <a:chOff x="519684" y="361950"/>
            <a:chExt cx="693343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偏序格：任意两个元素都有上确界和下确界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definition"/>
          <p:cNvGrpSpPr/>
          <p:nvPr/>
        </p:nvGrpSpPr>
        <p:grpSpPr>
          <a:xfrm>
            <a:off x="533400" y="1485900"/>
            <a:ext cx="6134100" cy="2209800"/>
            <a:chOff x="533400" y="1485900"/>
            <a:chExt cx="6134100" cy="2209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134100" cy="2209800"/>
            </a:xfrm>
            <a:prstGeom prst="roundRect">
              <a:avLst>
                <a:gd name="adj" fmla="val 689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90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偏序格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66925"/>
              <a:ext cx="413956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给出偏序集 (L, ≤)，如果对任意 a, b ∈ L，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子集 {a, b} 在 L 中都有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最大下界</a:t>
              </a: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inf{a, b}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最小上界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sup{a, b}，则称 (L, ≤) 为一个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格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028950"/>
              <a:ext cx="5524500" cy="495300"/>
            </a:xfrm>
            <a:prstGeom prst="roundRect">
              <a:avLst>
                <a:gd name="adj" fmla="val 2307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8042" y="3197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0680" y="3181350"/>
              <a:ext cx="4508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× b = inf{a, b}（交） a ⊕ b = sup{a, b}（并）</a:t>
              </a:r>
            </a:p>
          </p:txBody>
        </p:sp>
      </p:grpSp>
      <p:grpSp>
        <p:nvGrpSpPr>
          <p:cNvPr id="31" name="chain-card"/>
          <p:cNvGrpSpPr/>
          <p:nvPr/>
        </p:nvGrpSpPr>
        <p:grpSpPr>
          <a:xfrm>
            <a:off x="533400" y="3848100"/>
            <a:ext cx="2990850" cy="1866900"/>
            <a:chOff x="533400" y="3848100"/>
            <a:chExt cx="2990850" cy="1866900"/>
          </a:xfrm>
        </p:grpSpPr>
        <p:sp>
          <p:nvSpPr>
            <p:cNvPr id="17" name="Rectangle 17"/>
            <p:cNvSpPr/>
            <p:nvPr/>
          </p:nvSpPr>
          <p:spPr>
            <a:xfrm>
              <a:off x="533400" y="3848100"/>
              <a:ext cx="299085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3900" y="39814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1060" y="4042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40942" y="40357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全序集一定是格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44958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923925" y="4429125"/>
              <a:ext cx="133350" cy="13335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23925" y="4762500"/>
              <a:ext cx="133350" cy="13335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23925" y="5095875"/>
              <a:ext cx="133350" cy="13335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23925" y="5429250"/>
              <a:ext cx="133350" cy="13335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5155" y="44234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5155" y="47567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5155" y="5090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5155" y="54235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7404" y="4575810"/>
              <a:ext cx="13837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任意两元素都可比：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inf =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较小者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sup =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较大者</a:t>
              </a:r>
            </a:p>
          </p:txBody>
        </p:sp>
      </p:grpSp>
      <p:grpSp>
        <p:nvGrpSpPr>
          <p:cNvPr id="45" name="counter-card"/>
          <p:cNvGrpSpPr/>
          <p:nvPr/>
        </p:nvGrpSpPr>
        <p:grpSpPr>
          <a:xfrm>
            <a:off x="3676650" y="3848100"/>
            <a:ext cx="2990850" cy="1866900"/>
            <a:chOff x="3676650" y="3848100"/>
            <a:chExt cx="2990850" cy="1866900"/>
          </a:xfrm>
        </p:grpSpPr>
        <p:sp>
          <p:nvSpPr>
            <p:cNvPr id="32" name="Rectangle 32"/>
            <p:cNvSpPr/>
            <p:nvPr/>
          </p:nvSpPr>
          <p:spPr>
            <a:xfrm>
              <a:off x="3676650" y="3848100"/>
              <a:ext cx="2990850" cy="1866900"/>
            </a:xfrm>
            <a:prstGeom prst="roundRect">
              <a:avLst>
                <a:gd name="adj" fmla="val 816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67150" y="39814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004310" y="4042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4192" y="40357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偏序集不一定是格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076700" y="4667250"/>
              <a:ext cx="304800" cy="762000"/>
            </a:xfrm>
            <a:custGeom>
              <a:avLst/>
              <a:gdLst/>
              <a:ahLst/>
              <a:cxnLst/>
              <a:rect l="l" t="t" r="r" b="b"/>
              <a:pathLst>
                <a:path w="304800" h="762000">
                  <a:moveTo>
                    <a:pt x="304800" y="762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381500" y="4667250"/>
              <a:ext cx="304800" cy="762000"/>
            </a:xfrm>
            <a:custGeom>
              <a:avLst/>
              <a:gdLst/>
              <a:ahLst/>
              <a:cxnLst/>
              <a:rect l="l" t="t" r="r" b="b"/>
              <a:pathLst>
                <a:path w="304800" h="762000">
                  <a:moveTo>
                    <a:pt x="0" y="76200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4010025" y="4600575"/>
              <a:ext cx="133350" cy="133350"/>
            </a:xfrm>
            <a:prstGeom prst="ellipse">
              <a:avLst/>
            </a:prstGeom>
            <a:solidFill>
              <a:srgbClr val="B42318"/>
            </a:solidFill>
            <a:ln w="19050">
              <a:solidFill>
                <a:srgbClr val="B4231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4619625" y="4600575"/>
              <a:ext cx="133350" cy="133350"/>
            </a:xfrm>
            <a:prstGeom prst="ellipse">
              <a:avLst/>
            </a:prstGeom>
            <a:solidFill>
              <a:srgbClr val="B42318"/>
            </a:solidFill>
            <a:ln w="19050">
              <a:solidFill>
                <a:srgbClr val="B4231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4314825" y="5362575"/>
              <a:ext cx="133350" cy="13335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67455" y="45948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94504" y="45948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08754" y="54521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9304" y="4575810"/>
              <a:ext cx="1269492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p、q 是两个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极大元，没有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公共上界 ⇒</a:t>
              </a:r>
              <a:br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sup{p, q} 不存在</a:t>
              </a:r>
            </a:p>
          </p:txBody>
        </p:sp>
      </p:grpSp>
      <p:grpSp>
        <p:nvGrpSpPr>
          <p:cNvPr id="48" name="meeting-figure"/>
          <p:cNvGrpSpPr/>
          <p:nvPr/>
        </p:nvGrpSpPr>
        <p:grpSpPr>
          <a:xfrm>
            <a:off x="7048500" y="1485900"/>
            <a:ext cx="4610100" cy="4175951"/>
            <a:chOff x="7048500" y="1485900"/>
            <a:chExt cx="4610100" cy="4175951"/>
          </a:xfrm>
        </p:grpSpPr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0" y="1485900"/>
              <a:ext cx="4610100" cy="3457575"/>
            </a:xfrm>
            <a:prstGeom prst="roundRect">
              <a:avLst>
                <a:gd name="adj" fmla="val 4407"/>
              </a:avLst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7826573" y="5112068"/>
              <a:ext cx="3053953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两条路向上汇合于唯一最近点（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sup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向下汇合于唯一最近点（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inf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50900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39799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6450" y="6118225"/>
                <a:ext cx="1397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57150">
                    <a:moveTo>
                      <a:pt x="0" y="57150"/>
                    </a:moveTo>
                    <a:lnTo>
                      <a:pt x="69850" y="0"/>
                    </a:lnTo>
                    <a:lnTo>
                      <a:pt x="139700" y="5715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6300" y="60420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134618" y="6003608"/>
              <a:ext cx="6713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格 =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任意两个元素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都有上确界和下确界的偏序集；全序集一定是格。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8" name="TextBox 58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479542" cy="960501"/>
            <a:chOff x="519684" y="361950"/>
            <a:chExt cx="547954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偏序格的例子：幂集、整除与命题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ex-powerset"/>
          <p:cNvGrpSpPr/>
          <p:nvPr/>
        </p:nvGrpSpPr>
        <p:grpSpPr>
          <a:xfrm>
            <a:off x="533400" y="1485900"/>
            <a:ext cx="3505200" cy="2057400"/>
            <a:chOff x="533400" y="1485900"/>
            <a:chExt cx="3505200" cy="2057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505200" cy="20574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56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8542" y="1673542"/>
              <a:ext cx="1540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幂集格 (ρ(S), ⊆)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083118"/>
              <a:ext cx="2691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是任意集合，对 A, B ∈ ρ(S)：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2362200"/>
              <a:ext cx="3124200" cy="723900"/>
            </a:xfrm>
            <a:prstGeom prst="roundRect">
              <a:avLst>
                <a:gd name="adj" fmla="val 157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486025"/>
              <a:ext cx="2422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sup{A, B} = </a:t>
              </a:r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∪ B</a:t>
              </a:r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∈ ρ(S)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780" y="2790825"/>
              <a:ext cx="2371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inf{A, B} = </a:t>
              </a:r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∩ B</a:t>
              </a:r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∈ ρ(S)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3223260"/>
              <a:ext cx="2240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包含 A、B 的最小集合就是并集</a:t>
              </a:r>
            </a:p>
          </p:txBody>
        </p:sp>
      </p:grpSp>
      <p:grpSp>
        <p:nvGrpSpPr>
          <p:cNvPr id="26" name="ex-divides"/>
          <p:cNvGrpSpPr/>
          <p:nvPr/>
        </p:nvGrpSpPr>
        <p:grpSpPr>
          <a:xfrm>
            <a:off x="533400" y="3657600"/>
            <a:ext cx="3505200" cy="2057400"/>
            <a:chOff x="533400" y="3657600"/>
            <a:chExt cx="3505200" cy="2057400"/>
          </a:xfrm>
        </p:grpSpPr>
        <p:sp>
          <p:nvSpPr>
            <p:cNvPr id="17" name="Rectangle 17"/>
            <p:cNvSpPr/>
            <p:nvPr/>
          </p:nvSpPr>
          <p:spPr>
            <a:xfrm>
              <a:off x="533400" y="3657600"/>
              <a:ext cx="3505200" cy="20574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3900" y="3790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632" y="38519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8542" y="3845242"/>
              <a:ext cx="1345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整除格 (Z₊, D)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142" y="4254818"/>
              <a:ext cx="2121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D b 当且仅当 a 整除 b：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3900" y="4533900"/>
              <a:ext cx="3124200" cy="723900"/>
            </a:xfrm>
            <a:prstGeom prst="roundRect">
              <a:avLst>
                <a:gd name="adj" fmla="val 157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7542" y="4673918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sup{a, b} = a、b 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最小公倍数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7542" y="49787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inf{a, b} = a、b 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最大公因数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5394960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如 sup{4, 6} = 12，inf{4, 6} = 2</a:t>
              </a:r>
            </a:p>
          </p:txBody>
        </p:sp>
      </p:grpSp>
      <p:grpSp>
        <p:nvGrpSpPr>
          <p:cNvPr id="70" name="ex-divisors"/>
          <p:cNvGrpSpPr/>
          <p:nvPr/>
        </p:nvGrpSpPr>
        <p:grpSpPr>
          <a:xfrm>
            <a:off x="4191000" y="1485900"/>
            <a:ext cx="3848100" cy="4229100"/>
            <a:chOff x="4191000" y="1485900"/>
            <a:chExt cx="3848100" cy="4229100"/>
          </a:xfrm>
        </p:grpSpPr>
        <p:sp>
          <p:nvSpPr>
            <p:cNvPr id="27" name="Rectangle 27"/>
            <p:cNvSpPr/>
            <p:nvPr/>
          </p:nvSpPr>
          <p:spPr>
            <a:xfrm>
              <a:off x="4191000" y="1485900"/>
              <a:ext cx="3848100" cy="4229100"/>
            </a:xfrm>
            <a:prstGeom prst="roundRect">
              <a:avLst>
                <a:gd name="adj" fmla="val 396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815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232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46142" y="1673542"/>
              <a:ext cx="1345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因子格 (Sₙ, D)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12742" y="2064068"/>
              <a:ext cx="333603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Sₙ = n 的全体正因数，sup、inf 同上</a:t>
              </a:r>
            </a:p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(S₆, D)、(S₈, D)、(S₂₄, D)、(S₃₀, D) 都是格</a:t>
              </a:r>
            </a:p>
          </p:txBody>
        </p:sp>
        <p:grpSp>
          <p:nvGrpSpPr>
            <p:cNvPr id="45" name="hasse-s6"/>
            <p:cNvGrpSpPr/>
            <p:nvPr/>
          </p:nvGrpSpPr>
          <p:grpSpPr>
            <a:xfrm>
              <a:off x="4522337" y="3397568"/>
              <a:ext cx="1242326" cy="2169033"/>
              <a:chOff x="4522337" y="3397568"/>
              <a:chExt cx="1242326" cy="2169033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4762500" y="371475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3810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5143500" y="371475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0" y="0"/>
                    </a:moveTo>
                    <a:lnTo>
                      <a:pt x="381000" y="476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4762500" y="419100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0" y="0"/>
                    </a:moveTo>
                    <a:lnTo>
                      <a:pt x="381000" y="476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5143500" y="419100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3810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076825" y="3648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4695825" y="4124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5457825" y="4124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5076825" y="46005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086664" y="33975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22337" y="41024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650992" y="41024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86664" y="47882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025748" y="5302568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S₆</a:t>
                </a:r>
              </a:p>
            </p:txBody>
          </p:sp>
        </p:grpSp>
        <p:grpSp>
          <p:nvGrpSpPr>
            <p:cNvPr id="69" name="hasse-s24"/>
            <p:cNvGrpSpPr/>
            <p:nvPr/>
          </p:nvGrpSpPr>
          <p:grpSpPr>
            <a:xfrm>
              <a:off x="6332087" y="3054668"/>
              <a:ext cx="1342282" cy="2511933"/>
              <a:chOff x="6332087" y="3054668"/>
              <a:chExt cx="1342282" cy="2511933"/>
            </a:xfrm>
          </p:grpSpPr>
          <p:sp>
            <p:nvSpPr>
              <p:cNvPr id="46" name="Line 46"/>
              <p:cNvSpPr/>
              <p:nvPr/>
            </p:nvSpPr>
            <p:spPr>
              <a:xfrm>
                <a:off x="6572250" y="3429000"/>
                <a:ext cx="952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0">
                    <a:moveTo>
                      <a:pt x="0" y="1714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7334250" y="3143250"/>
                <a:ext cx="952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0">
                    <a:moveTo>
                      <a:pt x="0" y="1714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6572250" y="4857750"/>
                <a:ext cx="76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85750">
                    <a:moveTo>
                      <a:pt x="0" y="285750"/>
                    </a:moveTo>
                    <a:lnTo>
                      <a:pt x="762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6572250" y="4286250"/>
                <a:ext cx="76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85750">
                    <a:moveTo>
                      <a:pt x="0" y="285750"/>
                    </a:moveTo>
                    <a:lnTo>
                      <a:pt x="762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6572250" y="3714750"/>
                <a:ext cx="76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85750">
                    <a:moveTo>
                      <a:pt x="0" y="285750"/>
                    </a:moveTo>
                    <a:lnTo>
                      <a:pt x="762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6572250" y="3143250"/>
                <a:ext cx="76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85750">
                    <a:moveTo>
                      <a:pt x="0" y="285750"/>
                    </a:moveTo>
                    <a:lnTo>
                      <a:pt x="762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6505575" y="50768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6505575" y="4505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6505575" y="39338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6505575" y="3362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7267575" y="4791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7267575" y="42195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7267575" y="3648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7267575" y="30765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332087" y="50549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332087" y="44834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332087" y="39119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332087" y="33404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460742" y="47691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460742" y="41976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460742" y="36261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460742" y="30546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24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780051" y="5302568"/>
                <a:ext cx="3463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S₂₄</a:t>
                </a:r>
              </a:p>
            </p:txBody>
          </p:sp>
        </p:grpSp>
      </p:grpSp>
      <p:grpSp>
        <p:nvGrpSpPr>
          <p:cNvPr id="80" name="ex-propositions"/>
          <p:cNvGrpSpPr/>
          <p:nvPr/>
        </p:nvGrpSpPr>
        <p:grpSpPr>
          <a:xfrm>
            <a:off x="8153400" y="1485900"/>
            <a:ext cx="3505200" cy="2057400"/>
            <a:chOff x="8153400" y="1485900"/>
            <a:chExt cx="3505200" cy="2057400"/>
          </a:xfrm>
        </p:grpSpPr>
        <p:sp>
          <p:nvSpPr>
            <p:cNvPr id="71" name="Rectangle 71"/>
            <p:cNvSpPr/>
            <p:nvPr/>
          </p:nvSpPr>
          <p:spPr>
            <a:xfrm>
              <a:off x="8153400" y="1485900"/>
              <a:ext cx="3505200" cy="20574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3439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856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08542" y="1673542"/>
              <a:ext cx="1234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命题格 (S, ⇐)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75142" y="2083118"/>
              <a:ext cx="21595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⇐ B 当且仅当 B 蕴涵 A：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343900" y="2362200"/>
              <a:ext cx="3124200" cy="723900"/>
            </a:xfrm>
            <a:prstGeom prst="roundRect">
              <a:avLst>
                <a:gd name="adj" fmla="val 157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26780" y="2486025"/>
              <a:ext cx="1727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sup{A, B} = </a:t>
              </a:r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∧ B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26780" y="2790825"/>
              <a:ext cx="1675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inf{A, B} = </a:t>
              </a:r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∨ B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75904" y="3223260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越“强”的命题在序里排得越高</a:t>
              </a:r>
            </a:p>
          </p:txBody>
        </p:sp>
      </p:grpSp>
      <p:grpSp>
        <p:nvGrpSpPr>
          <p:cNvPr id="91" name="think"/>
          <p:cNvGrpSpPr/>
          <p:nvPr/>
        </p:nvGrpSpPr>
        <p:grpSpPr>
          <a:xfrm>
            <a:off x="8153400" y="3657600"/>
            <a:ext cx="3505200" cy="2057400"/>
            <a:chOff x="8153400" y="3657600"/>
            <a:chExt cx="3505200" cy="2057400"/>
          </a:xfrm>
        </p:grpSpPr>
        <p:sp>
          <p:nvSpPr>
            <p:cNvPr id="81" name="Rectangle 81"/>
            <p:cNvSpPr/>
            <p:nvPr/>
          </p:nvSpPr>
          <p:spPr>
            <a:xfrm>
              <a:off x="8153400" y="3657600"/>
              <a:ext cx="3505200" cy="2057400"/>
            </a:xfrm>
            <a:prstGeom prst="roundRect">
              <a:avLst>
                <a:gd name="adj" fmla="val 740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377238" y="3824288"/>
              <a:ext cx="200026" cy="200026"/>
              <a:chOff x="8377238" y="3824288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377238" y="38242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477250" y="39687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460582" y="38887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8698992" y="3845242"/>
              <a:ext cx="1961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思考：(S, D) 是格吗？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75142" y="4235768"/>
              <a:ext cx="2586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S = {1, 2, 3, 6, 12, 24, 36}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8343900" y="4552950"/>
              <a:ext cx="3124200" cy="1009650"/>
            </a:xfrm>
            <a:prstGeom prst="roundRect">
              <a:avLst>
                <a:gd name="adj" fmla="val 11321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527542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不是格。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28304" y="4975860"/>
              <a:ext cx="27096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 与 36 的公倍数至少是 72 ∉ S，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{24, 36} 在 S 中没有上界 ⇒ sup 不存在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2" name="Rectangle 9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850900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939799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06450" y="6118225"/>
                <a:ext cx="1397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57150">
                    <a:moveTo>
                      <a:pt x="0" y="57150"/>
                    </a:moveTo>
                    <a:lnTo>
                      <a:pt x="69850" y="0"/>
                    </a:lnTo>
                    <a:lnTo>
                      <a:pt x="139700" y="5715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76300" y="60420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134618" y="6003608"/>
              <a:ext cx="81425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常见格里的 sup、inf 都是熟悉的运算：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∪ / ∩、最小公倍数 / 最大公因数、∧ / ∨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1" name="TextBox 101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16068" cy="960501"/>
            <a:chOff x="519684" y="361950"/>
            <a:chExt cx="511606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例题精讲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练一练：从哈斯图判断是不是格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3" name="row-1"/>
          <p:cNvGrpSpPr/>
          <p:nvPr/>
        </p:nvGrpSpPr>
        <p:grpSpPr>
          <a:xfrm>
            <a:off x="526542" y="1530668"/>
            <a:ext cx="11138916" cy="2374582"/>
            <a:chOff x="526542" y="1530668"/>
            <a:chExt cx="11138916" cy="2374582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30668"/>
              <a:ext cx="2356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练习 1　判断下面哪些是格？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99104" y="15468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方法：找一对没有最小上界或最大下界的元素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98479" y="1530668"/>
              <a:ext cx="18669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答案：(1)、(3)、(4)</a:t>
              </a:r>
            </a:p>
          </p:txBody>
        </p:sp>
        <p:grpSp>
          <p:nvGrpSpPr>
            <p:cNvPr id="29" name="q1-1"/>
            <p:cNvGrpSpPr/>
            <p:nvPr/>
          </p:nvGrpSpPr>
          <p:grpSpPr>
            <a:xfrm>
              <a:off x="533400" y="1790700"/>
              <a:ext cx="2667000" cy="2114550"/>
              <a:chOff x="533400" y="1790700"/>
              <a:chExt cx="2667000" cy="21145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33400" y="1790700"/>
                <a:ext cx="2667000" cy="2114550"/>
              </a:xfrm>
              <a:prstGeom prst="roundRect">
                <a:avLst>
                  <a:gd name="adj" fmla="val 72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17804" y="1927860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(1)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619250" y="2019300"/>
                <a:ext cx="495300" cy="1104900"/>
                <a:chOff x="1619250" y="2019300"/>
                <a:chExt cx="495300" cy="1104900"/>
              </a:xfrm>
            </p:grpSpPr>
            <p:sp>
              <p:nvSpPr>
                <p:cNvPr id="12" name="Line 12"/>
                <p:cNvSpPr/>
                <p:nvPr/>
              </p:nvSpPr>
              <p:spPr>
                <a:xfrm>
                  <a:off x="1866900" y="201930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Line 13"/>
                <p:cNvSpPr/>
                <p:nvPr/>
              </p:nvSpPr>
              <p:spPr>
                <a:xfrm>
                  <a:off x="1619250" y="2286000"/>
                  <a:ext cx="2476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66700">
                      <a:moveTo>
                        <a:pt x="24765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1866900" y="2286000"/>
                  <a:ext cx="2476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66700">
                      <a:moveTo>
                        <a:pt x="0" y="0"/>
                      </a:moveTo>
                      <a:lnTo>
                        <a:pt x="24765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" name="Line 15"/>
                <p:cNvSpPr/>
                <p:nvPr/>
              </p:nvSpPr>
              <p:spPr>
                <a:xfrm>
                  <a:off x="1619250" y="2552700"/>
                  <a:ext cx="2476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66700">
                      <a:moveTo>
                        <a:pt x="0" y="0"/>
                      </a:moveTo>
                      <a:lnTo>
                        <a:pt x="24765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1866900" y="2552700"/>
                  <a:ext cx="2476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66700">
                      <a:moveTo>
                        <a:pt x="24765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1866900" y="2819400"/>
                  <a:ext cx="9525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4800">
                      <a:moveTo>
                        <a:pt x="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1562100" y="1962150"/>
                <a:ext cx="609600" cy="1219200"/>
                <a:chOff x="1562100" y="1962150"/>
                <a:chExt cx="609600" cy="1219200"/>
              </a:xfrm>
            </p:grpSpPr>
            <p:sp>
              <p:nvSpPr>
                <p:cNvPr id="19" name="Ellipse 19"/>
                <p:cNvSpPr/>
                <p:nvPr/>
              </p:nvSpPr>
              <p:spPr>
                <a:xfrm>
                  <a:off x="1809750" y="19621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0" name="Ellipse 20"/>
                <p:cNvSpPr/>
                <p:nvPr/>
              </p:nvSpPr>
              <p:spPr>
                <a:xfrm>
                  <a:off x="1809750" y="22288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1562100" y="24955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2" name="Ellipse 22"/>
                <p:cNvSpPr/>
                <p:nvPr/>
              </p:nvSpPr>
              <p:spPr>
                <a:xfrm>
                  <a:off x="2057400" y="24955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3" name="Ellipse 23"/>
                <p:cNvSpPr/>
                <p:nvPr/>
              </p:nvSpPr>
              <p:spPr>
                <a:xfrm>
                  <a:off x="1809750" y="27622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4" name="Ellipse 24"/>
                <p:cNvSpPr/>
                <p:nvPr/>
              </p:nvSpPr>
              <p:spPr>
                <a:xfrm>
                  <a:off x="1809750" y="30670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26" name="Freeform 26"/>
              <p:cNvSpPr/>
              <p:nvPr/>
            </p:nvSpPr>
            <p:spPr>
              <a:xfrm>
                <a:off x="729456" y="3356769"/>
                <a:ext cx="13096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87313">
                    <a:moveTo>
                      <a:pt x="0" y="43656"/>
                    </a:moveTo>
                    <a:lnTo>
                      <a:pt x="43656" y="87313"/>
                    </a:lnTo>
                    <a:lnTo>
                      <a:pt x="130969" y="0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64692" y="33213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是格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17804" y="3604260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链 + 菱形 + 链</a:t>
                </a:r>
              </a:p>
            </p:txBody>
          </p:sp>
        </p:grpSp>
        <p:grpSp>
          <p:nvGrpSpPr>
            <p:cNvPr id="54" name="q1-2"/>
            <p:cNvGrpSpPr/>
            <p:nvPr/>
          </p:nvGrpSpPr>
          <p:grpSpPr>
            <a:xfrm>
              <a:off x="3352800" y="1790700"/>
              <a:ext cx="2667000" cy="2114550"/>
              <a:chOff x="3352800" y="1790700"/>
              <a:chExt cx="2667000" cy="21145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3352800" y="1790700"/>
                <a:ext cx="2667000" cy="2114550"/>
              </a:xfrm>
              <a:prstGeom prst="roundRect">
                <a:avLst>
                  <a:gd name="adj" fmla="val 7207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537204" y="1927860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(2)</a:t>
                </a: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4238625" y="2000250"/>
                <a:ext cx="866775" cy="1133475"/>
                <a:chOff x="4238625" y="2000250"/>
                <a:chExt cx="866775" cy="1133475"/>
              </a:xfrm>
            </p:grpSpPr>
            <p:sp>
              <p:nvSpPr>
                <p:cNvPr id="32" name="Line 32"/>
                <p:cNvSpPr/>
                <p:nvPr/>
              </p:nvSpPr>
              <p:spPr>
                <a:xfrm>
                  <a:off x="4267200" y="2009775"/>
                  <a:ext cx="4191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171450">
                      <a:moveTo>
                        <a:pt x="0" y="0"/>
                      </a:moveTo>
                      <a:lnTo>
                        <a:pt x="419100" y="171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3" name="Line 33"/>
                <p:cNvSpPr/>
                <p:nvPr/>
              </p:nvSpPr>
              <p:spPr>
                <a:xfrm>
                  <a:off x="4238625" y="2009775"/>
                  <a:ext cx="28575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361950">
                      <a:moveTo>
                        <a:pt x="28575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4686300" y="2000250"/>
                  <a:ext cx="409575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75" h="180975">
                      <a:moveTo>
                        <a:pt x="409575" y="0"/>
                      </a:moveTo>
                      <a:lnTo>
                        <a:pt x="0" y="1809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5" name="Line 35"/>
                <p:cNvSpPr/>
                <p:nvPr/>
              </p:nvSpPr>
              <p:spPr>
                <a:xfrm>
                  <a:off x="5095875" y="2000250"/>
                  <a:ext cx="952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71475">
                      <a:moveTo>
                        <a:pt x="0" y="0"/>
                      </a:moveTo>
                      <a:lnTo>
                        <a:pt x="0" y="3714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6" name="Line 36"/>
                <p:cNvSpPr/>
                <p:nvPr/>
              </p:nvSpPr>
              <p:spPr>
                <a:xfrm>
                  <a:off x="4686300" y="2181225"/>
                  <a:ext cx="952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71475">
                      <a:moveTo>
                        <a:pt x="0" y="0"/>
                      </a:moveTo>
                      <a:lnTo>
                        <a:pt x="0" y="3714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7" name="Line 37"/>
                <p:cNvSpPr/>
                <p:nvPr/>
              </p:nvSpPr>
              <p:spPr>
                <a:xfrm>
                  <a:off x="4238625" y="2371725"/>
                  <a:ext cx="447675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675" h="180975">
                      <a:moveTo>
                        <a:pt x="0" y="0"/>
                      </a:moveTo>
                      <a:lnTo>
                        <a:pt x="447675" y="1809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8" name="Line 38"/>
                <p:cNvSpPr/>
                <p:nvPr/>
              </p:nvSpPr>
              <p:spPr>
                <a:xfrm>
                  <a:off x="4686300" y="2371725"/>
                  <a:ext cx="409575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75" h="180975">
                      <a:moveTo>
                        <a:pt x="409575" y="0"/>
                      </a:moveTo>
                      <a:lnTo>
                        <a:pt x="0" y="1809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9" name="Line 39"/>
                <p:cNvSpPr/>
                <p:nvPr/>
              </p:nvSpPr>
              <p:spPr>
                <a:xfrm>
                  <a:off x="4686300" y="2552700"/>
                  <a:ext cx="9525" cy="58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81025">
                      <a:moveTo>
                        <a:pt x="0" y="0"/>
                      </a:moveTo>
                      <a:lnTo>
                        <a:pt x="0" y="5810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4181475" y="2124075"/>
                <a:ext cx="971550" cy="1066800"/>
                <a:chOff x="4181475" y="2124075"/>
                <a:chExt cx="971550" cy="1066800"/>
              </a:xfrm>
            </p:grpSpPr>
            <p:sp>
              <p:nvSpPr>
                <p:cNvPr id="41" name="Ellipse 41"/>
                <p:cNvSpPr/>
                <p:nvPr/>
              </p:nvSpPr>
              <p:spPr>
                <a:xfrm>
                  <a:off x="4629150" y="21240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4181475" y="23145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5038725" y="23145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4" name="Ellipse 44"/>
                <p:cNvSpPr/>
                <p:nvPr/>
              </p:nvSpPr>
              <p:spPr>
                <a:xfrm>
                  <a:off x="4629150" y="24955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5" name="Ellipse 45"/>
                <p:cNvSpPr/>
                <p:nvPr/>
              </p:nvSpPr>
              <p:spPr>
                <a:xfrm>
                  <a:off x="4629150" y="30765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47" name="Ellipse 47"/>
              <p:cNvSpPr/>
              <p:nvPr/>
            </p:nvSpPr>
            <p:spPr>
              <a:xfrm>
                <a:off x="4210050" y="195262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5038725" y="19431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 w="23812">
                <a:solidFill>
                  <a:schemeClr val="accent2"/>
                </a:solidFill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3557588" y="3348038"/>
                <a:ext cx="104775" cy="104775"/>
                <a:chOff x="3557588" y="3348038"/>
                <a:chExt cx="104775" cy="104775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3557588" y="3348038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104775" y="0"/>
                      </a:moveTo>
                      <a:lnTo>
                        <a:pt x="0" y="104775"/>
                      </a:lnTo>
                    </a:path>
                  </a:pathLst>
                </a:custGeom>
                <a:noFill/>
                <a:ln w="17463">
                  <a:solidFill>
                    <a:srgbClr val="B42318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3557588" y="3348038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0"/>
                      </a:moveTo>
                      <a:lnTo>
                        <a:pt x="104775" y="104775"/>
                      </a:lnTo>
                    </a:path>
                  </a:pathLst>
                </a:custGeom>
                <a:noFill/>
                <a:ln w="17463">
                  <a:solidFill>
                    <a:srgbClr val="B42318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3784092" y="33213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不是格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537204" y="3604260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两个极大元，没有公共上界</a:t>
                </a:r>
              </a:p>
            </p:txBody>
          </p:sp>
        </p:grpSp>
        <p:grpSp>
          <p:nvGrpSpPr>
            <p:cNvPr id="72" name="q1-3"/>
            <p:cNvGrpSpPr/>
            <p:nvPr/>
          </p:nvGrpSpPr>
          <p:grpSpPr>
            <a:xfrm>
              <a:off x="6172200" y="1790700"/>
              <a:ext cx="2667000" cy="2114550"/>
              <a:chOff x="6172200" y="1790700"/>
              <a:chExt cx="2667000" cy="21145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172200" y="1790700"/>
                <a:ext cx="2667000" cy="2114550"/>
              </a:xfrm>
              <a:prstGeom prst="roundRect">
                <a:avLst>
                  <a:gd name="adj" fmla="val 72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356604" y="1927860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(3)</a:t>
                </a:r>
              </a:p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7162800" y="2019300"/>
                <a:ext cx="685800" cy="1123950"/>
                <a:chOff x="7162800" y="2019300"/>
                <a:chExt cx="685800" cy="1123950"/>
              </a:xfrm>
            </p:grpSpPr>
            <p:sp>
              <p:nvSpPr>
                <p:cNvPr id="57" name="Line 57"/>
                <p:cNvSpPr/>
                <p:nvPr/>
              </p:nvSpPr>
              <p:spPr>
                <a:xfrm>
                  <a:off x="7162800" y="2019300"/>
                  <a:ext cx="3429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81000">
                      <a:moveTo>
                        <a:pt x="34290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8" name="Line 58"/>
                <p:cNvSpPr/>
                <p:nvPr/>
              </p:nvSpPr>
              <p:spPr>
                <a:xfrm>
                  <a:off x="7505700" y="2019300"/>
                  <a:ext cx="3429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81000">
                      <a:moveTo>
                        <a:pt x="0" y="0"/>
                      </a:moveTo>
                      <a:lnTo>
                        <a:pt x="34290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9" name="Line 59"/>
                <p:cNvSpPr/>
                <p:nvPr/>
              </p:nvSpPr>
              <p:spPr>
                <a:xfrm>
                  <a:off x="7162800" y="2400300"/>
                  <a:ext cx="3429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81000">
                      <a:moveTo>
                        <a:pt x="0" y="0"/>
                      </a:moveTo>
                      <a:lnTo>
                        <a:pt x="34290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0" name="Line 60"/>
                <p:cNvSpPr/>
                <p:nvPr/>
              </p:nvSpPr>
              <p:spPr>
                <a:xfrm>
                  <a:off x="7505700" y="2400300"/>
                  <a:ext cx="3429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81000">
                      <a:moveTo>
                        <a:pt x="34290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1" name="Line 61"/>
                <p:cNvSpPr/>
                <p:nvPr/>
              </p:nvSpPr>
              <p:spPr>
                <a:xfrm>
                  <a:off x="7505700" y="2781300"/>
                  <a:ext cx="9525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61950">
                      <a:moveTo>
                        <a:pt x="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68" name="Group 68"/>
              <p:cNvGrpSpPr/>
              <p:nvPr/>
            </p:nvGrpSpPr>
            <p:grpSpPr>
              <a:xfrm>
                <a:off x="7105650" y="1962150"/>
                <a:ext cx="800100" cy="1238250"/>
                <a:chOff x="7105650" y="1962150"/>
                <a:chExt cx="800100" cy="1238250"/>
              </a:xfrm>
            </p:grpSpPr>
            <p:sp>
              <p:nvSpPr>
                <p:cNvPr id="63" name="Ellipse 63"/>
                <p:cNvSpPr/>
                <p:nvPr/>
              </p:nvSpPr>
              <p:spPr>
                <a:xfrm>
                  <a:off x="7448550" y="19621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64" name="Ellipse 64"/>
                <p:cNvSpPr/>
                <p:nvPr/>
              </p:nvSpPr>
              <p:spPr>
                <a:xfrm>
                  <a:off x="7105650" y="23431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65" name="Ellipse 65"/>
                <p:cNvSpPr/>
                <p:nvPr/>
              </p:nvSpPr>
              <p:spPr>
                <a:xfrm>
                  <a:off x="7791450" y="23431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66" name="Ellipse 66"/>
                <p:cNvSpPr/>
                <p:nvPr/>
              </p:nvSpPr>
              <p:spPr>
                <a:xfrm>
                  <a:off x="7448550" y="27241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67" name="Ellipse 67"/>
                <p:cNvSpPr/>
                <p:nvPr/>
              </p:nvSpPr>
              <p:spPr>
                <a:xfrm>
                  <a:off x="7448550" y="30861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69" name="Freeform 69"/>
              <p:cNvSpPr/>
              <p:nvPr/>
            </p:nvSpPr>
            <p:spPr>
              <a:xfrm>
                <a:off x="6368256" y="3356769"/>
                <a:ext cx="13096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87313">
                    <a:moveTo>
                      <a:pt x="0" y="43656"/>
                    </a:moveTo>
                    <a:lnTo>
                      <a:pt x="43656" y="87313"/>
                    </a:lnTo>
                    <a:lnTo>
                      <a:pt x="130969" y="0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6603492" y="33213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是格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356604" y="36042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菱形下面接一条链</a:t>
                </a:r>
              </a:p>
            </p:txBody>
          </p:sp>
        </p:grpSp>
        <p:grpSp>
          <p:nvGrpSpPr>
            <p:cNvPr id="92" name="q1-4"/>
            <p:cNvGrpSpPr/>
            <p:nvPr/>
          </p:nvGrpSpPr>
          <p:grpSpPr>
            <a:xfrm>
              <a:off x="8991600" y="1790700"/>
              <a:ext cx="2667000" cy="2114550"/>
              <a:chOff x="8991600" y="1790700"/>
              <a:chExt cx="2667000" cy="21145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8991600" y="1790700"/>
                <a:ext cx="2667000" cy="2114550"/>
              </a:xfrm>
              <a:prstGeom prst="roundRect">
                <a:avLst>
                  <a:gd name="adj" fmla="val 72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176004" y="1927860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(4)</a:t>
                </a:r>
              </a:p>
            </p:txBody>
          </p:sp>
          <p:grpSp>
            <p:nvGrpSpPr>
              <p:cNvPr id="81" name="Group 81"/>
              <p:cNvGrpSpPr/>
              <p:nvPr/>
            </p:nvGrpSpPr>
            <p:grpSpPr>
              <a:xfrm>
                <a:off x="10020300" y="2019300"/>
                <a:ext cx="609600" cy="1123950"/>
                <a:chOff x="10020300" y="2019300"/>
                <a:chExt cx="609600" cy="1123950"/>
              </a:xfrm>
            </p:grpSpPr>
            <p:sp>
              <p:nvSpPr>
                <p:cNvPr id="75" name="Line 75"/>
                <p:cNvSpPr/>
                <p:nvPr/>
              </p:nvSpPr>
              <p:spPr>
                <a:xfrm>
                  <a:off x="10020300" y="2019300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304800" y="0"/>
                      </a:moveTo>
                      <a:lnTo>
                        <a:pt x="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6" name="Line 76"/>
                <p:cNvSpPr/>
                <p:nvPr/>
              </p:nvSpPr>
              <p:spPr>
                <a:xfrm>
                  <a:off x="10325100" y="2019300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0" y="0"/>
                      </a:moveTo>
                      <a:lnTo>
                        <a:pt x="30480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7" name="Line 77"/>
                <p:cNvSpPr/>
                <p:nvPr/>
              </p:nvSpPr>
              <p:spPr>
                <a:xfrm>
                  <a:off x="10020300" y="2362200"/>
                  <a:ext cx="609600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38150">
                      <a:moveTo>
                        <a:pt x="0" y="0"/>
                      </a:moveTo>
                      <a:lnTo>
                        <a:pt x="609600" y="438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8" name="Line 78"/>
                <p:cNvSpPr/>
                <p:nvPr/>
              </p:nvSpPr>
              <p:spPr>
                <a:xfrm>
                  <a:off x="10020300" y="2362200"/>
                  <a:ext cx="609600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38150">
                      <a:moveTo>
                        <a:pt x="609600" y="0"/>
                      </a:moveTo>
                      <a:lnTo>
                        <a:pt x="0" y="438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9" name="Line 79"/>
                <p:cNvSpPr/>
                <p:nvPr/>
              </p:nvSpPr>
              <p:spPr>
                <a:xfrm>
                  <a:off x="10020300" y="2800350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0" y="0"/>
                      </a:moveTo>
                      <a:lnTo>
                        <a:pt x="30480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0" name="Line 80"/>
                <p:cNvSpPr/>
                <p:nvPr/>
              </p:nvSpPr>
              <p:spPr>
                <a:xfrm>
                  <a:off x="10325100" y="2800350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304800" y="0"/>
                      </a:moveTo>
                      <a:lnTo>
                        <a:pt x="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88" name="Group 88"/>
              <p:cNvGrpSpPr/>
              <p:nvPr/>
            </p:nvGrpSpPr>
            <p:grpSpPr>
              <a:xfrm>
                <a:off x="9963150" y="1962150"/>
                <a:ext cx="723900" cy="1238250"/>
                <a:chOff x="9963150" y="1962150"/>
                <a:chExt cx="723900" cy="1238250"/>
              </a:xfrm>
            </p:grpSpPr>
            <p:sp>
              <p:nvSpPr>
                <p:cNvPr id="82" name="Ellipse 82"/>
                <p:cNvSpPr/>
                <p:nvPr/>
              </p:nvSpPr>
              <p:spPr>
                <a:xfrm>
                  <a:off x="10267950" y="19621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83" name="Ellipse 83"/>
                <p:cNvSpPr/>
                <p:nvPr/>
              </p:nvSpPr>
              <p:spPr>
                <a:xfrm>
                  <a:off x="9963150" y="23050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84" name="Ellipse 84"/>
                <p:cNvSpPr/>
                <p:nvPr/>
              </p:nvSpPr>
              <p:spPr>
                <a:xfrm>
                  <a:off x="10572750" y="23050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85" name="Ellipse 85"/>
                <p:cNvSpPr/>
                <p:nvPr/>
              </p:nvSpPr>
              <p:spPr>
                <a:xfrm>
                  <a:off x="9963150" y="27432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86" name="Ellipse 86"/>
                <p:cNvSpPr/>
                <p:nvPr/>
              </p:nvSpPr>
              <p:spPr>
                <a:xfrm>
                  <a:off x="10572750" y="27432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87" name="Ellipse 87"/>
                <p:cNvSpPr/>
                <p:nvPr/>
              </p:nvSpPr>
              <p:spPr>
                <a:xfrm>
                  <a:off x="10267950" y="30861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89" name="Freeform 89"/>
              <p:cNvSpPr/>
              <p:nvPr/>
            </p:nvSpPr>
            <p:spPr>
              <a:xfrm>
                <a:off x="9187656" y="3356769"/>
                <a:ext cx="13096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87313">
                    <a:moveTo>
                      <a:pt x="0" y="43656"/>
                    </a:moveTo>
                    <a:lnTo>
                      <a:pt x="43656" y="87313"/>
                    </a:lnTo>
                    <a:lnTo>
                      <a:pt x="130969" y="0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9422892" y="33213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是格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9176004" y="3604260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交叉只是画法：两条链并联</a:t>
                </a:r>
              </a:p>
            </p:txBody>
          </p:sp>
        </p:grpSp>
      </p:grpSp>
      <p:grpSp>
        <p:nvGrpSpPr>
          <p:cNvPr id="215" name="row-2"/>
          <p:cNvGrpSpPr/>
          <p:nvPr/>
        </p:nvGrpSpPr>
        <p:grpSpPr>
          <a:xfrm>
            <a:off x="526542" y="4083368"/>
            <a:ext cx="11138916" cy="2279332"/>
            <a:chOff x="526542" y="4083368"/>
            <a:chExt cx="11138916" cy="2279332"/>
          </a:xfrm>
        </p:grpSpPr>
        <p:sp>
          <p:nvSpPr>
            <p:cNvPr id="94" name="TextBox 94"/>
            <p:cNvSpPr txBox="1"/>
            <p:nvPr/>
          </p:nvSpPr>
          <p:spPr>
            <a:xfrm>
              <a:off x="526542" y="4083368"/>
              <a:ext cx="2538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练习 2　判断下面哪些不是格？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703006" y="4083368"/>
              <a:ext cx="962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答案：B、E</a:t>
              </a:r>
            </a:p>
          </p:txBody>
        </p:sp>
        <p:grpSp>
          <p:nvGrpSpPr>
            <p:cNvPr id="122" name="q2-a"/>
            <p:cNvGrpSpPr/>
            <p:nvPr/>
          </p:nvGrpSpPr>
          <p:grpSpPr>
            <a:xfrm>
              <a:off x="533400" y="4343400"/>
              <a:ext cx="2095500" cy="2019300"/>
              <a:chOff x="533400" y="4343400"/>
              <a:chExt cx="2095500" cy="2019300"/>
            </a:xfrm>
          </p:grpSpPr>
          <p:sp>
            <p:nvSpPr>
              <p:cNvPr id="96" name="Rectangle 96"/>
              <p:cNvSpPr/>
              <p:nvPr/>
            </p:nvSpPr>
            <p:spPr>
              <a:xfrm>
                <a:off x="533400" y="4343400"/>
                <a:ext cx="2095500" cy="2019300"/>
              </a:xfrm>
              <a:prstGeom prst="roundRect">
                <a:avLst>
                  <a:gd name="adj" fmla="val 754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698754" y="446151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grpSp>
            <p:nvGrpSpPr>
              <p:cNvPr id="109" name="Group 109"/>
              <p:cNvGrpSpPr/>
              <p:nvPr/>
            </p:nvGrpSpPr>
            <p:grpSpPr>
              <a:xfrm>
                <a:off x="1247775" y="4476750"/>
                <a:ext cx="676275" cy="1143000"/>
                <a:chOff x="1247775" y="4476750"/>
                <a:chExt cx="676275" cy="1143000"/>
              </a:xfrm>
            </p:grpSpPr>
            <p:sp>
              <p:nvSpPr>
                <p:cNvPr id="98" name="Line 98"/>
                <p:cNvSpPr/>
                <p:nvPr/>
              </p:nvSpPr>
              <p:spPr>
                <a:xfrm>
                  <a:off x="1247775" y="4476750"/>
                  <a:ext cx="3333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257175">
                      <a:moveTo>
                        <a:pt x="333375" y="0"/>
                      </a:moveTo>
                      <a:lnTo>
                        <a:pt x="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9" name="Line 99"/>
                <p:cNvSpPr/>
                <p:nvPr/>
              </p:nvSpPr>
              <p:spPr>
                <a:xfrm>
                  <a:off x="1581150" y="4476750"/>
                  <a:ext cx="3333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257175">
                      <a:moveTo>
                        <a:pt x="0" y="0"/>
                      </a:moveTo>
                      <a:lnTo>
                        <a:pt x="333375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0" name="Line 100"/>
                <p:cNvSpPr/>
                <p:nvPr/>
              </p:nvSpPr>
              <p:spPr>
                <a:xfrm>
                  <a:off x="1247775" y="4733925"/>
                  <a:ext cx="33337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247650">
                      <a:moveTo>
                        <a:pt x="0" y="0"/>
                      </a:moveTo>
                      <a:lnTo>
                        <a:pt x="333375" y="2476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1" name="Line 101"/>
                <p:cNvSpPr/>
                <p:nvPr/>
              </p:nvSpPr>
              <p:spPr>
                <a:xfrm>
                  <a:off x="1581150" y="4733925"/>
                  <a:ext cx="33337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247650">
                      <a:moveTo>
                        <a:pt x="333375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2" name="Line 102"/>
                <p:cNvSpPr/>
                <p:nvPr/>
              </p:nvSpPr>
              <p:spPr>
                <a:xfrm>
                  <a:off x="1247775" y="4733925"/>
                  <a:ext cx="9525" cy="62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28650">
                      <a:moveTo>
                        <a:pt x="0" y="0"/>
                      </a:moveTo>
                      <a:lnTo>
                        <a:pt x="0" y="6286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3" name="Line 103"/>
                <p:cNvSpPr/>
                <p:nvPr/>
              </p:nvSpPr>
              <p:spPr>
                <a:xfrm>
                  <a:off x="1914525" y="4733925"/>
                  <a:ext cx="9525" cy="62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28650">
                      <a:moveTo>
                        <a:pt x="0" y="0"/>
                      </a:moveTo>
                      <a:lnTo>
                        <a:pt x="0" y="6286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4" name="Line 104"/>
                <p:cNvSpPr/>
                <p:nvPr/>
              </p:nvSpPr>
              <p:spPr>
                <a:xfrm>
                  <a:off x="1581150" y="4981575"/>
                  <a:ext cx="95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7175">
                      <a:moveTo>
                        <a:pt x="0" y="0"/>
                      </a:moveTo>
                      <a:lnTo>
                        <a:pt x="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5" name="Line 105"/>
                <p:cNvSpPr/>
                <p:nvPr/>
              </p:nvSpPr>
              <p:spPr>
                <a:xfrm>
                  <a:off x="1247775" y="5238750"/>
                  <a:ext cx="33337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123825">
                      <a:moveTo>
                        <a:pt x="333375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6" name="Line 106"/>
                <p:cNvSpPr/>
                <p:nvPr/>
              </p:nvSpPr>
              <p:spPr>
                <a:xfrm>
                  <a:off x="1581150" y="5238750"/>
                  <a:ext cx="33337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123825">
                      <a:moveTo>
                        <a:pt x="0" y="0"/>
                      </a:moveTo>
                      <a:lnTo>
                        <a:pt x="333375" y="1238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7" name="Line 107"/>
                <p:cNvSpPr/>
                <p:nvPr/>
              </p:nvSpPr>
              <p:spPr>
                <a:xfrm>
                  <a:off x="1247775" y="5362575"/>
                  <a:ext cx="3333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257175">
                      <a:moveTo>
                        <a:pt x="0" y="0"/>
                      </a:moveTo>
                      <a:lnTo>
                        <a:pt x="333375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8" name="Line 108"/>
                <p:cNvSpPr/>
                <p:nvPr/>
              </p:nvSpPr>
              <p:spPr>
                <a:xfrm>
                  <a:off x="1581150" y="5362575"/>
                  <a:ext cx="3333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257175">
                      <a:moveTo>
                        <a:pt x="333375" y="0"/>
                      </a:moveTo>
                      <a:lnTo>
                        <a:pt x="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18" name="Group 118"/>
              <p:cNvGrpSpPr/>
              <p:nvPr/>
            </p:nvGrpSpPr>
            <p:grpSpPr>
              <a:xfrm>
                <a:off x="1190625" y="4419600"/>
                <a:ext cx="781050" cy="1257300"/>
                <a:chOff x="1190625" y="4419600"/>
                <a:chExt cx="781050" cy="1257300"/>
              </a:xfrm>
            </p:grpSpPr>
            <p:sp>
              <p:nvSpPr>
                <p:cNvPr id="110" name="Ellipse 110"/>
                <p:cNvSpPr/>
                <p:nvPr/>
              </p:nvSpPr>
              <p:spPr>
                <a:xfrm>
                  <a:off x="1524000" y="4419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1" name="Ellipse 111"/>
                <p:cNvSpPr/>
                <p:nvPr/>
              </p:nvSpPr>
              <p:spPr>
                <a:xfrm>
                  <a:off x="1190625" y="46767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2" name="Ellipse 112"/>
                <p:cNvSpPr/>
                <p:nvPr/>
              </p:nvSpPr>
              <p:spPr>
                <a:xfrm>
                  <a:off x="1857375" y="46767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3" name="Ellipse 113"/>
                <p:cNvSpPr/>
                <p:nvPr/>
              </p:nvSpPr>
              <p:spPr>
                <a:xfrm>
                  <a:off x="1524000" y="492442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4" name="Ellipse 114"/>
                <p:cNvSpPr/>
                <p:nvPr/>
              </p:nvSpPr>
              <p:spPr>
                <a:xfrm>
                  <a:off x="1524000" y="5181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5" name="Ellipse 115"/>
                <p:cNvSpPr/>
                <p:nvPr/>
              </p:nvSpPr>
              <p:spPr>
                <a:xfrm>
                  <a:off x="1190625" y="530542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6" name="Ellipse 116"/>
                <p:cNvSpPr/>
                <p:nvPr/>
              </p:nvSpPr>
              <p:spPr>
                <a:xfrm>
                  <a:off x="1857375" y="530542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7" name="Ellipse 117"/>
                <p:cNvSpPr/>
                <p:nvPr/>
              </p:nvSpPr>
              <p:spPr>
                <a:xfrm>
                  <a:off x="1524000" y="5562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19" name="Freeform 119"/>
              <p:cNvSpPr/>
              <p:nvPr/>
            </p:nvSpPr>
            <p:spPr>
              <a:xfrm>
                <a:off x="729456" y="5833269"/>
                <a:ext cx="13096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87313">
                    <a:moveTo>
                      <a:pt x="0" y="43656"/>
                    </a:moveTo>
                    <a:lnTo>
                      <a:pt x="43656" y="87313"/>
                    </a:lnTo>
                    <a:lnTo>
                      <a:pt x="130969" y="0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964692" y="57978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是格</a:t>
                </a: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698754" y="608076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任意两元确界都唯一</a:t>
                </a:r>
              </a:p>
            </p:txBody>
          </p:sp>
        </p:grpSp>
        <p:grpSp>
          <p:nvGrpSpPr>
            <p:cNvPr id="146" name="q2-b"/>
            <p:cNvGrpSpPr/>
            <p:nvPr/>
          </p:nvGrpSpPr>
          <p:grpSpPr>
            <a:xfrm>
              <a:off x="2790825" y="4343400"/>
              <a:ext cx="2095500" cy="2019300"/>
              <a:chOff x="2790825" y="4343400"/>
              <a:chExt cx="2095500" cy="2019300"/>
            </a:xfrm>
          </p:grpSpPr>
          <p:sp>
            <p:nvSpPr>
              <p:cNvPr id="123" name="Rectangle 123"/>
              <p:cNvSpPr/>
              <p:nvPr/>
            </p:nvSpPr>
            <p:spPr>
              <a:xfrm>
                <a:off x="2790825" y="4343400"/>
                <a:ext cx="2095500" cy="2019300"/>
              </a:xfrm>
              <a:prstGeom prst="roundRect">
                <a:avLst>
                  <a:gd name="adj" fmla="val 7547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2956179" y="446151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grpSp>
            <p:nvGrpSpPr>
              <p:cNvPr id="133" name="Group 133"/>
              <p:cNvGrpSpPr/>
              <p:nvPr/>
            </p:nvGrpSpPr>
            <p:grpSpPr>
              <a:xfrm>
                <a:off x="3419475" y="4476750"/>
                <a:ext cx="847725" cy="1143000"/>
                <a:chOff x="3419475" y="4476750"/>
                <a:chExt cx="847725" cy="1143000"/>
              </a:xfrm>
            </p:grpSpPr>
            <p:sp>
              <p:nvSpPr>
                <p:cNvPr id="125" name="Line 125"/>
                <p:cNvSpPr/>
                <p:nvPr/>
              </p:nvSpPr>
              <p:spPr>
                <a:xfrm>
                  <a:off x="3419475" y="4476750"/>
                  <a:ext cx="41910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23850">
                      <a:moveTo>
                        <a:pt x="419100" y="0"/>
                      </a:moveTo>
                      <a:lnTo>
                        <a:pt x="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6" name="Line 126"/>
                <p:cNvSpPr/>
                <p:nvPr/>
              </p:nvSpPr>
              <p:spPr>
                <a:xfrm>
                  <a:off x="3838575" y="4476750"/>
                  <a:ext cx="41910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23850">
                      <a:moveTo>
                        <a:pt x="0" y="0"/>
                      </a:moveTo>
                      <a:lnTo>
                        <a:pt x="41910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7" name="Line 127"/>
                <p:cNvSpPr/>
                <p:nvPr/>
              </p:nvSpPr>
              <p:spPr>
                <a:xfrm>
                  <a:off x="3419475" y="4800600"/>
                  <a:ext cx="9525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95300">
                      <a:moveTo>
                        <a:pt x="0" y="0"/>
                      </a:moveTo>
                      <a:lnTo>
                        <a:pt x="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8" name="Line 128"/>
                <p:cNvSpPr/>
                <p:nvPr/>
              </p:nvSpPr>
              <p:spPr>
                <a:xfrm>
                  <a:off x="4257675" y="4800600"/>
                  <a:ext cx="9525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95300">
                      <a:moveTo>
                        <a:pt x="0" y="0"/>
                      </a:moveTo>
                      <a:lnTo>
                        <a:pt x="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9" name="Line 129"/>
                <p:cNvSpPr/>
                <p:nvPr/>
              </p:nvSpPr>
              <p:spPr>
                <a:xfrm>
                  <a:off x="3419475" y="4800600"/>
                  <a:ext cx="8382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" h="495300">
                      <a:moveTo>
                        <a:pt x="0" y="0"/>
                      </a:moveTo>
                      <a:lnTo>
                        <a:pt x="83820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0" name="Line 130"/>
                <p:cNvSpPr/>
                <p:nvPr/>
              </p:nvSpPr>
              <p:spPr>
                <a:xfrm>
                  <a:off x="3419475" y="4800600"/>
                  <a:ext cx="8382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" h="495300">
                      <a:moveTo>
                        <a:pt x="838200" y="0"/>
                      </a:moveTo>
                      <a:lnTo>
                        <a:pt x="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1" name="Line 131"/>
                <p:cNvSpPr/>
                <p:nvPr/>
              </p:nvSpPr>
              <p:spPr>
                <a:xfrm>
                  <a:off x="3419475" y="5295900"/>
                  <a:ext cx="41910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23850">
                      <a:moveTo>
                        <a:pt x="0" y="0"/>
                      </a:moveTo>
                      <a:lnTo>
                        <a:pt x="41910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2" name="Line 132"/>
                <p:cNvSpPr/>
                <p:nvPr/>
              </p:nvSpPr>
              <p:spPr>
                <a:xfrm>
                  <a:off x="3838575" y="5295900"/>
                  <a:ext cx="41910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23850">
                      <a:moveTo>
                        <a:pt x="419100" y="0"/>
                      </a:moveTo>
                      <a:lnTo>
                        <a:pt x="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38" name="Group 138"/>
              <p:cNvGrpSpPr/>
              <p:nvPr/>
            </p:nvGrpSpPr>
            <p:grpSpPr>
              <a:xfrm>
                <a:off x="3362325" y="4419600"/>
                <a:ext cx="952500" cy="1257300"/>
                <a:chOff x="3362325" y="4419600"/>
                <a:chExt cx="952500" cy="1257300"/>
              </a:xfrm>
            </p:grpSpPr>
            <p:sp>
              <p:nvSpPr>
                <p:cNvPr id="134" name="Ellipse 134"/>
                <p:cNvSpPr/>
                <p:nvPr/>
              </p:nvSpPr>
              <p:spPr>
                <a:xfrm>
                  <a:off x="3781425" y="4419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35" name="Ellipse 135"/>
                <p:cNvSpPr/>
                <p:nvPr/>
              </p:nvSpPr>
              <p:spPr>
                <a:xfrm>
                  <a:off x="3362325" y="47434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36" name="Ellipse 136"/>
                <p:cNvSpPr/>
                <p:nvPr/>
              </p:nvSpPr>
              <p:spPr>
                <a:xfrm>
                  <a:off x="4200525" y="47434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37" name="Ellipse 137"/>
                <p:cNvSpPr/>
                <p:nvPr/>
              </p:nvSpPr>
              <p:spPr>
                <a:xfrm>
                  <a:off x="3781425" y="5562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39" name="Ellipse 139"/>
              <p:cNvSpPr/>
              <p:nvPr/>
            </p:nvSpPr>
            <p:spPr>
              <a:xfrm>
                <a:off x="3362325" y="52387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4200525" y="52387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 w="23812">
                <a:solidFill>
                  <a:schemeClr val="accent2"/>
                </a:solidFill>
              </a:ln>
            </p:spPr>
          </p:sp>
          <p:grpSp>
            <p:nvGrpSpPr>
              <p:cNvPr id="143" name="Group 143"/>
              <p:cNvGrpSpPr/>
              <p:nvPr/>
            </p:nvGrpSpPr>
            <p:grpSpPr>
              <a:xfrm>
                <a:off x="2995613" y="5824538"/>
                <a:ext cx="104775" cy="104775"/>
                <a:chOff x="2995613" y="5824538"/>
                <a:chExt cx="104775" cy="104775"/>
              </a:xfrm>
            </p:grpSpPr>
            <p:sp>
              <p:nvSpPr>
                <p:cNvPr id="141" name="Freeform 141"/>
                <p:cNvSpPr/>
                <p:nvPr/>
              </p:nvSpPr>
              <p:spPr>
                <a:xfrm>
                  <a:off x="2995613" y="5824538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104775" y="0"/>
                      </a:moveTo>
                      <a:lnTo>
                        <a:pt x="0" y="104775"/>
                      </a:lnTo>
                    </a:path>
                  </a:pathLst>
                </a:custGeom>
                <a:noFill/>
                <a:ln w="17463">
                  <a:solidFill>
                    <a:srgbClr val="B42318"/>
                  </a:solidFill>
                </a:ln>
              </p:spPr>
            </p:sp>
            <p:sp>
              <p:nvSpPr>
                <p:cNvPr id="142" name="Freeform 142"/>
                <p:cNvSpPr/>
                <p:nvPr/>
              </p:nvSpPr>
              <p:spPr>
                <a:xfrm>
                  <a:off x="2995613" y="5824538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0"/>
                      </a:moveTo>
                      <a:lnTo>
                        <a:pt x="104775" y="104775"/>
                      </a:lnTo>
                    </a:path>
                  </a:pathLst>
                </a:custGeom>
                <a:noFill/>
                <a:ln w="17463">
                  <a:solidFill>
                    <a:srgbClr val="B42318"/>
                  </a:solidFill>
                </a:ln>
              </p:spPr>
            </p:sp>
          </p:grpSp>
          <p:sp>
            <p:nvSpPr>
              <p:cNvPr id="144" name="TextBox 144"/>
              <p:cNvSpPr txBox="1"/>
              <p:nvPr/>
            </p:nvSpPr>
            <p:spPr>
              <a:xfrm>
                <a:off x="3222117" y="57978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不是格</a:t>
                </a: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2956179" y="608076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下层两元无最小上界</a:t>
                </a:r>
              </a:p>
            </p:txBody>
          </p:sp>
        </p:grpSp>
        <p:grpSp>
          <p:nvGrpSpPr>
            <p:cNvPr id="169" name="q2-c"/>
            <p:cNvGrpSpPr/>
            <p:nvPr/>
          </p:nvGrpSpPr>
          <p:grpSpPr>
            <a:xfrm>
              <a:off x="5048250" y="4343400"/>
              <a:ext cx="2095500" cy="2019300"/>
              <a:chOff x="5048250" y="4343400"/>
              <a:chExt cx="2095500" cy="2019300"/>
            </a:xfrm>
          </p:grpSpPr>
          <p:sp>
            <p:nvSpPr>
              <p:cNvPr id="147" name="Rectangle 147"/>
              <p:cNvSpPr/>
              <p:nvPr/>
            </p:nvSpPr>
            <p:spPr>
              <a:xfrm>
                <a:off x="5048250" y="4343400"/>
                <a:ext cx="2095500" cy="2019300"/>
              </a:xfrm>
              <a:prstGeom prst="roundRect">
                <a:avLst>
                  <a:gd name="adj" fmla="val 754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8" name="TextBox 148"/>
              <p:cNvSpPr txBox="1"/>
              <p:nvPr/>
            </p:nvSpPr>
            <p:spPr>
              <a:xfrm>
                <a:off x="5213604" y="446151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grpSp>
            <p:nvGrpSpPr>
              <p:cNvPr id="157" name="Group 157"/>
              <p:cNvGrpSpPr/>
              <p:nvPr/>
            </p:nvGrpSpPr>
            <p:grpSpPr>
              <a:xfrm>
                <a:off x="5657850" y="4476750"/>
                <a:ext cx="876300" cy="1143000"/>
                <a:chOff x="5657850" y="4476750"/>
                <a:chExt cx="876300" cy="1143000"/>
              </a:xfrm>
            </p:grpSpPr>
            <p:sp>
              <p:nvSpPr>
                <p:cNvPr id="149" name="Line 149"/>
                <p:cNvSpPr/>
                <p:nvPr/>
              </p:nvSpPr>
              <p:spPr>
                <a:xfrm>
                  <a:off x="5657850" y="4476750"/>
                  <a:ext cx="43815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323850">
                      <a:moveTo>
                        <a:pt x="438150" y="0"/>
                      </a:moveTo>
                      <a:lnTo>
                        <a:pt x="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0" name="Line 150"/>
                <p:cNvSpPr/>
                <p:nvPr/>
              </p:nvSpPr>
              <p:spPr>
                <a:xfrm>
                  <a:off x="6096000" y="4476750"/>
                  <a:ext cx="43815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323850">
                      <a:moveTo>
                        <a:pt x="0" y="0"/>
                      </a:moveTo>
                      <a:lnTo>
                        <a:pt x="43815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1" name="Line 151"/>
                <p:cNvSpPr/>
                <p:nvPr/>
              </p:nvSpPr>
              <p:spPr>
                <a:xfrm>
                  <a:off x="5657850" y="4800600"/>
                  <a:ext cx="43815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323850">
                      <a:moveTo>
                        <a:pt x="0" y="0"/>
                      </a:moveTo>
                      <a:lnTo>
                        <a:pt x="43815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2" name="Line 152"/>
                <p:cNvSpPr/>
                <p:nvPr/>
              </p:nvSpPr>
              <p:spPr>
                <a:xfrm>
                  <a:off x="6096000" y="4800600"/>
                  <a:ext cx="43815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323850">
                      <a:moveTo>
                        <a:pt x="438150" y="0"/>
                      </a:moveTo>
                      <a:lnTo>
                        <a:pt x="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3" name="Line 153"/>
                <p:cNvSpPr/>
                <p:nvPr/>
              </p:nvSpPr>
              <p:spPr>
                <a:xfrm>
                  <a:off x="5657850" y="5124450"/>
                  <a:ext cx="4381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171450">
                      <a:moveTo>
                        <a:pt x="43815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4" name="Line 154"/>
                <p:cNvSpPr/>
                <p:nvPr/>
              </p:nvSpPr>
              <p:spPr>
                <a:xfrm>
                  <a:off x="6096000" y="5124450"/>
                  <a:ext cx="4381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171450">
                      <a:moveTo>
                        <a:pt x="0" y="0"/>
                      </a:moveTo>
                      <a:lnTo>
                        <a:pt x="438150" y="171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5" name="Line 155"/>
                <p:cNvSpPr/>
                <p:nvPr/>
              </p:nvSpPr>
              <p:spPr>
                <a:xfrm>
                  <a:off x="5657850" y="5295900"/>
                  <a:ext cx="43815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323850">
                      <a:moveTo>
                        <a:pt x="0" y="0"/>
                      </a:moveTo>
                      <a:lnTo>
                        <a:pt x="43815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6" name="Line 156"/>
                <p:cNvSpPr/>
                <p:nvPr/>
              </p:nvSpPr>
              <p:spPr>
                <a:xfrm>
                  <a:off x="6096000" y="5295900"/>
                  <a:ext cx="43815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323850">
                      <a:moveTo>
                        <a:pt x="438150" y="0"/>
                      </a:moveTo>
                      <a:lnTo>
                        <a:pt x="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65" name="Group 165"/>
              <p:cNvGrpSpPr/>
              <p:nvPr/>
            </p:nvGrpSpPr>
            <p:grpSpPr>
              <a:xfrm>
                <a:off x="5600700" y="4419600"/>
                <a:ext cx="990600" cy="1257300"/>
                <a:chOff x="5600700" y="4419600"/>
                <a:chExt cx="990600" cy="1257300"/>
              </a:xfrm>
            </p:grpSpPr>
            <p:sp>
              <p:nvSpPr>
                <p:cNvPr id="158" name="Ellipse 158"/>
                <p:cNvSpPr/>
                <p:nvPr/>
              </p:nvSpPr>
              <p:spPr>
                <a:xfrm>
                  <a:off x="6038850" y="4419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59" name="Ellipse 159"/>
                <p:cNvSpPr/>
                <p:nvPr/>
              </p:nvSpPr>
              <p:spPr>
                <a:xfrm>
                  <a:off x="5600700" y="47434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60" name="Ellipse 160"/>
                <p:cNvSpPr/>
                <p:nvPr/>
              </p:nvSpPr>
              <p:spPr>
                <a:xfrm>
                  <a:off x="6477000" y="47434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61" name="Ellipse 161"/>
                <p:cNvSpPr/>
                <p:nvPr/>
              </p:nvSpPr>
              <p:spPr>
                <a:xfrm>
                  <a:off x="6038850" y="50673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62" name="Ellipse 162"/>
                <p:cNvSpPr/>
                <p:nvPr/>
              </p:nvSpPr>
              <p:spPr>
                <a:xfrm>
                  <a:off x="5600700" y="52387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63" name="Ellipse 163"/>
                <p:cNvSpPr/>
                <p:nvPr/>
              </p:nvSpPr>
              <p:spPr>
                <a:xfrm>
                  <a:off x="6477000" y="52387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64" name="Ellipse 164"/>
                <p:cNvSpPr/>
                <p:nvPr/>
              </p:nvSpPr>
              <p:spPr>
                <a:xfrm>
                  <a:off x="6038850" y="5562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66" name="Freeform 166"/>
              <p:cNvSpPr/>
              <p:nvPr/>
            </p:nvSpPr>
            <p:spPr>
              <a:xfrm>
                <a:off x="5244306" y="5833269"/>
                <a:ext cx="13096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87313">
                    <a:moveTo>
                      <a:pt x="0" y="43656"/>
                    </a:moveTo>
                    <a:lnTo>
                      <a:pt x="43656" y="87313"/>
                    </a:lnTo>
                    <a:lnTo>
                      <a:pt x="130969" y="0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  <p:sp>
            <p:nvSpPr>
              <p:cNvPr id="167" name="TextBox 167"/>
              <p:cNvSpPr txBox="1"/>
              <p:nvPr/>
            </p:nvSpPr>
            <p:spPr>
              <a:xfrm>
                <a:off x="5479542" y="57978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是格</a:t>
                </a:r>
              </a:p>
            </p:txBody>
          </p:sp>
          <p:sp>
            <p:nvSpPr>
              <p:cNvPr id="168" name="TextBox 168"/>
              <p:cNvSpPr txBox="1"/>
              <p:nvPr/>
            </p:nvSpPr>
            <p:spPr>
              <a:xfrm>
                <a:off x="5213604" y="60807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两个菱形上下相接</a:t>
                </a:r>
              </a:p>
            </p:txBody>
          </p:sp>
        </p:grpSp>
        <p:grpSp>
          <p:nvGrpSpPr>
            <p:cNvPr id="193" name="q2-d"/>
            <p:cNvGrpSpPr/>
            <p:nvPr/>
          </p:nvGrpSpPr>
          <p:grpSpPr>
            <a:xfrm>
              <a:off x="7305675" y="4343400"/>
              <a:ext cx="2095500" cy="2019300"/>
              <a:chOff x="7305675" y="4343400"/>
              <a:chExt cx="2095500" cy="2019300"/>
            </a:xfrm>
          </p:grpSpPr>
          <p:sp>
            <p:nvSpPr>
              <p:cNvPr id="170" name="Rectangle 170"/>
              <p:cNvSpPr/>
              <p:nvPr/>
            </p:nvSpPr>
            <p:spPr>
              <a:xfrm>
                <a:off x="7305675" y="4343400"/>
                <a:ext cx="2095500" cy="2019300"/>
              </a:xfrm>
              <a:prstGeom prst="roundRect">
                <a:avLst>
                  <a:gd name="adj" fmla="val 754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471029" y="446151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grpSp>
            <p:nvGrpSpPr>
              <p:cNvPr id="181" name="Group 181"/>
              <p:cNvGrpSpPr/>
              <p:nvPr/>
            </p:nvGrpSpPr>
            <p:grpSpPr>
              <a:xfrm>
                <a:off x="7972425" y="4476750"/>
                <a:ext cx="771525" cy="1143000"/>
                <a:chOff x="7972425" y="4476750"/>
                <a:chExt cx="771525" cy="1143000"/>
              </a:xfrm>
            </p:grpSpPr>
            <p:sp>
              <p:nvSpPr>
                <p:cNvPr id="172" name="Line 172"/>
                <p:cNvSpPr/>
                <p:nvPr/>
              </p:nvSpPr>
              <p:spPr>
                <a:xfrm>
                  <a:off x="7972425" y="4476750"/>
                  <a:ext cx="38100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57175">
                      <a:moveTo>
                        <a:pt x="381000" y="0"/>
                      </a:moveTo>
                      <a:lnTo>
                        <a:pt x="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3" name="Line 173"/>
                <p:cNvSpPr/>
                <p:nvPr/>
              </p:nvSpPr>
              <p:spPr>
                <a:xfrm>
                  <a:off x="8353425" y="4476750"/>
                  <a:ext cx="38100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57175">
                      <a:moveTo>
                        <a:pt x="0" y="0"/>
                      </a:moveTo>
                      <a:lnTo>
                        <a:pt x="38100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4" name="Line 174"/>
                <p:cNvSpPr/>
                <p:nvPr/>
              </p:nvSpPr>
              <p:spPr>
                <a:xfrm>
                  <a:off x="7972425" y="4733925"/>
                  <a:ext cx="38100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57175">
                      <a:moveTo>
                        <a:pt x="0" y="0"/>
                      </a:moveTo>
                      <a:lnTo>
                        <a:pt x="38100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5" name="Line 175"/>
                <p:cNvSpPr/>
                <p:nvPr/>
              </p:nvSpPr>
              <p:spPr>
                <a:xfrm>
                  <a:off x="8353425" y="4733925"/>
                  <a:ext cx="38100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57175">
                      <a:moveTo>
                        <a:pt x="381000" y="0"/>
                      </a:moveTo>
                      <a:lnTo>
                        <a:pt x="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6" name="Line 176"/>
                <p:cNvSpPr/>
                <p:nvPr/>
              </p:nvSpPr>
              <p:spPr>
                <a:xfrm>
                  <a:off x="7972425" y="4733925"/>
                  <a:ext cx="9525" cy="62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28650">
                      <a:moveTo>
                        <a:pt x="0" y="0"/>
                      </a:moveTo>
                      <a:lnTo>
                        <a:pt x="0" y="6286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7" name="Line 177"/>
                <p:cNvSpPr/>
                <p:nvPr/>
              </p:nvSpPr>
              <p:spPr>
                <a:xfrm>
                  <a:off x="8734425" y="4733925"/>
                  <a:ext cx="9525" cy="62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28650">
                      <a:moveTo>
                        <a:pt x="0" y="0"/>
                      </a:moveTo>
                      <a:lnTo>
                        <a:pt x="0" y="6286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8" name="Line 178"/>
                <p:cNvSpPr/>
                <p:nvPr/>
              </p:nvSpPr>
              <p:spPr>
                <a:xfrm>
                  <a:off x="8353425" y="4991100"/>
                  <a:ext cx="9525" cy="62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28650">
                      <a:moveTo>
                        <a:pt x="0" y="0"/>
                      </a:moveTo>
                      <a:lnTo>
                        <a:pt x="0" y="6286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9" name="Line 179"/>
                <p:cNvSpPr/>
                <p:nvPr/>
              </p:nvSpPr>
              <p:spPr>
                <a:xfrm>
                  <a:off x="7972425" y="5362575"/>
                  <a:ext cx="38100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57175">
                      <a:moveTo>
                        <a:pt x="0" y="0"/>
                      </a:moveTo>
                      <a:lnTo>
                        <a:pt x="38100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80" name="Line 180"/>
                <p:cNvSpPr/>
                <p:nvPr/>
              </p:nvSpPr>
              <p:spPr>
                <a:xfrm>
                  <a:off x="8353425" y="5362575"/>
                  <a:ext cx="38100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57175">
                      <a:moveTo>
                        <a:pt x="381000" y="0"/>
                      </a:moveTo>
                      <a:lnTo>
                        <a:pt x="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89" name="Group 189"/>
              <p:cNvGrpSpPr/>
              <p:nvPr/>
            </p:nvGrpSpPr>
            <p:grpSpPr>
              <a:xfrm>
                <a:off x="7915275" y="4419600"/>
                <a:ext cx="876300" cy="1257300"/>
                <a:chOff x="7915275" y="4419600"/>
                <a:chExt cx="876300" cy="1257300"/>
              </a:xfrm>
            </p:grpSpPr>
            <p:sp>
              <p:nvSpPr>
                <p:cNvPr id="182" name="Ellipse 182"/>
                <p:cNvSpPr/>
                <p:nvPr/>
              </p:nvSpPr>
              <p:spPr>
                <a:xfrm>
                  <a:off x="8296275" y="4419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83" name="Ellipse 183"/>
                <p:cNvSpPr/>
                <p:nvPr/>
              </p:nvSpPr>
              <p:spPr>
                <a:xfrm>
                  <a:off x="7915275" y="46767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84" name="Ellipse 184"/>
                <p:cNvSpPr/>
                <p:nvPr/>
              </p:nvSpPr>
              <p:spPr>
                <a:xfrm>
                  <a:off x="8677275" y="46767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85" name="Ellipse 185"/>
                <p:cNvSpPr/>
                <p:nvPr/>
              </p:nvSpPr>
              <p:spPr>
                <a:xfrm>
                  <a:off x="8296275" y="49339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86" name="Ellipse 186"/>
                <p:cNvSpPr/>
                <p:nvPr/>
              </p:nvSpPr>
              <p:spPr>
                <a:xfrm>
                  <a:off x="7915275" y="530542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87" name="Ellipse 187"/>
                <p:cNvSpPr/>
                <p:nvPr/>
              </p:nvSpPr>
              <p:spPr>
                <a:xfrm>
                  <a:off x="8677275" y="530542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88" name="Ellipse 188"/>
                <p:cNvSpPr/>
                <p:nvPr/>
              </p:nvSpPr>
              <p:spPr>
                <a:xfrm>
                  <a:off x="8296275" y="5562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90" name="Freeform 190"/>
              <p:cNvSpPr/>
              <p:nvPr/>
            </p:nvSpPr>
            <p:spPr>
              <a:xfrm>
                <a:off x="7501731" y="5833269"/>
                <a:ext cx="13096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87313">
                    <a:moveTo>
                      <a:pt x="0" y="43656"/>
                    </a:moveTo>
                    <a:lnTo>
                      <a:pt x="43656" y="87313"/>
                    </a:lnTo>
                    <a:lnTo>
                      <a:pt x="130969" y="0"/>
                    </a:lnTo>
                  </a:path>
                </a:pathLst>
              </a:custGeom>
              <a:noFill/>
              <a:ln w="17463">
                <a:solidFill>
                  <a:srgbClr val="0F7A68"/>
                </a:solidFill>
              </a:ln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7736967" y="57978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是格</a:t>
                </a:r>
              </a:p>
            </p:txBody>
          </p:sp>
          <p:sp>
            <p:nvSpPr>
              <p:cNvPr id="192" name="TextBox 192"/>
              <p:cNvSpPr txBox="1"/>
              <p:nvPr/>
            </p:nvSpPr>
            <p:spPr>
              <a:xfrm>
                <a:off x="7471029" y="6080760"/>
                <a:ext cx="12803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 元，确界都存在</a:t>
                </a:r>
              </a:p>
            </p:txBody>
          </p:sp>
        </p:grpSp>
        <p:grpSp>
          <p:nvGrpSpPr>
            <p:cNvPr id="214" name="q2-e"/>
            <p:cNvGrpSpPr/>
            <p:nvPr/>
          </p:nvGrpSpPr>
          <p:grpSpPr>
            <a:xfrm>
              <a:off x="9563100" y="4343400"/>
              <a:ext cx="2095500" cy="2019300"/>
              <a:chOff x="9563100" y="4343400"/>
              <a:chExt cx="2095500" cy="2019300"/>
            </a:xfrm>
          </p:grpSpPr>
          <p:sp>
            <p:nvSpPr>
              <p:cNvPr id="194" name="Rectangle 194"/>
              <p:cNvSpPr/>
              <p:nvPr/>
            </p:nvSpPr>
            <p:spPr>
              <a:xfrm>
                <a:off x="9563100" y="4343400"/>
                <a:ext cx="2095500" cy="2019300"/>
              </a:xfrm>
              <a:prstGeom prst="roundRect">
                <a:avLst>
                  <a:gd name="adj" fmla="val 7547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9728454" y="446151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grpSp>
            <p:nvGrpSpPr>
              <p:cNvPr id="202" name="Group 202"/>
              <p:cNvGrpSpPr/>
              <p:nvPr/>
            </p:nvGrpSpPr>
            <p:grpSpPr>
              <a:xfrm>
                <a:off x="10191750" y="4476750"/>
                <a:ext cx="857250" cy="1143000"/>
                <a:chOff x="10191750" y="4476750"/>
                <a:chExt cx="857250" cy="1143000"/>
              </a:xfrm>
            </p:grpSpPr>
            <p:sp>
              <p:nvSpPr>
                <p:cNvPr id="196" name="Line 196"/>
                <p:cNvSpPr/>
                <p:nvPr/>
              </p:nvSpPr>
              <p:spPr>
                <a:xfrm>
                  <a:off x="10191750" y="4476750"/>
                  <a:ext cx="4191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762000">
                      <a:moveTo>
                        <a:pt x="419100" y="0"/>
                      </a:moveTo>
                      <a:lnTo>
                        <a:pt x="0" y="762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97" name="Line 197"/>
                <p:cNvSpPr/>
                <p:nvPr/>
              </p:nvSpPr>
              <p:spPr>
                <a:xfrm>
                  <a:off x="10610850" y="4476750"/>
                  <a:ext cx="43815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762000">
                      <a:moveTo>
                        <a:pt x="0" y="0"/>
                      </a:moveTo>
                      <a:lnTo>
                        <a:pt x="438150" y="762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98" name="Line 198"/>
                <p:cNvSpPr/>
                <p:nvPr/>
              </p:nvSpPr>
              <p:spPr>
                <a:xfrm>
                  <a:off x="10191750" y="4810125"/>
                  <a:ext cx="41910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428625">
                      <a:moveTo>
                        <a:pt x="419100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99" name="Line 199"/>
                <p:cNvSpPr/>
                <p:nvPr/>
              </p:nvSpPr>
              <p:spPr>
                <a:xfrm>
                  <a:off x="10610850" y="4810125"/>
                  <a:ext cx="4381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428625">
                      <a:moveTo>
                        <a:pt x="0" y="0"/>
                      </a:moveTo>
                      <a:lnTo>
                        <a:pt x="438150" y="4286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00" name="Line 200"/>
                <p:cNvSpPr/>
                <p:nvPr/>
              </p:nvSpPr>
              <p:spPr>
                <a:xfrm>
                  <a:off x="10191750" y="5238750"/>
                  <a:ext cx="4191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81000">
                      <a:moveTo>
                        <a:pt x="0" y="0"/>
                      </a:moveTo>
                      <a:lnTo>
                        <a:pt x="41910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01" name="Line 201"/>
                <p:cNvSpPr/>
                <p:nvPr/>
              </p:nvSpPr>
              <p:spPr>
                <a:xfrm>
                  <a:off x="10610850" y="5238750"/>
                  <a:ext cx="43815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381000">
                      <a:moveTo>
                        <a:pt x="43815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206" name="Group 206"/>
              <p:cNvGrpSpPr/>
              <p:nvPr/>
            </p:nvGrpSpPr>
            <p:grpSpPr>
              <a:xfrm>
                <a:off x="10553700" y="4419600"/>
                <a:ext cx="114300" cy="1257300"/>
                <a:chOff x="10553700" y="4419600"/>
                <a:chExt cx="114300" cy="1257300"/>
              </a:xfrm>
            </p:grpSpPr>
            <p:sp>
              <p:nvSpPr>
                <p:cNvPr id="203" name="Ellipse 203"/>
                <p:cNvSpPr/>
                <p:nvPr/>
              </p:nvSpPr>
              <p:spPr>
                <a:xfrm>
                  <a:off x="10553700" y="4419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04" name="Ellipse 204"/>
                <p:cNvSpPr/>
                <p:nvPr/>
              </p:nvSpPr>
              <p:spPr>
                <a:xfrm>
                  <a:off x="10553700" y="4752975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05" name="Ellipse 205"/>
                <p:cNvSpPr/>
                <p:nvPr/>
              </p:nvSpPr>
              <p:spPr>
                <a:xfrm>
                  <a:off x="10553700" y="5562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207" name="Ellipse 207"/>
              <p:cNvSpPr/>
              <p:nvPr/>
            </p:nvSpPr>
            <p:spPr>
              <a:xfrm>
                <a:off x="10134600" y="51816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208" name="Ellipse 208"/>
              <p:cNvSpPr/>
              <p:nvPr/>
            </p:nvSpPr>
            <p:spPr>
              <a:xfrm>
                <a:off x="10991850" y="51816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 w="23812">
                <a:solidFill>
                  <a:schemeClr val="accent2"/>
                </a:solidFill>
              </a:ln>
            </p:spPr>
          </p:sp>
          <p:grpSp>
            <p:nvGrpSpPr>
              <p:cNvPr id="211" name="Group 211"/>
              <p:cNvGrpSpPr/>
              <p:nvPr/>
            </p:nvGrpSpPr>
            <p:grpSpPr>
              <a:xfrm>
                <a:off x="9767888" y="5824538"/>
                <a:ext cx="104775" cy="104775"/>
                <a:chOff x="9767888" y="5824538"/>
                <a:chExt cx="104775" cy="104775"/>
              </a:xfrm>
            </p:grpSpPr>
            <p:sp>
              <p:nvSpPr>
                <p:cNvPr id="209" name="Freeform 209"/>
                <p:cNvSpPr/>
                <p:nvPr/>
              </p:nvSpPr>
              <p:spPr>
                <a:xfrm>
                  <a:off x="9767888" y="5824538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104775" y="0"/>
                      </a:moveTo>
                      <a:lnTo>
                        <a:pt x="0" y="104775"/>
                      </a:lnTo>
                    </a:path>
                  </a:pathLst>
                </a:custGeom>
                <a:noFill/>
                <a:ln w="17463">
                  <a:solidFill>
                    <a:srgbClr val="B42318"/>
                  </a:solidFill>
                </a:ln>
              </p:spPr>
            </p:sp>
            <p:sp>
              <p:nvSpPr>
                <p:cNvPr id="210" name="Freeform 210"/>
                <p:cNvSpPr/>
                <p:nvPr/>
              </p:nvSpPr>
              <p:spPr>
                <a:xfrm>
                  <a:off x="9767888" y="5824538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0"/>
                      </a:moveTo>
                      <a:lnTo>
                        <a:pt x="104775" y="104775"/>
                      </a:lnTo>
                    </a:path>
                  </a:pathLst>
                </a:custGeom>
                <a:noFill/>
                <a:ln w="17463">
                  <a:solidFill>
                    <a:srgbClr val="B42318"/>
                  </a:solidFill>
                </a:ln>
              </p:spPr>
            </p:sp>
          </p:grpSp>
          <p:sp>
            <p:nvSpPr>
              <p:cNvPr id="212" name="TextBox 212"/>
              <p:cNvSpPr txBox="1"/>
              <p:nvPr/>
            </p:nvSpPr>
            <p:spPr>
              <a:xfrm>
                <a:off x="9994392" y="57978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不是格</a:t>
                </a:r>
              </a:p>
            </p:txBody>
          </p:sp>
          <p:sp>
            <p:nvSpPr>
              <p:cNvPr id="213" name="TextBox 213"/>
              <p:cNvSpPr txBox="1"/>
              <p:nvPr/>
            </p:nvSpPr>
            <p:spPr>
              <a:xfrm>
                <a:off x="9728454" y="60807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两个上界互不可比</a:t>
                </a:r>
              </a:p>
            </p:txBody>
          </p:sp>
        </p:grpSp>
      </p:grpSp>
      <p:grpSp>
        <p:nvGrpSpPr>
          <p:cNvPr id="21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216" name="TextBox 216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217" name="TextBox 21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16068" cy="960501"/>
            <a:chOff x="519684" y="361950"/>
            <a:chExt cx="511606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代数格：只用三条运算律定义格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definition"/>
          <p:cNvGrpSpPr/>
          <p:nvPr/>
        </p:nvGrpSpPr>
        <p:grpSpPr>
          <a:xfrm>
            <a:off x="533400" y="1485900"/>
            <a:ext cx="5448300" cy="4229100"/>
            <a:chOff x="533400" y="1485900"/>
            <a:chExt cx="54483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483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7.2.2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L 是集合，×、⊕ 是 L 上两个二元代数运算，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若对 L 中元素满足下面三条运算律：</a:t>
              </a:r>
            </a:p>
          </p:txBody>
        </p:sp>
        <p:grpSp>
          <p:nvGrpSpPr>
            <p:cNvPr id="19" name="law-comm"/>
            <p:cNvGrpSpPr/>
            <p:nvPr/>
          </p:nvGrpSpPr>
          <p:grpSpPr>
            <a:xfrm>
              <a:off x="914400" y="2667000"/>
              <a:ext cx="4838700" cy="674370"/>
              <a:chOff x="914400" y="2667000"/>
              <a:chExt cx="4838700" cy="67437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14400" y="2667000"/>
                <a:ext cx="48387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98042" y="2911792"/>
                <a:ext cx="931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(1) 交换律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202180" y="2762250"/>
                <a:ext cx="11561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× b = b × 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202180" y="3048000"/>
                <a:ext cx="11561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⊕ b = b ⊕ a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105400" y="2876550"/>
                <a:ext cx="4953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225271" y="2944178"/>
                <a:ext cx="2555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6.1</a:t>
                </a:r>
              </a:p>
            </p:txBody>
          </p:sp>
        </p:grpSp>
        <p:grpSp>
          <p:nvGrpSpPr>
            <p:cNvPr id="26" name="law-assoc"/>
            <p:cNvGrpSpPr/>
            <p:nvPr/>
          </p:nvGrpSpPr>
          <p:grpSpPr>
            <a:xfrm>
              <a:off x="914400" y="3429000"/>
              <a:ext cx="4838700" cy="674370"/>
              <a:chOff x="914400" y="3429000"/>
              <a:chExt cx="4838700" cy="67437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14400" y="3429000"/>
                <a:ext cx="48387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98042" y="3673792"/>
                <a:ext cx="931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(2) 结合律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202180" y="3524250"/>
                <a:ext cx="2286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× (b × c) = (a × b) × c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202180" y="3810000"/>
                <a:ext cx="2286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⊕ (b ⊕ c) = (a ⊕ b) ⊕ c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105400" y="3638550"/>
                <a:ext cx="4953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225271" y="3706178"/>
                <a:ext cx="2555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6.1</a:t>
                </a:r>
              </a:p>
            </p:txBody>
          </p:sp>
        </p:grpSp>
        <p:grpSp>
          <p:nvGrpSpPr>
            <p:cNvPr id="33" name="law-absorb"/>
            <p:cNvGrpSpPr/>
            <p:nvPr/>
          </p:nvGrpSpPr>
          <p:grpSpPr>
            <a:xfrm>
              <a:off x="914400" y="4191000"/>
              <a:ext cx="4838700" cy="674370"/>
              <a:chOff x="914400" y="4191000"/>
              <a:chExt cx="4838700" cy="67437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914400" y="4191000"/>
                <a:ext cx="48387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98042" y="4435792"/>
                <a:ext cx="931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(3) 吸收律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202180" y="4286250"/>
                <a:ext cx="13782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× (a ⊕ b) = a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202180" y="4572000"/>
                <a:ext cx="13782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⊕ (a × b) = a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105400" y="4400550"/>
                <a:ext cx="4953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225271" y="4468178"/>
                <a:ext cx="2555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6.1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906780" y="5038725"/>
              <a:ext cx="3361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则称代数系统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(L, ×, ⊕) 为一个格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8304" y="5375910"/>
              <a:ext cx="4437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注：(L, ×) 与 (L, ⊕) 都满足结合律与交换律，都是交换半群</a:t>
              </a:r>
            </a:p>
          </p:txBody>
        </p:sp>
      </p:grpSp>
      <p:grpSp>
        <p:nvGrpSpPr>
          <p:cNvPr id="68" name="proof"/>
          <p:cNvGrpSpPr/>
          <p:nvPr/>
        </p:nvGrpSpPr>
        <p:grpSpPr>
          <a:xfrm>
            <a:off x="6172200" y="1485900"/>
            <a:ext cx="5486400" cy="4229100"/>
            <a:chOff x="6172200" y="1485900"/>
            <a:chExt cx="5486400" cy="4229100"/>
          </a:xfrm>
        </p:grpSpPr>
        <p:sp>
          <p:nvSpPr>
            <p:cNvPr id="37" name="Rectangle 37"/>
            <p:cNvSpPr/>
            <p:nvPr/>
          </p:nvSpPr>
          <p:spPr>
            <a:xfrm>
              <a:off x="61722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008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379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17842" y="1673542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吸收律 ⇒ 幂等律（不必单列）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572250" y="2247900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0"/>
                  </a:moveTo>
                  <a:lnTo>
                    <a:pt x="0" y="31432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47" name="step-1"/>
            <p:cNvGrpSpPr/>
            <p:nvPr/>
          </p:nvGrpSpPr>
          <p:grpSpPr>
            <a:xfrm>
              <a:off x="6419850" y="2095500"/>
              <a:ext cx="5048250" cy="742950"/>
              <a:chOff x="6419850" y="2095500"/>
              <a:chExt cx="5048250" cy="74295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419850" y="20955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19508" y="2175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832854" y="2175510"/>
                <a:ext cx="12524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吸收律中取 b = a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838950" y="2419350"/>
                <a:ext cx="4629150" cy="419100"/>
              </a:xfrm>
              <a:prstGeom prst="roundRect">
                <a:avLst>
                  <a:gd name="adj" fmla="val 2272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983730" y="2533650"/>
                <a:ext cx="30038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 × (a ⊕ a) = a， a ⊕ (a × a) = a</a:t>
                </a:r>
              </a:p>
            </p:txBody>
          </p:sp>
        </p:grpSp>
        <p:grpSp>
          <p:nvGrpSpPr>
            <p:cNvPr id="56" name="step-2"/>
            <p:cNvGrpSpPr/>
            <p:nvPr/>
          </p:nvGrpSpPr>
          <p:grpSpPr>
            <a:xfrm>
              <a:off x="6419850" y="2990850"/>
              <a:ext cx="5048250" cy="1085850"/>
              <a:chOff x="6419850" y="2990850"/>
              <a:chExt cx="5048250" cy="1085850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6419850" y="29908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519508" y="30708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832854" y="3070860"/>
                <a:ext cx="8946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 a × a = a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6838950" y="3314700"/>
                <a:ext cx="4629150" cy="7620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983730" y="3438525"/>
                <a:ext cx="2286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× a = a × (a ⊕ (a × a))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816960" y="3487102"/>
                <a:ext cx="15231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第二个 a 用①第二式代换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07580" y="3781425"/>
                <a:ext cx="31207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= a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021919" y="3830002"/>
                <a:ext cx="13181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吸收律，取 b = a × a</a:t>
                </a:r>
              </a:p>
            </p:txBody>
          </p:sp>
        </p:grpSp>
        <p:grpSp>
          <p:nvGrpSpPr>
            <p:cNvPr id="63" name="step-3"/>
            <p:cNvGrpSpPr/>
            <p:nvPr/>
          </p:nvGrpSpPr>
          <p:grpSpPr>
            <a:xfrm>
              <a:off x="6419850" y="4229100"/>
              <a:ext cx="5048250" cy="819150"/>
              <a:chOff x="6419850" y="4229100"/>
              <a:chExt cx="5048250" cy="819150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6419850" y="42291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519508" y="43091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832854" y="4309110"/>
                <a:ext cx="121771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同理证 a ⊕ a = a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6838950" y="4552950"/>
                <a:ext cx="4629150" cy="495300"/>
              </a:xfrm>
              <a:prstGeom prst="roundRect">
                <a:avLst>
                  <a:gd name="adj" fmla="val 1923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983730" y="4705350"/>
                <a:ext cx="26302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⊕ a = a ⊕ (a × (a ⊕ a)) = a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241013" y="4753928"/>
                <a:ext cx="10990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①第一式 + 吸收律</a:t>
                </a:r>
              </a:p>
            </p:txBody>
          </p:sp>
        </p:grpSp>
        <p:grpSp>
          <p:nvGrpSpPr>
            <p:cNvPr id="67" name="step-4"/>
            <p:cNvGrpSpPr/>
            <p:nvPr/>
          </p:nvGrpSpPr>
          <p:grpSpPr>
            <a:xfrm>
              <a:off x="6419850" y="5238750"/>
              <a:ext cx="3532752" cy="337375"/>
              <a:chOff x="6419850" y="5238750"/>
              <a:chExt cx="3532752" cy="337375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6419850" y="5238750"/>
                <a:ext cx="304800" cy="3048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22244" y="5355431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6832092" y="5312092"/>
                <a:ext cx="3120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×、⊕ 自动满足幂等律（6.1 幂等律）∎</a:t>
                </a:r>
              </a:p>
            </p:txBody>
          </p:sp>
        </p:grpSp>
      </p:grpSp>
      <p:grpSp>
        <p:nvGrpSpPr>
          <p:cNvPr id="7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74698" y="5997720"/>
              <a:ext cx="209388" cy="215583"/>
              <a:chOff x="774698" y="5997720"/>
              <a:chExt cx="209388" cy="21558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38200" y="60674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3600" y="5997720"/>
                <a:ext cx="120486" cy="120505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120505">
                    <a:moveTo>
                      <a:pt x="0" y="31605"/>
                    </a:moveTo>
                    <a:lnTo>
                      <a:pt x="5880" y="24798"/>
                    </a:lnTo>
                    <a:cubicBezTo>
                      <a:pt x="30682" y="0"/>
                      <a:pt x="70890" y="3"/>
                      <a:pt x="95688" y="24804"/>
                    </a:cubicBezTo>
                    <a:cubicBezTo>
                      <a:pt x="120486" y="49606"/>
                      <a:pt x="120483" y="89814"/>
                      <a:pt x="95682" y="114612"/>
                    </a:cubicBezTo>
                    <a:lnTo>
                      <a:pt x="88900" y="12050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4698" y="6092825"/>
                <a:ext cx="114302" cy="120478"/>
              </a:xfrm>
              <a:custGeom>
                <a:avLst/>
                <a:gdLst/>
                <a:ahLst/>
                <a:cxnLst/>
                <a:rect l="l" t="t" r="r" b="b"/>
                <a:pathLst>
                  <a:path w="114302" h="120478">
                    <a:moveTo>
                      <a:pt x="114302" y="88900"/>
                    </a:moveTo>
                    <a:lnTo>
                      <a:pt x="109260" y="95682"/>
                    </a:lnTo>
                    <a:cubicBezTo>
                      <a:pt x="84184" y="120478"/>
                      <a:pt x="43823" y="120478"/>
                      <a:pt x="18747" y="95682"/>
                    </a:cubicBezTo>
                    <a:cubicBezTo>
                      <a:pt x="6751" y="83820"/>
                      <a:pt x="0" y="67651"/>
                      <a:pt x="0" y="50781"/>
                    </a:cubicBezTo>
                    <a:cubicBezTo>
                      <a:pt x="0" y="33911"/>
                      <a:pt x="6751" y="17742"/>
                      <a:pt x="18747" y="5880"/>
                    </a:cubicBezTo>
                    <a:lnTo>
                      <a:pt x="25402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4618" y="6003608"/>
              <a:ext cx="69914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代数格 = 两个运算 +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交换、结合、吸收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；幂等律是吸收律送的“赠品”。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6" name="TextBox 76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280093" cy="960501"/>
            <a:chOff x="519684" y="361950"/>
            <a:chExt cx="628009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800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7.2.1：偏序格与代数格是一回事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theorem"/>
          <p:cNvGrpSpPr/>
          <p:nvPr/>
        </p:nvGrpSpPr>
        <p:grpSpPr>
          <a:xfrm>
            <a:off x="533400" y="1485900"/>
            <a:ext cx="11125200" cy="762000"/>
            <a:chOff x="533400" y="1485900"/>
            <a:chExt cx="11125200" cy="762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76200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7335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7945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7880" y="1781175"/>
              <a:ext cx="74260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 7.2.1 的格与定义 7.2.2 的格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等价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：一个偏序格必是一个代数格；反之亦然。</a:t>
              </a:r>
            </a:p>
          </p:txBody>
        </p:sp>
      </p:grpSp>
      <p:grpSp>
        <p:nvGrpSpPr>
          <p:cNvPr id="24" name="bridge"/>
          <p:cNvGrpSpPr/>
          <p:nvPr/>
        </p:nvGrpSpPr>
        <p:grpSpPr>
          <a:xfrm>
            <a:off x="533400" y="2400300"/>
            <a:ext cx="5372100" cy="1447800"/>
            <a:chOff x="533400" y="2400300"/>
            <a:chExt cx="5372100" cy="1447800"/>
          </a:xfrm>
        </p:grpSpPr>
        <p:sp>
          <p:nvSpPr>
            <p:cNvPr id="13" name="Rectangle 13"/>
            <p:cNvSpPr/>
            <p:nvPr/>
          </p:nvSpPr>
          <p:spPr>
            <a:xfrm>
              <a:off x="533400" y="2400300"/>
              <a:ext cx="5372100" cy="1447800"/>
            </a:xfrm>
            <a:prstGeom prst="roundRect">
              <a:avLst>
                <a:gd name="adj" fmla="val 1052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3900" y="2552700"/>
              <a:ext cx="1866900" cy="476250"/>
            </a:xfrm>
            <a:prstGeom prst="roundRect">
              <a:avLst>
                <a:gd name="adj" fmla="val 24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1588" y="2695575"/>
              <a:ext cx="137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偏序格 (L, ≤)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48100" y="2552700"/>
              <a:ext cx="1866900" cy="476250"/>
            </a:xfrm>
            <a:prstGeom prst="roundRect">
              <a:avLst>
                <a:gd name="adj" fmla="val 24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38968" y="2695575"/>
              <a:ext cx="1685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代数格 (L, ×, ⊕)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686050" y="270510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657600" y="2638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781300" y="289560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686050" y="28289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0"/>
                  </a:moveTo>
                  <a:lnTo>
                    <a:pt x="0" y="66675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904" y="3223260"/>
              <a:ext cx="3753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偏序 → 运算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：a × b = inf{a, b}，a ⊕ b = sup{a, b}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3528060"/>
              <a:ext cx="2573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运算 → 偏序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：规定 a ≤ b ⇔ a × b = a</a:t>
              </a:r>
            </a:p>
          </p:txBody>
        </p:sp>
      </p:grpSp>
      <p:grpSp>
        <p:nvGrpSpPr>
          <p:cNvPr id="32" name="examples"/>
          <p:cNvGrpSpPr/>
          <p:nvPr/>
        </p:nvGrpSpPr>
        <p:grpSpPr>
          <a:xfrm>
            <a:off x="533400" y="3962400"/>
            <a:ext cx="5372100" cy="1752600"/>
            <a:chOff x="533400" y="3962400"/>
            <a:chExt cx="5372100" cy="1752600"/>
          </a:xfrm>
        </p:grpSpPr>
        <p:sp>
          <p:nvSpPr>
            <p:cNvPr id="25" name="Rectangle 25"/>
            <p:cNvSpPr/>
            <p:nvPr/>
          </p:nvSpPr>
          <p:spPr>
            <a:xfrm>
              <a:off x="533400" y="3962400"/>
              <a:ext cx="5372100" cy="17526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" y="409575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2860" y="4156710"/>
              <a:ext cx="1250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7.2.5–7.2.7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79904" y="41662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同一个格的两种写法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142" y="4483418"/>
              <a:ext cx="3365563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(ρ(S), ∩, ∪)：A ⊆ B ⇔ A ∩ B = A ⇔ A ∪ B = B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(Z₊, ×, ⊕)：a D b ⇔ a × b = a ⇔ a ⊕ b = 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5033010"/>
              <a:ext cx="4333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× 为最高公因，⊕ 为最小公倍；如 4 | 12：gcd = 4，lcm = 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142" y="5359718"/>
              <a:ext cx="38816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(Sₙ, ×, ⊕)（最高公因、最小公倍）也是代数格</a:t>
              </a:r>
            </a:p>
          </p:txBody>
        </p:sp>
      </p:grpSp>
      <p:grpSp>
        <p:nvGrpSpPr>
          <p:cNvPr id="49" name="proof-i"/>
          <p:cNvGrpSpPr/>
          <p:nvPr/>
        </p:nvGrpSpPr>
        <p:grpSpPr>
          <a:xfrm>
            <a:off x="6096000" y="2400300"/>
            <a:ext cx="5562600" cy="3314700"/>
            <a:chOff x="6096000" y="2400300"/>
            <a:chExt cx="5562600" cy="3314700"/>
          </a:xfrm>
        </p:grpSpPr>
        <p:sp>
          <p:nvSpPr>
            <p:cNvPr id="33" name="Rectangle 33"/>
            <p:cNvSpPr/>
            <p:nvPr/>
          </p:nvSpPr>
          <p:spPr>
            <a:xfrm>
              <a:off x="6096000" y="2400300"/>
              <a:ext cx="5562600" cy="3314700"/>
            </a:xfrm>
            <a:prstGeom prst="roundRect">
              <a:avLst>
                <a:gd name="adj" fmla="val 459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24600" y="2533650"/>
              <a:ext cx="8382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78528" y="2594610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 i)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70242" y="2587942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偏序格 ⇒ 代数格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18504" y="2956560"/>
              <a:ext cx="36774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inf、sup 存在且唯一 ⇒ ×、⊕ 是 L 上的二元代数运算；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交换、结合、吸收律都可验证，这里只证一条：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24600" y="3429000"/>
              <a:ext cx="5105400" cy="3810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51196" y="3524250"/>
              <a:ext cx="2052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要证：a × (a ⊕ b) = a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353175" y="39528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0851" y="40205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8742" y="3988118"/>
              <a:ext cx="28169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× (a ⊕ b) 是 a 与 a ⊕ b 的最大下界</a:t>
              </a:r>
              <a:br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⇒ a × (a ⊕ b) ≤ 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353175" y="45815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30851" y="46491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98742" y="4616768"/>
              <a:ext cx="269690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≤ a 且 a ≤ a ⊕ b，a 是二者的下界</a:t>
              </a:r>
              <a:br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⇒ a ≤ a × (a ⊕ b)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353175" y="5229225"/>
              <a:ext cx="247650" cy="24765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30851" y="52968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8742" y="5264468"/>
              <a:ext cx="23921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反对称性 ⇒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× (a ⊕ b) = a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∎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62000" y="6003925"/>
              <a:ext cx="228599" cy="203200"/>
              <a:chOff x="762000" y="6003925"/>
              <a:chExt cx="228599" cy="2032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62000" y="6169024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228599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62000" y="600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38100" y="76200"/>
                    </a:moveTo>
                    <a:lnTo>
                      <a:pt x="0" y="38100"/>
                    </a:lnTo>
                    <a:lnTo>
                      <a:pt x="381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62000" y="6042025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52499" y="6130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134618" y="6003608"/>
              <a:ext cx="5941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同一个格，两种语言：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≤ 说“谁在下面”，×、⊕ 说“怎么算”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8" name="TextBox 58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828015" cy="960501"/>
            <a:chOff x="519684" y="361950"/>
            <a:chExt cx="482801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280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证明（续）：代数格 ⇒ 偏序格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setup"/>
          <p:cNvGrpSpPr/>
          <p:nvPr/>
        </p:nvGrpSpPr>
        <p:grpSpPr>
          <a:xfrm>
            <a:off x="533400" y="1485900"/>
            <a:ext cx="11125200" cy="533400"/>
            <a:chOff x="533400" y="1485900"/>
            <a:chExt cx="11125200" cy="533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5334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4380" y="1657350"/>
              <a:ext cx="7730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设 (L, ×, ⊕) 是代数格，定义关系 </a:t>
              </a:r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≤ b ⇔ a × b = a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，分三步证明 (L, ≤) 是偏序格。</a:t>
              </a:r>
            </a:p>
          </p:txBody>
        </p:sp>
      </p:grpSp>
      <p:grpSp>
        <p:nvGrpSpPr>
          <p:cNvPr id="20" name="step-order"/>
          <p:cNvGrpSpPr/>
          <p:nvPr/>
        </p:nvGrpSpPr>
        <p:grpSpPr>
          <a:xfrm>
            <a:off x="533400" y="2171700"/>
            <a:ext cx="3581400" cy="3543300"/>
            <a:chOff x="533400" y="2171700"/>
            <a:chExt cx="3581400" cy="3543300"/>
          </a:xfrm>
        </p:grpSpPr>
        <p:sp>
          <p:nvSpPr>
            <p:cNvPr id="10" name="Rectangle 10"/>
            <p:cNvSpPr/>
            <p:nvPr/>
          </p:nvSpPr>
          <p:spPr>
            <a:xfrm>
              <a:off x="533400" y="2171700"/>
              <a:ext cx="3581400" cy="3543300"/>
            </a:xfrm>
            <a:prstGeom prst="roundRect">
              <a:avLst>
                <a:gd name="adj" fmla="val 430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04850" y="23050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508" y="2385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362200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≤ 是偏序关系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7804" y="27851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自反性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042" y="3016568"/>
              <a:ext cx="223399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× a = a × (a ⊕ (a × a)) = a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⇒ a ≤ 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7804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反对称性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042" y="3911918"/>
              <a:ext cx="2679763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≤ b，b ≤ a ⇒ a × b = a，b × a = b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交换律 a × b = b × a ⇒ a = 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7804" y="4575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传递性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7042" y="4807268"/>
              <a:ext cx="2679763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≤ b，b ≤ c ⇒ a × b = a，b × c = b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× c = (a × b) × c = a × (b × c)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× b = a ⇒ a ≤ c</a:t>
              </a:r>
            </a:p>
          </p:txBody>
        </p:sp>
      </p:grpSp>
      <p:grpSp>
        <p:nvGrpSpPr>
          <p:cNvPr id="31" name="step-translate"/>
          <p:cNvGrpSpPr/>
          <p:nvPr/>
        </p:nvGrpSpPr>
        <p:grpSpPr>
          <a:xfrm>
            <a:off x="4267200" y="2171700"/>
            <a:ext cx="3657600" cy="3543300"/>
            <a:chOff x="4267200" y="2171700"/>
            <a:chExt cx="3657600" cy="3543300"/>
          </a:xfrm>
        </p:grpSpPr>
        <p:sp>
          <p:nvSpPr>
            <p:cNvPr id="21" name="Rectangle 21"/>
            <p:cNvSpPr/>
            <p:nvPr/>
          </p:nvSpPr>
          <p:spPr>
            <a:xfrm>
              <a:off x="4267200" y="2171700"/>
              <a:ext cx="3657600" cy="3543300"/>
            </a:xfrm>
            <a:prstGeom prst="roundRect">
              <a:avLst>
                <a:gd name="adj" fmla="val 430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438650" y="23050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38308" y="2385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31080" y="2362200"/>
              <a:ext cx="1934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× b = a ⇔ a ⊕ b = 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1604" y="27851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⇒ 方向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0842" y="3016568"/>
              <a:ext cx="1907286" cy="740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a × b = a，则</a:t>
              </a:r>
            </a:p>
            <a:p>
              <a:pPr algn="l">
                <a:lnSpc>
                  <a:spcPts val="1800"/>
                </a:lnSpc>
                <a:spcBef>
                  <a:spcPts val="150"/>
                </a:spcBef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⊕ b = (a × b) ⊕ b = b</a:t>
              </a:r>
            </a:p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交换律 + 吸收律 b ⊕ (b × a) = 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51604" y="39090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⇐ 方向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50842" y="4140518"/>
              <a:ext cx="1753933" cy="740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a ⊕ b = b，则</a:t>
              </a:r>
            </a:p>
            <a:p>
              <a:pPr algn="l">
                <a:lnSpc>
                  <a:spcPts val="1800"/>
                </a:lnSpc>
                <a:spcBef>
                  <a:spcPts val="150"/>
                </a:spcBef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× b = a × (a ⊕ b) = a</a:t>
              </a:r>
            </a:p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吸收律 a × (a ⊕ b) =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19600" y="5010150"/>
              <a:ext cx="3352800" cy="552450"/>
            </a:xfrm>
            <a:prstGeom prst="roundRect">
              <a:avLst>
                <a:gd name="adj" fmla="val 2069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01264" y="5207318"/>
              <a:ext cx="2389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 ≤ b ⇔ a × b = a ⇔ a ⊕ b = b</a:t>
              </a:r>
            </a:p>
          </p:txBody>
        </p:sp>
      </p:grpSp>
      <p:grpSp>
        <p:nvGrpSpPr>
          <p:cNvPr id="42" name="step-sup"/>
          <p:cNvGrpSpPr/>
          <p:nvPr/>
        </p:nvGrpSpPr>
        <p:grpSpPr>
          <a:xfrm>
            <a:off x="8077200" y="2171700"/>
            <a:ext cx="3581400" cy="3543300"/>
            <a:chOff x="8077200" y="2171700"/>
            <a:chExt cx="3581400" cy="3543300"/>
          </a:xfrm>
        </p:grpSpPr>
        <p:sp>
          <p:nvSpPr>
            <p:cNvPr id="32" name="Rectangle 32"/>
            <p:cNvSpPr/>
            <p:nvPr/>
          </p:nvSpPr>
          <p:spPr>
            <a:xfrm>
              <a:off x="8077200" y="2171700"/>
              <a:ext cx="3581400" cy="3543300"/>
            </a:xfrm>
            <a:prstGeom prst="roundRect">
              <a:avLst>
                <a:gd name="adj" fmla="val 430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248650" y="23050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48308" y="2385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41080" y="2362200"/>
              <a:ext cx="1732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sup{a, b} = a ⊕ 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61604" y="2785110"/>
              <a:ext cx="929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⊕ b 是上界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60842" y="3016568"/>
              <a:ext cx="249974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× (a ⊕ b) = a，b × (a ⊕ b) = b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⇒ a ≤ a ⊕ b，b ≤ a ⊕ 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1604" y="3680460"/>
              <a:ext cx="1413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⊕ b 是最小的上界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0842" y="3911918"/>
              <a:ext cx="290264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设 a ≤ c，b ≤ c ⇒ a ⊕ c = c，b ⊕ c = c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 ⊕ b) ⊕ c = a ⊕ (b ⊕ c)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⊕ c = c ⇒ a ⊕ b ≤ c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229600" y="4914900"/>
              <a:ext cx="3276600" cy="647700"/>
            </a:xfrm>
            <a:prstGeom prst="roundRect">
              <a:avLst>
                <a:gd name="adj" fmla="val 1764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14004" y="5052060"/>
              <a:ext cx="17114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同理 inf{a, b} = a × b，</a:t>
              </a:r>
              <a:br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所以 (L, ≤) 是偏序格 ∎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134618" y="6003608"/>
              <a:ext cx="71963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关键工具是第 2 步：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≤ b ⇔ a × b = a ⇔ a ⊕ b = b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——序与运算随时互译。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389120" cy="960501"/>
            <a:chOff x="519684" y="361950"/>
            <a:chExt cx="438912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子格：偏序子格与代数子格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def-poset-sub"/>
          <p:cNvGrpSpPr/>
          <p:nvPr/>
        </p:nvGrpSpPr>
        <p:grpSpPr>
          <a:xfrm>
            <a:off x="533400" y="1485900"/>
            <a:ext cx="6134100" cy="1371600"/>
            <a:chOff x="533400" y="1485900"/>
            <a:chExt cx="6134100" cy="13716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134100" cy="137160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4842" y="1680210"/>
              <a:ext cx="945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7.2.1′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1673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偏序子格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45018"/>
              <a:ext cx="339428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设 (L, ≤) 是格，S ⊆ L，如果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(S, ≤) 是格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则称 (S, ≤) 是格 (L, ≤) 的子格。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例：(S₆, D) 是 (S₂₄, D) 的子格（右图）</a:t>
              </a:r>
            </a:p>
          </p:txBody>
        </p:sp>
      </p:grpSp>
      <p:grpSp>
        <p:nvGrpSpPr>
          <p:cNvPr id="20" name="def-alg-sub"/>
          <p:cNvGrpSpPr/>
          <p:nvPr/>
        </p:nvGrpSpPr>
        <p:grpSpPr>
          <a:xfrm>
            <a:off x="533400" y="2971800"/>
            <a:ext cx="6134100" cy="1714500"/>
            <a:chOff x="533400" y="2971800"/>
            <a:chExt cx="6134100" cy="1714500"/>
          </a:xfrm>
        </p:grpSpPr>
        <p:sp>
          <p:nvSpPr>
            <p:cNvPr id="14" name="Rectangle 14"/>
            <p:cNvSpPr/>
            <p:nvPr/>
          </p:nvSpPr>
          <p:spPr>
            <a:xfrm>
              <a:off x="533400" y="2971800"/>
              <a:ext cx="6134100" cy="1714500"/>
            </a:xfrm>
            <a:prstGeom prst="roundRect">
              <a:avLst>
                <a:gd name="adj" fmla="val 888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5800" y="3124200"/>
              <a:ext cx="47625" cy="1409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4400" y="31051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4842" y="3166110"/>
              <a:ext cx="945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7.2.2′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88642" y="31594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代数子格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542" y="3530918"/>
              <a:ext cx="408179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(L, ×, ⊕) 是代数格，S ⊆ L，(S, ×, ⊕) 称为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(L, ×, ⊕) 的子格，当且仅当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 在运算 ×、⊕ 下封闭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：是子格 ⇔ S ⊆ L 且 (S, ×, ⊕) 是一个格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例：(Sₙ, ×, ⊕) 是 (I₊, ×, ⊕) 的代数子格</a:t>
              </a:r>
            </a:p>
          </p:txBody>
        </p:sp>
      </p:grpSp>
      <p:grpSp>
        <p:nvGrpSpPr>
          <p:cNvPr id="31" name="relation"/>
          <p:cNvGrpSpPr/>
          <p:nvPr/>
        </p:nvGrpSpPr>
        <p:grpSpPr>
          <a:xfrm>
            <a:off x="533400" y="4800600"/>
            <a:ext cx="6134100" cy="914400"/>
            <a:chOff x="533400" y="4800600"/>
            <a:chExt cx="6134100" cy="914400"/>
          </a:xfrm>
        </p:grpSpPr>
        <p:sp>
          <p:nvSpPr>
            <p:cNvPr id="21" name="Rectangle 21"/>
            <p:cNvSpPr/>
            <p:nvPr/>
          </p:nvSpPr>
          <p:spPr>
            <a:xfrm>
              <a:off x="533400" y="4800600"/>
              <a:ext cx="6134100" cy="914400"/>
            </a:xfrm>
            <a:prstGeom prst="roundRect">
              <a:avLst>
                <a:gd name="adj" fmla="val 1666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3900" y="49339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1060" y="4994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41704" y="5004435"/>
              <a:ext cx="2476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(L, ≤) 与 (L, ×, ⊕) 等价，S ⊆ L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67556" y="53951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3742" y="5359718"/>
              <a:ext cx="1681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代数子格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⇒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偏序子格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3290888" y="5386388"/>
              <a:ext cx="104775" cy="104775"/>
              <a:chOff x="3290888" y="5386388"/>
              <a:chExt cx="104775" cy="10477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290888" y="538638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290888" y="538638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498342" y="535971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偏序子格 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不一定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是代数子格</a:t>
              </a:r>
            </a:p>
          </p:txBody>
        </p:sp>
      </p:grpSp>
      <p:grpSp>
        <p:nvGrpSpPr>
          <p:cNvPr id="63" name="s24-figure"/>
          <p:cNvGrpSpPr/>
          <p:nvPr/>
        </p:nvGrpSpPr>
        <p:grpSpPr>
          <a:xfrm>
            <a:off x="6819900" y="1485900"/>
            <a:ext cx="4838700" cy="4229100"/>
            <a:chOff x="6819900" y="1485900"/>
            <a:chExt cx="4838700" cy="4229100"/>
          </a:xfrm>
        </p:grpSpPr>
        <p:sp>
          <p:nvSpPr>
            <p:cNvPr id="32" name="Rectangle 32"/>
            <p:cNvSpPr/>
            <p:nvPr/>
          </p:nvSpPr>
          <p:spPr>
            <a:xfrm>
              <a:off x="6819900" y="1485900"/>
              <a:ext cx="48387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41642" y="1702118"/>
              <a:ext cx="2484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(S₆, D) 是 (S₂₄, D) 的子格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42404" y="1985010"/>
              <a:ext cx="2632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S₂₄ = {1, 2, 3, 4, 6, 8, 12, 24}</a:t>
              </a:r>
            </a:p>
          </p:txBody>
        </p:sp>
        <p:grpSp>
          <p:nvGrpSpPr>
            <p:cNvPr id="60" name="hasse-s24-big"/>
            <p:cNvGrpSpPr/>
            <p:nvPr/>
          </p:nvGrpSpPr>
          <p:grpSpPr>
            <a:xfrm>
              <a:off x="8162515" y="2381250"/>
              <a:ext cx="2068478" cy="2960370"/>
              <a:chOff x="8162515" y="2381250"/>
              <a:chExt cx="2068478" cy="2960370"/>
            </a:xfrm>
          </p:grpSpPr>
          <p:sp>
            <p:nvSpPr>
              <p:cNvPr id="35" name="Line 35"/>
              <p:cNvSpPr/>
              <p:nvPr/>
            </p:nvSpPr>
            <p:spPr>
              <a:xfrm>
                <a:off x="8477250" y="285750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15240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9810750" y="2476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7620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8477250" y="3238500"/>
                <a:ext cx="1333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381000">
                    <a:moveTo>
                      <a:pt x="0" y="381000"/>
                    </a:moveTo>
                    <a:lnTo>
                      <a:pt x="13335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8477250" y="2476500"/>
                <a:ext cx="1333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381000">
                    <a:moveTo>
                      <a:pt x="0" y="381000"/>
                    </a:moveTo>
                    <a:lnTo>
                      <a:pt x="13335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8477250" y="4381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7620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9810750" y="4000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7620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8477250" y="4762500"/>
                <a:ext cx="1333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381000">
                    <a:moveTo>
                      <a:pt x="0" y="381000"/>
                    </a:moveTo>
                    <a:lnTo>
                      <a:pt x="13335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8477250" y="4000500"/>
                <a:ext cx="1333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381000">
                    <a:moveTo>
                      <a:pt x="0" y="381000"/>
                    </a:moveTo>
                    <a:lnTo>
                      <a:pt x="13335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9810750" y="3238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7620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8401050" y="3543300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8401050" y="2781300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9734550" y="3162300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9734550" y="2400300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8391525" y="5057775"/>
                <a:ext cx="171450" cy="1714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8391525" y="4295775"/>
                <a:ext cx="171450" cy="1714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725025" y="4676775"/>
                <a:ext cx="171450" cy="1714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725025" y="3914775"/>
                <a:ext cx="171450" cy="1714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162515" y="50482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162515" y="42862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8069" y="3524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168069" y="2762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993630" y="46672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993630" y="39052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993630" y="31432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993630" y="23812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24</a:t>
                </a:r>
              </a:p>
            </p:txBody>
          </p:sp>
        </p:grpSp>
        <p:sp>
          <p:nvSpPr>
            <p:cNvPr id="61" name="Ellipse 61"/>
            <p:cNvSpPr/>
            <p:nvPr/>
          </p:nvSpPr>
          <p:spPr>
            <a:xfrm>
              <a:off x="7058025" y="5391150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71004" y="5385435"/>
              <a:ext cx="3227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S₆ = {1, 2, 3, 6}：gcd、lcm 仍落在 S₆ 内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50900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9799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6118225"/>
                <a:ext cx="1397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57150">
                    <a:moveTo>
                      <a:pt x="0" y="57150"/>
                    </a:moveTo>
                    <a:lnTo>
                      <a:pt x="69850" y="0"/>
                    </a:lnTo>
                    <a:lnTo>
                      <a:pt x="139700" y="5715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6300" y="60420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134618" y="6003608"/>
              <a:ext cx="71447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代数子格要求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用大格的 ×、⊕ 算出来仍在 S 里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，比“S 自己是格”更严格。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3" name="TextBox 73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3298698" cy="960501"/>
            <a:chOff x="519684" y="361950"/>
            <a:chExt cx="329869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例题精讲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例题精讲：判断子格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7" name="example-cube"/>
          <p:cNvGrpSpPr/>
          <p:nvPr/>
        </p:nvGrpSpPr>
        <p:grpSpPr>
          <a:xfrm>
            <a:off x="533400" y="1485900"/>
            <a:ext cx="5486400" cy="4229100"/>
            <a:chOff x="533400" y="1485900"/>
            <a:chExt cx="54864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5811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643" y="16421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4742" y="1635442"/>
              <a:ext cx="2753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 = {a₁, …, a₈} 是立方体形的格</a:t>
              </a:r>
            </a:p>
          </p:txBody>
        </p:sp>
        <p:grpSp>
          <p:nvGrpSpPr>
            <p:cNvPr id="52" name="sub-s1"/>
            <p:cNvGrpSpPr/>
            <p:nvPr/>
          </p:nvGrpSpPr>
          <p:grpSpPr>
            <a:xfrm>
              <a:off x="685800" y="1943100"/>
              <a:ext cx="2514600" cy="3676650"/>
              <a:chOff x="685800" y="1943100"/>
              <a:chExt cx="2514600" cy="36766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685800" y="1943100"/>
                <a:ext cx="2514600" cy="3676650"/>
              </a:xfrm>
              <a:prstGeom prst="roundRect">
                <a:avLst>
                  <a:gd name="adj" fmla="val 530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333500" y="2286000"/>
                <a:ext cx="1228725" cy="1333500"/>
                <a:chOff x="1333500" y="2286000"/>
                <a:chExt cx="1228725" cy="1333500"/>
              </a:xfrm>
            </p:grpSpPr>
            <p:sp>
              <p:nvSpPr>
                <p:cNvPr id="12" name="Line 12"/>
                <p:cNvSpPr/>
                <p:nvPr/>
              </p:nvSpPr>
              <p:spPr>
                <a:xfrm>
                  <a:off x="1943100" y="2286000"/>
                  <a:ext cx="9525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0050">
                      <a:moveTo>
                        <a:pt x="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Line 13"/>
                <p:cNvSpPr/>
                <p:nvPr/>
              </p:nvSpPr>
              <p:spPr>
                <a:xfrm>
                  <a:off x="1333500" y="2686050"/>
                  <a:ext cx="6096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533400">
                      <a:moveTo>
                        <a:pt x="6096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1943100" y="2686050"/>
                  <a:ext cx="6096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533400">
                      <a:moveTo>
                        <a:pt x="0" y="0"/>
                      </a:moveTo>
                      <a:lnTo>
                        <a:pt x="60960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" name="Line 15"/>
                <p:cNvSpPr/>
                <p:nvPr/>
              </p:nvSpPr>
              <p:spPr>
                <a:xfrm>
                  <a:off x="1333500" y="2686050"/>
                  <a:ext cx="9525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3400">
                      <a:moveTo>
                        <a:pt x="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2552700" y="2686050"/>
                  <a:ext cx="9525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3400">
                      <a:moveTo>
                        <a:pt x="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1333500" y="3219450"/>
                  <a:ext cx="6096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00050">
                      <a:moveTo>
                        <a:pt x="0" y="0"/>
                      </a:moveTo>
                      <a:lnTo>
                        <a:pt x="60960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1943100" y="3219450"/>
                  <a:ext cx="6096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00050">
                      <a:moveTo>
                        <a:pt x="60960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1333500" y="2286000"/>
                <a:ext cx="1219200" cy="933450"/>
                <a:chOff x="1333500" y="2286000"/>
                <a:chExt cx="1219200" cy="933450"/>
              </a:xfrm>
            </p:grpSpPr>
            <p:sp>
              <p:nvSpPr>
                <p:cNvPr id="20" name="Line 20"/>
                <p:cNvSpPr/>
                <p:nvPr/>
              </p:nvSpPr>
              <p:spPr>
                <a:xfrm>
                  <a:off x="1333500" y="2286000"/>
                  <a:ext cx="6096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00050">
                      <a:moveTo>
                        <a:pt x="60960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38100">
                  <a:solidFill>
                    <a:schemeClr val="accent3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1943100" y="2286000"/>
                  <a:ext cx="6096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00050">
                      <a:moveTo>
                        <a:pt x="0" y="0"/>
                      </a:moveTo>
                      <a:lnTo>
                        <a:pt x="609600" y="400050"/>
                      </a:lnTo>
                    </a:path>
                  </a:pathLst>
                </a:custGeom>
                <a:noFill/>
                <a:ln w="38100">
                  <a:solidFill>
                    <a:schemeClr val="accent3"/>
                  </a:solidFill>
                </a:ln>
              </p:spPr>
            </p:sp>
            <p:sp>
              <p:nvSpPr>
                <p:cNvPr id="22" name="Line 22"/>
                <p:cNvSpPr/>
                <p:nvPr/>
              </p:nvSpPr>
              <p:spPr>
                <a:xfrm>
                  <a:off x="1333500" y="2686050"/>
                  <a:ext cx="6096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533400">
                      <a:moveTo>
                        <a:pt x="0" y="0"/>
                      </a:moveTo>
                      <a:lnTo>
                        <a:pt x="609600" y="533400"/>
                      </a:lnTo>
                    </a:path>
                  </a:pathLst>
                </a:custGeom>
                <a:noFill/>
                <a:ln w="38100">
                  <a:solidFill>
                    <a:schemeClr val="accent3"/>
                  </a:solidFill>
                </a:ln>
              </p:spPr>
            </p:sp>
            <p:sp>
              <p:nvSpPr>
                <p:cNvPr id="23" name="Line 23"/>
                <p:cNvSpPr/>
                <p:nvPr/>
              </p:nvSpPr>
              <p:spPr>
                <a:xfrm>
                  <a:off x="1943100" y="2686050"/>
                  <a:ext cx="6096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533400">
                      <a:moveTo>
                        <a:pt x="6096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38100">
                  <a:solidFill>
                    <a:schemeClr val="accent3"/>
                  </a:solidFill>
                </a:ln>
              </p:spPr>
            </p:sp>
          </p:grpSp>
          <p:sp>
            <p:nvSpPr>
              <p:cNvPr id="25" name="Line 25"/>
              <p:cNvSpPr/>
              <p:nvPr/>
            </p:nvSpPr>
            <p:spPr>
              <a:xfrm>
                <a:off x="1943100" y="3219450"/>
                <a:ext cx="9525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0050">
                    <a:moveTo>
                      <a:pt x="0" y="0"/>
                    </a:moveTo>
                    <a:lnTo>
                      <a:pt x="0" y="400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266825" y="2619375"/>
                <a:ext cx="1352550" cy="1066800"/>
                <a:chOff x="1266825" y="2619375"/>
                <a:chExt cx="1352550" cy="1066800"/>
              </a:xfrm>
            </p:grpSpPr>
            <p:sp>
              <p:nvSpPr>
                <p:cNvPr id="26" name="Ellipse 26"/>
                <p:cNvSpPr/>
                <p:nvPr/>
              </p:nvSpPr>
              <p:spPr>
                <a:xfrm>
                  <a:off x="1876425" y="26193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1266825" y="31527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2486025" y="31527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1876425" y="35528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1257300" y="2209800"/>
                <a:ext cx="1371600" cy="1085850"/>
                <a:chOff x="1257300" y="2209800"/>
                <a:chExt cx="1371600" cy="1085850"/>
              </a:xfrm>
            </p:grpSpPr>
            <p:sp>
              <p:nvSpPr>
                <p:cNvPr id="31" name="Ellipse 31"/>
                <p:cNvSpPr/>
                <p:nvPr/>
              </p:nvSpPr>
              <p:spPr>
                <a:xfrm>
                  <a:off x="1866900" y="220980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1257300" y="260985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2476500" y="260985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1866900" y="314325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 w="19050">
                  <a:solidFill>
                    <a:schemeClr val="accent3"/>
                  </a:solidFill>
                </a:ln>
              </p:spPr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1016356" y="2023110"/>
                <a:ext cx="1853488" cy="1930146"/>
                <a:chOff x="1016356" y="2023110"/>
                <a:chExt cx="1853488" cy="1930146"/>
              </a:xfrm>
            </p:grpSpPr>
            <p:sp>
              <p:nvSpPr>
                <p:cNvPr id="36" name="TextBox 36"/>
                <p:cNvSpPr txBox="1"/>
                <p:nvPr/>
              </p:nvSpPr>
              <p:spPr>
                <a:xfrm>
                  <a:off x="1848155" y="202311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a₁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016356" y="260413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a₂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2032254" y="248031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a₃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2679954" y="260413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a₄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016356" y="313753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a₅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2032254" y="328041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a₆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2679954" y="313753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a₇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848155" y="371856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a₈</a:t>
                  </a:r>
                </a:p>
              </p:txBody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831342" y="4007168"/>
                <a:ext cx="20014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S₁ = {a₁, a₂, a₄, a₆}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2104" y="4290060"/>
                <a:ext cx="120853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a₂ × a₄ = a₆ ∈ S₁</a:t>
                </a:r>
                <a:br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a₂ ⊕ a₄ = a₁ ∈ S₁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838200" y="4819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7887" y="502761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79754" y="499491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偏序子格 </a:t>
                </a:r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</a:t>
                </a:r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877887" y="529431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79754" y="526161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代数子格 </a:t>
                </a:r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</a:t>
                </a:r>
              </a:p>
            </p:txBody>
          </p:sp>
        </p:grpSp>
        <p:grpSp>
          <p:nvGrpSpPr>
            <p:cNvPr id="96" name="sub-s2"/>
            <p:cNvGrpSpPr/>
            <p:nvPr/>
          </p:nvGrpSpPr>
          <p:grpSpPr>
            <a:xfrm>
              <a:off x="3352800" y="1943100"/>
              <a:ext cx="2514600" cy="3676650"/>
              <a:chOff x="3352800" y="1943100"/>
              <a:chExt cx="2514600" cy="36766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3352800" y="1943100"/>
                <a:ext cx="2514600" cy="3676650"/>
              </a:xfrm>
              <a:prstGeom prst="roundRect">
                <a:avLst>
                  <a:gd name="adj" fmla="val 530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4000500" y="2286000"/>
                <a:ext cx="1228725" cy="1333500"/>
                <a:chOff x="4000500" y="2286000"/>
                <a:chExt cx="1228725" cy="1333500"/>
              </a:xfrm>
            </p:grpSpPr>
            <p:sp>
              <p:nvSpPr>
                <p:cNvPr id="54" name="Line 54"/>
                <p:cNvSpPr/>
                <p:nvPr/>
              </p:nvSpPr>
              <p:spPr>
                <a:xfrm>
                  <a:off x="4000500" y="2286000"/>
                  <a:ext cx="6096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00050">
                      <a:moveTo>
                        <a:pt x="60960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5" name="Line 55"/>
                <p:cNvSpPr/>
                <p:nvPr/>
              </p:nvSpPr>
              <p:spPr>
                <a:xfrm>
                  <a:off x="4610100" y="2286000"/>
                  <a:ext cx="9525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0050">
                      <a:moveTo>
                        <a:pt x="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6" name="Line 56"/>
                <p:cNvSpPr/>
                <p:nvPr/>
              </p:nvSpPr>
              <p:spPr>
                <a:xfrm>
                  <a:off x="4610100" y="2286000"/>
                  <a:ext cx="6096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00050">
                      <a:moveTo>
                        <a:pt x="0" y="0"/>
                      </a:moveTo>
                      <a:lnTo>
                        <a:pt x="60960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7" name="Line 57"/>
                <p:cNvSpPr/>
                <p:nvPr/>
              </p:nvSpPr>
              <p:spPr>
                <a:xfrm>
                  <a:off x="4000500" y="2686050"/>
                  <a:ext cx="9525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3400">
                      <a:moveTo>
                        <a:pt x="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8" name="Line 58"/>
                <p:cNvSpPr/>
                <p:nvPr/>
              </p:nvSpPr>
              <p:spPr>
                <a:xfrm>
                  <a:off x="4000500" y="2686050"/>
                  <a:ext cx="6096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533400">
                      <a:moveTo>
                        <a:pt x="0" y="0"/>
                      </a:moveTo>
                      <a:lnTo>
                        <a:pt x="60960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9" name="Line 59"/>
                <p:cNvSpPr/>
                <p:nvPr/>
              </p:nvSpPr>
              <p:spPr>
                <a:xfrm>
                  <a:off x="4000500" y="2686050"/>
                  <a:ext cx="6096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533400">
                      <a:moveTo>
                        <a:pt x="6096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0" name="Line 60"/>
                <p:cNvSpPr/>
                <p:nvPr/>
              </p:nvSpPr>
              <p:spPr>
                <a:xfrm>
                  <a:off x="4610100" y="2686050"/>
                  <a:ext cx="6096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533400">
                      <a:moveTo>
                        <a:pt x="0" y="0"/>
                      </a:moveTo>
                      <a:lnTo>
                        <a:pt x="60960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1" name="Line 61"/>
                <p:cNvSpPr/>
                <p:nvPr/>
              </p:nvSpPr>
              <p:spPr>
                <a:xfrm>
                  <a:off x="4610100" y="2686050"/>
                  <a:ext cx="6096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533400">
                      <a:moveTo>
                        <a:pt x="6096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2" name="Line 62"/>
                <p:cNvSpPr/>
                <p:nvPr/>
              </p:nvSpPr>
              <p:spPr>
                <a:xfrm>
                  <a:off x="5219700" y="2686050"/>
                  <a:ext cx="9525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3400">
                      <a:moveTo>
                        <a:pt x="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3" name="Line 63"/>
                <p:cNvSpPr/>
                <p:nvPr/>
              </p:nvSpPr>
              <p:spPr>
                <a:xfrm>
                  <a:off x="4000500" y="3219450"/>
                  <a:ext cx="6096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00050">
                      <a:moveTo>
                        <a:pt x="0" y="0"/>
                      </a:moveTo>
                      <a:lnTo>
                        <a:pt x="60960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4" name="Line 64"/>
                <p:cNvSpPr/>
                <p:nvPr/>
              </p:nvSpPr>
              <p:spPr>
                <a:xfrm>
                  <a:off x="4610100" y="3219450"/>
                  <a:ext cx="9525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0050">
                      <a:moveTo>
                        <a:pt x="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5" name="Line 65"/>
                <p:cNvSpPr/>
                <p:nvPr/>
              </p:nvSpPr>
              <p:spPr>
                <a:xfrm>
                  <a:off x="4610100" y="3219450"/>
                  <a:ext cx="6096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400050">
                      <a:moveTo>
                        <a:pt x="60960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70" name="Group 70"/>
              <p:cNvGrpSpPr/>
              <p:nvPr/>
            </p:nvGrpSpPr>
            <p:grpSpPr>
              <a:xfrm>
                <a:off x="3933825" y="2619375"/>
                <a:ext cx="1352550" cy="666750"/>
                <a:chOff x="3933825" y="2619375"/>
                <a:chExt cx="1352550" cy="666750"/>
              </a:xfrm>
            </p:grpSpPr>
            <p:sp>
              <p:nvSpPr>
                <p:cNvPr id="67" name="Ellipse 67"/>
                <p:cNvSpPr/>
                <p:nvPr/>
              </p:nvSpPr>
              <p:spPr>
                <a:xfrm>
                  <a:off x="4543425" y="26193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68" name="Ellipse 68"/>
                <p:cNvSpPr/>
                <p:nvPr/>
              </p:nvSpPr>
              <p:spPr>
                <a:xfrm>
                  <a:off x="3933825" y="31527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69" name="Ellipse 69"/>
                <p:cNvSpPr/>
                <p:nvPr/>
              </p:nvSpPr>
              <p:spPr>
                <a:xfrm>
                  <a:off x="5153025" y="31527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71" name="Ellipse 71"/>
              <p:cNvSpPr/>
              <p:nvPr/>
            </p:nvSpPr>
            <p:spPr>
              <a:xfrm>
                <a:off x="4505325" y="3114675"/>
                <a:ext cx="209550" cy="2095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rgbClr val="B42318"/>
                </a:solidFill>
                <a:custDash>
                  <a:ds d="160000" sp="120000"/>
                </a:custDash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4562475" y="3171825"/>
                <a:ext cx="95250" cy="9525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grpSp>
            <p:nvGrpSpPr>
              <p:cNvPr id="77" name="Group 77"/>
              <p:cNvGrpSpPr/>
              <p:nvPr/>
            </p:nvGrpSpPr>
            <p:grpSpPr>
              <a:xfrm>
                <a:off x="3924300" y="2209800"/>
                <a:ext cx="1371600" cy="1485900"/>
                <a:chOff x="3924300" y="2209800"/>
                <a:chExt cx="1371600" cy="1485900"/>
              </a:xfrm>
            </p:grpSpPr>
            <p:sp>
              <p:nvSpPr>
                <p:cNvPr id="73" name="Ellipse 73"/>
                <p:cNvSpPr/>
                <p:nvPr/>
              </p:nvSpPr>
              <p:spPr>
                <a:xfrm>
                  <a:off x="4533900" y="220980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74" name="Ellipse 74"/>
                <p:cNvSpPr/>
                <p:nvPr/>
              </p:nvSpPr>
              <p:spPr>
                <a:xfrm>
                  <a:off x="3924300" y="260985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75" name="Ellipse 75"/>
                <p:cNvSpPr/>
                <p:nvPr/>
              </p:nvSpPr>
              <p:spPr>
                <a:xfrm>
                  <a:off x="5143500" y="260985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76" name="Ellipse 76"/>
                <p:cNvSpPr/>
                <p:nvPr/>
              </p:nvSpPr>
              <p:spPr>
                <a:xfrm>
                  <a:off x="4533900" y="354330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</p:grpSp>
          <p:grpSp>
            <p:nvGrpSpPr>
              <p:cNvPr id="86" name="Group 86"/>
              <p:cNvGrpSpPr/>
              <p:nvPr/>
            </p:nvGrpSpPr>
            <p:grpSpPr>
              <a:xfrm>
                <a:off x="3683356" y="2023110"/>
                <a:ext cx="1853488" cy="1930146"/>
                <a:chOff x="3683356" y="2023110"/>
                <a:chExt cx="1853488" cy="1930146"/>
              </a:xfrm>
            </p:grpSpPr>
            <p:sp>
              <p:nvSpPr>
                <p:cNvPr id="78" name="TextBox 78"/>
                <p:cNvSpPr txBox="1"/>
                <p:nvPr/>
              </p:nvSpPr>
              <p:spPr>
                <a:xfrm>
                  <a:off x="4515155" y="202311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a₁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3683356" y="260413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a₂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4699254" y="248031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a₃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5346954" y="260413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a₄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3683356" y="313753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a₅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4737354" y="3299460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B42318"/>
                      </a:solidFill>
                      <a:latin typeface="+mn-lt"/>
                      <a:ea typeface="+mn-ea"/>
                      <a:cs typeface="+mn-cs"/>
                    </a:rPr>
                    <a:t>a₆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5346954" y="313753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a₇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4515155" y="371856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a₈</a:t>
                  </a:r>
                </a:p>
              </p:txBody>
            </p:sp>
          </p:grpSp>
          <p:sp>
            <p:nvSpPr>
              <p:cNvPr id="87" name="TextBox 87"/>
              <p:cNvSpPr txBox="1"/>
              <p:nvPr/>
            </p:nvSpPr>
            <p:spPr>
              <a:xfrm>
                <a:off x="3498342" y="4007168"/>
                <a:ext cx="20014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S₂ = {a₁, a₂, a₄, a₈}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3499104" y="4290060"/>
                <a:ext cx="187147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S₂ 自身：inf{a₂, a₄} = a₈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大格中：a₂ × a₄ = </a:t>
                </a:r>
                <a:r>
                  <a:rPr lang="en-US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a₆ ∉ S₂</a:t>
                </a:r>
              </a:p>
            </p:txBody>
          </p:sp>
          <p:sp>
            <p:nvSpPr>
              <p:cNvPr id="89" name="Line 89"/>
              <p:cNvSpPr/>
              <p:nvPr/>
            </p:nvSpPr>
            <p:spPr>
              <a:xfrm>
                <a:off x="3505200" y="4819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3544887" y="502761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3746754" y="499491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偏序子格 </a:t>
                </a:r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</a:t>
                </a:r>
              </a:p>
            </p:txBody>
          </p:sp>
          <p:grpSp>
            <p:nvGrpSpPr>
              <p:cNvPr id="94" name="Group 94"/>
              <p:cNvGrpSpPr/>
              <p:nvPr/>
            </p:nvGrpSpPr>
            <p:grpSpPr>
              <a:xfrm>
                <a:off x="3552825" y="5286375"/>
                <a:ext cx="95250" cy="95250"/>
                <a:chOff x="3552825" y="5286375"/>
                <a:chExt cx="95250" cy="95250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3552825" y="52863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3552825" y="52863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95" name="TextBox 95"/>
              <p:cNvSpPr txBox="1"/>
              <p:nvPr/>
            </p:nvSpPr>
            <p:spPr>
              <a:xfrm>
                <a:off x="3746754" y="5261610"/>
                <a:ext cx="19749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代数子格 </a:t>
                </a:r>
                <a:r>
                  <a:rPr lang="zh-CN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不是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（× 不封闭）</a:t>
                </a:r>
              </a:p>
            </p:txBody>
          </p:sp>
        </p:grpSp>
      </p:grpSp>
      <p:grpSp>
        <p:nvGrpSpPr>
          <p:cNvPr id="178" name="example-seven"/>
          <p:cNvGrpSpPr/>
          <p:nvPr/>
        </p:nvGrpSpPr>
        <p:grpSpPr>
          <a:xfrm>
            <a:off x="6172200" y="1485900"/>
            <a:ext cx="5486400" cy="4229100"/>
            <a:chOff x="6172200" y="1485900"/>
            <a:chExt cx="5486400" cy="4229100"/>
          </a:xfrm>
        </p:grpSpPr>
        <p:sp>
          <p:nvSpPr>
            <p:cNvPr id="98" name="Rectangle 98"/>
            <p:cNvSpPr/>
            <p:nvPr/>
          </p:nvSpPr>
          <p:spPr>
            <a:xfrm>
              <a:off x="61722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6362700" y="15811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470443" y="16421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003542" y="1635442"/>
              <a:ext cx="2709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思考题：7 元格 L，判断两个子集</a:t>
              </a:r>
            </a:p>
          </p:txBody>
        </p:sp>
        <p:grpSp>
          <p:nvGrpSpPr>
            <p:cNvPr id="141" name="sub-t1"/>
            <p:cNvGrpSpPr/>
            <p:nvPr/>
          </p:nvGrpSpPr>
          <p:grpSpPr>
            <a:xfrm>
              <a:off x="6324600" y="1943100"/>
              <a:ext cx="2514600" cy="3676650"/>
              <a:chOff x="6324600" y="1943100"/>
              <a:chExt cx="2514600" cy="3676650"/>
            </a:xfrm>
          </p:grpSpPr>
          <p:sp>
            <p:nvSpPr>
              <p:cNvPr id="102" name="Rectangle 102"/>
              <p:cNvSpPr/>
              <p:nvPr/>
            </p:nvSpPr>
            <p:spPr>
              <a:xfrm>
                <a:off x="6324600" y="1943100"/>
                <a:ext cx="2514600" cy="3676650"/>
              </a:xfrm>
              <a:prstGeom prst="roundRect">
                <a:avLst>
                  <a:gd name="adj" fmla="val 530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112" name="Group 112"/>
              <p:cNvGrpSpPr/>
              <p:nvPr/>
            </p:nvGrpSpPr>
            <p:grpSpPr>
              <a:xfrm>
                <a:off x="7010400" y="2286000"/>
                <a:ext cx="1152525" cy="1333500"/>
                <a:chOff x="7010400" y="2286000"/>
                <a:chExt cx="1152525" cy="1333500"/>
              </a:xfrm>
            </p:grpSpPr>
            <p:sp>
              <p:nvSpPr>
                <p:cNvPr id="103" name="Line 103"/>
                <p:cNvSpPr/>
                <p:nvPr/>
              </p:nvSpPr>
              <p:spPr>
                <a:xfrm>
                  <a:off x="7010400" y="2286000"/>
                  <a:ext cx="5715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04800">
                      <a:moveTo>
                        <a:pt x="57150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4" name="Line 104"/>
                <p:cNvSpPr/>
                <p:nvPr/>
              </p:nvSpPr>
              <p:spPr>
                <a:xfrm>
                  <a:off x="7581900" y="2286000"/>
                  <a:ext cx="5715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04800">
                      <a:moveTo>
                        <a:pt x="0" y="0"/>
                      </a:moveTo>
                      <a:lnTo>
                        <a:pt x="57150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5" name="Line 105"/>
                <p:cNvSpPr/>
                <p:nvPr/>
              </p:nvSpPr>
              <p:spPr>
                <a:xfrm>
                  <a:off x="7010400" y="2590800"/>
                  <a:ext cx="5715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04800">
                      <a:moveTo>
                        <a:pt x="0" y="0"/>
                      </a:moveTo>
                      <a:lnTo>
                        <a:pt x="57150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6" name="Line 106"/>
                <p:cNvSpPr/>
                <p:nvPr/>
              </p:nvSpPr>
              <p:spPr>
                <a:xfrm>
                  <a:off x="7581900" y="2590800"/>
                  <a:ext cx="5715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04800">
                      <a:moveTo>
                        <a:pt x="57150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7" name="Line 107"/>
                <p:cNvSpPr/>
                <p:nvPr/>
              </p:nvSpPr>
              <p:spPr>
                <a:xfrm>
                  <a:off x="7010400" y="2590800"/>
                  <a:ext cx="9525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0">
                      <a:moveTo>
                        <a:pt x="0" y="0"/>
                      </a:moveTo>
                      <a:lnTo>
                        <a:pt x="0" y="6667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8" name="Line 108"/>
                <p:cNvSpPr/>
                <p:nvPr/>
              </p:nvSpPr>
              <p:spPr>
                <a:xfrm>
                  <a:off x="8153400" y="2590800"/>
                  <a:ext cx="9525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0">
                      <a:moveTo>
                        <a:pt x="0" y="0"/>
                      </a:moveTo>
                      <a:lnTo>
                        <a:pt x="0" y="6667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9" name="Line 109"/>
                <p:cNvSpPr/>
                <p:nvPr/>
              </p:nvSpPr>
              <p:spPr>
                <a:xfrm>
                  <a:off x="7581900" y="2895600"/>
                  <a:ext cx="9525" cy="7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23900">
                      <a:moveTo>
                        <a:pt x="0" y="0"/>
                      </a:moveTo>
                      <a:lnTo>
                        <a:pt x="0" y="723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0" name="Line 110"/>
                <p:cNvSpPr/>
                <p:nvPr/>
              </p:nvSpPr>
              <p:spPr>
                <a:xfrm>
                  <a:off x="7010400" y="3257550"/>
                  <a:ext cx="5715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61950">
                      <a:moveTo>
                        <a:pt x="0" y="0"/>
                      </a:moveTo>
                      <a:lnTo>
                        <a:pt x="57150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1" name="Line 111"/>
                <p:cNvSpPr/>
                <p:nvPr/>
              </p:nvSpPr>
              <p:spPr>
                <a:xfrm>
                  <a:off x="7581900" y="3257550"/>
                  <a:ext cx="5715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61950">
                      <a:moveTo>
                        <a:pt x="57150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16" name="Group 116"/>
              <p:cNvGrpSpPr/>
              <p:nvPr/>
            </p:nvGrpSpPr>
            <p:grpSpPr>
              <a:xfrm>
                <a:off x="6943725" y="2219325"/>
                <a:ext cx="1276350" cy="438150"/>
                <a:chOff x="6943725" y="2219325"/>
                <a:chExt cx="1276350" cy="438150"/>
              </a:xfrm>
            </p:grpSpPr>
            <p:sp>
              <p:nvSpPr>
                <p:cNvPr id="113" name="Ellipse 113"/>
                <p:cNvSpPr/>
                <p:nvPr/>
              </p:nvSpPr>
              <p:spPr>
                <a:xfrm>
                  <a:off x="7515225" y="22193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4" name="Ellipse 114"/>
                <p:cNvSpPr/>
                <p:nvPr/>
              </p:nvSpPr>
              <p:spPr>
                <a:xfrm>
                  <a:off x="6943725" y="25241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5" name="Ellipse 115"/>
                <p:cNvSpPr/>
                <p:nvPr/>
              </p:nvSpPr>
              <p:spPr>
                <a:xfrm>
                  <a:off x="8086725" y="25241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21" name="Group 121"/>
              <p:cNvGrpSpPr/>
              <p:nvPr/>
            </p:nvGrpSpPr>
            <p:grpSpPr>
              <a:xfrm>
                <a:off x="6934200" y="2819400"/>
                <a:ext cx="1295400" cy="876300"/>
                <a:chOff x="6934200" y="2819400"/>
                <a:chExt cx="1295400" cy="876300"/>
              </a:xfrm>
            </p:grpSpPr>
            <p:sp>
              <p:nvSpPr>
                <p:cNvPr id="117" name="Ellipse 117"/>
                <p:cNvSpPr/>
                <p:nvPr/>
              </p:nvSpPr>
              <p:spPr>
                <a:xfrm>
                  <a:off x="7505700" y="281940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18" name="Ellipse 118"/>
                <p:cNvSpPr/>
                <p:nvPr/>
              </p:nvSpPr>
              <p:spPr>
                <a:xfrm>
                  <a:off x="6934200" y="318135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19" name="Ellipse 119"/>
                <p:cNvSpPr/>
                <p:nvPr/>
              </p:nvSpPr>
              <p:spPr>
                <a:xfrm>
                  <a:off x="8077200" y="318135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20" name="Ellipse 120"/>
                <p:cNvSpPr/>
                <p:nvPr/>
              </p:nvSpPr>
              <p:spPr>
                <a:xfrm>
                  <a:off x="7505700" y="354330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</p:grpSp>
          <p:grpSp>
            <p:nvGrpSpPr>
              <p:cNvPr id="129" name="Group 129"/>
              <p:cNvGrpSpPr/>
              <p:nvPr/>
            </p:nvGrpSpPr>
            <p:grpSpPr>
              <a:xfrm>
                <a:off x="6782105" y="2023110"/>
                <a:ext cx="1599590" cy="1930146"/>
                <a:chOff x="6782105" y="2023110"/>
                <a:chExt cx="1599590" cy="1930146"/>
              </a:xfrm>
            </p:grpSpPr>
            <p:sp>
              <p:nvSpPr>
                <p:cNvPr id="122" name="TextBox 122"/>
                <p:cNvSpPr txBox="1"/>
                <p:nvPr/>
              </p:nvSpPr>
              <p:spPr>
                <a:xfrm>
                  <a:off x="7531379" y="20231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23" name="TextBox 123"/>
                <p:cNvSpPr txBox="1"/>
                <p:nvPr/>
              </p:nvSpPr>
              <p:spPr>
                <a:xfrm>
                  <a:off x="6782105" y="250888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24" name="TextBox 124"/>
                <p:cNvSpPr txBox="1"/>
                <p:nvPr/>
              </p:nvSpPr>
              <p:spPr>
                <a:xfrm>
                  <a:off x="8280654" y="250888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125" name="TextBox 125"/>
                <p:cNvSpPr txBox="1"/>
                <p:nvPr/>
              </p:nvSpPr>
              <p:spPr>
                <a:xfrm>
                  <a:off x="7671054" y="29756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26" name="TextBox 126"/>
                <p:cNvSpPr txBox="1"/>
                <p:nvPr/>
              </p:nvSpPr>
              <p:spPr>
                <a:xfrm>
                  <a:off x="6782105" y="317563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27" name="TextBox 127"/>
                <p:cNvSpPr txBox="1"/>
                <p:nvPr/>
              </p:nvSpPr>
              <p:spPr>
                <a:xfrm>
                  <a:off x="8280654" y="317563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g</a:t>
                  </a:r>
                </a:p>
              </p:txBody>
            </p:sp>
            <p:sp>
              <p:nvSpPr>
                <p:cNvPr id="128" name="TextBox 128"/>
                <p:cNvSpPr txBox="1"/>
                <p:nvPr/>
              </p:nvSpPr>
              <p:spPr>
                <a:xfrm>
                  <a:off x="7531379" y="37185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f</a:t>
                  </a:r>
                </a:p>
              </p:txBody>
            </p:sp>
          </p:grpSp>
          <p:sp>
            <p:nvSpPr>
              <p:cNvPr id="130" name="TextBox 130"/>
              <p:cNvSpPr txBox="1"/>
              <p:nvPr/>
            </p:nvSpPr>
            <p:spPr>
              <a:xfrm>
                <a:off x="6470142" y="4007168"/>
                <a:ext cx="15768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S₁ = {c, e, g, f}</a:t>
                </a:r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6470904" y="4290060"/>
                <a:ext cx="155143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e、g 在 S₁ 中没有上界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大格中 e ⊕ g = </a:t>
                </a:r>
                <a:r>
                  <a:rPr lang="en-US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a ∉ S₁</a:t>
                </a:r>
              </a:p>
            </p:txBody>
          </p:sp>
          <p:sp>
            <p:nvSpPr>
              <p:cNvPr id="132" name="Line 132"/>
              <p:cNvSpPr/>
              <p:nvPr/>
            </p:nvSpPr>
            <p:spPr>
              <a:xfrm>
                <a:off x="6477000" y="4819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grpSp>
            <p:nvGrpSpPr>
              <p:cNvPr id="135" name="Group 135"/>
              <p:cNvGrpSpPr/>
              <p:nvPr/>
            </p:nvGrpSpPr>
            <p:grpSpPr>
              <a:xfrm>
                <a:off x="6524625" y="5019675"/>
                <a:ext cx="95250" cy="95250"/>
                <a:chOff x="6524625" y="5019675"/>
                <a:chExt cx="95250" cy="95250"/>
              </a:xfrm>
            </p:grpSpPr>
            <p:sp>
              <p:nvSpPr>
                <p:cNvPr id="133" name="Freeform 133"/>
                <p:cNvSpPr/>
                <p:nvPr/>
              </p:nvSpPr>
              <p:spPr>
                <a:xfrm>
                  <a:off x="6524625" y="50196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34" name="Freeform 134"/>
                <p:cNvSpPr/>
                <p:nvPr/>
              </p:nvSpPr>
              <p:spPr>
                <a:xfrm>
                  <a:off x="6524625" y="50196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36" name="TextBox 136"/>
              <p:cNvSpPr txBox="1"/>
              <p:nvPr/>
            </p:nvSpPr>
            <p:spPr>
              <a:xfrm>
                <a:off x="6718554" y="4994910"/>
                <a:ext cx="14855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(S₁, ≤) 本身不是格</a:t>
                </a:r>
              </a:p>
            </p:txBody>
          </p:sp>
          <p:grpSp>
            <p:nvGrpSpPr>
              <p:cNvPr id="139" name="Group 139"/>
              <p:cNvGrpSpPr/>
              <p:nvPr/>
            </p:nvGrpSpPr>
            <p:grpSpPr>
              <a:xfrm>
                <a:off x="6524625" y="5286375"/>
                <a:ext cx="95250" cy="95250"/>
                <a:chOff x="6524625" y="5286375"/>
                <a:chExt cx="95250" cy="95250"/>
              </a:xfrm>
            </p:grpSpPr>
            <p:sp>
              <p:nvSpPr>
                <p:cNvPr id="137" name="Freeform 137"/>
                <p:cNvSpPr/>
                <p:nvPr/>
              </p:nvSpPr>
              <p:spPr>
                <a:xfrm>
                  <a:off x="6524625" y="52863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38" name="Freeform 138"/>
                <p:cNvSpPr/>
                <p:nvPr/>
              </p:nvSpPr>
              <p:spPr>
                <a:xfrm>
                  <a:off x="6524625" y="52863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40" name="TextBox 140"/>
              <p:cNvSpPr txBox="1"/>
              <p:nvPr/>
            </p:nvSpPr>
            <p:spPr>
              <a:xfrm>
                <a:off x="6718554" y="5261610"/>
                <a:ext cx="9092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S₁ 不是子格</a:t>
                </a:r>
              </a:p>
            </p:txBody>
          </p:sp>
        </p:grpSp>
        <p:grpSp>
          <p:nvGrpSpPr>
            <p:cNvPr id="177" name="sub-t2"/>
            <p:cNvGrpSpPr/>
            <p:nvPr/>
          </p:nvGrpSpPr>
          <p:grpSpPr>
            <a:xfrm>
              <a:off x="8991600" y="1943100"/>
              <a:ext cx="2514600" cy="3676650"/>
              <a:chOff x="8991600" y="1943100"/>
              <a:chExt cx="2514600" cy="3676650"/>
            </a:xfrm>
          </p:grpSpPr>
          <p:sp>
            <p:nvSpPr>
              <p:cNvPr id="142" name="Rectangle 142"/>
              <p:cNvSpPr/>
              <p:nvPr/>
            </p:nvSpPr>
            <p:spPr>
              <a:xfrm>
                <a:off x="8991600" y="1943100"/>
                <a:ext cx="2514600" cy="3676650"/>
              </a:xfrm>
              <a:prstGeom prst="roundRect">
                <a:avLst>
                  <a:gd name="adj" fmla="val 530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152" name="Group 152"/>
              <p:cNvGrpSpPr/>
              <p:nvPr/>
            </p:nvGrpSpPr>
            <p:grpSpPr>
              <a:xfrm>
                <a:off x="9677400" y="2286000"/>
                <a:ext cx="1152525" cy="1333500"/>
                <a:chOff x="9677400" y="2286000"/>
                <a:chExt cx="1152525" cy="1333500"/>
              </a:xfrm>
            </p:grpSpPr>
            <p:sp>
              <p:nvSpPr>
                <p:cNvPr id="143" name="Line 143"/>
                <p:cNvSpPr/>
                <p:nvPr/>
              </p:nvSpPr>
              <p:spPr>
                <a:xfrm>
                  <a:off x="9677400" y="2590800"/>
                  <a:ext cx="5715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04800">
                      <a:moveTo>
                        <a:pt x="0" y="0"/>
                      </a:moveTo>
                      <a:lnTo>
                        <a:pt x="57150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4" name="Line 144"/>
                <p:cNvSpPr/>
                <p:nvPr/>
              </p:nvSpPr>
              <p:spPr>
                <a:xfrm>
                  <a:off x="10248900" y="2590800"/>
                  <a:ext cx="5715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04800">
                      <a:moveTo>
                        <a:pt x="57150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5" name="Line 145"/>
                <p:cNvSpPr/>
                <p:nvPr/>
              </p:nvSpPr>
              <p:spPr>
                <a:xfrm>
                  <a:off x="10248900" y="2895600"/>
                  <a:ext cx="9525" cy="7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23900">
                      <a:moveTo>
                        <a:pt x="0" y="0"/>
                      </a:moveTo>
                      <a:lnTo>
                        <a:pt x="0" y="723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6" name="Line 146"/>
                <p:cNvSpPr/>
                <p:nvPr/>
              </p:nvSpPr>
              <p:spPr>
                <a:xfrm>
                  <a:off x="9677400" y="2590800"/>
                  <a:ext cx="9525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0">
                      <a:moveTo>
                        <a:pt x="0" y="0"/>
                      </a:moveTo>
                      <a:lnTo>
                        <a:pt x="0" y="6667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7" name="Line 147"/>
                <p:cNvSpPr/>
                <p:nvPr/>
              </p:nvSpPr>
              <p:spPr>
                <a:xfrm>
                  <a:off x="9677400" y="3257550"/>
                  <a:ext cx="5715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61950">
                      <a:moveTo>
                        <a:pt x="0" y="0"/>
                      </a:moveTo>
                      <a:lnTo>
                        <a:pt x="57150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8" name="Line 148"/>
                <p:cNvSpPr/>
                <p:nvPr/>
              </p:nvSpPr>
              <p:spPr>
                <a:xfrm>
                  <a:off x="9677400" y="2286000"/>
                  <a:ext cx="5715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04800">
                      <a:moveTo>
                        <a:pt x="57150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9" name="Line 149"/>
                <p:cNvSpPr/>
                <p:nvPr/>
              </p:nvSpPr>
              <p:spPr>
                <a:xfrm>
                  <a:off x="10248900" y="2286000"/>
                  <a:ext cx="5715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04800">
                      <a:moveTo>
                        <a:pt x="0" y="0"/>
                      </a:moveTo>
                      <a:lnTo>
                        <a:pt x="57150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0" name="Line 150"/>
                <p:cNvSpPr/>
                <p:nvPr/>
              </p:nvSpPr>
              <p:spPr>
                <a:xfrm>
                  <a:off x="10820400" y="2590800"/>
                  <a:ext cx="9525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0">
                      <a:moveTo>
                        <a:pt x="0" y="0"/>
                      </a:moveTo>
                      <a:lnTo>
                        <a:pt x="0" y="6667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1" name="Line 151"/>
                <p:cNvSpPr/>
                <p:nvPr/>
              </p:nvSpPr>
              <p:spPr>
                <a:xfrm>
                  <a:off x="10248900" y="3257550"/>
                  <a:ext cx="5715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361950">
                      <a:moveTo>
                        <a:pt x="57150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56" name="Group 156"/>
              <p:cNvGrpSpPr/>
              <p:nvPr/>
            </p:nvGrpSpPr>
            <p:grpSpPr>
              <a:xfrm>
                <a:off x="9610725" y="2524125"/>
                <a:ext cx="1276350" cy="800100"/>
                <a:chOff x="9610725" y="2524125"/>
                <a:chExt cx="1276350" cy="800100"/>
              </a:xfrm>
            </p:grpSpPr>
            <p:sp>
              <p:nvSpPr>
                <p:cNvPr id="153" name="Ellipse 153"/>
                <p:cNvSpPr/>
                <p:nvPr/>
              </p:nvSpPr>
              <p:spPr>
                <a:xfrm>
                  <a:off x="10753725" y="25241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54" name="Ellipse 154"/>
                <p:cNvSpPr/>
                <p:nvPr/>
              </p:nvSpPr>
              <p:spPr>
                <a:xfrm>
                  <a:off x="10182225" y="28289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55" name="Ellipse 155"/>
                <p:cNvSpPr/>
                <p:nvPr/>
              </p:nvSpPr>
              <p:spPr>
                <a:xfrm>
                  <a:off x="9610725" y="31908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61" name="Group 161"/>
              <p:cNvGrpSpPr/>
              <p:nvPr/>
            </p:nvGrpSpPr>
            <p:grpSpPr>
              <a:xfrm>
                <a:off x="9601200" y="2209800"/>
                <a:ext cx="1295400" cy="1485900"/>
                <a:chOff x="9601200" y="2209800"/>
                <a:chExt cx="1295400" cy="1485900"/>
              </a:xfrm>
            </p:grpSpPr>
            <p:sp>
              <p:nvSpPr>
                <p:cNvPr id="157" name="Ellipse 157"/>
                <p:cNvSpPr/>
                <p:nvPr/>
              </p:nvSpPr>
              <p:spPr>
                <a:xfrm>
                  <a:off x="10172700" y="220980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58" name="Ellipse 158"/>
                <p:cNvSpPr/>
                <p:nvPr/>
              </p:nvSpPr>
              <p:spPr>
                <a:xfrm>
                  <a:off x="9601200" y="251460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59" name="Ellipse 159"/>
                <p:cNvSpPr/>
                <p:nvPr/>
              </p:nvSpPr>
              <p:spPr>
                <a:xfrm>
                  <a:off x="10744200" y="318135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60" name="Ellipse 160"/>
                <p:cNvSpPr/>
                <p:nvPr/>
              </p:nvSpPr>
              <p:spPr>
                <a:xfrm>
                  <a:off x="10172700" y="354330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 w="19050">
                  <a:solidFill>
                    <a:schemeClr val="accent3"/>
                  </a:solidFill>
                </a:ln>
              </p:spPr>
            </p:sp>
          </p:grpSp>
          <p:grpSp>
            <p:nvGrpSpPr>
              <p:cNvPr id="169" name="Group 169"/>
              <p:cNvGrpSpPr/>
              <p:nvPr/>
            </p:nvGrpSpPr>
            <p:grpSpPr>
              <a:xfrm>
                <a:off x="9449105" y="2023110"/>
                <a:ext cx="1599590" cy="1930146"/>
                <a:chOff x="9449105" y="2023110"/>
                <a:chExt cx="1599590" cy="1930146"/>
              </a:xfrm>
            </p:grpSpPr>
            <p:sp>
              <p:nvSpPr>
                <p:cNvPr id="162" name="TextBox 162"/>
                <p:cNvSpPr txBox="1"/>
                <p:nvPr/>
              </p:nvSpPr>
              <p:spPr>
                <a:xfrm>
                  <a:off x="10198379" y="20231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63" name="TextBox 163"/>
                <p:cNvSpPr txBox="1"/>
                <p:nvPr/>
              </p:nvSpPr>
              <p:spPr>
                <a:xfrm>
                  <a:off x="9449105" y="250888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64" name="TextBox 164"/>
                <p:cNvSpPr txBox="1"/>
                <p:nvPr/>
              </p:nvSpPr>
              <p:spPr>
                <a:xfrm>
                  <a:off x="10947654" y="250888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165" name="TextBox 165"/>
                <p:cNvSpPr txBox="1"/>
                <p:nvPr/>
              </p:nvSpPr>
              <p:spPr>
                <a:xfrm>
                  <a:off x="10338054" y="29756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66" name="TextBox 166"/>
                <p:cNvSpPr txBox="1"/>
                <p:nvPr/>
              </p:nvSpPr>
              <p:spPr>
                <a:xfrm>
                  <a:off x="9449105" y="317563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67" name="TextBox 167"/>
                <p:cNvSpPr txBox="1"/>
                <p:nvPr/>
              </p:nvSpPr>
              <p:spPr>
                <a:xfrm>
                  <a:off x="10947654" y="317563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g</a:t>
                  </a:r>
                </a:p>
              </p:txBody>
            </p:sp>
            <p:sp>
              <p:nvSpPr>
                <p:cNvPr id="168" name="TextBox 168"/>
                <p:cNvSpPr txBox="1"/>
                <p:nvPr/>
              </p:nvSpPr>
              <p:spPr>
                <a:xfrm>
                  <a:off x="10198379" y="37185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f</a:t>
                  </a:r>
                </a:p>
              </p:txBody>
            </p:sp>
          </p:grpSp>
          <p:sp>
            <p:nvSpPr>
              <p:cNvPr id="170" name="TextBox 170"/>
              <p:cNvSpPr txBox="1"/>
              <p:nvPr/>
            </p:nvSpPr>
            <p:spPr>
              <a:xfrm>
                <a:off x="9137142" y="4007168"/>
                <a:ext cx="15768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S₂ = {a, b, g, f}</a:t>
                </a:r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9137904" y="4290060"/>
                <a:ext cx="95707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 × g = f ∈ S₂</a:t>
                </a:r>
                <a:br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 ⊕ g = a ∈ S₂</a:t>
                </a:r>
              </a:p>
            </p:txBody>
          </p:sp>
          <p:sp>
            <p:nvSpPr>
              <p:cNvPr id="172" name="Line 172"/>
              <p:cNvSpPr/>
              <p:nvPr/>
            </p:nvSpPr>
            <p:spPr>
              <a:xfrm>
                <a:off x="9144000" y="4819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173" name="Freeform 173"/>
              <p:cNvSpPr/>
              <p:nvPr/>
            </p:nvSpPr>
            <p:spPr>
              <a:xfrm>
                <a:off x="9183687" y="502761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9385554" y="49949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其余各对可比，封闭</a:t>
                </a:r>
              </a:p>
            </p:txBody>
          </p:sp>
          <p:sp>
            <p:nvSpPr>
              <p:cNvPr id="175" name="Freeform 175"/>
              <p:cNvSpPr/>
              <p:nvPr/>
            </p:nvSpPr>
            <p:spPr>
              <a:xfrm>
                <a:off x="9183687" y="529431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9385554" y="5261610"/>
                <a:ext cx="7477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S₂ 是子格</a:t>
                </a:r>
              </a:p>
            </p:txBody>
          </p:sp>
        </p:grpSp>
      </p:grpSp>
      <p:grpSp>
        <p:nvGrpSpPr>
          <p:cNvPr id="18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79" name="Rectangle 17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82" name="Group 182"/>
            <p:cNvGrpSpPr/>
            <p:nvPr/>
          </p:nvGrpSpPr>
          <p:grpSpPr>
            <a:xfrm>
              <a:off x="774700" y="6008947"/>
              <a:ext cx="198178" cy="198178"/>
              <a:chOff x="774700" y="6008947"/>
              <a:chExt cx="198178" cy="198178"/>
            </a:xfrm>
          </p:grpSpPr>
          <p:sp>
            <p:nvSpPr>
              <p:cNvPr id="180" name="Freeform 180"/>
              <p:cNvSpPr/>
              <p:nvPr/>
            </p:nvSpPr>
            <p:spPr>
              <a:xfrm>
                <a:off x="774700" y="6008947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81" name="Freeform 181"/>
              <p:cNvSpPr/>
              <p:nvPr/>
            </p:nvSpPr>
            <p:spPr>
              <a:xfrm>
                <a:off x="895350" y="6035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83" name="TextBox 183"/>
            <p:cNvSpPr txBox="1"/>
            <p:nvPr/>
          </p:nvSpPr>
          <p:spPr>
            <a:xfrm>
              <a:off x="1134618" y="6003608"/>
              <a:ext cx="89016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判断代数子格：对子集里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每一对不可比元素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，在大格中算 × 与 ⊕，有一个跑出子集就不是。</a:t>
              </a:r>
            </a:p>
          </p:txBody>
        </p:sp>
      </p:grpSp>
      <p:grpSp>
        <p:nvGrpSpPr>
          <p:cNvPr id="18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85" name="TextBox 185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panel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panel-disc"/>
          <p:cNvSpPr/>
          <p:nvPr/>
        </p:nvSpPr>
        <p:spPr>
          <a:xfrm>
            <a:off x="2381250" y="5429250"/>
            <a:ext cx="2857500" cy="2857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panel-dot"/>
          <p:cNvSpPr/>
          <p:nvPr/>
        </p:nvSpPr>
        <p:spPr>
          <a:xfrm>
            <a:off x="3295650" y="781050"/>
            <a:ext cx="266700" cy="26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section-title"/>
          <p:cNvGrpSpPr/>
          <p:nvPr/>
        </p:nvGrpSpPr>
        <p:grpSpPr>
          <a:xfrm>
            <a:off x="438150" y="1581150"/>
            <a:ext cx="3254502" cy="3396234"/>
            <a:chOff x="438150" y="1581150"/>
            <a:chExt cx="3254502" cy="3396234"/>
          </a:xfrm>
        </p:grpSpPr>
        <p:sp>
          <p:nvSpPr>
            <p:cNvPr id="5" name="Rectangle 5"/>
            <p:cNvSpPr/>
            <p:nvPr/>
          </p:nvSpPr>
          <p:spPr>
            <a:xfrm>
              <a:off x="533400" y="1581150"/>
              <a:ext cx="2381250" cy="323850"/>
            </a:xfrm>
            <a:prstGeom prst="roundRect">
              <a:avLst>
                <a:gd name="adj" fmla="val 50000"/>
              </a:avLst>
            </a:prstGeom>
            <a:solidFill>
              <a:srgbClr val="3F5DB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9044" y="167068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第7章 格与布尔代数 · 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2133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5112" y="37261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格的性质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4343400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4256" y="46253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序与运算互译，映射保持运算</a:t>
              </a:r>
            </a:p>
          </p:txBody>
        </p:sp>
      </p:grpSp>
      <p:grpSp>
        <p:nvGrpSpPr>
          <p:cNvPr id="21" name="reading-tip"/>
          <p:cNvGrpSpPr/>
          <p:nvPr/>
        </p:nvGrpSpPr>
        <p:grpSpPr>
          <a:xfrm>
            <a:off x="4381500" y="571500"/>
            <a:ext cx="7277100" cy="1066800"/>
            <a:chOff x="4381500" y="571500"/>
            <a:chExt cx="7277100" cy="1066800"/>
          </a:xfrm>
        </p:grpSpPr>
        <p:sp>
          <p:nvSpPr>
            <p:cNvPr id="12" name="Rectangle 12"/>
            <p:cNvSpPr/>
            <p:nvPr/>
          </p:nvSpPr>
          <p:spPr>
            <a:xfrm>
              <a:off x="4381500" y="571500"/>
              <a:ext cx="727710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 w="14288">
              <a:solidFill>
                <a:schemeClr val="accent6"/>
              </a:solidFill>
              <a:custDash>
                <a:ds d="400000" sp="266667"/>
              </a:custDash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4605338" y="772710"/>
              <a:ext cx="209550" cy="162329"/>
              <a:chOff x="4605338" y="772710"/>
              <a:chExt cx="209550" cy="16232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05338" y="917173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5B647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605338" y="772710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5B64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605338" y="79057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5B647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705350" y="79057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5B647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805363" y="79057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5B6475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946142" y="778192"/>
              <a:ext cx="3641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7.3.1 对偶原理 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（课程已删除，仅作阅读提示）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6904" y="1108710"/>
              <a:ext cx="4584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把命题中的 ≤ 与 ≥、× 与 ⊕ 互换，得到的对偶命题在格中同样成立；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本讲义里成对出现的公式（如两条分配不等式）就互为对偶。</a:t>
              </a:r>
            </a:p>
          </p:txBody>
        </p:sp>
      </p:grpSp>
      <p:grpSp>
        <p:nvGrpSpPr>
          <p:cNvPr id="65" name="group-other"/>
          <p:cNvGrpSpPr/>
          <p:nvPr/>
        </p:nvGrpSpPr>
        <p:grpSpPr>
          <a:xfrm>
            <a:off x="4381500" y="1866900"/>
            <a:ext cx="7277100" cy="2000250"/>
            <a:chOff x="4381500" y="1866900"/>
            <a:chExt cx="7277100" cy="2000250"/>
          </a:xfrm>
        </p:grpSpPr>
        <p:sp>
          <p:nvSpPr>
            <p:cNvPr id="22" name="Rectangle 22"/>
            <p:cNvSpPr/>
            <p:nvPr/>
          </p:nvSpPr>
          <p:spPr>
            <a:xfrm>
              <a:off x="4381500" y="18669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45330" y="1885950"/>
              <a:ext cx="28831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7.3.2 格的其他性质：四个定理</a:t>
              </a:r>
            </a:p>
          </p:txBody>
        </p:sp>
        <p:grpSp>
          <p:nvGrpSpPr>
            <p:cNvPr id="33" name="badge-731"/>
            <p:cNvGrpSpPr/>
            <p:nvPr/>
          </p:nvGrpSpPr>
          <p:grpSpPr>
            <a:xfrm>
              <a:off x="4381500" y="2209800"/>
              <a:ext cx="3562350" cy="781050"/>
              <a:chOff x="4381500" y="2209800"/>
              <a:chExt cx="3562350" cy="7810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81500" y="2209800"/>
                <a:ext cx="35623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4514850" y="2390775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4624388" y="2511425"/>
                <a:ext cx="200026" cy="177800"/>
                <a:chOff x="4624388" y="2511425"/>
                <a:chExt cx="200026" cy="1778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624388" y="2655888"/>
                  <a:ext cx="200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9525">
                      <a:moveTo>
                        <a:pt x="20002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624388" y="2511425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33338" y="66675"/>
                      </a:moveTo>
                      <a:lnTo>
                        <a:pt x="0" y="33338"/>
                      </a:lnTo>
                      <a:lnTo>
                        <a:pt x="33338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624388" y="2544763"/>
                  <a:ext cx="200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9525">
                      <a:moveTo>
                        <a:pt x="0" y="0"/>
                      </a:moveTo>
                      <a:lnTo>
                        <a:pt x="200026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791076" y="2622550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66675"/>
                      </a:moveTo>
                      <a:lnTo>
                        <a:pt x="33338" y="3333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5041392" y="2368868"/>
                <a:ext cx="22690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定理 7.3.1 · 序与运算互译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042154" y="2670810"/>
                <a:ext cx="202341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≤ b ⇔ a × b = a ⇔ a ⊕ b = b</a:t>
                </a:r>
              </a:p>
            </p:txBody>
          </p:sp>
        </p:grpSp>
        <p:grpSp>
          <p:nvGrpSpPr>
            <p:cNvPr id="43" name="badge-732"/>
            <p:cNvGrpSpPr/>
            <p:nvPr/>
          </p:nvGrpSpPr>
          <p:grpSpPr>
            <a:xfrm>
              <a:off x="8096250" y="2209800"/>
              <a:ext cx="3562350" cy="781050"/>
              <a:chOff x="8096250" y="2209800"/>
              <a:chExt cx="3562350" cy="7810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096250" y="2209800"/>
                <a:ext cx="35623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8229600" y="2390775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350250" y="2500313"/>
                <a:ext cx="177800" cy="200026"/>
                <a:chOff x="8350250" y="2500313"/>
                <a:chExt cx="177800" cy="200026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383588" y="2500313"/>
                  <a:ext cx="9525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6">
                      <a:moveTo>
                        <a:pt x="0" y="0"/>
                      </a:moveTo>
                      <a:lnTo>
                        <a:pt x="0" y="200026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350250" y="2500313"/>
                  <a:ext cx="6667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33338">
                      <a:moveTo>
                        <a:pt x="66675" y="33338"/>
                      </a:moveTo>
                      <a:lnTo>
                        <a:pt x="33338" y="0"/>
                      </a:ln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461375" y="2667001"/>
                  <a:ext cx="6667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33338">
                      <a:moveTo>
                        <a:pt x="66675" y="0"/>
                      </a:moveTo>
                      <a:lnTo>
                        <a:pt x="33338" y="3333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494713" y="2500313"/>
                  <a:ext cx="9525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6">
                      <a:moveTo>
                        <a:pt x="0" y="20002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756142" y="2368868"/>
                <a:ext cx="19055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定理 7.3.2 · 运算保序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756904" y="2670810"/>
                <a:ext cx="21607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b ≤ c ⇒ a×b ≤ a×c，a⊕b ≤ a⊕c</a:t>
                </a:r>
              </a:p>
            </p:txBody>
          </p:sp>
        </p:grpSp>
        <p:grpSp>
          <p:nvGrpSpPr>
            <p:cNvPr id="53" name="badge-733"/>
            <p:cNvGrpSpPr/>
            <p:nvPr/>
          </p:nvGrpSpPr>
          <p:grpSpPr>
            <a:xfrm>
              <a:off x="4381500" y="3086100"/>
              <a:ext cx="3562350" cy="781050"/>
              <a:chOff x="4381500" y="3086100"/>
              <a:chExt cx="3562350" cy="7810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381500" y="3086100"/>
                <a:ext cx="35623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4514850" y="3267075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4624388" y="3387725"/>
                <a:ext cx="200026" cy="177800"/>
                <a:chOff x="4624388" y="3387725"/>
                <a:chExt cx="200026" cy="1778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624388" y="3476625"/>
                  <a:ext cx="200026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55563">
                      <a:moveTo>
                        <a:pt x="200026" y="55563"/>
                      </a:moveTo>
                      <a:lnTo>
                        <a:pt x="111125" y="55563"/>
                      </a:lnTo>
                      <a:lnTo>
                        <a:pt x="7223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696675" y="3421063"/>
                  <a:ext cx="127739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739" h="55563">
                      <a:moveTo>
                        <a:pt x="127739" y="0"/>
                      </a:moveTo>
                      <a:lnTo>
                        <a:pt x="38838" y="0"/>
                      </a:lnTo>
                      <a:lnTo>
                        <a:pt x="0" y="55563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791076" y="3387725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66675"/>
                      </a:moveTo>
                      <a:lnTo>
                        <a:pt x="33338" y="3333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4791076" y="3498850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66675"/>
                      </a:moveTo>
                      <a:lnTo>
                        <a:pt x="33338" y="3333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5041392" y="3245168"/>
                <a:ext cx="20873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定理 7.3.3 · 分配不等式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042154" y="3547110"/>
                <a:ext cx="228188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⊕ (b × c) ≤ (a ⊕ b) × (a ⊕ c)</a:t>
                </a:r>
              </a:p>
            </p:txBody>
          </p:sp>
        </p:grpSp>
        <p:grpSp>
          <p:nvGrpSpPr>
            <p:cNvPr id="64" name="badge-734"/>
            <p:cNvGrpSpPr/>
            <p:nvPr/>
          </p:nvGrpSpPr>
          <p:grpSpPr>
            <a:xfrm>
              <a:off x="8096250" y="3086100"/>
              <a:ext cx="3562350" cy="781050"/>
              <a:chOff x="8096250" y="3086100"/>
              <a:chExt cx="3562350" cy="7810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8096250" y="3086100"/>
                <a:ext cx="35623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229600" y="3267075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8339138" y="3376613"/>
                <a:ext cx="200025" cy="198438"/>
                <a:chOff x="8339138" y="3376613"/>
                <a:chExt cx="200025" cy="198438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8383588" y="3565526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372475" y="3398838"/>
                  <a:ext cx="133350" cy="1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113">
                      <a:moveTo>
                        <a:pt x="0" y="11113"/>
                      </a:moveTo>
                      <a:lnTo>
                        <a:pt x="66675" y="0"/>
                      </a:lnTo>
                      <a:lnTo>
                        <a:pt x="133350" y="11113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439150" y="3376613"/>
                  <a:ext cx="9525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8913">
                      <a:moveTo>
                        <a:pt x="0" y="0"/>
                      </a:moveTo>
                      <a:lnTo>
                        <a:pt x="0" y="188913"/>
                      </a:ln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339138" y="3409950"/>
                  <a:ext cx="6667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3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3"/>
                        <a:pt x="33338" y="100013"/>
                      </a:cubicBezTo>
                      <a:cubicBezTo>
                        <a:pt x="51749" y="100013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472488" y="3409950"/>
                  <a:ext cx="6667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3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3"/>
                        <a:pt x="33338" y="100013"/>
                      </a:cubicBezTo>
                      <a:cubicBezTo>
                        <a:pt x="51749" y="100013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22225">
                  <a:solidFill>
                    <a:srgbClr val="C2410C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8756142" y="3245168"/>
                <a:ext cx="19055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定理 7.3.4 · 模不等式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756904" y="3547110"/>
                <a:ext cx="1991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≤ b ⇔ a⊕(b×c) ≤ b×(a⊕c)</a:t>
                </a:r>
              </a:p>
            </p:txBody>
          </p:sp>
        </p:grpSp>
      </p:grpSp>
      <p:grpSp>
        <p:nvGrpSpPr>
          <p:cNvPr id="97" name="group-morphism"/>
          <p:cNvGrpSpPr/>
          <p:nvPr/>
        </p:nvGrpSpPr>
        <p:grpSpPr>
          <a:xfrm>
            <a:off x="4381500" y="4095750"/>
            <a:ext cx="7277100" cy="1504950"/>
            <a:chOff x="4381500" y="4095750"/>
            <a:chExt cx="7277100" cy="1504950"/>
          </a:xfrm>
        </p:grpSpPr>
        <p:sp>
          <p:nvSpPr>
            <p:cNvPr id="66" name="Rectangle 66"/>
            <p:cNvSpPr/>
            <p:nvPr/>
          </p:nvSpPr>
          <p:spPr>
            <a:xfrm>
              <a:off x="4381500" y="409575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545330" y="4114800"/>
              <a:ext cx="3690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7.3.3 格的同态与同构：怎样比较两个格</a:t>
              </a:r>
            </a:p>
          </p:txBody>
        </p:sp>
        <p:grpSp>
          <p:nvGrpSpPr>
            <p:cNvPr id="76" name="badge-hom"/>
            <p:cNvGrpSpPr/>
            <p:nvPr/>
          </p:nvGrpSpPr>
          <p:grpSpPr>
            <a:xfrm>
              <a:off x="4381500" y="4419600"/>
              <a:ext cx="2324100" cy="1181100"/>
              <a:chOff x="4381500" y="4419600"/>
              <a:chExt cx="2324100" cy="11811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4381500" y="4419600"/>
                <a:ext cx="2324100" cy="1181100"/>
              </a:xfrm>
              <a:prstGeom prst="roundRect">
                <a:avLst>
                  <a:gd name="adj" fmla="val 12903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4583906" y="4583906"/>
                <a:ext cx="185737" cy="185737"/>
                <a:chOff x="4583906" y="4583906"/>
                <a:chExt cx="185737" cy="185737"/>
              </a:xfrm>
            </p:grpSpPr>
            <p:sp>
              <p:nvSpPr>
                <p:cNvPr id="69" name="Freeform 69"/>
                <p:cNvSpPr/>
                <p:nvPr/>
              </p:nvSpPr>
              <p:spPr>
                <a:xfrm>
                  <a:off x="4583906" y="4583906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2" y="0"/>
                        <a:pt x="61912" y="4620"/>
                        <a:pt x="61912" y="10319"/>
                      </a:cubicBezTo>
                      <a:lnTo>
                        <a:pt x="61912" y="51594"/>
                      </a:lnTo>
                      <a:cubicBezTo>
                        <a:pt x="61912" y="57292"/>
                        <a:pt x="57292" y="61912"/>
                        <a:pt x="51594" y="61912"/>
                      </a:cubicBezTo>
                      <a:lnTo>
                        <a:pt x="10319" y="61912"/>
                      </a:lnTo>
                      <a:cubicBezTo>
                        <a:pt x="4620" y="61912"/>
                        <a:pt x="0" y="57292"/>
                        <a:pt x="0" y="51594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4707731" y="4707731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2" y="0"/>
                        <a:pt x="61912" y="4620"/>
                        <a:pt x="61912" y="10319"/>
                      </a:cubicBezTo>
                      <a:lnTo>
                        <a:pt x="61912" y="51594"/>
                      </a:lnTo>
                      <a:cubicBezTo>
                        <a:pt x="61912" y="57292"/>
                        <a:pt x="57292" y="61912"/>
                        <a:pt x="51594" y="61912"/>
                      </a:cubicBezTo>
                      <a:lnTo>
                        <a:pt x="10319" y="61912"/>
                      </a:lnTo>
                      <a:cubicBezTo>
                        <a:pt x="4620" y="61912"/>
                        <a:pt x="0" y="57292"/>
                        <a:pt x="0" y="51594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4687093" y="4583906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82550" y="82550"/>
                      </a:moveTo>
                      <a:lnTo>
                        <a:pt x="82550" y="51594"/>
                      </a:lnTo>
                      <a:cubicBezTo>
                        <a:pt x="82550" y="40196"/>
                        <a:pt x="73310" y="30956"/>
                        <a:pt x="61912" y="30956"/>
                      </a:cubicBezTo>
                      <a:lnTo>
                        <a:pt x="0" y="30956"/>
                      </a:lnTo>
                      <a:lnTo>
                        <a:pt x="30956" y="61912"/>
                      </a:lnTo>
                      <a:moveTo>
                        <a:pt x="30956" y="0"/>
                      </a:moveTo>
                      <a:lnTo>
                        <a:pt x="0" y="30956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4583906" y="468709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0"/>
                      </a:moveTo>
                      <a:lnTo>
                        <a:pt x="0" y="30956"/>
                      </a:lnTo>
                      <a:cubicBezTo>
                        <a:pt x="0" y="42354"/>
                        <a:pt x="9240" y="51594"/>
                        <a:pt x="20637" y="51594"/>
                      </a:cubicBezTo>
                      <a:lnTo>
                        <a:pt x="82550" y="51594"/>
                      </a:lnTo>
                      <a:lnTo>
                        <a:pt x="51594" y="20637"/>
                      </a:lnTo>
                      <a:moveTo>
                        <a:pt x="51594" y="82550"/>
                      </a:moveTo>
                      <a:lnTo>
                        <a:pt x="82550" y="51594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4869942" y="4597718"/>
                <a:ext cx="9601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同态 · 同构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4547235" y="4926806"/>
                <a:ext cx="1519174" cy="448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g(a × b) = g(a) ∧ g(b)</a:t>
                </a:r>
                <a:br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g(a ⊕ b) = g(a) ∨ g(b)</a:t>
                </a:r>
              </a:p>
            </p:txBody>
          </p:sp>
        </p:grpSp>
        <p:grpSp>
          <p:nvGrpSpPr>
            <p:cNvPr id="87" name="badge-theorems"/>
            <p:cNvGrpSpPr/>
            <p:nvPr/>
          </p:nvGrpSpPr>
          <p:grpSpPr>
            <a:xfrm>
              <a:off x="6858000" y="4419600"/>
              <a:ext cx="2324100" cy="1181100"/>
              <a:chOff x="6858000" y="4419600"/>
              <a:chExt cx="2324100" cy="118110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6858000" y="4419600"/>
                <a:ext cx="2324100" cy="1181100"/>
              </a:xfrm>
              <a:prstGeom prst="roundRect">
                <a:avLst>
                  <a:gd name="adj" fmla="val 12903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grpSp>
            <p:nvGrpSpPr>
              <p:cNvPr id="84" name="Group 84"/>
              <p:cNvGrpSpPr/>
              <p:nvPr/>
            </p:nvGrpSpPr>
            <p:grpSpPr>
              <a:xfrm>
                <a:off x="7065566" y="4599384"/>
                <a:ext cx="170258" cy="149622"/>
                <a:chOff x="7065566" y="4599384"/>
                <a:chExt cx="170258" cy="149622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7065566" y="4599384"/>
                  <a:ext cx="41275" cy="25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25797">
                      <a:moveTo>
                        <a:pt x="0" y="10319"/>
                      </a:moveTo>
                      <a:lnTo>
                        <a:pt x="15478" y="25797"/>
                      </a:lnTo>
                      <a:lnTo>
                        <a:pt x="41275" y="0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7065566" y="4661297"/>
                  <a:ext cx="41275" cy="25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25797">
                      <a:moveTo>
                        <a:pt x="0" y="10319"/>
                      </a:moveTo>
                      <a:lnTo>
                        <a:pt x="15478" y="25797"/>
                      </a:lnTo>
                      <a:lnTo>
                        <a:pt x="41275" y="0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7065566" y="4723209"/>
                  <a:ext cx="41275" cy="25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25797">
                      <a:moveTo>
                        <a:pt x="0" y="10319"/>
                      </a:moveTo>
                      <a:lnTo>
                        <a:pt x="15478" y="25797"/>
                      </a:lnTo>
                      <a:lnTo>
                        <a:pt x="41275" y="0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7142956" y="4614862"/>
                  <a:ext cx="9286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8" h="9525">
                      <a:moveTo>
                        <a:pt x="0" y="0"/>
                      </a:moveTo>
                      <a:lnTo>
                        <a:pt x="92868" y="0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7142956" y="4676775"/>
                  <a:ext cx="9286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8" h="9525">
                      <a:moveTo>
                        <a:pt x="0" y="0"/>
                      </a:moveTo>
                      <a:lnTo>
                        <a:pt x="92868" y="0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7142956" y="4738687"/>
                  <a:ext cx="9286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8" h="9525">
                      <a:moveTo>
                        <a:pt x="0" y="0"/>
                      </a:moveTo>
                      <a:lnTo>
                        <a:pt x="92868" y="0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7346442" y="4597718"/>
                <a:ext cx="15889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定理 7.3.5–7.3.7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7023735" y="4907756"/>
                <a:ext cx="1149350" cy="658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725"/>
                  </a:lnSpc>
                </a:pPr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同态 ⇒ 保序</a:t>
                </a:r>
                <a:br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自同态的像是子格</a:t>
                </a:r>
                <a:br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同构的逆仍是同构</a:t>
                </a:r>
              </a:p>
            </p:txBody>
          </p:sp>
        </p:grpSp>
        <p:grpSp>
          <p:nvGrpSpPr>
            <p:cNvPr id="96" name="badge-ndim"/>
            <p:cNvGrpSpPr/>
            <p:nvPr/>
          </p:nvGrpSpPr>
          <p:grpSpPr>
            <a:xfrm>
              <a:off x="9334500" y="4419600"/>
              <a:ext cx="2324100" cy="1181100"/>
              <a:chOff x="9334500" y="4419600"/>
              <a:chExt cx="2324100" cy="1181100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9334500" y="4419600"/>
                <a:ext cx="2324100" cy="1181100"/>
              </a:xfrm>
              <a:prstGeom prst="roundRect">
                <a:avLst>
                  <a:gd name="adj" fmla="val 12903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grpSp>
            <p:nvGrpSpPr>
              <p:cNvPr id="93" name="Group 93"/>
              <p:cNvGrpSpPr/>
              <p:nvPr/>
            </p:nvGrpSpPr>
            <p:grpSpPr>
              <a:xfrm>
                <a:off x="9536906" y="4572669"/>
                <a:ext cx="185737" cy="208201"/>
                <a:chOff x="9536906" y="4572669"/>
                <a:chExt cx="185737" cy="208201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9536906" y="4572669"/>
                  <a:ext cx="185737" cy="208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208201">
                      <a:moveTo>
                        <a:pt x="185737" y="145463"/>
                      </a:moveTo>
                      <a:lnTo>
                        <a:pt x="185737" y="62727"/>
                      </a:lnTo>
                      <a:cubicBezTo>
                        <a:pt x="185724" y="55398"/>
                        <a:pt x="181787" y="48638"/>
                        <a:pt x="175418" y="45010"/>
                      </a:cubicBezTo>
                      <a:lnTo>
                        <a:pt x="103187" y="3653"/>
                      </a:lnTo>
                      <a:cubicBezTo>
                        <a:pt x="96793" y="0"/>
                        <a:pt x="88944" y="0"/>
                        <a:pt x="82550" y="3653"/>
                      </a:cubicBezTo>
                      <a:lnTo>
                        <a:pt x="10319" y="45010"/>
                      </a:lnTo>
                      <a:cubicBezTo>
                        <a:pt x="3931" y="48673"/>
                        <a:pt x="0" y="55432"/>
                        <a:pt x="0" y="62738"/>
                      </a:cubicBezTo>
                      <a:lnTo>
                        <a:pt x="0" y="145473"/>
                      </a:lnTo>
                      <a:cubicBezTo>
                        <a:pt x="0" y="152789"/>
                        <a:pt x="3931" y="159538"/>
                        <a:pt x="10319" y="163191"/>
                      </a:cubicBezTo>
                      <a:lnTo>
                        <a:pt x="82550" y="204548"/>
                      </a:lnTo>
                      <a:cubicBezTo>
                        <a:pt x="88944" y="208201"/>
                        <a:pt x="96793" y="208201"/>
                        <a:pt x="103187" y="204548"/>
                      </a:cubicBezTo>
                      <a:lnTo>
                        <a:pt x="175418" y="163191"/>
                      </a:lnTo>
                      <a:cubicBezTo>
                        <a:pt x="181805" y="159527"/>
                        <a:pt x="185737" y="152769"/>
                        <a:pt x="185737" y="145463"/>
                      </a:cubicBez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9629775" y="4676775"/>
                  <a:ext cx="9525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3187">
                      <a:moveTo>
                        <a:pt x="0" y="1031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9629775" y="4624768"/>
                  <a:ext cx="90082" cy="52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82" h="52006">
                      <a:moveTo>
                        <a:pt x="0" y="52006"/>
                      </a:moveTo>
                      <a:lnTo>
                        <a:pt x="90082" y="0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  <p:sp>
              <p:nvSpPr>
                <p:cNvPr id="92" name="Freeform 92"/>
                <p:cNvSpPr/>
                <p:nvPr/>
              </p:nvSpPr>
              <p:spPr>
                <a:xfrm>
                  <a:off x="9539692" y="4624768"/>
                  <a:ext cx="90082" cy="52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82" h="52006">
                      <a:moveTo>
                        <a:pt x="0" y="0"/>
                      </a:moveTo>
                      <a:lnTo>
                        <a:pt x="90082" y="52006"/>
                      </a:lnTo>
                    </a:path>
                  </a:pathLst>
                </a:custGeom>
                <a:noFill/>
                <a:ln w="20637">
                  <a:solidFill>
                    <a:srgbClr val="0F7A68"/>
                  </a:solidFill>
                </a:ln>
              </p:spPr>
            </p:sp>
          </p:grpSp>
          <p:sp>
            <p:nvSpPr>
              <p:cNvPr id="94" name="TextBox 94"/>
              <p:cNvSpPr txBox="1"/>
              <p:nvPr/>
            </p:nvSpPr>
            <p:spPr>
              <a:xfrm>
                <a:off x="9822942" y="4597718"/>
                <a:ext cx="82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n 维格 Lⁿ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9500235" y="4907756"/>
                <a:ext cx="1512062" cy="658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725"/>
                  </a:lnSpc>
                </a:pPr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按分量比较大小</a:t>
                </a:r>
                <a:br/>
                <a:r>
                  <a:rPr lang="el-GR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ρ({a,b,c}) ≅ L³ ≅ S₃₀</a:t>
                </a:r>
                <a:br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三个格，同一个立方体</a:t>
                </a:r>
              </a:p>
            </p:txBody>
          </p:sp>
        </p:grpSp>
      </p:grpSp>
      <p:grpSp>
        <p:nvGrpSpPr>
          <p:cNvPr id="104" name="method-tip"/>
          <p:cNvGrpSpPr/>
          <p:nvPr/>
        </p:nvGrpSpPr>
        <p:grpSpPr>
          <a:xfrm>
            <a:off x="4381500" y="5753100"/>
            <a:ext cx="7277100" cy="609600"/>
            <a:chOff x="4381500" y="5753100"/>
            <a:chExt cx="7277100" cy="609600"/>
          </a:xfrm>
        </p:grpSpPr>
        <p:sp>
          <p:nvSpPr>
            <p:cNvPr id="98" name="Rectangle 98"/>
            <p:cNvSpPr/>
            <p:nvPr/>
          </p:nvSpPr>
          <p:spPr>
            <a:xfrm>
              <a:off x="4381500" y="5753100"/>
              <a:ext cx="7277100" cy="609600"/>
            </a:xfrm>
            <a:prstGeom prst="roundRect">
              <a:avLst>
                <a:gd name="adj" fmla="val 2187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4610100" y="5943600"/>
              <a:ext cx="228599" cy="228600"/>
              <a:chOff x="4610100" y="5943600"/>
              <a:chExt cx="228599" cy="2286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4610100" y="5943600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4655515" y="599440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4695190" y="6121399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5002530" y="5972175"/>
              <a:ext cx="56026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证明的主力工具：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 ≤ 翻译成等式 a × b = a，再用运算律计算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528066" y="6573202"/>
            <a:ext cx="20883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DF8"/>
                </a:solidFill>
                <a:latin typeface="+mn-lt"/>
                <a:ea typeface="+mn-ea"/>
                <a:cs typeface="+mn-cs"/>
              </a:rPr>
              <a:t>离散数学II · 第7章 格与布尔代数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025646" cy="960501"/>
            <a:chOff x="519684" y="361950"/>
            <a:chExt cx="402564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序与运算互译，运算保序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thm-731"/>
          <p:cNvGrpSpPr/>
          <p:nvPr/>
        </p:nvGrpSpPr>
        <p:grpSpPr>
          <a:xfrm>
            <a:off x="533400" y="1485900"/>
            <a:ext cx="5372100" cy="1638300"/>
            <a:chOff x="533400" y="1485900"/>
            <a:chExt cx="5372100" cy="16383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72100" cy="1638300"/>
            </a:xfrm>
            <a:prstGeom prst="roundRect">
              <a:avLst>
                <a:gd name="adj" fmla="val 930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7.3.1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序与运算互译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45018"/>
              <a:ext cx="3552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(L, ≤) 是格，a、b 是 L 中任意元素，则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324100"/>
              <a:ext cx="4800600" cy="438150"/>
            </a:xfrm>
            <a:prstGeom prst="roundRect">
              <a:avLst>
                <a:gd name="adj" fmla="val 2608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54467" y="24317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 ≤ b ⇔ a × b = a ⇔ a ⊕ b = 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2877502"/>
              <a:ext cx="26256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证明即定理 7.2.1 证明（续）中的第 2 步</a:t>
              </a:r>
            </a:p>
          </p:txBody>
        </p:sp>
      </p:grpSp>
      <p:grpSp>
        <p:nvGrpSpPr>
          <p:cNvPr id="34" name="example-s6"/>
          <p:cNvGrpSpPr/>
          <p:nvPr/>
        </p:nvGrpSpPr>
        <p:grpSpPr>
          <a:xfrm>
            <a:off x="533400" y="3276600"/>
            <a:ext cx="5372100" cy="1105281"/>
            <a:chOff x="533400" y="3276600"/>
            <a:chExt cx="5372100" cy="1105281"/>
          </a:xfrm>
        </p:grpSpPr>
        <p:sp>
          <p:nvSpPr>
            <p:cNvPr id="17" name="Rectangle 17"/>
            <p:cNvSpPr/>
            <p:nvPr/>
          </p:nvSpPr>
          <p:spPr>
            <a:xfrm>
              <a:off x="533400" y="3276600"/>
              <a:ext cx="5372100" cy="110490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3900" y="3409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632" y="34709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8542" y="3464242"/>
              <a:ext cx="1969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(S₆, D) 中，2 | 6：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142" y="3816668"/>
              <a:ext cx="169864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2 × 6 = gcd(2, 6) = </a:t>
              </a:r>
              <a:r>
                <a:rPr lang="zh-CN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2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2 ⊕ 6 = lcm(2, 6) = </a:t>
              </a:r>
              <a:r>
                <a:rPr lang="zh-CN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6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838700" y="3467100"/>
              <a:ext cx="304800" cy="361950"/>
            </a:xfrm>
            <a:custGeom>
              <a:avLst/>
              <a:gdLst/>
              <a:ahLst/>
              <a:cxnLst/>
              <a:rect l="l" t="t" r="r" b="b"/>
              <a:pathLst>
                <a:path w="304800" h="361950">
                  <a:moveTo>
                    <a:pt x="304800" y="0"/>
                  </a:moveTo>
                  <a:lnTo>
                    <a:pt x="0" y="3619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143500" y="3467100"/>
              <a:ext cx="304800" cy="361950"/>
            </a:xfrm>
            <a:custGeom>
              <a:avLst/>
              <a:gdLst/>
              <a:ahLst/>
              <a:cxnLst/>
              <a:rect l="l" t="t" r="r" b="b"/>
              <a:pathLst>
                <a:path w="304800" h="361950">
                  <a:moveTo>
                    <a:pt x="0" y="0"/>
                  </a:moveTo>
                  <a:lnTo>
                    <a:pt x="304800" y="3619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4838700" y="3829050"/>
              <a:ext cx="304800" cy="361950"/>
            </a:xfrm>
            <a:custGeom>
              <a:avLst/>
              <a:gdLst/>
              <a:ahLst/>
              <a:cxnLst/>
              <a:rect l="l" t="t" r="r" b="b"/>
              <a:pathLst>
                <a:path w="304800" h="361950">
                  <a:moveTo>
                    <a:pt x="0" y="0"/>
                  </a:moveTo>
                  <a:lnTo>
                    <a:pt x="304800" y="3619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143500" y="3829050"/>
              <a:ext cx="304800" cy="361950"/>
            </a:xfrm>
            <a:custGeom>
              <a:avLst/>
              <a:gdLst/>
              <a:ahLst/>
              <a:cxnLst/>
              <a:rect l="l" t="t" r="r" b="b"/>
              <a:pathLst>
                <a:path w="304800" h="361950">
                  <a:moveTo>
                    <a:pt x="304800" y="0"/>
                  </a:moveTo>
                  <a:lnTo>
                    <a:pt x="0" y="3619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076825" y="3400425"/>
              <a:ext cx="133350" cy="133350"/>
            </a:xfrm>
            <a:prstGeom prst="ellipse">
              <a:avLst/>
            </a:prstGeom>
            <a:solidFill>
              <a:schemeClr val="accent3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772025" y="3762375"/>
              <a:ext cx="133350" cy="133350"/>
            </a:xfrm>
            <a:prstGeom prst="ellipse">
              <a:avLst/>
            </a:prstGeom>
            <a:solidFill>
              <a:schemeClr val="accent3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91150" y="3771900"/>
              <a:ext cx="114300" cy="1143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086350" y="4133850"/>
              <a:ext cx="114300" cy="1143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9804" y="33851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0405" y="37471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75554" y="37471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89804" y="41471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42" name="think"/>
          <p:cNvGrpSpPr/>
          <p:nvPr/>
        </p:nvGrpSpPr>
        <p:grpSpPr>
          <a:xfrm>
            <a:off x="533400" y="4533900"/>
            <a:ext cx="5372100" cy="1181100"/>
            <a:chOff x="533400" y="4533900"/>
            <a:chExt cx="5372100" cy="1181100"/>
          </a:xfrm>
        </p:grpSpPr>
        <p:sp>
          <p:nvSpPr>
            <p:cNvPr id="35" name="Rectangle 35"/>
            <p:cNvSpPr/>
            <p:nvPr/>
          </p:nvSpPr>
          <p:spPr>
            <a:xfrm>
              <a:off x="533400" y="4533900"/>
              <a:ext cx="5372100" cy="1181100"/>
            </a:xfrm>
            <a:prstGeom prst="roundRect">
              <a:avLst>
                <a:gd name="adj" fmla="val 1290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57238" y="4700588"/>
              <a:ext cx="200026" cy="200026"/>
              <a:chOff x="757238" y="470058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57238" y="47005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7250" y="48450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0582" y="47650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78992" y="4721542"/>
              <a:ext cx="36490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思考：对任意 a, b ∈ L，都有 a × b = a 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142" y="5073968"/>
              <a:ext cx="376847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不是。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 a ≤ b 时才成立。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 S₆ 中 2、3 不可比：2 × 3 = gcd(2, 3) = 1 ≠ 2</a:t>
              </a:r>
            </a:p>
          </p:txBody>
        </p:sp>
      </p:grpSp>
      <p:grpSp>
        <p:nvGrpSpPr>
          <p:cNvPr id="77" name="thm-732"/>
          <p:cNvGrpSpPr/>
          <p:nvPr/>
        </p:nvGrpSpPr>
        <p:grpSpPr>
          <a:xfrm>
            <a:off x="6096000" y="1485900"/>
            <a:ext cx="5562600" cy="4229100"/>
            <a:chOff x="6096000" y="1485900"/>
            <a:chExt cx="5562600" cy="4229100"/>
          </a:xfrm>
        </p:grpSpPr>
        <p:sp>
          <p:nvSpPr>
            <p:cNvPr id="43" name="Rectangle 43"/>
            <p:cNvSpPr/>
            <p:nvPr/>
          </p:nvSpPr>
          <p:spPr>
            <a:xfrm>
              <a:off x="6096000" y="1485900"/>
              <a:ext cx="55626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1638300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70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459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7.3.2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75042" y="1673542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×、⊕ 保序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0142" y="2045018"/>
              <a:ext cx="3615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(L, ≤) 是格，a、b、c ∈ L。若 b ≤ c，则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2324100"/>
              <a:ext cx="4991100" cy="438150"/>
            </a:xfrm>
            <a:prstGeom prst="roundRect">
              <a:avLst>
                <a:gd name="adj" fmla="val 2608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35362" y="2431732"/>
              <a:ext cx="28743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a × b ≤ a × c，a ⊕ b ≤ a ⊕ 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0904" y="2937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6050" y="32194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7303" y="32761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13042" y="32451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b ≤ c ⇒ b × c = 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48943" y="3277552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定理 7.3.1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96050" y="3619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7303" y="3676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13042" y="3645218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 × b) × (a × c) = (a × a) × (b × c)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73309" y="3677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交换律、结合律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96050" y="40195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67303" y="40762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13042" y="4045268"/>
              <a:ext cx="1085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× (b × c)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37971" y="4077652"/>
              <a:ext cx="1035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幂等律 a × a = a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96050" y="44196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67303" y="44762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13042" y="4445318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× 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01267" y="4477702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 ①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96050" y="4819650"/>
              <a:ext cx="228600" cy="2286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67303" y="48763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13042" y="4845368"/>
              <a:ext cx="42631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由定理 7.3.1 得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× b ≤ a × c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；同理 a ⊕ b ≤ a ⊕ c ∎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162550"/>
              <a:ext cx="4991100" cy="400050"/>
            </a:xfrm>
            <a:prstGeom prst="roundRect">
              <a:avLst>
                <a:gd name="adj" fmla="val 2857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638925" y="5276850"/>
              <a:ext cx="171450" cy="171450"/>
              <a:chOff x="6638925" y="5276850"/>
              <a:chExt cx="171450" cy="17145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638925" y="5276850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2"/>
                    </a:lnTo>
                    <a:moveTo>
                      <a:pt x="146685" y="24765"/>
                    </a:moveTo>
                    <a:lnTo>
                      <a:pt x="140018" y="31432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672987" y="5314950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702742" y="5410200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909054" y="5290185"/>
              <a:ext cx="4285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直观：× 像 min、⊕ 像 max，b 换成更大的 c，结果不会变小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8" name="Rectangle 7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134618" y="6003608"/>
              <a:ext cx="54621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证明套路：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 ≤ 换成等式 → 用运算律化简 → 再换回 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4" name="TextBox 84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3662172" cy="960501"/>
            <a:chOff x="519684" y="361950"/>
            <a:chExt cx="366217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分配不等式与模不等式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thm-733"/>
          <p:cNvGrpSpPr/>
          <p:nvPr/>
        </p:nvGrpSpPr>
        <p:grpSpPr>
          <a:xfrm>
            <a:off x="533400" y="1485900"/>
            <a:ext cx="5372100" cy="2362200"/>
            <a:chOff x="533400" y="1485900"/>
            <a:chExt cx="5372100" cy="2362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72100" cy="2362200"/>
            </a:xfrm>
            <a:prstGeom prst="roundRect">
              <a:avLst>
                <a:gd name="adj" fmla="val 645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7.3.3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分配不等式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304" y="2023110"/>
              <a:ext cx="3295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(L, ≤) 是格，对 L 中任意元素 a、b、c 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266950"/>
              <a:ext cx="4800600" cy="666750"/>
            </a:xfrm>
            <a:prstGeom prst="roundRect">
              <a:avLst>
                <a:gd name="adj" fmla="val 1714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7280" y="2371725"/>
              <a:ext cx="282559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 ⊕ (b × c) ≤ (a ⊕ b) × (a ⊕ c)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 × (b ⊕ c) ≥ (a × b) ⊕ (a × c)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47260" y="27060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 是 ≤ 的对偶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685" y="30599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08735" y="3059906"/>
              <a:ext cx="3325622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≤ a⊕b，a ≤ a⊕c ⇒ a ≤ (a⊕b)×(a⊕c)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b×c ≤ b ≤ a⊕b，b×c ≤ c ≤ a⊕c ⇒ b×c ≤ (a⊕b)×(a⊕c)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右边是 a 与 b×c 的上界 ⇒ 不小于最小上界 a⊕(b×c)</a:t>
              </a:r>
            </a:p>
          </p:txBody>
        </p:sp>
      </p:grpSp>
      <p:grpSp>
        <p:nvGrpSpPr>
          <p:cNvPr id="28" name="thm-734"/>
          <p:cNvGrpSpPr/>
          <p:nvPr/>
        </p:nvGrpSpPr>
        <p:grpSpPr>
          <a:xfrm>
            <a:off x="533400" y="4000500"/>
            <a:ext cx="5372100" cy="1714500"/>
            <a:chOff x="533400" y="4000500"/>
            <a:chExt cx="5372100" cy="1714500"/>
          </a:xfrm>
        </p:grpSpPr>
        <p:sp>
          <p:nvSpPr>
            <p:cNvPr id="19" name="Rectangle 19"/>
            <p:cNvSpPr/>
            <p:nvPr/>
          </p:nvSpPr>
          <p:spPr>
            <a:xfrm>
              <a:off x="533400" y="4000500"/>
              <a:ext cx="5372100" cy="1714500"/>
            </a:xfrm>
            <a:prstGeom prst="roundRect">
              <a:avLst>
                <a:gd name="adj" fmla="val 888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4152900"/>
              <a:ext cx="47625" cy="1409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4400" y="41338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3388" y="41948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7.3.4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12442" y="4188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模不等式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780" y="4543425"/>
              <a:ext cx="312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 ≤ b ⇔ a ⊕ (b × c) ≤ b × (a ⊕ c)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685" y="4907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685" y="5384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7285" y="4907756"/>
              <a:ext cx="3204718" cy="6962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≤ b ⇒ a ⊕ b = b（定理 7.3.1），由定理 7.3.3：</a:t>
              </a:r>
              <a:br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⊕ (b × c) ≤ (a ⊕ b) × (a ⊕ c) = b × (a ⊕ c)</a:t>
              </a:r>
            </a:p>
            <a:p>
              <a:pPr algn="l">
                <a:lnSpc>
                  <a:spcPts val="1800"/>
                </a:lnSpc>
                <a:spcBef>
                  <a:spcPts val="150"/>
                </a:spcBef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≤ a ⊕ (b × c) ≤ b × (a ⊕ c) ≤ b ⇒ a ≤ b</a:t>
              </a:r>
            </a:p>
          </p:txBody>
        </p:sp>
      </p:grpSp>
      <p:grpSp>
        <p:nvGrpSpPr>
          <p:cNvPr id="35" name="warning"/>
          <p:cNvGrpSpPr/>
          <p:nvPr/>
        </p:nvGrpSpPr>
        <p:grpSpPr>
          <a:xfrm>
            <a:off x="6096000" y="1485900"/>
            <a:ext cx="5562600" cy="495300"/>
            <a:chOff x="6096000" y="1485900"/>
            <a:chExt cx="5562600" cy="495300"/>
          </a:xfrm>
        </p:grpSpPr>
        <p:sp>
          <p:nvSpPr>
            <p:cNvPr id="29" name="Rectangle 29"/>
            <p:cNvSpPr/>
            <p:nvPr/>
          </p:nvSpPr>
          <p:spPr>
            <a:xfrm>
              <a:off x="6096000" y="1485900"/>
              <a:ext cx="5562600" cy="495300"/>
            </a:xfrm>
            <a:prstGeom prst="roundRect">
              <a:avLst>
                <a:gd name="adj" fmla="val 2692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288729" y="1629846"/>
              <a:ext cx="224134" cy="192560"/>
              <a:chOff x="6288729" y="1629846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00800" y="17002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288729" y="16298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00800" y="17780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622542" y="165449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一般格中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分配律不一定成立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，但分配不等式总成立</a:t>
              </a:r>
            </a:p>
          </p:txBody>
        </p:sp>
      </p:grpSp>
      <p:grpSp>
        <p:nvGrpSpPr>
          <p:cNvPr id="60" name="counter-n5"/>
          <p:cNvGrpSpPr/>
          <p:nvPr/>
        </p:nvGrpSpPr>
        <p:grpSpPr>
          <a:xfrm>
            <a:off x="6096000" y="2095500"/>
            <a:ext cx="5562600" cy="1800606"/>
            <a:chOff x="6096000" y="2095500"/>
            <a:chExt cx="5562600" cy="1800606"/>
          </a:xfrm>
        </p:grpSpPr>
        <p:sp>
          <p:nvSpPr>
            <p:cNvPr id="36" name="Rectangle 36"/>
            <p:cNvSpPr/>
            <p:nvPr/>
          </p:nvSpPr>
          <p:spPr>
            <a:xfrm>
              <a:off x="6096000" y="2095500"/>
              <a:ext cx="5562600" cy="1752600"/>
            </a:xfrm>
            <a:prstGeom prst="roundRect">
              <a:avLst>
                <a:gd name="adj" fmla="val 869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7500" y="2438400"/>
              <a:ext cx="876300" cy="1143000"/>
              <a:chOff x="6667500" y="2438400"/>
              <a:chExt cx="876300" cy="1143000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6667500" y="2438400"/>
                <a:ext cx="4191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381000">
                    <a:moveTo>
                      <a:pt x="41910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6667500" y="2819400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6667500" y="3238500"/>
                <a:ext cx="4191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342900">
                    <a:moveTo>
                      <a:pt x="0" y="0"/>
                    </a:moveTo>
                    <a:lnTo>
                      <a:pt x="419100" y="3429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7086600" y="2438400"/>
                <a:ext cx="4572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571500">
                    <a:moveTo>
                      <a:pt x="0" y="0"/>
                    </a:moveTo>
                    <a:lnTo>
                      <a:pt x="457200" y="571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7086600" y="3009900"/>
                <a:ext cx="4572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571500">
                    <a:moveTo>
                      <a:pt x="45720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7019925" y="2371725"/>
              <a:ext cx="590550" cy="1276350"/>
              <a:chOff x="7019925" y="2371725"/>
              <a:chExt cx="590550" cy="1276350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7019925" y="23717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7477125" y="29432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7019925" y="35147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7" name="Ellipse 47"/>
            <p:cNvSpPr/>
            <p:nvPr/>
          </p:nvSpPr>
          <p:spPr>
            <a:xfrm>
              <a:off x="6591300" y="27432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600825" y="3171825"/>
              <a:ext cx="133350" cy="13335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350356" y="2175510"/>
              <a:ext cx="1510588" cy="1720596"/>
              <a:chOff x="6350356" y="2175510"/>
              <a:chExt cx="1510588" cy="1720596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7036079" y="2175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350356" y="2737485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a₂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350356" y="3156585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a₃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671054" y="2927985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a₁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036079" y="36614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</p:grpSp>
        <p:sp>
          <p:nvSpPr>
            <p:cNvPr id="55" name="Rectangle 55"/>
            <p:cNvSpPr/>
            <p:nvPr/>
          </p:nvSpPr>
          <p:spPr>
            <a:xfrm>
              <a:off x="8096250" y="22288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195310" y="2289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37092" y="2283142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五角格：a₂ 处不分配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89773" y="2662714"/>
              <a:ext cx="2663495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a₂ × (a₁ ⊕ a₃) = a₂ × 1 = </a:t>
              </a:r>
              <a:r>
                <a:rPr lang="en-US" sz="128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a₂</a:t>
              </a:r>
              <a:br/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(a₂ × a₁) ⊕ (a₂ × a₃) = 0 ⊕ a₃ = </a:t>
              </a:r>
              <a:r>
                <a:rPr lang="en-US" sz="128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a₃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90154" y="3280410"/>
              <a:ext cx="22905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a₂ ≠ a₃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：分配等式失败</a:t>
              </a:r>
              <a:br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但 a₂ ≥ a₃，分配不等式仍成立 ✓</a:t>
              </a:r>
            </a:p>
          </p:txBody>
        </p:sp>
      </p:grpSp>
      <p:grpSp>
        <p:nvGrpSpPr>
          <p:cNvPr id="86" name="counter-m3"/>
          <p:cNvGrpSpPr/>
          <p:nvPr/>
        </p:nvGrpSpPr>
        <p:grpSpPr>
          <a:xfrm>
            <a:off x="6096000" y="4000500"/>
            <a:ext cx="5562600" cy="1724406"/>
            <a:chOff x="6096000" y="4000500"/>
            <a:chExt cx="5562600" cy="1724406"/>
          </a:xfrm>
        </p:grpSpPr>
        <p:sp>
          <p:nvSpPr>
            <p:cNvPr id="61" name="Rectangle 61"/>
            <p:cNvSpPr/>
            <p:nvPr/>
          </p:nvSpPr>
          <p:spPr>
            <a:xfrm>
              <a:off x="6096000" y="4000500"/>
              <a:ext cx="5562600" cy="171450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572250" y="4343400"/>
              <a:ext cx="1028700" cy="1066800"/>
              <a:chOff x="6572250" y="4343400"/>
              <a:chExt cx="1028700" cy="1066800"/>
            </a:xfrm>
          </p:grpSpPr>
          <p:sp>
            <p:nvSpPr>
              <p:cNvPr id="62" name="Line 62"/>
              <p:cNvSpPr/>
              <p:nvPr/>
            </p:nvSpPr>
            <p:spPr>
              <a:xfrm>
                <a:off x="6572250" y="4343400"/>
                <a:ext cx="5143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33400">
                    <a:moveTo>
                      <a:pt x="51435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7086600" y="43434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7086600" y="4343400"/>
                <a:ext cx="5143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33400">
                    <a:moveTo>
                      <a:pt x="0" y="0"/>
                    </a:moveTo>
                    <a:lnTo>
                      <a:pt x="51435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6572250" y="4876800"/>
                <a:ext cx="5143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33400">
                    <a:moveTo>
                      <a:pt x="0" y="0"/>
                    </a:moveTo>
                    <a:lnTo>
                      <a:pt x="51435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7086600" y="48768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7086600" y="4876800"/>
                <a:ext cx="5143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33400">
                    <a:moveTo>
                      <a:pt x="51435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73" name="Group 73"/>
            <p:cNvGrpSpPr/>
            <p:nvPr/>
          </p:nvGrpSpPr>
          <p:grpSpPr>
            <a:xfrm>
              <a:off x="7019925" y="4276725"/>
              <a:ext cx="647700" cy="1200150"/>
              <a:chOff x="7019925" y="4276725"/>
              <a:chExt cx="647700" cy="1200150"/>
            </a:xfrm>
          </p:grpSpPr>
          <p:sp>
            <p:nvSpPr>
              <p:cNvPr id="69" name="Ellipse 69"/>
              <p:cNvSpPr/>
              <p:nvPr/>
            </p:nvSpPr>
            <p:spPr>
              <a:xfrm>
                <a:off x="7019925" y="42767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7019925" y="48101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7534275" y="48101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7019925" y="53435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74" name="Ellipse 74"/>
            <p:cNvSpPr/>
            <p:nvPr/>
          </p:nvSpPr>
          <p:spPr>
            <a:xfrm>
              <a:off x="6496050" y="4800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255106" y="4080510"/>
              <a:ext cx="1662988" cy="1644396"/>
              <a:chOff x="6255106" y="4080510"/>
              <a:chExt cx="1662988" cy="1644396"/>
            </a:xfrm>
          </p:grpSpPr>
          <p:sp>
            <p:nvSpPr>
              <p:cNvPr id="75" name="TextBox 75"/>
              <p:cNvSpPr txBox="1"/>
              <p:nvPr/>
            </p:nvSpPr>
            <p:spPr>
              <a:xfrm>
                <a:off x="7036079" y="4080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255106" y="4794885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b₁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175754" y="46901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b₂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728204" y="4794885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b₃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213854" y="54902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</p:grpSp>
        <p:sp>
          <p:nvSpPr>
            <p:cNvPr id="81" name="Rectangle 81"/>
            <p:cNvSpPr/>
            <p:nvPr/>
          </p:nvSpPr>
          <p:spPr>
            <a:xfrm>
              <a:off x="8096250" y="41338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195310" y="4194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737092" y="4188142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钻石格：b₁ 处不分配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089773" y="4567714"/>
              <a:ext cx="2480208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b₁ × (b₂ ⊕ b₃) = b₁ × 1 = </a:t>
              </a:r>
              <a:r>
                <a:rPr lang="en-US" sz="128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b₁</a:t>
              </a:r>
              <a:br/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(b₁ × b₂) ⊕ (b₁ × b₃) = 0 ⊕ 0 = </a:t>
              </a:r>
              <a:r>
                <a:rPr lang="zh-CN" sz="128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090154" y="5166360"/>
              <a:ext cx="22067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b₁ ≠ 0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：分配等式失败</a:t>
              </a:r>
              <a:br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但 b₁ ≥ 0，分配不等式仍成立 ✓</a:t>
              </a:r>
            </a:p>
          </p:txBody>
        </p:sp>
      </p:grpSp>
      <p:grpSp>
        <p:nvGrpSpPr>
          <p:cNvPr id="9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7" name="Rectangle 8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62000" y="6003925"/>
              <a:ext cx="228599" cy="203200"/>
              <a:chOff x="762000" y="6003925"/>
              <a:chExt cx="228599" cy="2032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62000" y="6105525"/>
                <a:ext cx="22859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63500">
                    <a:moveTo>
                      <a:pt x="228599" y="63500"/>
                    </a:moveTo>
                    <a:lnTo>
                      <a:pt x="127000" y="63500"/>
                    </a:lnTo>
                    <a:lnTo>
                      <a:pt x="82550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44613" y="6042025"/>
                <a:ext cx="145986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45986" h="63500">
                    <a:moveTo>
                      <a:pt x="145986" y="0"/>
                    </a:moveTo>
                    <a:lnTo>
                      <a:pt x="44386" y="0"/>
                    </a:lnTo>
                    <a:lnTo>
                      <a:pt x="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952499" y="600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952499" y="6130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134618" y="6003608"/>
              <a:ext cx="7557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任意格只保证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分配不等式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；等号何时成立，7.4 节用五角格、钻石格来判定。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5" name="TextBox 95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479542" cy="960501"/>
            <a:chOff x="519684" y="361950"/>
            <a:chExt cx="547954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格的同态与同构：保持运算的映射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definitions"/>
          <p:cNvGrpSpPr/>
          <p:nvPr/>
        </p:nvGrpSpPr>
        <p:grpSpPr>
          <a:xfrm>
            <a:off x="533400" y="1485900"/>
            <a:ext cx="5372100" cy="4229100"/>
            <a:chOff x="533400" y="1485900"/>
            <a:chExt cx="53721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721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52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格同态映射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923" y="2053114"/>
              <a:ext cx="4068826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设 (L, ×, ⊕) 和 (S, ∧, ∨) 是两个格，L 到 S 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的映射 g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称为格同态映射，如果对任意 a, b ∈ L 都有：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609850"/>
              <a:ext cx="4800600" cy="438150"/>
            </a:xfrm>
            <a:prstGeom prst="roundRect">
              <a:avLst>
                <a:gd name="adj" fmla="val 2608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4266" y="2741771"/>
              <a:ext cx="44608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g(a × b) = g(a) ∧ g(b)，g(a ⊕ b) = g(a) ∨ g(b)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14400" y="32194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4400" y="33528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3460" y="3413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55242" y="34070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自同态映射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923" y="3786664"/>
              <a:ext cx="3705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 L 到 L 内的同态映射，称为格的自同态映射。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14400" y="41148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4400" y="42481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3460" y="4309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55242" y="43024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格同构映射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7923" y="4682014"/>
              <a:ext cx="3800602" cy="782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若 g 是 L 到 S 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的同态映射，且是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一对一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的，则称 g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是格同构映射，并称格 L 与格 S 同构。此时对任意</a:t>
              </a:r>
              <a:br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x ∈ L，y ∈ S：g⁻¹(g(x)) = x，g(g⁻¹(y)) = y</a:t>
              </a:r>
            </a:p>
          </p:txBody>
        </p:sp>
      </p:grpSp>
      <p:grpSp>
        <p:nvGrpSpPr>
          <p:cNvPr id="29" name="skeleton-figure"/>
          <p:cNvGrpSpPr/>
          <p:nvPr/>
        </p:nvGrpSpPr>
        <p:grpSpPr>
          <a:xfrm>
            <a:off x="6096000" y="1485900"/>
            <a:ext cx="5562600" cy="2247900"/>
            <a:chOff x="6096000" y="1485900"/>
            <a:chExt cx="5562600" cy="224790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0" t="23060" r="0" b="23059"/>
            <a:stretch>
              <a:fillRect/>
            </a:stretch>
          </p:blipFill>
          <p:spPr>
            <a:xfrm>
              <a:off x="6096000" y="1485900"/>
              <a:ext cx="5562600" cy="2247900"/>
            </a:xfrm>
            <a:prstGeom prst="roundRect">
              <a:avLst>
                <a:gd name="adj" fmla="val 6779"/>
              </a:avLst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7734300" y="3333750"/>
              <a:ext cx="2286000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01940" y="34137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同构：形状相同，只差名字</a:t>
              </a:r>
            </a:p>
          </p:txBody>
        </p:sp>
      </p:grpSp>
      <p:grpSp>
        <p:nvGrpSpPr>
          <p:cNvPr id="35" name="thm-736"/>
          <p:cNvGrpSpPr/>
          <p:nvPr/>
        </p:nvGrpSpPr>
        <p:grpSpPr>
          <a:xfrm>
            <a:off x="6096000" y="3848100"/>
            <a:ext cx="5562600" cy="1066800"/>
            <a:chOff x="6096000" y="3848100"/>
            <a:chExt cx="5562600" cy="1066800"/>
          </a:xfrm>
        </p:grpSpPr>
        <p:sp>
          <p:nvSpPr>
            <p:cNvPr id="30" name="Rectangle 30"/>
            <p:cNvSpPr/>
            <p:nvPr/>
          </p:nvSpPr>
          <p:spPr>
            <a:xfrm>
              <a:off x="6096000" y="3848100"/>
              <a:ext cx="5562600" cy="10668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396240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5488" y="402336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7.3.6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4542" y="40166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自同态的像是子格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0404" y="4366260"/>
              <a:ext cx="4514088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g 是 (L, ×, ⊕) 的自同态映射 ⇒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g(L) 是 L 的代数子格</a:t>
              </a:r>
            </a:p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关键一步：a′ = g(a)，b′ = g(b) ⇒ a′ × b′ = g(a × b) ∈ g(L)，⊕ 同理</a:t>
              </a:r>
            </a:p>
          </p:txBody>
        </p:sp>
      </p:grpSp>
      <p:grpSp>
        <p:nvGrpSpPr>
          <p:cNvPr id="38" name="thm-737"/>
          <p:cNvGrpSpPr/>
          <p:nvPr/>
        </p:nvGrpSpPr>
        <p:grpSpPr>
          <a:xfrm>
            <a:off x="6096000" y="5029200"/>
            <a:ext cx="5562600" cy="685800"/>
            <a:chOff x="6096000" y="5029200"/>
            <a:chExt cx="5562600" cy="685800"/>
          </a:xfrm>
        </p:grpSpPr>
        <p:sp>
          <p:nvSpPr>
            <p:cNvPr id="36" name="Rectangle 36"/>
            <p:cNvSpPr/>
            <p:nvPr/>
          </p:nvSpPr>
          <p:spPr>
            <a:xfrm>
              <a:off x="6096000" y="5029200"/>
              <a:ext cx="5562600" cy="685800"/>
            </a:xfrm>
            <a:prstGeom prst="roundRect">
              <a:avLst>
                <a:gd name="adj" fmla="val 22222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404" y="5166360"/>
              <a:ext cx="3982593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7.3.7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g 是 L 到 S 上的同构 ⇒ g⁻¹ 是 S 到 L 上的同构</a:t>
              </a:r>
              <a:br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同构双向保序：L 中 a ≤ b ⇔ S 中 g(a) ≤ g(b)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62000" y="5991225"/>
              <a:ext cx="228600" cy="228600"/>
              <a:chOff x="762000" y="5991225"/>
              <a:chExt cx="228600" cy="2286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62000" y="59912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14400" y="6143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89000" y="5991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101600" y="101600"/>
                    </a:moveTo>
                    <a:lnTo>
                      <a:pt x="101600" y="63500"/>
                    </a:lnTo>
                    <a:cubicBezTo>
                      <a:pt x="101600" y="49472"/>
                      <a:pt x="90228" y="38100"/>
                      <a:pt x="76200" y="38100"/>
                    </a:cubicBezTo>
                    <a:lnTo>
                      <a:pt x="0" y="38100"/>
                    </a:lnTo>
                    <a:lnTo>
                      <a:pt x="38100" y="76200"/>
                    </a:lnTo>
                    <a:moveTo>
                      <a:pt x="3810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200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52128"/>
                      <a:pt x="11372" y="63500"/>
                      <a:pt x="25400" y="63500"/>
                    </a:cubicBezTo>
                    <a:lnTo>
                      <a:pt x="101600" y="63500"/>
                    </a:lnTo>
                    <a:lnTo>
                      <a:pt x="63500" y="25400"/>
                    </a:lnTo>
                    <a:moveTo>
                      <a:pt x="63500" y="101600"/>
                    </a:moveTo>
                    <a:lnTo>
                      <a:pt x="10160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34618" y="6003608"/>
              <a:ext cx="77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同态把 × 送到 ∧、⊕ 送到 ∨；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一对一、映上的同态就是同构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，两个格只差名字。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16068" cy="960501"/>
            <a:chOff x="519684" y="361950"/>
            <a:chExt cx="511606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同态保序，但保序不一定是同态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example-hom"/>
          <p:cNvGrpSpPr/>
          <p:nvPr/>
        </p:nvGrpSpPr>
        <p:grpSpPr>
          <a:xfrm>
            <a:off x="533400" y="1485900"/>
            <a:ext cx="5372100" cy="4229100"/>
            <a:chOff x="533400" y="1485900"/>
            <a:chExt cx="53721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721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56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8542" y="1673542"/>
              <a:ext cx="2175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逐情况验证：g 是同态映射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2042160"/>
              <a:ext cx="47213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{a, b}，(ρ(S), ∩, ∪) 是格；L = {0, 1}，0 ≤ 1，(L, ∧, ∨) 是格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g(∅) = g({b}) = 0，g({a}) = g({a, b}) = 1，即 </a:t>
              </a:r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g(X) = 1 ⇔ a ∈ X</a:t>
              </a:r>
            </a:p>
          </p:txBody>
        </p:sp>
        <p:grpSp>
          <p:nvGrpSpPr>
            <p:cNvPr id="62" name="case-table"/>
            <p:cNvGrpSpPr/>
            <p:nvPr/>
          </p:nvGrpSpPr>
          <p:grpSpPr>
            <a:xfrm>
              <a:off x="723900" y="2609850"/>
              <a:ext cx="4991100" cy="1819275"/>
              <a:chOff x="723900" y="2609850"/>
              <a:chExt cx="4991100" cy="181927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23900" y="2609850"/>
                <a:ext cx="4991100" cy="361950"/>
              </a:xfrm>
              <a:prstGeom prst="roundRect">
                <a:avLst>
                  <a:gd name="adj" fmla="val 2105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857500" y="2971800"/>
                <a:ext cx="1428750" cy="14478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4305300" y="2971800"/>
                <a:ext cx="1371600" cy="14478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723900" y="3333750"/>
                <a:ext cx="4991100" cy="1095375"/>
                <a:chOff x="723900" y="3333750"/>
                <a:chExt cx="4991100" cy="1095375"/>
              </a:xfrm>
            </p:grpSpPr>
            <p:sp>
              <p:nvSpPr>
                <p:cNvPr id="15" name="Line 15"/>
                <p:cNvSpPr/>
                <p:nvPr/>
              </p:nvSpPr>
              <p:spPr>
                <a:xfrm>
                  <a:off x="723900" y="3333750"/>
                  <a:ext cx="4991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1100" h="9525">
                      <a:moveTo>
                        <a:pt x="0" y="0"/>
                      </a:moveTo>
                      <a:lnTo>
                        <a:pt x="49911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723900" y="3695700"/>
                  <a:ext cx="4991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1100" h="9525">
                      <a:moveTo>
                        <a:pt x="0" y="0"/>
                      </a:moveTo>
                      <a:lnTo>
                        <a:pt x="49911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723900" y="4057650"/>
                  <a:ext cx="4991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1100" h="9525">
                      <a:moveTo>
                        <a:pt x="0" y="0"/>
                      </a:moveTo>
                      <a:lnTo>
                        <a:pt x="49911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723900" y="4419600"/>
                  <a:ext cx="4991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1100" h="9525">
                      <a:moveTo>
                        <a:pt x="0" y="0"/>
                      </a:moveTo>
                      <a:lnTo>
                        <a:pt x="49911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813570" y="2725102"/>
                <a:ext cx="4827296" cy="205359"/>
                <a:chOff x="813570" y="2725102"/>
                <a:chExt cx="4827296" cy="205359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813570" y="2725102"/>
                  <a:ext cx="3540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a ∈ A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346970" y="2725102"/>
                  <a:ext cx="3540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a ∈ B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865135" y="2725102"/>
                  <a:ext cx="34643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g(A)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2341385" y="2725102"/>
                  <a:ext cx="34643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g(B)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921884" y="2725102"/>
                  <a:ext cx="51893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g(A∩B)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503134" y="2725102"/>
                  <a:ext cx="76613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g(A)∧g(B)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350634" y="2725102"/>
                  <a:ext cx="51893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g(A∪B)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874734" y="2725102"/>
                  <a:ext cx="76613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g(A)∨g(B)</a:t>
                  </a:r>
                </a:p>
              </p:txBody>
            </p:sp>
          </p:grpSp>
          <p:grpSp>
            <p:nvGrpSpPr>
              <p:cNvPr id="61" name="Group 61"/>
              <p:cNvGrpSpPr/>
              <p:nvPr/>
            </p:nvGrpSpPr>
            <p:grpSpPr>
              <a:xfrm>
                <a:off x="909498" y="3088481"/>
                <a:ext cx="4651797" cy="1305878"/>
                <a:chOff x="909498" y="3088481"/>
                <a:chExt cx="4651797" cy="1305878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909498" y="3088481"/>
                  <a:ext cx="1622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Microsoft YaHei"/>
                      <a:cs typeface="Cambria Math"/>
                    </a:rPr>
                    <a:t>是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442898" y="3088481"/>
                  <a:ext cx="1622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Microsoft YaHei"/>
                      <a:cs typeface="Cambria Math"/>
                    </a:rPr>
                    <a:t>是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991172" y="308848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467422" y="308848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134172" y="308848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582706" y="3088481"/>
                  <a:ext cx="6069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 ∧ 1 = 1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4562922" y="308848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4954306" y="3088481"/>
                  <a:ext cx="6069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 ∨ 1 = 1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09498" y="3450431"/>
                  <a:ext cx="1622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Microsoft YaHei"/>
                      <a:cs typeface="Cambria Math"/>
                    </a:rPr>
                    <a:t>是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442898" y="3450431"/>
                  <a:ext cx="1622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Microsoft YaHei"/>
                      <a:cs typeface="Cambria Math"/>
                    </a:rPr>
                    <a:t>否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1991172" y="345043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2467422" y="345043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3134172" y="345043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3582706" y="3450431"/>
                  <a:ext cx="6069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 ∧ 0 = 0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562922" y="345043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4954306" y="3450431"/>
                  <a:ext cx="6069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 ∨ 0 = 1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909498" y="3812381"/>
                  <a:ext cx="1622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Microsoft YaHei"/>
                      <a:cs typeface="Cambria Math"/>
                    </a:rPr>
                    <a:t>否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442898" y="3812381"/>
                  <a:ext cx="1622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Microsoft YaHei"/>
                      <a:cs typeface="Cambria Math"/>
                    </a:rPr>
                    <a:t>是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991172" y="381238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2467422" y="381238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3134172" y="381238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3582706" y="3812381"/>
                  <a:ext cx="6069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 ∧ 1 = 0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4562922" y="381238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4954306" y="3812381"/>
                  <a:ext cx="6069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 ∨ 1 = 1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909498" y="4174331"/>
                  <a:ext cx="1622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Microsoft YaHei"/>
                      <a:cs typeface="Cambria Math"/>
                    </a:rPr>
                    <a:t>否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1442898" y="4174331"/>
                  <a:ext cx="1622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Microsoft YaHei"/>
                      <a:cs typeface="Cambria Math"/>
                    </a:rPr>
                    <a:t>否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1991172" y="417433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2467422" y="417433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3134172" y="417433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3582706" y="4174331"/>
                  <a:ext cx="6069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 ∧ 0 = 0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4562922" y="4174331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4954306" y="4174331"/>
                  <a:ext cx="6069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 ∨ 0 = 0</a:t>
                  </a:r>
                </a:p>
              </p:txBody>
            </p:sp>
          </p:grpSp>
        </p:grpSp>
        <p:sp>
          <p:nvSpPr>
            <p:cNvPr id="63" name="Rectangle 63"/>
            <p:cNvSpPr/>
            <p:nvPr/>
          </p:nvSpPr>
          <p:spPr>
            <a:xfrm>
              <a:off x="723900" y="4572000"/>
              <a:ext cx="4991100" cy="647700"/>
            </a:xfrm>
            <a:prstGeom prst="roundRect">
              <a:avLst>
                <a:gd name="adj" fmla="val 1764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923925" y="47910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94054" y="4699635"/>
              <a:ext cx="3607308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四种情况下两组都相等：g(A∩B) = g(A)∧g(B)，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g(A∪B) = g(A)∨g(B) ⇒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 是 ρ(S) 到 L 上的同态映射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6285" y="5403056"/>
              <a:ext cx="4519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技巧：g 只关心“a 在不在集合里”，按 a 与 A、B 的隶属关系分 4 类</a:t>
              </a:r>
            </a:p>
          </p:txBody>
        </p:sp>
      </p:grpSp>
      <p:grpSp>
        <p:nvGrpSpPr>
          <p:cNvPr id="78" name="thm-735"/>
          <p:cNvGrpSpPr/>
          <p:nvPr/>
        </p:nvGrpSpPr>
        <p:grpSpPr>
          <a:xfrm>
            <a:off x="6096000" y="1485900"/>
            <a:ext cx="5562600" cy="1752600"/>
            <a:chOff x="6096000" y="1485900"/>
            <a:chExt cx="5562600" cy="1752600"/>
          </a:xfrm>
        </p:grpSpPr>
        <p:sp>
          <p:nvSpPr>
            <p:cNvPr id="68" name="Rectangle 68"/>
            <p:cNvSpPr/>
            <p:nvPr/>
          </p:nvSpPr>
          <p:spPr>
            <a:xfrm>
              <a:off x="6096000" y="1485900"/>
              <a:ext cx="5562600" cy="17526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8400" y="1638300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770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459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7.3.5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75042" y="1673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同态一定保序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70904" y="2023110"/>
              <a:ext cx="4374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(L, ×, ⊕)、(S, ∧, ∨) 是格，g 是 L 到 S 内的同态映射，则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477000" y="2266950"/>
              <a:ext cx="4991100" cy="361950"/>
            </a:xfrm>
            <a:prstGeom prst="roundRect">
              <a:avLst>
                <a:gd name="adj" fmla="val 26316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97789" y="2359342"/>
              <a:ext cx="2549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 中 a ≤ b ⇒ S 中 g(a) ≤ g(b)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70904" y="27660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775704" y="2766060"/>
              <a:ext cx="34335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≤ b ⇒ a × b = a ⇒ g(a) ∧ g(b) = g(a × b) = g(a)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⇒ g(a) ≤ g(b)（定理 7.3.1）∎</a:t>
              </a:r>
            </a:p>
          </p:txBody>
        </p:sp>
      </p:grpSp>
      <p:grpSp>
        <p:nvGrpSpPr>
          <p:cNvPr id="123" name="counterexample"/>
          <p:cNvGrpSpPr/>
          <p:nvPr/>
        </p:nvGrpSpPr>
        <p:grpSpPr>
          <a:xfrm>
            <a:off x="6096000" y="3352800"/>
            <a:ext cx="5562600" cy="2362200"/>
            <a:chOff x="6096000" y="3352800"/>
            <a:chExt cx="5562600" cy="2362200"/>
          </a:xfrm>
        </p:grpSpPr>
        <p:sp>
          <p:nvSpPr>
            <p:cNvPr id="79" name="Rectangle 79"/>
            <p:cNvSpPr/>
            <p:nvPr/>
          </p:nvSpPr>
          <p:spPr>
            <a:xfrm>
              <a:off x="6096000" y="3352800"/>
              <a:ext cx="556260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86500" y="34861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85560" y="3547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927342" y="3540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保序，却不是同态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280404" y="3909060"/>
              <a:ext cx="14752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σ₁、σ₂、σ₃ 都保序，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但都破坏了运算：</a:t>
              </a:r>
            </a:p>
          </p:txBody>
        </p:sp>
        <p:grpSp>
          <p:nvGrpSpPr>
            <p:cNvPr id="100" name="hasse-l1"/>
            <p:cNvGrpSpPr/>
            <p:nvPr/>
          </p:nvGrpSpPr>
          <p:grpSpPr>
            <a:xfrm>
              <a:off x="8679923" y="3468052"/>
              <a:ext cx="851954" cy="1031082"/>
              <a:chOff x="8679923" y="3468052"/>
              <a:chExt cx="851954" cy="1031082"/>
            </a:xfrm>
          </p:grpSpPr>
          <p:grpSp>
            <p:nvGrpSpPr>
              <p:cNvPr id="88" name="Group 88"/>
              <p:cNvGrpSpPr/>
              <p:nvPr/>
            </p:nvGrpSpPr>
            <p:grpSpPr>
              <a:xfrm>
                <a:off x="8858250" y="3581400"/>
                <a:ext cx="495300" cy="533400"/>
                <a:chOff x="8858250" y="3581400"/>
                <a:chExt cx="495300" cy="533400"/>
              </a:xfrm>
            </p:grpSpPr>
            <p:sp>
              <p:nvSpPr>
                <p:cNvPr id="84" name="Line 84"/>
                <p:cNvSpPr/>
                <p:nvPr/>
              </p:nvSpPr>
              <p:spPr>
                <a:xfrm>
                  <a:off x="8858250" y="3581400"/>
                  <a:ext cx="2476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66700">
                      <a:moveTo>
                        <a:pt x="24765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5" name="Line 85"/>
                <p:cNvSpPr/>
                <p:nvPr/>
              </p:nvSpPr>
              <p:spPr>
                <a:xfrm>
                  <a:off x="9105900" y="3581400"/>
                  <a:ext cx="2476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66700">
                      <a:moveTo>
                        <a:pt x="0" y="0"/>
                      </a:moveTo>
                      <a:lnTo>
                        <a:pt x="24765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6" name="Line 86"/>
                <p:cNvSpPr/>
                <p:nvPr/>
              </p:nvSpPr>
              <p:spPr>
                <a:xfrm>
                  <a:off x="8858250" y="3848100"/>
                  <a:ext cx="2476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66700">
                      <a:moveTo>
                        <a:pt x="0" y="0"/>
                      </a:moveTo>
                      <a:lnTo>
                        <a:pt x="24765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7" name="Line 87"/>
                <p:cNvSpPr/>
                <p:nvPr/>
              </p:nvSpPr>
              <p:spPr>
                <a:xfrm>
                  <a:off x="9105900" y="3848100"/>
                  <a:ext cx="2476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66700">
                      <a:moveTo>
                        <a:pt x="24765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93" name="Group 93"/>
              <p:cNvGrpSpPr/>
              <p:nvPr/>
            </p:nvGrpSpPr>
            <p:grpSpPr>
              <a:xfrm>
                <a:off x="8810625" y="3533775"/>
                <a:ext cx="590550" cy="628650"/>
                <a:chOff x="8810625" y="3533775"/>
                <a:chExt cx="590550" cy="628650"/>
              </a:xfrm>
            </p:grpSpPr>
            <p:sp>
              <p:nvSpPr>
                <p:cNvPr id="89" name="Ellipse 89"/>
                <p:cNvSpPr/>
                <p:nvPr/>
              </p:nvSpPr>
              <p:spPr>
                <a:xfrm>
                  <a:off x="9058275" y="35337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0" name="Ellipse 90"/>
                <p:cNvSpPr/>
                <p:nvPr/>
              </p:nvSpPr>
              <p:spPr>
                <a:xfrm>
                  <a:off x="8810625" y="38004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1" name="Ellipse 91"/>
                <p:cNvSpPr/>
                <p:nvPr/>
              </p:nvSpPr>
              <p:spPr>
                <a:xfrm>
                  <a:off x="9305925" y="38004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2" name="Ellipse 92"/>
                <p:cNvSpPr/>
                <p:nvPr/>
              </p:nvSpPr>
              <p:spPr>
                <a:xfrm>
                  <a:off x="9058275" y="40671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98" name="Group 98"/>
              <p:cNvGrpSpPr/>
              <p:nvPr/>
            </p:nvGrpSpPr>
            <p:grpSpPr>
              <a:xfrm>
                <a:off x="8679923" y="3468052"/>
                <a:ext cx="851954" cy="834009"/>
                <a:chOff x="8679923" y="3468052"/>
                <a:chExt cx="851954" cy="834009"/>
              </a:xfrm>
            </p:grpSpPr>
            <p:sp>
              <p:nvSpPr>
                <p:cNvPr id="94" name="TextBox 94"/>
                <p:cNvSpPr txBox="1"/>
                <p:nvPr/>
              </p:nvSpPr>
              <p:spPr>
                <a:xfrm>
                  <a:off x="9214866" y="346805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d</a:t>
                  </a:r>
                </a:p>
              </p:txBody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8679923" y="378237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b</a:t>
                  </a:r>
                </a:p>
              </p:txBody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9443466" y="378237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c</a:t>
                  </a:r>
                </a:p>
              </p:txBody>
            </p:sp>
            <p:sp>
              <p:nvSpPr>
                <p:cNvPr id="97" name="TextBox 97"/>
                <p:cNvSpPr txBox="1"/>
                <p:nvPr/>
              </p:nvSpPr>
              <p:spPr>
                <a:xfrm>
                  <a:off x="9214866" y="409670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</p:grpSp>
          <p:sp>
            <p:nvSpPr>
              <p:cNvPr id="99" name="TextBox 99"/>
              <p:cNvSpPr txBox="1"/>
              <p:nvPr/>
            </p:nvSpPr>
            <p:spPr>
              <a:xfrm>
                <a:off x="9008184" y="4279106"/>
                <a:ext cx="1954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L₁</a:t>
                </a:r>
              </a:p>
            </p:txBody>
          </p:sp>
        </p:grpSp>
        <p:grpSp>
          <p:nvGrpSpPr>
            <p:cNvPr id="107" name="hasse-l2"/>
            <p:cNvGrpSpPr/>
            <p:nvPr/>
          </p:nvGrpSpPr>
          <p:grpSpPr>
            <a:xfrm>
              <a:off x="10151184" y="3610928"/>
              <a:ext cx="372836" cy="888206"/>
              <a:chOff x="10151184" y="3610928"/>
              <a:chExt cx="372836" cy="888206"/>
            </a:xfrm>
          </p:grpSpPr>
          <p:sp>
            <p:nvSpPr>
              <p:cNvPr id="101" name="Line 101"/>
              <p:cNvSpPr/>
              <p:nvPr/>
            </p:nvSpPr>
            <p:spPr>
              <a:xfrm>
                <a:off x="10248900" y="36766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10201275" y="362902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10201275" y="401002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10357866" y="36109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d₁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10357866" y="39919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a₁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10151184" y="4279106"/>
                <a:ext cx="1954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L₂</a:t>
                </a:r>
              </a:p>
            </p:txBody>
          </p:sp>
        </p:grpSp>
        <p:grpSp>
          <p:nvGrpSpPr>
            <p:cNvPr id="119" name="hasse-l3"/>
            <p:cNvGrpSpPr/>
            <p:nvPr/>
          </p:nvGrpSpPr>
          <p:grpSpPr>
            <a:xfrm>
              <a:off x="11046534" y="3504724"/>
              <a:ext cx="362089" cy="994410"/>
              <a:chOff x="11046534" y="3504724"/>
              <a:chExt cx="362089" cy="994410"/>
            </a:xfrm>
          </p:grpSpPr>
          <p:sp>
            <p:nvSpPr>
              <p:cNvPr id="108" name="Line 108"/>
              <p:cNvSpPr/>
              <p:nvPr/>
            </p:nvSpPr>
            <p:spPr>
              <a:xfrm>
                <a:off x="11144250" y="3562350"/>
                <a:ext cx="9525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28650">
                    <a:moveTo>
                      <a:pt x="0" y="0"/>
                    </a:moveTo>
                    <a:lnTo>
                      <a:pt x="0" y="6286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11096625" y="351472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11096625" y="372427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11096625" y="393382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11096625" y="4143375"/>
                <a:ext cx="95250" cy="952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grpSp>
            <p:nvGrpSpPr>
              <p:cNvPr id="117" name="Group 117"/>
              <p:cNvGrpSpPr/>
              <p:nvPr/>
            </p:nvGrpSpPr>
            <p:grpSpPr>
              <a:xfrm>
                <a:off x="11253597" y="3504724"/>
                <a:ext cx="155026" cy="819340"/>
                <a:chOff x="11253597" y="3504724"/>
                <a:chExt cx="155026" cy="819340"/>
              </a:xfrm>
            </p:grpSpPr>
            <p:sp>
              <p:nvSpPr>
                <p:cNvPr id="113" name="TextBox 113"/>
                <p:cNvSpPr txBox="1"/>
                <p:nvPr/>
              </p:nvSpPr>
              <p:spPr>
                <a:xfrm>
                  <a:off x="11253597" y="3504724"/>
                  <a:ext cx="15502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d₂</a:t>
                  </a:r>
                </a:p>
              </p:txBody>
            </p:sp>
            <p:sp>
              <p:nvSpPr>
                <p:cNvPr id="114" name="TextBox 114"/>
                <p:cNvSpPr txBox="1"/>
                <p:nvPr/>
              </p:nvSpPr>
              <p:spPr>
                <a:xfrm>
                  <a:off x="11253597" y="3714274"/>
                  <a:ext cx="15502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c₂</a:t>
                  </a:r>
                </a:p>
              </p:txBody>
            </p:sp>
            <p:sp>
              <p:nvSpPr>
                <p:cNvPr id="115" name="TextBox 115"/>
                <p:cNvSpPr txBox="1"/>
                <p:nvPr/>
              </p:nvSpPr>
              <p:spPr>
                <a:xfrm>
                  <a:off x="11253597" y="3923824"/>
                  <a:ext cx="15502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b₂</a:t>
                  </a:r>
                </a:p>
              </p:txBody>
            </p:sp>
            <p:sp>
              <p:nvSpPr>
                <p:cNvPr id="116" name="TextBox 116"/>
                <p:cNvSpPr txBox="1"/>
                <p:nvPr/>
              </p:nvSpPr>
              <p:spPr>
                <a:xfrm>
                  <a:off x="11253597" y="4133374"/>
                  <a:ext cx="15502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a₂</a:t>
                  </a:r>
                </a:p>
              </p:txBody>
            </p:sp>
          </p:grpSp>
          <p:sp>
            <p:nvSpPr>
              <p:cNvPr id="118" name="TextBox 118"/>
              <p:cNvSpPr txBox="1"/>
              <p:nvPr/>
            </p:nvSpPr>
            <p:spPr>
              <a:xfrm>
                <a:off x="11046534" y="4279106"/>
                <a:ext cx="1954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L₃</a:t>
                </a:r>
              </a:p>
            </p:txBody>
          </p:sp>
        </p:grpSp>
        <p:sp>
          <p:nvSpPr>
            <p:cNvPr id="120" name="Line 120"/>
            <p:cNvSpPr/>
            <p:nvPr/>
          </p:nvSpPr>
          <p:spPr>
            <a:xfrm>
              <a:off x="6286500" y="4552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280785" y="4679156"/>
              <a:ext cx="2137918" cy="829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σ₁：a, b, c ↦ a₁；d ↦ d₁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σ₂：a ↦ a₁；b, c, d ↦ d₁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σ₃：a, b, c, d ↦ a₂, b₂, c₂, d₂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662035" y="4679156"/>
              <a:ext cx="2388260" cy="829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σ₁(b ⊕ c) = </a:t>
              </a:r>
              <a:r>
                <a:rPr lang="en-US" sz="11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d₁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，σ₁(b) ⊕ σ₁(c) = </a:t>
              </a:r>
              <a:r>
                <a:rPr lang="en-US" sz="11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a₁</a:t>
              </a:r>
              <a:br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σ₂(b × c) = </a:t>
              </a:r>
              <a:r>
                <a:rPr lang="en-US" sz="11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a₁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，σ₂(b) × σ₂(c) = </a:t>
              </a:r>
              <a:r>
                <a:rPr lang="en-US" sz="11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d₁</a:t>
              </a:r>
              <a:br/>
              <a:r>
                <a:rPr lang="el-GR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σ₃(b ⊕ c) = </a:t>
              </a:r>
              <a:r>
                <a:rPr lang="en-US" sz="11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d₂</a:t>
              </a: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，σ₃(b) ⊕ σ₃(c) = </a:t>
              </a:r>
              <a:r>
                <a:rPr lang="en-US" sz="11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c₂</a:t>
              </a:r>
            </a:p>
          </p:txBody>
        </p:sp>
      </p:grpSp>
      <p:grpSp>
        <p:nvGrpSpPr>
          <p:cNvPr id="13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24" name="Rectangle 12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29" name="Group 129"/>
            <p:cNvGrpSpPr/>
            <p:nvPr/>
          </p:nvGrpSpPr>
          <p:grpSpPr>
            <a:xfrm>
              <a:off x="774700" y="5991225"/>
              <a:ext cx="203200" cy="228599"/>
              <a:chOff x="774700" y="5991225"/>
              <a:chExt cx="203200" cy="228599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812800" y="5991225"/>
                <a:ext cx="9525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599">
                    <a:moveTo>
                      <a:pt x="0" y="0"/>
                    </a:moveTo>
                    <a:lnTo>
                      <a:pt x="0" y="2285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774700" y="5991225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76200" y="38100"/>
                    </a:moveTo>
                    <a:lnTo>
                      <a:pt x="38100" y="0"/>
                    </a:ln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901700" y="6181724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76200" y="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939799" y="5991225"/>
                <a:ext cx="9525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599">
                    <a:moveTo>
                      <a:pt x="0" y="228599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30" name="TextBox 130"/>
            <p:cNvSpPr txBox="1"/>
            <p:nvPr/>
          </p:nvSpPr>
          <p:spPr>
            <a:xfrm>
              <a:off x="1134618" y="6003608"/>
              <a:ext cx="7194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 ⇒ 保序 ✓，保序 ⇒ 同态 ✗：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验证同态要逐一检查 × 与 ⊕ 两个等式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3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32" name="TextBox 132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076995" cy="960501"/>
            <a:chOff x="519684" y="361950"/>
            <a:chExt cx="507699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格的性质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0769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维格：三个格，同一个立方体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-ndim"/>
          <p:cNvGrpSpPr/>
          <p:nvPr/>
        </p:nvGrpSpPr>
        <p:grpSpPr>
          <a:xfrm>
            <a:off x="533400" y="1485900"/>
            <a:ext cx="5067300" cy="2209800"/>
            <a:chOff x="533400" y="1485900"/>
            <a:chExt cx="5067300" cy="2209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067300" cy="2209800"/>
            </a:xfrm>
            <a:prstGeom prst="roundRect">
              <a:avLst>
                <a:gd name="adj" fmla="val 689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90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5242" y="1673542"/>
              <a:ext cx="1436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维格 (Lⁿ, ≤ₙ)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304" y="2023110"/>
              <a:ext cx="3837432" cy="977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L = {0, 1}，0 ≤ 1，(L, ≤) 是格，对应代数格 (L, ∧, ∨)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Lⁿ = {(a₁, …, aₙ) | aᵢ ∈ L，i = 1, …, n}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(a₁, …, aₙ) ≤ₙ (b₁, …, bₙ) ⇔ aᵢ ≤ bᵢ（i = 1, …, n）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(Lⁿ, ≤ₙ) 是格，称为 </a:t>
              </a:r>
              <a:r>
                <a:rPr lang="zh-CN" sz="120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n 维格</a:t>
              </a: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；对应代数格 (Lⁿ, ×, ⊕)：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009900"/>
              <a:ext cx="4495800" cy="571500"/>
            </a:xfrm>
            <a:prstGeom prst="roundRect">
              <a:avLst>
                <a:gd name="adj" fmla="val 2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1085" y="3117056"/>
              <a:ext cx="3346958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12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(a₁, …, aₙ) × (b₁, …, bₙ) = (a₁ ∧ b₁, …, aₙ ∧ bₙ)</a:t>
              </a:r>
              <a:br/>
              <a:r>
                <a:rPr lang="en-US" sz="112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(a₁, …, aₙ) ⊕ (b₁, …, bₙ) = (a₁ ∨ b₁, …, aₙ ∨ bₙ)</a:t>
              </a:r>
            </a:p>
          </p:txBody>
        </p:sp>
      </p:grpSp>
      <p:grpSp>
        <p:nvGrpSpPr>
          <p:cNvPr id="24" name="example-iso"/>
          <p:cNvGrpSpPr/>
          <p:nvPr/>
        </p:nvGrpSpPr>
        <p:grpSpPr>
          <a:xfrm>
            <a:off x="533400" y="3848100"/>
            <a:ext cx="5067300" cy="1866900"/>
            <a:chOff x="533400" y="3848100"/>
            <a:chExt cx="5067300" cy="1866900"/>
          </a:xfrm>
        </p:grpSpPr>
        <p:sp>
          <p:nvSpPr>
            <p:cNvPr id="16" name="Rectangle 16"/>
            <p:cNvSpPr/>
            <p:nvPr/>
          </p:nvSpPr>
          <p:spPr>
            <a:xfrm>
              <a:off x="533400" y="3848100"/>
              <a:ext cx="50673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3900" y="39814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632" y="40424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8542" y="4035742"/>
              <a:ext cx="2775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|S| = n ⇒ (ρ(S), ⊆) ≅ (Lⁿ, ≤ₙ)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285" y="4393406"/>
              <a:ext cx="424307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S = {s₁, …, sₙ}，g(A) = (a₁, …, aₙ)，aᵢ = 1 ⇔ sᵢ ∈ A；g 一对一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任取 A、B，设 g(A ∩ B) = (c₁, …, cₙ)，则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3900" y="4857750"/>
              <a:ext cx="4686300" cy="3810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3316" y="4975860"/>
              <a:ext cx="4047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cᵢ = 1 ⇔ sᵢ ∈ A ∩ B ⇔ aᵢ = 1 且 bᵢ = 1 ⇒ cᵢ = aᵢ ∧ bᵢ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285" y="5403056"/>
              <a:ext cx="41400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故 g(A ∩ B) = g(A) × g(B)；同理 g(A ∪ B) = g(A) ⊕ g(B) ∎</a:t>
              </a:r>
            </a:p>
          </p:txBody>
        </p:sp>
      </p:grpSp>
      <p:grpSp>
        <p:nvGrpSpPr>
          <p:cNvPr id="132" name="cubes"/>
          <p:cNvGrpSpPr/>
          <p:nvPr/>
        </p:nvGrpSpPr>
        <p:grpSpPr>
          <a:xfrm>
            <a:off x="5753100" y="1485900"/>
            <a:ext cx="5905500" cy="4229100"/>
            <a:chOff x="5753100" y="1485900"/>
            <a:chExt cx="5905500" cy="4229100"/>
          </a:xfrm>
        </p:grpSpPr>
        <p:sp>
          <p:nvSpPr>
            <p:cNvPr id="25" name="Rectangle 25"/>
            <p:cNvSpPr/>
            <p:nvPr/>
          </p:nvSpPr>
          <p:spPr>
            <a:xfrm>
              <a:off x="5753100" y="1485900"/>
              <a:ext cx="59055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54527" y="1614964"/>
              <a:ext cx="1568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(ρ({a, b, c}), ⊆)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45601" y="1614964"/>
              <a:ext cx="2006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(S₃₀, ×, ⊕)：gcd、lcm</a:t>
              </a:r>
            </a:p>
          </p:txBody>
        </p:sp>
        <p:grpSp>
          <p:nvGrpSpPr>
            <p:cNvPr id="59" name="cube-powerset"/>
            <p:cNvGrpSpPr/>
            <p:nvPr/>
          </p:nvGrpSpPr>
          <p:grpSpPr>
            <a:xfrm>
              <a:off x="5878073" y="1859756"/>
              <a:ext cx="2721854" cy="2334578"/>
              <a:chOff x="5878073" y="1859756"/>
              <a:chExt cx="2721854" cy="2334578"/>
            </a:xfrm>
          </p:grpSpPr>
          <p:grpSp>
            <p:nvGrpSpPr>
              <p:cNvPr id="40" name="Group 40"/>
              <p:cNvGrpSpPr/>
              <p:nvPr/>
            </p:nvGrpSpPr>
            <p:grpSpPr>
              <a:xfrm>
                <a:off x="6477000" y="2114550"/>
                <a:ext cx="1533525" cy="1752600"/>
                <a:chOff x="6477000" y="2114550"/>
                <a:chExt cx="1533525" cy="1752600"/>
              </a:xfrm>
            </p:grpSpPr>
            <p:sp>
              <p:nvSpPr>
                <p:cNvPr id="28" name="Line 28"/>
                <p:cNvSpPr/>
                <p:nvPr/>
              </p:nvSpPr>
              <p:spPr>
                <a:xfrm>
                  <a:off x="6477000" y="2114550"/>
                  <a:ext cx="76200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52450">
                      <a:moveTo>
                        <a:pt x="76200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9" name="Line 29"/>
                <p:cNvSpPr/>
                <p:nvPr/>
              </p:nvSpPr>
              <p:spPr>
                <a:xfrm>
                  <a:off x="7239000" y="211455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0" name="Line 30"/>
                <p:cNvSpPr/>
                <p:nvPr/>
              </p:nvSpPr>
              <p:spPr>
                <a:xfrm>
                  <a:off x="7239000" y="2114550"/>
                  <a:ext cx="76200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52450">
                      <a:moveTo>
                        <a:pt x="0" y="0"/>
                      </a:moveTo>
                      <a:lnTo>
                        <a:pt x="76200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1" name="Line 31"/>
                <p:cNvSpPr/>
                <p:nvPr/>
              </p:nvSpPr>
              <p:spPr>
                <a:xfrm>
                  <a:off x="6477000" y="2667000"/>
                  <a:ext cx="9525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47700">
                      <a:moveTo>
                        <a:pt x="0" y="0"/>
                      </a:moveTo>
                      <a:lnTo>
                        <a:pt x="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2" name="Line 32"/>
                <p:cNvSpPr/>
                <p:nvPr/>
              </p:nvSpPr>
              <p:spPr>
                <a:xfrm>
                  <a:off x="6477000" y="2667000"/>
                  <a:ext cx="7620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647700">
                      <a:moveTo>
                        <a:pt x="0" y="0"/>
                      </a:moveTo>
                      <a:lnTo>
                        <a:pt x="76200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3" name="Line 33"/>
                <p:cNvSpPr/>
                <p:nvPr/>
              </p:nvSpPr>
              <p:spPr>
                <a:xfrm>
                  <a:off x="6477000" y="2667000"/>
                  <a:ext cx="7620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647700">
                      <a:moveTo>
                        <a:pt x="762000" y="0"/>
                      </a:moveTo>
                      <a:lnTo>
                        <a:pt x="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7239000" y="2667000"/>
                  <a:ext cx="7620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647700">
                      <a:moveTo>
                        <a:pt x="0" y="0"/>
                      </a:moveTo>
                      <a:lnTo>
                        <a:pt x="76200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5" name="Line 35"/>
                <p:cNvSpPr/>
                <p:nvPr/>
              </p:nvSpPr>
              <p:spPr>
                <a:xfrm>
                  <a:off x="7239000" y="2667000"/>
                  <a:ext cx="7620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647700">
                      <a:moveTo>
                        <a:pt x="762000" y="0"/>
                      </a:moveTo>
                      <a:lnTo>
                        <a:pt x="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6" name="Line 36"/>
                <p:cNvSpPr/>
                <p:nvPr/>
              </p:nvSpPr>
              <p:spPr>
                <a:xfrm>
                  <a:off x="8001000" y="2667000"/>
                  <a:ext cx="9525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47700">
                      <a:moveTo>
                        <a:pt x="0" y="0"/>
                      </a:moveTo>
                      <a:lnTo>
                        <a:pt x="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7" name="Line 37"/>
                <p:cNvSpPr/>
                <p:nvPr/>
              </p:nvSpPr>
              <p:spPr>
                <a:xfrm>
                  <a:off x="6477000" y="3314700"/>
                  <a:ext cx="76200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52450">
                      <a:moveTo>
                        <a:pt x="0" y="0"/>
                      </a:moveTo>
                      <a:lnTo>
                        <a:pt x="76200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8" name="Line 38"/>
                <p:cNvSpPr/>
                <p:nvPr/>
              </p:nvSpPr>
              <p:spPr>
                <a:xfrm>
                  <a:off x="7239000" y="331470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9" name="Line 39"/>
                <p:cNvSpPr/>
                <p:nvPr/>
              </p:nvSpPr>
              <p:spPr>
                <a:xfrm>
                  <a:off x="7239000" y="3314700"/>
                  <a:ext cx="76200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52450">
                      <a:moveTo>
                        <a:pt x="76200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6410325" y="2047875"/>
                <a:ext cx="1657350" cy="1885950"/>
                <a:chOff x="6410325" y="2047875"/>
                <a:chExt cx="1657350" cy="1885950"/>
              </a:xfrm>
            </p:grpSpPr>
            <p:sp>
              <p:nvSpPr>
                <p:cNvPr id="41" name="Ellipse 41"/>
                <p:cNvSpPr/>
                <p:nvPr/>
              </p:nvSpPr>
              <p:spPr>
                <a:xfrm>
                  <a:off x="7172325" y="20478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6410325" y="26003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7172325" y="26003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4" name="Ellipse 44"/>
                <p:cNvSpPr/>
                <p:nvPr/>
              </p:nvSpPr>
              <p:spPr>
                <a:xfrm>
                  <a:off x="7934325" y="26003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5" name="Ellipse 45"/>
                <p:cNvSpPr/>
                <p:nvPr/>
              </p:nvSpPr>
              <p:spPr>
                <a:xfrm>
                  <a:off x="6410325" y="32480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6" name="Ellipse 46"/>
                <p:cNvSpPr/>
                <p:nvPr/>
              </p:nvSpPr>
              <p:spPr>
                <a:xfrm>
                  <a:off x="7172325" y="32480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7" name="Ellipse 47"/>
                <p:cNvSpPr/>
                <p:nvPr/>
              </p:nvSpPr>
              <p:spPr>
                <a:xfrm>
                  <a:off x="7934325" y="32480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8" name="Ellipse 48"/>
                <p:cNvSpPr/>
                <p:nvPr/>
              </p:nvSpPr>
              <p:spPr>
                <a:xfrm>
                  <a:off x="7172325" y="38004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5878073" y="1859756"/>
                <a:ext cx="2721854" cy="2334578"/>
                <a:chOff x="5878073" y="1859756"/>
                <a:chExt cx="2721854" cy="2334578"/>
              </a:xfrm>
            </p:grpSpPr>
            <p:sp>
              <p:nvSpPr>
                <p:cNvPr id="50" name="TextBox 50"/>
                <p:cNvSpPr txBox="1"/>
                <p:nvPr/>
              </p:nvSpPr>
              <p:spPr>
                <a:xfrm>
                  <a:off x="6897812" y="1859756"/>
                  <a:ext cx="68237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 b, c}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5878073" y="2593181"/>
                  <a:ext cx="47129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 b}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7328535" y="2478881"/>
                  <a:ext cx="42606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{a,c}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8128635" y="2593181"/>
                  <a:ext cx="47129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{b, c}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089157" y="3240881"/>
                  <a:ext cx="26020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{a}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7328535" y="3383756"/>
                  <a:ext cx="26020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{b}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8128635" y="3240881"/>
                  <a:ext cx="26020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{c}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7191822" y="3974306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∅</a:t>
                  </a:r>
                </a:p>
              </p:txBody>
            </p:sp>
          </p:grpSp>
        </p:grpSp>
        <p:grpSp>
          <p:nvGrpSpPr>
            <p:cNvPr id="63" name="iso-arrow"/>
            <p:cNvGrpSpPr/>
            <p:nvPr/>
          </p:nvGrpSpPr>
          <p:grpSpPr>
            <a:xfrm>
              <a:off x="8496300" y="2747010"/>
              <a:ext cx="533400" cy="310515"/>
              <a:chOff x="8496300" y="2747010"/>
              <a:chExt cx="533400" cy="310515"/>
            </a:xfrm>
          </p:grpSpPr>
          <p:sp>
            <p:nvSpPr>
              <p:cNvPr id="60" name="Line 60"/>
              <p:cNvSpPr/>
              <p:nvPr/>
            </p:nvSpPr>
            <p:spPr>
              <a:xfrm>
                <a:off x="8496300" y="2990850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915400" y="2924175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0" y="0"/>
                    </a:moveTo>
                    <a:lnTo>
                      <a:pt x="114300" y="66675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691208" y="27470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</p:grpSp>
        <p:grpSp>
          <p:nvGrpSpPr>
            <p:cNvPr id="95" name="cube-s30"/>
            <p:cNvGrpSpPr/>
            <p:nvPr/>
          </p:nvGrpSpPr>
          <p:grpSpPr>
            <a:xfrm>
              <a:off x="9258605" y="1851660"/>
              <a:ext cx="2069439" cy="2349246"/>
              <a:chOff x="9258605" y="1851660"/>
              <a:chExt cx="2069439" cy="2349246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9486900" y="2114550"/>
                <a:ext cx="1533525" cy="1752600"/>
                <a:chOff x="9486900" y="2114550"/>
                <a:chExt cx="1533525" cy="1752600"/>
              </a:xfrm>
            </p:grpSpPr>
            <p:sp>
              <p:nvSpPr>
                <p:cNvPr id="64" name="Line 64"/>
                <p:cNvSpPr/>
                <p:nvPr/>
              </p:nvSpPr>
              <p:spPr>
                <a:xfrm>
                  <a:off x="9486900" y="2114550"/>
                  <a:ext cx="76200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52450">
                      <a:moveTo>
                        <a:pt x="76200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5" name="Line 65"/>
                <p:cNvSpPr/>
                <p:nvPr/>
              </p:nvSpPr>
              <p:spPr>
                <a:xfrm>
                  <a:off x="10248900" y="211455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6" name="Line 66"/>
                <p:cNvSpPr/>
                <p:nvPr/>
              </p:nvSpPr>
              <p:spPr>
                <a:xfrm>
                  <a:off x="10248900" y="2114550"/>
                  <a:ext cx="76200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52450">
                      <a:moveTo>
                        <a:pt x="0" y="0"/>
                      </a:moveTo>
                      <a:lnTo>
                        <a:pt x="76200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7" name="Line 67"/>
                <p:cNvSpPr/>
                <p:nvPr/>
              </p:nvSpPr>
              <p:spPr>
                <a:xfrm>
                  <a:off x="9486900" y="2667000"/>
                  <a:ext cx="9525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47700">
                      <a:moveTo>
                        <a:pt x="0" y="0"/>
                      </a:moveTo>
                      <a:lnTo>
                        <a:pt x="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8" name="Line 68"/>
                <p:cNvSpPr/>
                <p:nvPr/>
              </p:nvSpPr>
              <p:spPr>
                <a:xfrm>
                  <a:off x="9486900" y="2667000"/>
                  <a:ext cx="7620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647700">
                      <a:moveTo>
                        <a:pt x="0" y="0"/>
                      </a:moveTo>
                      <a:lnTo>
                        <a:pt x="76200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9" name="Line 69"/>
                <p:cNvSpPr/>
                <p:nvPr/>
              </p:nvSpPr>
              <p:spPr>
                <a:xfrm>
                  <a:off x="9486900" y="2667000"/>
                  <a:ext cx="7620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647700">
                      <a:moveTo>
                        <a:pt x="762000" y="0"/>
                      </a:moveTo>
                      <a:lnTo>
                        <a:pt x="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0" name="Line 70"/>
                <p:cNvSpPr/>
                <p:nvPr/>
              </p:nvSpPr>
              <p:spPr>
                <a:xfrm>
                  <a:off x="10248900" y="2667000"/>
                  <a:ext cx="7620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647700">
                      <a:moveTo>
                        <a:pt x="0" y="0"/>
                      </a:moveTo>
                      <a:lnTo>
                        <a:pt x="76200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1" name="Line 71"/>
                <p:cNvSpPr/>
                <p:nvPr/>
              </p:nvSpPr>
              <p:spPr>
                <a:xfrm>
                  <a:off x="10248900" y="2667000"/>
                  <a:ext cx="7620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647700">
                      <a:moveTo>
                        <a:pt x="762000" y="0"/>
                      </a:moveTo>
                      <a:lnTo>
                        <a:pt x="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2" name="Line 72"/>
                <p:cNvSpPr/>
                <p:nvPr/>
              </p:nvSpPr>
              <p:spPr>
                <a:xfrm>
                  <a:off x="11010900" y="2667000"/>
                  <a:ext cx="9525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47700">
                      <a:moveTo>
                        <a:pt x="0" y="0"/>
                      </a:moveTo>
                      <a:lnTo>
                        <a:pt x="0" y="647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3" name="Line 73"/>
                <p:cNvSpPr/>
                <p:nvPr/>
              </p:nvSpPr>
              <p:spPr>
                <a:xfrm>
                  <a:off x="9486900" y="3314700"/>
                  <a:ext cx="76200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52450">
                      <a:moveTo>
                        <a:pt x="0" y="0"/>
                      </a:moveTo>
                      <a:lnTo>
                        <a:pt x="76200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4" name="Line 74"/>
                <p:cNvSpPr/>
                <p:nvPr/>
              </p:nvSpPr>
              <p:spPr>
                <a:xfrm>
                  <a:off x="10248900" y="331470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5" name="Line 75"/>
                <p:cNvSpPr/>
                <p:nvPr/>
              </p:nvSpPr>
              <p:spPr>
                <a:xfrm>
                  <a:off x="10248900" y="3314700"/>
                  <a:ext cx="76200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52450">
                      <a:moveTo>
                        <a:pt x="76200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85" name="Group 85"/>
              <p:cNvGrpSpPr/>
              <p:nvPr/>
            </p:nvGrpSpPr>
            <p:grpSpPr>
              <a:xfrm>
                <a:off x="9420225" y="2047875"/>
                <a:ext cx="1657350" cy="1885950"/>
                <a:chOff x="9420225" y="2047875"/>
                <a:chExt cx="1657350" cy="1885950"/>
              </a:xfrm>
            </p:grpSpPr>
            <p:sp>
              <p:nvSpPr>
                <p:cNvPr id="77" name="Ellipse 77"/>
                <p:cNvSpPr/>
                <p:nvPr/>
              </p:nvSpPr>
              <p:spPr>
                <a:xfrm>
                  <a:off x="10182225" y="20478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78" name="Ellipse 78"/>
                <p:cNvSpPr/>
                <p:nvPr/>
              </p:nvSpPr>
              <p:spPr>
                <a:xfrm>
                  <a:off x="9420225" y="26003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79" name="Ellipse 79"/>
                <p:cNvSpPr/>
                <p:nvPr/>
              </p:nvSpPr>
              <p:spPr>
                <a:xfrm>
                  <a:off x="10182225" y="26003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80" name="Ellipse 80"/>
                <p:cNvSpPr/>
                <p:nvPr/>
              </p:nvSpPr>
              <p:spPr>
                <a:xfrm>
                  <a:off x="10944225" y="26003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81" name="Ellipse 81"/>
                <p:cNvSpPr/>
                <p:nvPr/>
              </p:nvSpPr>
              <p:spPr>
                <a:xfrm>
                  <a:off x="9420225" y="32480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82" name="Ellipse 82"/>
                <p:cNvSpPr/>
                <p:nvPr/>
              </p:nvSpPr>
              <p:spPr>
                <a:xfrm>
                  <a:off x="10182225" y="32480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83" name="Ellipse 83"/>
                <p:cNvSpPr/>
                <p:nvPr/>
              </p:nvSpPr>
              <p:spPr>
                <a:xfrm>
                  <a:off x="10944225" y="324802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84" name="Ellipse 84"/>
                <p:cNvSpPr/>
                <p:nvPr/>
              </p:nvSpPr>
              <p:spPr>
                <a:xfrm>
                  <a:off x="10182225" y="3800475"/>
                  <a:ext cx="133350" cy="1333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2"/>
                  </a:solidFill>
                </a:ln>
              </p:spPr>
            </p:sp>
          </p:grpSp>
          <p:grpSp>
            <p:nvGrpSpPr>
              <p:cNvPr id="94" name="Group 94"/>
              <p:cNvGrpSpPr/>
              <p:nvPr/>
            </p:nvGrpSpPr>
            <p:grpSpPr>
              <a:xfrm>
                <a:off x="9258605" y="1851660"/>
                <a:ext cx="2069439" cy="2349246"/>
                <a:chOff x="9258605" y="1851660"/>
                <a:chExt cx="2069439" cy="2349246"/>
              </a:xfrm>
            </p:grpSpPr>
            <p:sp>
              <p:nvSpPr>
                <p:cNvPr id="86" name="TextBox 86"/>
                <p:cNvSpPr txBox="1"/>
                <p:nvPr/>
              </p:nvSpPr>
              <p:spPr>
                <a:xfrm>
                  <a:off x="10153955" y="185166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30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9258605" y="258508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6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10338054" y="247078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10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11138154" y="2585085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15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9258605" y="323278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2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10338054" y="33756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3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11138154" y="323278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5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10198379" y="39662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</p:grpSp>
        </p:grpSp>
        <p:grpSp>
          <p:nvGrpSpPr>
            <p:cNvPr id="130" name="iso-table"/>
            <p:cNvGrpSpPr/>
            <p:nvPr/>
          </p:nvGrpSpPr>
          <p:grpSpPr>
            <a:xfrm>
              <a:off x="5905500" y="4248150"/>
              <a:ext cx="5600700" cy="1085850"/>
              <a:chOff x="5905500" y="4248150"/>
              <a:chExt cx="5600700" cy="1085850"/>
            </a:xfrm>
          </p:grpSpPr>
          <p:sp>
            <p:nvSpPr>
              <p:cNvPr id="96" name="Rectangle 96"/>
              <p:cNvSpPr/>
              <p:nvPr/>
            </p:nvSpPr>
            <p:spPr>
              <a:xfrm>
                <a:off x="5905500" y="4248150"/>
                <a:ext cx="5600700" cy="1085850"/>
              </a:xfrm>
              <a:prstGeom prst="roundRect">
                <a:avLst>
                  <a:gd name="adj" fmla="val 8772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7" name="Line 97"/>
              <p:cNvSpPr/>
              <p:nvPr/>
            </p:nvSpPr>
            <p:spPr>
              <a:xfrm>
                <a:off x="5905500" y="4610100"/>
                <a:ext cx="5600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00700" h="9525">
                    <a:moveTo>
                      <a:pt x="0" y="0"/>
                    </a:moveTo>
                    <a:lnTo>
                      <a:pt x="5600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8" name="Line 98"/>
              <p:cNvSpPr/>
              <p:nvPr/>
            </p:nvSpPr>
            <p:spPr>
              <a:xfrm>
                <a:off x="5905500" y="4972050"/>
                <a:ext cx="5600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00700" h="9525">
                    <a:moveTo>
                      <a:pt x="0" y="0"/>
                    </a:moveTo>
                    <a:lnTo>
                      <a:pt x="5600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9" name="Line 99"/>
              <p:cNvSpPr/>
              <p:nvPr/>
            </p:nvSpPr>
            <p:spPr>
              <a:xfrm>
                <a:off x="6591300" y="4305300"/>
                <a:ext cx="952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71550">
                    <a:moveTo>
                      <a:pt x="0" y="0"/>
                    </a:moveTo>
                    <a:lnTo>
                      <a:pt x="0" y="9715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103" name="Group 103"/>
              <p:cNvGrpSpPr/>
              <p:nvPr/>
            </p:nvGrpSpPr>
            <p:grpSpPr>
              <a:xfrm>
                <a:off x="6063612" y="4355306"/>
                <a:ext cx="369576" cy="943928"/>
                <a:chOff x="6063612" y="4355306"/>
                <a:chExt cx="369576" cy="943928"/>
              </a:xfrm>
            </p:grpSpPr>
            <p:sp>
              <p:nvSpPr>
                <p:cNvPr id="100" name="TextBox 100"/>
                <p:cNvSpPr txBox="1"/>
                <p:nvPr/>
              </p:nvSpPr>
              <p:spPr>
                <a:xfrm>
                  <a:off x="6063612" y="4355306"/>
                  <a:ext cx="36957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l-GR" sz="112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ρ(S)</a:t>
                  </a: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6150684" y="4717256"/>
                  <a:ext cx="19543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L³</a:t>
                  </a:r>
                </a:p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6104684" y="5079206"/>
                  <a:ext cx="28743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S₃₀</a:t>
                  </a:r>
                </a:p>
              </p:txBody>
            </p:sp>
          </p:grpSp>
          <p:grpSp>
            <p:nvGrpSpPr>
              <p:cNvPr id="120" name="Group 120"/>
              <p:cNvGrpSpPr/>
              <p:nvPr/>
            </p:nvGrpSpPr>
            <p:grpSpPr>
              <a:xfrm>
                <a:off x="6618665" y="4363402"/>
                <a:ext cx="4822069" cy="567309"/>
                <a:chOff x="6618665" y="4363402"/>
                <a:chExt cx="4822069" cy="567309"/>
              </a:xfrm>
            </p:grpSpPr>
            <p:sp>
              <p:nvSpPr>
                <p:cNvPr id="104" name="TextBox 104"/>
                <p:cNvSpPr txBox="1"/>
                <p:nvPr/>
              </p:nvSpPr>
              <p:spPr>
                <a:xfrm>
                  <a:off x="6851894" y="436340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∅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7383751" y="4363402"/>
                  <a:ext cx="2438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{a}</a:t>
                  </a:r>
                </a:p>
              </p:txBody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7993351" y="4363402"/>
                  <a:ext cx="2438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{b}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8602951" y="4363402"/>
                  <a:ext cx="2438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{c}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9134808" y="4363402"/>
                  <a:ext cx="39938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{a,b}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9744408" y="4363402"/>
                  <a:ext cx="39938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{a,c}</a:t>
                  </a:r>
                </a:p>
              </p:txBody>
            </p:sp>
            <p:sp>
              <p:nvSpPr>
                <p:cNvPr id="110" name="TextBox 110"/>
                <p:cNvSpPr txBox="1"/>
                <p:nvPr/>
              </p:nvSpPr>
              <p:spPr>
                <a:xfrm>
                  <a:off x="10354008" y="4363402"/>
                  <a:ext cx="39938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{b,c}</a:t>
                  </a:r>
                </a:p>
              </p:txBody>
            </p:sp>
            <p:sp>
              <p:nvSpPr>
                <p:cNvPr id="111" name="TextBox 111"/>
                <p:cNvSpPr txBox="1"/>
                <p:nvPr/>
              </p:nvSpPr>
              <p:spPr>
                <a:xfrm>
                  <a:off x="10885865" y="436340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{a,b,c}</a:t>
                  </a:r>
                </a:p>
              </p:txBody>
            </p:sp>
            <p:sp>
              <p:nvSpPr>
                <p:cNvPr id="112" name="TextBox 112"/>
                <p:cNvSpPr txBox="1"/>
                <p:nvPr/>
              </p:nvSpPr>
              <p:spPr>
                <a:xfrm>
                  <a:off x="6618665" y="47253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(0,0,0)</a:t>
                  </a:r>
                </a:p>
              </p:txBody>
            </p:sp>
            <p:sp>
              <p:nvSpPr>
                <p:cNvPr id="113" name="TextBox 113"/>
                <p:cNvSpPr txBox="1"/>
                <p:nvPr/>
              </p:nvSpPr>
              <p:spPr>
                <a:xfrm>
                  <a:off x="7228265" y="47253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(1,0,0)</a:t>
                  </a:r>
                </a:p>
              </p:txBody>
            </p:sp>
            <p:sp>
              <p:nvSpPr>
                <p:cNvPr id="114" name="TextBox 114"/>
                <p:cNvSpPr txBox="1"/>
                <p:nvPr/>
              </p:nvSpPr>
              <p:spPr>
                <a:xfrm>
                  <a:off x="7837865" y="47253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(0,1,0)</a:t>
                  </a:r>
                </a:p>
              </p:txBody>
            </p:sp>
            <p:sp>
              <p:nvSpPr>
                <p:cNvPr id="115" name="TextBox 115"/>
                <p:cNvSpPr txBox="1"/>
                <p:nvPr/>
              </p:nvSpPr>
              <p:spPr>
                <a:xfrm>
                  <a:off x="8447465" y="47253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(0,0,1)</a:t>
                  </a:r>
                </a:p>
              </p:txBody>
            </p:sp>
            <p:sp>
              <p:nvSpPr>
                <p:cNvPr id="116" name="TextBox 116"/>
                <p:cNvSpPr txBox="1"/>
                <p:nvPr/>
              </p:nvSpPr>
              <p:spPr>
                <a:xfrm>
                  <a:off x="9057065" y="47253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(1,1,0)</a:t>
                  </a:r>
                </a:p>
              </p:txBody>
            </p:sp>
            <p:sp>
              <p:nvSpPr>
                <p:cNvPr id="117" name="TextBox 117"/>
                <p:cNvSpPr txBox="1"/>
                <p:nvPr/>
              </p:nvSpPr>
              <p:spPr>
                <a:xfrm>
                  <a:off x="9666665" y="47253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(1,0,1)</a:t>
                  </a:r>
                </a:p>
              </p:txBody>
            </p:sp>
            <p:sp>
              <p:nvSpPr>
                <p:cNvPr id="118" name="TextBox 118"/>
                <p:cNvSpPr txBox="1"/>
                <p:nvPr/>
              </p:nvSpPr>
              <p:spPr>
                <a:xfrm>
                  <a:off x="10276265" y="47253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(0,1,1)</a:t>
                  </a:r>
                </a:p>
              </p:txBody>
            </p:sp>
            <p:sp>
              <p:nvSpPr>
                <p:cNvPr id="119" name="TextBox 119"/>
                <p:cNvSpPr txBox="1"/>
                <p:nvPr/>
              </p:nvSpPr>
              <p:spPr>
                <a:xfrm>
                  <a:off x="10885865" y="47253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(1,1,1)</a:t>
                  </a:r>
                </a:p>
              </p:txBody>
            </p:sp>
          </p:grpSp>
          <p:grpSp>
            <p:nvGrpSpPr>
              <p:cNvPr id="129" name="Group 129"/>
              <p:cNvGrpSpPr/>
              <p:nvPr/>
            </p:nvGrpSpPr>
            <p:grpSpPr>
              <a:xfrm>
                <a:off x="6846849" y="5079206"/>
                <a:ext cx="4409238" cy="220028"/>
                <a:chOff x="6846849" y="5079206"/>
                <a:chExt cx="4409238" cy="220028"/>
              </a:xfrm>
            </p:grpSpPr>
            <p:sp>
              <p:nvSpPr>
                <p:cNvPr id="121" name="TextBox 121"/>
                <p:cNvSpPr txBox="1"/>
                <p:nvPr/>
              </p:nvSpPr>
              <p:spPr>
                <a:xfrm>
                  <a:off x="6846849" y="5079206"/>
                  <a:ext cx="9850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122" name="TextBox 122"/>
                <p:cNvSpPr txBox="1"/>
                <p:nvPr/>
              </p:nvSpPr>
              <p:spPr>
                <a:xfrm>
                  <a:off x="7456449" y="5079206"/>
                  <a:ext cx="9850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2</a:t>
                  </a:r>
                </a:p>
              </p:txBody>
            </p:sp>
            <p:sp>
              <p:nvSpPr>
                <p:cNvPr id="123" name="TextBox 123"/>
                <p:cNvSpPr txBox="1"/>
                <p:nvPr/>
              </p:nvSpPr>
              <p:spPr>
                <a:xfrm>
                  <a:off x="8066049" y="5079206"/>
                  <a:ext cx="9850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3</a:t>
                  </a:r>
                </a:p>
              </p:txBody>
            </p:sp>
            <p:sp>
              <p:nvSpPr>
                <p:cNvPr id="124" name="TextBox 124"/>
                <p:cNvSpPr txBox="1"/>
                <p:nvPr/>
              </p:nvSpPr>
              <p:spPr>
                <a:xfrm>
                  <a:off x="8675649" y="5079206"/>
                  <a:ext cx="9850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5</a:t>
                  </a:r>
                </a:p>
              </p:txBody>
            </p:sp>
            <p:sp>
              <p:nvSpPr>
                <p:cNvPr id="125" name="TextBox 125"/>
                <p:cNvSpPr txBox="1"/>
                <p:nvPr/>
              </p:nvSpPr>
              <p:spPr>
                <a:xfrm>
                  <a:off x="9285249" y="5079206"/>
                  <a:ext cx="9850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6</a:t>
                  </a:r>
                </a:p>
              </p:txBody>
            </p:sp>
            <p:sp>
              <p:nvSpPr>
                <p:cNvPr id="126" name="TextBox 126"/>
                <p:cNvSpPr txBox="1"/>
                <p:nvPr/>
              </p:nvSpPr>
              <p:spPr>
                <a:xfrm>
                  <a:off x="9851313" y="5079206"/>
                  <a:ext cx="1855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10</a:t>
                  </a:r>
                </a:p>
              </p:txBody>
            </p:sp>
            <p:sp>
              <p:nvSpPr>
                <p:cNvPr id="127" name="TextBox 127"/>
                <p:cNvSpPr txBox="1"/>
                <p:nvPr/>
              </p:nvSpPr>
              <p:spPr>
                <a:xfrm>
                  <a:off x="10460913" y="5079206"/>
                  <a:ext cx="1855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15</a:t>
                  </a:r>
                </a:p>
              </p:txBody>
            </p:sp>
            <p:sp>
              <p:nvSpPr>
                <p:cNvPr id="128" name="TextBox 128"/>
                <p:cNvSpPr txBox="1"/>
                <p:nvPr/>
              </p:nvSpPr>
              <p:spPr>
                <a:xfrm>
                  <a:off x="11070513" y="5079206"/>
                  <a:ext cx="1855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30</a:t>
                  </a:r>
                </a:p>
              </p:txBody>
            </p:sp>
          </p:grpSp>
        </p:grpSp>
        <p:sp>
          <p:nvSpPr>
            <p:cNvPr id="131" name="TextBox 131"/>
            <p:cNvSpPr txBox="1"/>
            <p:nvPr/>
          </p:nvSpPr>
          <p:spPr>
            <a:xfrm>
              <a:off x="5937885" y="5460206"/>
              <a:ext cx="4390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g 一对一，且 g(A ∩ B) = g(A) × g(B)，g(A ∪ B) = g(A) ⊕ g(B)</a:t>
              </a:r>
            </a:p>
          </p:txBody>
        </p:sp>
      </p:grpSp>
      <p:grpSp>
        <p:nvGrpSpPr>
          <p:cNvPr id="14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33" name="Rectangle 13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38" name="Group 138"/>
            <p:cNvGrpSpPr/>
            <p:nvPr/>
          </p:nvGrpSpPr>
          <p:grpSpPr>
            <a:xfrm>
              <a:off x="762000" y="5977395"/>
              <a:ext cx="228599" cy="256247"/>
              <a:chOff x="762000" y="5977395"/>
              <a:chExt cx="228599" cy="256247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762000" y="5977395"/>
                <a:ext cx="228599" cy="256247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56247">
                    <a:moveTo>
                      <a:pt x="228599" y="179031"/>
                    </a:moveTo>
                    <a:lnTo>
                      <a:pt x="228599" y="77203"/>
                    </a:lnTo>
                    <a:cubicBezTo>
                      <a:pt x="228584" y="68183"/>
                      <a:pt x="223737" y="59862"/>
                      <a:pt x="215899" y="55397"/>
                    </a:cubicBezTo>
                    <a:lnTo>
                      <a:pt x="127000" y="4496"/>
                    </a:lnTo>
                    <a:cubicBezTo>
                      <a:pt x="119130" y="0"/>
                      <a:pt x="109470" y="0"/>
                      <a:pt x="101600" y="4496"/>
                    </a:cubicBezTo>
                    <a:lnTo>
                      <a:pt x="12700" y="55397"/>
                    </a:lnTo>
                    <a:cubicBezTo>
                      <a:pt x="4839" y="59906"/>
                      <a:pt x="0" y="68224"/>
                      <a:pt x="0" y="77216"/>
                    </a:cubicBezTo>
                    <a:lnTo>
                      <a:pt x="0" y="179044"/>
                    </a:lnTo>
                    <a:cubicBezTo>
                      <a:pt x="0" y="188048"/>
                      <a:pt x="4839" y="196354"/>
                      <a:pt x="12700" y="200850"/>
                    </a:cubicBezTo>
                    <a:lnTo>
                      <a:pt x="101600" y="251751"/>
                    </a:lnTo>
                    <a:cubicBezTo>
                      <a:pt x="109470" y="256247"/>
                      <a:pt x="119130" y="256247"/>
                      <a:pt x="127000" y="251751"/>
                    </a:cubicBezTo>
                    <a:lnTo>
                      <a:pt x="215899" y="200850"/>
                    </a:lnTo>
                    <a:cubicBezTo>
                      <a:pt x="223761" y="196341"/>
                      <a:pt x="228599" y="188023"/>
                      <a:pt x="228599" y="179031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876300" y="610552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1270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6" name="Freeform 136"/>
              <p:cNvSpPr/>
              <p:nvPr/>
            </p:nvSpPr>
            <p:spPr>
              <a:xfrm>
                <a:off x="876300" y="6041517"/>
                <a:ext cx="110871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110871" h="64008">
                    <a:moveTo>
                      <a:pt x="0" y="64008"/>
                    </a:moveTo>
                    <a:lnTo>
                      <a:pt x="110871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765429" y="6041517"/>
                <a:ext cx="110871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110871" h="64008">
                    <a:moveTo>
                      <a:pt x="0" y="0"/>
                    </a:moveTo>
                    <a:lnTo>
                      <a:pt x="110871" y="64008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39" name="TextBox 139"/>
            <p:cNvSpPr txBox="1"/>
            <p:nvPr/>
          </p:nvSpPr>
          <p:spPr>
            <a:xfrm>
              <a:off x="1134618" y="6003608"/>
              <a:ext cx="7553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同构的格，哈斯图形状完全相同：</a:t>
              </a:r>
              <a:r>
                <a:rPr lang="el-GR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ρ({a, b, c}) ≅ L³ ≅ S₃₀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，都是立方体。</a:t>
              </a:r>
            </a:p>
          </p:txBody>
        </p:sp>
      </p:grpSp>
      <p:grpSp>
        <p:nvGrpSpPr>
          <p:cNvPr id="14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41" name="TextBox 141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477000" y="-3810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620250" y="371475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11620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763533" y="2514600"/>
            <a:ext cx="1903933" cy="2305050"/>
            <a:chOff x="87635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7635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3703320" cy="1885379"/>
            <a:chOff x="743712" y="1866900"/>
            <a:chExt cx="3703320" cy="1885379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238125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7644" y="1956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第三部分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几种特殊的格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094" y="337089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给格加条件：有界、有余、分配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4026408" cy="1747647"/>
            <a:chOff x="755142" y="4102418"/>
            <a:chExt cx="4026408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3178645" cy="363665"/>
              <a:chOff x="781050" y="4457700"/>
              <a:chExt cx="3178645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274887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有界格的 0 和 1 从哪里来？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3778377" cy="363665"/>
              <a:chOff x="781050" y="4972050"/>
              <a:chExt cx="3778377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余元素一定存在吗？一定唯一吗？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4000500" cy="363665"/>
              <a:chOff x="781050" y="5486400"/>
              <a:chExt cx="4000500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35707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怎样一眼看出一个格是不是分配格？</a:t>
                </a:r>
              </a:p>
            </p:txBody>
          </p:sp>
        </p:grpSp>
      </p:grpSp>
      <p:grpSp>
        <p:nvGrpSpPr>
          <p:cNvPr id="29" name="deleted-note"/>
          <p:cNvGrpSpPr/>
          <p:nvPr/>
        </p:nvGrpSpPr>
        <p:grpSpPr>
          <a:xfrm>
            <a:off x="762000" y="6096000"/>
            <a:ext cx="3162300" cy="304800"/>
            <a:chOff x="762000" y="6096000"/>
            <a:chExt cx="3162300" cy="304800"/>
          </a:xfrm>
        </p:grpSpPr>
        <p:sp>
          <p:nvSpPr>
            <p:cNvPr id="27" name="Rectangle 27"/>
            <p:cNvSpPr/>
            <p:nvPr/>
          </p:nvSpPr>
          <p:spPr>
            <a:xfrm>
              <a:off x="762000" y="6096000"/>
              <a:ext cx="3162300" cy="304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6"/>
              </a:solidFill>
              <a:custDash>
                <a:ds d="400000" sp="266667"/>
              </a:custDash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4080" y="6174581"/>
              <a:ext cx="2778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注：7.4.4 模格 课程已删除，本册不展开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28066" y="6573202"/>
            <a:ext cx="20883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第7章 格与布尔代数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52415" cy="960501"/>
            <a:chOff x="519684" y="361950"/>
            <a:chExt cx="515241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特殊的格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524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有界格：有最小元 0 和最大元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lemma-1"/>
          <p:cNvGrpSpPr/>
          <p:nvPr/>
        </p:nvGrpSpPr>
        <p:grpSpPr>
          <a:xfrm>
            <a:off x="533400" y="1485900"/>
            <a:ext cx="4495800" cy="2133600"/>
            <a:chOff x="533400" y="1485900"/>
            <a:chExt cx="4495800" cy="21336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495800" cy="21336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828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75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7642" y="16735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有限子集必有确界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64068"/>
              <a:ext cx="2919794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(L, ≤) 是格，若 S 是 L 的任意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有限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非空子集，则 S 有最大下界 inf S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和最小上界 sup S。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952750"/>
              <a:ext cx="39243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1085" y="3050381"/>
              <a:ext cx="289890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思路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：两两合并，逐个求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sup{a₁, a₂, a₃} = (a₁ ⊕ a₂) ⊕ a₃，inf 同理</a:t>
              </a:r>
            </a:p>
          </p:txBody>
        </p:sp>
      </p:grpSp>
      <p:grpSp>
        <p:nvGrpSpPr>
          <p:cNvPr id="39" name="infinite-note"/>
          <p:cNvGrpSpPr/>
          <p:nvPr/>
        </p:nvGrpSpPr>
        <p:grpSpPr>
          <a:xfrm>
            <a:off x="533400" y="3771900"/>
            <a:ext cx="4495800" cy="1943100"/>
            <a:chOff x="533400" y="3771900"/>
            <a:chExt cx="4495800" cy="1943100"/>
          </a:xfrm>
        </p:grpSpPr>
        <p:sp>
          <p:nvSpPr>
            <p:cNvPr id="16" name="Rectangle 16"/>
            <p:cNvSpPr/>
            <p:nvPr/>
          </p:nvSpPr>
          <p:spPr>
            <a:xfrm>
              <a:off x="533400" y="3771900"/>
              <a:ext cx="4495800" cy="1943100"/>
            </a:xfrm>
            <a:prstGeom prst="roundRect">
              <a:avLst>
                <a:gd name="adj" fmla="val 784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45179" y="3934896"/>
              <a:ext cx="224134" cy="192560"/>
              <a:chOff x="745179" y="3934896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57250" y="40052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45179" y="39348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57250" y="40830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78992" y="3959542"/>
              <a:ext cx="2777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注意：对无穷子集，引理 1 不成立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904" y="4328160"/>
              <a:ext cx="3383280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例：格 (Z₊, ≤) 中，全体正偶数组成的集合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E₊ ⊆ Z₊，但 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E₊ 没有最小上界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（连上界都没有）。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76300" y="5200650"/>
              <a:ext cx="3695700" cy="9525"/>
            </a:xfrm>
            <a:custGeom>
              <a:avLst/>
              <a:gdLst/>
              <a:ahLst/>
              <a:cxnLst/>
              <a:rect l="l" t="t" r="r" b="b"/>
              <a:pathLst>
                <a:path w="3695700" h="9525">
                  <a:moveTo>
                    <a:pt x="0" y="0"/>
                  </a:moveTo>
                  <a:lnTo>
                    <a:pt x="3695700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552950" y="51339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000125" y="5133975"/>
              <a:ext cx="2419350" cy="133350"/>
              <a:chOff x="1000125" y="5133975"/>
              <a:chExt cx="2419350" cy="13335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000125" y="51339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1571625" y="51339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2143125" y="51339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2714625" y="51339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3286125" y="51339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1019622" y="5384006"/>
              <a:ext cx="2951856" cy="220028"/>
              <a:chOff x="1019622" y="5384006"/>
              <a:chExt cx="2951856" cy="220028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1019622" y="53840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591122" y="53840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162622" y="53840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734122" y="53840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264159" y="5384006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877122" y="53840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…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3267456" y="49349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越来越大，找不到上界</a:t>
              </a:r>
            </a:p>
          </p:txBody>
        </p:sp>
      </p:grpSp>
      <p:grpSp>
        <p:nvGrpSpPr>
          <p:cNvPr id="46" name="def-741"/>
          <p:cNvGrpSpPr/>
          <p:nvPr/>
        </p:nvGrpSpPr>
        <p:grpSpPr>
          <a:xfrm>
            <a:off x="5181600" y="1485900"/>
            <a:ext cx="6477000" cy="1314450"/>
            <a:chOff x="5181600" y="1485900"/>
            <a:chExt cx="6477000" cy="1314450"/>
          </a:xfrm>
        </p:grpSpPr>
        <p:sp>
          <p:nvSpPr>
            <p:cNvPr id="40" name="Rectangle 40"/>
            <p:cNvSpPr/>
            <p:nvPr/>
          </p:nvSpPr>
          <p:spPr>
            <a:xfrm>
              <a:off x="5181600" y="1485900"/>
              <a:ext cx="6477000" cy="1314450"/>
            </a:xfrm>
            <a:prstGeom prst="roundRect">
              <a:avLst>
                <a:gd name="adj" fmla="val 1159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0" y="1638300"/>
              <a:ext cx="47625" cy="1009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5626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315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7.4.1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06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有界格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55742" y="2064068"/>
              <a:ext cx="5593985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 (L, ≤) 称为有界格，如果它有一个最大元素（记为 1）和一个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最小元素（记为 0），即对任意 a ∈ L 都有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 ≤ a ≤ 1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；0、1 称为格的界。</a:t>
              </a:r>
            </a:p>
          </p:txBody>
        </p:sp>
      </p:grpSp>
      <p:grpSp>
        <p:nvGrpSpPr>
          <p:cNvPr id="51" name="finite-bounded"/>
          <p:cNvGrpSpPr/>
          <p:nvPr/>
        </p:nvGrpSpPr>
        <p:grpSpPr>
          <a:xfrm>
            <a:off x="5181600" y="2933700"/>
            <a:ext cx="3200400" cy="1219200"/>
            <a:chOff x="5181600" y="2933700"/>
            <a:chExt cx="3200400" cy="1219200"/>
          </a:xfrm>
        </p:grpSpPr>
        <p:sp>
          <p:nvSpPr>
            <p:cNvPr id="47" name="Rectangle 47"/>
            <p:cNvSpPr/>
            <p:nvPr/>
          </p:nvSpPr>
          <p:spPr>
            <a:xfrm>
              <a:off x="5181600" y="2933700"/>
              <a:ext cx="3200400" cy="1219200"/>
            </a:xfrm>
            <a:prstGeom prst="roundRect">
              <a:avLst>
                <a:gd name="adj" fmla="val 125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5400675" y="31337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50992" y="3102292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有限格 ⇒ 有界格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66385" y="3421856"/>
              <a:ext cx="178943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L = {a₁, a₂, …, aₙ}，则</a:t>
              </a:r>
            </a:p>
            <a:p>
              <a:pPr algn="l">
                <a:lnSpc>
                  <a:spcPts val="1950"/>
                </a:lnSpc>
              </a:pPr>
              <a:r>
                <a:rPr lang="en-US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0 = a₁ × a₂ × … × aₙ</a:t>
              </a:r>
              <a:br/>
              <a:r>
                <a:rPr lang="en-US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1 = a₁ ⊕ a₂ ⊕ … ⊕ aₙ</a:t>
              </a:r>
            </a:p>
          </p:txBody>
        </p:sp>
      </p:grpSp>
      <p:grpSp>
        <p:nvGrpSpPr>
          <p:cNvPr id="59" name="bounded-infinite"/>
          <p:cNvGrpSpPr/>
          <p:nvPr/>
        </p:nvGrpSpPr>
        <p:grpSpPr>
          <a:xfrm>
            <a:off x="8496300" y="2933700"/>
            <a:ext cx="3162300" cy="1219200"/>
            <a:chOff x="8496300" y="2933700"/>
            <a:chExt cx="3162300" cy="1219200"/>
          </a:xfrm>
        </p:grpSpPr>
        <p:sp>
          <p:nvSpPr>
            <p:cNvPr id="52" name="Rectangle 52"/>
            <p:cNvSpPr/>
            <p:nvPr/>
          </p:nvSpPr>
          <p:spPr>
            <a:xfrm>
              <a:off x="8496300" y="2933700"/>
              <a:ext cx="3162300" cy="1219200"/>
            </a:xfrm>
            <a:prstGeom prst="roundRect">
              <a:avLst>
                <a:gd name="adj" fmla="val 1250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696325" y="3095625"/>
              <a:ext cx="171450" cy="171450"/>
              <a:chOff x="8696325" y="3095625"/>
              <a:chExt cx="171450" cy="1714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696325" y="30956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82050" y="3219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67762" y="3150855"/>
                <a:ext cx="34933" cy="40047"/>
              </a:xfrm>
              <a:custGeom>
                <a:avLst/>
                <a:gdLst/>
                <a:ahLst/>
                <a:cxnLst/>
                <a:rect l="l" t="t" r="r" b="b"/>
                <a:pathLst>
                  <a:path w="34933" h="40047">
                    <a:moveTo>
                      <a:pt x="14288" y="40020"/>
                    </a:moveTo>
                    <a:cubicBezTo>
                      <a:pt x="23106" y="40047"/>
                      <a:pt x="30790" y="34017"/>
                      <a:pt x="32862" y="25445"/>
                    </a:cubicBezTo>
                    <a:cubicBezTo>
                      <a:pt x="34933" y="16874"/>
                      <a:pt x="30851" y="8000"/>
                      <a:pt x="22993" y="3997"/>
                    </a:cubicBezTo>
                    <a:cubicBezTo>
                      <a:pt x="15191" y="0"/>
                      <a:pt x="5664" y="1906"/>
                      <a:pt x="0" y="8597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965692" y="3102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有界格一定有限吗？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81085" y="3421856"/>
              <a:ext cx="200279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不一定。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(ρ(N), ⊆) 是有界格：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= ∅，1 = N，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但它有无穷多个元素。</a:t>
              </a:r>
            </a:p>
          </p:txBody>
        </p:sp>
      </p:grpSp>
      <p:grpSp>
        <p:nvGrpSpPr>
          <p:cNvPr id="80" name="lemma-2"/>
          <p:cNvGrpSpPr/>
          <p:nvPr/>
        </p:nvGrpSpPr>
        <p:grpSpPr>
          <a:xfrm>
            <a:off x="5181600" y="4305300"/>
            <a:ext cx="6477000" cy="1409700"/>
            <a:chOff x="5181600" y="4305300"/>
            <a:chExt cx="6477000" cy="1409700"/>
          </a:xfrm>
        </p:grpSpPr>
        <p:sp>
          <p:nvSpPr>
            <p:cNvPr id="60" name="Rectangle 60"/>
            <p:cNvSpPr/>
            <p:nvPr/>
          </p:nvSpPr>
          <p:spPr>
            <a:xfrm>
              <a:off x="5181600" y="4305300"/>
              <a:ext cx="6477000" cy="1409700"/>
            </a:xfrm>
            <a:prstGeom prst="roundRect">
              <a:avLst>
                <a:gd name="adj" fmla="val 108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372100" y="44386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75271" y="44996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66104" y="4509135"/>
              <a:ext cx="3925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(L, ×, ⊕, 0, 1) 是有界格，则对任意 a ∈ L 恒有：</a:t>
              </a:r>
            </a:p>
          </p:txBody>
        </p:sp>
        <p:grpSp>
          <p:nvGrpSpPr>
            <p:cNvPr id="67" name="tile-1"/>
            <p:cNvGrpSpPr/>
            <p:nvPr/>
          </p:nvGrpSpPr>
          <p:grpSpPr>
            <a:xfrm>
              <a:off x="5372100" y="4819650"/>
              <a:ext cx="1447800" cy="762000"/>
              <a:chOff x="5372100" y="4819650"/>
              <a:chExt cx="1447800" cy="7620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5372100" y="4819650"/>
                <a:ext cx="14478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5669628" y="4981575"/>
                <a:ext cx="8527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 ⊕ 0 = a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631942" y="5315902"/>
                <a:ext cx="9281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Cambria Math"/>
                    <a:ea typeface="Microsoft YaHei"/>
                    <a:cs typeface="Cambria Math"/>
                  </a:rPr>
                  <a:t>类比 A ∪ ∅ = A</a:t>
                </a:r>
              </a:p>
            </p:txBody>
          </p:sp>
        </p:grpSp>
        <p:grpSp>
          <p:nvGrpSpPr>
            <p:cNvPr id="71" name="tile-2"/>
            <p:cNvGrpSpPr/>
            <p:nvPr/>
          </p:nvGrpSpPr>
          <p:grpSpPr>
            <a:xfrm>
              <a:off x="6934200" y="4819650"/>
              <a:ext cx="1447800" cy="762000"/>
              <a:chOff x="6934200" y="4819650"/>
              <a:chExt cx="1447800" cy="7620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934200" y="4819650"/>
                <a:ext cx="14478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231728" y="4981575"/>
                <a:ext cx="8527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 × 1 = a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194042" y="5315902"/>
                <a:ext cx="9281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Cambria Math"/>
                    <a:ea typeface="Microsoft YaHei"/>
                    <a:cs typeface="Cambria Math"/>
                  </a:rPr>
                  <a:t>类比 A ∩ S = A</a:t>
                </a:r>
              </a:p>
            </p:txBody>
          </p:sp>
        </p:grpSp>
        <p:grpSp>
          <p:nvGrpSpPr>
            <p:cNvPr id="75" name="tile-3"/>
            <p:cNvGrpSpPr/>
            <p:nvPr/>
          </p:nvGrpSpPr>
          <p:grpSpPr>
            <a:xfrm>
              <a:off x="8496300" y="4819650"/>
              <a:ext cx="1447800" cy="762000"/>
              <a:chOff x="8496300" y="4819650"/>
              <a:chExt cx="1447800" cy="7620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8496300" y="4819650"/>
                <a:ext cx="14478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793828" y="4981575"/>
                <a:ext cx="8527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a ⊕ 1 = 1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756142" y="5315902"/>
                <a:ext cx="9281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Cambria Math"/>
                    <a:ea typeface="Microsoft YaHei"/>
                    <a:cs typeface="Cambria Math"/>
                  </a:rPr>
                  <a:t>类比 A ∪ S = S</a:t>
                </a:r>
              </a:p>
            </p:txBody>
          </p:sp>
        </p:grpSp>
        <p:grpSp>
          <p:nvGrpSpPr>
            <p:cNvPr id="79" name="tile-4"/>
            <p:cNvGrpSpPr/>
            <p:nvPr/>
          </p:nvGrpSpPr>
          <p:grpSpPr>
            <a:xfrm>
              <a:off x="10058400" y="4819650"/>
              <a:ext cx="1447800" cy="762000"/>
              <a:chOff x="10058400" y="4819650"/>
              <a:chExt cx="1447800" cy="7620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10058400" y="4819650"/>
                <a:ext cx="14478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10355928" y="4981575"/>
                <a:ext cx="8527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a × 0 = 0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0318242" y="5315902"/>
                <a:ext cx="9281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Cambria Math"/>
                    <a:ea typeface="Microsoft YaHei"/>
                    <a:cs typeface="Cambria Math"/>
                  </a:rPr>
                  <a:t>类比 A ∩ ∅ = ∅</a:t>
                </a:r>
              </a:p>
            </p:txBody>
          </p:sp>
        </p:grpSp>
      </p:grpSp>
      <p:grpSp>
        <p:nvGrpSpPr>
          <p:cNvPr id="8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1" name="Rectangle 8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49300" y="5991225"/>
              <a:ext cx="253999" cy="228600"/>
              <a:chOff x="749300" y="5991225"/>
              <a:chExt cx="253999" cy="2286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49300" y="6029325"/>
                <a:ext cx="253999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190500">
                    <a:moveTo>
                      <a:pt x="253999" y="0"/>
                    </a:moveTo>
                    <a:lnTo>
                      <a:pt x="190500" y="0"/>
                    </a:lnTo>
                    <a:lnTo>
                      <a:pt x="190500" y="63500"/>
                    </a:lnTo>
                    <a:lnTo>
                      <a:pt x="127000" y="63500"/>
                    </a:lnTo>
                    <a:lnTo>
                      <a:pt x="127000" y="127000"/>
                    </a:lnTo>
                    <a:lnTo>
                      <a:pt x="63500" y="127000"/>
                    </a:lnTo>
                    <a:lnTo>
                      <a:pt x="63500" y="190500"/>
                    </a:lnTo>
                    <a:lnTo>
                      <a:pt x="0" y="190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00100" y="5991225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889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62000" y="5991225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134618" y="6003608"/>
              <a:ext cx="78699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有限格一定有界：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 = 全体元素的 ×，1 = 全体元素的 ⊕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；但有界格不一定有限。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8" name="TextBox 88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752594" cy="960501"/>
            <a:chOff x="519684" y="361950"/>
            <a:chExt cx="475259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特殊的格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7525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余元素：补全整体、互不重叠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def-742"/>
          <p:cNvGrpSpPr/>
          <p:nvPr/>
        </p:nvGrpSpPr>
        <p:grpSpPr>
          <a:xfrm>
            <a:off x="533400" y="1485900"/>
            <a:ext cx="6591300" cy="2190750"/>
            <a:chOff x="533400" y="1485900"/>
            <a:chExt cx="6591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591300" cy="2190750"/>
            </a:xfrm>
            <a:prstGeom prst="roundRect">
              <a:avLst>
                <a:gd name="adj" fmla="val 695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7.4.2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余元素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64068"/>
              <a:ext cx="490861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在有界格 (L, ×, ⊕, 0, 1) 中，一个元素 b ∈ L 称为元素 a ∈ L 的</a:t>
              </a:r>
              <a:br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余元素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，如果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628900"/>
              <a:ext cx="6019800" cy="476250"/>
            </a:xfrm>
            <a:prstGeom prst="roundRect">
              <a:avLst>
                <a:gd name="adj" fmla="val 24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788992" y="2748915"/>
              <a:ext cx="2270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a × b = 0，a ⊕ b = 1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32639" y="3263911"/>
              <a:ext cx="192114" cy="165051"/>
              <a:chOff x="932639" y="3263911"/>
              <a:chExt cx="192114" cy="1650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28700" y="33242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32639" y="32639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28700" y="3390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12723" y="327231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：一个元素可能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没有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余元素；若有，可以有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一个或一个以上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4" name="puzzle-figure"/>
          <p:cNvGrpSpPr/>
          <p:nvPr/>
        </p:nvGrpSpPr>
        <p:grpSpPr>
          <a:xfrm>
            <a:off x="7277100" y="1485900"/>
            <a:ext cx="4381500" cy="2190750"/>
            <a:chOff x="7277100" y="1485900"/>
            <a:chExt cx="4381500" cy="219075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0" t="16666" r="0" b="16667"/>
            <a:stretch>
              <a:fillRect/>
            </a:stretch>
          </p:blipFill>
          <p:spPr>
            <a:xfrm>
              <a:off x="7277100" y="1485900"/>
              <a:ext cx="4381500" cy="2190750"/>
            </a:xfrm>
            <a:prstGeom prst="roundRect">
              <a:avLst>
                <a:gd name="adj" fmla="val 6956"/>
              </a:avLst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7429500" y="3333750"/>
              <a:ext cx="314325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3785" y="3402806"/>
              <a:ext cx="2834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拼成整体（⊕ = 1），又互不重叠（× = 0）</a:t>
              </a:r>
            </a:p>
          </p:txBody>
        </p:sp>
      </p:grpSp>
      <p:grpSp>
        <p:nvGrpSpPr>
          <p:cNvPr id="47" name="case-1"/>
          <p:cNvGrpSpPr/>
          <p:nvPr/>
        </p:nvGrpSpPr>
        <p:grpSpPr>
          <a:xfrm>
            <a:off x="533400" y="3829050"/>
            <a:ext cx="2667000" cy="1447800"/>
            <a:chOff x="533400" y="3829050"/>
            <a:chExt cx="2667000" cy="1447800"/>
          </a:xfrm>
        </p:grpSpPr>
        <p:sp>
          <p:nvSpPr>
            <p:cNvPr id="25" name="Rectangle 25"/>
            <p:cNvSpPr/>
            <p:nvPr/>
          </p:nvSpPr>
          <p:spPr>
            <a:xfrm>
              <a:off x="533400" y="3829050"/>
              <a:ext cx="2667000" cy="1447800"/>
            </a:xfrm>
            <a:prstGeom prst="roundRect">
              <a:avLst>
                <a:gd name="adj" fmla="val 1052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952500" y="4038600"/>
              <a:ext cx="495300" cy="1009650"/>
              <a:chOff x="952500" y="4038600"/>
              <a:chExt cx="495300" cy="1009650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952500" y="4038600"/>
                <a:ext cx="2476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6700">
                    <a:moveTo>
                      <a:pt x="24765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200150" y="4038600"/>
                <a:ext cx="2476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6700">
                    <a:moveTo>
                      <a:pt x="0" y="0"/>
                    </a:moveTo>
                    <a:lnTo>
                      <a:pt x="247650" y="2667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952500" y="4305300"/>
                <a:ext cx="2476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6700">
                    <a:moveTo>
                      <a:pt x="0" y="0"/>
                    </a:moveTo>
                    <a:lnTo>
                      <a:pt x="247650" y="2667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1200150" y="4305300"/>
                <a:ext cx="2476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6700">
                    <a:moveTo>
                      <a:pt x="24765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200150" y="4572000"/>
                <a:ext cx="952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">
                    <a:moveTo>
                      <a:pt x="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1143000" y="3981450"/>
              <a:ext cx="114300" cy="1123950"/>
              <a:chOff x="1143000" y="3981450"/>
              <a:chExt cx="114300" cy="11239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143000" y="398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143000" y="45148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143000" y="49911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885825" y="4238625"/>
              <a:ext cx="628650" cy="133350"/>
              <a:chOff x="885825" y="4238625"/>
              <a:chExt cx="628650" cy="13335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885825" y="42386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1381125" y="42386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749559" y="3955256"/>
              <a:ext cx="901182" cy="1239203"/>
              <a:chOff x="749559" y="3955256"/>
              <a:chExt cx="901182" cy="1239203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1308735" y="39552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49559" y="4231481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556385" y="4231481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308735" y="4974431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823466" y="40395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22704" y="4271010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a、b 均无余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23466" y="4592002"/>
              <a:ext cx="990791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× x = 0 ⇒ x = 0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但 a ⊕ 0 = a ≠ 1</a:t>
              </a:r>
            </a:p>
          </p:txBody>
        </p:sp>
      </p:grpSp>
      <p:grpSp>
        <p:nvGrpSpPr>
          <p:cNvPr id="67" name="case-2"/>
          <p:cNvGrpSpPr/>
          <p:nvPr/>
        </p:nvGrpSpPr>
        <p:grpSpPr>
          <a:xfrm>
            <a:off x="3352800" y="3829050"/>
            <a:ext cx="2667000" cy="1447800"/>
            <a:chOff x="3352800" y="3829050"/>
            <a:chExt cx="2667000" cy="1447800"/>
          </a:xfrm>
        </p:grpSpPr>
        <p:sp>
          <p:nvSpPr>
            <p:cNvPr id="48" name="Rectangle 48"/>
            <p:cNvSpPr/>
            <p:nvPr/>
          </p:nvSpPr>
          <p:spPr>
            <a:xfrm>
              <a:off x="3352800" y="3829050"/>
              <a:ext cx="2667000" cy="1447800"/>
            </a:xfrm>
            <a:prstGeom prst="roundRect">
              <a:avLst>
                <a:gd name="adj" fmla="val 1052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3733800" y="4038600"/>
              <a:ext cx="571500" cy="1009650"/>
              <a:chOff x="3733800" y="4038600"/>
              <a:chExt cx="571500" cy="1009650"/>
            </a:xfrm>
          </p:grpSpPr>
          <p:sp>
            <p:nvSpPr>
              <p:cNvPr id="49" name="Line 49"/>
              <p:cNvSpPr/>
              <p:nvPr/>
            </p:nvSpPr>
            <p:spPr>
              <a:xfrm>
                <a:off x="3733800" y="4038600"/>
                <a:ext cx="28575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504825">
                    <a:moveTo>
                      <a:pt x="285750" y="0"/>
                    </a:moveTo>
                    <a:lnTo>
                      <a:pt x="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4019550" y="4038600"/>
                <a:ext cx="28575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504825">
                    <a:moveTo>
                      <a:pt x="0" y="0"/>
                    </a:moveTo>
                    <a:lnTo>
                      <a:pt x="28575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3733800" y="4543425"/>
                <a:ext cx="28575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504825">
                    <a:moveTo>
                      <a:pt x="0" y="0"/>
                    </a:moveTo>
                    <a:lnTo>
                      <a:pt x="28575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4019550" y="4543425"/>
                <a:ext cx="28575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504825">
                    <a:moveTo>
                      <a:pt x="285750" y="0"/>
                    </a:moveTo>
                    <a:lnTo>
                      <a:pt x="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3962400" y="3981450"/>
              <a:ext cx="114300" cy="1123950"/>
              <a:chOff x="3962400" y="3981450"/>
              <a:chExt cx="114300" cy="112395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3962400" y="398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3962400" y="49911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7" name="Ellipse 57"/>
            <p:cNvSpPr/>
            <p:nvPr/>
          </p:nvSpPr>
          <p:spPr>
            <a:xfrm>
              <a:off x="3667125" y="4476750"/>
              <a:ext cx="133350" cy="133350"/>
            </a:xfrm>
            <a:prstGeom prst="ellipse">
              <a:avLst/>
            </a:prstGeom>
            <a:solidFill>
              <a:schemeClr val="accent3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4238625" y="4476750"/>
              <a:ext cx="133350" cy="133350"/>
            </a:xfrm>
            <a:prstGeom prst="ellipse">
              <a:avLst/>
            </a:prstGeom>
            <a:solidFill>
              <a:schemeClr val="accent3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3530859" y="3955256"/>
              <a:ext cx="977382" cy="1286828"/>
              <a:chOff x="3530859" y="3955256"/>
              <a:chExt cx="977382" cy="1286828"/>
            </a:xfrm>
          </p:grpSpPr>
          <p:sp>
            <p:nvSpPr>
              <p:cNvPr id="59" name="TextBox 59"/>
              <p:cNvSpPr txBox="1"/>
              <p:nvPr/>
            </p:nvSpPr>
            <p:spPr>
              <a:xfrm>
                <a:off x="4128135" y="39552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530859" y="44696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4413885" y="44696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4128135" y="50220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4642866" y="40395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642104" y="4271010"/>
              <a:ext cx="946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有唯一余 b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642866" y="4592002"/>
              <a:ext cx="537400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× b = 0</a:t>
              </a:r>
              <a:br/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⊕ b = 1</a:t>
              </a:r>
            </a:p>
          </p:txBody>
        </p:sp>
      </p:grpSp>
      <p:grpSp>
        <p:nvGrpSpPr>
          <p:cNvPr id="91" name="case-3"/>
          <p:cNvGrpSpPr/>
          <p:nvPr/>
        </p:nvGrpSpPr>
        <p:grpSpPr>
          <a:xfrm>
            <a:off x="6172200" y="3829050"/>
            <a:ext cx="2667000" cy="1447800"/>
            <a:chOff x="6172200" y="3829050"/>
            <a:chExt cx="2667000" cy="1447800"/>
          </a:xfrm>
        </p:grpSpPr>
        <p:sp>
          <p:nvSpPr>
            <p:cNvPr id="68" name="Rectangle 68"/>
            <p:cNvSpPr/>
            <p:nvPr/>
          </p:nvSpPr>
          <p:spPr>
            <a:xfrm>
              <a:off x="6172200" y="3829050"/>
              <a:ext cx="2667000" cy="1447800"/>
            </a:xfrm>
            <a:prstGeom prst="roundRect">
              <a:avLst>
                <a:gd name="adj" fmla="val 1052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572250" y="4038600"/>
              <a:ext cx="590550" cy="1009650"/>
              <a:chOff x="6572250" y="4038600"/>
              <a:chExt cx="590550" cy="1009650"/>
            </a:xfrm>
          </p:grpSpPr>
          <p:sp>
            <p:nvSpPr>
              <p:cNvPr id="69" name="Line 69"/>
              <p:cNvSpPr/>
              <p:nvPr/>
            </p:nvSpPr>
            <p:spPr>
              <a:xfrm>
                <a:off x="6572250" y="403860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2857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0" name="Line 70"/>
              <p:cNvSpPr/>
              <p:nvPr/>
            </p:nvSpPr>
            <p:spPr>
              <a:xfrm>
                <a:off x="6572250" y="432435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1" name="Line 71"/>
              <p:cNvSpPr/>
              <p:nvPr/>
            </p:nvSpPr>
            <p:spPr>
              <a:xfrm>
                <a:off x="6572250" y="476250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0"/>
                    </a:moveTo>
                    <a:lnTo>
                      <a:pt x="285750" y="2857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6858000" y="4038600"/>
                <a:ext cx="30480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504825">
                    <a:moveTo>
                      <a:pt x="0" y="0"/>
                    </a:moveTo>
                    <a:lnTo>
                      <a:pt x="30480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6858000" y="4543425"/>
                <a:ext cx="30480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504825">
                    <a:moveTo>
                      <a:pt x="304800" y="0"/>
                    </a:moveTo>
                    <a:lnTo>
                      <a:pt x="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6800850" y="3981450"/>
              <a:ext cx="114300" cy="1123950"/>
              <a:chOff x="6800850" y="3981450"/>
              <a:chExt cx="114300" cy="1123950"/>
            </a:xfrm>
          </p:grpSpPr>
          <p:sp>
            <p:nvSpPr>
              <p:cNvPr id="75" name="Ellipse 75"/>
              <p:cNvSpPr/>
              <p:nvPr/>
            </p:nvSpPr>
            <p:spPr>
              <a:xfrm>
                <a:off x="6800850" y="398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76" name="Ellipse 76"/>
              <p:cNvSpPr/>
              <p:nvPr/>
            </p:nvSpPr>
            <p:spPr>
              <a:xfrm>
                <a:off x="6800850" y="49911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80" name="Group 80"/>
            <p:cNvGrpSpPr/>
            <p:nvPr/>
          </p:nvGrpSpPr>
          <p:grpSpPr>
            <a:xfrm>
              <a:off x="6505575" y="4257675"/>
              <a:ext cx="133350" cy="571500"/>
              <a:chOff x="6505575" y="4257675"/>
              <a:chExt cx="133350" cy="571500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6505575" y="425767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6505575" y="46958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81" name="Ellipse 81"/>
            <p:cNvSpPr/>
            <p:nvPr/>
          </p:nvSpPr>
          <p:spPr>
            <a:xfrm>
              <a:off x="7096125" y="4476750"/>
              <a:ext cx="133350" cy="13335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369309" y="3955256"/>
              <a:ext cx="996432" cy="1286828"/>
              <a:chOff x="6369309" y="3955256"/>
              <a:chExt cx="996432" cy="1286828"/>
            </a:xfrm>
          </p:grpSpPr>
          <p:sp>
            <p:nvSpPr>
              <p:cNvPr id="82" name="TextBox 82"/>
              <p:cNvSpPr txBox="1"/>
              <p:nvPr/>
            </p:nvSpPr>
            <p:spPr>
              <a:xfrm>
                <a:off x="6966585" y="39552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369309" y="4250531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369309" y="4688681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7271385" y="44696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6966585" y="50220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</p:grpSp>
        <p:sp>
          <p:nvSpPr>
            <p:cNvPr id="88" name="TextBox 88"/>
            <p:cNvSpPr txBox="1"/>
            <p:nvPr/>
          </p:nvSpPr>
          <p:spPr>
            <a:xfrm>
              <a:off x="7462266" y="40395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461504" y="427101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有两个余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462266" y="4592002"/>
              <a:ext cx="1197483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c × a = 0，c ⊕ a = 1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c × b = 0，c ⊕ b = 1</a:t>
              </a:r>
            </a:p>
          </p:txBody>
        </p:sp>
      </p:grpSp>
      <p:grpSp>
        <p:nvGrpSpPr>
          <p:cNvPr id="116" name="case-4"/>
          <p:cNvGrpSpPr/>
          <p:nvPr/>
        </p:nvGrpSpPr>
        <p:grpSpPr>
          <a:xfrm>
            <a:off x="8991600" y="3829050"/>
            <a:ext cx="2667000" cy="1447800"/>
            <a:chOff x="8991600" y="3829050"/>
            <a:chExt cx="2667000" cy="1447800"/>
          </a:xfrm>
        </p:grpSpPr>
        <p:sp>
          <p:nvSpPr>
            <p:cNvPr id="92" name="Rectangle 92"/>
            <p:cNvSpPr/>
            <p:nvPr/>
          </p:nvSpPr>
          <p:spPr>
            <a:xfrm>
              <a:off x="8991600" y="3829050"/>
              <a:ext cx="2667000" cy="1447800"/>
            </a:xfrm>
            <a:prstGeom prst="roundRect">
              <a:avLst>
                <a:gd name="adj" fmla="val 1052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9315450" y="4038600"/>
              <a:ext cx="762000" cy="1009650"/>
              <a:chOff x="9315450" y="4038600"/>
              <a:chExt cx="762000" cy="1009650"/>
            </a:xfrm>
          </p:grpSpPr>
          <p:sp>
            <p:nvSpPr>
              <p:cNvPr id="93" name="Line 93"/>
              <p:cNvSpPr/>
              <p:nvPr/>
            </p:nvSpPr>
            <p:spPr>
              <a:xfrm>
                <a:off x="9315450" y="4038600"/>
                <a:ext cx="38100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04825">
                    <a:moveTo>
                      <a:pt x="381000" y="0"/>
                    </a:moveTo>
                    <a:lnTo>
                      <a:pt x="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9696450" y="4038600"/>
                <a:ext cx="9525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4825">
                    <a:moveTo>
                      <a:pt x="0" y="0"/>
                    </a:moveTo>
                    <a:lnTo>
                      <a:pt x="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5" name="Line 95"/>
              <p:cNvSpPr/>
              <p:nvPr/>
            </p:nvSpPr>
            <p:spPr>
              <a:xfrm>
                <a:off x="9696450" y="4038600"/>
                <a:ext cx="38100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04825">
                    <a:moveTo>
                      <a:pt x="0" y="0"/>
                    </a:moveTo>
                    <a:lnTo>
                      <a:pt x="38100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6" name="Line 96"/>
              <p:cNvSpPr/>
              <p:nvPr/>
            </p:nvSpPr>
            <p:spPr>
              <a:xfrm>
                <a:off x="9315450" y="4543425"/>
                <a:ext cx="38100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04825">
                    <a:moveTo>
                      <a:pt x="0" y="0"/>
                    </a:moveTo>
                    <a:lnTo>
                      <a:pt x="38100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7" name="Line 97"/>
              <p:cNvSpPr/>
              <p:nvPr/>
            </p:nvSpPr>
            <p:spPr>
              <a:xfrm>
                <a:off x="9696450" y="4543425"/>
                <a:ext cx="9525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4825">
                    <a:moveTo>
                      <a:pt x="0" y="0"/>
                    </a:moveTo>
                    <a:lnTo>
                      <a:pt x="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8" name="Line 98"/>
              <p:cNvSpPr/>
              <p:nvPr/>
            </p:nvSpPr>
            <p:spPr>
              <a:xfrm>
                <a:off x="9696450" y="4543425"/>
                <a:ext cx="38100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04825">
                    <a:moveTo>
                      <a:pt x="381000" y="0"/>
                    </a:moveTo>
                    <a:lnTo>
                      <a:pt x="0" y="504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102" name="Group 102"/>
            <p:cNvGrpSpPr/>
            <p:nvPr/>
          </p:nvGrpSpPr>
          <p:grpSpPr>
            <a:xfrm>
              <a:off x="9639300" y="3981450"/>
              <a:ext cx="114300" cy="1123950"/>
              <a:chOff x="9639300" y="3981450"/>
              <a:chExt cx="114300" cy="1123950"/>
            </a:xfrm>
          </p:grpSpPr>
          <p:sp>
            <p:nvSpPr>
              <p:cNvPr id="100" name="Ellipse 100"/>
              <p:cNvSpPr/>
              <p:nvPr/>
            </p:nvSpPr>
            <p:spPr>
              <a:xfrm>
                <a:off x="9639300" y="398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9639300" y="49911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106" name="Group 106"/>
            <p:cNvGrpSpPr/>
            <p:nvPr/>
          </p:nvGrpSpPr>
          <p:grpSpPr>
            <a:xfrm>
              <a:off x="9248775" y="4476750"/>
              <a:ext cx="895350" cy="133350"/>
              <a:chOff x="9248775" y="4476750"/>
              <a:chExt cx="895350" cy="133350"/>
            </a:xfrm>
          </p:grpSpPr>
          <p:sp>
            <p:nvSpPr>
              <p:cNvPr id="103" name="Ellipse 103"/>
              <p:cNvSpPr/>
              <p:nvPr/>
            </p:nvSpPr>
            <p:spPr>
              <a:xfrm>
                <a:off x="9248775" y="4476750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9629775" y="4476750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10010775" y="4476750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</p:grpSp>
        <p:grpSp>
          <p:nvGrpSpPr>
            <p:cNvPr id="112" name="Group 112"/>
            <p:cNvGrpSpPr/>
            <p:nvPr/>
          </p:nvGrpSpPr>
          <p:grpSpPr>
            <a:xfrm>
              <a:off x="9040330" y="3963352"/>
              <a:ext cx="1312240" cy="1272159"/>
              <a:chOff x="9040330" y="3963352"/>
              <a:chExt cx="1312240" cy="1272159"/>
            </a:xfrm>
          </p:grpSpPr>
          <p:sp>
            <p:nvSpPr>
              <p:cNvPr id="107" name="TextBox 107"/>
              <p:cNvSpPr txBox="1"/>
              <p:nvPr/>
            </p:nvSpPr>
            <p:spPr>
              <a:xfrm>
                <a:off x="9805416" y="39633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9040330" y="44777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b₁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9767316" y="46301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b₂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10186416" y="44777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b₃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9805416" y="50301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</p:grpSp>
        <p:sp>
          <p:nvSpPr>
            <p:cNvPr id="113" name="TextBox 113"/>
            <p:cNvSpPr txBox="1"/>
            <p:nvPr/>
          </p:nvSpPr>
          <p:spPr>
            <a:xfrm>
              <a:off x="10415016" y="40395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(4)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414254" y="4271010"/>
              <a:ext cx="7741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两两互为余</a:t>
              </a:r>
            </a:p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i ≠ j 时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415016" y="4763452"/>
              <a:ext cx="68408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bᵢ × bⱼ = 0</a:t>
              </a:r>
              <a:br/>
              <a:r>
                <a:rPr lang="en-US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bᵢ ⊕ bⱼ = 1</a:t>
              </a:r>
            </a:p>
          </p:txBody>
        </p:sp>
      </p:grpSp>
      <p:grpSp>
        <p:nvGrpSpPr>
          <p:cNvPr id="119" name="lemma-3"/>
          <p:cNvGrpSpPr/>
          <p:nvPr/>
        </p:nvGrpSpPr>
        <p:grpSpPr>
          <a:xfrm>
            <a:off x="533400" y="5372100"/>
            <a:ext cx="11125200" cy="381000"/>
            <a:chOff x="533400" y="5372100"/>
            <a:chExt cx="11125200" cy="381000"/>
          </a:xfrm>
        </p:grpSpPr>
        <p:sp>
          <p:nvSpPr>
            <p:cNvPr id="117" name="Rectangle 117"/>
            <p:cNvSpPr/>
            <p:nvPr/>
          </p:nvSpPr>
          <p:spPr>
            <a:xfrm>
              <a:off x="533400" y="5372100"/>
              <a:ext cx="11125200" cy="381000"/>
            </a:xfrm>
            <a:prstGeom prst="roundRect">
              <a:avLst>
                <a:gd name="adj" fmla="val 3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17423" y="5482114"/>
              <a:ext cx="5955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3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在有界格 (L, ×, ⊕, 0, 1) 中，1 是 0 的唯一一个余元素，反之亦然。</a:t>
              </a:r>
            </a:p>
          </p:txBody>
        </p:sp>
      </p:grpSp>
      <p:grpSp>
        <p:nvGrpSpPr>
          <p:cNvPr id="12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20" name="Rectangle 12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1" name="Freeform 121"/>
            <p:cNvSpPr/>
            <p:nvPr/>
          </p:nvSpPr>
          <p:spPr>
            <a:xfrm>
              <a:off x="762000" y="5991225"/>
              <a:ext cx="228599" cy="228599"/>
            </a:xfrm>
            <a:custGeom>
              <a:avLst/>
              <a:gdLst/>
              <a:ahLst/>
              <a:cxnLst/>
              <a:rect l="l" t="t" r="r" b="b"/>
              <a:pathLst>
                <a:path w="228599" h="228599">
                  <a:moveTo>
                    <a:pt x="12700" y="50800"/>
                  </a:moveTo>
                  <a:lnTo>
                    <a:pt x="50800" y="50800"/>
                  </a:lnTo>
                  <a:cubicBezTo>
                    <a:pt x="57814" y="50800"/>
                    <a:pt x="63500" y="45114"/>
                    <a:pt x="63500" y="38100"/>
                  </a:cubicBezTo>
                  <a:lnTo>
                    <a:pt x="63500" y="25400"/>
                  </a:lnTo>
                  <a:cubicBezTo>
                    <a:pt x="63500" y="11372"/>
                    <a:pt x="74872" y="0"/>
                    <a:pt x="88900" y="0"/>
                  </a:cubicBezTo>
                  <a:cubicBezTo>
                    <a:pt x="102928" y="0"/>
                    <a:pt x="114300" y="11372"/>
                    <a:pt x="114300" y="25400"/>
                  </a:cubicBezTo>
                  <a:lnTo>
                    <a:pt x="114300" y="38100"/>
                  </a:lnTo>
                  <a:cubicBezTo>
                    <a:pt x="114300" y="45114"/>
                    <a:pt x="119986" y="50800"/>
                    <a:pt x="127000" y="50800"/>
                  </a:cubicBezTo>
                  <a:lnTo>
                    <a:pt x="165100" y="50800"/>
                  </a:lnTo>
                  <a:cubicBezTo>
                    <a:pt x="172114" y="50800"/>
                    <a:pt x="177800" y="56486"/>
                    <a:pt x="177800" y="63500"/>
                  </a:cubicBezTo>
                  <a:lnTo>
                    <a:pt x="177800" y="101600"/>
                  </a:lnTo>
                  <a:cubicBezTo>
                    <a:pt x="177800" y="108614"/>
                    <a:pt x="183486" y="114300"/>
                    <a:pt x="190500" y="114300"/>
                  </a:cubicBezTo>
                  <a:lnTo>
                    <a:pt x="203199" y="114300"/>
                  </a:lnTo>
                  <a:cubicBezTo>
                    <a:pt x="217227" y="114300"/>
                    <a:pt x="228599" y="125672"/>
                    <a:pt x="228599" y="139700"/>
                  </a:cubicBezTo>
                  <a:cubicBezTo>
                    <a:pt x="228599" y="153728"/>
                    <a:pt x="217227" y="165100"/>
                    <a:pt x="203199" y="165100"/>
                  </a:cubicBezTo>
                  <a:lnTo>
                    <a:pt x="190500" y="165100"/>
                  </a:lnTo>
                  <a:cubicBezTo>
                    <a:pt x="183486" y="165100"/>
                    <a:pt x="177800" y="170786"/>
                    <a:pt x="177800" y="177800"/>
                  </a:cubicBezTo>
                  <a:lnTo>
                    <a:pt x="177800" y="215899"/>
                  </a:lnTo>
                  <a:cubicBezTo>
                    <a:pt x="177800" y="222913"/>
                    <a:pt x="172114" y="228599"/>
                    <a:pt x="165100" y="228599"/>
                  </a:cubicBezTo>
                  <a:lnTo>
                    <a:pt x="127000" y="228599"/>
                  </a:lnTo>
                  <a:cubicBezTo>
                    <a:pt x="119986" y="228599"/>
                    <a:pt x="114300" y="222913"/>
                    <a:pt x="114300" y="215899"/>
                  </a:cubicBezTo>
                  <a:lnTo>
                    <a:pt x="114300" y="203199"/>
                  </a:lnTo>
                  <a:cubicBezTo>
                    <a:pt x="114300" y="189171"/>
                    <a:pt x="102928" y="177800"/>
                    <a:pt x="88900" y="177800"/>
                  </a:cubicBezTo>
                  <a:cubicBezTo>
                    <a:pt x="74872" y="177800"/>
                    <a:pt x="63500" y="189171"/>
                    <a:pt x="63500" y="203199"/>
                  </a:cubicBezTo>
                  <a:lnTo>
                    <a:pt x="63500" y="215899"/>
                  </a:lnTo>
                  <a:cubicBezTo>
                    <a:pt x="63500" y="222913"/>
                    <a:pt x="57814" y="228599"/>
                    <a:pt x="50800" y="228599"/>
                  </a:cubicBezTo>
                  <a:lnTo>
                    <a:pt x="12700" y="228599"/>
                  </a:lnTo>
                  <a:cubicBezTo>
                    <a:pt x="5686" y="228599"/>
                    <a:pt x="0" y="222913"/>
                    <a:pt x="0" y="215899"/>
                  </a:cubicBezTo>
                  <a:lnTo>
                    <a:pt x="0" y="177800"/>
                  </a:lnTo>
                  <a:cubicBezTo>
                    <a:pt x="0" y="170786"/>
                    <a:pt x="5686" y="165100"/>
                    <a:pt x="12700" y="165100"/>
                  </a:cubicBezTo>
                  <a:lnTo>
                    <a:pt x="25400" y="165100"/>
                  </a:lnTo>
                  <a:cubicBezTo>
                    <a:pt x="39428" y="165100"/>
                    <a:pt x="50800" y="153728"/>
                    <a:pt x="50800" y="139700"/>
                  </a:cubicBezTo>
                  <a:cubicBezTo>
                    <a:pt x="50800" y="125672"/>
                    <a:pt x="39428" y="114300"/>
                    <a:pt x="25400" y="114300"/>
                  </a:cubicBezTo>
                  <a:lnTo>
                    <a:pt x="12700" y="114300"/>
                  </a:lnTo>
                  <a:cubicBezTo>
                    <a:pt x="5686" y="114300"/>
                    <a:pt x="0" y="108614"/>
                    <a:pt x="0" y="101600"/>
                  </a:cubicBezTo>
                  <a:lnTo>
                    <a:pt x="0" y="63500"/>
                  </a:lnTo>
                  <a:cubicBezTo>
                    <a:pt x="0" y="56486"/>
                    <a:pt x="5686" y="50800"/>
                    <a:pt x="12700" y="5080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134618" y="6003608"/>
              <a:ext cx="7807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b 是 a 的余元素 ⇔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× b = 0 且 a ⊕ b = 1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；余元素可能没有，也可能不止一个。</a:t>
              </a:r>
            </a:p>
          </p:txBody>
        </p:sp>
      </p:grpSp>
      <p:grpSp>
        <p:nvGrpSpPr>
          <p:cNvPr id="12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24" name="TextBox 124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206490" cy="960501"/>
            <a:chOff x="519684" y="361950"/>
            <a:chExt cx="620649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特殊的格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0649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有余格：每个元素都至少有一个余元素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def-743"/>
          <p:cNvGrpSpPr/>
          <p:nvPr/>
        </p:nvGrpSpPr>
        <p:grpSpPr>
          <a:xfrm>
            <a:off x="533400" y="1485900"/>
            <a:ext cx="11125200" cy="609600"/>
            <a:chOff x="533400" y="1485900"/>
            <a:chExt cx="11125200" cy="6096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6096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304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573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7183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7.4.3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0161" y="1703546"/>
              <a:ext cx="7567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称有界格 (L, ×, ⊕, 0, 1) 是一个</a:t>
              </a:r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有余格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，如果对 L 中</a:t>
              </a:r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每一个元素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都至少有一个余元素。</a:t>
              </a:r>
            </a:p>
          </p:txBody>
        </p:sp>
      </p:grpSp>
      <p:grpSp>
        <p:nvGrpSpPr>
          <p:cNvPr id="79" name="ex-small"/>
          <p:cNvGrpSpPr/>
          <p:nvPr/>
        </p:nvGrpSpPr>
        <p:grpSpPr>
          <a:xfrm>
            <a:off x="533400" y="2247900"/>
            <a:ext cx="3467100" cy="3467100"/>
            <a:chOff x="533400" y="2247900"/>
            <a:chExt cx="3467100" cy="3467100"/>
          </a:xfrm>
        </p:grpSpPr>
        <p:sp>
          <p:nvSpPr>
            <p:cNvPr id="13" name="Rectangle 13"/>
            <p:cNvSpPr/>
            <p:nvPr/>
          </p:nvSpPr>
          <p:spPr>
            <a:xfrm>
              <a:off x="533400" y="2247900"/>
              <a:ext cx="3467100" cy="3467100"/>
            </a:xfrm>
            <a:prstGeom prst="roundRect">
              <a:avLst>
                <a:gd name="adj" fmla="val 439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3900" y="2381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5632" y="2442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8542" y="2435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三个都是有余格</a:t>
              </a:r>
            </a:p>
          </p:txBody>
        </p:sp>
        <p:grpSp>
          <p:nvGrpSpPr>
            <p:cNvPr id="33" name="mini-diamond"/>
            <p:cNvGrpSpPr/>
            <p:nvPr/>
          </p:nvGrpSpPr>
          <p:grpSpPr>
            <a:xfrm>
              <a:off x="621773" y="2744152"/>
              <a:ext cx="890054" cy="1348359"/>
              <a:chOff x="621773" y="2744152"/>
              <a:chExt cx="890054" cy="1348359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800100" y="2895600"/>
                <a:ext cx="533400" cy="762000"/>
                <a:chOff x="800100" y="2895600"/>
                <a:chExt cx="533400" cy="762000"/>
              </a:xfrm>
            </p:grpSpPr>
            <p:sp>
              <p:nvSpPr>
                <p:cNvPr id="17" name="Line 17"/>
                <p:cNvSpPr/>
                <p:nvPr/>
              </p:nvSpPr>
              <p:spPr>
                <a:xfrm>
                  <a:off x="800100" y="2895600"/>
                  <a:ext cx="2667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381000">
                      <a:moveTo>
                        <a:pt x="26670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1066800" y="2895600"/>
                  <a:ext cx="2667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381000">
                      <a:moveTo>
                        <a:pt x="0" y="0"/>
                      </a:moveTo>
                      <a:lnTo>
                        <a:pt x="26670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800100" y="3276600"/>
                  <a:ext cx="2667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381000">
                      <a:moveTo>
                        <a:pt x="0" y="0"/>
                      </a:moveTo>
                      <a:lnTo>
                        <a:pt x="26670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1066800" y="3276600"/>
                  <a:ext cx="2667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381000">
                      <a:moveTo>
                        <a:pt x="26670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752475" y="2847975"/>
                <a:ext cx="628650" cy="857250"/>
                <a:chOff x="752475" y="2847975"/>
                <a:chExt cx="628650" cy="857250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1019175" y="2847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3" name="Ellipse 23"/>
                <p:cNvSpPr/>
                <p:nvPr/>
              </p:nvSpPr>
              <p:spPr>
                <a:xfrm>
                  <a:off x="752475" y="3228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4" name="Ellipse 24"/>
                <p:cNvSpPr/>
                <p:nvPr/>
              </p:nvSpPr>
              <p:spPr>
                <a:xfrm>
                  <a:off x="1285875" y="3228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5" name="Ellipse 25"/>
                <p:cNvSpPr/>
                <p:nvPr/>
              </p:nvSpPr>
              <p:spPr>
                <a:xfrm>
                  <a:off x="1019175" y="3609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621773" y="2744152"/>
                <a:ext cx="890054" cy="1119759"/>
                <a:chOff x="621773" y="2744152"/>
                <a:chExt cx="890054" cy="1119759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1156716" y="274415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21773" y="321087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423416" y="321087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b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156716" y="365855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920115" y="38871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菱形</a:t>
                </a:r>
              </a:p>
            </p:txBody>
          </p:sp>
        </p:grpSp>
        <p:grpSp>
          <p:nvGrpSpPr>
            <p:cNvPr id="53" name="mini-pentagon"/>
            <p:cNvGrpSpPr/>
            <p:nvPr/>
          </p:nvGrpSpPr>
          <p:grpSpPr>
            <a:xfrm>
              <a:off x="1726673" y="2744152"/>
              <a:ext cx="871004" cy="1348359"/>
              <a:chOff x="1726673" y="2744152"/>
              <a:chExt cx="871004" cy="1348359"/>
            </a:xfrm>
          </p:grpSpPr>
          <p:grpSp>
            <p:nvGrpSpPr>
              <p:cNvPr id="39" name="Group 39"/>
              <p:cNvGrpSpPr/>
              <p:nvPr/>
            </p:nvGrpSpPr>
            <p:grpSpPr>
              <a:xfrm>
                <a:off x="1905000" y="2895600"/>
                <a:ext cx="514350" cy="762000"/>
                <a:chOff x="1905000" y="2895600"/>
                <a:chExt cx="514350" cy="762000"/>
              </a:xfrm>
            </p:grpSpPr>
            <p:sp>
              <p:nvSpPr>
                <p:cNvPr id="34" name="Line 34"/>
                <p:cNvSpPr/>
                <p:nvPr/>
              </p:nvSpPr>
              <p:spPr>
                <a:xfrm>
                  <a:off x="1905000" y="2895600"/>
                  <a:ext cx="2476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09550">
                      <a:moveTo>
                        <a:pt x="247650" y="0"/>
                      </a:moveTo>
                      <a:lnTo>
                        <a:pt x="0" y="2095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5" name="Line 35"/>
                <p:cNvSpPr/>
                <p:nvPr/>
              </p:nvSpPr>
              <p:spPr>
                <a:xfrm>
                  <a:off x="1905000" y="3105150"/>
                  <a:ext cx="952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2900">
                      <a:moveTo>
                        <a:pt x="0" y="0"/>
                      </a:moveTo>
                      <a:lnTo>
                        <a:pt x="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6" name="Line 36"/>
                <p:cNvSpPr/>
                <p:nvPr/>
              </p:nvSpPr>
              <p:spPr>
                <a:xfrm>
                  <a:off x="1905000" y="3448050"/>
                  <a:ext cx="2476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09550">
                      <a:moveTo>
                        <a:pt x="0" y="0"/>
                      </a:moveTo>
                      <a:lnTo>
                        <a:pt x="247650" y="2095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7" name="Line 37"/>
                <p:cNvSpPr/>
                <p:nvPr/>
              </p:nvSpPr>
              <p:spPr>
                <a:xfrm>
                  <a:off x="2152650" y="2895600"/>
                  <a:ext cx="2667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381000">
                      <a:moveTo>
                        <a:pt x="0" y="0"/>
                      </a:moveTo>
                      <a:lnTo>
                        <a:pt x="26670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8" name="Line 38"/>
                <p:cNvSpPr/>
                <p:nvPr/>
              </p:nvSpPr>
              <p:spPr>
                <a:xfrm>
                  <a:off x="2152650" y="3276600"/>
                  <a:ext cx="2667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381000">
                      <a:moveTo>
                        <a:pt x="26670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1857375" y="2847975"/>
                <a:ext cx="609600" cy="857250"/>
                <a:chOff x="1857375" y="2847975"/>
                <a:chExt cx="609600" cy="857250"/>
              </a:xfrm>
            </p:grpSpPr>
            <p:sp>
              <p:nvSpPr>
                <p:cNvPr id="40" name="Ellipse 40"/>
                <p:cNvSpPr/>
                <p:nvPr/>
              </p:nvSpPr>
              <p:spPr>
                <a:xfrm>
                  <a:off x="2105025" y="2847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1" name="Ellipse 41"/>
                <p:cNvSpPr/>
                <p:nvPr/>
              </p:nvSpPr>
              <p:spPr>
                <a:xfrm>
                  <a:off x="1857375" y="305752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1857375" y="340042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2371725" y="3228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4" name="Ellipse 44"/>
                <p:cNvSpPr/>
                <p:nvPr/>
              </p:nvSpPr>
              <p:spPr>
                <a:xfrm>
                  <a:off x="2105025" y="3609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51" name="Group 51"/>
              <p:cNvGrpSpPr/>
              <p:nvPr/>
            </p:nvGrpSpPr>
            <p:grpSpPr>
              <a:xfrm>
                <a:off x="1726673" y="2744152"/>
                <a:ext cx="871004" cy="1119759"/>
                <a:chOff x="1726673" y="2744152"/>
                <a:chExt cx="871004" cy="1119759"/>
              </a:xfrm>
            </p:grpSpPr>
            <p:sp>
              <p:nvSpPr>
                <p:cNvPr id="46" name="TextBox 46"/>
                <p:cNvSpPr txBox="1"/>
                <p:nvPr/>
              </p:nvSpPr>
              <p:spPr>
                <a:xfrm>
                  <a:off x="2242566" y="274415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726673" y="303942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726673" y="338232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b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2509266" y="321087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c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2242566" y="365855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1935290" y="388715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五角格</a:t>
                </a:r>
              </a:p>
            </p:txBody>
          </p:sp>
        </p:grpSp>
        <p:grpSp>
          <p:nvGrpSpPr>
            <p:cNvPr id="74" name="mini-m3"/>
            <p:cNvGrpSpPr/>
            <p:nvPr/>
          </p:nvGrpSpPr>
          <p:grpSpPr>
            <a:xfrm>
              <a:off x="2650277" y="2752249"/>
              <a:ext cx="1290746" cy="1340262"/>
              <a:chOff x="2650277" y="2752249"/>
              <a:chExt cx="1290746" cy="1340262"/>
            </a:xfrm>
          </p:grpSpPr>
          <p:grpSp>
            <p:nvGrpSpPr>
              <p:cNvPr id="60" name="Group 60"/>
              <p:cNvGrpSpPr/>
              <p:nvPr/>
            </p:nvGrpSpPr>
            <p:grpSpPr>
              <a:xfrm>
                <a:off x="2895600" y="2895600"/>
                <a:ext cx="800100" cy="762000"/>
                <a:chOff x="2895600" y="2895600"/>
                <a:chExt cx="800100" cy="762000"/>
              </a:xfrm>
            </p:grpSpPr>
            <p:sp>
              <p:nvSpPr>
                <p:cNvPr id="54" name="Line 54"/>
                <p:cNvSpPr/>
                <p:nvPr/>
              </p:nvSpPr>
              <p:spPr>
                <a:xfrm>
                  <a:off x="2895600" y="2895600"/>
                  <a:ext cx="40005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381000">
                      <a:moveTo>
                        <a:pt x="40005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5" name="Line 55"/>
                <p:cNvSpPr/>
                <p:nvPr/>
              </p:nvSpPr>
              <p:spPr>
                <a:xfrm>
                  <a:off x="3295650" y="2895600"/>
                  <a:ext cx="9525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0">
                      <a:moveTo>
                        <a:pt x="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6" name="Line 56"/>
                <p:cNvSpPr/>
                <p:nvPr/>
              </p:nvSpPr>
              <p:spPr>
                <a:xfrm>
                  <a:off x="3295650" y="2895600"/>
                  <a:ext cx="40005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381000">
                      <a:moveTo>
                        <a:pt x="0" y="0"/>
                      </a:moveTo>
                      <a:lnTo>
                        <a:pt x="40005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7" name="Line 57"/>
                <p:cNvSpPr/>
                <p:nvPr/>
              </p:nvSpPr>
              <p:spPr>
                <a:xfrm>
                  <a:off x="2895600" y="3276600"/>
                  <a:ext cx="40005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381000">
                      <a:moveTo>
                        <a:pt x="0" y="0"/>
                      </a:moveTo>
                      <a:lnTo>
                        <a:pt x="40005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8" name="Line 58"/>
                <p:cNvSpPr/>
                <p:nvPr/>
              </p:nvSpPr>
              <p:spPr>
                <a:xfrm>
                  <a:off x="3295650" y="3276600"/>
                  <a:ext cx="9525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0">
                      <a:moveTo>
                        <a:pt x="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9" name="Line 59"/>
                <p:cNvSpPr/>
                <p:nvPr/>
              </p:nvSpPr>
              <p:spPr>
                <a:xfrm>
                  <a:off x="3295650" y="3276600"/>
                  <a:ext cx="40005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381000">
                      <a:moveTo>
                        <a:pt x="40005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66" name="Group 66"/>
              <p:cNvGrpSpPr/>
              <p:nvPr/>
            </p:nvGrpSpPr>
            <p:grpSpPr>
              <a:xfrm>
                <a:off x="2847975" y="2847975"/>
                <a:ext cx="895350" cy="857250"/>
                <a:chOff x="2847975" y="2847975"/>
                <a:chExt cx="895350" cy="857250"/>
              </a:xfrm>
            </p:grpSpPr>
            <p:sp>
              <p:nvSpPr>
                <p:cNvPr id="61" name="Ellipse 61"/>
                <p:cNvSpPr/>
                <p:nvPr/>
              </p:nvSpPr>
              <p:spPr>
                <a:xfrm>
                  <a:off x="3248025" y="2847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2" name="Ellipse 62"/>
                <p:cNvSpPr/>
                <p:nvPr/>
              </p:nvSpPr>
              <p:spPr>
                <a:xfrm>
                  <a:off x="2847975" y="3228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3" name="Ellipse 63"/>
                <p:cNvSpPr/>
                <p:nvPr/>
              </p:nvSpPr>
              <p:spPr>
                <a:xfrm>
                  <a:off x="3248025" y="3228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4" name="Ellipse 64"/>
                <p:cNvSpPr/>
                <p:nvPr/>
              </p:nvSpPr>
              <p:spPr>
                <a:xfrm>
                  <a:off x="3648075" y="3228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5" name="Ellipse 65"/>
                <p:cNvSpPr/>
                <p:nvPr/>
              </p:nvSpPr>
              <p:spPr>
                <a:xfrm>
                  <a:off x="3248025" y="3609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2650277" y="2752249"/>
                <a:ext cx="1290746" cy="1105090"/>
                <a:chOff x="2650277" y="2752249"/>
                <a:chExt cx="1290746" cy="1105090"/>
              </a:xfrm>
            </p:grpSpPr>
            <p:sp>
              <p:nvSpPr>
                <p:cNvPr id="67" name="TextBox 67"/>
                <p:cNvSpPr txBox="1"/>
                <p:nvPr/>
              </p:nvSpPr>
              <p:spPr>
                <a:xfrm>
                  <a:off x="3385947" y="2752249"/>
                  <a:ext cx="8246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2650277" y="3218974"/>
                  <a:ext cx="15502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b₁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3338322" y="3342799"/>
                  <a:ext cx="15502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b₂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3785997" y="3218974"/>
                  <a:ext cx="15502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b₃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3385947" y="3666649"/>
                  <a:ext cx="8246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3078290" y="388715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钻石格</a:t>
                </a:r>
              </a:p>
            </p:txBody>
          </p:sp>
        </p:grpSp>
        <p:sp>
          <p:nvSpPr>
            <p:cNvPr id="75" name="Line 75"/>
            <p:cNvSpPr/>
            <p:nvPr/>
          </p:nvSpPr>
          <p:spPr>
            <a:xfrm>
              <a:off x="723900" y="41529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56285" y="4279106"/>
              <a:ext cx="1945894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菱形：a ↔ b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五角格：c ↔ a，c ↔ b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钻石格：b₁、b₂、b₃ 两两互余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85800" y="5010150"/>
              <a:ext cx="3162300" cy="590550"/>
            </a:xfrm>
            <a:prstGeom prst="roundRect">
              <a:avLst>
                <a:gd name="adj" fmla="val 19355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2485" y="5126831"/>
              <a:ext cx="198145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易错：有余 ≠ 余元素唯一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五角格中 c 有 a、b 两个余元素</a:t>
              </a:r>
            </a:p>
          </p:txBody>
        </p:sp>
      </p:grpSp>
      <p:grpSp>
        <p:nvGrpSpPr>
          <p:cNvPr id="121" name="ex-powerset"/>
          <p:cNvGrpSpPr/>
          <p:nvPr/>
        </p:nvGrpSpPr>
        <p:grpSpPr>
          <a:xfrm>
            <a:off x="4114800" y="2247900"/>
            <a:ext cx="3771900" cy="3467100"/>
            <a:chOff x="4114800" y="2247900"/>
            <a:chExt cx="3771900" cy="3467100"/>
          </a:xfrm>
        </p:grpSpPr>
        <p:sp>
          <p:nvSpPr>
            <p:cNvPr id="80" name="Rectangle 80"/>
            <p:cNvSpPr/>
            <p:nvPr/>
          </p:nvSpPr>
          <p:spPr>
            <a:xfrm>
              <a:off x="4114800" y="2247900"/>
              <a:ext cx="3771900" cy="3467100"/>
            </a:xfrm>
            <a:prstGeom prst="roundRect">
              <a:avLst>
                <a:gd name="adj" fmla="val 439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4305300" y="2381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447032" y="2442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869942" y="2435542"/>
              <a:ext cx="1721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(ρ(S), ⊆) 是有余格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337685" y="2736056"/>
              <a:ext cx="2234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界为 ∅ 和 S；A 的余元素是 </a:t>
              </a:r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 − A</a:t>
              </a:r>
            </a:p>
          </p:txBody>
        </p:sp>
        <p:grpSp>
          <p:nvGrpSpPr>
            <p:cNvPr id="117" name="cube-complement"/>
            <p:cNvGrpSpPr/>
            <p:nvPr/>
          </p:nvGrpSpPr>
          <p:grpSpPr>
            <a:xfrm>
              <a:off x="4825651" y="2972752"/>
              <a:ext cx="2369634" cy="1957959"/>
              <a:chOff x="4825651" y="2972752"/>
              <a:chExt cx="2369634" cy="1957959"/>
            </a:xfrm>
          </p:grpSpPr>
          <p:grpSp>
            <p:nvGrpSpPr>
              <p:cNvPr id="97" name="Group 97"/>
              <p:cNvGrpSpPr/>
              <p:nvPr/>
            </p:nvGrpSpPr>
            <p:grpSpPr>
              <a:xfrm>
                <a:off x="5334000" y="3200400"/>
                <a:ext cx="1343025" cy="1447800"/>
                <a:chOff x="5334000" y="3200400"/>
                <a:chExt cx="1343025" cy="1447800"/>
              </a:xfrm>
            </p:grpSpPr>
            <p:sp>
              <p:nvSpPr>
                <p:cNvPr id="85" name="Line 85"/>
                <p:cNvSpPr/>
                <p:nvPr/>
              </p:nvSpPr>
              <p:spPr>
                <a:xfrm>
                  <a:off x="5334000" y="3200400"/>
                  <a:ext cx="6667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457200">
                      <a:moveTo>
                        <a:pt x="66675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6" name="Line 86"/>
                <p:cNvSpPr/>
                <p:nvPr/>
              </p:nvSpPr>
              <p:spPr>
                <a:xfrm>
                  <a:off x="6000750" y="3200400"/>
                  <a:ext cx="9525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57200">
                      <a:moveTo>
                        <a:pt x="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7" name="Line 87"/>
                <p:cNvSpPr/>
                <p:nvPr/>
              </p:nvSpPr>
              <p:spPr>
                <a:xfrm>
                  <a:off x="6000750" y="3200400"/>
                  <a:ext cx="6667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457200">
                      <a:moveTo>
                        <a:pt x="0" y="0"/>
                      </a:moveTo>
                      <a:lnTo>
                        <a:pt x="666750" y="4572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8" name="Line 88"/>
                <p:cNvSpPr/>
                <p:nvPr/>
              </p:nvSpPr>
              <p:spPr>
                <a:xfrm>
                  <a:off x="5334000" y="3657600"/>
                  <a:ext cx="9525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3400">
                      <a:moveTo>
                        <a:pt x="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9" name="Line 89"/>
                <p:cNvSpPr/>
                <p:nvPr/>
              </p:nvSpPr>
              <p:spPr>
                <a:xfrm>
                  <a:off x="5334000" y="3657600"/>
                  <a:ext cx="66675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533400">
                      <a:moveTo>
                        <a:pt x="0" y="0"/>
                      </a:moveTo>
                      <a:lnTo>
                        <a:pt x="66675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0" name="Line 90"/>
                <p:cNvSpPr/>
                <p:nvPr/>
              </p:nvSpPr>
              <p:spPr>
                <a:xfrm>
                  <a:off x="5334000" y="3657600"/>
                  <a:ext cx="66675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533400">
                      <a:moveTo>
                        <a:pt x="66675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1" name="Line 91"/>
                <p:cNvSpPr/>
                <p:nvPr/>
              </p:nvSpPr>
              <p:spPr>
                <a:xfrm>
                  <a:off x="6000750" y="3657600"/>
                  <a:ext cx="66675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533400">
                      <a:moveTo>
                        <a:pt x="0" y="0"/>
                      </a:moveTo>
                      <a:lnTo>
                        <a:pt x="66675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2" name="Line 92"/>
                <p:cNvSpPr/>
                <p:nvPr/>
              </p:nvSpPr>
              <p:spPr>
                <a:xfrm>
                  <a:off x="6000750" y="3657600"/>
                  <a:ext cx="66675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533400">
                      <a:moveTo>
                        <a:pt x="66675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3" name="Line 93"/>
                <p:cNvSpPr/>
                <p:nvPr/>
              </p:nvSpPr>
              <p:spPr>
                <a:xfrm>
                  <a:off x="6667500" y="3657600"/>
                  <a:ext cx="9525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3400">
                      <a:moveTo>
                        <a:pt x="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4" name="Line 94"/>
                <p:cNvSpPr/>
                <p:nvPr/>
              </p:nvSpPr>
              <p:spPr>
                <a:xfrm>
                  <a:off x="5334000" y="4191000"/>
                  <a:ext cx="6667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457200">
                      <a:moveTo>
                        <a:pt x="0" y="0"/>
                      </a:moveTo>
                      <a:lnTo>
                        <a:pt x="666750" y="4572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5" name="Line 95"/>
                <p:cNvSpPr/>
                <p:nvPr/>
              </p:nvSpPr>
              <p:spPr>
                <a:xfrm>
                  <a:off x="6000750" y="4191000"/>
                  <a:ext cx="9525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57200">
                      <a:moveTo>
                        <a:pt x="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6" name="Line 96"/>
                <p:cNvSpPr/>
                <p:nvPr/>
              </p:nvSpPr>
              <p:spPr>
                <a:xfrm>
                  <a:off x="6000750" y="4191000"/>
                  <a:ext cx="6667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457200">
                      <a:moveTo>
                        <a:pt x="66675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04" name="Group 104"/>
              <p:cNvGrpSpPr/>
              <p:nvPr/>
            </p:nvGrpSpPr>
            <p:grpSpPr>
              <a:xfrm>
                <a:off x="5276850" y="3143250"/>
                <a:ext cx="1447800" cy="1562100"/>
                <a:chOff x="5276850" y="3143250"/>
                <a:chExt cx="1447800" cy="1562100"/>
              </a:xfrm>
            </p:grpSpPr>
            <p:sp>
              <p:nvSpPr>
                <p:cNvPr id="98" name="Ellipse 98"/>
                <p:cNvSpPr/>
                <p:nvPr/>
              </p:nvSpPr>
              <p:spPr>
                <a:xfrm>
                  <a:off x="5943600" y="31432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99" name="Ellipse 99"/>
                <p:cNvSpPr/>
                <p:nvPr/>
              </p:nvSpPr>
              <p:spPr>
                <a:xfrm>
                  <a:off x="5276850" y="36004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0" name="Ellipse 100"/>
                <p:cNvSpPr/>
                <p:nvPr/>
              </p:nvSpPr>
              <p:spPr>
                <a:xfrm>
                  <a:off x="5943600" y="36004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1" name="Ellipse 101"/>
                <p:cNvSpPr/>
                <p:nvPr/>
              </p:nvSpPr>
              <p:spPr>
                <a:xfrm>
                  <a:off x="5943600" y="41338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2" name="Ellipse 102"/>
                <p:cNvSpPr/>
                <p:nvPr/>
              </p:nvSpPr>
              <p:spPr>
                <a:xfrm>
                  <a:off x="6610350" y="41338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3" name="Ellipse 103"/>
                <p:cNvSpPr/>
                <p:nvPr/>
              </p:nvSpPr>
              <p:spPr>
                <a:xfrm>
                  <a:off x="5943600" y="45910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07" name="Group 107"/>
              <p:cNvGrpSpPr/>
              <p:nvPr/>
            </p:nvGrpSpPr>
            <p:grpSpPr>
              <a:xfrm>
                <a:off x="5267325" y="3590925"/>
                <a:ext cx="1466850" cy="666750"/>
                <a:chOff x="5267325" y="3590925"/>
                <a:chExt cx="1466850" cy="666750"/>
              </a:xfrm>
            </p:grpSpPr>
            <p:sp>
              <p:nvSpPr>
                <p:cNvPr id="105" name="Ellipse 105"/>
                <p:cNvSpPr/>
                <p:nvPr/>
              </p:nvSpPr>
              <p:spPr>
                <a:xfrm>
                  <a:off x="6600825" y="3590925"/>
                  <a:ext cx="133350" cy="13335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06" name="Ellipse 106"/>
                <p:cNvSpPr/>
                <p:nvPr/>
              </p:nvSpPr>
              <p:spPr>
                <a:xfrm>
                  <a:off x="5267325" y="4124325"/>
                  <a:ext cx="133350" cy="13335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</a:ln>
              </p:spPr>
            </p:sp>
          </p:grpSp>
          <p:grpSp>
            <p:nvGrpSpPr>
              <p:cNvPr id="116" name="Group 116"/>
              <p:cNvGrpSpPr/>
              <p:nvPr/>
            </p:nvGrpSpPr>
            <p:grpSpPr>
              <a:xfrm>
                <a:off x="4825651" y="2972752"/>
                <a:ext cx="2369634" cy="1957959"/>
                <a:chOff x="4825651" y="2972752"/>
                <a:chExt cx="2369634" cy="1957959"/>
              </a:xfrm>
            </p:grpSpPr>
            <p:sp>
              <p:nvSpPr>
                <p:cNvPr id="108" name="TextBox 108"/>
                <p:cNvSpPr txBox="1"/>
                <p:nvPr/>
              </p:nvSpPr>
              <p:spPr>
                <a:xfrm>
                  <a:off x="5723315" y="297275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{a,b,c}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4825651" y="3591878"/>
                  <a:ext cx="39938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{a,b}</a:t>
                  </a:r>
                </a:p>
              </p:txBody>
            </p:sp>
            <p:sp>
              <p:nvSpPr>
                <p:cNvPr id="110" name="TextBox 110"/>
                <p:cNvSpPr txBox="1"/>
                <p:nvPr/>
              </p:nvSpPr>
              <p:spPr>
                <a:xfrm>
                  <a:off x="6090666" y="3496628"/>
                  <a:ext cx="39938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{a,c}</a:t>
                  </a:r>
                </a:p>
              </p:txBody>
            </p:sp>
            <p:sp>
              <p:nvSpPr>
                <p:cNvPr id="111" name="TextBox 111"/>
                <p:cNvSpPr txBox="1"/>
                <p:nvPr/>
              </p:nvSpPr>
              <p:spPr>
                <a:xfrm>
                  <a:off x="6776466" y="3591878"/>
                  <a:ext cx="41881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{b,c}</a:t>
                  </a:r>
                </a:p>
              </p:txBody>
            </p:sp>
            <p:sp>
              <p:nvSpPr>
                <p:cNvPr id="112" name="TextBox 112"/>
                <p:cNvSpPr txBox="1"/>
                <p:nvPr/>
              </p:nvSpPr>
              <p:spPr>
                <a:xfrm>
                  <a:off x="4969475" y="4125278"/>
                  <a:ext cx="25555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b="1" dirty="0">
                      <a:solidFill>
                        <a:srgbClr val="C2410C"/>
                      </a:solidFill>
                      <a:latin typeface="Cambria Math"/>
                      <a:ea typeface="Cambria Math"/>
                      <a:cs typeface="Cambria Math"/>
                    </a:rPr>
                    <a:t>{a}</a:t>
                  </a:r>
                </a:p>
              </p:txBody>
            </p:sp>
            <p:sp>
              <p:nvSpPr>
                <p:cNvPr id="113" name="TextBox 113"/>
                <p:cNvSpPr txBox="1"/>
                <p:nvPr/>
              </p:nvSpPr>
              <p:spPr>
                <a:xfrm>
                  <a:off x="6090666" y="4249102"/>
                  <a:ext cx="2438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{b}</a:t>
                  </a:r>
                </a:p>
              </p:txBody>
            </p:sp>
            <p:sp>
              <p:nvSpPr>
                <p:cNvPr id="114" name="TextBox 114"/>
                <p:cNvSpPr txBox="1"/>
                <p:nvPr/>
              </p:nvSpPr>
              <p:spPr>
                <a:xfrm>
                  <a:off x="6776466" y="4125278"/>
                  <a:ext cx="2438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{c}</a:t>
                  </a:r>
                </a:p>
              </p:txBody>
            </p:sp>
            <p:sp>
              <p:nvSpPr>
                <p:cNvPr id="115" name="TextBox 115"/>
                <p:cNvSpPr txBox="1"/>
                <p:nvPr/>
              </p:nvSpPr>
              <p:spPr>
                <a:xfrm>
                  <a:off x="5956544" y="472535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∅</a:t>
                  </a:r>
                </a:p>
              </p:txBody>
            </p:sp>
          </p:grpSp>
        </p:grpSp>
        <p:sp>
          <p:nvSpPr>
            <p:cNvPr id="118" name="Line 118"/>
            <p:cNvSpPr/>
            <p:nvPr/>
          </p:nvSpPr>
          <p:spPr>
            <a:xfrm>
              <a:off x="4305300" y="497205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4337685" y="5079206"/>
              <a:ext cx="886206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∅ ↔ {a, b, c}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{b} ↔ {a, c}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6090285" y="5079206"/>
              <a:ext cx="885139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1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{a} ↔ {b, c}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{c} ↔ {a, b}</a:t>
              </a:r>
            </a:p>
          </p:txBody>
        </p:sp>
      </p:grpSp>
      <p:grpSp>
        <p:nvGrpSpPr>
          <p:cNvPr id="146" name="ex-ndim"/>
          <p:cNvGrpSpPr/>
          <p:nvPr/>
        </p:nvGrpSpPr>
        <p:grpSpPr>
          <a:xfrm>
            <a:off x="8001000" y="2247900"/>
            <a:ext cx="3657600" cy="3467100"/>
            <a:chOff x="8001000" y="2247900"/>
            <a:chExt cx="3657600" cy="3467100"/>
          </a:xfrm>
        </p:grpSpPr>
        <p:sp>
          <p:nvSpPr>
            <p:cNvPr id="122" name="Rectangle 122"/>
            <p:cNvSpPr/>
            <p:nvPr/>
          </p:nvSpPr>
          <p:spPr>
            <a:xfrm>
              <a:off x="8001000" y="2247900"/>
              <a:ext cx="3657600" cy="3467100"/>
            </a:xfrm>
            <a:prstGeom prst="roundRect">
              <a:avLst>
                <a:gd name="adj" fmla="val 439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8191500" y="2381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8333232" y="2442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756142" y="2435542"/>
              <a:ext cx="2224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维格 (Lⁿ, ≤ₙ) 是有余格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8223885" y="2755106"/>
              <a:ext cx="257175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界：0ₙ = (0, …, 0)，1ₙ = (1, …, 1)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(a₁, …, aₙ) 的余元素 (b₁, …, bₙ) 满足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8191500" y="3238500"/>
              <a:ext cx="32766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8337804" y="3356610"/>
              <a:ext cx="232486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bᵢ = 0 ⇔ aᵢ = 1，bᵢ = 1 ⇔ aᵢ = 0</a:t>
              </a:r>
            </a:p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（i = 1, …, n）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8223504" y="4023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即：逐位取反</a:t>
              </a:r>
            </a:p>
          </p:txBody>
        </p:sp>
        <p:grpSp>
          <p:nvGrpSpPr>
            <p:cNvPr id="143" name="bit-flip"/>
            <p:cNvGrpSpPr/>
            <p:nvPr/>
          </p:nvGrpSpPr>
          <p:grpSpPr>
            <a:xfrm>
              <a:off x="8382000" y="4305300"/>
              <a:ext cx="2895600" cy="379095"/>
              <a:chOff x="8382000" y="4305300"/>
              <a:chExt cx="2895600" cy="379095"/>
            </a:xfrm>
          </p:grpSpPr>
          <p:sp>
            <p:nvSpPr>
              <p:cNvPr id="130" name="Rectangle 130"/>
              <p:cNvSpPr/>
              <p:nvPr/>
            </p:nvSpPr>
            <p:spPr>
              <a:xfrm>
                <a:off x="8382000" y="4305300"/>
                <a:ext cx="323850" cy="361950"/>
              </a:xfrm>
              <a:prstGeom prst="roundRect">
                <a:avLst>
                  <a:gd name="adj" fmla="val 235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1" name="Rectangle 131"/>
              <p:cNvSpPr/>
              <p:nvPr/>
            </p:nvSpPr>
            <p:spPr>
              <a:xfrm>
                <a:off x="8743950" y="4305300"/>
                <a:ext cx="323850" cy="361950"/>
              </a:xfrm>
              <a:prstGeom prst="roundRect">
                <a:avLst>
                  <a:gd name="adj" fmla="val 23529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9105900" y="4305300"/>
                <a:ext cx="323850" cy="361950"/>
              </a:xfrm>
              <a:prstGeom prst="roundRect">
                <a:avLst>
                  <a:gd name="adj" fmla="val 235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8484590" y="4407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8846540" y="4407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9208490" y="4407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9763873" y="43910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↔</a:t>
                </a:r>
              </a:p>
            </p:txBody>
          </p:sp>
          <p:sp>
            <p:nvSpPr>
              <p:cNvPr id="137" name="Rectangle 137"/>
              <p:cNvSpPr/>
              <p:nvPr/>
            </p:nvSpPr>
            <p:spPr>
              <a:xfrm>
                <a:off x="10229850" y="4305300"/>
                <a:ext cx="323850" cy="361950"/>
              </a:xfrm>
              <a:prstGeom prst="roundRect">
                <a:avLst>
                  <a:gd name="adj" fmla="val 23529"/>
                </a:avLst>
              </a:prstGeom>
              <a:solidFill>
                <a:schemeClr val="lt1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10591800" y="4305300"/>
                <a:ext cx="323850" cy="361950"/>
              </a:xfrm>
              <a:prstGeom prst="roundRect">
                <a:avLst>
                  <a:gd name="adj" fmla="val 23529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9" name="Rectangle 139"/>
              <p:cNvSpPr/>
              <p:nvPr/>
            </p:nvSpPr>
            <p:spPr>
              <a:xfrm>
                <a:off x="10953750" y="4305300"/>
                <a:ext cx="323850" cy="361950"/>
              </a:xfrm>
              <a:prstGeom prst="roundRect">
                <a:avLst>
                  <a:gd name="adj" fmla="val 23529"/>
                </a:avLst>
              </a:prstGeom>
              <a:solidFill>
                <a:schemeClr val="lt1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10332440" y="4407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10694390" y="4407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42" name="TextBox 142"/>
              <p:cNvSpPr txBox="1"/>
              <p:nvPr/>
            </p:nvSpPr>
            <p:spPr>
              <a:xfrm>
                <a:off x="11056340" y="4407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</p:grpSp>
        <p:sp>
          <p:nvSpPr>
            <p:cNvPr id="144" name="TextBox 144"/>
            <p:cNvSpPr txBox="1"/>
            <p:nvPr/>
          </p:nvSpPr>
          <p:spPr>
            <a:xfrm>
              <a:off x="8223885" y="4869656"/>
              <a:ext cx="230149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(1,0,1) × (0,1,0) = (0,0,0) = 0₃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(1,0,1) ⊕ (0,1,0) = (1,1,1) = 1₃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224266" y="5430202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对应幂集格：{a, c} 的余元素是 {b}</a:t>
              </a:r>
            </a:p>
          </p:txBody>
        </p:sp>
      </p:grpSp>
      <p:grpSp>
        <p:nvGrpSpPr>
          <p:cNvPr id="15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47" name="Rectangle 14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8" name="Freeform 148"/>
            <p:cNvSpPr/>
            <p:nvPr/>
          </p:nvSpPr>
          <p:spPr>
            <a:xfrm>
              <a:off x="762000" y="5991225"/>
              <a:ext cx="228599" cy="228599"/>
            </a:xfrm>
            <a:custGeom>
              <a:avLst/>
              <a:gdLst/>
              <a:ahLst/>
              <a:cxnLst/>
              <a:rect l="l" t="t" r="r" b="b"/>
              <a:pathLst>
                <a:path w="228599" h="228599">
                  <a:moveTo>
                    <a:pt x="12700" y="50800"/>
                  </a:moveTo>
                  <a:lnTo>
                    <a:pt x="50800" y="50800"/>
                  </a:lnTo>
                  <a:cubicBezTo>
                    <a:pt x="57814" y="50800"/>
                    <a:pt x="63500" y="45114"/>
                    <a:pt x="63500" y="38100"/>
                  </a:cubicBezTo>
                  <a:lnTo>
                    <a:pt x="63500" y="25400"/>
                  </a:lnTo>
                  <a:cubicBezTo>
                    <a:pt x="63500" y="11372"/>
                    <a:pt x="74872" y="0"/>
                    <a:pt x="88900" y="0"/>
                  </a:cubicBezTo>
                  <a:cubicBezTo>
                    <a:pt x="102928" y="0"/>
                    <a:pt x="114300" y="11372"/>
                    <a:pt x="114300" y="25400"/>
                  </a:cubicBezTo>
                  <a:lnTo>
                    <a:pt x="114300" y="38100"/>
                  </a:lnTo>
                  <a:cubicBezTo>
                    <a:pt x="114300" y="45114"/>
                    <a:pt x="119986" y="50800"/>
                    <a:pt x="127000" y="50800"/>
                  </a:cubicBezTo>
                  <a:lnTo>
                    <a:pt x="165100" y="50800"/>
                  </a:lnTo>
                  <a:cubicBezTo>
                    <a:pt x="172114" y="50800"/>
                    <a:pt x="177800" y="56486"/>
                    <a:pt x="177800" y="63500"/>
                  </a:cubicBezTo>
                  <a:lnTo>
                    <a:pt x="177800" y="101600"/>
                  </a:lnTo>
                  <a:cubicBezTo>
                    <a:pt x="177800" y="108614"/>
                    <a:pt x="183486" y="114300"/>
                    <a:pt x="190500" y="114300"/>
                  </a:cubicBezTo>
                  <a:lnTo>
                    <a:pt x="203199" y="114300"/>
                  </a:lnTo>
                  <a:cubicBezTo>
                    <a:pt x="217227" y="114300"/>
                    <a:pt x="228599" y="125672"/>
                    <a:pt x="228599" y="139700"/>
                  </a:cubicBezTo>
                  <a:cubicBezTo>
                    <a:pt x="228599" y="153728"/>
                    <a:pt x="217227" y="165100"/>
                    <a:pt x="203199" y="165100"/>
                  </a:cubicBezTo>
                  <a:lnTo>
                    <a:pt x="190500" y="165100"/>
                  </a:lnTo>
                  <a:cubicBezTo>
                    <a:pt x="183486" y="165100"/>
                    <a:pt x="177800" y="170786"/>
                    <a:pt x="177800" y="177800"/>
                  </a:cubicBezTo>
                  <a:lnTo>
                    <a:pt x="177800" y="215899"/>
                  </a:lnTo>
                  <a:cubicBezTo>
                    <a:pt x="177800" y="222913"/>
                    <a:pt x="172114" y="228599"/>
                    <a:pt x="165100" y="228599"/>
                  </a:cubicBezTo>
                  <a:lnTo>
                    <a:pt x="127000" y="228599"/>
                  </a:lnTo>
                  <a:cubicBezTo>
                    <a:pt x="119986" y="228599"/>
                    <a:pt x="114300" y="222913"/>
                    <a:pt x="114300" y="215899"/>
                  </a:cubicBezTo>
                  <a:lnTo>
                    <a:pt x="114300" y="203199"/>
                  </a:lnTo>
                  <a:cubicBezTo>
                    <a:pt x="114300" y="189171"/>
                    <a:pt x="102928" y="177800"/>
                    <a:pt x="88900" y="177800"/>
                  </a:cubicBezTo>
                  <a:cubicBezTo>
                    <a:pt x="74872" y="177800"/>
                    <a:pt x="63500" y="189171"/>
                    <a:pt x="63500" y="203199"/>
                  </a:cubicBezTo>
                  <a:lnTo>
                    <a:pt x="63500" y="215899"/>
                  </a:lnTo>
                  <a:cubicBezTo>
                    <a:pt x="63500" y="222913"/>
                    <a:pt x="57814" y="228599"/>
                    <a:pt x="50800" y="228599"/>
                  </a:cubicBezTo>
                  <a:lnTo>
                    <a:pt x="12700" y="228599"/>
                  </a:lnTo>
                  <a:cubicBezTo>
                    <a:pt x="5686" y="228599"/>
                    <a:pt x="0" y="222913"/>
                    <a:pt x="0" y="215899"/>
                  </a:cubicBezTo>
                  <a:lnTo>
                    <a:pt x="0" y="177800"/>
                  </a:lnTo>
                  <a:cubicBezTo>
                    <a:pt x="0" y="170786"/>
                    <a:pt x="5686" y="165100"/>
                    <a:pt x="12700" y="165100"/>
                  </a:cubicBezTo>
                  <a:lnTo>
                    <a:pt x="25400" y="165100"/>
                  </a:lnTo>
                  <a:cubicBezTo>
                    <a:pt x="39428" y="165100"/>
                    <a:pt x="50800" y="153728"/>
                    <a:pt x="50800" y="139700"/>
                  </a:cubicBezTo>
                  <a:cubicBezTo>
                    <a:pt x="50800" y="125672"/>
                    <a:pt x="39428" y="114300"/>
                    <a:pt x="25400" y="114300"/>
                  </a:cubicBezTo>
                  <a:lnTo>
                    <a:pt x="12700" y="114300"/>
                  </a:lnTo>
                  <a:cubicBezTo>
                    <a:pt x="5686" y="114300"/>
                    <a:pt x="0" y="108614"/>
                    <a:pt x="0" y="101600"/>
                  </a:cubicBezTo>
                  <a:lnTo>
                    <a:pt x="0" y="63500"/>
                  </a:lnTo>
                  <a:cubicBezTo>
                    <a:pt x="0" y="56486"/>
                    <a:pt x="5686" y="50800"/>
                    <a:pt x="12700" y="5080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1134618" y="6003608"/>
              <a:ext cx="80046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幂集格里 A 的余元素是 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 − A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，n 维格里是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逐位取反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；但“有余”不保证余元唯一。</a:t>
              </a:r>
            </a:p>
          </p:txBody>
        </p:sp>
      </p:grpSp>
      <p:grpSp>
        <p:nvGrpSpPr>
          <p:cNvPr id="15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51" name="TextBox 151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16068" cy="960501"/>
            <a:chOff x="519684" y="361950"/>
            <a:chExt cx="511606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特殊的格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分配格：两个分配律只需验一个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def-744"/>
          <p:cNvGrpSpPr/>
          <p:nvPr/>
        </p:nvGrpSpPr>
        <p:grpSpPr>
          <a:xfrm>
            <a:off x="533400" y="1485900"/>
            <a:ext cx="5257800" cy="1714500"/>
            <a:chOff x="533400" y="1485900"/>
            <a:chExt cx="5257800" cy="17145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257800" cy="1714500"/>
            </a:xfrm>
            <a:prstGeom prst="roundRect">
              <a:avLst>
                <a:gd name="adj" fmla="val 888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409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7.4.4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95800" y="1628775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22568" y="1686878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延续 6.1 分配律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923" y="2034064"/>
              <a:ext cx="4332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 (L, ×, ⊕) 称为分配格，如果对任意 a, b, c ∈ L 恒有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2305050"/>
              <a:ext cx="4686300" cy="742950"/>
            </a:xfrm>
            <a:prstGeom prst="roundRect">
              <a:avLst>
                <a:gd name="adj" fmla="val 1538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44754" y="2428875"/>
              <a:ext cx="2825591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× (b ⊕ c) = (a × b) ⊕ (a × c)</a:t>
              </a:r>
              <a:br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⊕ (b × c) = (a ⊕ b) × (a ⊕ c)</a:t>
              </a:r>
            </a:p>
          </p:txBody>
        </p:sp>
      </p:grpSp>
      <p:grpSp>
        <p:nvGrpSpPr>
          <p:cNvPr id="31" name="examples"/>
          <p:cNvGrpSpPr/>
          <p:nvPr/>
        </p:nvGrpSpPr>
        <p:grpSpPr>
          <a:xfrm>
            <a:off x="533400" y="3352800"/>
            <a:ext cx="5257800" cy="914400"/>
            <a:chOff x="533400" y="3352800"/>
            <a:chExt cx="5257800" cy="914400"/>
          </a:xfrm>
        </p:grpSpPr>
        <p:sp>
          <p:nvSpPr>
            <p:cNvPr id="18" name="Rectangle 18"/>
            <p:cNvSpPr/>
            <p:nvPr/>
          </p:nvSpPr>
          <p:spPr>
            <a:xfrm>
              <a:off x="533400" y="3352800"/>
              <a:ext cx="52578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3900" y="34861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5632" y="35471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8542" y="35404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常见的分配格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23900" y="3848100"/>
              <a:ext cx="4876800" cy="330803"/>
              <a:chOff x="723900" y="3848100"/>
              <a:chExt cx="4876800" cy="330803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23900" y="3848100"/>
                <a:ext cx="11620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01769" y="3929539"/>
                <a:ext cx="80631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(Lⁿ, ≤ₙ)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981200" y="3848100"/>
                <a:ext cx="11620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18531" y="3929539"/>
                <a:ext cx="88738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28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(ρ(S), ⊆)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3238500" y="3848100"/>
                <a:ext cx="11239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73787" y="39295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(I₊, D)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457700" y="3848100"/>
                <a:ext cx="114300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678616" y="3929539"/>
                <a:ext cx="70116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(Sₙ, D)</a:t>
                </a:r>
              </a:p>
            </p:txBody>
          </p:sp>
        </p:grpSp>
      </p:grpSp>
      <p:grpSp>
        <p:nvGrpSpPr>
          <p:cNvPr id="41" name="facts"/>
          <p:cNvGrpSpPr/>
          <p:nvPr/>
        </p:nvGrpSpPr>
        <p:grpSpPr>
          <a:xfrm>
            <a:off x="533400" y="4419600"/>
            <a:ext cx="5257800" cy="1295400"/>
            <a:chOff x="533400" y="4419600"/>
            <a:chExt cx="5257800" cy="1295400"/>
          </a:xfrm>
        </p:grpSpPr>
        <p:sp>
          <p:nvSpPr>
            <p:cNvPr id="32" name="Rectangle 32"/>
            <p:cNvSpPr/>
            <p:nvPr/>
          </p:nvSpPr>
          <p:spPr>
            <a:xfrm>
              <a:off x="533400" y="4419600"/>
              <a:ext cx="5257800" cy="129540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76288" y="4605338"/>
              <a:ext cx="104775" cy="104775"/>
              <a:chOff x="776288" y="4605338"/>
              <a:chExt cx="104775" cy="10477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76288" y="46053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6288" y="46053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22604" y="4585335"/>
              <a:ext cx="44300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 (2)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不是所有的格都是分配格（下一页：钻石格、五角格）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767556" y="49950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2604" y="4966335"/>
              <a:ext cx="2653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注 (3)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分配格的任意子格仍是分配格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67556" y="53760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22604" y="5347335"/>
              <a:ext cx="4518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引理 4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任意一个链都是分配格（× 取小、⊕ 取大，分情况验证）</a:t>
              </a:r>
            </a:p>
          </p:txBody>
        </p:sp>
      </p:grpSp>
      <p:grpSp>
        <p:nvGrpSpPr>
          <p:cNvPr id="69" name="equivalence-proof"/>
          <p:cNvGrpSpPr/>
          <p:nvPr/>
        </p:nvGrpSpPr>
        <p:grpSpPr>
          <a:xfrm>
            <a:off x="5943600" y="1485900"/>
            <a:ext cx="5715000" cy="4229100"/>
            <a:chOff x="5943600" y="1485900"/>
            <a:chExt cx="5715000" cy="4229100"/>
          </a:xfrm>
        </p:grpSpPr>
        <p:sp>
          <p:nvSpPr>
            <p:cNvPr id="42" name="Rectangle 42"/>
            <p:cNvSpPr/>
            <p:nvPr/>
          </p:nvSpPr>
          <p:spPr>
            <a:xfrm>
              <a:off x="5943600" y="1485900"/>
              <a:ext cx="57150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6000" y="1638300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246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7151" y="1680210"/>
              <a:ext cx="504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注 (1)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1642" y="16735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定义中的两个等式是等价的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18504" y="2042160"/>
              <a:ext cx="3832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由第一式 a × (b ⊕ c) = (a × b) ⊕ (a × c) 推第二式：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24600" y="2324100"/>
              <a:ext cx="5143500" cy="419100"/>
            </a:xfrm>
            <a:prstGeom prst="roundRect">
              <a:avLst>
                <a:gd name="adj" fmla="val 2727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56526" y="2438400"/>
              <a:ext cx="1679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(a ⊕ b) × (a ⊕ c)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343650" y="29146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14903" y="29713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0642" y="29403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((a ⊕ b) × a) ⊕ ((a ⊕ b) × c)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38713" y="2972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第一式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343650" y="33718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14903" y="34285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0642" y="339756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⊕ ((a × c) ⊕ (b × c))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86702" y="34299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吸收律；第一式 + 交换律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343650" y="38290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14903" y="38857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0642" y="385476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 ⊕ (a × c)) ⊕ (b × c)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38713" y="38871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结合律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343650" y="4286250"/>
              <a:ext cx="228600" cy="2286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14903" y="43429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60642" y="4311968"/>
              <a:ext cx="1085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⊕ (b × c)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42188" y="4344352"/>
              <a:ext cx="1431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吸收律 a ⊕ (a × c) = a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324600" y="4667250"/>
              <a:ext cx="5143500" cy="438150"/>
            </a:xfrm>
            <a:prstGeom prst="roundRect">
              <a:avLst>
                <a:gd name="adj" fmla="val 2608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348597" y="4799171"/>
              <a:ext cx="30955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(a ⊕ b) × (a ⊕ c) = a ⊕ (b × c) ✓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18885" y="5269706"/>
              <a:ext cx="398703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2 步细节：(a ⊕ b) × a = a；(a ⊕ b) × c = (a × c) ⊕ (b × c)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反过来由第二式推第一式，同理（互为对偶）。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62000" y="6003925"/>
              <a:ext cx="228599" cy="203200"/>
              <a:chOff x="762000" y="6003925"/>
              <a:chExt cx="228599" cy="2032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62000" y="6105525"/>
                <a:ext cx="22859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63500">
                    <a:moveTo>
                      <a:pt x="228599" y="63500"/>
                    </a:moveTo>
                    <a:lnTo>
                      <a:pt x="127000" y="63500"/>
                    </a:lnTo>
                    <a:lnTo>
                      <a:pt x="82550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44613" y="6042025"/>
                <a:ext cx="145986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45986" h="63500">
                    <a:moveTo>
                      <a:pt x="145986" y="0"/>
                    </a:moveTo>
                    <a:lnTo>
                      <a:pt x="44386" y="0"/>
                    </a:lnTo>
                    <a:lnTo>
                      <a:pt x="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52499" y="600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52499" y="6130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34618" y="6003608"/>
              <a:ext cx="76472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格中只要 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× (b ⊕ c) = (a × b) ⊕ (a × c)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成立，另一个分配律就自动成立。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8" name="TextBox 78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535880" cy="960501"/>
            <a:chOff x="519684" y="361950"/>
            <a:chExt cx="553588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特殊的格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5358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钻石格与五角格：不分配的“病灶”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ard-l1"/>
          <p:cNvGrpSpPr/>
          <p:nvPr/>
        </p:nvGrpSpPr>
        <p:grpSpPr>
          <a:xfrm>
            <a:off x="533400" y="1485900"/>
            <a:ext cx="2667000" cy="2038350"/>
            <a:chOff x="533400" y="1485900"/>
            <a:chExt cx="2667000" cy="20383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2667000" cy="2038350"/>
            </a:xfrm>
            <a:prstGeom prst="roundRect">
              <a:avLst>
                <a:gd name="adj" fmla="val 747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6280" y="1609725"/>
              <a:ext cx="479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L₁ 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152650" y="160020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331407" y="1669256"/>
              <a:ext cx="5187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分配 ✓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866900" y="203835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809750" y="1981200"/>
              <a:ext cx="114300" cy="1314450"/>
              <a:chOff x="1809750" y="1981200"/>
              <a:chExt cx="114300" cy="131445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809750" y="19812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809750" y="23812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809750" y="27813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809750" y="31813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1994154" y="1956435"/>
              <a:ext cx="101041" cy="1434846"/>
              <a:chOff x="1994154" y="1956435"/>
              <a:chExt cx="101041" cy="143484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994154" y="195643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d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94154" y="23564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994154" y="275653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994154" y="31565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</p:grpSp>
      </p:grpSp>
      <p:grpSp>
        <p:nvGrpSpPr>
          <p:cNvPr id="43" name="card-l2"/>
          <p:cNvGrpSpPr/>
          <p:nvPr/>
        </p:nvGrpSpPr>
        <p:grpSpPr>
          <a:xfrm>
            <a:off x="3352800" y="1485900"/>
            <a:ext cx="2667000" cy="2038350"/>
            <a:chOff x="3352800" y="1485900"/>
            <a:chExt cx="2667000" cy="2038350"/>
          </a:xfrm>
        </p:grpSpPr>
        <p:sp>
          <p:nvSpPr>
            <p:cNvPr id="23" name="Rectangle 23"/>
            <p:cNvSpPr/>
            <p:nvPr/>
          </p:nvSpPr>
          <p:spPr>
            <a:xfrm>
              <a:off x="3352800" y="1485900"/>
              <a:ext cx="2667000" cy="2038350"/>
            </a:xfrm>
            <a:prstGeom prst="roundRect">
              <a:avLst>
                <a:gd name="adj" fmla="val 747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35680" y="1609725"/>
              <a:ext cx="630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L₂ 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菱形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72050" y="160020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50807" y="1669256"/>
              <a:ext cx="5187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分配 ✓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4248150" y="1962150"/>
              <a:ext cx="876300" cy="1066800"/>
              <a:chOff x="4248150" y="1962150"/>
              <a:chExt cx="876300" cy="1066800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4248150" y="1962150"/>
                <a:ext cx="4381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533400">
                    <a:moveTo>
                      <a:pt x="43815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4686300" y="1962150"/>
                <a:ext cx="4381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533400">
                    <a:moveTo>
                      <a:pt x="0" y="0"/>
                    </a:moveTo>
                    <a:lnTo>
                      <a:pt x="43815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4248150" y="2495550"/>
                <a:ext cx="4381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533400">
                    <a:moveTo>
                      <a:pt x="0" y="0"/>
                    </a:moveTo>
                    <a:lnTo>
                      <a:pt x="43815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4686300" y="2495550"/>
                <a:ext cx="4381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533400">
                    <a:moveTo>
                      <a:pt x="43815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4191000" y="1905000"/>
              <a:ext cx="990600" cy="1181100"/>
              <a:chOff x="4191000" y="1905000"/>
              <a:chExt cx="990600" cy="118110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4629150" y="19050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191000" y="24384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5067300" y="24384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629150" y="29718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4019855" y="1842135"/>
              <a:ext cx="1332890" cy="1425321"/>
              <a:chOff x="4019855" y="1842135"/>
              <a:chExt cx="1332890" cy="1425321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4813554" y="184213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d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19855" y="241363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251704" y="241363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813554" y="30327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538347" y="3304699"/>
              <a:ext cx="2272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易错：中间只有 2 个元素，不是钻石格</a:t>
              </a:r>
            </a:p>
          </p:txBody>
        </p:sp>
      </p:grpSp>
      <p:grpSp>
        <p:nvGrpSpPr>
          <p:cNvPr id="67" name="card-l3"/>
          <p:cNvGrpSpPr/>
          <p:nvPr/>
        </p:nvGrpSpPr>
        <p:grpSpPr>
          <a:xfrm>
            <a:off x="6172200" y="1485900"/>
            <a:ext cx="2667000" cy="2038350"/>
            <a:chOff x="6172200" y="1485900"/>
            <a:chExt cx="2667000" cy="2038350"/>
          </a:xfrm>
        </p:grpSpPr>
        <p:sp>
          <p:nvSpPr>
            <p:cNvPr id="44" name="Rectangle 44"/>
            <p:cNvSpPr/>
            <p:nvPr/>
          </p:nvSpPr>
          <p:spPr>
            <a:xfrm>
              <a:off x="6172200" y="1485900"/>
              <a:ext cx="2667000" cy="2038350"/>
            </a:xfrm>
            <a:prstGeom prst="roundRect">
              <a:avLst>
                <a:gd name="adj" fmla="val 7477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5080" y="1609725"/>
              <a:ext cx="1036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L₃ 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钻石格 M₃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58100" y="1600200"/>
              <a:ext cx="100965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28145" y="1669256"/>
              <a:ext cx="669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不分配 ✗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6991350" y="2038350"/>
              <a:ext cx="1028700" cy="1181100"/>
              <a:chOff x="6991350" y="2038350"/>
              <a:chExt cx="1028700" cy="1181100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6991350" y="2038350"/>
                <a:ext cx="5143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90550">
                    <a:moveTo>
                      <a:pt x="514350" y="0"/>
                    </a:moveTo>
                    <a:lnTo>
                      <a:pt x="0" y="5905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7505700" y="2038350"/>
                <a:ext cx="9525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0550">
                    <a:moveTo>
                      <a:pt x="0" y="0"/>
                    </a:moveTo>
                    <a:lnTo>
                      <a:pt x="0" y="5905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7505700" y="2038350"/>
                <a:ext cx="5143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90550">
                    <a:moveTo>
                      <a:pt x="0" y="0"/>
                    </a:moveTo>
                    <a:lnTo>
                      <a:pt x="514350" y="5905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6991350" y="2628900"/>
                <a:ext cx="5143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90550">
                    <a:moveTo>
                      <a:pt x="0" y="0"/>
                    </a:moveTo>
                    <a:lnTo>
                      <a:pt x="514350" y="5905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7505700" y="2628900"/>
                <a:ext cx="9525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0550">
                    <a:moveTo>
                      <a:pt x="0" y="0"/>
                    </a:moveTo>
                    <a:lnTo>
                      <a:pt x="0" y="5905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7505700" y="2628900"/>
                <a:ext cx="5143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90550">
                    <a:moveTo>
                      <a:pt x="514350" y="0"/>
                    </a:moveTo>
                    <a:lnTo>
                      <a:pt x="0" y="5905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7448550" y="1981200"/>
              <a:ext cx="628650" cy="1295400"/>
              <a:chOff x="7448550" y="1981200"/>
              <a:chExt cx="628650" cy="129540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7448550" y="19812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7448550" y="25717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7962900" y="25717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7448550" y="31623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0" name="Ellipse 60"/>
            <p:cNvSpPr/>
            <p:nvPr/>
          </p:nvSpPr>
          <p:spPr>
            <a:xfrm>
              <a:off x="6915150" y="25527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763055" y="1918335"/>
              <a:ext cx="1485290" cy="1558671"/>
              <a:chOff x="6763055" y="1918335"/>
              <a:chExt cx="1485290" cy="1558671"/>
            </a:xfrm>
          </p:grpSpPr>
          <p:sp>
            <p:nvSpPr>
              <p:cNvPr id="61" name="TextBox 61"/>
              <p:cNvSpPr txBox="1"/>
              <p:nvPr/>
            </p:nvSpPr>
            <p:spPr>
              <a:xfrm>
                <a:off x="7632954" y="191833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763055" y="25469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575804" y="26898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147304" y="25469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d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632954" y="32423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</p:grpSp>
      </p:grpSp>
      <p:grpSp>
        <p:nvGrpSpPr>
          <p:cNvPr id="90" name="card-l4"/>
          <p:cNvGrpSpPr/>
          <p:nvPr/>
        </p:nvGrpSpPr>
        <p:grpSpPr>
          <a:xfrm>
            <a:off x="8991600" y="1485900"/>
            <a:ext cx="2667000" cy="2038350"/>
            <a:chOff x="8991600" y="1485900"/>
            <a:chExt cx="2667000" cy="2038350"/>
          </a:xfrm>
        </p:grpSpPr>
        <p:sp>
          <p:nvSpPr>
            <p:cNvPr id="68" name="Rectangle 68"/>
            <p:cNvSpPr/>
            <p:nvPr/>
          </p:nvSpPr>
          <p:spPr>
            <a:xfrm>
              <a:off x="8991600" y="1485900"/>
              <a:ext cx="2667000" cy="2038350"/>
            </a:xfrm>
            <a:prstGeom prst="roundRect">
              <a:avLst>
                <a:gd name="adj" fmla="val 7477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74480" y="1609725"/>
              <a:ext cx="1004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L₄ 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五角格 N₅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477500" y="1600200"/>
              <a:ext cx="100965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647545" y="1669256"/>
              <a:ext cx="669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不分配 ✗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9944100" y="2038350"/>
              <a:ext cx="914400" cy="1181100"/>
              <a:chOff x="9944100" y="2038350"/>
              <a:chExt cx="914400" cy="1181100"/>
            </a:xfrm>
          </p:grpSpPr>
          <p:sp>
            <p:nvSpPr>
              <p:cNvPr id="72" name="Line 72"/>
              <p:cNvSpPr/>
              <p:nvPr/>
            </p:nvSpPr>
            <p:spPr>
              <a:xfrm>
                <a:off x="9944100" y="2038350"/>
                <a:ext cx="4381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285750">
                    <a:moveTo>
                      <a:pt x="4381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9944100" y="23241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9944100" y="2857500"/>
                <a:ext cx="4381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361950">
                    <a:moveTo>
                      <a:pt x="0" y="0"/>
                    </a:moveTo>
                    <a:lnTo>
                      <a:pt x="438150" y="3619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10382250" y="2038350"/>
                <a:ext cx="4762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533400">
                    <a:moveTo>
                      <a:pt x="0" y="0"/>
                    </a:moveTo>
                    <a:lnTo>
                      <a:pt x="476250" y="533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10382250" y="2571750"/>
                <a:ext cx="47625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647700">
                    <a:moveTo>
                      <a:pt x="476250" y="0"/>
                    </a:moveTo>
                    <a:lnTo>
                      <a:pt x="0" y="6477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82" name="Group 82"/>
            <p:cNvGrpSpPr/>
            <p:nvPr/>
          </p:nvGrpSpPr>
          <p:grpSpPr>
            <a:xfrm>
              <a:off x="9886950" y="1981200"/>
              <a:ext cx="1028700" cy="1295400"/>
              <a:chOff x="9886950" y="1981200"/>
              <a:chExt cx="1028700" cy="1295400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10325100" y="19812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9886950" y="28003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10801350" y="25146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10325100" y="316230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83" name="Ellipse 83"/>
            <p:cNvSpPr/>
            <p:nvPr/>
          </p:nvSpPr>
          <p:spPr>
            <a:xfrm>
              <a:off x="9867900" y="22479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9715805" y="1918335"/>
              <a:ext cx="1370990" cy="1558671"/>
              <a:chOff x="9715805" y="1918335"/>
              <a:chExt cx="1370990" cy="1558671"/>
            </a:xfrm>
          </p:grpSpPr>
          <p:sp>
            <p:nvSpPr>
              <p:cNvPr id="84" name="TextBox 84"/>
              <p:cNvSpPr txBox="1"/>
              <p:nvPr/>
            </p:nvSpPr>
            <p:spPr>
              <a:xfrm>
                <a:off x="10509504" y="191833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9715805" y="22421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d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715805" y="27755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0985754" y="248983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10509504" y="32423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</p:grpSp>
      </p:grpSp>
      <p:grpSp>
        <p:nvGrpSpPr>
          <p:cNvPr id="97" name="calc-l3"/>
          <p:cNvGrpSpPr/>
          <p:nvPr/>
        </p:nvGrpSpPr>
        <p:grpSpPr>
          <a:xfrm>
            <a:off x="533400" y="3676650"/>
            <a:ext cx="5486400" cy="1295400"/>
            <a:chOff x="533400" y="3676650"/>
            <a:chExt cx="5486400" cy="1295400"/>
          </a:xfrm>
        </p:grpSpPr>
        <p:sp>
          <p:nvSpPr>
            <p:cNvPr id="91" name="Rectangle 91"/>
            <p:cNvSpPr/>
            <p:nvPr/>
          </p:nvSpPr>
          <p:spPr>
            <a:xfrm>
              <a:off x="533400" y="3676650"/>
              <a:ext cx="5486400" cy="129540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85800" y="382905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07923" y="3862864"/>
              <a:ext cx="14949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L₃ 中取 b、c、d：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07161" y="4170521"/>
              <a:ext cx="2354840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b × (c ⊕ d) = b × e = </a:t>
              </a:r>
              <a:r>
                <a:rPr lang="en-US" sz="14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b</a:t>
              </a:r>
              <a:br/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(b × c) ⊕ (b × d) = a ⊕ a = </a:t>
              </a:r>
              <a:r>
                <a:rPr lang="en-US" sz="14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a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4533900" y="4095750"/>
              <a:ext cx="1295400" cy="419100"/>
            </a:xfrm>
            <a:prstGeom prst="roundRect">
              <a:avLst>
                <a:gd name="adj" fmla="val 2727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4935450" y="4210050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b ≠ a</a:t>
              </a:r>
            </a:p>
          </p:txBody>
        </p:sp>
      </p:grpSp>
      <p:grpSp>
        <p:nvGrpSpPr>
          <p:cNvPr id="104" name="calc-l4"/>
          <p:cNvGrpSpPr/>
          <p:nvPr/>
        </p:nvGrpSpPr>
        <p:grpSpPr>
          <a:xfrm>
            <a:off x="6172200" y="3676650"/>
            <a:ext cx="5486400" cy="1295400"/>
            <a:chOff x="6172200" y="3676650"/>
            <a:chExt cx="5486400" cy="1295400"/>
          </a:xfrm>
        </p:grpSpPr>
        <p:sp>
          <p:nvSpPr>
            <p:cNvPr id="98" name="Rectangle 98"/>
            <p:cNvSpPr/>
            <p:nvPr/>
          </p:nvSpPr>
          <p:spPr>
            <a:xfrm>
              <a:off x="6172200" y="3676650"/>
              <a:ext cx="5486400" cy="129540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324600" y="382905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546723" y="3862864"/>
              <a:ext cx="14949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L₄ 中取 d、b、c：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545961" y="4170521"/>
              <a:ext cx="2354840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d × (b ⊕ c) = d × e = </a:t>
              </a:r>
              <a:r>
                <a:rPr lang="en-US" sz="14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d</a:t>
              </a:r>
              <a:br/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(d × b) ⊕ (d × c) = a ⊕ c = </a:t>
              </a:r>
              <a:r>
                <a:rPr lang="en-US" sz="142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c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0172700" y="4095750"/>
              <a:ext cx="1295400" cy="419100"/>
            </a:xfrm>
            <a:prstGeom prst="roundRect">
              <a:avLst>
                <a:gd name="adj" fmla="val 2727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0574250" y="4210050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d ≠ c</a:t>
              </a:r>
            </a:p>
          </p:txBody>
        </p:sp>
      </p:grpSp>
      <p:grpSp>
        <p:nvGrpSpPr>
          <p:cNvPr id="109" name="criterion"/>
          <p:cNvGrpSpPr/>
          <p:nvPr/>
        </p:nvGrpSpPr>
        <p:grpSpPr>
          <a:xfrm>
            <a:off x="533400" y="5124450"/>
            <a:ext cx="11125200" cy="590550"/>
            <a:chOff x="533400" y="5124450"/>
            <a:chExt cx="11125200" cy="590550"/>
          </a:xfrm>
        </p:grpSpPr>
        <p:sp>
          <p:nvSpPr>
            <p:cNvPr id="105" name="Rectangle 105"/>
            <p:cNvSpPr/>
            <p:nvPr/>
          </p:nvSpPr>
          <p:spPr>
            <a:xfrm>
              <a:off x="533400" y="5124450"/>
              <a:ext cx="11125200" cy="590550"/>
            </a:xfrm>
            <a:prstGeom prst="roundRect">
              <a:avLst>
                <a:gd name="adj" fmla="val 2258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3900" y="5286375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61060" y="53473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478661" y="5332571"/>
              <a:ext cx="6324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L 是分配格 ⇔ L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既不含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与五角格同构的子格，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也不含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与钻石格同构的子格。</a:t>
              </a:r>
            </a:p>
          </p:txBody>
        </p:sp>
      </p:grpSp>
      <p:grpSp>
        <p:nvGrpSpPr>
          <p:cNvPr id="11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10" name="Rectangle 11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762000" y="6016625"/>
              <a:ext cx="228599" cy="186818"/>
              <a:chOff x="762000" y="6016625"/>
              <a:chExt cx="228599" cy="186818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762000" y="6016625"/>
                <a:ext cx="228599" cy="186818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86818">
                    <a:moveTo>
                      <a:pt x="38100" y="0"/>
                    </a:moveTo>
                    <a:lnTo>
                      <a:pt x="190500" y="0"/>
                    </a:lnTo>
                    <a:lnTo>
                      <a:pt x="228599" y="63500"/>
                    </a:lnTo>
                    <a:lnTo>
                      <a:pt x="120650" y="184150"/>
                    </a:lnTo>
                    <a:cubicBezTo>
                      <a:pt x="118978" y="185856"/>
                      <a:pt x="116689" y="186818"/>
                      <a:pt x="114300" y="186818"/>
                    </a:cubicBezTo>
                    <a:cubicBezTo>
                      <a:pt x="111910" y="186818"/>
                      <a:pt x="109622" y="185856"/>
                      <a:pt x="107950" y="184150"/>
                    </a:cubicBezTo>
                    <a:lnTo>
                      <a:pt x="0" y="63500"/>
                    </a:lnTo>
                    <a:lnTo>
                      <a:pt x="381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825500" y="6064885"/>
                <a:ext cx="25400" cy="4064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0640">
                    <a:moveTo>
                      <a:pt x="25400" y="40640"/>
                    </a:moveTo>
                    <a:lnTo>
                      <a:pt x="0" y="12700"/>
                    </a:lnTo>
                    <a:lnTo>
                      <a:pt x="76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1134618" y="6003608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判断分配格：在哈斯图里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找钻石格或五角格子格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，找到一个就不是分配格。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16" name="TextBox 116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7296912" cy="960501"/>
            <a:chOff x="519684" y="361950"/>
            <a:chExt cx="729691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特殊的格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7296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分配格的定理：消去律、德摩根律、余元唯一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thm-742"/>
          <p:cNvGrpSpPr/>
          <p:nvPr/>
        </p:nvGrpSpPr>
        <p:grpSpPr>
          <a:xfrm>
            <a:off x="533400" y="1485900"/>
            <a:ext cx="5638800" cy="4229100"/>
            <a:chOff x="533400" y="1485900"/>
            <a:chExt cx="56388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6388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7.4.2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分配格的消去律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33900" y="16287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32118" y="1686878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对比 6.1 消去律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923" y="2034064"/>
              <a:ext cx="3762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设格 (L, ×, ⊕) 是分配格，对任意 a, b, c ∈ L，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2305050"/>
              <a:ext cx="5067300" cy="438150"/>
            </a:xfrm>
            <a:prstGeom prst="roundRect">
              <a:avLst>
                <a:gd name="adj" fmla="val 2608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72875" y="2428875"/>
              <a:ext cx="39503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若 a × c = b × c 且 a ⊕ c = b ⊕ c，则 a = 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2937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21802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5761" y="3218021"/>
              <a:ext cx="1588395" cy="2164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× (a ⊕ c)</a:t>
              </a:r>
              <a:br/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a × (</a:t>
              </a:r>
              <a:r>
                <a:rPr lang="en-US" sz="14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b</a:t>
              </a:r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⊕ c)</a:t>
              </a:r>
              <a:br/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 × b) ⊕ (a × c)</a:t>
              </a:r>
              <a:br/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 × b) ⊕ (</a:t>
              </a:r>
              <a:r>
                <a:rPr lang="en-US" sz="14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b</a:t>
              </a:r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× c)</a:t>
              </a:r>
              <a:br/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b × (a ⊕ c)</a:t>
              </a:r>
              <a:br/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b × (</a:t>
              </a:r>
              <a:r>
                <a:rPr lang="en-US" sz="14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b</a:t>
              </a:r>
              <a:r>
                <a:rPr lang="en-US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 ⊕ c)</a:t>
              </a:r>
              <a:br/>
              <a:r>
                <a:rPr lang="en-US" sz="14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= b 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2916" y="3258502"/>
              <a:ext cx="944118" cy="2091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2475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吸收律</a:t>
              </a:r>
              <a:br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⊕ c = b ⊕ c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分配律</a:t>
              </a:r>
              <a:br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× c = b × c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交换律、分配律</a:t>
              </a:r>
              <a:br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⊕ c = b ⊕ c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吸收律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468302"/>
              <a:ext cx="3721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6.1 的消去律只需一个等式；这里 × 与 ⊕ 两个条件缺一不可</a:t>
              </a:r>
            </a:p>
          </p:txBody>
        </p:sp>
      </p:grpSp>
      <p:grpSp>
        <p:nvGrpSpPr>
          <p:cNvPr id="29" name="corollary"/>
          <p:cNvGrpSpPr/>
          <p:nvPr/>
        </p:nvGrpSpPr>
        <p:grpSpPr>
          <a:xfrm>
            <a:off x="6324600" y="1485900"/>
            <a:ext cx="5334000" cy="1371600"/>
            <a:chOff x="6324600" y="1485900"/>
            <a:chExt cx="5334000" cy="1371600"/>
          </a:xfrm>
        </p:grpSpPr>
        <p:sp>
          <p:nvSpPr>
            <p:cNvPr id="23" name="Rectangle 23"/>
            <p:cNvSpPr/>
            <p:nvPr/>
          </p:nvSpPr>
          <p:spPr>
            <a:xfrm>
              <a:off x="6324600" y="1485900"/>
              <a:ext cx="5334000" cy="1371600"/>
            </a:xfrm>
            <a:prstGeom prst="roundRect">
              <a:avLst>
                <a:gd name="adj" fmla="val 1111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151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141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5942" y="16735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有余分配格中，余元素唯一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7485" y="2031206"/>
              <a:ext cx="2557526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设 a′、a″ 都是 a 的余元素，即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× a′ = 0 = a × a″，a ⊕ a′ = 1 = a ⊕ a″</a:t>
              </a:r>
              <a:br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由定理 7.4.2（c 取 a）⇒ </a:t>
              </a:r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a′ = a″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71311" y="26188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 a 的唯一余元素为 a′</a:t>
              </a:r>
            </a:p>
          </p:txBody>
        </p:sp>
      </p:grpSp>
      <p:grpSp>
        <p:nvGrpSpPr>
          <p:cNvPr id="36" name="thm-741"/>
          <p:cNvGrpSpPr/>
          <p:nvPr/>
        </p:nvGrpSpPr>
        <p:grpSpPr>
          <a:xfrm>
            <a:off x="6324600" y="3009900"/>
            <a:ext cx="5334000" cy="1104900"/>
            <a:chOff x="6324600" y="3009900"/>
            <a:chExt cx="5334000" cy="1104900"/>
          </a:xfrm>
        </p:grpSpPr>
        <p:sp>
          <p:nvSpPr>
            <p:cNvPr id="30" name="Rectangle 30"/>
            <p:cNvSpPr/>
            <p:nvPr/>
          </p:nvSpPr>
          <p:spPr>
            <a:xfrm>
              <a:off x="6324600" y="3009900"/>
              <a:ext cx="5334000" cy="1104900"/>
            </a:xfrm>
            <a:prstGeom prst="roundRect">
              <a:avLst>
                <a:gd name="adj" fmla="val 1379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515100" y="3143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4088" y="3204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7.4.1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13142" y="3197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德摩根定律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7485" y="3536156"/>
              <a:ext cx="3316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(L, ×, ⊕) 是分配格，a、b 有余元素 a′、b′，则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01992" y="3819525"/>
              <a:ext cx="3779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(a × b)′ = a′ ⊕ b′，(a ⊕ b)′ = a′ × b′</a:t>
              </a:r>
            </a:p>
          </p:txBody>
        </p:sp>
      </p:grpSp>
      <p:grpSp>
        <p:nvGrpSpPr>
          <p:cNvPr id="50" name="choice"/>
          <p:cNvGrpSpPr/>
          <p:nvPr/>
        </p:nvGrpSpPr>
        <p:grpSpPr>
          <a:xfrm>
            <a:off x="6324600" y="4267200"/>
            <a:ext cx="5334000" cy="1447800"/>
            <a:chOff x="6324600" y="4267200"/>
            <a:chExt cx="5334000" cy="1447800"/>
          </a:xfrm>
        </p:grpSpPr>
        <p:sp>
          <p:nvSpPr>
            <p:cNvPr id="37" name="Rectangle 37"/>
            <p:cNvSpPr/>
            <p:nvPr/>
          </p:nvSpPr>
          <p:spPr>
            <a:xfrm>
              <a:off x="6324600" y="4267200"/>
              <a:ext cx="5334000" cy="1447800"/>
            </a:xfrm>
            <a:prstGeom prst="roundRect">
              <a:avLst>
                <a:gd name="adj" fmla="val 1052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15100" y="44005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4160" y="4461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56704" y="4471035"/>
              <a:ext cx="4428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为集合，(ρ(A), ⊆) 为有余格，其中每个元素的余元素（ 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15100" y="4781550"/>
              <a:ext cx="1181100" cy="323850"/>
            </a:xfrm>
            <a:prstGeom prst="roundRect">
              <a:avLst>
                <a:gd name="adj" fmla="val 2941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37165" y="4877752"/>
              <a:ext cx="9369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A. 存在且唯一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772400" y="4781550"/>
              <a:ext cx="1181100" cy="323850"/>
            </a:xfrm>
            <a:prstGeom prst="roundRect">
              <a:avLst>
                <a:gd name="adj" fmla="val 2941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1043" y="4877752"/>
              <a:ext cx="643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B. 不存在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029700" y="4781550"/>
              <a:ext cx="1181100" cy="323850"/>
            </a:xfrm>
            <a:prstGeom prst="roundRect">
              <a:avLst>
                <a:gd name="adj" fmla="val 2941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086317" y="4877752"/>
              <a:ext cx="1067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C. 存在但不唯一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287000" y="4781550"/>
              <a:ext cx="1181100" cy="323850"/>
            </a:xfrm>
            <a:prstGeom prst="roundRect">
              <a:avLst>
                <a:gd name="adj" fmla="val 2941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484968" y="4877752"/>
              <a:ext cx="785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D. 可能存在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47485" y="5269706"/>
              <a:ext cx="28562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：X 的余元素 A − X 一定存在；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(ρ(A), ⊆) 又是分配格，由推论余元素唯一。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1" name="Rectangle 5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62000" y="5991225"/>
              <a:ext cx="228600" cy="225424"/>
              <a:chOff x="762000" y="5991225"/>
              <a:chExt cx="228600" cy="22542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12800" y="6207124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0100" y="6016625"/>
                <a:ext cx="1524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700">
                    <a:moveTo>
                      <a:pt x="0" y="12700"/>
                    </a:moveTo>
                    <a:lnTo>
                      <a:pt x="76200" y="0"/>
                    </a:lnTo>
                    <a:lnTo>
                      <a:pt x="15240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6300" y="5991225"/>
                <a:ext cx="9525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5899">
                    <a:moveTo>
                      <a:pt x="0" y="0"/>
                    </a:moveTo>
                    <a:lnTo>
                      <a:pt x="0" y="2158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620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144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134618" y="6003608"/>
              <a:ext cx="7813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分配格：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× 与 ⊕ 同时相等才能消去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；因此有余分配格中每个元素的余元素唯一。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16068" cy="960501"/>
            <a:chOff x="519684" y="361950"/>
            <a:chExt cx="511606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特殊的格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练一练：有界、有余、分配辨析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qa-1"/>
          <p:cNvGrpSpPr/>
          <p:nvPr/>
        </p:nvGrpSpPr>
        <p:grpSpPr>
          <a:xfrm>
            <a:off x="533400" y="1485900"/>
            <a:ext cx="3257550" cy="2038350"/>
            <a:chOff x="533400" y="1485900"/>
            <a:chExt cx="3257550" cy="20383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257550" cy="2038350"/>
            </a:xfrm>
            <a:prstGeom prst="roundRect">
              <a:avLst>
                <a:gd name="adj" fmla="val 747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6383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001" y="1705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654" y="1699260"/>
              <a:ext cx="1993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有界格一定是有限格吗？</a:t>
              </a:r>
              <a:br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有余格中余元素一定唯一吗？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2247900"/>
              <a:ext cx="2952750" cy="1123950"/>
            </a:xfrm>
            <a:prstGeom prst="roundRect">
              <a:avLst>
                <a:gd name="adj" fmla="val 10169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2104" y="2404110"/>
              <a:ext cx="2430272" cy="749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都不一定。</a:t>
              </a:r>
            </a:p>
            <a:p>
              <a:pPr algn="l">
                <a:lnSpc>
                  <a:spcPts val="1950"/>
                </a:lnSpc>
                <a:spcBef>
                  <a:spcPts val="150"/>
                </a:spcBef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(ρ(N), ⊆) 有界，却有无穷多个元素；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五角格中 c 有 a、b 两个余元素。</a:t>
              </a:r>
            </a:p>
          </p:txBody>
        </p:sp>
      </p:grpSp>
      <p:grpSp>
        <p:nvGrpSpPr>
          <p:cNvPr id="20" name="qa-2"/>
          <p:cNvGrpSpPr/>
          <p:nvPr/>
        </p:nvGrpSpPr>
        <p:grpSpPr>
          <a:xfrm>
            <a:off x="3905250" y="1485900"/>
            <a:ext cx="3257550" cy="2038350"/>
            <a:chOff x="3905250" y="1485900"/>
            <a:chExt cx="3257550" cy="2038350"/>
          </a:xfrm>
        </p:grpSpPr>
        <p:sp>
          <p:nvSpPr>
            <p:cNvPr id="14" name="Rectangle 14"/>
            <p:cNvSpPr/>
            <p:nvPr/>
          </p:nvSpPr>
          <p:spPr>
            <a:xfrm>
              <a:off x="3905250" y="1485900"/>
              <a:ext cx="3257550" cy="2038350"/>
            </a:xfrm>
            <a:prstGeom prst="roundRect">
              <a:avLst>
                <a:gd name="adj" fmla="val 747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057650" y="16383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44851" y="1705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3504" y="1699260"/>
              <a:ext cx="18409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任意一个链都是分配格吗？</a:t>
              </a:r>
              <a:br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它一定是有余分配格吗？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57650" y="2247900"/>
              <a:ext cx="2952750" cy="1123950"/>
            </a:xfrm>
            <a:prstGeom prst="roundRect">
              <a:avLst>
                <a:gd name="adj" fmla="val 1016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03954" y="2404110"/>
              <a:ext cx="2434209" cy="749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是分配格（引理 4）；不一定有余。</a:t>
              </a:r>
            </a:p>
            <a:p>
              <a:pPr algn="l">
                <a:lnSpc>
                  <a:spcPts val="1950"/>
                </a:lnSpc>
                <a:spcBef>
                  <a:spcPts val="150"/>
                </a:spcBef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多于 2 个元素的链，中间元素 x 满足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&lt; x &lt; 1，找不到余元素。</a:t>
              </a:r>
            </a:p>
          </p:txBody>
        </p:sp>
      </p:grpSp>
      <p:grpSp>
        <p:nvGrpSpPr>
          <p:cNvPr id="27" name="qa-3"/>
          <p:cNvGrpSpPr/>
          <p:nvPr/>
        </p:nvGrpSpPr>
        <p:grpSpPr>
          <a:xfrm>
            <a:off x="533400" y="3676650"/>
            <a:ext cx="3257550" cy="2038350"/>
            <a:chOff x="533400" y="3676650"/>
            <a:chExt cx="3257550" cy="2038350"/>
          </a:xfrm>
        </p:grpSpPr>
        <p:sp>
          <p:nvSpPr>
            <p:cNvPr id="21" name="Rectangle 21"/>
            <p:cNvSpPr/>
            <p:nvPr/>
          </p:nvSpPr>
          <p:spPr>
            <a:xfrm>
              <a:off x="533400" y="3676650"/>
              <a:ext cx="3257550" cy="2038350"/>
            </a:xfrm>
            <a:prstGeom prst="roundRect">
              <a:avLst>
                <a:gd name="adj" fmla="val 747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85800" y="3829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3001" y="3896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1654" y="3890010"/>
              <a:ext cx="2224659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(L, ≤) 是有界分配格，若某元素</a:t>
              </a:r>
              <a:br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有余元素，余元素一定唯一吗？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" y="4438650"/>
              <a:ext cx="2952750" cy="1123950"/>
            </a:xfrm>
            <a:prstGeom prst="roundRect">
              <a:avLst>
                <a:gd name="adj" fmla="val 1016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2104" y="4594860"/>
              <a:ext cx="2216912" cy="749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一定唯一。</a:t>
              </a:r>
            </a:p>
            <a:p>
              <a:pPr algn="l">
                <a:lnSpc>
                  <a:spcPts val="1950"/>
                </a:lnSpc>
                <a:spcBef>
                  <a:spcPts val="150"/>
                </a:spcBef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× a′ = a × a″，a ⊕ a′ = a ⊕ a″，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由定理 7.4.2 得 a′ = a″。</a:t>
              </a:r>
            </a:p>
          </p:txBody>
        </p:sp>
      </p:grpSp>
      <p:grpSp>
        <p:nvGrpSpPr>
          <p:cNvPr id="34" name="qa-4"/>
          <p:cNvGrpSpPr/>
          <p:nvPr/>
        </p:nvGrpSpPr>
        <p:grpSpPr>
          <a:xfrm>
            <a:off x="3905250" y="3676650"/>
            <a:ext cx="3257550" cy="2038350"/>
            <a:chOff x="3905250" y="3676650"/>
            <a:chExt cx="3257550" cy="2038350"/>
          </a:xfrm>
        </p:grpSpPr>
        <p:sp>
          <p:nvSpPr>
            <p:cNvPr id="28" name="Rectangle 28"/>
            <p:cNvSpPr/>
            <p:nvPr/>
          </p:nvSpPr>
          <p:spPr>
            <a:xfrm>
              <a:off x="3905250" y="3676650"/>
              <a:ext cx="3257550" cy="2038350"/>
            </a:xfrm>
            <a:prstGeom prst="roundRect">
              <a:avLst>
                <a:gd name="adj" fmla="val 747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057650" y="3829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144851" y="3896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13504" y="3890010"/>
              <a:ext cx="2113026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是自然数集，≤ 为小于等于，</a:t>
              </a:r>
              <a:br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(N, ≤) 是有余分配格，对吗？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57650" y="4438650"/>
              <a:ext cx="2952750" cy="1123950"/>
            </a:xfrm>
            <a:prstGeom prst="roundRect">
              <a:avLst>
                <a:gd name="adj" fmla="val 10169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03954" y="4594860"/>
              <a:ext cx="2622296" cy="749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不对。</a:t>
              </a:r>
            </a:p>
            <a:p>
              <a:pPr algn="l">
                <a:lnSpc>
                  <a:spcPts val="1950"/>
                </a:lnSpc>
                <a:spcBef>
                  <a:spcPts val="150"/>
                </a:spcBef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(N, ≤) 是链，是分配格；但没有最大元，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不是有界格，更谈不上有余。</a:t>
              </a:r>
            </a:p>
          </p:txBody>
        </p:sp>
      </p:grpSp>
      <p:grpSp>
        <p:nvGrpSpPr>
          <p:cNvPr id="83" name="exercise-737"/>
          <p:cNvGrpSpPr/>
          <p:nvPr/>
        </p:nvGrpSpPr>
        <p:grpSpPr>
          <a:xfrm>
            <a:off x="7315200" y="1485900"/>
            <a:ext cx="4343400" cy="4229100"/>
            <a:chOff x="7315200" y="1485900"/>
            <a:chExt cx="4343400" cy="4229100"/>
          </a:xfrm>
        </p:grpSpPr>
        <p:sp>
          <p:nvSpPr>
            <p:cNvPr id="35" name="Rectangle 35"/>
            <p:cNvSpPr/>
            <p:nvPr/>
          </p:nvSpPr>
          <p:spPr>
            <a:xfrm>
              <a:off x="7315200" y="1485900"/>
              <a:ext cx="43434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057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127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7.3-7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79942" y="1673542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元格只有两种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9985" y="2031206"/>
              <a:ext cx="3254502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证明：4 个元素的格 (L, ×, ⊕) 必同构于格 (Z₄, ≤)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或格 (S₆, D)，其中 Z₄ = {1, 2, 3, 4}。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15225" y="25336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80253" y="25888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04785" y="2574131"/>
              <a:ext cx="3563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 有限 ⇒ 有最大元 1、最小元 0，L = {0, 1, a₂, a₃}</a:t>
              </a:r>
            </a:p>
          </p:txBody>
        </p:sp>
        <p:grpSp>
          <p:nvGrpSpPr>
            <p:cNvPr id="59" name="case-chain"/>
            <p:cNvGrpSpPr/>
            <p:nvPr/>
          </p:nvGrpSpPr>
          <p:grpSpPr>
            <a:xfrm>
              <a:off x="7467600" y="2876550"/>
              <a:ext cx="1981200" cy="2171700"/>
              <a:chOff x="7467600" y="2876550"/>
              <a:chExt cx="1981200" cy="21717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467600" y="2876550"/>
                <a:ext cx="1981200" cy="2171700"/>
              </a:xfrm>
              <a:prstGeom prst="roundRect">
                <a:avLst>
                  <a:gd name="adj" fmla="val 5769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7515225" y="3000375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580253" y="3055620"/>
                <a:ext cx="794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785735" y="3040856"/>
                <a:ext cx="8595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a₂、a₃ 可比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8058150" y="3448050"/>
                <a:ext cx="9525" cy="1085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5850">
                    <a:moveTo>
                      <a:pt x="0" y="0"/>
                    </a:moveTo>
                    <a:lnTo>
                      <a:pt x="0" y="10858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8001000" y="3390900"/>
                <a:ext cx="114300" cy="1200150"/>
                <a:chOff x="8001000" y="3390900"/>
                <a:chExt cx="114300" cy="1200150"/>
              </a:xfrm>
            </p:grpSpPr>
            <p:sp>
              <p:nvSpPr>
                <p:cNvPr id="48" name="Ellipse 48"/>
                <p:cNvSpPr/>
                <p:nvPr/>
              </p:nvSpPr>
              <p:spPr>
                <a:xfrm>
                  <a:off x="8001000" y="33909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9" name="Ellipse 49"/>
                <p:cNvSpPr/>
                <p:nvPr/>
              </p:nvSpPr>
              <p:spPr>
                <a:xfrm>
                  <a:off x="8001000" y="37528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0" name="Ellipse 50"/>
                <p:cNvSpPr/>
                <p:nvPr/>
              </p:nvSpPr>
              <p:spPr>
                <a:xfrm>
                  <a:off x="8001000" y="41148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1" name="Ellipse 51"/>
                <p:cNvSpPr/>
                <p:nvPr/>
              </p:nvSpPr>
              <p:spPr>
                <a:xfrm>
                  <a:off x="8001000" y="44767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grpSp>
            <p:nvGrpSpPr>
              <p:cNvPr id="57" name="Group 57"/>
              <p:cNvGrpSpPr/>
              <p:nvPr/>
            </p:nvGrpSpPr>
            <p:grpSpPr>
              <a:xfrm>
                <a:off x="8204835" y="3374231"/>
                <a:ext cx="437745" cy="1305878"/>
                <a:chOff x="8204835" y="3374231"/>
                <a:chExt cx="437745" cy="1305878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8204835" y="3374231"/>
                  <a:ext cx="35481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1 ↦ </a:t>
                  </a:r>
                  <a:r>
                    <a:rPr lang="zh-CN" sz="112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4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204835" y="3736181"/>
                  <a:ext cx="43774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a₃ ↦ </a:t>
                  </a:r>
                  <a:r>
                    <a:rPr lang="zh-CN" sz="112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3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204835" y="4098131"/>
                  <a:ext cx="43774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a₂ ↦ </a:t>
                  </a:r>
                  <a:r>
                    <a:rPr lang="zh-CN" sz="112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2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8204835" y="4460081"/>
                  <a:ext cx="35481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0 ↦ </a:t>
                  </a:r>
                  <a:r>
                    <a:rPr lang="zh-CN" sz="112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7628163" y="4782502"/>
                <a:ext cx="16600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设 a₂ ≤ a₃：链 ≅ (Z₄, ≤)</a:t>
                </a:r>
              </a:p>
            </p:txBody>
          </p:sp>
        </p:grpSp>
        <p:grpSp>
          <p:nvGrpSpPr>
            <p:cNvPr id="80" name="case-diamond"/>
            <p:cNvGrpSpPr/>
            <p:nvPr/>
          </p:nvGrpSpPr>
          <p:grpSpPr>
            <a:xfrm>
              <a:off x="9525000" y="2876550"/>
              <a:ext cx="1981200" cy="2171700"/>
              <a:chOff x="9525000" y="2876550"/>
              <a:chExt cx="1981200" cy="21717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9525000" y="2876550"/>
                <a:ext cx="1981200" cy="2171700"/>
              </a:xfrm>
              <a:prstGeom prst="roundRect">
                <a:avLst>
                  <a:gd name="adj" fmla="val 5769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9572625" y="3000375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637653" y="3055620"/>
                <a:ext cx="794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843135" y="3040856"/>
                <a:ext cx="10103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a₂、a₃ 不可比</a:t>
                </a:r>
              </a:p>
            </p:txBody>
          </p:sp>
          <p:grpSp>
            <p:nvGrpSpPr>
              <p:cNvPr id="68" name="Group 68"/>
              <p:cNvGrpSpPr/>
              <p:nvPr/>
            </p:nvGrpSpPr>
            <p:grpSpPr>
              <a:xfrm>
                <a:off x="10172700" y="3486150"/>
                <a:ext cx="685800" cy="990600"/>
                <a:chOff x="10172700" y="3486150"/>
                <a:chExt cx="685800" cy="990600"/>
              </a:xfrm>
            </p:grpSpPr>
            <p:sp>
              <p:nvSpPr>
                <p:cNvPr id="64" name="Line 64"/>
                <p:cNvSpPr/>
                <p:nvPr/>
              </p:nvSpPr>
              <p:spPr>
                <a:xfrm>
                  <a:off x="10172700" y="3486150"/>
                  <a:ext cx="3429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495300">
                      <a:moveTo>
                        <a:pt x="342900" y="0"/>
                      </a:moveTo>
                      <a:lnTo>
                        <a:pt x="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5" name="Line 65"/>
                <p:cNvSpPr/>
                <p:nvPr/>
              </p:nvSpPr>
              <p:spPr>
                <a:xfrm>
                  <a:off x="10515600" y="3486150"/>
                  <a:ext cx="3429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495300">
                      <a:moveTo>
                        <a:pt x="0" y="0"/>
                      </a:moveTo>
                      <a:lnTo>
                        <a:pt x="34290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6" name="Line 66"/>
                <p:cNvSpPr/>
                <p:nvPr/>
              </p:nvSpPr>
              <p:spPr>
                <a:xfrm>
                  <a:off x="10172700" y="3981450"/>
                  <a:ext cx="3429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495300">
                      <a:moveTo>
                        <a:pt x="0" y="0"/>
                      </a:moveTo>
                      <a:lnTo>
                        <a:pt x="34290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7" name="Line 67"/>
                <p:cNvSpPr/>
                <p:nvPr/>
              </p:nvSpPr>
              <p:spPr>
                <a:xfrm>
                  <a:off x="10515600" y="3981450"/>
                  <a:ext cx="3429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495300">
                      <a:moveTo>
                        <a:pt x="342900" y="0"/>
                      </a:moveTo>
                      <a:lnTo>
                        <a:pt x="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73" name="Group 73"/>
              <p:cNvGrpSpPr/>
              <p:nvPr/>
            </p:nvGrpSpPr>
            <p:grpSpPr>
              <a:xfrm>
                <a:off x="10115550" y="3429000"/>
                <a:ext cx="800100" cy="1104900"/>
                <a:chOff x="10115550" y="3429000"/>
                <a:chExt cx="800100" cy="1104900"/>
              </a:xfrm>
            </p:grpSpPr>
            <p:sp>
              <p:nvSpPr>
                <p:cNvPr id="69" name="Ellipse 69"/>
                <p:cNvSpPr/>
                <p:nvPr/>
              </p:nvSpPr>
              <p:spPr>
                <a:xfrm>
                  <a:off x="10458450" y="34290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70" name="Ellipse 70"/>
                <p:cNvSpPr/>
                <p:nvPr/>
              </p:nvSpPr>
              <p:spPr>
                <a:xfrm>
                  <a:off x="10115550" y="39243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71" name="Ellipse 71"/>
                <p:cNvSpPr/>
                <p:nvPr/>
              </p:nvSpPr>
              <p:spPr>
                <a:xfrm>
                  <a:off x="10801350" y="39243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72" name="Ellipse 72"/>
                <p:cNvSpPr/>
                <p:nvPr/>
              </p:nvSpPr>
              <p:spPr>
                <a:xfrm>
                  <a:off x="10458450" y="44196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grpSp>
            <p:nvGrpSpPr>
              <p:cNvPr id="78" name="Group 78"/>
              <p:cNvGrpSpPr/>
              <p:nvPr/>
            </p:nvGrpSpPr>
            <p:grpSpPr>
              <a:xfrm>
                <a:off x="9653396" y="3353752"/>
                <a:ext cx="1724408" cy="1367409"/>
                <a:chOff x="9653396" y="3353752"/>
                <a:chExt cx="1724408" cy="1367409"/>
              </a:xfrm>
            </p:grpSpPr>
            <p:sp>
              <p:nvSpPr>
                <p:cNvPr id="74" name="TextBox 74"/>
                <p:cNvSpPr txBox="1"/>
                <p:nvPr/>
              </p:nvSpPr>
              <p:spPr>
                <a:xfrm>
                  <a:off x="10643616" y="3353752"/>
                  <a:ext cx="33259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1 ↦ </a:t>
                  </a:r>
                  <a:r>
                    <a:rPr lang="zh-CN" sz="105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6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9653396" y="3915728"/>
                  <a:ext cx="41033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a₂ ↦ </a:t>
                  </a:r>
                  <a:r>
                    <a:rPr lang="zh-CN" sz="105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2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10967466" y="3915728"/>
                  <a:ext cx="41033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a₃ ↦ </a:t>
                  </a:r>
                  <a:r>
                    <a:rPr lang="zh-CN" sz="105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3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10643616" y="4515802"/>
                  <a:ext cx="33259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0 ↦ </a:t>
                  </a:r>
                  <a:r>
                    <a:rPr lang="zh-CN" sz="105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</p:grpSp>
          <p:sp>
            <p:nvSpPr>
              <p:cNvPr id="79" name="TextBox 79"/>
              <p:cNvSpPr txBox="1"/>
              <p:nvPr/>
            </p:nvSpPr>
            <p:spPr>
              <a:xfrm>
                <a:off x="9725768" y="4782502"/>
                <a:ext cx="15796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a₂ × a₃ = 0，a₂ ⊕ a₃ = 1</a:t>
                </a:r>
              </a:p>
            </p:txBody>
          </p:sp>
        </p:grpSp>
        <p:sp>
          <p:nvSpPr>
            <p:cNvPr id="81" name="Rectangle 81"/>
            <p:cNvSpPr/>
            <p:nvPr/>
          </p:nvSpPr>
          <p:spPr>
            <a:xfrm>
              <a:off x="7467600" y="5162550"/>
              <a:ext cx="4038600" cy="419100"/>
            </a:xfrm>
            <a:prstGeom prst="roundRect">
              <a:avLst>
                <a:gd name="adj" fmla="val 2727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035591" y="5299710"/>
              <a:ext cx="2902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从同构的角度看，4 个元素的格只有两个</a:t>
              </a:r>
            </a:p>
          </p:txBody>
        </p:sp>
      </p:grpSp>
      <p:grpSp>
        <p:nvGrpSpPr>
          <p:cNvPr id="8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4" name="Rectangle 8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74700" y="6008947"/>
              <a:ext cx="198178" cy="198178"/>
              <a:chOff x="774700" y="6008947"/>
              <a:chExt cx="198178" cy="19817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74700" y="6008947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95350" y="6035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34618" y="6003608"/>
              <a:ext cx="63283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 ≠ 有限，有余 ≠ 余元唯一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；分配格中余元素若存在则唯一。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0" name="TextBox 90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752594" cy="960501"/>
            <a:chOff x="519684" y="361950"/>
            <a:chExt cx="475259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特殊的格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7525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看图判断：分配格？有余格？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6" name="practice-1"/>
          <p:cNvGrpSpPr/>
          <p:nvPr/>
        </p:nvGrpSpPr>
        <p:grpSpPr>
          <a:xfrm>
            <a:off x="533400" y="1485900"/>
            <a:ext cx="11132058" cy="1981200"/>
            <a:chOff x="533400" y="1485900"/>
            <a:chExt cx="11132058" cy="1981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6571" y="15468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6642" y="15401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下面哪些是分配格？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25687" y="15401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都不是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（橙色标出病灶子格）</a:t>
              </a:r>
            </a:p>
          </p:txBody>
        </p:sp>
        <p:grpSp>
          <p:nvGrpSpPr>
            <p:cNvPr id="27" name="p1-card-1"/>
            <p:cNvGrpSpPr/>
            <p:nvPr/>
          </p:nvGrpSpPr>
          <p:grpSpPr>
            <a:xfrm>
              <a:off x="533400" y="1828800"/>
              <a:ext cx="2686050" cy="1638300"/>
              <a:chOff x="533400" y="1828800"/>
              <a:chExt cx="2686050" cy="16383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1828800"/>
                <a:ext cx="2686050" cy="1638300"/>
              </a:xfrm>
              <a:prstGeom prst="roundRect">
                <a:avLst>
                  <a:gd name="adj" fmla="val 814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80466" y="192500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(1)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1343025" y="1943100"/>
                <a:ext cx="1066800" cy="1028700"/>
                <a:chOff x="1343025" y="1943100"/>
                <a:chExt cx="1066800" cy="1028700"/>
              </a:xfrm>
            </p:grpSpPr>
            <p:sp>
              <p:nvSpPr>
                <p:cNvPr id="13" name="Line 13"/>
                <p:cNvSpPr/>
                <p:nvPr/>
              </p:nvSpPr>
              <p:spPr>
                <a:xfrm>
                  <a:off x="1343025" y="1943100"/>
                  <a:ext cx="5334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00" h="495300">
                      <a:moveTo>
                        <a:pt x="533400" y="0"/>
                      </a:moveTo>
                      <a:lnTo>
                        <a:pt x="0" y="4953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1876425" y="194310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5" name="Line 15"/>
                <p:cNvSpPr/>
                <p:nvPr/>
              </p:nvSpPr>
              <p:spPr>
                <a:xfrm>
                  <a:off x="1876425" y="1943100"/>
                  <a:ext cx="5334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00" h="495300">
                      <a:moveTo>
                        <a:pt x="0" y="0"/>
                      </a:moveTo>
                      <a:lnTo>
                        <a:pt x="533400" y="4953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1343025" y="2438400"/>
                  <a:ext cx="5334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00" h="533400">
                      <a:moveTo>
                        <a:pt x="0" y="0"/>
                      </a:moveTo>
                      <a:lnTo>
                        <a:pt x="533400" y="5334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1876425" y="2495550"/>
                  <a:ext cx="952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0">
                      <a:moveTo>
                        <a:pt x="0" y="0"/>
                      </a:moveTo>
                      <a:lnTo>
                        <a:pt x="0" y="4762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1876425" y="2438400"/>
                  <a:ext cx="5334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00" h="533400">
                      <a:moveTo>
                        <a:pt x="5334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1285875" y="1885950"/>
                <a:ext cx="1181100" cy="1143000"/>
                <a:chOff x="1285875" y="1885950"/>
                <a:chExt cx="1181100" cy="1143000"/>
              </a:xfrm>
            </p:grpSpPr>
            <p:sp>
              <p:nvSpPr>
                <p:cNvPr id="20" name="Ellipse 20"/>
                <p:cNvSpPr/>
                <p:nvPr/>
              </p:nvSpPr>
              <p:spPr>
                <a:xfrm>
                  <a:off x="1819275" y="18859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1285875" y="23812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Ellipse 22"/>
                <p:cNvSpPr/>
                <p:nvPr/>
              </p:nvSpPr>
              <p:spPr>
                <a:xfrm>
                  <a:off x="1819275" y="24384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3" name="Ellipse 23"/>
                <p:cNvSpPr/>
                <p:nvPr/>
              </p:nvSpPr>
              <p:spPr>
                <a:xfrm>
                  <a:off x="2352675" y="23812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4" name="Ellipse 24"/>
                <p:cNvSpPr/>
                <p:nvPr/>
              </p:nvSpPr>
              <p:spPr>
                <a:xfrm>
                  <a:off x="1819275" y="29146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810958" y="316325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本身就是</a:t>
                </a:r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钻石格</a:t>
                </a:r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（中间三个元素）</a:t>
                </a:r>
              </a:p>
            </p:txBody>
          </p:sp>
        </p:grpSp>
        <p:grpSp>
          <p:nvGrpSpPr>
            <p:cNvPr id="43" name="p1-card-2"/>
            <p:cNvGrpSpPr/>
            <p:nvPr/>
          </p:nvGrpSpPr>
          <p:grpSpPr>
            <a:xfrm>
              <a:off x="3333750" y="1828800"/>
              <a:ext cx="2686050" cy="1638300"/>
              <a:chOff x="3333750" y="1828800"/>
              <a:chExt cx="2686050" cy="16383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333750" y="1828800"/>
                <a:ext cx="2686050" cy="1638300"/>
              </a:xfrm>
              <a:prstGeom prst="roundRect">
                <a:avLst>
                  <a:gd name="adj" fmla="val 814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480816" y="192500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(2)</a:t>
                </a:r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4200525" y="1943100"/>
                <a:ext cx="866775" cy="1028700"/>
                <a:chOff x="4200525" y="1943100"/>
                <a:chExt cx="866775" cy="1028700"/>
              </a:xfrm>
            </p:grpSpPr>
            <p:sp>
              <p:nvSpPr>
                <p:cNvPr id="30" name="Line 30"/>
                <p:cNvSpPr/>
                <p:nvPr/>
              </p:nvSpPr>
              <p:spPr>
                <a:xfrm>
                  <a:off x="4200525" y="1943100"/>
                  <a:ext cx="47625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381000">
                      <a:moveTo>
                        <a:pt x="47625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1" name="Line 31"/>
                <p:cNvSpPr/>
                <p:nvPr/>
              </p:nvSpPr>
              <p:spPr>
                <a:xfrm>
                  <a:off x="4200525" y="2324100"/>
                  <a:ext cx="47625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647700">
                      <a:moveTo>
                        <a:pt x="0" y="0"/>
                      </a:moveTo>
                      <a:lnTo>
                        <a:pt x="476250" y="6477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2" name="Line 32"/>
                <p:cNvSpPr/>
                <p:nvPr/>
              </p:nvSpPr>
              <p:spPr>
                <a:xfrm>
                  <a:off x="4676775" y="1943100"/>
                  <a:ext cx="3810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04800">
                      <a:moveTo>
                        <a:pt x="0" y="0"/>
                      </a:moveTo>
                      <a:lnTo>
                        <a:pt x="381000" y="3048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Line 33"/>
                <p:cNvSpPr/>
                <p:nvPr/>
              </p:nvSpPr>
              <p:spPr>
                <a:xfrm>
                  <a:off x="5057775" y="2247900"/>
                  <a:ext cx="952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19100">
                      <a:moveTo>
                        <a:pt x="0" y="0"/>
                      </a:moveTo>
                      <a:lnTo>
                        <a:pt x="0" y="4191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4676775" y="2667000"/>
                  <a:ext cx="3810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04800">
                      <a:moveTo>
                        <a:pt x="38100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4143375" y="1885950"/>
                <a:ext cx="971550" cy="1143000"/>
                <a:chOff x="4143375" y="1885950"/>
                <a:chExt cx="971550" cy="1143000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4619625" y="18859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7" name="Ellipse 37"/>
                <p:cNvSpPr/>
                <p:nvPr/>
              </p:nvSpPr>
              <p:spPr>
                <a:xfrm>
                  <a:off x="4143375" y="22669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8" name="Ellipse 38"/>
                <p:cNvSpPr/>
                <p:nvPr/>
              </p:nvSpPr>
              <p:spPr>
                <a:xfrm>
                  <a:off x="5000625" y="21907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9" name="Ellipse 39"/>
                <p:cNvSpPr/>
                <p:nvPr/>
              </p:nvSpPr>
              <p:spPr>
                <a:xfrm>
                  <a:off x="5000625" y="26098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4619625" y="29146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4176712" y="31632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本身就是</a:t>
                </a:r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五角格</a:t>
                </a:r>
              </a:p>
            </p:txBody>
          </p:sp>
        </p:grpSp>
        <p:grpSp>
          <p:nvGrpSpPr>
            <p:cNvPr id="66" name="p1-card-3"/>
            <p:cNvGrpSpPr/>
            <p:nvPr/>
          </p:nvGrpSpPr>
          <p:grpSpPr>
            <a:xfrm>
              <a:off x="6134100" y="1828800"/>
              <a:ext cx="2686050" cy="1638300"/>
              <a:chOff x="6134100" y="1828800"/>
              <a:chExt cx="2686050" cy="16383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134100" y="1828800"/>
                <a:ext cx="2686050" cy="1638300"/>
              </a:xfrm>
              <a:prstGeom prst="roundRect">
                <a:avLst>
                  <a:gd name="adj" fmla="val 814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281166" y="192500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(3)</a:t>
                </a: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7219950" y="1943100"/>
                <a:ext cx="914400" cy="514350"/>
                <a:chOff x="7219950" y="1943100"/>
                <a:chExt cx="914400" cy="514350"/>
              </a:xfrm>
            </p:grpSpPr>
            <p:sp>
              <p:nvSpPr>
                <p:cNvPr id="46" name="Line 46"/>
                <p:cNvSpPr/>
                <p:nvPr/>
              </p:nvSpPr>
              <p:spPr>
                <a:xfrm>
                  <a:off x="7219950" y="1943100"/>
                  <a:ext cx="44767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675" h="266700">
                      <a:moveTo>
                        <a:pt x="447675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7" name="Line 47"/>
                <p:cNvSpPr/>
                <p:nvPr/>
              </p:nvSpPr>
              <p:spPr>
                <a:xfrm>
                  <a:off x="7667625" y="1943100"/>
                  <a:ext cx="466725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5" h="285750">
                      <a:moveTo>
                        <a:pt x="0" y="0"/>
                      </a:moveTo>
                      <a:lnTo>
                        <a:pt x="466725" y="2857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8" name="Line 48"/>
                <p:cNvSpPr/>
                <p:nvPr/>
              </p:nvSpPr>
              <p:spPr>
                <a:xfrm>
                  <a:off x="7667625" y="2228850"/>
                  <a:ext cx="46672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5" h="228600">
                      <a:moveTo>
                        <a:pt x="466725" y="0"/>
                      </a:moveTo>
                      <a:lnTo>
                        <a:pt x="0" y="2286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6829425" y="2209800"/>
                <a:ext cx="866775" cy="762000"/>
                <a:chOff x="6829425" y="2209800"/>
                <a:chExt cx="866775" cy="762000"/>
              </a:xfrm>
            </p:grpSpPr>
            <p:sp>
              <p:nvSpPr>
                <p:cNvPr id="50" name="Line 50"/>
                <p:cNvSpPr/>
                <p:nvPr/>
              </p:nvSpPr>
              <p:spPr>
                <a:xfrm>
                  <a:off x="7219950" y="2209800"/>
                  <a:ext cx="44767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675" h="247650">
                      <a:moveTo>
                        <a:pt x="0" y="0"/>
                      </a:moveTo>
                      <a:lnTo>
                        <a:pt x="447675" y="2476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1" name="Line 51"/>
                <p:cNvSpPr/>
                <p:nvPr/>
              </p:nvSpPr>
              <p:spPr>
                <a:xfrm>
                  <a:off x="6829425" y="2209800"/>
                  <a:ext cx="390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" h="247650">
                      <a:moveTo>
                        <a:pt x="390525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2" name="Line 52"/>
                <p:cNvSpPr/>
                <p:nvPr/>
              </p:nvSpPr>
              <p:spPr>
                <a:xfrm>
                  <a:off x="7667625" y="2457450"/>
                  <a:ext cx="28575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400050">
                      <a:moveTo>
                        <a:pt x="0" y="0"/>
                      </a:moveTo>
                      <a:lnTo>
                        <a:pt x="28575" y="4000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3" name="Line 53"/>
                <p:cNvSpPr/>
                <p:nvPr/>
              </p:nvSpPr>
              <p:spPr>
                <a:xfrm>
                  <a:off x="6829425" y="2457450"/>
                  <a:ext cx="400050" cy="51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514350">
                      <a:moveTo>
                        <a:pt x="0" y="0"/>
                      </a:moveTo>
                      <a:lnTo>
                        <a:pt x="400050" y="5143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4" name="Line 54"/>
                <p:cNvSpPr/>
                <p:nvPr/>
              </p:nvSpPr>
              <p:spPr>
                <a:xfrm>
                  <a:off x="7229475" y="2857500"/>
                  <a:ext cx="4667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5" h="114300">
                      <a:moveTo>
                        <a:pt x="466725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7610475" y="1885950"/>
                <a:ext cx="581025" cy="400050"/>
                <a:chOff x="7610475" y="1885950"/>
                <a:chExt cx="581025" cy="400050"/>
              </a:xfrm>
            </p:grpSpPr>
            <p:sp>
              <p:nvSpPr>
                <p:cNvPr id="56" name="Ellipse 56"/>
                <p:cNvSpPr/>
                <p:nvPr/>
              </p:nvSpPr>
              <p:spPr>
                <a:xfrm>
                  <a:off x="7610475" y="188595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7" name="Ellipse 57"/>
                <p:cNvSpPr/>
                <p:nvPr/>
              </p:nvSpPr>
              <p:spPr>
                <a:xfrm>
                  <a:off x="8077200" y="2171700"/>
                  <a:ext cx="114300" cy="11430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6772275" y="2152650"/>
                <a:ext cx="981075" cy="876300"/>
                <a:chOff x="6772275" y="2152650"/>
                <a:chExt cx="981075" cy="876300"/>
              </a:xfrm>
            </p:grpSpPr>
            <p:sp>
              <p:nvSpPr>
                <p:cNvPr id="59" name="Ellipse 59"/>
                <p:cNvSpPr/>
                <p:nvPr/>
              </p:nvSpPr>
              <p:spPr>
                <a:xfrm>
                  <a:off x="7162800" y="21526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0" name="Ellipse 60"/>
                <p:cNvSpPr/>
                <p:nvPr/>
              </p:nvSpPr>
              <p:spPr>
                <a:xfrm>
                  <a:off x="7610475" y="24003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1" name="Ellipse 61"/>
                <p:cNvSpPr/>
                <p:nvPr/>
              </p:nvSpPr>
              <p:spPr>
                <a:xfrm>
                  <a:off x="6772275" y="24003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Ellipse 62"/>
                <p:cNvSpPr/>
                <p:nvPr/>
              </p:nvSpPr>
              <p:spPr>
                <a:xfrm>
                  <a:off x="7639050" y="28003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3" name="Ellipse 63"/>
                <p:cNvSpPr/>
                <p:nvPr/>
              </p:nvSpPr>
              <p:spPr>
                <a:xfrm>
                  <a:off x="7172325" y="29146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6634286" y="3163252"/>
                <a:ext cx="16856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 元格，左下含</a:t>
                </a:r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五角格</a:t>
                </a:r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子格</a:t>
                </a:r>
              </a:p>
            </p:txBody>
          </p:sp>
        </p:grpSp>
        <p:grpSp>
          <p:nvGrpSpPr>
            <p:cNvPr id="85" name="p1-card-4"/>
            <p:cNvGrpSpPr/>
            <p:nvPr/>
          </p:nvGrpSpPr>
          <p:grpSpPr>
            <a:xfrm>
              <a:off x="8934450" y="1828800"/>
              <a:ext cx="2724150" cy="1638300"/>
              <a:chOff x="8934450" y="1828800"/>
              <a:chExt cx="2724150" cy="16383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8934450" y="1828800"/>
                <a:ext cx="2724150" cy="1638300"/>
              </a:xfrm>
              <a:prstGeom prst="roundRect">
                <a:avLst>
                  <a:gd name="adj" fmla="val 814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9081516" y="192500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(4)</a:t>
                </a:r>
              </a:p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9839325" y="1943100"/>
                <a:ext cx="914400" cy="781050"/>
                <a:chOff x="9839325" y="1943100"/>
                <a:chExt cx="914400" cy="781050"/>
              </a:xfrm>
            </p:grpSpPr>
            <p:sp>
              <p:nvSpPr>
                <p:cNvPr id="69" name="Line 69"/>
                <p:cNvSpPr/>
                <p:nvPr/>
              </p:nvSpPr>
              <p:spPr>
                <a:xfrm>
                  <a:off x="9839325" y="1943100"/>
                  <a:ext cx="4572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381000">
                      <a:moveTo>
                        <a:pt x="45720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70" name="Line 70"/>
                <p:cNvSpPr/>
                <p:nvPr/>
              </p:nvSpPr>
              <p:spPr>
                <a:xfrm>
                  <a:off x="10220325" y="1943100"/>
                  <a:ext cx="762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400050">
                      <a:moveTo>
                        <a:pt x="7620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71" name="Line 71"/>
                <p:cNvSpPr/>
                <p:nvPr/>
              </p:nvSpPr>
              <p:spPr>
                <a:xfrm>
                  <a:off x="10296525" y="1943100"/>
                  <a:ext cx="4572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00050">
                      <a:moveTo>
                        <a:pt x="0" y="0"/>
                      </a:moveTo>
                      <a:lnTo>
                        <a:pt x="457200" y="4000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72" name="Line 72"/>
                <p:cNvSpPr/>
                <p:nvPr/>
              </p:nvSpPr>
              <p:spPr>
                <a:xfrm>
                  <a:off x="9839325" y="2324100"/>
                  <a:ext cx="4572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00050">
                      <a:moveTo>
                        <a:pt x="0" y="0"/>
                      </a:moveTo>
                      <a:lnTo>
                        <a:pt x="457200" y="40005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73" name="Line 73"/>
                <p:cNvSpPr/>
                <p:nvPr/>
              </p:nvSpPr>
              <p:spPr>
                <a:xfrm>
                  <a:off x="10220325" y="2343150"/>
                  <a:ext cx="762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0">
                      <a:moveTo>
                        <a:pt x="0" y="0"/>
                      </a:moveTo>
                      <a:lnTo>
                        <a:pt x="76200" y="3810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74" name="Line 74"/>
                <p:cNvSpPr/>
                <p:nvPr/>
              </p:nvSpPr>
              <p:spPr>
                <a:xfrm>
                  <a:off x="10296525" y="2343150"/>
                  <a:ext cx="4572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381000">
                      <a:moveTo>
                        <a:pt x="45720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sp>
            <p:nvSpPr>
              <p:cNvPr id="76" name="Line 76"/>
              <p:cNvSpPr/>
              <p:nvPr/>
            </p:nvSpPr>
            <p:spPr>
              <a:xfrm>
                <a:off x="10296525" y="27241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grpSp>
            <p:nvGrpSpPr>
              <p:cNvPr id="82" name="Group 82"/>
              <p:cNvGrpSpPr/>
              <p:nvPr/>
            </p:nvGrpSpPr>
            <p:grpSpPr>
              <a:xfrm>
                <a:off x="9782175" y="1885950"/>
                <a:ext cx="1028700" cy="895350"/>
                <a:chOff x="9782175" y="1885950"/>
                <a:chExt cx="1028700" cy="895350"/>
              </a:xfrm>
            </p:grpSpPr>
            <p:sp>
              <p:nvSpPr>
                <p:cNvPr id="77" name="Ellipse 77"/>
                <p:cNvSpPr/>
                <p:nvPr/>
              </p:nvSpPr>
              <p:spPr>
                <a:xfrm>
                  <a:off x="10239375" y="18859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78" name="Ellipse 78"/>
                <p:cNvSpPr/>
                <p:nvPr/>
              </p:nvSpPr>
              <p:spPr>
                <a:xfrm>
                  <a:off x="9782175" y="22669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79" name="Ellipse 79"/>
                <p:cNvSpPr/>
                <p:nvPr/>
              </p:nvSpPr>
              <p:spPr>
                <a:xfrm>
                  <a:off x="10163175" y="22860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0" name="Ellipse 80"/>
                <p:cNvSpPr/>
                <p:nvPr/>
              </p:nvSpPr>
              <p:spPr>
                <a:xfrm>
                  <a:off x="10696575" y="22860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1" name="Ellipse 81"/>
                <p:cNvSpPr/>
                <p:nvPr/>
              </p:nvSpPr>
              <p:spPr>
                <a:xfrm>
                  <a:off x="10239375" y="26670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83" name="Ellipse 83"/>
              <p:cNvSpPr/>
              <p:nvPr/>
            </p:nvSpPr>
            <p:spPr>
              <a:xfrm>
                <a:off x="10239375" y="29527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9160383" y="3163252"/>
                <a:ext cx="22722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上部含</a:t>
                </a:r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钻石格</a:t>
                </a:r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子格，下接一个底元素</a:t>
                </a:r>
              </a:p>
            </p:txBody>
          </p:sp>
        </p:grpSp>
      </p:grpSp>
      <p:grpSp>
        <p:nvGrpSpPr>
          <p:cNvPr id="188" name="practice-2"/>
          <p:cNvGrpSpPr/>
          <p:nvPr/>
        </p:nvGrpSpPr>
        <p:grpSpPr>
          <a:xfrm>
            <a:off x="528066" y="3619500"/>
            <a:ext cx="11137392" cy="2149411"/>
            <a:chOff x="528066" y="3619500"/>
            <a:chExt cx="11137392" cy="2149411"/>
          </a:xfrm>
        </p:grpSpPr>
        <p:sp>
          <p:nvSpPr>
            <p:cNvPr id="87" name="Rectangle 87"/>
            <p:cNvSpPr/>
            <p:nvPr/>
          </p:nvSpPr>
          <p:spPr>
            <a:xfrm>
              <a:off x="533400" y="361950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6571" y="36804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326642" y="3673792"/>
              <a:ext cx="4049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下面的 5 元格中，哪些是分配格？哪些是有余格？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32770" y="3673792"/>
              <a:ext cx="3332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答：分配格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(1)(2)(4)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；有余格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(3)(5)</a:t>
              </a:r>
            </a:p>
          </p:txBody>
        </p:sp>
        <p:grpSp>
          <p:nvGrpSpPr>
            <p:cNvPr id="110" name="p2-card-1"/>
            <p:cNvGrpSpPr/>
            <p:nvPr/>
          </p:nvGrpSpPr>
          <p:grpSpPr>
            <a:xfrm>
              <a:off x="533400" y="3962400"/>
              <a:ext cx="2133600" cy="1504950"/>
              <a:chOff x="533400" y="3962400"/>
              <a:chExt cx="2133600" cy="150495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533400" y="3962400"/>
                <a:ext cx="2133600" cy="1504950"/>
              </a:xfrm>
              <a:prstGeom prst="roundRect">
                <a:avLst>
                  <a:gd name="adj" fmla="val 88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661797" y="4047649"/>
                <a:ext cx="2275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(1)</a:t>
                </a:r>
              </a:p>
            </p:txBody>
          </p:sp>
          <p:grpSp>
            <p:nvGrpSpPr>
              <p:cNvPr id="98" name="Group 98"/>
              <p:cNvGrpSpPr/>
              <p:nvPr/>
            </p:nvGrpSpPr>
            <p:grpSpPr>
              <a:xfrm>
                <a:off x="762000" y="4076700"/>
                <a:ext cx="685800" cy="1219200"/>
                <a:chOff x="762000" y="4076700"/>
                <a:chExt cx="685800" cy="1219200"/>
              </a:xfrm>
            </p:grpSpPr>
            <p:sp>
              <p:nvSpPr>
                <p:cNvPr id="93" name="Line 93"/>
                <p:cNvSpPr/>
                <p:nvPr/>
              </p:nvSpPr>
              <p:spPr>
                <a:xfrm>
                  <a:off x="762000" y="4076700"/>
                  <a:ext cx="3429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61950">
                      <a:moveTo>
                        <a:pt x="34290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4" name="Line 94"/>
                <p:cNvSpPr/>
                <p:nvPr/>
              </p:nvSpPr>
              <p:spPr>
                <a:xfrm>
                  <a:off x="1104900" y="4076700"/>
                  <a:ext cx="3429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61950">
                      <a:moveTo>
                        <a:pt x="0" y="0"/>
                      </a:moveTo>
                      <a:lnTo>
                        <a:pt x="34290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5" name="Line 95"/>
                <p:cNvSpPr/>
                <p:nvPr/>
              </p:nvSpPr>
              <p:spPr>
                <a:xfrm>
                  <a:off x="762000" y="4438650"/>
                  <a:ext cx="3429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61950">
                      <a:moveTo>
                        <a:pt x="0" y="0"/>
                      </a:moveTo>
                      <a:lnTo>
                        <a:pt x="34290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6" name="Line 96"/>
                <p:cNvSpPr/>
                <p:nvPr/>
              </p:nvSpPr>
              <p:spPr>
                <a:xfrm>
                  <a:off x="1104900" y="4438650"/>
                  <a:ext cx="3429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61950">
                      <a:moveTo>
                        <a:pt x="34290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7" name="Line 97"/>
                <p:cNvSpPr/>
                <p:nvPr/>
              </p:nvSpPr>
              <p:spPr>
                <a:xfrm>
                  <a:off x="1104900" y="4800600"/>
                  <a:ext cx="9525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95300">
                      <a:moveTo>
                        <a:pt x="0" y="0"/>
                      </a:moveTo>
                      <a:lnTo>
                        <a:pt x="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04" name="Group 104"/>
              <p:cNvGrpSpPr/>
              <p:nvPr/>
            </p:nvGrpSpPr>
            <p:grpSpPr>
              <a:xfrm>
                <a:off x="714375" y="4029075"/>
                <a:ext cx="781050" cy="1314450"/>
                <a:chOff x="714375" y="4029075"/>
                <a:chExt cx="781050" cy="1314450"/>
              </a:xfrm>
            </p:grpSpPr>
            <p:sp>
              <p:nvSpPr>
                <p:cNvPr id="99" name="Ellipse 99"/>
                <p:cNvSpPr/>
                <p:nvPr/>
              </p:nvSpPr>
              <p:spPr>
                <a:xfrm>
                  <a:off x="1057275" y="40290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0" name="Ellipse 100"/>
                <p:cNvSpPr/>
                <p:nvPr/>
              </p:nvSpPr>
              <p:spPr>
                <a:xfrm>
                  <a:off x="714375" y="439102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1" name="Ellipse 101"/>
                <p:cNvSpPr/>
                <p:nvPr/>
              </p:nvSpPr>
              <p:spPr>
                <a:xfrm>
                  <a:off x="1400175" y="439102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2" name="Ellipse 102"/>
                <p:cNvSpPr/>
                <p:nvPr/>
              </p:nvSpPr>
              <p:spPr>
                <a:xfrm>
                  <a:off x="1057275" y="47529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3" name="Ellipse 103"/>
                <p:cNvSpPr/>
                <p:nvPr/>
              </p:nvSpPr>
              <p:spPr>
                <a:xfrm>
                  <a:off x="1057275" y="52482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05" name="Rectangle 105"/>
              <p:cNvSpPr/>
              <p:nvPr/>
            </p:nvSpPr>
            <p:spPr>
              <a:xfrm>
                <a:off x="1714500" y="419100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1880918" y="424910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分配 ✓</a:t>
                </a:r>
              </a:p>
            </p:txBody>
          </p:sp>
          <p:sp>
            <p:nvSpPr>
              <p:cNvPr id="107" name="Rectangle 107"/>
              <p:cNvSpPr/>
              <p:nvPr/>
            </p:nvSpPr>
            <p:spPr>
              <a:xfrm>
                <a:off x="1714500" y="451485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1880918" y="457295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有余 ✗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1709547" y="4885849"/>
                <a:ext cx="507746" cy="362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两侧元素</a:t>
                </a:r>
                <a:br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无余元素</a:t>
                </a:r>
              </a:p>
            </p:txBody>
          </p:sp>
        </p:grpSp>
        <p:grpSp>
          <p:nvGrpSpPr>
            <p:cNvPr id="125" name="p2-card-2"/>
            <p:cNvGrpSpPr/>
            <p:nvPr/>
          </p:nvGrpSpPr>
          <p:grpSpPr>
            <a:xfrm>
              <a:off x="2781300" y="3962400"/>
              <a:ext cx="2133600" cy="1504950"/>
              <a:chOff x="2781300" y="3962400"/>
              <a:chExt cx="2133600" cy="1504950"/>
            </a:xfrm>
          </p:grpSpPr>
          <p:sp>
            <p:nvSpPr>
              <p:cNvPr id="111" name="Rectangle 111"/>
              <p:cNvSpPr/>
              <p:nvPr/>
            </p:nvSpPr>
            <p:spPr>
              <a:xfrm>
                <a:off x="2781300" y="3962400"/>
                <a:ext cx="2133600" cy="1504950"/>
              </a:xfrm>
              <a:prstGeom prst="roundRect">
                <a:avLst>
                  <a:gd name="adj" fmla="val 88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2909697" y="4047649"/>
                <a:ext cx="2275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(2)</a:t>
                </a:r>
              </a:p>
            </p:txBody>
          </p:sp>
          <p:sp>
            <p:nvSpPr>
              <p:cNvPr id="113" name="Line 113"/>
              <p:cNvSpPr/>
              <p:nvPr/>
            </p:nvSpPr>
            <p:spPr>
              <a:xfrm>
                <a:off x="3352800" y="4076700"/>
                <a:ext cx="952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9200">
                    <a:moveTo>
                      <a:pt x="0" y="0"/>
                    </a:moveTo>
                    <a:lnTo>
                      <a:pt x="0" y="12192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grpSp>
            <p:nvGrpSpPr>
              <p:cNvPr id="119" name="Group 119"/>
              <p:cNvGrpSpPr/>
              <p:nvPr/>
            </p:nvGrpSpPr>
            <p:grpSpPr>
              <a:xfrm>
                <a:off x="3305175" y="4029075"/>
                <a:ext cx="95250" cy="1314450"/>
                <a:chOff x="3305175" y="4029075"/>
                <a:chExt cx="95250" cy="1314450"/>
              </a:xfrm>
            </p:grpSpPr>
            <p:sp>
              <p:nvSpPr>
                <p:cNvPr id="114" name="Ellipse 114"/>
                <p:cNvSpPr/>
                <p:nvPr/>
              </p:nvSpPr>
              <p:spPr>
                <a:xfrm>
                  <a:off x="3305175" y="40290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5" name="Ellipse 115"/>
                <p:cNvSpPr/>
                <p:nvPr/>
              </p:nvSpPr>
              <p:spPr>
                <a:xfrm>
                  <a:off x="3305175" y="43338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6" name="Ellipse 116"/>
                <p:cNvSpPr/>
                <p:nvPr/>
              </p:nvSpPr>
              <p:spPr>
                <a:xfrm>
                  <a:off x="3305175" y="46386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7" name="Ellipse 117"/>
                <p:cNvSpPr/>
                <p:nvPr/>
              </p:nvSpPr>
              <p:spPr>
                <a:xfrm>
                  <a:off x="3305175" y="49434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8" name="Ellipse 118"/>
                <p:cNvSpPr/>
                <p:nvPr/>
              </p:nvSpPr>
              <p:spPr>
                <a:xfrm>
                  <a:off x="3305175" y="52482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20" name="Rectangle 120"/>
              <p:cNvSpPr/>
              <p:nvPr/>
            </p:nvSpPr>
            <p:spPr>
              <a:xfrm>
                <a:off x="3962400" y="419100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4128818" y="424910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分配 ✓</a:t>
                </a:r>
              </a:p>
            </p:txBody>
          </p:sp>
          <p:sp>
            <p:nvSpPr>
              <p:cNvPr id="122" name="Rectangle 122"/>
              <p:cNvSpPr/>
              <p:nvPr/>
            </p:nvSpPr>
            <p:spPr>
              <a:xfrm>
                <a:off x="3962400" y="451485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4128818" y="457295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有余 ✗</a:t>
                </a: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3957447" y="4885849"/>
                <a:ext cx="756666" cy="362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元链，中间</a:t>
                </a:r>
                <a:br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元素无余元素</a:t>
                </a:r>
              </a:p>
            </p:txBody>
          </p:sp>
        </p:grpSp>
        <p:grpSp>
          <p:nvGrpSpPr>
            <p:cNvPr id="146" name="p2-card-3"/>
            <p:cNvGrpSpPr/>
            <p:nvPr/>
          </p:nvGrpSpPr>
          <p:grpSpPr>
            <a:xfrm>
              <a:off x="5029200" y="3962400"/>
              <a:ext cx="2133600" cy="1504950"/>
              <a:chOff x="5029200" y="3962400"/>
              <a:chExt cx="2133600" cy="1504950"/>
            </a:xfrm>
          </p:grpSpPr>
          <p:sp>
            <p:nvSpPr>
              <p:cNvPr id="126" name="Rectangle 126"/>
              <p:cNvSpPr/>
              <p:nvPr/>
            </p:nvSpPr>
            <p:spPr>
              <a:xfrm>
                <a:off x="5029200" y="3962400"/>
                <a:ext cx="2133600" cy="1504950"/>
              </a:xfrm>
              <a:prstGeom prst="roundRect">
                <a:avLst>
                  <a:gd name="adj" fmla="val 88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5157597" y="4047649"/>
                <a:ext cx="2275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(3)</a:t>
                </a:r>
              </a:p>
            </p:txBody>
          </p:sp>
          <p:grpSp>
            <p:nvGrpSpPr>
              <p:cNvPr id="134" name="Group 134"/>
              <p:cNvGrpSpPr/>
              <p:nvPr/>
            </p:nvGrpSpPr>
            <p:grpSpPr>
              <a:xfrm>
                <a:off x="5257800" y="4076700"/>
                <a:ext cx="762000" cy="1219200"/>
                <a:chOff x="5257800" y="4076700"/>
                <a:chExt cx="762000" cy="1219200"/>
              </a:xfrm>
            </p:grpSpPr>
            <p:sp>
              <p:nvSpPr>
                <p:cNvPr id="128" name="Line 128"/>
                <p:cNvSpPr/>
                <p:nvPr/>
              </p:nvSpPr>
              <p:spPr>
                <a:xfrm>
                  <a:off x="5257800" y="4076700"/>
                  <a:ext cx="3810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609600">
                      <a:moveTo>
                        <a:pt x="381000" y="0"/>
                      </a:moveTo>
                      <a:lnTo>
                        <a:pt x="0" y="6096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9" name="Line 129"/>
                <p:cNvSpPr/>
                <p:nvPr/>
              </p:nvSpPr>
              <p:spPr>
                <a:xfrm>
                  <a:off x="5638800" y="4076700"/>
                  <a:ext cx="9525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09600">
                      <a:moveTo>
                        <a:pt x="0" y="0"/>
                      </a:moveTo>
                      <a:lnTo>
                        <a:pt x="0" y="6096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0" name="Line 130"/>
                <p:cNvSpPr/>
                <p:nvPr/>
              </p:nvSpPr>
              <p:spPr>
                <a:xfrm>
                  <a:off x="5638800" y="4076700"/>
                  <a:ext cx="3810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609600">
                      <a:moveTo>
                        <a:pt x="0" y="0"/>
                      </a:moveTo>
                      <a:lnTo>
                        <a:pt x="381000" y="6096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1" name="Line 131"/>
                <p:cNvSpPr/>
                <p:nvPr/>
              </p:nvSpPr>
              <p:spPr>
                <a:xfrm>
                  <a:off x="5257800" y="4686300"/>
                  <a:ext cx="3810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609600">
                      <a:moveTo>
                        <a:pt x="0" y="0"/>
                      </a:moveTo>
                      <a:lnTo>
                        <a:pt x="381000" y="6096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2" name="Line 132"/>
                <p:cNvSpPr/>
                <p:nvPr/>
              </p:nvSpPr>
              <p:spPr>
                <a:xfrm>
                  <a:off x="5638800" y="4686300"/>
                  <a:ext cx="9525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09600">
                      <a:moveTo>
                        <a:pt x="0" y="0"/>
                      </a:moveTo>
                      <a:lnTo>
                        <a:pt x="0" y="6096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3" name="Line 133"/>
                <p:cNvSpPr/>
                <p:nvPr/>
              </p:nvSpPr>
              <p:spPr>
                <a:xfrm>
                  <a:off x="5638800" y="4686300"/>
                  <a:ext cx="3810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609600">
                      <a:moveTo>
                        <a:pt x="381000" y="0"/>
                      </a:moveTo>
                      <a:lnTo>
                        <a:pt x="0" y="6096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40" name="Group 140"/>
              <p:cNvGrpSpPr/>
              <p:nvPr/>
            </p:nvGrpSpPr>
            <p:grpSpPr>
              <a:xfrm>
                <a:off x="5210175" y="4029075"/>
                <a:ext cx="857250" cy="1314450"/>
                <a:chOff x="5210175" y="4029075"/>
                <a:chExt cx="857250" cy="1314450"/>
              </a:xfrm>
            </p:grpSpPr>
            <p:sp>
              <p:nvSpPr>
                <p:cNvPr id="135" name="Ellipse 135"/>
                <p:cNvSpPr/>
                <p:nvPr/>
              </p:nvSpPr>
              <p:spPr>
                <a:xfrm>
                  <a:off x="5591175" y="40290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36" name="Ellipse 136"/>
                <p:cNvSpPr/>
                <p:nvPr/>
              </p:nvSpPr>
              <p:spPr>
                <a:xfrm>
                  <a:off x="5210175" y="46386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37" name="Ellipse 137"/>
                <p:cNvSpPr/>
                <p:nvPr/>
              </p:nvSpPr>
              <p:spPr>
                <a:xfrm>
                  <a:off x="5591175" y="46386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38" name="Ellipse 138"/>
                <p:cNvSpPr/>
                <p:nvPr/>
              </p:nvSpPr>
              <p:spPr>
                <a:xfrm>
                  <a:off x="5972175" y="46386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39" name="Ellipse 139"/>
                <p:cNvSpPr/>
                <p:nvPr/>
              </p:nvSpPr>
              <p:spPr>
                <a:xfrm>
                  <a:off x="5591175" y="52482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41" name="Rectangle 141"/>
              <p:cNvSpPr/>
              <p:nvPr/>
            </p:nvSpPr>
            <p:spPr>
              <a:xfrm>
                <a:off x="6210300" y="419100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42" name="TextBox 142"/>
              <p:cNvSpPr txBox="1"/>
              <p:nvPr/>
            </p:nvSpPr>
            <p:spPr>
              <a:xfrm>
                <a:off x="6376718" y="424910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分配 ✗</a:t>
                </a:r>
              </a:p>
            </p:txBody>
          </p:sp>
          <p:sp>
            <p:nvSpPr>
              <p:cNvPr id="143" name="Rectangle 143"/>
              <p:cNvSpPr/>
              <p:nvPr/>
            </p:nvSpPr>
            <p:spPr>
              <a:xfrm>
                <a:off x="6210300" y="451485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6376718" y="457295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有余 ✓</a:t>
                </a: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6205347" y="4885849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钻石格</a:t>
                </a:r>
              </a:p>
            </p:txBody>
          </p:sp>
        </p:grpSp>
        <p:grpSp>
          <p:nvGrpSpPr>
            <p:cNvPr id="166" name="p2-card-4"/>
            <p:cNvGrpSpPr/>
            <p:nvPr/>
          </p:nvGrpSpPr>
          <p:grpSpPr>
            <a:xfrm>
              <a:off x="7277100" y="3962400"/>
              <a:ext cx="2133600" cy="1504950"/>
              <a:chOff x="7277100" y="3962400"/>
              <a:chExt cx="2133600" cy="1504950"/>
            </a:xfrm>
          </p:grpSpPr>
          <p:sp>
            <p:nvSpPr>
              <p:cNvPr id="147" name="Rectangle 147"/>
              <p:cNvSpPr/>
              <p:nvPr/>
            </p:nvSpPr>
            <p:spPr>
              <a:xfrm>
                <a:off x="7277100" y="3962400"/>
                <a:ext cx="2133600" cy="1504950"/>
              </a:xfrm>
              <a:prstGeom prst="roundRect">
                <a:avLst>
                  <a:gd name="adj" fmla="val 88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8" name="TextBox 148"/>
              <p:cNvSpPr txBox="1"/>
              <p:nvPr/>
            </p:nvSpPr>
            <p:spPr>
              <a:xfrm>
                <a:off x="7405497" y="4047649"/>
                <a:ext cx="2275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(4)</a:t>
                </a:r>
              </a:p>
            </p:txBody>
          </p:sp>
          <p:grpSp>
            <p:nvGrpSpPr>
              <p:cNvPr id="154" name="Group 154"/>
              <p:cNvGrpSpPr/>
              <p:nvPr/>
            </p:nvGrpSpPr>
            <p:grpSpPr>
              <a:xfrm>
                <a:off x="7505700" y="4076700"/>
                <a:ext cx="685800" cy="1219200"/>
                <a:chOff x="7505700" y="4076700"/>
                <a:chExt cx="685800" cy="1219200"/>
              </a:xfrm>
            </p:grpSpPr>
            <p:sp>
              <p:nvSpPr>
                <p:cNvPr id="149" name="Line 149"/>
                <p:cNvSpPr/>
                <p:nvPr/>
              </p:nvSpPr>
              <p:spPr>
                <a:xfrm>
                  <a:off x="7848600" y="4076700"/>
                  <a:ext cx="9525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95300">
                      <a:moveTo>
                        <a:pt x="0" y="0"/>
                      </a:moveTo>
                      <a:lnTo>
                        <a:pt x="0" y="495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0" name="Line 150"/>
                <p:cNvSpPr/>
                <p:nvPr/>
              </p:nvSpPr>
              <p:spPr>
                <a:xfrm>
                  <a:off x="7505700" y="4572000"/>
                  <a:ext cx="3429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61950">
                      <a:moveTo>
                        <a:pt x="34290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1" name="Line 151"/>
                <p:cNvSpPr/>
                <p:nvPr/>
              </p:nvSpPr>
              <p:spPr>
                <a:xfrm>
                  <a:off x="7848600" y="4572000"/>
                  <a:ext cx="3429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61950">
                      <a:moveTo>
                        <a:pt x="0" y="0"/>
                      </a:moveTo>
                      <a:lnTo>
                        <a:pt x="34290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2" name="Line 152"/>
                <p:cNvSpPr/>
                <p:nvPr/>
              </p:nvSpPr>
              <p:spPr>
                <a:xfrm>
                  <a:off x="7505700" y="4933950"/>
                  <a:ext cx="3429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61950">
                      <a:moveTo>
                        <a:pt x="0" y="0"/>
                      </a:moveTo>
                      <a:lnTo>
                        <a:pt x="34290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3" name="Line 153"/>
                <p:cNvSpPr/>
                <p:nvPr/>
              </p:nvSpPr>
              <p:spPr>
                <a:xfrm>
                  <a:off x="7848600" y="4933950"/>
                  <a:ext cx="3429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61950">
                      <a:moveTo>
                        <a:pt x="34290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60" name="Group 160"/>
              <p:cNvGrpSpPr/>
              <p:nvPr/>
            </p:nvGrpSpPr>
            <p:grpSpPr>
              <a:xfrm>
                <a:off x="7458075" y="4029075"/>
                <a:ext cx="781050" cy="1314450"/>
                <a:chOff x="7458075" y="4029075"/>
                <a:chExt cx="781050" cy="1314450"/>
              </a:xfrm>
            </p:grpSpPr>
            <p:sp>
              <p:nvSpPr>
                <p:cNvPr id="155" name="Ellipse 155"/>
                <p:cNvSpPr/>
                <p:nvPr/>
              </p:nvSpPr>
              <p:spPr>
                <a:xfrm>
                  <a:off x="7800975" y="40290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56" name="Ellipse 156"/>
                <p:cNvSpPr/>
                <p:nvPr/>
              </p:nvSpPr>
              <p:spPr>
                <a:xfrm>
                  <a:off x="7800975" y="45243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57" name="Ellipse 157"/>
                <p:cNvSpPr/>
                <p:nvPr/>
              </p:nvSpPr>
              <p:spPr>
                <a:xfrm>
                  <a:off x="7458075" y="488632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58" name="Ellipse 158"/>
                <p:cNvSpPr/>
                <p:nvPr/>
              </p:nvSpPr>
              <p:spPr>
                <a:xfrm>
                  <a:off x="8143875" y="488632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59" name="Ellipse 159"/>
                <p:cNvSpPr/>
                <p:nvPr/>
              </p:nvSpPr>
              <p:spPr>
                <a:xfrm>
                  <a:off x="7800975" y="52482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61" name="Rectangle 161"/>
              <p:cNvSpPr/>
              <p:nvPr/>
            </p:nvSpPr>
            <p:spPr>
              <a:xfrm>
                <a:off x="8458200" y="419100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8624618" y="424910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分配 ✓</a:t>
                </a:r>
              </a:p>
            </p:txBody>
          </p:sp>
          <p:sp>
            <p:nvSpPr>
              <p:cNvPr id="163" name="Rectangle 163"/>
              <p:cNvSpPr/>
              <p:nvPr/>
            </p:nvSpPr>
            <p:spPr>
              <a:xfrm>
                <a:off x="8458200" y="451485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8624618" y="457295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有余 ✗</a:t>
                </a:r>
              </a:p>
            </p:txBody>
          </p:sp>
          <p:sp>
            <p:nvSpPr>
              <p:cNvPr id="165" name="TextBox 165"/>
              <p:cNvSpPr txBox="1"/>
              <p:nvPr/>
            </p:nvSpPr>
            <p:spPr>
              <a:xfrm>
                <a:off x="8453247" y="4885849"/>
                <a:ext cx="507746" cy="362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两侧元素</a:t>
                </a:r>
                <a:br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无余元素</a:t>
                </a:r>
              </a:p>
            </p:txBody>
          </p:sp>
        </p:grpSp>
        <p:grpSp>
          <p:nvGrpSpPr>
            <p:cNvPr id="186" name="p2-card-5"/>
            <p:cNvGrpSpPr/>
            <p:nvPr/>
          </p:nvGrpSpPr>
          <p:grpSpPr>
            <a:xfrm>
              <a:off x="9525000" y="3962400"/>
              <a:ext cx="2133600" cy="1504950"/>
              <a:chOff x="9525000" y="3962400"/>
              <a:chExt cx="2133600" cy="1504950"/>
            </a:xfrm>
          </p:grpSpPr>
          <p:sp>
            <p:nvSpPr>
              <p:cNvPr id="167" name="Rectangle 167"/>
              <p:cNvSpPr/>
              <p:nvPr/>
            </p:nvSpPr>
            <p:spPr>
              <a:xfrm>
                <a:off x="9525000" y="3962400"/>
                <a:ext cx="2133600" cy="1504950"/>
              </a:xfrm>
              <a:prstGeom prst="roundRect">
                <a:avLst>
                  <a:gd name="adj" fmla="val 88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9653397" y="4047649"/>
                <a:ext cx="2275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(5)</a:t>
                </a:r>
              </a:p>
            </p:txBody>
          </p:sp>
          <p:grpSp>
            <p:nvGrpSpPr>
              <p:cNvPr id="174" name="Group 174"/>
              <p:cNvGrpSpPr/>
              <p:nvPr/>
            </p:nvGrpSpPr>
            <p:grpSpPr>
              <a:xfrm>
                <a:off x="9753600" y="4076700"/>
                <a:ext cx="771525" cy="1219200"/>
                <a:chOff x="9753600" y="4076700"/>
                <a:chExt cx="771525" cy="1219200"/>
              </a:xfrm>
            </p:grpSpPr>
            <p:sp>
              <p:nvSpPr>
                <p:cNvPr id="169" name="Line 169"/>
                <p:cNvSpPr/>
                <p:nvPr/>
              </p:nvSpPr>
              <p:spPr>
                <a:xfrm>
                  <a:off x="9753600" y="4076700"/>
                  <a:ext cx="3810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400050">
                      <a:moveTo>
                        <a:pt x="381000" y="0"/>
                      </a:moveTo>
                      <a:lnTo>
                        <a:pt x="0" y="400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0" name="Line 170"/>
                <p:cNvSpPr/>
                <p:nvPr/>
              </p:nvSpPr>
              <p:spPr>
                <a:xfrm>
                  <a:off x="9753600" y="4476750"/>
                  <a:ext cx="381000" cy="81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819150">
                      <a:moveTo>
                        <a:pt x="0" y="0"/>
                      </a:moveTo>
                      <a:lnTo>
                        <a:pt x="381000" y="819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1" name="Line 171"/>
                <p:cNvSpPr/>
                <p:nvPr/>
              </p:nvSpPr>
              <p:spPr>
                <a:xfrm>
                  <a:off x="10134600" y="4076700"/>
                  <a:ext cx="38100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23850">
                      <a:moveTo>
                        <a:pt x="0" y="0"/>
                      </a:moveTo>
                      <a:lnTo>
                        <a:pt x="38100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2" name="Line 172"/>
                <p:cNvSpPr/>
                <p:nvPr/>
              </p:nvSpPr>
              <p:spPr>
                <a:xfrm>
                  <a:off x="10515600" y="4400550"/>
                  <a:ext cx="9525" cy="51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14350">
                      <a:moveTo>
                        <a:pt x="0" y="0"/>
                      </a:moveTo>
                      <a:lnTo>
                        <a:pt x="0" y="5143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3" name="Line 173"/>
                <p:cNvSpPr/>
                <p:nvPr/>
              </p:nvSpPr>
              <p:spPr>
                <a:xfrm>
                  <a:off x="10134600" y="4914900"/>
                  <a:ext cx="3810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81000">
                      <a:moveTo>
                        <a:pt x="381000" y="0"/>
                      </a:moveTo>
                      <a:lnTo>
                        <a:pt x="0" y="381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80" name="Group 180"/>
              <p:cNvGrpSpPr/>
              <p:nvPr/>
            </p:nvGrpSpPr>
            <p:grpSpPr>
              <a:xfrm>
                <a:off x="9705975" y="4029075"/>
                <a:ext cx="857250" cy="1314450"/>
                <a:chOff x="9705975" y="4029075"/>
                <a:chExt cx="857250" cy="1314450"/>
              </a:xfrm>
            </p:grpSpPr>
            <p:sp>
              <p:nvSpPr>
                <p:cNvPr id="175" name="Ellipse 175"/>
                <p:cNvSpPr/>
                <p:nvPr/>
              </p:nvSpPr>
              <p:spPr>
                <a:xfrm>
                  <a:off x="10086975" y="40290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76" name="Ellipse 176"/>
                <p:cNvSpPr/>
                <p:nvPr/>
              </p:nvSpPr>
              <p:spPr>
                <a:xfrm>
                  <a:off x="9705975" y="442912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77" name="Ellipse 177"/>
                <p:cNvSpPr/>
                <p:nvPr/>
              </p:nvSpPr>
              <p:spPr>
                <a:xfrm>
                  <a:off x="10467975" y="435292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78" name="Ellipse 178"/>
                <p:cNvSpPr/>
                <p:nvPr/>
              </p:nvSpPr>
              <p:spPr>
                <a:xfrm>
                  <a:off x="10467975" y="48672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79" name="Ellipse 179"/>
                <p:cNvSpPr/>
                <p:nvPr/>
              </p:nvSpPr>
              <p:spPr>
                <a:xfrm>
                  <a:off x="10086975" y="5248275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81" name="Rectangle 181"/>
              <p:cNvSpPr/>
              <p:nvPr/>
            </p:nvSpPr>
            <p:spPr>
              <a:xfrm>
                <a:off x="10706100" y="419100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10872518" y="424910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分配 ✗</a:t>
                </a:r>
              </a:p>
            </p:txBody>
          </p:sp>
          <p:sp>
            <p:nvSpPr>
              <p:cNvPr id="183" name="Rectangle 183"/>
              <p:cNvSpPr/>
              <p:nvPr/>
            </p:nvSpPr>
            <p:spPr>
              <a:xfrm>
                <a:off x="10706100" y="4514850"/>
                <a:ext cx="819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84" name="TextBox 184"/>
              <p:cNvSpPr txBox="1"/>
              <p:nvPr/>
            </p:nvSpPr>
            <p:spPr>
              <a:xfrm>
                <a:off x="10872518" y="457295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有余 ✓</a:t>
                </a: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10701147" y="4885849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五角格</a:t>
                </a:r>
              </a:p>
            </p:txBody>
          </p:sp>
        </p:grpSp>
        <p:sp>
          <p:nvSpPr>
            <p:cNvPr id="187" name="TextBox 187"/>
            <p:cNvSpPr txBox="1"/>
            <p:nvPr/>
          </p:nvSpPr>
          <p:spPr>
            <a:xfrm>
              <a:off x="528066" y="5563552"/>
              <a:ext cx="6731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拓展观察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：有限布尔代数的元素个数必为 2ⁿ；5 不是 2 的幂，所以没有一个 5 元格既是分配格又是有余格。</a:t>
              </a:r>
            </a:p>
          </p:txBody>
        </p:sp>
      </p:grpSp>
      <p:grpSp>
        <p:nvGrpSpPr>
          <p:cNvPr id="19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89" name="Rectangle 18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92" name="Group 192"/>
            <p:cNvGrpSpPr/>
            <p:nvPr/>
          </p:nvGrpSpPr>
          <p:grpSpPr>
            <a:xfrm>
              <a:off x="762000" y="6016625"/>
              <a:ext cx="228599" cy="186818"/>
              <a:chOff x="762000" y="6016625"/>
              <a:chExt cx="228599" cy="186818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762000" y="6016625"/>
                <a:ext cx="228599" cy="186818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86818">
                    <a:moveTo>
                      <a:pt x="38100" y="0"/>
                    </a:moveTo>
                    <a:lnTo>
                      <a:pt x="190500" y="0"/>
                    </a:lnTo>
                    <a:lnTo>
                      <a:pt x="228599" y="63500"/>
                    </a:lnTo>
                    <a:lnTo>
                      <a:pt x="120650" y="184150"/>
                    </a:lnTo>
                    <a:cubicBezTo>
                      <a:pt x="118978" y="185856"/>
                      <a:pt x="116689" y="186818"/>
                      <a:pt x="114300" y="186818"/>
                    </a:cubicBezTo>
                    <a:cubicBezTo>
                      <a:pt x="111910" y="186818"/>
                      <a:pt x="109622" y="185856"/>
                      <a:pt x="107950" y="184150"/>
                    </a:cubicBezTo>
                    <a:lnTo>
                      <a:pt x="0" y="63500"/>
                    </a:lnTo>
                    <a:lnTo>
                      <a:pt x="381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91" name="Freeform 191"/>
              <p:cNvSpPr/>
              <p:nvPr/>
            </p:nvSpPr>
            <p:spPr>
              <a:xfrm>
                <a:off x="825500" y="6064885"/>
                <a:ext cx="25400" cy="4064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0640">
                    <a:moveTo>
                      <a:pt x="25400" y="40640"/>
                    </a:moveTo>
                    <a:lnTo>
                      <a:pt x="0" y="12700"/>
                    </a:lnTo>
                    <a:lnTo>
                      <a:pt x="76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93" name="TextBox 193"/>
            <p:cNvSpPr txBox="1"/>
            <p:nvPr/>
          </p:nvSpPr>
          <p:spPr>
            <a:xfrm>
              <a:off x="1134618" y="6003608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否定分配：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找一个钻石格或五角格子格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；判断有余：逐个元素找余元素。</a:t>
              </a:r>
            </a:p>
          </p:txBody>
        </p:sp>
      </p:grpSp>
      <p:grpSp>
        <p:nvGrpSpPr>
          <p:cNvPr id="19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95" name="TextBox 195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panel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panel-disc"/>
          <p:cNvSpPr/>
          <p:nvPr/>
        </p:nvSpPr>
        <p:spPr>
          <a:xfrm>
            <a:off x="2381250" y="5429250"/>
            <a:ext cx="2857500" cy="2857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panel-dot"/>
          <p:cNvSpPr/>
          <p:nvPr/>
        </p:nvSpPr>
        <p:spPr>
          <a:xfrm>
            <a:off x="3295650" y="781050"/>
            <a:ext cx="266700" cy="26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section-title"/>
          <p:cNvGrpSpPr/>
          <p:nvPr/>
        </p:nvGrpSpPr>
        <p:grpSpPr>
          <a:xfrm>
            <a:off x="438150" y="1581150"/>
            <a:ext cx="2600249" cy="3396234"/>
            <a:chOff x="438150" y="1581150"/>
            <a:chExt cx="2600249" cy="3396234"/>
          </a:xfrm>
        </p:grpSpPr>
        <p:sp>
          <p:nvSpPr>
            <p:cNvPr id="5" name="Rectangle 5"/>
            <p:cNvSpPr/>
            <p:nvPr/>
          </p:nvSpPr>
          <p:spPr>
            <a:xfrm>
              <a:off x="533400" y="1581150"/>
              <a:ext cx="2381250" cy="323850"/>
            </a:xfrm>
            <a:prstGeom prst="roundRect">
              <a:avLst>
                <a:gd name="adj" fmla="val 50000"/>
              </a:avLst>
            </a:prstGeom>
            <a:solidFill>
              <a:srgbClr val="3F5DB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9044" y="167068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第7章 格与布尔代数 · 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2133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5112" y="37261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布尔代数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4343400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4256" y="4625340"/>
              <a:ext cx="2514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有余 + 分配 = 布尔代数</a:t>
              </a:r>
            </a:p>
          </p:txBody>
        </p:sp>
      </p:grpSp>
      <p:grpSp>
        <p:nvGrpSpPr>
          <p:cNvPr id="31" name="ladder"/>
          <p:cNvGrpSpPr/>
          <p:nvPr/>
        </p:nvGrpSpPr>
        <p:grpSpPr>
          <a:xfrm>
            <a:off x="4381500" y="685800"/>
            <a:ext cx="7277100" cy="3429000"/>
            <a:chOff x="4381500" y="685800"/>
            <a:chExt cx="7277100" cy="3429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6858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45330" y="7048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条件阶梯：一步步给格加条件</a:t>
              </a:r>
            </a:p>
          </p:txBody>
        </p:sp>
        <p:grpSp>
          <p:nvGrpSpPr>
            <p:cNvPr id="17" name="step-lattice"/>
            <p:cNvGrpSpPr/>
            <p:nvPr/>
          </p:nvGrpSpPr>
          <p:grpSpPr>
            <a:xfrm>
              <a:off x="4381500" y="3238500"/>
              <a:ext cx="1695450" cy="876300"/>
              <a:chOff x="4381500" y="3238500"/>
              <a:chExt cx="1695450" cy="8763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381500" y="3238500"/>
                <a:ext cx="169545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109782" y="3422332"/>
                <a:ext cx="2388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格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563075" y="3791902"/>
                <a:ext cx="13323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任意两元有 inf、sup</a:t>
                </a:r>
              </a:p>
            </p:txBody>
          </p:sp>
        </p:grpSp>
        <p:grpSp>
          <p:nvGrpSpPr>
            <p:cNvPr id="21" name="step-bounded"/>
            <p:cNvGrpSpPr/>
            <p:nvPr/>
          </p:nvGrpSpPr>
          <p:grpSpPr>
            <a:xfrm>
              <a:off x="6229350" y="2495550"/>
              <a:ext cx="1695450" cy="1619250"/>
              <a:chOff x="6229350" y="2495550"/>
              <a:chExt cx="169545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229350" y="2495550"/>
                <a:ext cx="169545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35508" y="267938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有界格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96790" y="3048952"/>
                <a:ext cx="13605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 最小元 0、最大元 1</a:t>
                </a:r>
              </a:p>
            </p:txBody>
          </p:sp>
        </p:grpSp>
        <p:grpSp>
          <p:nvGrpSpPr>
            <p:cNvPr id="25" name="step-comp-dist"/>
            <p:cNvGrpSpPr/>
            <p:nvPr/>
          </p:nvGrpSpPr>
          <p:grpSpPr>
            <a:xfrm>
              <a:off x="8077200" y="1752600"/>
              <a:ext cx="1695450" cy="2362200"/>
              <a:chOff x="8077200" y="1752600"/>
              <a:chExt cx="1695450" cy="23622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077200" y="1752600"/>
                <a:ext cx="1695450" cy="2362200"/>
              </a:xfrm>
              <a:prstGeom prst="roundRect">
                <a:avLst>
                  <a:gd name="adj" fmla="val 7865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338190" y="1936432"/>
                <a:ext cx="11734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有余 · 分配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29517" y="2306002"/>
                <a:ext cx="1190816" cy="414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 每个元素有余元素</a:t>
                </a:r>
                <a:br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 分配律</a:t>
                </a:r>
              </a:p>
            </p:txBody>
          </p:sp>
        </p:grpSp>
        <p:grpSp>
          <p:nvGrpSpPr>
            <p:cNvPr id="30" name="step-boolean"/>
            <p:cNvGrpSpPr/>
            <p:nvPr/>
          </p:nvGrpSpPr>
          <p:grpSpPr>
            <a:xfrm>
              <a:off x="9925050" y="1009650"/>
              <a:ext cx="1733550" cy="3105150"/>
              <a:chOff x="9925050" y="1009650"/>
              <a:chExt cx="1733550" cy="31051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925050" y="1009650"/>
                <a:ext cx="1733550" cy="3105150"/>
              </a:xfrm>
              <a:prstGeom prst="roundRect">
                <a:avLst>
                  <a:gd name="adj" fmla="val 7692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339197" y="11934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布尔代数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373039" y="1563052"/>
                <a:ext cx="8375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E8EDF8"/>
                    </a:solidFill>
                    <a:latin typeface="+mn-lt"/>
                    <a:ea typeface="+mn-ea"/>
                    <a:cs typeface="+mn-cs"/>
                  </a:rPr>
                  <a:t>= 有余分配格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140544" y="1848802"/>
                <a:ext cx="13025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E8EDF8"/>
                    </a:solidFill>
                    <a:latin typeface="Cambria Math"/>
                    <a:ea typeface="Cambria Math"/>
                    <a:cs typeface="Cambria Math"/>
                  </a:rPr>
                  <a:t>(B, ·, +, ¯, 0, 1)</a:t>
                </a:r>
              </a:p>
            </p:txBody>
          </p:sp>
        </p:grpSp>
      </p:grpSp>
      <p:grpSp>
        <p:nvGrpSpPr>
          <p:cNvPr id="37" name="insight"/>
          <p:cNvGrpSpPr/>
          <p:nvPr/>
        </p:nvGrpSpPr>
        <p:grpSpPr>
          <a:xfrm>
            <a:off x="4381500" y="4305300"/>
            <a:ext cx="7277100" cy="647700"/>
            <a:chOff x="4381500" y="4305300"/>
            <a:chExt cx="7277100" cy="647700"/>
          </a:xfrm>
        </p:grpSpPr>
        <p:sp>
          <p:nvSpPr>
            <p:cNvPr id="32" name="Rectangle 32"/>
            <p:cNvSpPr/>
            <p:nvPr/>
          </p:nvSpPr>
          <p:spPr>
            <a:xfrm>
              <a:off x="4381500" y="4305300"/>
              <a:ext cx="7277100" cy="647700"/>
            </a:xfrm>
            <a:prstGeom prst="roundRect">
              <a:avLst>
                <a:gd name="adj" fmla="val 2058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610100" y="4514852"/>
              <a:ext cx="228597" cy="228597"/>
              <a:chOff x="4610100" y="4514852"/>
              <a:chExt cx="228597" cy="22859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610100" y="4514852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0F7A6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762500" y="4591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0F7A6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003673" y="4434364"/>
              <a:ext cx="2792730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余元素：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有余 ⇒ 存在，分配 ⇒ 唯一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于是“取余” a ↦ ā 成为 B 上的一元运算</a:t>
              </a:r>
            </a:p>
          </p:txBody>
        </p:sp>
      </p:grpSp>
      <p:grpSp>
        <p:nvGrpSpPr>
          <p:cNvPr id="82" name="badges"/>
          <p:cNvGrpSpPr/>
          <p:nvPr/>
        </p:nvGrpSpPr>
        <p:grpSpPr>
          <a:xfrm>
            <a:off x="4381500" y="5181600"/>
            <a:ext cx="7277100" cy="1143000"/>
            <a:chOff x="4381500" y="5181600"/>
            <a:chExt cx="72771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4381500" y="51816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45330" y="52006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本节五块内容</a:t>
              </a:r>
            </a:p>
          </p:txBody>
        </p:sp>
        <p:grpSp>
          <p:nvGrpSpPr>
            <p:cNvPr id="48" name="badge-def"/>
            <p:cNvGrpSpPr/>
            <p:nvPr/>
          </p:nvGrpSpPr>
          <p:grpSpPr>
            <a:xfrm>
              <a:off x="4381500" y="5562600"/>
              <a:ext cx="1371600" cy="762000"/>
              <a:chOff x="4381500" y="5562600"/>
              <a:chExt cx="1371600" cy="762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4381500" y="5562600"/>
                <a:ext cx="13716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4562475" y="5737787"/>
                <a:ext cx="180975" cy="139138"/>
                <a:chOff x="4562475" y="5737787"/>
                <a:chExt cx="180975" cy="139138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4562475" y="5861612"/>
                  <a:ext cx="171450" cy="15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5313">
                      <a:moveTo>
                        <a:pt x="0" y="15313"/>
                      </a:moveTo>
                      <a:cubicBezTo>
                        <a:pt x="26523" y="0"/>
                        <a:pt x="59202" y="0"/>
                        <a:pt x="85725" y="15313"/>
                      </a:cubicBezTo>
                      <a:cubicBezTo>
                        <a:pt x="112248" y="0"/>
                        <a:pt x="144927" y="0"/>
                        <a:pt x="171450" y="15313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562475" y="5737787"/>
                  <a:ext cx="171450" cy="15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5313">
                      <a:moveTo>
                        <a:pt x="0" y="15313"/>
                      </a:moveTo>
                      <a:cubicBezTo>
                        <a:pt x="26523" y="0"/>
                        <a:pt x="59202" y="0"/>
                        <a:pt x="85725" y="15313"/>
                      </a:cubicBezTo>
                      <a:cubicBezTo>
                        <a:pt x="112248" y="0"/>
                        <a:pt x="144927" y="0"/>
                        <a:pt x="171450" y="15313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562475" y="5753100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648200" y="5753100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733925" y="5753100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4527804" y="6023610"/>
                <a:ext cx="8526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7.5.1 定义</a:t>
                </a:r>
              </a:p>
            </p:txBody>
          </p:sp>
        </p:grpSp>
        <p:grpSp>
          <p:nvGrpSpPr>
            <p:cNvPr id="58" name="badge-huntington"/>
            <p:cNvGrpSpPr/>
            <p:nvPr/>
          </p:nvGrpSpPr>
          <p:grpSpPr>
            <a:xfrm>
              <a:off x="5857875" y="5562600"/>
              <a:ext cx="1371600" cy="762000"/>
              <a:chOff x="5857875" y="5562600"/>
              <a:chExt cx="1371600" cy="762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857875" y="5562600"/>
                <a:ext cx="13716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6043612" y="5738812"/>
                <a:ext cx="157163" cy="138113"/>
                <a:chOff x="6043612" y="5738812"/>
                <a:chExt cx="157163" cy="138113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6043612" y="5738812"/>
                  <a:ext cx="38100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23812">
                      <a:moveTo>
                        <a:pt x="0" y="9525"/>
                      </a:moveTo>
                      <a:lnTo>
                        <a:pt x="14288" y="23812"/>
                      </a:ln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043612" y="5795962"/>
                  <a:ext cx="38100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23812">
                      <a:moveTo>
                        <a:pt x="0" y="9525"/>
                      </a:moveTo>
                      <a:lnTo>
                        <a:pt x="14288" y="23812"/>
                      </a:ln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043612" y="5853112"/>
                  <a:ext cx="38100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23812">
                      <a:moveTo>
                        <a:pt x="0" y="9525"/>
                      </a:moveTo>
                      <a:lnTo>
                        <a:pt x="14288" y="23812"/>
                      </a:ln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115050" y="5753100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115050" y="5810250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115050" y="5867400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004179" y="60236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亨廷顿公理</a:t>
                </a:r>
              </a:p>
            </p:txBody>
          </p:sp>
        </p:grpSp>
        <p:grpSp>
          <p:nvGrpSpPr>
            <p:cNvPr id="65" name="badge-properties"/>
            <p:cNvGrpSpPr/>
            <p:nvPr/>
          </p:nvGrpSpPr>
          <p:grpSpPr>
            <a:xfrm>
              <a:off x="7334250" y="5562600"/>
              <a:ext cx="1371600" cy="762000"/>
              <a:chOff x="7334250" y="5562600"/>
              <a:chExt cx="1371600" cy="7620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7334250" y="5562600"/>
                <a:ext cx="13716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7515225" y="5724525"/>
                <a:ext cx="171450" cy="171450"/>
                <a:chOff x="7515225" y="5724525"/>
                <a:chExt cx="171450" cy="1714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7515225" y="57245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52400"/>
                      </a:lnTo>
                      <a:cubicBezTo>
                        <a:pt x="171450" y="162921"/>
                        <a:pt x="162921" y="171450"/>
                        <a:pt x="152400" y="171450"/>
                      </a:cubicBez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7515225" y="579120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581900" y="572452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7480554" y="60236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性质速查</a:t>
                </a:r>
              </a:p>
            </p:txBody>
          </p:sp>
        </p:grpSp>
        <p:grpSp>
          <p:nvGrpSpPr>
            <p:cNvPr id="74" name="badge-examples"/>
            <p:cNvGrpSpPr/>
            <p:nvPr/>
          </p:nvGrpSpPr>
          <p:grpSpPr>
            <a:xfrm>
              <a:off x="8810625" y="5562600"/>
              <a:ext cx="1371600" cy="762000"/>
              <a:chOff x="8810625" y="5562600"/>
              <a:chExt cx="1371600" cy="7620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8810625" y="5562600"/>
                <a:ext cx="13716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72" name="Group 72"/>
              <p:cNvGrpSpPr/>
              <p:nvPr/>
            </p:nvGrpSpPr>
            <p:grpSpPr>
              <a:xfrm>
                <a:off x="8982075" y="5791200"/>
                <a:ext cx="190500" cy="38100"/>
                <a:chOff x="8982075" y="5791200"/>
                <a:chExt cx="190500" cy="38100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8982075" y="581025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9153525" y="581025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9001125" y="579120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9115425" y="579120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9039225" y="58102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8956929" y="60236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四个例子</a:t>
                </a:r>
              </a:p>
            </p:txBody>
          </p:sp>
        </p:grpSp>
        <p:grpSp>
          <p:nvGrpSpPr>
            <p:cNvPr id="81" name="badge-subalgebra"/>
            <p:cNvGrpSpPr/>
            <p:nvPr/>
          </p:nvGrpSpPr>
          <p:grpSpPr>
            <a:xfrm>
              <a:off x="10287000" y="5562600"/>
              <a:ext cx="1371600" cy="762000"/>
              <a:chOff x="10287000" y="5562600"/>
              <a:chExt cx="1371600" cy="7620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10287000" y="5562600"/>
                <a:ext cx="13716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77500" y="5734050"/>
                <a:ext cx="152400" cy="152400"/>
                <a:chOff x="10477500" y="5734050"/>
                <a:chExt cx="152400" cy="152400"/>
              </a:xfrm>
            </p:grpSpPr>
            <p:sp>
              <p:nvSpPr>
                <p:cNvPr id="76" name="Freeform 76"/>
                <p:cNvSpPr/>
                <p:nvPr/>
              </p:nvSpPr>
              <p:spPr>
                <a:xfrm>
                  <a:off x="10477500" y="57340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76200" y="0"/>
                      </a:moveTo>
                      <a:lnTo>
                        <a:pt x="0" y="38100"/>
                      </a:lnTo>
                      <a:lnTo>
                        <a:pt x="76200" y="76200"/>
                      </a:lnTo>
                      <a:lnTo>
                        <a:pt x="152400" y="381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477500" y="5810250"/>
                  <a:ext cx="1524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38100">
                      <a:moveTo>
                        <a:pt x="0" y="0"/>
                      </a:moveTo>
                      <a:lnTo>
                        <a:pt x="76200" y="3810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477500" y="5848350"/>
                  <a:ext cx="1524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38100">
                      <a:moveTo>
                        <a:pt x="0" y="0"/>
                      </a:moveTo>
                      <a:lnTo>
                        <a:pt x="76200" y="3810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433304" y="60236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子代数</a:t>
                </a:r>
              </a:p>
            </p:txBody>
          </p:sp>
        </p:grpSp>
      </p:grpSp>
      <p:sp>
        <p:nvSpPr>
          <p:cNvPr id="83" name="TextBox 83"/>
          <p:cNvSpPr txBox="1"/>
          <p:nvPr/>
        </p:nvSpPr>
        <p:spPr>
          <a:xfrm>
            <a:off x="528066" y="6573202"/>
            <a:ext cx="20883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DF8"/>
                </a:solidFill>
                <a:latin typeface="+mn-lt"/>
                <a:ea typeface="+mn-ea"/>
                <a:cs typeface="+mn-cs"/>
              </a:rPr>
              <a:t>离散数学II · 第7章 格与布尔代数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3662172" cy="960501"/>
            <a:chOff x="519684" y="361950"/>
            <a:chExt cx="366217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布尔代数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布尔代数：有余分配格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inition"/>
          <p:cNvGrpSpPr/>
          <p:nvPr/>
        </p:nvGrpSpPr>
        <p:grpSpPr>
          <a:xfrm>
            <a:off x="533400" y="1485900"/>
            <a:ext cx="5257800" cy="1485900"/>
            <a:chOff x="533400" y="1485900"/>
            <a:chExt cx="52578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257800" cy="1485900"/>
            </a:xfrm>
            <a:prstGeom prst="roundRect">
              <a:avLst>
                <a:gd name="adj" fmla="val 1025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181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5242" y="1673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布尔代数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有余分配格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称为一个布尔代数，记为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362200"/>
              <a:ext cx="4686300" cy="4572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85701" y="2472690"/>
              <a:ext cx="2343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(B, ·, +, ¯, 0, 1)</a:t>
              </a:r>
            </a:p>
          </p:txBody>
        </p:sp>
      </p:grpSp>
      <p:grpSp>
        <p:nvGrpSpPr>
          <p:cNvPr id="31" name="notation"/>
          <p:cNvGrpSpPr/>
          <p:nvPr/>
        </p:nvGrpSpPr>
        <p:grpSpPr>
          <a:xfrm>
            <a:off x="533400" y="3124200"/>
            <a:ext cx="5257800" cy="2590800"/>
            <a:chOff x="533400" y="3124200"/>
            <a:chExt cx="5257800" cy="2590800"/>
          </a:xfrm>
        </p:grpSpPr>
        <p:sp>
          <p:nvSpPr>
            <p:cNvPr id="16" name="Rectangle 16"/>
            <p:cNvSpPr/>
            <p:nvPr/>
          </p:nvSpPr>
          <p:spPr>
            <a:xfrm>
              <a:off x="533400" y="3124200"/>
              <a:ext cx="5257800" cy="259080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7042" y="3283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记号解读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581400"/>
              <a:ext cx="59055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6655" y="36509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60373" y="3681889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对应格的 ×，即下确界 inf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3900" y="4019550"/>
              <a:ext cx="59055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6655" y="40890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+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60373" y="4120039"/>
              <a:ext cx="20462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对应格的 ⊕，即上确界 sup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" y="4457700"/>
              <a:ext cx="59055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5"/>
                <p:cNvSpPr txBox="1"/>
                <p:nvPr/>
              </p:nvSpPr>
              <p:spPr>
                <a:xfrm>
                  <a:off x="946655" y="4493704"/>
                  <a:ext cx="145040" cy="3562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650" dirty="0">
                              <a:solidFill>
                                <a:srgbClr val="C2410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650" dirty="0">
                              <a:solidFill>
                                <a:srgbClr val="C2410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bar>
                    </m:oMath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1460373" y="4558189"/>
              <a:ext cx="2987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的余元素：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有余 ⇒ 存在，分配 ⇒ 唯一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" y="4895850"/>
              <a:ext cx="59055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4829" y="4981575"/>
              <a:ext cx="428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0, 1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60373" y="49963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格的界：最小元与最大元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8185" y="5441156"/>
              <a:ext cx="3803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对照：格有偏序格 / 代数格两种定义，布尔代数也有两种</a:t>
              </a:r>
            </a:p>
          </p:txBody>
        </p:sp>
      </p:grpSp>
      <p:grpSp>
        <p:nvGrpSpPr>
          <p:cNvPr id="63" name="huntington"/>
          <p:cNvGrpSpPr/>
          <p:nvPr/>
        </p:nvGrpSpPr>
        <p:grpSpPr>
          <a:xfrm>
            <a:off x="5943600" y="1485900"/>
            <a:ext cx="5715000" cy="4229100"/>
            <a:chOff x="5943600" y="1485900"/>
            <a:chExt cx="5715000" cy="4229100"/>
          </a:xfrm>
        </p:grpSpPr>
        <p:sp>
          <p:nvSpPr>
            <p:cNvPr id="32" name="Rectangle 32"/>
            <p:cNvSpPr/>
            <p:nvPr/>
          </p:nvSpPr>
          <p:spPr>
            <a:xfrm>
              <a:off x="5943600" y="1485900"/>
              <a:ext cx="57150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0" y="1638300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246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935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7.5.1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2642" y="1673542"/>
              <a:ext cx="2293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亨廷顿（Huntington）公理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18504" y="2023110"/>
              <a:ext cx="45384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B 是至少含两个不同元素的集合，·、+ 是 B 上的两种代数运算，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如果对任意 a, b, c ∈ B 满足下面公理：</a:t>
              </a:r>
            </a:p>
          </p:txBody>
        </p:sp>
        <p:grpSp>
          <p:nvGrpSpPr>
            <p:cNvPr id="43" name="h1"/>
            <p:cNvGrpSpPr/>
            <p:nvPr/>
          </p:nvGrpSpPr>
          <p:grpSpPr>
            <a:xfrm>
              <a:off x="6324600" y="2495550"/>
              <a:ext cx="5143500" cy="476250"/>
              <a:chOff x="6324600" y="2495550"/>
              <a:chExt cx="5143500" cy="476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324600" y="2495550"/>
                <a:ext cx="514350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457950" y="2600325"/>
                <a:ext cx="419100" cy="266700"/>
              </a:xfrm>
              <a:prstGeom prst="roundRect">
                <a:avLst>
                  <a:gd name="adj" fmla="val 28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562832" y="2661285"/>
                <a:ext cx="2093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85635" y="2669381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交换律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3142" y="2654618"/>
                <a:ext cx="22490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 · b = b · a，a + b = b + a</a:t>
                </a:r>
              </a:p>
            </p:txBody>
          </p:sp>
        </p:grpSp>
        <p:grpSp>
          <p:nvGrpSpPr>
            <p:cNvPr id="49" name="h2"/>
            <p:cNvGrpSpPr/>
            <p:nvPr/>
          </p:nvGrpSpPr>
          <p:grpSpPr>
            <a:xfrm>
              <a:off x="6324600" y="3048000"/>
              <a:ext cx="5143500" cy="685800"/>
              <a:chOff x="6324600" y="3048000"/>
              <a:chExt cx="5143500" cy="6858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324600" y="3048000"/>
                <a:ext cx="514350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457950" y="3257550"/>
                <a:ext cx="419100" cy="266700"/>
              </a:xfrm>
              <a:prstGeom prst="roundRect">
                <a:avLst>
                  <a:gd name="adj" fmla="val 28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562832" y="3318510"/>
                <a:ext cx="2093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985635" y="3326606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分配律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13142" y="3178492"/>
                <a:ext cx="2422588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· (b + c) = (a · b) + (a · c)</a:t>
                </a:r>
                <a:br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+ (b · c) = (a + b) · (a + c)</a:t>
                </a:r>
              </a:p>
            </p:txBody>
          </p:sp>
        </p:grpSp>
        <p:grpSp>
          <p:nvGrpSpPr>
            <p:cNvPr id="55" name="h3"/>
            <p:cNvGrpSpPr/>
            <p:nvPr/>
          </p:nvGrpSpPr>
          <p:grpSpPr>
            <a:xfrm>
              <a:off x="6324600" y="3810000"/>
              <a:ext cx="5143500" cy="685800"/>
              <a:chOff x="6324600" y="3810000"/>
              <a:chExt cx="5143500" cy="6858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324600" y="3810000"/>
                <a:ext cx="514350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457950" y="4019550"/>
                <a:ext cx="419100" cy="266700"/>
              </a:xfrm>
              <a:prstGeom prst="roundRect">
                <a:avLst>
                  <a:gd name="adj" fmla="val 28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562832" y="4080510"/>
                <a:ext cx="2093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H3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985635" y="4088606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单位元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13904" y="3956685"/>
                <a:ext cx="2557272" cy="501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 中有元素 0 和 1，使对任意 a ∈ B 有</a:t>
                </a:r>
              </a:p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 · 1 = a，a + 0 = a</a:t>
                </a:r>
              </a:p>
            </p:txBody>
          </p:sp>
        </p:grpSp>
        <p:grpSp>
          <p:nvGrpSpPr>
            <p:cNvPr id="61" name="h4"/>
            <p:cNvGrpSpPr/>
            <p:nvPr/>
          </p:nvGrpSpPr>
          <p:grpSpPr>
            <a:xfrm>
              <a:off x="6324600" y="4572000"/>
              <a:ext cx="5143500" cy="685800"/>
              <a:chOff x="6324600" y="4572000"/>
              <a:chExt cx="5143500" cy="6858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324600" y="4572000"/>
                <a:ext cx="514350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457950" y="4781550"/>
                <a:ext cx="4191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562832" y="4842510"/>
                <a:ext cx="2093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H4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985635" y="4850606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补元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7613904" y="4694301"/>
                    <a:ext cx="2008632" cy="5516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对任意 a ∈ B，有 </a:t>
                    </a:r>
                    <a14:m>
                      <m:oMath xmlns:a="http://schemas.openxmlformats.org/drawingml/2006/main" xmlns:m="http://schemas.openxmlformats.org/officeDocument/2006/math">
                        <m:bar>
                          <m:barPr>
                            <m:pos m:val="top"/>
                            <m:ctrlPr>
                              <a:rPr lang="zh-CN" sz="120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0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bar>
                      </m:oMath>
                    </a14:m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 ∈ B，使得</a:t>
                    </a:r>
                  </a:p>
                  <a:p>
                    <a:pPr algn="l"/>
                    <a:r>
                      <a:rPr lang="en-US" sz="1350" dirty="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</a:rPr>
                      <a:t xml:space="preserve">a · </a:t>
                    </a:r>
                    <a14:m>
                      <m:oMath xmlns:a="http://schemas.openxmlformats.org/drawingml/2006/main" xmlns:m="http://schemas.openxmlformats.org/officeDocument/2006/math">
                        <m:bar>
                          <m:barPr>
                            <m:pos m:val="top"/>
                            <m:ctrlP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bar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Cambria Math"/>
                        <a:ea typeface="Microsoft YaHei"/>
                        <a:cs typeface="Cambria Math"/>
                      </a:rPr>
                      <a:t xml:space="preserve"> = 0，a + </a:t>
                    </a:r>
                    <a14:m>
                      <m:oMath xmlns:a="http://schemas.openxmlformats.org/drawingml/2006/main" xmlns:m="http://schemas.openxmlformats.org/officeDocument/2006/math">
                        <m:bar>
                          <m:barPr>
                            <m:pos m:val="top"/>
                            <m:ctrlP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bar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</a:rPr>
                      <a:t xml:space="preserve"> = 1</a:t>
                    </a:r>
                  </a:p>
                </p:txBody>
              </p:sp>
            </mc:Choice>
          </mc:AlternateContent>
        </p:grpSp>
        <p:sp>
          <p:nvSpPr>
            <p:cNvPr id="62" name="TextBox 62"/>
            <p:cNvSpPr txBox="1"/>
            <p:nvPr/>
          </p:nvSpPr>
          <p:spPr>
            <a:xfrm>
              <a:off x="6318504" y="5394960"/>
              <a:ext cx="3118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则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(B, ·, +, ¯, 0, 1) 是一个布尔代数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74700" y="6003925"/>
              <a:ext cx="203199" cy="203199"/>
              <a:chOff x="774700" y="6003925"/>
              <a:chExt cx="203199" cy="20319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74700" y="6003925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101600" y="0"/>
                    </a:moveTo>
                    <a:lnTo>
                      <a:pt x="0" y="50800"/>
                    </a:lnTo>
                    <a:lnTo>
                      <a:pt x="101600" y="101600"/>
                    </a:lnTo>
                    <a:lnTo>
                      <a:pt x="203199" y="5080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4700" y="6105525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4700" y="6156324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34618" y="6003608"/>
              <a:ext cx="78243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布尔代数 = 有余分配格；也可只用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交换、分配、单位元、补元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四条公理来定义。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933438" cy="960501"/>
            <a:chOff x="519684" y="361950"/>
            <a:chExt cx="693343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布尔代数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布尔代数的性质速查：每条性质来自哪一层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-lattice"/>
          <p:cNvGrpSpPr/>
          <p:nvPr/>
        </p:nvGrpSpPr>
        <p:grpSpPr>
          <a:xfrm>
            <a:off x="533400" y="1485900"/>
            <a:ext cx="3733800" cy="1524000"/>
            <a:chOff x="533400" y="1485900"/>
            <a:chExt cx="3733800" cy="1524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733800" cy="1524000"/>
            </a:xfrm>
            <a:prstGeom prst="roundRect">
              <a:avLst>
                <a:gd name="adj" fmla="val 875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8185" y="1621631"/>
              <a:ext cx="1680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(一) 因 (B, ·, +) 是格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185" y="1897856"/>
              <a:ext cx="1469390" cy="9629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1) a·a = a</a:t>
              </a:r>
            </a:p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2) a·b = b·a</a:t>
              </a:r>
            </a:p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3) (a·b)·c = a·(b·c)</a:t>
              </a:r>
            </a:p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4) a·(a+b) =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08885" y="1897856"/>
              <a:ext cx="1547622" cy="9629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1′) a+a = a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2′) a+b = b+a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3′) (a+b)+c = a+(b+c)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4′) a+(a·b) = a</a:t>
              </a:r>
            </a:p>
          </p:txBody>
        </p:sp>
      </p:grpSp>
      <p:grpSp>
        <p:nvGrpSpPr>
          <p:cNvPr id="15" name="group-distributive"/>
          <p:cNvGrpSpPr/>
          <p:nvPr/>
        </p:nvGrpSpPr>
        <p:grpSpPr>
          <a:xfrm>
            <a:off x="4381500" y="1485900"/>
            <a:ext cx="3733800" cy="1524000"/>
            <a:chOff x="4381500" y="1485900"/>
            <a:chExt cx="37338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485900"/>
              <a:ext cx="3733800" cy="1524000"/>
            </a:xfrm>
            <a:prstGeom prst="roundRect">
              <a:avLst>
                <a:gd name="adj" fmla="val 875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66285" y="1621631"/>
              <a:ext cx="1982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(二) 因 (B, ·, +) 是分配格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66285" y="1897856"/>
              <a:ext cx="3034030" cy="9629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5) a·(b+c) = (a·b)+(a·c)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5′) a+(b·c) = (a+b)·(a+c)</a:t>
              </a:r>
            </a:p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6) (a·b)+(a·c)+(b·c) = (a+b)·(a+c)·(b+c)</a:t>
              </a:r>
            </a:p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7) 若 a·b = a·c，a+b = a+c，则 b = c</a:t>
              </a:r>
            </a:p>
          </p:txBody>
        </p:sp>
      </p:grpSp>
      <p:grpSp>
        <p:nvGrpSpPr>
          <p:cNvPr id="20" name="group-bounded"/>
          <p:cNvGrpSpPr/>
          <p:nvPr/>
        </p:nvGrpSpPr>
        <p:grpSpPr>
          <a:xfrm>
            <a:off x="533400" y="3086100"/>
            <a:ext cx="3733800" cy="1352550"/>
            <a:chOff x="533400" y="3086100"/>
            <a:chExt cx="3733800" cy="1352550"/>
          </a:xfrm>
        </p:grpSpPr>
        <p:sp>
          <p:nvSpPr>
            <p:cNvPr id="16" name="Rectangle 16"/>
            <p:cNvSpPr/>
            <p:nvPr/>
          </p:nvSpPr>
          <p:spPr>
            <a:xfrm>
              <a:off x="533400" y="3086100"/>
              <a:ext cx="3733800" cy="1352550"/>
            </a:xfrm>
            <a:prstGeom prst="roundRect">
              <a:avLst>
                <a:gd name="adj" fmla="val 985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8185" y="3221831"/>
              <a:ext cx="2450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(三) 因 (B, ·, +, 0, 1) 是有界格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185" y="3498056"/>
              <a:ext cx="772414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8) 0 ≤ a ≤ 1</a:t>
              </a:r>
            </a:p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9) a·0 = 0</a:t>
              </a:r>
            </a:p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10) a·1 =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08885" y="3745706"/>
              <a:ext cx="84353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9′) a+1 = 1</a:t>
              </a:r>
              <a:br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10′) a+0 = a</a:t>
              </a:r>
            </a:p>
          </p:txBody>
        </p:sp>
      </p:grpSp>
      <p:grpSp>
        <p:nvGrpSpPr>
          <p:cNvPr id="25" name="group-complemented"/>
          <p:cNvGrpSpPr/>
          <p:nvPr/>
        </p:nvGrpSpPr>
        <p:grpSpPr>
          <a:xfrm>
            <a:off x="4381500" y="3086100"/>
            <a:ext cx="3733800" cy="1352550"/>
            <a:chOff x="4381500" y="3086100"/>
            <a:chExt cx="3733800" cy="1352550"/>
          </a:xfrm>
        </p:grpSpPr>
        <p:sp>
          <p:nvSpPr>
            <p:cNvPr id="21" name="Rectangle 21"/>
            <p:cNvSpPr/>
            <p:nvPr/>
          </p:nvSpPr>
          <p:spPr>
            <a:xfrm>
              <a:off x="4381500" y="3086100"/>
              <a:ext cx="3733800" cy="1352550"/>
            </a:xfrm>
            <a:prstGeom prst="roundRect">
              <a:avLst>
                <a:gd name="adj" fmla="val 9859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66285" y="3221831"/>
              <a:ext cx="2986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(四) 因 (B, ·, +, ¯, 0, 1) 是有余分配格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3"/>
                <p:cNvSpPr txBox="1"/>
                <p:nvPr/>
              </p:nvSpPr>
              <p:spPr>
                <a:xfrm>
                  <a:off x="4566285" y="3475196"/>
                  <a:ext cx="1156462" cy="7381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11) a·</a:t>
                  </a:r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bar>
                    </m:oMath>
                  </a14:m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 = 0</a:t>
                  </a:r>
                </a:p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12) </a:t>
                  </a:r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a14:m>
                </a:p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13) </a:t>
                  </a:r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bar>
                    </m:oMath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4"/>
                <p:cNvSpPr txBox="1"/>
                <p:nvPr/>
              </p:nvSpPr>
              <p:spPr>
                <a:xfrm>
                  <a:off x="6356985" y="3475196"/>
                  <a:ext cx="1234694" cy="7381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11′) a+</a:t>
                  </a:r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bar>
                    </m:oMath>
                  </a14:m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 = 1</a:t>
                  </a:r>
                  <a:br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12′) </a:t>
                  </a:r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a14:m>
                  <a:br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13′) </a:t>
                  </a:r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bar>
                    </m:oMath>
                  </a14:m>
                </a:p>
              </p:txBody>
            </p:sp>
          </mc:Choice>
        </mc:AlternateContent>
      </p:grpSp>
      <p:grpSp>
        <p:nvGrpSpPr>
          <p:cNvPr id="32" name="group-order"/>
          <p:cNvGrpSpPr/>
          <p:nvPr/>
        </p:nvGrpSpPr>
        <p:grpSpPr>
          <a:xfrm>
            <a:off x="533400" y="4514850"/>
            <a:ext cx="7581900" cy="1200150"/>
            <a:chOff x="533400" y="4514850"/>
            <a:chExt cx="7581900" cy="1200150"/>
          </a:xfrm>
        </p:grpSpPr>
        <p:sp>
          <p:nvSpPr>
            <p:cNvPr id="26" name="Rectangle 26"/>
            <p:cNvSpPr/>
            <p:nvPr/>
          </p:nvSpPr>
          <p:spPr>
            <a:xfrm>
              <a:off x="533400" y="4514850"/>
              <a:ext cx="7581900" cy="1200150"/>
            </a:xfrm>
            <a:prstGeom prst="roundRect">
              <a:avLst>
                <a:gd name="adj" fmla="val 1111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8185" y="4650581"/>
              <a:ext cx="1748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(五) 因 (B, ≤) 是偏序格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185" y="4945856"/>
              <a:ext cx="3057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14) a·b = inf{a, b}，14′) a+b = sup{a, b}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5285" y="4945856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15) a ≤ b ⇔ a+b = b ⇔ a·b = 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30"/>
                <p:cNvSpPr txBox="1"/>
                <p:nvPr/>
              </p:nvSpPr>
              <p:spPr>
                <a:xfrm>
                  <a:off x="718185" y="5284946"/>
                  <a:ext cx="2514285" cy="242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 xml:space="preserve">16)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bar>
                        <m:barPr>
                          <m:pos m:val="top"/>
                          <m:ctrlP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12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666535" y="5323999"/>
              <a:ext cx="1263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16) 常用来判定 a ≤ b</a:t>
              </a:r>
            </a:p>
          </p:txBody>
        </p:sp>
      </p:grpSp>
      <p:grpSp>
        <p:nvGrpSpPr>
          <p:cNvPr id="57" name="proof-6"/>
          <p:cNvGrpSpPr/>
          <p:nvPr/>
        </p:nvGrpSpPr>
        <p:grpSpPr>
          <a:xfrm>
            <a:off x="8267700" y="1485900"/>
            <a:ext cx="3390900" cy="4229100"/>
            <a:chOff x="8267700" y="1485900"/>
            <a:chExt cx="3390900" cy="4229100"/>
          </a:xfrm>
        </p:grpSpPr>
        <p:sp>
          <p:nvSpPr>
            <p:cNvPr id="33" name="Rectangle 33"/>
            <p:cNvSpPr/>
            <p:nvPr/>
          </p:nvSpPr>
          <p:spPr>
            <a:xfrm>
              <a:off x="8267700" y="1485900"/>
              <a:ext cx="3390900" cy="4229100"/>
            </a:xfrm>
            <a:prstGeom prst="roundRect">
              <a:avLst>
                <a:gd name="adj" fmla="val 449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582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57397" y="1680210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 6)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75623" y="16816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分配律反复使用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2485" y="2069306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左边 = (a·b)+(a·c)+(b·c)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8458200" y="24193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13703" y="24555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19185" y="2450306"/>
              <a:ext cx="147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(a·(b+c)) + (b·c)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18027" y="24664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5)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8458200" y="28194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13703" y="2855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19185" y="285035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(a+(b·c)) · ((b+c)+(b·c))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45466" y="286654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5′)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458200" y="32194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13703" y="32556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19185" y="3250406"/>
              <a:ext cx="2378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(a+b)·(a+c)·(b+c+b)·(b+c+c)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45466" y="326659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5′)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458200" y="3619500"/>
              <a:ext cx="190500" cy="1905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13703" y="36556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19185" y="3650456"/>
              <a:ext cx="176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= (a+b)·(a+c)·(b+c) ∎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458200" y="3981450"/>
              <a:ext cx="3009900" cy="8001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05266" y="4115752"/>
              <a:ext cx="182422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第 4 步：b+c+b = b+c = b+c+c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（交换、结合、幂等 1′)）</a:t>
              </a:r>
              <a:br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再用 1) (b+c)·(b+c) = b+c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458200" y="4895850"/>
              <a:ext cx="3009900" cy="666750"/>
            </a:xfrm>
            <a:prstGeom prst="roundRect">
              <a:avLst>
                <a:gd name="adj" fmla="val 1714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05266" y="5049202"/>
              <a:ext cx="191757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观察：6) 两边互为对偶——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· 与 + 互换，左边就变成右边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203199"/>
                    </a:lnTo>
                    <a:cubicBezTo>
                      <a:pt x="228599" y="217227"/>
                      <a:pt x="217227" y="228599"/>
                      <a:pt x="203199" y="228599"/>
                    </a:cubicBez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62000" y="6080125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0900" y="5991225"/>
                <a:ext cx="9525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599">
                    <a:moveTo>
                      <a:pt x="0" y="0"/>
                    </a:moveTo>
                    <a:lnTo>
                      <a:pt x="0" y="2285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134618" y="6003608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性质不用死记：分别继承自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格、分配格、有界格、有余分配格、偏序格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933438" cy="960501"/>
            <a:chOff x="519684" y="361950"/>
            <a:chExt cx="693343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布尔代数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布尔代数的例子：电路、集合、命题、开关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ircuit-algebra"/>
          <p:cNvGrpSpPr/>
          <p:nvPr/>
        </p:nvGrpSpPr>
        <p:grpSpPr>
          <a:xfrm>
            <a:off x="533400" y="1485900"/>
            <a:ext cx="5600700" cy="4229100"/>
            <a:chOff x="533400" y="1485900"/>
            <a:chExt cx="56007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6007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56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8542" y="1673542"/>
              <a:ext cx="3684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电路代数 (B, ·, +, ¯, 0, 1)，B = {0, 1}</a:t>
              </a:r>
            </a:p>
          </p:txBody>
        </p:sp>
        <p:grpSp>
          <p:nvGrpSpPr>
            <p:cNvPr id="23" name="table-dot"/>
            <p:cNvGrpSpPr/>
            <p:nvPr/>
          </p:nvGrpSpPr>
          <p:grpSpPr>
            <a:xfrm>
              <a:off x="762000" y="2038350"/>
              <a:ext cx="1143000" cy="1028700"/>
              <a:chOff x="762000" y="2038350"/>
              <a:chExt cx="1143000" cy="10287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2038350"/>
                <a:ext cx="1143000" cy="1028700"/>
              </a:xfrm>
              <a:prstGeom prst="roundRect">
                <a:avLst>
                  <a:gd name="adj" fmla="val 925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762000" y="2038350"/>
                <a:ext cx="1143000" cy="342900"/>
              </a:xfrm>
              <a:prstGeom prst="roundRect">
                <a:avLst>
                  <a:gd name="adj" fmla="val 27778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96267" y="2129314"/>
                <a:ext cx="874465" cy="935164"/>
                <a:chOff x="896267" y="2129314"/>
                <a:chExt cx="874465" cy="935164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896267" y="21293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·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277267" y="21293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658267" y="21293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96267" y="24722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279637" y="2472214"/>
                  <a:ext cx="107726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660637" y="2472214"/>
                  <a:ext cx="107726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96267" y="28151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279637" y="2815114"/>
                  <a:ext cx="107726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658267" y="28151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</p:grpSp>
        </p:grpSp>
        <p:grpSp>
          <p:nvGrpSpPr>
            <p:cNvPr id="36" name="table-plus"/>
            <p:cNvGrpSpPr/>
            <p:nvPr/>
          </p:nvGrpSpPr>
          <p:grpSpPr>
            <a:xfrm>
              <a:off x="2133600" y="2038350"/>
              <a:ext cx="1143000" cy="1028700"/>
              <a:chOff x="2133600" y="2038350"/>
              <a:chExt cx="1143000" cy="1028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133600" y="2038350"/>
                <a:ext cx="1143000" cy="1028700"/>
              </a:xfrm>
              <a:prstGeom prst="roundRect">
                <a:avLst>
                  <a:gd name="adj" fmla="val 925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2133600" y="2038350"/>
                <a:ext cx="1143000" cy="342900"/>
              </a:xfrm>
              <a:prstGeom prst="roundRect">
                <a:avLst>
                  <a:gd name="adj" fmla="val 27778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2267867" y="2129314"/>
                <a:ext cx="874465" cy="935164"/>
                <a:chOff x="2267867" y="2129314"/>
                <a:chExt cx="874465" cy="935164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2267867" y="21293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+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2648867" y="21293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029867" y="21293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2267867" y="24722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651237" y="2472214"/>
                  <a:ext cx="107726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3029867" y="24722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267867" y="28151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648867" y="28151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029867" y="28151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</p:grpSp>
        </p:grpSp>
        <p:grpSp>
          <p:nvGrpSpPr>
            <p:cNvPr id="46" name="table-bar"/>
            <p:cNvGrpSpPr/>
            <p:nvPr/>
          </p:nvGrpSpPr>
          <p:grpSpPr>
            <a:xfrm>
              <a:off x="3505200" y="2038350"/>
              <a:ext cx="800100" cy="1028700"/>
              <a:chOff x="3505200" y="2038350"/>
              <a:chExt cx="800100" cy="10287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3505200" y="2038350"/>
                <a:ext cx="800100" cy="1028700"/>
              </a:xfrm>
              <a:prstGeom prst="roundRect">
                <a:avLst>
                  <a:gd name="adj" fmla="val 1190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505200" y="2038350"/>
                <a:ext cx="800100" cy="342900"/>
              </a:xfrm>
              <a:prstGeom prst="roundRect">
                <a:avLst>
                  <a:gd name="adj" fmla="val 27778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3658517" y="2103406"/>
                <a:ext cx="493465" cy="961072"/>
                <a:chOff x="3658517" y="2103406"/>
                <a:chExt cx="493465" cy="961072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3658517" y="21293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80" b="1" dirty="0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a:t>x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0" name="TextBox 40"/>
                    <p:cNvSpPr txBox="1"/>
                    <p:nvPr/>
                  </p:nvSpPr>
                  <p:spPr>
                    <a:xfrm>
                      <a:off x="4039517" y="2103406"/>
                      <a:ext cx="112465" cy="27527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14:m>
                        <m:oMath xmlns:a="http://schemas.openxmlformats.org/drawingml/2006/main"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zh-CN" sz="1280" dirty="0">
                                  <a:solidFill>
                                    <a:srgbClr val="FFFF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280" dirty="0">
                                  <a:solidFill>
                                    <a:srgbClr val="FFFF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oMath>
                      </a14:m>
                    </a:p>
                  </p:txBody>
                </p:sp>
              </mc:Choice>
            </mc:AlternateContent>
            <p:sp>
              <p:nvSpPr>
                <p:cNvPr id="41" name="TextBox 41"/>
                <p:cNvSpPr txBox="1"/>
                <p:nvPr/>
              </p:nvSpPr>
              <p:spPr>
                <a:xfrm>
                  <a:off x="3658517" y="24722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4041887" y="2472214"/>
                  <a:ext cx="107726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3658517" y="2815114"/>
                  <a:ext cx="112465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4041887" y="2815114"/>
                  <a:ext cx="107726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</p:grpSp>
        </p:grpSp>
        <p:sp>
          <p:nvSpPr>
            <p:cNvPr id="47" name="TextBox 47"/>
            <p:cNvSpPr txBox="1"/>
            <p:nvPr/>
          </p:nvSpPr>
          <p:spPr>
            <a:xfrm>
              <a:off x="4528566" y="2172652"/>
              <a:ext cx="81076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注意：这里</a:t>
              </a:r>
              <a:br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+ 1 = 1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不是普通加法</a:t>
              </a:r>
            </a:p>
          </p:txBody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3276600"/>
              <a:ext cx="2590800" cy="1943100"/>
            </a:xfrm>
            <a:prstGeom prst="roundRect">
              <a:avLst>
                <a:gd name="adj" fmla="val 5882"/>
              </a:avLst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3499104" y="3489960"/>
              <a:ext cx="1383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6017" indent="-136017">
                <a:lnSpc>
                  <a:spcPts val="1800"/>
                </a:lnSpc>
                <a:buClr>
                  <a:schemeClr val="accent1"/>
                </a:buClr>
                <a:buSzTx/>
                <a:buFontTx/>
                <a:buChar char="•"/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是串联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：两个开关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都闭合才通（上图）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99104" y="4137660"/>
              <a:ext cx="1367409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是并联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：至少一个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闭合就通（下图）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1"/>
                <p:cNvSpPr txBox="1"/>
                <p:nvPr/>
              </p:nvSpPr>
              <p:spPr>
                <a:xfrm>
                  <a:off x="3499104" y="4760976"/>
                  <a:ext cx="2048454" cy="259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断开，</a:t>
                  </a:r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闭合；</a:t>
                  </a:r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</m:oMath>
                  </a14:m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状态取反</a:t>
                  </a:r>
                </a:p>
              </p:txBody>
            </p:sp>
          </mc:Choice>
        </mc:AlternateContent>
        <p:sp>
          <p:nvSpPr>
            <p:cNvPr id="52" name="TextBox 52"/>
            <p:cNvSpPr txBox="1"/>
            <p:nvPr/>
          </p:nvSpPr>
          <p:spPr>
            <a:xfrm>
              <a:off x="756666" y="5411152"/>
              <a:ext cx="296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上图：1 · 1 = 1，灯亮；下图：0 + 1 = 1，灯亮</a:t>
              </a:r>
            </a:p>
          </p:txBody>
        </p:sp>
      </p:grpSp>
      <p:grpSp>
        <p:nvGrpSpPr>
          <p:cNvPr id="59" name="set-algebra"/>
          <p:cNvGrpSpPr/>
          <p:nvPr/>
        </p:nvGrpSpPr>
        <p:grpSpPr>
          <a:xfrm>
            <a:off x="6286500" y="1485900"/>
            <a:ext cx="5372100" cy="1012984"/>
            <a:chOff x="6286500" y="1485900"/>
            <a:chExt cx="5372100" cy="1012984"/>
          </a:xfrm>
        </p:grpSpPr>
        <p:sp>
          <p:nvSpPr>
            <p:cNvPr id="54" name="Rectangle 54"/>
            <p:cNvSpPr/>
            <p:nvPr/>
          </p:nvSpPr>
          <p:spPr>
            <a:xfrm>
              <a:off x="6286500" y="1485900"/>
              <a:ext cx="5372100" cy="990600"/>
            </a:xfrm>
            <a:prstGeom prst="roundRect">
              <a:avLst>
                <a:gd name="adj" fmla="val 1538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70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87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41642" y="1673542"/>
              <a:ext cx="2839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集合代数 (ρ(S), ∩, ∪, ¯, ∅, S)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09385" y="2069306"/>
              <a:ext cx="329006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是非空集合；· ↔ ∩，+ ↔ ∪，余元素 ↔ 补集 S − A，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↔ ∅，1 ↔ S</a:t>
              </a:r>
            </a:p>
          </p:txBody>
        </p:sp>
      </p:grpSp>
      <p:grpSp>
        <p:nvGrpSpPr>
          <p:cNvPr id="65" name="prop-algebra"/>
          <p:cNvGrpSpPr/>
          <p:nvPr/>
        </p:nvGrpSpPr>
        <p:grpSpPr>
          <a:xfrm>
            <a:off x="6286500" y="2628900"/>
            <a:ext cx="5372100" cy="1012984"/>
            <a:chOff x="6286500" y="2628900"/>
            <a:chExt cx="5372100" cy="1012984"/>
          </a:xfrm>
        </p:grpSpPr>
        <p:sp>
          <p:nvSpPr>
            <p:cNvPr id="60" name="Rectangle 60"/>
            <p:cNvSpPr/>
            <p:nvPr/>
          </p:nvSpPr>
          <p:spPr>
            <a:xfrm>
              <a:off x="6286500" y="2628900"/>
              <a:ext cx="5372100" cy="990600"/>
            </a:xfrm>
            <a:prstGeom prst="roundRect">
              <a:avLst>
                <a:gd name="adj" fmla="val 15385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7000" y="2762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8732" y="2823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41642" y="2816542"/>
              <a:ext cx="2545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命题代数 (S, ∧, ∨, ¬, F, T)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09385" y="3212306"/>
              <a:ext cx="314782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是命题公式的集合；· ↔ ∧，+ ↔ ∨，余元素 ↔ ¬，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↔ F（假），1 ↔ T（真）</a:t>
              </a:r>
            </a:p>
          </p:txBody>
        </p:sp>
      </p:grpSp>
      <p:grpSp>
        <p:nvGrpSpPr>
          <p:cNvPr id="74" name="switch-algebra"/>
          <p:cNvGrpSpPr/>
          <p:nvPr/>
        </p:nvGrpSpPr>
        <p:grpSpPr>
          <a:xfrm>
            <a:off x="6286500" y="3771900"/>
            <a:ext cx="5372100" cy="1943100"/>
            <a:chOff x="6286500" y="3771900"/>
            <a:chExt cx="5372100" cy="1943100"/>
          </a:xfrm>
        </p:grpSpPr>
        <p:sp>
          <p:nvSpPr>
            <p:cNvPr id="66" name="Rectangle 66"/>
            <p:cNvSpPr/>
            <p:nvPr/>
          </p:nvSpPr>
          <p:spPr>
            <a:xfrm>
              <a:off x="6286500" y="3771900"/>
              <a:ext cx="5372100" cy="1943100"/>
            </a:xfrm>
            <a:prstGeom prst="roundRect">
              <a:avLst>
                <a:gd name="adj" fmla="val 784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77000" y="3905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8732" y="3966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41642" y="3959542"/>
              <a:ext cx="2877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开关代数 (Bⁿ, ·, +, ¯, 0ₙ, 1ₙ)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09385" y="4317206"/>
              <a:ext cx="4961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Bⁿ 是由 0、1 做分量的所有 n 元向量；a = (a₁, …, aₙ)，b = (b₁, …, bₙ)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4572000"/>
              <a:ext cx="4991100" cy="990600"/>
            </a:xfrm>
            <a:prstGeom prst="roundRect">
              <a:avLst>
                <a:gd name="adj" fmla="val 11538"/>
              </a:avLst>
            </a:prstGeom>
            <a:solidFill>
              <a:schemeClr val="lt1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2"/>
                <p:cNvSpPr txBox="1"/>
                <p:nvPr/>
              </p:nvSpPr>
              <p:spPr>
                <a:xfrm>
                  <a:off x="6661404" y="4658106"/>
                  <a:ext cx="2702052" cy="822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 · b = (a₁ · b₁, a₂ · b₂, …, aₙ · bₙ)</a:t>
                  </a:r>
                  <a:br/>
                  <a:r>
                    <a:rPr lang="en-US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 + b = (a₁ + b₁, a₂ + b₂, …, aₙ + bₙ)</a:t>
                  </a:r>
                  <a:br/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20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sz="120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ba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bar>
                            <m:barPr>
                              <m:pos m:val="top"/>
                              <m:ctrlPr>
                                <a:rPr lang="zh-CN" sz="120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ba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bar>
                            <m:barPr>
                              <m:pos m:val="top"/>
                              <m:ctrlPr>
                                <a:rPr lang="zh-CN" sz="120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ba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73" name="TextBox 73"/>
            <p:cNvSpPr txBox="1"/>
            <p:nvPr/>
          </p:nvSpPr>
          <p:spPr>
            <a:xfrm>
              <a:off x="10476865" y="4714399"/>
              <a:ext cx="843788" cy="647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800"/>
                </a:lnSpc>
              </a:pPr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0ₙ = (0, …, 0)</a:t>
              </a:r>
              <a:br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1ₙ = (1, …, 1)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逐分量运算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5" name="Rectangle 7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49300" y="6080125"/>
              <a:ext cx="253999" cy="50800"/>
              <a:chOff x="749300" y="6080125"/>
              <a:chExt cx="253999" cy="50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49300" y="6105525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977899" y="6105525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74700" y="60801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27099" y="60801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25500" y="6105525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134618" y="6003608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电路的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串并联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、集合的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交并补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、命题的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与或非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，都是同一种布尔代数。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4" name="TextBox 84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52415" cy="960501"/>
            <a:chOff x="519684" y="361950"/>
            <a:chExt cx="515241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布尔代数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524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子代数：必须带着同一个 0 和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def-752"/>
          <p:cNvGrpSpPr/>
          <p:nvPr/>
        </p:nvGrpSpPr>
        <p:grpSpPr>
          <a:xfrm>
            <a:off x="533400" y="1485900"/>
            <a:ext cx="5524500" cy="1276350"/>
            <a:chOff x="533400" y="1485900"/>
            <a:chExt cx="5524500" cy="12763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524500" cy="1276350"/>
            </a:xfrm>
            <a:prstGeom prst="roundRect">
              <a:avLst>
                <a:gd name="adj" fmla="val 1194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971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7.5.2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子代数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304" y="2023110"/>
              <a:ext cx="433273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任给布尔代数 (B, ·, +, ¯, 0, 1)，若 B 的子集 S 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包含 0 和 1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 (S, ·, +, ¯, 0, 1) 仍是一个布尔代数，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则称 S 为 B 的子代数。</a:t>
              </a:r>
            </a:p>
          </p:txBody>
        </p:sp>
      </p:grpSp>
      <p:grpSp>
        <p:nvGrpSpPr>
          <p:cNvPr id="21" name="thm-752"/>
          <p:cNvGrpSpPr/>
          <p:nvPr/>
        </p:nvGrpSpPr>
        <p:grpSpPr>
          <a:xfrm>
            <a:off x="6210300" y="1485900"/>
            <a:ext cx="5448300" cy="1276350"/>
            <a:chOff x="6210300" y="1485900"/>
            <a:chExt cx="5448300" cy="1276350"/>
          </a:xfrm>
        </p:grpSpPr>
        <p:sp>
          <p:nvSpPr>
            <p:cNvPr id="14" name="Rectangle 14"/>
            <p:cNvSpPr/>
            <p:nvPr/>
          </p:nvSpPr>
          <p:spPr>
            <a:xfrm>
              <a:off x="6210300" y="1485900"/>
              <a:ext cx="5448300" cy="1276350"/>
            </a:xfrm>
            <a:prstGeom prst="roundRect">
              <a:avLst>
                <a:gd name="adj" fmla="val 1194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62700" y="1638300"/>
              <a:ext cx="47625" cy="971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5913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602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7.5.2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9342" y="16735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判定子代数只看封闭性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5204" y="2023110"/>
              <a:ext cx="37307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(B, ·, +, ¯, 0, 1) 是布尔代数，B 的子集 S 是 B 的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子代数的充要条件是：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85368" y="2466975"/>
              <a:ext cx="2298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 在运算 ·、+、¯ 下封闭</a:t>
              </a:r>
            </a:p>
          </p:txBody>
        </p:sp>
      </p:grpSp>
      <p:grpSp>
        <p:nvGrpSpPr>
          <p:cNvPr id="28" name="context"/>
          <p:cNvGrpSpPr/>
          <p:nvPr/>
        </p:nvGrpSpPr>
        <p:grpSpPr>
          <a:xfrm>
            <a:off x="561975" y="2932852"/>
            <a:ext cx="6526835" cy="264976"/>
            <a:chOff x="561975" y="2932852"/>
            <a:chExt cx="6526835" cy="264976"/>
          </a:xfrm>
        </p:grpSpPr>
        <p:grpSp>
          <p:nvGrpSpPr>
            <p:cNvPr id="26" name="Group 26"/>
            <p:cNvGrpSpPr/>
            <p:nvPr/>
          </p:nvGrpSpPr>
          <p:grpSpPr>
            <a:xfrm>
              <a:off x="561975" y="2932852"/>
              <a:ext cx="171450" cy="192186"/>
              <a:chOff x="561975" y="2932852"/>
              <a:chExt cx="171450" cy="19218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61975" y="2932852"/>
                <a:ext cx="171450" cy="192186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92186">
                    <a:moveTo>
                      <a:pt x="171450" y="134274"/>
                    </a:moveTo>
                    <a:lnTo>
                      <a:pt x="171450" y="57902"/>
                    </a:lnTo>
                    <a:cubicBezTo>
                      <a:pt x="171438" y="51137"/>
                      <a:pt x="167804" y="44897"/>
                      <a:pt x="161925" y="41548"/>
                    </a:cubicBezTo>
                    <a:lnTo>
                      <a:pt x="95250" y="3372"/>
                    </a:lnTo>
                    <a:cubicBezTo>
                      <a:pt x="89348" y="0"/>
                      <a:pt x="82102" y="0"/>
                      <a:pt x="76200" y="3372"/>
                    </a:cubicBezTo>
                    <a:lnTo>
                      <a:pt x="9525" y="41548"/>
                    </a:lnTo>
                    <a:cubicBezTo>
                      <a:pt x="3629" y="44929"/>
                      <a:pt x="0" y="51168"/>
                      <a:pt x="0" y="57912"/>
                    </a:cubicBezTo>
                    <a:lnTo>
                      <a:pt x="0" y="134283"/>
                    </a:lnTo>
                    <a:cubicBezTo>
                      <a:pt x="0" y="141037"/>
                      <a:pt x="3629" y="147266"/>
                      <a:pt x="9525" y="150638"/>
                    </a:cubicBezTo>
                    <a:lnTo>
                      <a:pt x="76200" y="188814"/>
                    </a:lnTo>
                    <a:cubicBezTo>
                      <a:pt x="82102" y="192186"/>
                      <a:pt x="89348" y="192186"/>
                      <a:pt x="95250" y="188814"/>
                    </a:cubicBezTo>
                    <a:lnTo>
                      <a:pt x="161925" y="150638"/>
                    </a:lnTo>
                    <a:cubicBezTo>
                      <a:pt x="167821" y="147256"/>
                      <a:pt x="171450" y="141018"/>
                      <a:pt x="171450" y="134274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7700" y="30289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7700" y="2980944"/>
                <a:ext cx="83153" cy="48006"/>
              </a:xfrm>
              <a:custGeom>
                <a:avLst/>
                <a:gdLst/>
                <a:ahLst/>
                <a:cxnLst/>
                <a:rect l="l" t="t" r="r" b="b"/>
                <a:pathLst>
                  <a:path w="83153" h="48006">
                    <a:moveTo>
                      <a:pt x="0" y="48006"/>
                    </a:moveTo>
                    <a:lnTo>
                      <a:pt x="8315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64547" y="2980944"/>
                <a:ext cx="83153" cy="48006"/>
              </a:xfrm>
              <a:custGeom>
                <a:avLst/>
                <a:gdLst/>
                <a:ahLst/>
                <a:cxnLst/>
                <a:rect l="l" t="t" r="r" b="b"/>
                <a:pathLst>
                  <a:path w="83153" h="48006">
                    <a:moveTo>
                      <a:pt x="0" y="0"/>
                    </a:moveTo>
                    <a:lnTo>
                      <a:pt x="83153" y="48006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31723" y="2948464"/>
              <a:ext cx="62570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例：S = {a, b, c}，(ρ(S), ∩, ∪, ¯, ∅, S) 是布尔代数。三个子集，三种结局：</a:t>
              </a:r>
            </a:p>
          </p:txBody>
        </p:sp>
      </p:grpSp>
      <p:grpSp>
        <p:nvGrpSpPr>
          <p:cNvPr id="62" name="case-s1"/>
          <p:cNvGrpSpPr/>
          <p:nvPr/>
        </p:nvGrpSpPr>
        <p:grpSpPr>
          <a:xfrm>
            <a:off x="533400" y="3295650"/>
            <a:ext cx="3657600" cy="2419350"/>
            <a:chOff x="533400" y="3295650"/>
            <a:chExt cx="3657600" cy="2419350"/>
          </a:xfrm>
        </p:grpSpPr>
        <p:sp>
          <p:nvSpPr>
            <p:cNvPr id="29" name="Rectangle 29"/>
            <p:cNvSpPr/>
            <p:nvPr/>
          </p:nvSpPr>
          <p:spPr>
            <a:xfrm>
              <a:off x="533400" y="3295650"/>
              <a:ext cx="3657600" cy="2419350"/>
            </a:xfrm>
            <a:prstGeom prst="roundRect">
              <a:avLst>
                <a:gd name="adj" fmla="val 629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8185" y="3440906"/>
              <a:ext cx="2668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(1) S₁ = {∅, {a}, {b,c}, {a,b,c}}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952500" y="3848100"/>
              <a:ext cx="962025" cy="1219200"/>
              <a:chOff x="952500" y="3848100"/>
              <a:chExt cx="962025" cy="1219200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952500" y="38481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47625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1428750" y="38481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1428750" y="38481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0" y="0"/>
                    </a:moveTo>
                    <a:lnTo>
                      <a:pt x="47625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952500" y="422910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95250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0" y="0"/>
                    </a:moveTo>
                    <a:lnTo>
                      <a:pt x="47625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95250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47625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142875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0" y="0"/>
                    </a:moveTo>
                    <a:lnTo>
                      <a:pt x="47625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142875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47625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1905000" y="422910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952500" y="46863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0" y="0"/>
                    </a:moveTo>
                    <a:lnTo>
                      <a:pt x="47625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1428750" y="46863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428750" y="46863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47625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914400" y="4191000"/>
              <a:ext cx="1028700" cy="533400"/>
              <a:chOff x="914400" y="4191000"/>
              <a:chExt cx="1028700" cy="53340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914400" y="41910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1390650" y="41910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1390650" y="46482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1866900" y="46482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885825" y="3781425"/>
              <a:ext cx="1085850" cy="1352550"/>
              <a:chOff x="885825" y="3781425"/>
              <a:chExt cx="1085850" cy="135255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1362075" y="37814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1838325" y="41624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885825" y="46196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1362075" y="50006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604682" y="3704749"/>
              <a:ext cx="1800512" cy="1600390"/>
              <a:chOff x="604682" y="3704749"/>
              <a:chExt cx="1800512" cy="1600390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1538097" y="3704749"/>
                <a:ext cx="5432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{a,b,c}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014347" y="4171474"/>
                <a:ext cx="3908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{b,c}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04682" y="4628674"/>
                <a:ext cx="2384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{a}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538097" y="5114449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∅</a:t>
                </a:r>
              </a:p>
            </p:txBody>
          </p:sp>
        </p:grpSp>
        <p:sp>
          <p:nvSpPr>
            <p:cNvPr id="59" name="Rectangle 59"/>
            <p:cNvSpPr/>
            <p:nvPr/>
          </p:nvSpPr>
          <p:spPr>
            <a:xfrm>
              <a:off x="2495550" y="3733800"/>
              <a:ext cx="1524000" cy="2857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47383" y="3812381"/>
              <a:ext cx="8203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是子代数 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90216" y="4191952"/>
              <a:ext cx="1224153" cy="891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{a} 与 {b,c} 互补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∅ 与 {a,b,c} 互补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两两求 ∩、∪ 仍在 S₁</a:t>
              </a:r>
              <a:br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 ∩、∪、¯ 都封闭</a:t>
              </a:r>
            </a:p>
          </p:txBody>
        </p:sp>
      </p:grpSp>
      <p:grpSp>
        <p:nvGrpSpPr>
          <p:cNvPr id="97" name="case-s2"/>
          <p:cNvGrpSpPr/>
          <p:nvPr/>
        </p:nvGrpSpPr>
        <p:grpSpPr>
          <a:xfrm>
            <a:off x="4305300" y="3295650"/>
            <a:ext cx="3657600" cy="2419350"/>
            <a:chOff x="4305300" y="3295650"/>
            <a:chExt cx="3657600" cy="2419350"/>
          </a:xfrm>
        </p:grpSpPr>
        <p:sp>
          <p:nvSpPr>
            <p:cNvPr id="63" name="Rectangle 63"/>
            <p:cNvSpPr/>
            <p:nvPr/>
          </p:nvSpPr>
          <p:spPr>
            <a:xfrm>
              <a:off x="4305300" y="3295650"/>
              <a:ext cx="3657600" cy="2419350"/>
            </a:xfrm>
            <a:prstGeom prst="roundRect">
              <a:avLst>
                <a:gd name="adj" fmla="val 6299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490085" y="3440906"/>
              <a:ext cx="30645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(2) S₂ = {∅, {a}, {b}, {a,b}, {a,b,c}}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4876800" y="3848100"/>
              <a:ext cx="962025" cy="1219200"/>
              <a:chOff x="4876800" y="3848100"/>
              <a:chExt cx="962025" cy="1219200"/>
            </a:xfrm>
          </p:grpSpPr>
          <p:sp>
            <p:nvSpPr>
              <p:cNvPr id="65" name="Line 65"/>
              <p:cNvSpPr/>
              <p:nvPr/>
            </p:nvSpPr>
            <p:spPr>
              <a:xfrm>
                <a:off x="4876800" y="38481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47625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5353050" y="38481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5353050" y="38481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0" y="0"/>
                    </a:moveTo>
                    <a:lnTo>
                      <a:pt x="47625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4876800" y="422910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69" name="Line 69"/>
              <p:cNvSpPr/>
              <p:nvPr/>
            </p:nvSpPr>
            <p:spPr>
              <a:xfrm>
                <a:off x="487680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0" y="0"/>
                    </a:moveTo>
                    <a:lnTo>
                      <a:pt x="47625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70" name="Line 70"/>
              <p:cNvSpPr/>
              <p:nvPr/>
            </p:nvSpPr>
            <p:spPr>
              <a:xfrm>
                <a:off x="487680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47625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71" name="Line 71"/>
              <p:cNvSpPr/>
              <p:nvPr/>
            </p:nvSpPr>
            <p:spPr>
              <a:xfrm>
                <a:off x="535305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0" y="0"/>
                    </a:moveTo>
                    <a:lnTo>
                      <a:pt x="47625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535305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47625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5829300" y="422910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4876800" y="46863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0" y="0"/>
                    </a:moveTo>
                    <a:lnTo>
                      <a:pt x="47625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5353050" y="46863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5353050" y="46863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47625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</p:grpSp>
        <p:grpSp>
          <p:nvGrpSpPr>
            <p:cNvPr id="81" name="Group 81"/>
            <p:cNvGrpSpPr/>
            <p:nvPr/>
          </p:nvGrpSpPr>
          <p:grpSpPr>
            <a:xfrm>
              <a:off x="5314950" y="4191000"/>
              <a:ext cx="552450" cy="533400"/>
              <a:chOff x="5314950" y="4191000"/>
              <a:chExt cx="552450" cy="533400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5314950" y="41910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5791200" y="41910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5791200" y="46482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</p:grpSp>
        <p:grpSp>
          <p:nvGrpSpPr>
            <p:cNvPr id="87" name="Group 87"/>
            <p:cNvGrpSpPr/>
            <p:nvPr/>
          </p:nvGrpSpPr>
          <p:grpSpPr>
            <a:xfrm>
              <a:off x="4810125" y="3781425"/>
              <a:ext cx="609600" cy="1352550"/>
              <a:chOff x="4810125" y="3781425"/>
              <a:chExt cx="609600" cy="1352550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5286375" y="37814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4810125" y="41624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4" name="Ellipse 84"/>
              <p:cNvSpPr/>
              <p:nvPr/>
            </p:nvSpPr>
            <p:spPr>
              <a:xfrm>
                <a:off x="4810125" y="46196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5286375" y="46196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6" name="Ellipse 86"/>
              <p:cNvSpPr/>
              <p:nvPr/>
            </p:nvSpPr>
            <p:spPr>
              <a:xfrm>
                <a:off x="5286375" y="50006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93" name="Group 93"/>
            <p:cNvGrpSpPr/>
            <p:nvPr/>
          </p:nvGrpSpPr>
          <p:grpSpPr>
            <a:xfrm>
              <a:off x="4376606" y="3704749"/>
              <a:ext cx="1629014" cy="1600390"/>
              <a:chOff x="4376606" y="3704749"/>
              <a:chExt cx="1629014" cy="1600390"/>
            </a:xfrm>
          </p:grpSpPr>
          <p:sp>
            <p:nvSpPr>
              <p:cNvPr id="88" name="TextBox 88"/>
              <p:cNvSpPr txBox="1"/>
              <p:nvPr/>
            </p:nvSpPr>
            <p:spPr>
              <a:xfrm>
                <a:off x="5462397" y="3704749"/>
                <a:ext cx="5432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{a,b,c}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4376606" y="4171474"/>
                <a:ext cx="3908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{a,b}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4528982" y="4628674"/>
                <a:ext cx="2384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{a}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5481447" y="4628674"/>
                <a:ext cx="2384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{b}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5462397" y="5114449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∅</a:t>
                </a:r>
              </a:p>
            </p:txBody>
          </p:sp>
        </p:grpSp>
        <p:sp>
          <p:nvSpPr>
            <p:cNvPr id="94" name="Rectangle 94"/>
            <p:cNvSpPr/>
            <p:nvPr/>
          </p:nvSpPr>
          <p:spPr>
            <a:xfrm>
              <a:off x="6172200" y="3733800"/>
              <a:ext cx="1619250" cy="2857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496270" y="3812381"/>
              <a:ext cx="971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不是子代数 ✗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166866" y="4191952"/>
              <a:ext cx="1444180" cy="891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 ∩、∪ 封闭，是子格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 {a} 的补 {b,c} ∉ S₂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{a}、{b}、{a,b} 在 S₂</a:t>
              </a:r>
              <a:br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中没有余元素</a:t>
              </a:r>
            </a:p>
          </p:txBody>
        </p:sp>
      </p:grpSp>
      <p:grpSp>
        <p:nvGrpSpPr>
          <p:cNvPr id="130" name="case-s3"/>
          <p:cNvGrpSpPr/>
          <p:nvPr/>
        </p:nvGrpSpPr>
        <p:grpSpPr>
          <a:xfrm>
            <a:off x="8077200" y="3295650"/>
            <a:ext cx="3581400" cy="2419350"/>
            <a:chOff x="8077200" y="3295650"/>
            <a:chExt cx="3581400" cy="2419350"/>
          </a:xfrm>
        </p:grpSpPr>
        <p:sp>
          <p:nvSpPr>
            <p:cNvPr id="98" name="Rectangle 98"/>
            <p:cNvSpPr/>
            <p:nvPr/>
          </p:nvSpPr>
          <p:spPr>
            <a:xfrm>
              <a:off x="8077200" y="3295650"/>
              <a:ext cx="3581400" cy="2419350"/>
            </a:xfrm>
            <a:prstGeom prst="roundRect">
              <a:avLst>
                <a:gd name="adj" fmla="val 6299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261985" y="3440906"/>
              <a:ext cx="1370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(3) S₃ = {∅, {a}}</a:t>
              </a:r>
            </a:p>
          </p:txBody>
        </p:sp>
        <p:grpSp>
          <p:nvGrpSpPr>
            <p:cNvPr id="112" name="Group 112"/>
            <p:cNvGrpSpPr/>
            <p:nvPr/>
          </p:nvGrpSpPr>
          <p:grpSpPr>
            <a:xfrm>
              <a:off x="8496300" y="3848100"/>
              <a:ext cx="962025" cy="1219200"/>
              <a:chOff x="8496300" y="3848100"/>
              <a:chExt cx="962025" cy="1219200"/>
            </a:xfrm>
          </p:grpSpPr>
          <p:sp>
            <p:nvSpPr>
              <p:cNvPr id="100" name="Line 100"/>
              <p:cNvSpPr/>
              <p:nvPr/>
            </p:nvSpPr>
            <p:spPr>
              <a:xfrm>
                <a:off x="8496300" y="38481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47625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1" name="Line 101"/>
              <p:cNvSpPr/>
              <p:nvPr/>
            </p:nvSpPr>
            <p:spPr>
              <a:xfrm>
                <a:off x="8972550" y="38481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2" name="Line 102"/>
              <p:cNvSpPr/>
              <p:nvPr/>
            </p:nvSpPr>
            <p:spPr>
              <a:xfrm>
                <a:off x="8972550" y="38481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0" y="0"/>
                    </a:moveTo>
                    <a:lnTo>
                      <a:pt x="47625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3" name="Line 103"/>
              <p:cNvSpPr/>
              <p:nvPr/>
            </p:nvSpPr>
            <p:spPr>
              <a:xfrm>
                <a:off x="8496300" y="422910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4" name="Line 104"/>
              <p:cNvSpPr/>
              <p:nvPr/>
            </p:nvSpPr>
            <p:spPr>
              <a:xfrm>
                <a:off x="849630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0" y="0"/>
                    </a:moveTo>
                    <a:lnTo>
                      <a:pt x="47625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5" name="Line 105"/>
              <p:cNvSpPr/>
              <p:nvPr/>
            </p:nvSpPr>
            <p:spPr>
              <a:xfrm>
                <a:off x="849630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47625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6" name="Line 106"/>
              <p:cNvSpPr/>
              <p:nvPr/>
            </p:nvSpPr>
            <p:spPr>
              <a:xfrm>
                <a:off x="897255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0" y="0"/>
                    </a:moveTo>
                    <a:lnTo>
                      <a:pt x="47625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7" name="Line 107"/>
              <p:cNvSpPr/>
              <p:nvPr/>
            </p:nvSpPr>
            <p:spPr>
              <a:xfrm>
                <a:off x="8972550" y="4229100"/>
                <a:ext cx="4762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57200">
                    <a:moveTo>
                      <a:pt x="47625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8" name="Line 108"/>
              <p:cNvSpPr/>
              <p:nvPr/>
            </p:nvSpPr>
            <p:spPr>
              <a:xfrm>
                <a:off x="9448800" y="422910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09" name="Line 109"/>
              <p:cNvSpPr/>
              <p:nvPr/>
            </p:nvSpPr>
            <p:spPr>
              <a:xfrm>
                <a:off x="8496300" y="46863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0" y="0"/>
                    </a:moveTo>
                    <a:lnTo>
                      <a:pt x="47625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10" name="Line 110"/>
              <p:cNvSpPr/>
              <p:nvPr/>
            </p:nvSpPr>
            <p:spPr>
              <a:xfrm>
                <a:off x="8972550" y="46863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  <p:sp>
            <p:nvSpPr>
              <p:cNvPr id="111" name="Line 111"/>
              <p:cNvSpPr/>
              <p:nvPr/>
            </p:nvSpPr>
            <p:spPr>
              <a:xfrm>
                <a:off x="8972550" y="468630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47625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4288">
                <a:solidFill>
                  <a:srgbClr val="AEB9D6"/>
                </a:solidFill>
              </a:ln>
            </p:spPr>
          </p:sp>
        </p:grpSp>
        <p:grpSp>
          <p:nvGrpSpPr>
            <p:cNvPr id="118" name="Group 118"/>
            <p:cNvGrpSpPr/>
            <p:nvPr/>
          </p:nvGrpSpPr>
          <p:grpSpPr>
            <a:xfrm>
              <a:off x="8458200" y="4191000"/>
              <a:ext cx="1028700" cy="533400"/>
              <a:chOff x="8458200" y="4191000"/>
              <a:chExt cx="1028700" cy="533400"/>
            </a:xfrm>
          </p:grpSpPr>
          <p:sp>
            <p:nvSpPr>
              <p:cNvPr id="113" name="Ellipse 113"/>
              <p:cNvSpPr/>
              <p:nvPr/>
            </p:nvSpPr>
            <p:spPr>
              <a:xfrm>
                <a:off x="8458200" y="41910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14" name="Ellipse 114"/>
              <p:cNvSpPr/>
              <p:nvPr/>
            </p:nvSpPr>
            <p:spPr>
              <a:xfrm>
                <a:off x="8934450" y="41910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15" name="Ellipse 115"/>
              <p:cNvSpPr/>
              <p:nvPr/>
            </p:nvSpPr>
            <p:spPr>
              <a:xfrm>
                <a:off x="9410700" y="41910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16" name="Ellipse 116"/>
              <p:cNvSpPr/>
              <p:nvPr/>
            </p:nvSpPr>
            <p:spPr>
              <a:xfrm>
                <a:off x="8934450" y="46482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9410700" y="4648200"/>
                <a:ext cx="76200" cy="762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</p:grpSp>
        <p:sp>
          <p:nvSpPr>
            <p:cNvPr id="119" name="Ellipse 119"/>
            <p:cNvSpPr/>
            <p:nvPr/>
          </p:nvSpPr>
          <p:spPr>
            <a:xfrm>
              <a:off x="8886825" y="376237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B42318"/>
              </a:solidFill>
              <a:custDash>
                <a:ds d="150000" sp="100000"/>
              </a:custDash>
            </a:ln>
          </p:spPr>
        </p:sp>
        <p:grpSp>
          <p:nvGrpSpPr>
            <p:cNvPr id="122" name="Group 122"/>
            <p:cNvGrpSpPr/>
            <p:nvPr/>
          </p:nvGrpSpPr>
          <p:grpSpPr>
            <a:xfrm>
              <a:off x="8429625" y="4619625"/>
              <a:ext cx="609600" cy="514350"/>
              <a:chOff x="8429625" y="4619625"/>
              <a:chExt cx="609600" cy="514350"/>
            </a:xfrm>
          </p:grpSpPr>
          <p:sp>
            <p:nvSpPr>
              <p:cNvPr id="120" name="Ellipse 120"/>
              <p:cNvSpPr/>
              <p:nvPr/>
            </p:nvSpPr>
            <p:spPr>
              <a:xfrm>
                <a:off x="8429625" y="46196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8905875" y="50006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26" name="Group 126"/>
            <p:cNvGrpSpPr/>
            <p:nvPr/>
          </p:nvGrpSpPr>
          <p:grpSpPr>
            <a:xfrm>
              <a:off x="8148482" y="3685699"/>
              <a:ext cx="1350636" cy="1619440"/>
              <a:chOff x="8148482" y="3685699"/>
              <a:chExt cx="1350636" cy="1619440"/>
            </a:xfrm>
          </p:grpSpPr>
          <p:sp>
            <p:nvSpPr>
              <p:cNvPr id="123" name="TextBox 123"/>
              <p:cNvSpPr txBox="1"/>
              <p:nvPr/>
            </p:nvSpPr>
            <p:spPr>
              <a:xfrm>
                <a:off x="9100947" y="3685699"/>
                <a:ext cx="3981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B42318"/>
                    </a:solidFill>
                    <a:latin typeface="Cambria Math"/>
                    <a:ea typeface="Microsoft YaHei"/>
                    <a:cs typeface="Cambria Math"/>
                  </a:rPr>
                  <a:t>缺少 S</a:t>
                </a: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8148482" y="4628674"/>
                <a:ext cx="2384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{a}</a:t>
                </a:r>
              </a:p>
            </p:txBody>
          </p:sp>
          <p:sp>
            <p:nvSpPr>
              <p:cNvPr id="125" name="TextBox 125"/>
              <p:cNvSpPr txBox="1"/>
              <p:nvPr/>
            </p:nvSpPr>
            <p:spPr>
              <a:xfrm>
                <a:off x="9081897" y="5114449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∅</a:t>
                </a:r>
              </a:p>
            </p:txBody>
          </p:sp>
        </p:grpSp>
        <p:sp>
          <p:nvSpPr>
            <p:cNvPr id="127" name="Rectangle 127"/>
            <p:cNvSpPr/>
            <p:nvPr/>
          </p:nvSpPr>
          <p:spPr>
            <a:xfrm>
              <a:off x="9867900" y="3733800"/>
              <a:ext cx="1619250" cy="2857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10191970" y="3812381"/>
              <a:ext cx="971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不是子代数 ✗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862566" y="4191952"/>
              <a:ext cx="1384173" cy="891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(S₃, ∩, ∪, ¯, ∅, {a})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自身是布尔代数，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但不含 ρ(S) 的</a:t>
              </a:r>
              <a:br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最大元素 S</a:t>
              </a:r>
            </a:p>
          </p:txBody>
        </p:sp>
      </p:grpSp>
      <p:grpSp>
        <p:nvGrpSpPr>
          <p:cNvPr id="13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31" name="Rectangle 13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74700" y="6003925"/>
              <a:ext cx="203199" cy="203199"/>
              <a:chOff x="774700" y="6003925"/>
              <a:chExt cx="203199" cy="203199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774700" y="6003925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101600" y="0"/>
                    </a:moveTo>
                    <a:lnTo>
                      <a:pt x="0" y="50800"/>
                    </a:lnTo>
                    <a:lnTo>
                      <a:pt x="101600" y="101600"/>
                    </a:lnTo>
                    <a:lnTo>
                      <a:pt x="203199" y="5080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774700" y="6105525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774700" y="6156324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4618" y="6003608"/>
              <a:ext cx="74578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子代数 ⇔ 对 ·、+、¯ 封闭；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自己是布尔代数但缺了原来的 0 或 1，也不行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4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38" name="TextBox 138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2935224" cy="960501"/>
            <a:chOff x="519684" y="361950"/>
            <a:chExt cx="293522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381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044" y="432435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布尔代数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练一练：布尔代数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q1"/>
          <p:cNvGrpSpPr/>
          <p:nvPr/>
        </p:nvGrpSpPr>
        <p:grpSpPr>
          <a:xfrm>
            <a:off x="533400" y="1485900"/>
            <a:ext cx="4495800" cy="2038350"/>
            <a:chOff x="533400" y="1485900"/>
            <a:chExt cx="4495800" cy="20383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495800" cy="2038350"/>
            </a:xfrm>
            <a:prstGeom prst="roundRect">
              <a:avLst>
                <a:gd name="adj" fmla="val 747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6383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001" y="1705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273" y="1700689"/>
              <a:ext cx="3822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 L 既是链又是布尔代数，画出 L 的 Hasse 图。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2038350"/>
              <a:ext cx="4191000" cy="1333500"/>
            </a:xfrm>
            <a:prstGeom prst="roundRect">
              <a:avLst>
                <a:gd name="adj" fmla="val 857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257300" y="23241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81100" y="22479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81100" y="2971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2273" y="2243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2273" y="29675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0804" y="2270760"/>
              <a:ext cx="1737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答：两个元素的链 0 &lt;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1566" y="2610802"/>
              <a:ext cx="201091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多于 2 个元素的链中，中间元素 x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 0 &lt; x &lt; 1，没有余元素，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所以不是布尔代数。</a:t>
              </a:r>
            </a:p>
          </p:txBody>
        </p:sp>
      </p:grpSp>
      <p:grpSp>
        <p:nvGrpSpPr>
          <p:cNvPr id="27" name="q2"/>
          <p:cNvGrpSpPr/>
          <p:nvPr/>
        </p:nvGrpSpPr>
        <p:grpSpPr>
          <a:xfrm>
            <a:off x="533400" y="3676650"/>
            <a:ext cx="4495800" cy="2038350"/>
            <a:chOff x="533400" y="3676650"/>
            <a:chExt cx="4495800" cy="2038350"/>
          </a:xfrm>
        </p:grpSpPr>
        <p:sp>
          <p:nvSpPr>
            <p:cNvPr id="20" name="Rectangle 20"/>
            <p:cNvSpPr/>
            <p:nvPr/>
          </p:nvSpPr>
          <p:spPr>
            <a:xfrm>
              <a:off x="533400" y="3676650"/>
              <a:ext cx="4495800" cy="2038350"/>
            </a:xfrm>
            <a:prstGeom prst="roundRect">
              <a:avLst>
                <a:gd name="adj" fmla="val 747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85800" y="3829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3001" y="3896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273" y="3891439"/>
              <a:ext cx="3117850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布尔代数 B 中元素数最少的子布尔代数 S，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的元素数是多少？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5800" y="4476750"/>
              <a:ext cx="4191000" cy="1085850"/>
            </a:xfrm>
            <a:prstGeom prst="roundRect">
              <a:avLst>
                <a:gd name="adj" fmla="val 1052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823" y="4643914"/>
              <a:ext cx="1764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答：2 个，S = {0, 1}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6"/>
                <p:cNvSpPr txBox="1"/>
                <p:nvPr/>
              </p:nvSpPr>
              <p:spPr>
                <a:xfrm>
                  <a:off x="870966" y="4932616"/>
                  <a:ext cx="2857691" cy="4480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子代数必须含 0 和 1；且 {0, 1} 对 ·、+ 封闭，</a:t>
                  </a:r>
                  <a:br/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0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0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a14:m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，</a:t>
                  </a:r>
                  <a14:m>
                    <m:oMath xmlns:a="http://schemas.openxmlformats.org/drawingml/2006/main" xmlns:m="http://schemas.openxmlformats.org/officeDocument/2006/math">
                      <m:bar>
                        <m:barPr>
                          <m:pos m:val="top"/>
                          <m:ctrlP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0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0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0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a14:m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，对 ¯ 也封闭。</a:t>
                  </a:r>
                </a:p>
              </p:txBody>
            </p:sp>
          </mc:Choice>
        </mc:AlternateContent>
      </p:grpSp>
      <p:grpSp>
        <p:nvGrpSpPr>
          <p:cNvPr id="120" name="q3"/>
          <p:cNvGrpSpPr/>
          <p:nvPr/>
        </p:nvGrpSpPr>
        <p:grpSpPr>
          <a:xfrm>
            <a:off x="5181600" y="1485900"/>
            <a:ext cx="6477000" cy="4229100"/>
            <a:chOff x="5181600" y="1485900"/>
            <a:chExt cx="6477000" cy="4229100"/>
          </a:xfrm>
        </p:grpSpPr>
        <p:sp>
          <p:nvSpPr>
            <p:cNvPr id="28" name="Rectangle 28"/>
            <p:cNvSpPr/>
            <p:nvPr/>
          </p:nvSpPr>
          <p:spPr>
            <a:xfrm>
              <a:off x="5181600" y="1485900"/>
              <a:ext cx="6477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334000" y="16383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21201" y="1705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89473" y="1700689"/>
              <a:ext cx="316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下述部分序集中能构成布尔代数的是（ 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591800" y="163830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805190" y="170878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</a:t>
              </a:r>
            </a:p>
          </p:txBody>
        </p:sp>
        <p:grpSp>
          <p:nvGrpSpPr>
            <p:cNvPr id="51" name="tile-a"/>
            <p:cNvGrpSpPr/>
            <p:nvPr/>
          </p:nvGrpSpPr>
          <p:grpSpPr>
            <a:xfrm>
              <a:off x="5334000" y="2095500"/>
              <a:ext cx="1447800" cy="3467100"/>
              <a:chOff x="5334000" y="2095500"/>
              <a:chExt cx="1447800" cy="34671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334000" y="2095500"/>
                <a:ext cx="1447800" cy="3467100"/>
              </a:xfrm>
              <a:prstGeom prst="roundRect">
                <a:avLst>
                  <a:gd name="adj" fmla="val 921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5695950" y="2495550"/>
                <a:ext cx="723900" cy="1085850"/>
                <a:chOff x="5695950" y="2495550"/>
                <a:chExt cx="723900" cy="1085850"/>
              </a:xfrm>
            </p:grpSpPr>
            <p:sp>
              <p:nvSpPr>
                <p:cNvPr id="35" name="Line 35"/>
                <p:cNvSpPr/>
                <p:nvPr/>
              </p:nvSpPr>
              <p:spPr>
                <a:xfrm>
                  <a:off x="5695950" y="2495550"/>
                  <a:ext cx="36195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0" h="304800">
                      <a:moveTo>
                        <a:pt x="0" y="0"/>
                      </a:moveTo>
                      <a:lnTo>
                        <a:pt x="36195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6" name="Line 36"/>
                <p:cNvSpPr/>
                <p:nvPr/>
              </p:nvSpPr>
              <p:spPr>
                <a:xfrm>
                  <a:off x="6057900" y="2495550"/>
                  <a:ext cx="36195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0" h="304800">
                      <a:moveTo>
                        <a:pt x="36195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7" name="Line 37"/>
                <p:cNvSpPr/>
                <p:nvPr/>
              </p:nvSpPr>
              <p:spPr>
                <a:xfrm>
                  <a:off x="6057900" y="2800350"/>
                  <a:ext cx="952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0">
                      <a:moveTo>
                        <a:pt x="0" y="0"/>
                      </a:moveTo>
                      <a:lnTo>
                        <a:pt x="0" y="4762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8" name="Line 38"/>
                <p:cNvSpPr/>
                <p:nvPr/>
              </p:nvSpPr>
              <p:spPr>
                <a:xfrm>
                  <a:off x="5695950" y="3276600"/>
                  <a:ext cx="36195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0" h="304800">
                      <a:moveTo>
                        <a:pt x="36195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9" name="Line 39"/>
                <p:cNvSpPr/>
                <p:nvPr/>
              </p:nvSpPr>
              <p:spPr>
                <a:xfrm>
                  <a:off x="6057900" y="3276600"/>
                  <a:ext cx="36195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0" h="304800">
                      <a:moveTo>
                        <a:pt x="0" y="0"/>
                      </a:moveTo>
                      <a:lnTo>
                        <a:pt x="36195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5648325" y="2447925"/>
                <a:ext cx="819150" cy="1181100"/>
                <a:chOff x="5648325" y="2447925"/>
                <a:chExt cx="819150" cy="1181100"/>
              </a:xfrm>
            </p:grpSpPr>
            <p:sp>
              <p:nvSpPr>
                <p:cNvPr id="41" name="Ellipse 41"/>
                <p:cNvSpPr/>
                <p:nvPr/>
              </p:nvSpPr>
              <p:spPr>
                <a:xfrm>
                  <a:off x="5648325" y="244792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6372225" y="244792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6010275" y="275272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4" name="Ellipse 44"/>
                <p:cNvSpPr/>
                <p:nvPr/>
              </p:nvSpPr>
              <p:spPr>
                <a:xfrm>
                  <a:off x="6010275" y="322897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5" name="Ellipse 45"/>
                <p:cNvSpPr/>
                <p:nvPr/>
              </p:nvSpPr>
              <p:spPr>
                <a:xfrm>
                  <a:off x="5648325" y="353377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6" name="Ellipse 46"/>
                <p:cNvSpPr/>
                <p:nvPr/>
              </p:nvSpPr>
              <p:spPr>
                <a:xfrm>
                  <a:off x="6372225" y="353377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5981750" y="40128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699234" y="4347210"/>
                <a:ext cx="7173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不是格 ✗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481447" y="4657249"/>
                <a:ext cx="881126" cy="571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两个极大元，</a:t>
                </a:r>
                <a:br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两个极小元，</a:t>
                </a:r>
                <a:br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上下都没有确界</a:t>
                </a:r>
              </a:p>
            </p:txBody>
          </p:sp>
        </p:grpSp>
        <p:grpSp>
          <p:nvGrpSpPr>
            <p:cNvPr id="69" name="tile-b"/>
            <p:cNvGrpSpPr/>
            <p:nvPr/>
          </p:nvGrpSpPr>
          <p:grpSpPr>
            <a:xfrm>
              <a:off x="6915150" y="2095500"/>
              <a:ext cx="1447800" cy="3467100"/>
              <a:chOff x="6915150" y="2095500"/>
              <a:chExt cx="1447800" cy="34671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915150" y="2095500"/>
                <a:ext cx="1447800" cy="3467100"/>
              </a:xfrm>
              <a:prstGeom prst="roundRect">
                <a:avLst>
                  <a:gd name="adj" fmla="val 921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7143750" y="2457450"/>
                <a:ext cx="990600" cy="1333500"/>
                <a:chOff x="7143750" y="2457450"/>
                <a:chExt cx="990600" cy="1333500"/>
              </a:xfrm>
            </p:grpSpPr>
            <p:sp>
              <p:nvSpPr>
                <p:cNvPr id="53" name="Line 53"/>
                <p:cNvSpPr/>
                <p:nvPr/>
              </p:nvSpPr>
              <p:spPr>
                <a:xfrm>
                  <a:off x="7143750" y="2457450"/>
                  <a:ext cx="4953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" h="304800">
                      <a:moveTo>
                        <a:pt x="49530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4" name="Line 54"/>
                <p:cNvSpPr/>
                <p:nvPr/>
              </p:nvSpPr>
              <p:spPr>
                <a:xfrm>
                  <a:off x="7639050" y="2457450"/>
                  <a:ext cx="4953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" h="304800">
                      <a:moveTo>
                        <a:pt x="0" y="0"/>
                      </a:moveTo>
                      <a:lnTo>
                        <a:pt x="495300" y="3048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5" name="Line 55"/>
                <p:cNvSpPr/>
                <p:nvPr/>
              </p:nvSpPr>
              <p:spPr>
                <a:xfrm>
                  <a:off x="7143750" y="2762250"/>
                  <a:ext cx="4953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" h="457200">
                      <a:moveTo>
                        <a:pt x="0" y="0"/>
                      </a:moveTo>
                      <a:lnTo>
                        <a:pt x="495300" y="4572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6" name="Line 56"/>
                <p:cNvSpPr/>
                <p:nvPr/>
              </p:nvSpPr>
              <p:spPr>
                <a:xfrm>
                  <a:off x="7639050" y="2762250"/>
                  <a:ext cx="4953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" h="457200">
                      <a:moveTo>
                        <a:pt x="49530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7" name="Line 57"/>
                <p:cNvSpPr/>
                <p:nvPr/>
              </p:nvSpPr>
              <p:spPr>
                <a:xfrm>
                  <a:off x="7143750" y="2762250"/>
                  <a:ext cx="495300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" h="1028700">
                      <a:moveTo>
                        <a:pt x="0" y="0"/>
                      </a:moveTo>
                      <a:lnTo>
                        <a:pt x="495300" y="1028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8" name="Line 58"/>
                <p:cNvSpPr/>
                <p:nvPr/>
              </p:nvSpPr>
              <p:spPr>
                <a:xfrm>
                  <a:off x="7639050" y="2762250"/>
                  <a:ext cx="495300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" h="1028700">
                      <a:moveTo>
                        <a:pt x="495300" y="0"/>
                      </a:moveTo>
                      <a:lnTo>
                        <a:pt x="0" y="10287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7096125" y="2409825"/>
                <a:ext cx="1085850" cy="400050"/>
                <a:chOff x="7096125" y="2409825"/>
                <a:chExt cx="1085850" cy="400050"/>
              </a:xfrm>
            </p:grpSpPr>
            <p:sp>
              <p:nvSpPr>
                <p:cNvPr id="60" name="Ellipse 60"/>
                <p:cNvSpPr/>
                <p:nvPr/>
              </p:nvSpPr>
              <p:spPr>
                <a:xfrm>
                  <a:off x="7591425" y="240982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1" name="Ellipse 61"/>
                <p:cNvSpPr/>
                <p:nvPr/>
              </p:nvSpPr>
              <p:spPr>
                <a:xfrm>
                  <a:off x="7096125" y="271462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2" name="Ellipse 62"/>
                <p:cNvSpPr/>
                <p:nvPr/>
              </p:nvSpPr>
              <p:spPr>
                <a:xfrm>
                  <a:off x="8086725" y="271462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64" name="Ellipse 64"/>
              <p:cNvSpPr/>
              <p:nvPr/>
            </p:nvSpPr>
            <p:spPr>
              <a:xfrm>
                <a:off x="7581900" y="31623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7581900" y="37338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562900" y="40128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280384" y="4347210"/>
                <a:ext cx="7173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不是格 ✗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62597" y="4657249"/>
                <a:ext cx="881126" cy="3811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橙色两个极小元</a:t>
                </a:r>
                <a:br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没有下确界</a:t>
                </a:r>
              </a:p>
            </p:txBody>
          </p:sp>
        </p:grpSp>
        <p:grpSp>
          <p:nvGrpSpPr>
            <p:cNvPr id="96" name="tile-c"/>
            <p:cNvGrpSpPr/>
            <p:nvPr/>
          </p:nvGrpSpPr>
          <p:grpSpPr>
            <a:xfrm>
              <a:off x="8496300" y="2095500"/>
              <a:ext cx="1447800" cy="3467100"/>
              <a:chOff x="8496300" y="2095500"/>
              <a:chExt cx="1447800" cy="346710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8496300" y="2095500"/>
                <a:ext cx="1447800" cy="3467100"/>
              </a:xfrm>
              <a:prstGeom prst="roundRect">
                <a:avLst>
                  <a:gd name="adj" fmla="val 9211"/>
                </a:avLst>
              </a:prstGeom>
              <a:solidFill>
                <a:srgbClr val="E3F5F1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83" name="Group 83"/>
              <p:cNvGrpSpPr/>
              <p:nvPr/>
            </p:nvGrpSpPr>
            <p:grpSpPr>
              <a:xfrm>
                <a:off x="8801100" y="2457450"/>
                <a:ext cx="847725" cy="1200150"/>
                <a:chOff x="8801100" y="2457450"/>
                <a:chExt cx="847725" cy="1200150"/>
              </a:xfrm>
            </p:grpSpPr>
            <p:sp>
              <p:nvSpPr>
                <p:cNvPr id="71" name="Line 71"/>
                <p:cNvSpPr/>
                <p:nvPr/>
              </p:nvSpPr>
              <p:spPr>
                <a:xfrm>
                  <a:off x="8801100" y="2457450"/>
                  <a:ext cx="4191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61950">
                      <a:moveTo>
                        <a:pt x="41910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2" name="Line 72"/>
                <p:cNvSpPr/>
                <p:nvPr/>
              </p:nvSpPr>
              <p:spPr>
                <a:xfrm>
                  <a:off x="9220200" y="2457450"/>
                  <a:ext cx="9525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61950">
                      <a:moveTo>
                        <a:pt x="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3" name="Line 73"/>
                <p:cNvSpPr/>
                <p:nvPr/>
              </p:nvSpPr>
              <p:spPr>
                <a:xfrm>
                  <a:off x="9220200" y="2457450"/>
                  <a:ext cx="4191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61950">
                      <a:moveTo>
                        <a:pt x="0" y="0"/>
                      </a:moveTo>
                      <a:lnTo>
                        <a:pt x="41910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4" name="Line 74"/>
                <p:cNvSpPr/>
                <p:nvPr/>
              </p:nvSpPr>
              <p:spPr>
                <a:xfrm>
                  <a:off x="8801100" y="2819400"/>
                  <a:ext cx="952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0">
                      <a:moveTo>
                        <a:pt x="0" y="0"/>
                      </a:moveTo>
                      <a:lnTo>
                        <a:pt x="0" y="4762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5" name="Line 75"/>
                <p:cNvSpPr/>
                <p:nvPr/>
              </p:nvSpPr>
              <p:spPr>
                <a:xfrm>
                  <a:off x="8801100" y="2819400"/>
                  <a:ext cx="419100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476250">
                      <a:moveTo>
                        <a:pt x="0" y="0"/>
                      </a:moveTo>
                      <a:lnTo>
                        <a:pt x="419100" y="4762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6" name="Line 76"/>
                <p:cNvSpPr/>
                <p:nvPr/>
              </p:nvSpPr>
              <p:spPr>
                <a:xfrm>
                  <a:off x="8801100" y="2819400"/>
                  <a:ext cx="419100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476250">
                      <a:moveTo>
                        <a:pt x="419100" y="0"/>
                      </a:moveTo>
                      <a:lnTo>
                        <a:pt x="0" y="4762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7" name="Line 77"/>
                <p:cNvSpPr/>
                <p:nvPr/>
              </p:nvSpPr>
              <p:spPr>
                <a:xfrm>
                  <a:off x="9220200" y="2819400"/>
                  <a:ext cx="419100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476250">
                      <a:moveTo>
                        <a:pt x="0" y="0"/>
                      </a:moveTo>
                      <a:lnTo>
                        <a:pt x="419100" y="4762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8" name="Line 78"/>
                <p:cNvSpPr/>
                <p:nvPr/>
              </p:nvSpPr>
              <p:spPr>
                <a:xfrm>
                  <a:off x="9220200" y="2819400"/>
                  <a:ext cx="419100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476250">
                      <a:moveTo>
                        <a:pt x="419100" y="0"/>
                      </a:moveTo>
                      <a:lnTo>
                        <a:pt x="0" y="4762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9" name="Line 79"/>
                <p:cNvSpPr/>
                <p:nvPr/>
              </p:nvSpPr>
              <p:spPr>
                <a:xfrm>
                  <a:off x="9639300" y="2819400"/>
                  <a:ext cx="952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0">
                      <a:moveTo>
                        <a:pt x="0" y="0"/>
                      </a:moveTo>
                      <a:lnTo>
                        <a:pt x="0" y="4762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0" name="Line 80"/>
                <p:cNvSpPr/>
                <p:nvPr/>
              </p:nvSpPr>
              <p:spPr>
                <a:xfrm>
                  <a:off x="8801100" y="3295650"/>
                  <a:ext cx="4191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61950">
                      <a:moveTo>
                        <a:pt x="0" y="0"/>
                      </a:moveTo>
                      <a:lnTo>
                        <a:pt x="41910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1" name="Line 81"/>
                <p:cNvSpPr/>
                <p:nvPr/>
              </p:nvSpPr>
              <p:spPr>
                <a:xfrm>
                  <a:off x="9220200" y="3295650"/>
                  <a:ext cx="9525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61950">
                      <a:moveTo>
                        <a:pt x="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2" name="Line 82"/>
                <p:cNvSpPr/>
                <p:nvPr/>
              </p:nvSpPr>
              <p:spPr>
                <a:xfrm>
                  <a:off x="9220200" y="3295650"/>
                  <a:ext cx="4191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61950">
                      <a:moveTo>
                        <a:pt x="41910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92" name="Group 92"/>
              <p:cNvGrpSpPr/>
              <p:nvPr/>
            </p:nvGrpSpPr>
            <p:grpSpPr>
              <a:xfrm>
                <a:off x="8753475" y="2409825"/>
                <a:ext cx="933450" cy="1295400"/>
                <a:chOff x="8753475" y="2409825"/>
                <a:chExt cx="933450" cy="1295400"/>
              </a:xfrm>
            </p:grpSpPr>
            <p:sp>
              <p:nvSpPr>
                <p:cNvPr id="84" name="Ellipse 84"/>
                <p:cNvSpPr/>
                <p:nvPr/>
              </p:nvSpPr>
              <p:spPr>
                <a:xfrm>
                  <a:off x="9172575" y="2409825"/>
                  <a:ext cx="95250" cy="952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85" name="Ellipse 85"/>
                <p:cNvSpPr/>
                <p:nvPr/>
              </p:nvSpPr>
              <p:spPr>
                <a:xfrm>
                  <a:off x="8753475" y="2771775"/>
                  <a:ext cx="95250" cy="952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86" name="Ellipse 86"/>
                <p:cNvSpPr/>
                <p:nvPr/>
              </p:nvSpPr>
              <p:spPr>
                <a:xfrm>
                  <a:off x="9172575" y="2771775"/>
                  <a:ext cx="95250" cy="952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87" name="Ellipse 87"/>
                <p:cNvSpPr/>
                <p:nvPr/>
              </p:nvSpPr>
              <p:spPr>
                <a:xfrm>
                  <a:off x="9591675" y="2771775"/>
                  <a:ext cx="95250" cy="952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88" name="Ellipse 88"/>
                <p:cNvSpPr/>
                <p:nvPr/>
              </p:nvSpPr>
              <p:spPr>
                <a:xfrm>
                  <a:off x="8753475" y="3248025"/>
                  <a:ext cx="95250" cy="952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89" name="Ellipse 89"/>
                <p:cNvSpPr/>
                <p:nvPr/>
              </p:nvSpPr>
              <p:spPr>
                <a:xfrm>
                  <a:off x="9172575" y="3248025"/>
                  <a:ext cx="95250" cy="952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90" name="Ellipse 90"/>
                <p:cNvSpPr/>
                <p:nvPr/>
              </p:nvSpPr>
              <p:spPr>
                <a:xfrm>
                  <a:off x="9591675" y="3248025"/>
                  <a:ext cx="95250" cy="952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91" name="Ellipse 91"/>
                <p:cNvSpPr/>
                <p:nvPr/>
              </p:nvSpPr>
              <p:spPr>
                <a:xfrm>
                  <a:off x="9172575" y="3609975"/>
                  <a:ext cx="95250" cy="952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9144050" y="40128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8780762" y="4347210"/>
                <a:ext cx="8788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布尔代数 ✓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643747" y="4657249"/>
                <a:ext cx="874903" cy="571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 元立方体：</a:t>
                </a:r>
                <a:br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 维格 L³</a:t>
                </a:r>
                <a:br/>
                <a:r>
                  <a:rPr lang="el-G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≅ ρ({a, b, c})</a:t>
                </a:r>
              </a:p>
            </p:txBody>
          </p:sp>
        </p:grpSp>
        <p:grpSp>
          <p:nvGrpSpPr>
            <p:cNvPr id="119" name="tile-d"/>
            <p:cNvGrpSpPr/>
            <p:nvPr/>
          </p:nvGrpSpPr>
          <p:grpSpPr>
            <a:xfrm>
              <a:off x="10077450" y="2095500"/>
              <a:ext cx="1447800" cy="3467100"/>
              <a:chOff x="10077450" y="2095500"/>
              <a:chExt cx="1447800" cy="3467100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10077450" y="2095500"/>
                <a:ext cx="1447800" cy="3467100"/>
              </a:xfrm>
              <a:prstGeom prst="roundRect">
                <a:avLst>
                  <a:gd name="adj" fmla="val 921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106" name="Group 106"/>
              <p:cNvGrpSpPr/>
              <p:nvPr/>
            </p:nvGrpSpPr>
            <p:grpSpPr>
              <a:xfrm>
                <a:off x="10287000" y="2457450"/>
                <a:ext cx="1038225" cy="1200150"/>
                <a:chOff x="10287000" y="2457450"/>
                <a:chExt cx="1038225" cy="1200150"/>
              </a:xfrm>
            </p:grpSpPr>
            <p:sp>
              <p:nvSpPr>
                <p:cNvPr id="98" name="Line 98"/>
                <p:cNvSpPr/>
                <p:nvPr/>
              </p:nvSpPr>
              <p:spPr>
                <a:xfrm>
                  <a:off x="10287000" y="2457450"/>
                  <a:ext cx="51435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342900">
                      <a:moveTo>
                        <a:pt x="514350" y="0"/>
                      </a:moveTo>
                      <a:lnTo>
                        <a:pt x="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9" name="Line 99"/>
                <p:cNvSpPr/>
                <p:nvPr/>
              </p:nvSpPr>
              <p:spPr>
                <a:xfrm>
                  <a:off x="10801350" y="2457450"/>
                  <a:ext cx="51435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342900">
                      <a:moveTo>
                        <a:pt x="0" y="0"/>
                      </a:moveTo>
                      <a:lnTo>
                        <a:pt x="51435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0" name="Line 100"/>
                <p:cNvSpPr/>
                <p:nvPr/>
              </p:nvSpPr>
              <p:spPr>
                <a:xfrm>
                  <a:off x="10287000" y="2800350"/>
                  <a:ext cx="9525" cy="51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14350">
                      <a:moveTo>
                        <a:pt x="0" y="0"/>
                      </a:moveTo>
                      <a:lnTo>
                        <a:pt x="0" y="5143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1" name="Line 101"/>
                <p:cNvSpPr/>
                <p:nvPr/>
              </p:nvSpPr>
              <p:spPr>
                <a:xfrm>
                  <a:off x="11315700" y="2800350"/>
                  <a:ext cx="9525" cy="51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14350">
                      <a:moveTo>
                        <a:pt x="0" y="0"/>
                      </a:moveTo>
                      <a:lnTo>
                        <a:pt x="0" y="5143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2" name="Line 102"/>
                <p:cNvSpPr/>
                <p:nvPr/>
              </p:nvSpPr>
              <p:spPr>
                <a:xfrm>
                  <a:off x="10287000" y="2800350"/>
                  <a:ext cx="1028700" cy="51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8700" h="514350">
                      <a:moveTo>
                        <a:pt x="0" y="0"/>
                      </a:moveTo>
                      <a:lnTo>
                        <a:pt x="1028700" y="5143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3" name="Line 103"/>
                <p:cNvSpPr/>
                <p:nvPr/>
              </p:nvSpPr>
              <p:spPr>
                <a:xfrm>
                  <a:off x="10287000" y="2800350"/>
                  <a:ext cx="1028700" cy="51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8700" h="514350">
                      <a:moveTo>
                        <a:pt x="1028700" y="0"/>
                      </a:moveTo>
                      <a:lnTo>
                        <a:pt x="0" y="5143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4" name="Line 104"/>
                <p:cNvSpPr/>
                <p:nvPr/>
              </p:nvSpPr>
              <p:spPr>
                <a:xfrm>
                  <a:off x="10287000" y="3314700"/>
                  <a:ext cx="51435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342900">
                      <a:moveTo>
                        <a:pt x="0" y="0"/>
                      </a:moveTo>
                      <a:lnTo>
                        <a:pt x="51435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5" name="Line 105"/>
                <p:cNvSpPr/>
                <p:nvPr/>
              </p:nvSpPr>
              <p:spPr>
                <a:xfrm>
                  <a:off x="10801350" y="3314700"/>
                  <a:ext cx="51435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342900">
                      <a:moveTo>
                        <a:pt x="514350" y="0"/>
                      </a:moveTo>
                      <a:lnTo>
                        <a:pt x="0" y="342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09" name="Group 109"/>
              <p:cNvGrpSpPr/>
              <p:nvPr/>
            </p:nvGrpSpPr>
            <p:grpSpPr>
              <a:xfrm>
                <a:off x="10753725" y="2409825"/>
                <a:ext cx="95250" cy="1295400"/>
                <a:chOff x="10753725" y="2409825"/>
                <a:chExt cx="95250" cy="1295400"/>
              </a:xfrm>
            </p:grpSpPr>
            <p:sp>
              <p:nvSpPr>
                <p:cNvPr id="107" name="Ellipse 107"/>
                <p:cNvSpPr/>
                <p:nvPr/>
              </p:nvSpPr>
              <p:spPr>
                <a:xfrm>
                  <a:off x="10753725" y="240982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08" name="Ellipse 108"/>
                <p:cNvSpPr/>
                <p:nvPr/>
              </p:nvSpPr>
              <p:spPr>
                <a:xfrm>
                  <a:off x="10753725" y="3609975"/>
                  <a:ext cx="95250" cy="952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112" name="Group 112"/>
              <p:cNvGrpSpPr/>
              <p:nvPr/>
            </p:nvGrpSpPr>
            <p:grpSpPr>
              <a:xfrm>
                <a:off x="10229850" y="2743200"/>
                <a:ext cx="1143000" cy="114300"/>
                <a:chOff x="10229850" y="2743200"/>
                <a:chExt cx="1143000" cy="114300"/>
              </a:xfrm>
            </p:grpSpPr>
            <p:sp>
              <p:nvSpPr>
                <p:cNvPr id="110" name="Ellipse 110"/>
                <p:cNvSpPr/>
                <p:nvPr/>
              </p:nvSpPr>
              <p:spPr>
                <a:xfrm>
                  <a:off x="10229850" y="27432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11" name="Ellipse 111"/>
                <p:cNvSpPr/>
                <p:nvPr/>
              </p:nvSpPr>
              <p:spPr>
                <a:xfrm>
                  <a:off x="11258550" y="27432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  <p:grpSp>
            <p:nvGrpSpPr>
              <p:cNvPr id="115" name="Group 115"/>
              <p:cNvGrpSpPr/>
              <p:nvPr/>
            </p:nvGrpSpPr>
            <p:grpSpPr>
              <a:xfrm>
                <a:off x="10229850" y="3257550"/>
                <a:ext cx="1143000" cy="114300"/>
                <a:chOff x="10229850" y="3257550"/>
                <a:chExt cx="1143000" cy="114300"/>
              </a:xfrm>
            </p:grpSpPr>
            <p:sp>
              <p:nvSpPr>
                <p:cNvPr id="113" name="Ellipse 113"/>
                <p:cNvSpPr/>
                <p:nvPr/>
              </p:nvSpPr>
              <p:spPr>
                <a:xfrm>
                  <a:off x="10229850" y="3257550"/>
                  <a:ext cx="114300" cy="114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114" name="Ellipse 114"/>
                <p:cNvSpPr/>
                <p:nvPr/>
              </p:nvSpPr>
              <p:spPr>
                <a:xfrm>
                  <a:off x="11258550" y="3257550"/>
                  <a:ext cx="114300" cy="114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</p:grpSp>
          <p:sp>
            <p:nvSpPr>
              <p:cNvPr id="116" name="TextBox 116"/>
              <p:cNvSpPr txBox="1"/>
              <p:nvPr/>
            </p:nvSpPr>
            <p:spPr>
              <a:xfrm>
                <a:off x="10725200" y="40128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10442684" y="4347210"/>
                <a:ext cx="7173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不是格 ✗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10224897" y="4657249"/>
                <a:ext cx="1130046" cy="571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绿色两元的上界中，</a:t>
                </a:r>
                <a:br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橙色两元并列最小，</a:t>
                </a:r>
                <a:br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没有最小上界</a:t>
                </a:r>
              </a:p>
            </p:txBody>
          </p:sp>
        </p:grpSp>
      </p:grpSp>
      <p:grpSp>
        <p:nvGrpSpPr>
          <p:cNvPr id="126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21" name="Rectangle 12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24" name="Group 124"/>
            <p:cNvGrpSpPr/>
            <p:nvPr/>
          </p:nvGrpSpPr>
          <p:grpSpPr>
            <a:xfrm>
              <a:off x="774700" y="6008947"/>
              <a:ext cx="198178" cy="198178"/>
              <a:chOff x="774700" y="6008947"/>
              <a:chExt cx="198178" cy="198178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774700" y="6008947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895350" y="6035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25" name="TextBox 125"/>
            <p:cNvSpPr txBox="1"/>
            <p:nvPr/>
          </p:nvSpPr>
          <p:spPr>
            <a:xfrm>
              <a:off x="1134618" y="6003608"/>
              <a:ext cx="80045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既是链又是布尔代数只有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 &lt; 1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；最小子代数是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{0, 1}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；立方体 L³ 是布尔代数。</a:t>
              </a:r>
            </a:p>
          </p:txBody>
        </p:sp>
      </p:grpSp>
      <p:grpSp>
        <p:nvGrpSpPr>
          <p:cNvPr id="12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27" name="TextBox 127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2935224" cy="960501"/>
            <a:chOff x="519684" y="361950"/>
            <a:chExt cx="293522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0764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188" y="432435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易错点与判定模板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pitfalls"/>
          <p:cNvGrpSpPr/>
          <p:nvPr/>
        </p:nvGrpSpPr>
        <p:grpSpPr>
          <a:xfrm>
            <a:off x="533400" y="1511311"/>
            <a:ext cx="5562600" cy="4127489"/>
            <a:chOff x="533400" y="1511311"/>
            <a:chExt cx="5562600" cy="4127489"/>
          </a:xfrm>
        </p:grpSpPr>
        <p:grpSp>
          <p:nvGrpSpPr>
            <p:cNvPr id="10" name="Group 10"/>
            <p:cNvGrpSpPr/>
            <p:nvPr/>
          </p:nvGrpSpPr>
          <p:grpSpPr>
            <a:xfrm>
              <a:off x="551639" y="1511311"/>
              <a:ext cx="192114" cy="165051"/>
              <a:chOff x="551639" y="1511311"/>
              <a:chExt cx="192114" cy="1650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7700" y="15716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51639" y="15113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47700" y="1638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31342" y="1521142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 个易错点</a:t>
              </a:r>
            </a:p>
          </p:txBody>
        </p:sp>
        <p:grpSp>
          <p:nvGrpSpPr>
            <p:cNvPr id="17" name="pit-1"/>
            <p:cNvGrpSpPr/>
            <p:nvPr/>
          </p:nvGrpSpPr>
          <p:grpSpPr>
            <a:xfrm>
              <a:off x="533400" y="1809750"/>
              <a:ext cx="5562600" cy="590550"/>
              <a:chOff x="533400" y="1809750"/>
              <a:chExt cx="5562600" cy="5905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1809750"/>
                <a:ext cx="55626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685800" y="1952625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85458" y="20326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8042" y="1902142"/>
                <a:ext cx="9601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偏序集 ≠ 格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99185" y="2164556"/>
                <a:ext cx="33209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任意两个元素都要有 sup 与 inf，缺一对就不是格</a:t>
                </a:r>
              </a:p>
            </p:txBody>
          </p:sp>
        </p:grpSp>
        <p:grpSp>
          <p:nvGrpSpPr>
            <p:cNvPr id="23" name="pit-2"/>
            <p:cNvGrpSpPr/>
            <p:nvPr/>
          </p:nvGrpSpPr>
          <p:grpSpPr>
            <a:xfrm>
              <a:off x="533400" y="2457450"/>
              <a:ext cx="5562600" cy="590550"/>
              <a:chOff x="533400" y="2457450"/>
              <a:chExt cx="556260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2457450"/>
                <a:ext cx="55626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685800" y="2600325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5458" y="26803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98042" y="2549842"/>
                <a:ext cx="16870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偏序子格 ≠ 代数子格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99185" y="2812256"/>
                <a:ext cx="36933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还要对大格的 ×、⊕ 封闭（如 S₂ = {a₁, a₂, a₄, a₈}）</a:t>
                </a:r>
              </a:p>
            </p:txBody>
          </p:sp>
        </p:grpSp>
        <p:grpSp>
          <p:nvGrpSpPr>
            <p:cNvPr id="29" name="pit-3"/>
            <p:cNvGrpSpPr/>
            <p:nvPr/>
          </p:nvGrpSpPr>
          <p:grpSpPr>
            <a:xfrm>
              <a:off x="533400" y="3105150"/>
              <a:ext cx="5562600" cy="590550"/>
              <a:chOff x="533400" y="3105150"/>
              <a:chExt cx="5562600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105150"/>
                <a:ext cx="55626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85800" y="3248025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85458" y="33280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98042" y="3197542"/>
                <a:ext cx="16870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保序映射 ≠ 同态映射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99185" y="3459956"/>
                <a:ext cx="27932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同态 ⇒ 保序；反之不成立（σ₁、σ₂、σ₃）</a:t>
                </a:r>
              </a:p>
            </p:txBody>
          </p:sp>
        </p:grpSp>
        <p:grpSp>
          <p:nvGrpSpPr>
            <p:cNvPr id="35" name="pit-4"/>
            <p:cNvGrpSpPr/>
            <p:nvPr/>
          </p:nvGrpSpPr>
          <p:grpSpPr>
            <a:xfrm>
              <a:off x="533400" y="3752850"/>
              <a:ext cx="5562600" cy="590550"/>
              <a:chOff x="533400" y="3752850"/>
              <a:chExt cx="5562600" cy="5905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" y="3752850"/>
                <a:ext cx="55626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85800" y="3895725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85458" y="39757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98042" y="3845242"/>
                <a:ext cx="9601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有界 ≠ 有限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99185" y="4107656"/>
                <a:ext cx="373271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(ρ(N), ⊆) 有界却无限；(N, ≤) 无最大元，不是有界格</a:t>
                </a:r>
              </a:p>
            </p:txBody>
          </p:sp>
        </p:grpSp>
        <p:grpSp>
          <p:nvGrpSpPr>
            <p:cNvPr id="41" name="pit-5"/>
            <p:cNvGrpSpPr/>
            <p:nvPr/>
          </p:nvGrpSpPr>
          <p:grpSpPr>
            <a:xfrm>
              <a:off x="533400" y="4400550"/>
              <a:ext cx="5562600" cy="590550"/>
              <a:chOff x="533400" y="4400550"/>
              <a:chExt cx="5562600" cy="5905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4400550"/>
                <a:ext cx="55626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685800" y="4543425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85458" y="46234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98042" y="4492942"/>
                <a:ext cx="1323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有余 ≠ 余元唯一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99185" y="4755356"/>
                <a:ext cx="36526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五角格中 c 有两个余元素；分配格中余元若存在则唯一</a:t>
                </a:r>
              </a:p>
            </p:txBody>
          </p:sp>
        </p:grpSp>
        <p:grpSp>
          <p:nvGrpSpPr>
            <p:cNvPr id="47" name="pit-6"/>
            <p:cNvGrpSpPr/>
            <p:nvPr/>
          </p:nvGrpSpPr>
          <p:grpSpPr>
            <a:xfrm>
              <a:off x="533400" y="5048250"/>
              <a:ext cx="5562600" cy="590550"/>
              <a:chOff x="533400" y="5048250"/>
              <a:chExt cx="5562600" cy="5905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33400" y="5048250"/>
                <a:ext cx="55626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685800" y="5191125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85458" y="52711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98042" y="5140642"/>
                <a:ext cx="22127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子代数必须含原来的 0 和 1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99185" y="5403056"/>
                <a:ext cx="39541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{∅, {a}} 自身是布尔代数，却不是 ρ({a, b, c}) 的子代数</a:t>
                </a:r>
              </a:p>
            </p:txBody>
          </p:sp>
        </p:grpSp>
      </p:grpSp>
      <p:grpSp>
        <p:nvGrpSpPr>
          <p:cNvPr id="99" name="templates"/>
          <p:cNvGrpSpPr/>
          <p:nvPr/>
        </p:nvGrpSpPr>
        <p:grpSpPr>
          <a:xfrm>
            <a:off x="6286500" y="1521142"/>
            <a:ext cx="5372100" cy="4120992"/>
            <a:chOff x="6286500" y="1521142"/>
            <a:chExt cx="5372100" cy="4120992"/>
          </a:xfrm>
        </p:grpSpPr>
        <p:grpSp>
          <p:nvGrpSpPr>
            <p:cNvPr id="55" name="Group 55"/>
            <p:cNvGrpSpPr/>
            <p:nvPr/>
          </p:nvGrpSpPr>
          <p:grpSpPr>
            <a:xfrm>
              <a:off x="6319838" y="1528762"/>
              <a:ext cx="157162" cy="138113"/>
              <a:chOff x="6319838" y="1528762"/>
              <a:chExt cx="157162" cy="13811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319838" y="15287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319838" y="15859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319838" y="16430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391275" y="15430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391275" y="16002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391275" y="16573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584442" y="1521142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个判定模板</a:t>
              </a:r>
            </a:p>
          </p:txBody>
        </p:sp>
        <p:grpSp>
          <p:nvGrpSpPr>
            <p:cNvPr id="70" name="tpl-lattice"/>
            <p:cNvGrpSpPr/>
            <p:nvPr/>
          </p:nvGrpSpPr>
          <p:grpSpPr>
            <a:xfrm>
              <a:off x="6286500" y="1809750"/>
              <a:ext cx="5372100" cy="1238250"/>
              <a:chOff x="6286500" y="1809750"/>
              <a:chExt cx="5372100" cy="12382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6286500" y="1809750"/>
                <a:ext cx="537210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6477000" y="192405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580171" y="197548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模板 1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270242" y="19688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判断是不是格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6477000" y="226695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6507861" y="24203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极大元、极小元唯一？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017137" y="23583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8229600" y="226695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260461" y="24203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不可比的一对求上下界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769737" y="23583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9982200" y="226695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0059000" y="2420302"/>
                <a:ext cx="13323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sup、inf 唯一存在？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471285" y="2812256"/>
                <a:ext cx="21373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任一对没有 sup 或 inf ⇒ 不是格</a:t>
                </a:r>
              </a:p>
            </p:txBody>
          </p:sp>
        </p:grpSp>
        <p:grpSp>
          <p:nvGrpSpPr>
            <p:cNvPr id="84" name="tpl-distributive"/>
            <p:cNvGrpSpPr/>
            <p:nvPr/>
          </p:nvGrpSpPr>
          <p:grpSpPr>
            <a:xfrm>
              <a:off x="6286500" y="3124200"/>
              <a:ext cx="5372100" cy="1238250"/>
              <a:chOff x="6286500" y="3124200"/>
              <a:chExt cx="5372100" cy="123825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6286500" y="3124200"/>
                <a:ext cx="537210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6477000" y="323850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6580171" y="328993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模板 2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270242" y="32832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判断分配格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6477000" y="358140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6578537" y="37347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常见分配格直接判定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017137" y="36728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8229600" y="358140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248460" y="3734752"/>
                <a:ext cx="14481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哈斯图找 M₃、N₅ 子格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9769737" y="36728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9982200" y="358140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10154412" y="37347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找到即写反例计算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471285" y="4126706"/>
                <a:ext cx="250603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链、ρ(S)、(Sₙ, D)、Lⁿ 都是分配格</a:t>
                </a:r>
              </a:p>
            </p:txBody>
          </p:sp>
        </p:grpSp>
        <p:grpSp>
          <p:nvGrpSpPr>
            <p:cNvPr id="98" name="tpl-boolean"/>
            <p:cNvGrpSpPr/>
            <p:nvPr/>
          </p:nvGrpSpPr>
          <p:grpSpPr>
            <a:xfrm>
              <a:off x="6286500" y="4438650"/>
              <a:ext cx="5372100" cy="1203484"/>
              <a:chOff x="6286500" y="4438650"/>
              <a:chExt cx="5372100" cy="1203484"/>
            </a:xfrm>
          </p:grpSpPr>
          <p:sp>
            <p:nvSpPr>
              <p:cNvPr id="85" name="Rectangle 85"/>
              <p:cNvSpPr/>
              <p:nvPr/>
            </p:nvSpPr>
            <p:spPr>
              <a:xfrm>
                <a:off x="6286500" y="4438650"/>
                <a:ext cx="5372100" cy="1200150"/>
              </a:xfrm>
              <a:prstGeom prst="roundRect">
                <a:avLst>
                  <a:gd name="adj" fmla="val 11111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6477000" y="455295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6580171" y="460438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模板 3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270242" y="45977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判断布尔代数</a:t>
                </a:r>
              </a:p>
            </p:txBody>
          </p:sp>
          <p:sp>
            <p:nvSpPr>
              <p:cNvPr id="89" name="Rectangle 89"/>
              <p:cNvSpPr/>
              <p:nvPr/>
            </p:nvSpPr>
            <p:spPr>
              <a:xfrm>
                <a:off x="6477000" y="489585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6719888" y="50492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有界：有 0 和 1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8017137" y="49872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92" name="Rectangle 92"/>
              <p:cNvSpPr/>
              <p:nvPr/>
            </p:nvSpPr>
            <p:spPr>
              <a:xfrm>
                <a:off x="8229600" y="489585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8331137" y="50492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有余：每个元素有余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9769737" y="49872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95" name="Rectangle 95"/>
              <p:cNvSpPr/>
              <p:nvPr/>
            </p:nvSpPr>
            <p:spPr>
              <a:xfrm>
                <a:off x="9982200" y="4895850"/>
                <a:ext cx="1485900" cy="438150"/>
              </a:xfrm>
              <a:prstGeom prst="roundRect">
                <a:avLst>
                  <a:gd name="adj" fmla="val 2608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10164813" y="5049202"/>
                <a:ext cx="11206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分配：无 M₃、N₅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6471285" y="5422106"/>
                <a:ext cx="32380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三条都满足才是；有限布尔代数的元素个数为 2ⁿ</a:t>
                </a:r>
              </a:p>
            </p:txBody>
          </p:sp>
        </p:grpSp>
      </p:grpSp>
      <p:grpSp>
        <p:nvGrpSpPr>
          <p:cNvPr id="106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00" name="Rectangle 10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63600" y="60928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800" y="60420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134618" y="6003608"/>
              <a:ext cx="8844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“是”要逐条验证；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“不是”找一个反例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：缺确界的一对、跑出子集的结果、一个 M₃ 或 N₅。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7" name="TextBox 107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91489" cy="960501"/>
            <a:chOff x="519684" y="361950"/>
            <a:chExt cx="519148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0764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188" y="432435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第7章 格与布尔代数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914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本章小结：一张阶梯 + 五道自测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oncept-ladder"/>
          <p:cNvGrpSpPr/>
          <p:nvPr/>
        </p:nvGrpSpPr>
        <p:grpSpPr>
          <a:xfrm>
            <a:off x="533400" y="1504950"/>
            <a:ext cx="5524500" cy="4191000"/>
            <a:chOff x="533400" y="1504950"/>
            <a:chExt cx="5524500" cy="4191000"/>
          </a:xfrm>
        </p:grpSpPr>
        <p:sp>
          <p:nvSpPr>
            <p:cNvPr id="7" name="Line 7"/>
            <p:cNvSpPr/>
            <p:nvPr/>
          </p:nvSpPr>
          <p:spPr>
            <a:xfrm>
              <a:off x="3295650" y="19050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295650" y="27622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66900" y="3390900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428750" y="0"/>
                  </a:moveTo>
                  <a:lnTo>
                    <a:pt x="1428750" y="133350"/>
                  </a:lnTo>
                  <a:lnTo>
                    <a:pt x="0" y="133350"/>
                  </a:lnTo>
                  <a:lnTo>
                    <a:pt x="0" y="3238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5650" y="3524250"/>
              <a:ext cx="1428750" cy="190500"/>
            </a:xfrm>
            <a:custGeom>
              <a:avLst/>
              <a:gdLst/>
              <a:ahLst/>
              <a:cxnLst/>
              <a:rect l="l" t="t" r="r" b="b"/>
              <a:pathLst>
                <a:path w="1428750" h="190500">
                  <a:moveTo>
                    <a:pt x="0" y="0"/>
                  </a:moveTo>
                  <a:lnTo>
                    <a:pt x="1428750" y="0"/>
                  </a:lnTo>
                  <a:lnTo>
                    <a:pt x="1428750" y="190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66900" y="4248150"/>
              <a:ext cx="2857500" cy="152400"/>
            </a:xfrm>
            <a:custGeom>
              <a:avLst/>
              <a:gdLst/>
              <a:ahLst/>
              <a:cxnLst/>
              <a:rect l="l" t="t" r="r" b="b"/>
              <a:pathLst>
                <a:path w="2857500" h="152400">
                  <a:moveTo>
                    <a:pt x="0" y="0"/>
                  </a:moveTo>
                  <a:lnTo>
                    <a:pt x="0" y="152400"/>
                  </a:lnTo>
                  <a:lnTo>
                    <a:pt x="2857500" y="152400"/>
                  </a:lnTo>
                  <a:lnTo>
                    <a:pt x="2857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295650" y="44005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57400" y="1504950"/>
              <a:ext cx="2476500" cy="40005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78464" y="1616392"/>
              <a:ext cx="1234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偏序集 (L, ≤)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43097" y="1980724"/>
              <a:ext cx="1243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任意两元有 sup、inf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2152650"/>
              <a:ext cx="4762500" cy="609600"/>
            </a:xfrm>
            <a:prstGeom prst="roundRect">
              <a:avLst>
                <a:gd name="adj" fmla="val 2187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08356" y="2255996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格：偏序格 ⇔ 代数格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7481" y="25346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代数格：交换、结合、吸收（幂等可推出）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43097" y="2818924"/>
              <a:ext cx="1269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最小元 0、最大元 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57400" y="2990850"/>
              <a:ext cx="2476500" cy="400050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16186" y="3102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有界格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3900" y="3714750"/>
              <a:ext cx="22860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7436" y="3797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有余格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68273" y="40476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每个元素都有余元素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581400" y="3714750"/>
              <a:ext cx="22860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44936" y="3797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分配格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37589" y="4047649"/>
              <a:ext cx="15736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满足分配律（无 M₃、N₅）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295400" y="4591050"/>
              <a:ext cx="4000500" cy="590550"/>
            </a:xfrm>
            <a:prstGeom prst="roundRect">
              <a:avLst>
                <a:gd name="adj" fmla="val 225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7430" y="4695825"/>
              <a:ext cx="2076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布尔代数 = 有余分配格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22699" y="4971574"/>
              <a:ext cx="2545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等价定义：亨廷顿公理 H1–H4；余元素唯一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295900"/>
              <a:ext cx="5524500" cy="400050"/>
            </a:xfrm>
            <a:prstGeom prst="roundRect">
              <a:avLst>
                <a:gd name="adj" fmla="val 2857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3899" y="5415071"/>
              <a:ext cx="157041" cy="161688"/>
              <a:chOff x="723899" y="5415071"/>
              <a:chExt cx="157041" cy="1616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71525" y="5467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90575" y="5415071"/>
                <a:ext cx="90365" cy="90379"/>
              </a:xfrm>
              <a:custGeom>
                <a:avLst/>
                <a:gdLst/>
                <a:ahLst/>
                <a:cxnLst/>
                <a:rect l="l" t="t" r="r" b="b"/>
                <a:pathLst>
                  <a:path w="90365" h="90379">
                    <a:moveTo>
                      <a:pt x="0" y="23704"/>
                    </a:moveTo>
                    <a:lnTo>
                      <a:pt x="4410" y="18599"/>
                    </a:lnTo>
                    <a:cubicBezTo>
                      <a:pt x="23011" y="0"/>
                      <a:pt x="53168" y="2"/>
                      <a:pt x="71766" y="18603"/>
                    </a:cubicBezTo>
                    <a:cubicBezTo>
                      <a:pt x="90365" y="37204"/>
                      <a:pt x="90363" y="67361"/>
                      <a:pt x="71761" y="85959"/>
                    </a:cubicBezTo>
                    <a:lnTo>
                      <a:pt x="66675" y="90379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3899" y="5486400"/>
                <a:ext cx="85726" cy="90359"/>
              </a:xfrm>
              <a:custGeom>
                <a:avLst/>
                <a:gdLst/>
                <a:ahLst/>
                <a:cxnLst/>
                <a:rect l="l" t="t" r="r" b="b"/>
                <a:pathLst>
                  <a:path w="85726" h="90359">
                    <a:moveTo>
                      <a:pt x="85726" y="66675"/>
                    </a:moveTo>
                    <a:lnTo>
                      <a:pt x="81945" y="71761"/>
                    </a:lnTo>
                    <a:cubicBezTo>
                      <a:pt x="63138" y="90359"/>
                      <a:pt x="32867" y="90359"/>
                      <a:pt x="14060" y="71761"/>
                    </a:cubicBezTo>
                    <a:cubicBezTo>
                      <a:pt x="5063" y="62865"/>
                      <a:pt x="0" y="50738"/>
                      <a:pt x="0" y="38086"/>
                    </a:cubicBezTo>
                    <a:cubicBezTo>
                      <a:pt x="0" y="25433"/>
                      <a:pt x="5063" y="13306"/>
                      <a:pt x="14060" y="4410"/>
                    </a:cubicBezTo>
                    <a:lnTo>
                      <a:pt x="19051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03935" y="5431631"/>
              <a:ext cx="4287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贯穿各层：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子格 / 子代数看封闭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；同态保运算，同构 = 只差名字</a:t>
              </a:r>
            </a:p>
          </p:txBody>
        </p:sp>
      </p:grpSp>
      <p:grpSp>
        <p:nvGrpSpPr>
          <p:cNvPr id="70" name="self-test"/>
          <p:cNvGrpSpPr/>
          <p:nvPr/>
        </p:nvGrpSpPr>
        <p:grpSpPr>
          <a:xfrm>
            <a:off x="6324600" y="1485900"/>
            <a:ext cx="5334000" cy="4229100"/>
            <a:chOff x="6324600" y="1485900"/>
            <a:chExt cx="5334000" cy="4229100"/>
          </a:xfrm>
        </p:grpSpPr>
        <p:sp>
          <p:nvSpPr>
            <p:cNvPr id="38" name="Rectangle 38"/>
            <p:cNvSpPr/>
            <p:nvPr/>
          </p:nvSpPr>
          <p:spPr>
            <a:xfrm>
              <a:off x="6324600" y="1485900"/>
              <a:ext cx="5334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586538" y="1690688"/>
              <a:ext cx="200026" cy="200026"/>
              <a:chOff x="6586538" y="169068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86538" y="169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86550" y="1835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69882" y="17551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07530" y="170497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自测 5 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93858" y="1744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先遮住答案再作答</a:t>
              </a:r>
            </a:p>
          </p:txBody>
        </p:sp>
        <p:grpSp>
          <p:nvGrpSpPr>
            <p:cNvPr id="49" name="q-1"/>
            <p:cNvGrpSpPr/>
            <p:nvPr/>
          </p:nvGrpSpPr>
          <p:grpSpPr>
            <a:xfrm>
              <a:off x="6534150" y="2133600"/>
              <a:ext cx="3865474" cy="562356"/>
              <a:chOff x="6534150" y="2133600"/>
              <a:chExt cx="3865474" cy="562356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6534150" y="21336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614758" y="2194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889242" y="21783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为什么任意链都是格？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90004" y="2461260"/>
                <a:ext cx="35096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答：任意两元可比，inf 取较小者、sup 取较大者</a:t>
                </a:r>
              </a:p>
            </p:txBody>
          </p:sp>
        </p:grpSp>
        <p:grpSp>
          <p:nvGrpSpPr>
            <p:cNvPr id="54" name="q-2"/>
            <p:cNvGrpSpPr/>
            <p:nvPr/>
          </p:nvGrpSpPr>
          <p:grpSpPr>
            <a:xfrm>
              <a:off x="6534150" y="2857500"/>
              <a:ext cx="3760470" cy="562356"/>
              <a:chOff x="6534150" y="2857500"/>
              <a:chExt cx="3760470" cy="562356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6534150" y="2857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614758" y="2918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889242" y="29022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代数格要满足哪三条运算律？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890004" y="318516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答：交换律、结合律、吸收律（幂等律可推出）</a:t>
                </a:r>
              </a:p>
            </p:txBody>
          </p:sp>
        </p:grpSp>
        <p:grpSp>
          <p:nvGrpSpPr>
            <p:cNvPr id="59" name="q-3"/>
            <p:cNvGrpSpPr/>
            <p:nvPr/>
          </p:nvGrpSpPr>
          <p:grpSpPr>
            <a:xfrm>
              <a:off x="6534150" y="3581400"/>
              <a:ext cx="4099712" cy="562356"/>
              <a:chOff x="6534150" y="3581400"/>
              <a:chExt cx="4099712" cy="562356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6534150" y="3581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614758" y="3642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889242" y="3626168"/>
                <a:ext cx="35428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在 (S₁₂, D) 中，4 × 6 与 4 ⊕ 6 各是多少？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890004" y="3909060"/>
                <a:ext cx="37438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答：4 × 6 = gcd(4, 6) = 2，4 ⊕ 6 = lcm(4, 6) = 12</a:t>
                </a:r>
              </a:p>
            </p:txBody>
          </p:sp>
        </p:grpSp>
        <p:grpSp>
          <p:nvGrpSpPr>
            <p:cNvPr id="64" name="q-4"/>
            <p:cNvGrpSpPr/>
            <p:nvPr/>
          </p:nvGrpSpPr>
          <p:grpSpPr>
            <a:xfrm>
              <a:off x="6534150" y="4305300"/>
              <a:ext cx="3294774" cy="562356"/>
              <a:chOff x="6534150" y="4305300"/>
              <a:chExt cx="3294774" cy="562356"/>
            </a:xfrm>
          </p:grpSpPr>
          <p:sp>
            <p:nvSpPr>
              <p:cNvPr id="60" name="Ellipse 60"/>
              <p:cNvSpPr/>
              <p:nvPr/>
            </p:nvSpPr>
            <p:spPr>
              <a:xfrm>
                <a:off x="6534150" y="43053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614758" y="43662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9242" y="4350068"/>
                <a:ext cx="2939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判断分配格要找哪两种“病灶”子格？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890004" y="4632960"/>
                <a:ext cx="20293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答：钻石格 M₃ 与五角格 N₅</a:t>
                </a:r>
              </a:p>
            </p:txBody>
          </p:sp>
        </p:grpSp>
        <p:grpSp>
          <p:nvGrpSpPr>
            <p:cNvPr id="69" name="q-5"/>
            <p:cNvGrpSpPr/>
            <p:nvPr/>
          </p:nvGrpSpPr>
          <p:grpSpPr>
            <a:xfrm>
              <a:off x="6534150" y="5029200"/>
              <a:ext cx="3603727" cy="562356"/>
              <a:chOff x="6534150" y="5029200"/>
              <a:chExt cx="3603727" cy="562356"/>
            </a:xfrm>
          </p:grpSpPr>
          <p:sp>
            <p:nvSpPr>
              <p:cNvPr id="65" name="Ellipse 65"/>
              <p:cNvSpPr/>
              <p:nvPr/>
            </p:nvSpPr>
            <p:spPr>
              <a:xfrm>
                <a:off x="6534150" y="50292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6614758" y="5090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7" name="TextBox 67"/>
                  <p:cNvSpPr txBox="1"/>
                  <p:nvPr/>
                </p:nvSpPr>
                <p:spPr>
                  <a:xfrm>
                    <a:off x="6889242" y="5046536"/>
                    <a:ext cx="3248635" cy="2914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布尔代数中，a ≤ b 与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bar>
                          <m:barPr>
                            <m:pos m:val="top"/>
                            <m:ctrlP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bar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 有什么关系？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TextBox 68"/>
                  <p:cNvSpPr txBox="1"/>
                  <p:nvPr/>
                </p:nvSpPr>
                <p:spPr>
                  <a:xfrm>
                    <a:off x="6890004" y="5332476"/>
                    <a:ext cx="1425702" cy="2590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rgbClr val="0F7A68"/>
                        </a:solidFill>
                        <a:latin typeface="+mn-lt"/>
                        <a:ea typeface="+mn-ea"/>
                        <a:cs typeface="+mn-cs"/>
                      </a:rPr>
                      <a:t>答：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zh-CN" sz="120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20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</m:t>
                        </m:r>
                        <m:r>
                          <a:rPr lang="zh-CN" sz="120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bar>
                          <m:barPr>
                            <m:pos m:val="top"/>
                            <m:ctrlPr>
                              <a:rPr lang="zh-CN" sz="120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00" dirty="0">
                                <a:solidFill>
                                  <a:srgbClr val="0F7A6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0F7A6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a14:m>
                  </a:p>
                </p:txBody>
              </p:sp>
            </mc:Choice>
          </mc:AlternateContent>
        </p:grpSp>
      </p:grpSp>
      <p:grpSp>
        <p:nvGrpSpPr>
          <p:cNvPr id="76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1" name="Rectangle 7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134618" y="6003608"/>
              <a:ext cx="76244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格有两种语言（≤ 与 ×、⊕）；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加上有界、有余、分配，一步步走到布尔代数。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7" name="TextBox 77"/>
            <p:cNvSpPr txBox="1"/>
            <p:nvPr/>
          </p:nvSpPr>
          <p:spPr>
            <a:xfrm>
              <a:off x="528066" y="6573202"/>
              <a:ext cx="208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第7章 格与布尔代数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2_7_lattice_boolean">
  <a:themeElements>
    <a:clrScheme name="dm2_7_lattice_boolean">
      <a:dk1>
        <a:srgbClr val="1F2937"/>
      </a:dk1>
      <a:lt1>
        <a:srgbClr val="FFFFFF"/>
      </a:lt1>
      <a:dk2>
        <a:srgbClr val="1F497D"/>
      </a:dk2>
      <a:lt2>
        <a:srgbClr val="F4F6FB"/>
      </a:lt2>
      <a:accent1>
        <a:srgbClr val="2F4B9A"/>
      </a:accent1>
      <a:accent2>
        <a:srgbClr val="F26B3A"/>
      </a:accent2>
      <a:accent3>
        <a:srgbClr val="14A38B"/>
      </a:accent3>
      <a:accent4>
        <a:srgbClr val="2F4B9A"/>
      </a:accent4>
      <a:accent5>
        <a:srgbClr val="5B6475"/>
      </a:accent5>
      <a:accent6>
        <a:srgbClr val="D9DFEA"/>
      </a:accent6>
      <a:hlink>
        <a:srgbClr val="F26B3A"/>
      </a:hlink>
      <a:folHlink>
        <a:srgbClr val="14A38B"/>
      </a:folHlink>
    </a:clrScheme>
    <a:fontScheme name="dm2_7_lattice_boolea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2_7_lattice_boolea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2026-09-16T12:05:17Z</dcterms:created>
  <dcterms:modified xsi:type="dcterms:W3CDTF">2026-09-16T12:05:17Z</dcterms:modified>
  <cp:category/>
  <cp:contentStatus/>
</cp:coreProperties>
</file>