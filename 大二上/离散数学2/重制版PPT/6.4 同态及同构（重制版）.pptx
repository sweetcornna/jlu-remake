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2_6-4_homomorphis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2_6-4_homomorphis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e806cafb9474d8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f2142aecc037cfe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b8630cbb2de6d0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84d8505323c971e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d92519e9de27fd7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239000" cy="6858000"/>
          </a:xfrm>
          <a:prstGeom prst="rect">
            <a:avLst/>
          </a:prstGeom>
          <a:gradFill>
            <a:gsLst>
              <a:gs pos="0">
                <a:schemeClr val="lt1">
                  <a:alpha val="96000"/>
                </a:schemeClr>
              </a:gs>
              <a:gs pos="60000">
                <a:schemeClr val="lt1">
                  <a:alpha val="82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6" name="cover-title"/>
          <p:cNvGrpSpPr/>
          <p:nvPr/>
        </p:nvGrpSpPr>
        <p:grpSpPr>
          <a:xfrm>
            <a:off x="666750" y="1619250"/>
            <a:ext cx="4667250" cy="3371850"/>
            <a:chOff x="666750" y="1619250"/>
            <a:chExt cx="4667250" cy="3371850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971800" cy="3619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70204" y="1737360"/>
              <a:ext cx="2315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离散数学II · 第六章 群、环、域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320290"/>
              <a:ext cx="459202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</a:t>
              </a: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同态及同构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0515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5894" y="3523298"/>
              <a:ext cx="3016377" cy="800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一个映射，把群的</a:t>
              </a:r>
              <a:r>
                <a:rPr lang="zh-CN" sz="19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运算规律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原封不动地“搬”到另一边。</a:t>
              </a:r>
            </a:p>
          </p:txBody>
        </p:sp>
        <p:grpSp>
          <p:nvGrpSpPr>
            <p:cNvPr id="15" name="cover-parts"/>
            <p:cNvGrpSpPr/>
            <p:nvPr/>
          </p:nvGrpSpPr>
          <p:grpSpPr>
            <a:xfrm>
              <a:off x="685800" y="4610100"/>
              <a:ext cx="4648200" cy="381000"/>
              <a:chOff x="685800" y="4610100"/>
              <a:chExt cx="4648200" cy="381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4610100"/>
                <a:ext cx="1524000" cy="3810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00319" y="4712018"/>
                <a:ext cx="12949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6.4.1 同态映射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2324100" y="4610100"/>
                <a:ext cx="1524000" cy="3810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438619" y="4712018"/>
                <a:ext cx="12949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6.4.2 同构映射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3962400" y="4610100"/>
                <a:ext cx="1371600" cy="3810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091588" y="471201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6.4.3 同态核</a:t>
                </a:r>
              </a:p>
            </p:txBody>
          </p:sp>
        </p:grpSp>
      </p:grpSp>
      <p:grpSp>
        <p:nvGrpSpPr>
          <p:cNvPr id="18" name="cover-credit"/>
          <p:cNvGrpSpPr/>
          <p:nvPr/>
        </p:nvGrpSpPr>
        <p:grpSpPr>
          <a:xfrm>
            <a:off x="680466" y="6192202"/>
            <a:ext cx="5294928" cy="205359"/>
            <a:chOff x="680466" y="6192202"/>
            <a:chExt cx="529492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80466" y="6192202"/>
              <a:ext cx="5294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重制讲义 · 自学复习版 ｜ 据吉林大学计算机科学与技术学院《离散数学II》课件整理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08612" y="361950"/>
            <a:ext cx="4400192" cy="960501"/>
            <a:chOff x="508612" y="361950"/>
            <a:chExt cx="440019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19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08612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学习地图：我们走到了哪里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route"/>
          <p:cNvGrpSpPr/>
          <p:nvPr/>
        </p:nvGrpSpPr>
        <p:grpSpPr>
          <a:xfrm>
            <a:off x="533400" y="1866900"/>
            <a:ext cx="11125200" cy="1333881"/>
            <a:chOff x="533400" y="1866900"/>
            <a:chExt cx="11125200" cy="1333881"/>
          </a:xfrm>
        </p:grpSpPr>
        <p:sp>
          <p:nvSpPr>
            <p:cNvPr id="7" name="Freeform 7"/>
            <p:cNvSpPr/>
            <p:nvPr/>
          </p:nvSpPr>
          <p:spPr>
            <a:xfrm>
              <a:off x="533400" y="1866900"/>
              <a:ext cx="2514600" cy="914400"/>
            </a:xfrm>
            <a:prstGeom prst="homePlat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6860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387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991350" y="1866900"/>
              <a:ext cx="2514600" cy="914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1440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306068" y="2088832"/>
              <a:ext cx="9374695" cy="582169"/>
              <a:chOff x="1306068" y="2088832"/>
              <a:chExt cx="9374695" cy="58216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4756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0606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代数系统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7425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7301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群的定义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952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543931" y="2406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子群及其陪集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78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6.4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05712" y="24069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群的同态与同构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005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21836" y="2406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环与域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7715250" y="289560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7377" y="296608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▲ 你在这里</a:t>
              </a:r>
            </a:p>
          </p:txBody>
        </p:sp>
      </p:grpSp>
      <p:grpSp>
        <p:nvGrpSpPr>
          <p:cNvPr id="29" name="chapter-note"/>
          <p:cNvGrpSpPr/>
          <p:nvPr/>
        </p:nvGrpSpPr>
        <p:grpSpPr>
          <a:xfrm>
            <a:off x="526542" y="3352800"/>
            <a:ext cx="11132058" cy="381000"/>
            <a:chOff x="526542" y="3352800"/>
            <a:chExt cx="11132058" cy="381000"/>
          </a:xfrm>
        </p:grpSpPr>
        <p:sp>
          <p:nvSpPr>
            <p:cNvPr id="26" name="TextBox 26"/>
            <p:cNvSpPr txBox="1"/>
            <p:nvPr/>
          </p:nvSpPr>
          <p:spPr>
            <a:xfrm>
              <a:off x="526542" y="3454718"/>
              <a:ext cx="6092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第六章共 8 节，本套讲义覆盖 6.1–6.5（后 3 节：素域、多项式、有限域）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86700" y="3352800"/>
              <a:ext cx="3771900" cy="3810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12533" y="3454718"/>
              <a:ext cx="2720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另一条主线：第7章 格与布尔代数</a:t>
              </a:r>
            </a:p>
          </p:txBody>
        </p:sp>
      </p:grpSp>
      <p:grpSp>
        <p:nvGrpSpPr>
          <p:cNvPr id="49" name="goals"/>
          <p:cNvGrpSpPr/>
          <p:nvPr/>
        </p:nvGrpSpPr>
        <p:grpSpPr>
          <a:xfrm>
            <a:off x="525018" y="3974782"/>
            <a:ext cx="11133582" cy="1721168"/>
            <a:chOff x="525018" y="3974782"/>
            <a:chExt cx="11133582" cy="1721168"/>
          </a:xfrm>
        </p:grpSpPr>
        <p:sp>
          <p:nvSpPr>
            <p:cNvPr id="30" name="TextBox 30"/>
            <p:cNvSpPr txBox="1"/>
            <p:nvPr/>
          </p:nvSpPr>
          <p:spPr>
            <a:xfrm>
              <a:off x="525018" y="3974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本册三个目标</a:t>
              </a:r>
            </a:p>
          </p:txBody>
        </p:sp>
        <p:grpSp>
          <p:nvGrpSpPr>
            <p:cNvPr id="36" name="goal-1"/>
            <p:cNvGrpSpPr/>
            <p:nvPr/>
          </p:nvGrpSpPr>
          <p:grpSpPr>
            <a:xfrm>
              <a:off x="533400" y="4324350"/>
              <a:ext cx="3505200" cy="1371600"/>
              <a:chOff x="533400" y="4324350"/>
              <a:chExt cx="3505200" cy="1371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74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7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87018" y="46224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同态映射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55142" y="5073968"/>
                <a:ext cx="2645474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 xml:space="preserve">会验证 </a:t>
                </a:r>
                <a:r>
                  <a:rPr lang="el-GR" sz="1350" dirty="0">
                    <a:solidFill>
                      <a:schemeClr val="accent5"/>
                    </a:solidFill>
                    <a:latin typeface="Cambria Math"/>
                    <a:ea typeface="Cambria Math"/>
                    <a:cs typeface="Cambria Math"/>
                  </a:rPr>
                  <a:t>σ(a∗b) = σ(a)·σ(b)</a:t>
                </a: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，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会用定理 6.4.1 推出单位元与逆元</a:t>
                </a:r>
              </a:p>
            </p:txBody>
          </p:sp>
        </p:grpSp>
        <p:grpSp>
          <p:nvGrpSpPr>
            <p:cNvPr id="42" name="goal-2"/>
            <p:cNvGrpSpPr/>
            <p:nvPr/>
          </p:nvGrpSpPr>
          <p:grpSpPr>
            <a:xfrm>
              <a:off x="4343400" y="4324350"/>
              <a:ext cx="3505200" cy="1371600"/>
              <a:chOff x="4343400" y="4324350"/>
              <a:chExt cx="3505200" cy="13716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34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455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68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097018" y="46224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同构映射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65142" y="5073968"/>
                <a:ext cx="207111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单射 + 满射 + 保运算；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会证明同构，也会否定同构</a:t>
                </a:r>
              </a:p>
            </p:txBody>
          </p:sp>
        </p:grpSp>
        <p:grpSp>
          <p:nvGrpSpPr>
            <p:cNvPr id="48" name="goal-3"/>
            <p:cNvGrpSpPr/>
            <p:nvPr/>
          </p:nvGrpSpPr>
          <p:grpSpPr>
            <a:xfrm>
              <a:off x="8153400" y="4324350"/>
              <a:ext cx="3505200" cy="1371600"/>
              <a:chOff x="8153400" y="4324350"/>
              <a:chExt cx="3505200" cy="13716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15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836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49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907018" y="462248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同态核与同态定理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75142" y="5073968"/>
                <a:ext cx="2053971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核是正规子群，</a:t>
                </a:r>
                <a:r>
                  <a:rPr lang="en-US" sz="1350" dirty="0">
                    <a:solidFill>
                      <a:schemeClr val="accent5"/>
                    </a:solidFill>
                    <a:latin typeface="Cambria Math"/>
                    <a:ea typeface="Cambria Math"/>
                    <a:cs typeface="Cambria Math"/>
                  </a:rPr>
                  <a:t>G′ ≅ G/N</a:t>
                </a: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；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子群之间一一对应</a:t>
                </a:r>
              </a:p>
            </p:txBody>
          </p:sp>
        </p:grpSp>
      </p:grpSp>
      <p:grpSp>
        <p:nvGrpSpPr>
          <p:cNvPr id="56" name="study-tip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135380" y="6019800"/>
              <a:ext cx="9001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前置知识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要用到 6.2 群的定义（左壹、左逆）和 6.3 的子群判定、陪集、正规子群，建议先复习。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08612" y="361950"/>
            <a:ext cx="6581036" cy="960501"/>
            <a:chOff x="508612" y="361950"/>
            <a:chExt cx="658103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19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08612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5699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先看全景：同态、同构、核是什么关系？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shadow-figure"/>
          <p:cNvGrpSpPr/>
          <p:nvPr/>
        </p:nvGrpSpPr>
        <p:grpSpPr>
          <a:xfrm>
            <a:off x="533400" y="1485900"/>
            <a:ext cx="4305300" cy="4229100"/>
            <a:chOff x="533400" y="1485900"/>
            <a:chExt cx="4305300" cy="42291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485900"/>
              <a:ext cx="4305300" cy="3228975"/>
            </a:xfrm>
            <a:prstGeom prst="roundRect">
              <a:avLst>
                <a:gd name="adj" fmla="val 4719"/>
              </a:avLst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533400" y="4838700"/>
              <a:ext cx="4305300" cy="876300"/>
            </a:xfrm>
            <a:prstGeom prst="roundRect">
              <a:avLst>
                <a:gd name="adj" fmla="val 1521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7042" y="5035868"/>
              <a:ext cx="294551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积木投到墙上：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细节合并了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但上下叠放的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关系还在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——这就是同态。</a:t>
              </a:r>
            </a:p>
          </p:txBody>
        </p:sp>
      </p:grpSp>
      <p:grpSp>
        <p:nvGrpSpPr>
          <p:cNvPr id="22" name="concept-hom"/>
          <p:cNvGrpSpPr/>
          <p:nvPr/>
        </p:nvGrpSpPr>
        <p:grpSpPr>
          <a:xfrm>
            <a:off x="5143500" y="1485900"/>
            <a:ext cx="6515100" cy="1295400"/>
            <a:chOff x="5143500" y="1485900"/>
            <a:chExt cx="6515100" cy="1295400"/>
          </a:xfrm>
        </p:grpSpPr>
        <p:sp>
          <p:nvSpPr>
            <p:cNvPr id="11" name="Rectangle 11"/>
            <p:cNvSpPr/>
            <p:nvPr/>
          </p:nvSpPr>
          <p:spPr>
            <a:xfrm>
              <a:off x="5143500" y="1485900"/>
              <a:ext cx="6515100" cy="1295400"/>
            </a:xfrm>
            <a:prstGeom prst="roundRect">
              <a:avLst>
                <a:gd name="adj" fmla="val 1176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353050" y="1695450"/>
              <a:ext cx="495300" cy="49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486400" y="1828800"/>
              <a:ext cx="228600" cy="228600"/>
              <a:chOff x="5486400" y="1828800"/>
              <a:chExt cx="228600" cy="2286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486400" y="18288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613400" y="18288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101600" y="101600"/>
                    </a:moveTo>
                    <a:lnTo>
                      <a:pt x="101600" y="63500"/>
                    </a:lnTo>
                    <a:cubicBezTo>
                      <a:pt x="101600" y="49472"/>
                      <a:pt x="90228" y="38100"/>
                      <a:pt x="76200" y="38100"/>
                    </a:cubicBezTo>
                    <a:lnTo>
                      <a:pt x="0" y="38100"/>
                    </a:lnTo>
                    <a:lnTo>
                      <a:pt x="38100" y="76200"/>
                    </a:lnTo>
                    <a:moveTo>
                      <a:pt x="3810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486400" y="19558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52128"/>
                      <a:pt x="11372" y="63500"/>
                      <a:pt x="25400" y="63500"/>
                    </a:cubicBezTo>
                    <a:lnTo>
                      <a:pt x="101600" y="63500"/>
                    </a:lnTo>
                    <a:lnTo>
                      <a:pt x="63500" y="25400"/>
                    </a:lnTo>
                    <a:moveTo>
                      <a:pt x="63500" y="101600"/>
                    </a:moveTo>
                    <a:lnTo>
                      <a:pt x="10160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638800" y="19812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6011418" y="17268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同态映射 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3404" y="17754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6.4.1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12180" y="2085975"/>
              <a:ext cx="296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保运算：</a:t>
              </a:r>
              <a:r>
                <a:rPr lang="el-GR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 ∗ b) = σ(a) · σ(b)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2942" y="24450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像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影子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：细节可能丢失（不一定单、不一定满）</a:t>
              </a:r>
            </a:p>
          </p:txBody>
        </p:sp>
      </p:grpSp>
      <p:grpSp>
        <p:nvGrpSpPr>
          <p:cNvPr id="36" name="concept-iso"/>
          <p:cNvGrpSpPr/>
          <p:nvPr/>
        </p:nvGrpSpPr>
        <p:grpSpPr>
          <a:xfrm>
            <a:off x="5143500" y="2933700"/>
            <a:ext cx="6515100" cy="1295400"/>
            <a:chOff x="5143500" y="2933700"/>
            <a:chExt cx="6515100" cy="1295400"/>
          </a:xfrm>
        </p:grpSpPr>
        <p:sp>
          <p:nvSpPr>
            <p:cNvPr id="23" name="Rectangle 23"/>
            <p:cNvSpPr/>
            <p:nvPr/>
          </p:nvSpPr>
          <p:spPr>
            <a:xfrm>
              <a:off x="5143500" y="2933700"/>
              <a:ext cx="6515100" cy="1295400"/>
            </a:xfrm>
            <a:prstGeom prst="roundRect">
              <a:avLst>
                <a:gd name="adj" fmla="val 11765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353050" y="3143250"/>
              <a:ext cx="495300" cy="49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499100" y="3276600"/>
              <a:ext cx="203200" cy="215900"/>
              <a:chOff x="5499100" y="3276600"/>
              <a:chExt cx="203200" cy="2159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499100" y="3319411"/>
                <a:ext cx="63500" cy="841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84188">
                    <a:moveTo>
                      <a:pt x="63500" y="0"/>
                    </a:moveTo>
                    <a:cubicBezTo>
                      <a:pt x="63500" y="56108"/>
                      <a:pt x="35065" y="84188"/>
                      <a:pt x="0" y="84188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499100" y="3319411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511800" y="33528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0"/>
                    </a:moveTo>
                    <a:cubicBezTo>
                      <a:pt x="0" y="27229"/>
                      <a:pt x="28600" y="49631"/>
                      <a:pt x="76200" y="50800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600700" y="3378200"/>
                <a:ext cx="101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14300">
                    <a:moveTo>
                      <a:pt x="0" y="114300"/>
                    </a:moveTo>
                    <a:lnTo>
                      <a:pt x="50800" y="0"/>
                    </a:lnTo>
                    <a:lnTo>
                      <a:pt x="101600" y="11430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612130" y="3467099"/>
                <a:ext cx="787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740" h="9525">
                    <a:moveTo>
                      <a:pt x="7874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533314" y="3276600"/>
                <a:ext cx="1007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71" h="9525">
                    <a:moveTo>
                      <a:pt x="0" y="0"/>
                    </a:moveTo>
                    <a:lnTo>
                      <a:pt x="10071" y="7391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011418" y="31746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同构映射 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3404" y="32232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6.4.2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2180" y="3533775"/>
              <a:ext cx="44466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一一对应的同态：</a:t>
              </a:r>
              <a:r>
                <a:rPr lang="el-GR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G ≅ σ(G)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；G 到自身的叫自同构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942" y="38928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像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翻译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：只换元素的名字，结构一点不少</a:t>
              </a:r>
            </a:p>
          </p:txBody>
        </p:sp>
      </p:grpSp>
      <p:grpSp>
        <p:nvGrpSpPr>
          <p:cNvPr id="44" name="concept-kernel"/>
          <p:cNvGrpSpPr/>
          <p:nvPr/>
        </p:nvGrpSpPr>
        <p:grpSpPr>
          <a:xfrm>
            <a:off x="5143500" y="4381500"/>
            <a:ext cx="6515100" cy="1333500"/>
            <a:chOff x="5143500" y="4381500"/>
            <a:chExt cx="6515100" cy="1333500"/>
          </a:xfrm>
        </p:grpSpPr>
        <p:sp>
          <p:nvSpPr>
            <p:cNvPr id="37" name="Rectangle 37"/>
            <p:cNvSpPr/>
            <p:nvPr/>
          </p:nvSpPr>
          <p:spPr>
            <a:xfrm>
              <a:off x="5143500" y="4381500"/>
              <a:ext cx="6515100" cy="1333500"/>
            </a:xfrm>
            <a:prstGeom prst="roundRect">
              <a:avLst>
                <a:gd name="adj" fmla="val 1142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353050" y="4591050"/>
              <a:ext cx="495300" cy="49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5499100" y="4737100"/>
              <a:ext cx="203199" cy="215899"/>
            </a:xfrm>
            <a:custGeom>
              <a:avLst/>
              <a:gdLst/>
              <a:ahLst/>
              <a:cxnLst/>
              <a:rect l="l" t="t" r="r" b="b"/>
              <a:pathLst>
                <a:path w="203199" h="215899">
                  <a:moveTo>
                    <a:pt x="0" y="0"/>
                  </a:moveTo>
                  <a:lnTo>
                    <a:pt x="203199" y="0"/>
                  </a:lnTo>
                  <a:lnTo>
                    <a:pt x="203199" y="27584"/>
                  </a:lnTo>
                  <a:cubicBezTo>
                    <a:pt x="203198" y="34320"/>
                    <a:pt x="200521" y="40780"/>
                    <a:pt x="195757" y="45542"/>
                  </a:cubicBezTo>
                  <a:lnTo>
                    <a:pt x="139700" y="101600"/>
                  </a:lnTo>
                  <a:lnTo>
                    <a:pt x="139700" y="190500"/>
                  </a:lnTo>
                  <a:lnTo>
                    <a:pt x="63500" y="215899"/>
                  </a:lnTo>
                  <a:lnTo>
                    <a:pt x="63500" y="107950"/>
                  </a:lnTo>
                  <a:lnTo>
                    <a:pt x="6604" y="45364"/>
                  </a:lnTo>
                  <a:cubicBezTo>
                    <a:pt x="2355" y="40690"/>
                    <a:pt x="1" y="34600"/>
                    <a:pt x="0" y="28283"/>
                  </a:cubicBez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F7A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11418" y="4622482"/>
              <a:ext cx="8925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同态核 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18604" y="46710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6.4.3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2180" y="4981575"/>
              <a:ext cx="39341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N = σ⁻¹(1′)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：所有被映成单位元 1′ 的元素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2942" y="5340668"/>
              <a:ext cx="45583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像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漏斗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：核越大，压在一起的越多；N = {1} 时 σ 是单射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5" name="Rectangle 4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134618" y="6003608"/>
              <a:ext cx="80815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三个同态定理把它们串成一句话：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同态像 G′ ≅ 商群 G/N</a:t>
              </a: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（核 N 被“压”成一点）。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477000" y="-381000"/>
            <a:ext cx="7620000" cy="76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620250" y="3714750"/>
            <a:ext cx="3238500" cy="3238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067550" y="11620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763533" y="2514600"/>
            <a:ext cx="1903933" cy="2305050"/>
            <a:chOff x="8763533" y="25146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763533" y="2514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866900"/>
            <a:ext cx="4530223" cy="1885379"/>
            <a:chOff x="743712" y="1866900"/>
            <a:chExt cx="4530223" cy="1885379"/>
          </a:xfrm>
        </p:grpSpPr>
        <p:sp>
          <p:nvSpPr>
            <p:cNvPr id="7" name="Rectangle 7"/>
            <p:cNvSpPr/>
            <p:nvPr/>
          </p:nvSpPr>
          <p:spPr>
            <a:xfrm>
              <a:off x="762000" y="1866900"/>
              <a:ext cx="240030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6193" y="1956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第一部分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52603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同态映射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1432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094" y="3370898"/>
              <a:ext cx="45218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保持运算的映射：先算再映 = 先映再算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4102418"/>
            <a:ext cx="3804285" cy="1747647"/>
            <a:chOff x="755142" y="4102418"/>
            <a:chExt cx="3804285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4102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457700"/>
              <a:ext cx="3112008" cy="363665"/>
              <a:chOff x="781050" y="4457700"/>
              <a:chExt cx="3112008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457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537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498658"/>
                <a:ext cx="2682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什么样的映射叫同态映射？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972050"/>
              <a:ext cx="3556254" cy="363665"/>
              <a:chOff x="781050" y="4972050"/>
              <a:chExt cx="3556254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9720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5052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5013008"/>
                <a:ext cx="3126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群的同态像为什么一定还是群？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486400"/>
              <a:ext cx="3778377" cy="363665"/>
              <a:chOff x="781050" y="5486400"/>
              <a:chExt cx="3778377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4864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566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527358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单位元、逆元在同态下怎样对应？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528066" y="6573202"/>
            <a:ext cx="18354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6.4 同态及同构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5891807" cy="960501"/>
            <a:chOff x="470893" y="361950"/>
            <a:chExt cx="589180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同态映射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同态映射：先算再映，等于先映再算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definition-card"/>
          <p:cNvGrpSpPr/>
          <p:nvPr/>
        </p:nvGrpSpPr>
        <p:grpSpPr>
          <a:xfrm>
            <a:off x="533400" y="1485900"/>
            <a:ext cx="6515100" cy="2305050"/>
            <a:chOff x="533400" y="1485900"/>
            <a:chExt cx="6515100" cy="23050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515100" cy="2305050"/>
            </a:xfrm>
            <a:prstGeom prst="roundRect">
              <a:avLst>
                <a:gd name="adj" fmla="val 661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19240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383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99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92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同态映射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2088832"/>
              <a:ext cx="44173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∗) 是一个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，(K, ·) 是一个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代数系统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称 G 到 K 的映射 σ 是一个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同态映射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，如果对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中任意元素 a、b，都有：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067050"/>
              <a:ext cx="5905500" cy="552450"/>
            </a:xfrm>
            <a:prstGeom prst="roundRect">
              <a:avLst>
                <a:gd name="adj" fmla="val 2069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83245" y="3211830"/>
              <a:ext cx="31678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21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σ(a ∗ b) = σ(a) · σ(b)</a:t>
              </a:r>
            </a:p>
          </p:txBody>
        </p:sp>
      </p:grpSp>
      <p:grpSp>
        <p:nvGrpSpPr>
          <p:cNvPr id="21" name="recall-card"/>
          <p:cNvGrpSpPr/>
          <p:nvPr/>
        </p:nvGrpSpPr>
        <p:grpSpPr>
          <a:xfrm>
            <a:off x="533400" y="3943350"/>
            <a:ext cx="6515100" cy="1200150"/>
            <a:chOff x="533400" y="3943350"/>
            <a:chExt cx="6515100" cy="1200150"/>
          </a:xfrm>
        </p:grpSpPr>
        <p:sp>
          <p:nvSpPr>
            <p:cNvPr id="16" name="Rectangle 16"/>
            <p:cNvSpPr/>
            <p:nvPr/>
          </p:nvSpPr>
          <p:spPr>
            <a:xfrm>
              <a:off x="533400" y="3943350"/>
              <a:ext cx="6515100" cy="1200150"/>
            </a:xfrm>
            <a:prstGeom prst="roundRect">
              <a:avLst>
                <a:gd name="adj" fmla="val 1269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4076700"/>
              <a:ext cx="914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0016" y="4137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映射回顾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84604" y="4147185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σ 首先得是一个映射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4380" y="4467225"/>
              <a:ext cx="45300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G 的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每个元素都必须有像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，而且像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唯一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K 的元素可以没有原像，也允许多个元素共用一个像</a:t>
              </a:r>
            </a:p>
          </p:txBody>
        </p:sp>
      </p:grpSp>
      <p:grpSp>
        <p:nvGrpSpPr>
          <p:cNvPr id="47" name="square-diagram"/>
          <p:cNvGrpSpPr/>
          <p:nvPr/>
        </p:nvGrpSpPr>
        <p:grpSpPr>
          <a:xfrm>
            <a:off x="7353300" y="1485900"/>
            <a:ext cx="4305300" cy="3657600"/>
            <a:chOff x="7353300" y="1485900"/>
            <a:chExt cx="4305300" cy="3657600"/>
          </a:xfrm>
        </p:grpSpPr>
        <p:sp>
          <p:nvSpPr>
            <p:cNvPr id="22" name="Rectangle 22"/>
            <p:cNvSpPr/>
            <p:nvPr/>
          </p:nvSpPr>
          <p:spPr>
            <a:xfrm>
              <a:off x="7353300" y="1485900"/>
              <a:ext cx="4305300" cy="365760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75042" y="1664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交换图：两条路，同一个终点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76436" y="1908810"/>
              <a:ext cx="8304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 G 中算 ∗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81900" y="2114550"/>
              <a:ext cx="1295400" cy="495300"/>
            </a:xfrm>
            <a:prstGeom prst="roundRect">
              <a:avLst>
                <a:gd name="adj" fmla="val 23077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82480" y="2260282"/>
              <a:ext cx="694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(a, b)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906000" y="2114550"/>
              <a:ext cx="1333500" cy="495300"/>
            </a:xfrm>
            <a:prstGeom prst="roundRect">
              <a:avLst>
                <a:gd name="adj" fmla="val 23077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14480" y="226028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∗ b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915400" y="2362200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0" y="0"/>
                  </a:moveTo>
                  <a:lnTo>
                    <a:pt x="876300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772650" y="23050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8229600" y="26479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172450" y="367665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57150" y="104775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73618" y="30603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6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0572750" y="26479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515600" y="367665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57150" y="104775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716768" y="28889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6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19054" y="3280410"/>
              <a:ext cx="852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得 σ(a ∗ b)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38336" y="3604260"/>
              <a:ext cx="8304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 K 中算 ·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543800" y="3810000"/>
              <a:ext cx="1371600" cy="495300"/>
            </a:xfrm>
            <a:prstGeom prst="roundRect">
              <a:avLst>
                <a:gd name="adj" fmla="val 23077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91914" y="39624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σ(a), σ(b)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810750" y="3810000"/>
              <a:ext cx="1524000" cy="495300"/>
            </a:xfrm>
            <a:prstGeom prst="roundRect">
              <a:avLst>
                <a:gd name="adj" fmla="val 23077"/>
              </a:avLst>
            </a:prstGeom>
            <a:solidFill>
              <a:srgbClr val="FDEEE7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004774" y="3962400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σ(a) · σ(b)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953500" y="405765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677400" y="40005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81900" y="4495800"/>
              <a:ext cx="38481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66765" y="4629150"/>
              <a:ext cx="227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同态 ⇔ 两条路的终点相同</a:t>
              </a:r>
            </a:p>
          </p:txBody>
        </p:sp>
      </p:grpSp>
      <p:grpSp>
        <p:nvGrpSpPr>
          <p:cNvPr id="53" name="note-not-bijective"/>
          <p:cNvGrpSpPr/>
          <p:nvPr/>
        </p:nvGrpSpPr>
        <p:grpSpPr>
          <a:xfrm>
            <a:off x="533400" y="5295900"/>
            <a:ext cx="5524500" cy="1102995"/>
            <a:chOff x="533400" y="5295900"/>
            <a:chExt cx="5524500" cy="1102995"/>
          </a:xfrm>
        </p:grpSpPr>
        <p:sp>
          <p:nvSpPr>
            <p:cNvPr id="48" name="Rectangle 48"/>
            <p:cNvSpPr/>
            <p:nvPr/>
          </p:nvSpPr>
          <p:spPr>
            <a:xfrm>
              <a:off x="533400" y="5295900"/>
              <a:ext cx="5524500" cy="1066800"/>
            </a:xfrm>
            <a:prstGeom prst="roundRect">
              <a:avLst>
                <a:gd name="adj" fmla="val 14286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5800" y="544830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14400" y="542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51560" y="549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6780" y="5819775"/>
              <a:ext cx="3272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同态映射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既不一定是单射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不一定是满射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——只要保运算就是同态</a:t>
              </a:r>
            </a:p>
          </p:txBody>
        </p:sp>
      </p:grpSp>
      <p:grpSp>
        <p:nvGrpSpPr>
          <p:cNvPr id="59" name="note-requirements"/>
          <p:cNvGrpSpPr/>
          <p:nvPr/>
        </p:nvGrpSpPr>
        <p:grpSpPr>
          <a:xfrm>
            <a:off x="6134100" y="5295900"/>
            <a:ext cx="5524500" cy="1102995"/>
            <a:chOff x="6134100" y="5295900"/>
            <a:chExt cx="5524500" cy="1102995"/>
          </a:xfrm>
        </p:grpSpPr>
        <p:sp>
          <p:nvSpPr>
            <p:cNvPr id="54" name="Rectangle 54"/>
            <p:cNvSpPr/>
            <p:nvPr/>
          </p:nvSpPr>
          <p:spPr>
            <a:xfrm>
              <a:off x="6134100" y="5295900"/>
              <a:ext cx="5524500" cy="10668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86500" y="544830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515100" y="542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52260" y="549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07480" y="5819775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 必须是群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 只要求是代数系统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（K 上运算封闭即可，不要求 K 是群）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5528333" cy="960501"/>
            <a:chOff x="470893" y="361950"/>
            <a:chExt cx="552833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同态映射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同态映射的例：不单、不满都可以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example-trivial"/>
          <p:cNvGrpSpPr/>
          <p:nvPr/>
        </p:nvGrpSpPr>
        <p:grpSpPr>
          <a:xfrm>
            <a:off x="533400" y="1485900"/>
            <a:ext cx="3505200" cy="4267200"/>
            <a:chOff x="533400" y="1485900"/>
            <a:chExt cx="3505200" cy="4267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505200" cy="4267200"/>
            </a:xfrm>
            <a:prstGeom prst="roundRect">
              <a:avLst>
                <a:gd name="adj" fmla="val 43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383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643" y="169926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3980" y="16764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零同态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042" y="2064068"/>
              <a:ext cx="21396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(G, ∗)、(K, +) 是两个群，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 是 K 的单位元。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2647950"/>
              <a:ext cx="3200400" cy="685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45344" y="2788444"/>
              <a:ext cx="157163" cy="157163"/>
              <a:chOff x="845344" y="2788444"/>
              <a:chExt cx="157163" cy="15716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45344" y="2788444"/>
                <a:ext cx="157163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3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6567" y="282336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03843" y="291068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98804" y="2794635"/>
              <a:ext cx="15590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直观：把整个 G 都压成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 中的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一个点 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3467100"/>
              <a:ext cx="3200400" cy="4572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70903" y="3593782"/>
              <a:ext cx="16301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σ : x ↦ e，x ∈ 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7804" y="4061460"/>
              <a:ext cx="1502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验证：任取 a, b ∈ 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042" y="431196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l-GR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 ∗ b) = e = e + e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　= σ(a) + σ(b)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7804" y="4823460"/>
              <a:ext cx="2754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σ(G) = {e} 是 K 的子群，记 G ∼ σ(G)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804" y="50520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任意两个群之间都有这个同态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5800" y="531495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42962" y="5424488"/>
              <a:ext cx="85725" cy="85725"/>
              <a:chOff x="842962" y="5424488"/>
              <a:chExt cx="85725" cy="857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42962" y="54244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42962" y="54244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22604" y="5394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单射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676400" y="531495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1833562" y="5424488"/>
              <a:ext cx="85725" cy="85725"/>
              <a:chOff x="1833562" y="5424488"/>
              <a:chExt cx="85725" cy="857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833562" y="54244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833562" y="54244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2013204" y="5394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满射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99004" y="5394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（一般情形）</a:t>
              </a:r>
            </a:p>
          </p:txBody>
        </p:sp>
      </p:grpSp>
      <p:grpSp>
        <p:nvGrpSpPr>
          <p:cNvPr id="55" name="example-mod"/>
          <p:cNvGrpSpPr/>
          <p:nvPr/>
        </p:nvGrpSpPr>
        <p:grpSpPr>
          <a:xfrm>
            <a:off x="4343400" y="1485900"/>
            <a:ext cx="3505200" cy="4267200"/>
            <a:chOff x="4343400" y="1485900"/>
            <a:chExt cx="3505200" cy="4267200"/>
          </a:xfrm>
        </p:grpSpPr>
        <p:sp>
          <p:nvSpPr>
            <p:cNvPr id="36" name="Rectangle 36"/>
            <p:cNvSpPr/>
            <p:nvPr/>
          </p:nvSpPr>
          <p:spPr>
            <a:xfrm>
              <a:off x="4343400" y="1485900"/>
              <a:ext cx="3505200" cy="4267200"/>
            </a:xfrm>
            <a:prstGeom prst="roundRect">
              <a:avLst>
                <a:gd name="adj" fmla="val 43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33900" y="16383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41643" y="169926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73980" y="16764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取余数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27042" y="2064068"/>
              <a:ext cx="262832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G₁ 为整数加法群，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G₂ = {0, …, n−1} 为模 n 加法群：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oplus-cases"/>
                <p:cNvSpPr txBox="1">
                  <a:spLocks noGrp="1"/>
                </p:cNvSpPr>
                <p:nvPr/>
              </p:nvSpPr>
              <p:spPr>
                <a:xfrm>
                  <a:off x="4495800" y="2571750"/>
                  <a:ext cx="3200400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≥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2" name="Rectangle 42"/>
            <p:cNvSpPr/>
            <p:nvPr/>
          </p:nvSpPr>
          <p:spPr>
            <a:xfrm>
              <a:off x="4495800" y="3467100"/>
              <a:ext cx="3200400" cy="4572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62738" y="3593782"/>
              <a:ext cx="26665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σ : x ↦ x (mod n)，x ∈ G₁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27804" y="4061460"/>
              <a:ext cx="1597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验证：任取 a, b ∈ G₁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27042" y="4311968"/>
              <a:ext cx="2825496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l-GR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 + b) = (a + b)(mod n)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= ((a mod n) + (b mod n)) mod n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= a(mod n) ⊕ b(mod n)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= σ(a) ⊕ σ(b)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495800" y="531495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652962" y="5424488"/>
              <a:ext cx="85725" cy="85725"/>
              <a:chOff x="4652962" y="5424488"/>
              <a:chExt cx="85725" cy="857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652962" y="54244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652962" y="54244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4832604" y="5394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单射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486400" y="531495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5636419" y="5431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4288">
              <a:solidFill>
                <a:srgbClr val="0F7A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23204" y="5394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满射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09004" y="539496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→ 满同态</a:t>
              </a:r>
            </a:p>
          </p:txBody>
        </p:sp>
      </p:grpSp>
      <p:grpSp>
        <p:nvGrpSpPr>
          <p:cNvPr id="81" name="example-negate"/>
          <p:cNvGrpSpPr/>
          <p:nvPr/>
        </p:nvGrpSpPr>
        <p:grpSpPr>
          <a:xfrm>
            <a:off x="8153400" y="1485900"/>
            <a:ext cx="3505200" cy="4267200"/>
            <a:chOff x="8153400" y="1485900"/>
            <a:chExt cx="3505200" cy="4267200"/>
          </a:xfrm>
        </p:grpSpPr>
        <p:sp>
          <p:nvSpPr>
            <p:cNvPr id="56" name="Rectangle 56"/>
            <p:cNvSpPr/>
            <p:nvPr/>
          </p:nvSpPr>
          <p:spPr>
            <a:xfrm>
              <a:off x="8153400" y="1485900"/>
              <a:ext cx="3505200" cy="4267200"/>
            </a:xfrm>
            <a:prstGeom prst="roundRect">
              <a:avLst>
                <a:gd name="adj" fmla="val 43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43900" y="16383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51643" y="169926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83980" y="16764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取相反数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37042" y="2064068"/>
              <a:ext cx="185680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为整数加群 (Z, +)，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G₁ 为实数加群 (R, +)。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305800" y="2647950"/>
              <a:ext cx="3200400" cy="685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465344" y="2788444"/>
              <a:ext cx="157163" cy="157163"/>
              <a:chOff x="8465344" y="2788444"/>
              <a:chExt cx="157163" cy="15716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465344" y="2788444"/>
                <a:ext cx="157163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3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496567" y="282336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523843" y="291068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718804" y="2794635"/>
              <a:ext cx="1536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直观：把数轴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翻个面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整数仍然落在整数上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305800" y="3467100"/>
              <a:ext cx="3200400" cy="4572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029819" y="3593782"/>
              <a:ext cx="17523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σ : x ↦ −x，x ∈ G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37804" y="4061460"/>
              <a:ext cx="1692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验证：任取 x₁, x₂ ∈ G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37042" y="4311968"/>
              <a:ext cx="1925383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l-GR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σ(x₁ + x₂) = −(x₁ + x₂)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= (−x₁) + (−x₂)</a:t>
              </a:r>
              <a:br/>
              <a:r>
                <a:rPr lang="zh-CN" sz="13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= σ(x₁) + σ(x₂)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37804" y="5071110"/>
              <a:ext cx="1652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σ(G) = Z 是 G₁ 的子群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305800" y="531495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8455819" y="5431631"/>
              <a:ext cx="107156" cy="71438"/>
            </a:xfrm>
            <a:custGeom>
              <a:avLst/>
              <a:gdLst/>
              <a:ahLst/>
              <a:cxnLst/>
              <a:rect l="l" t="t" r="r" b="b"/>
              <a:pathLst>
                <a:path w="107156" h="71438">
                  <a:moveTo>
                    <a:pt x="0" y="35719"/>
                  </a:moveTo>
                  <a:lnTo>
                    <a:pt x="35719" y="71438"/>
                  </a:lnTo>
                  <a:lnTo>
                    <a:pt x="107156" y="0"/>
                  </a:lnTo>
                </a:path>
              </a:pathLst>
            </a:custGeom>
            <a:noFill/>
            <a:ln w="14288">
              <a:solidFill>
                <a:srgbClr val="0F7A6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42604" y="5394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单射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296400" y="531495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9453562" y="5424488"/>
              <a:ext cx="85725" cy="85725"/>
              <a:chOff x="9453562" y="5424488"/>
              <a:chExt cx="85725" cy="857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9453562" y="54244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9453562" y="54244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4288">
                <a:solidFill>
                  <a:srgbClr val="B4231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9633204" y="5394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满射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319004" y="539496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½ 没有原像</a:t>
              </a:r>
            </a:p>
          </p:txBody>
        </p:sp>
      </p:grpSp>
      <p:grpSp>
        <p:nvGrpSpPr>
          <p:cNvPr id="8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2" name="Rectangle 8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762000" y="5991225"/>
              <a:ext cx="228600" cy="228600"/>
              <a:chOff x="762000" y="5991225"/>
              <a:chExt cx="228600" cy="2286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62000" y="59912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89000" y="5991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101600" y="101600"/>
                    </a:moveTo>
                    <a:lnTo>
                      <a:pt x="101600" y="63500"/>
                    </a:lnTo>
                    <a:cubicBezTo>
                      <a:pt x="101600" y="49472"/>
                      <a:pt x="90228" y="38100"/>
                      <a:pt x="76200" y="38100"/>
                    </a:cubicBezTo>
                    <a:lnTo>
                      <a:pt x="0" y="38100"/>
                    </a:lnTo>
                    <a:lnTo>
                      <a:pt x="38100" y="76200"/>
                    </a:lnTo>
                    <a:moveTo>
                      <a:pt x="3810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6200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52128"/>
                      <a:pt x="11372" y="63500"/>
                      <a:pt x="25400" y="63500"/>
                    </a:cubicBezTo>
                    <a:lnTo>
                      <a:pt x="101600" y="63500"/>
                    </a:lnTo>
                    <a:lnTo>
                      <a:pt x="63500" y="25400"/>
                    </a:lnTo>
                    <a:moveTo>
                      <a:pt x="63500" y="101600"/>
                    </a:moveTo>
                    <a:lnTo>
                      <a:pt x="10160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14400" y="6143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34618" y="6003608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同态只看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保运算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：单不单、满不满都不影响；满射的同态叫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满同态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0" name="TextBox 90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5238462" cy="960501"/>
            <a:chOff x="470893" y="361950"/>
            <a:chExt cx="523846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同态映射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89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 6.4.1：群的同态像还是群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theorem-card"/>
          <p:cNvGrpSpPr/>
          <p:nvPr/>
        </p:nvGrpSpPr>
        <p:grpSpPr>
          <a:xfrm>
            <a:off x="533400" y="1485900"/>
            <a:ext cx="11125200" cy="2324100"/>
            <a:chOff x="533400" y="1485900"/>
            <a:chExt cx="11125200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2324100"/>
            </a:xfrm>
            <a:prstGeom prst="roundRect">
              <a:avLst>
                <a:gd name="adj" fmla="val 655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1943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6.4.1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群的同态像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5949315" cy="1474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∗) 是群，(K, ·) 是代数系统，σ 是 G 到 K 中的一个同态映射，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G′ = σ(G)，则：</a:t>
              </a:r>
            </a:p>
            <a:p>
              <a:pPr algn="l">
                <a:lnSpc>
                  <a:spcPts val="2250"/>
                </a:lnSpc>
                <a:spcBef>
                  <a:spcPts val="300"/>
                </a:spcBef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(G′, ·) 是一个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</a:t>
              </a: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G′ 的单位元 1′ 就是 G 的单位元 1 的像：</a:t>
              </a:r>
              <a:r>
                <a:rPr lang="el-GR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1′ = σ(1)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</a:t>
              </a: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对任意 a ∈ G，</a:t>
              </a:r>
              <a:r>
                <a:rPr lang="el-GR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(σ(a))⁻¹ = σ(a⁻¹)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542" y="3530918"/>
              <a:ext cx="2633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称 G 和 G′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，记为 </a:t>
              </a:r>
              <a:r>
                <a:rPr lang="en-US" sz="13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G ∼ G′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grpSp>
          <p:nvGrpSpPr>
            <p:cNvPr id="23" name="badges"/>
            <p:cNvGrpSpPr/>
            <p:nvPr/>
          </p:nvGrpSpPr>
          <p:grpSpPr>
            <a:xfrm>
              <a:off x="8229600" y="2152650"/>
              <a:ext cx="3200400" cy="1562100"/>
              <a:chOff x="8229600" y="2152650"/>
              <a:chExt cx="3200400" cy="15621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8229600" y="2152650"/>
                <a:ext cx="32004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489442" y="230219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像是群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216286" y="2302192"/>
                <a:ext cx="10300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群 G ⟶ 群 G′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8229600" y="2705100"/>
                <a:ext cx="32004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489442" y="285464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单位元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723778" y="2854642"/>
                <a:ext cx="5225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 ⟼ 1′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8229600" y="3257550"/>
                <a:ext cx="32004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489442" y="34070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逆元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924136" y="3407092"/>
                <a:ext cx="13222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l-GR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a⁻¹ ⟼ (σ(a))⁻¹</a:t>
                </a:r>
              </a:p>
            </p:txBody>
          </p:sp>
        </p:grpSp>
      </p:grpSp>
      <p:grpSp>
        <p:nvGrpSpPr>
          <p:cNvPr id="32" name="example-card"/>
          <p:cNvGrpSpPr/>
          <p:nvPr/>
        </p:nvGrpSpPr>
        <p:grpSpPr>
          <a:xfrm>
            <a:off x="533400" y="3962400"/>
            <a:ext cx="5676900" cy="1790700"/>
            <a:chOff x="533400" y="3962400"/>
            <a:chExt cx="5676900" cy="1790700"/>
          </a:xfrm>
        </p:grpSpPr>
        <p:sp>
          <p:nvSpPr>
            <p:cNvPr id="25" name="Rectangle 25"/>
            <p:cNvSpPr/>
            <p:nvPr/>
          </p:nvSpPr>
          <p:spPr>
            <a:xfrm>
              <a:off x="533400" y="3962400"/>
              <a:ext cx="567690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3900" y="40957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5632" y="41567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88542" y="4150042"/>
              <a:ext cx="4036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(Z, +) 到 (C*, ·)：σ : n ↦ iⁿ（i 为虚数单位）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042" y="4483418"/>
              <a:ext cx="462400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对任意 m, n ∈ Z：</a:t>
              </a:r>
              <a:r>
                <a:rPr lang="el-GR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σ(m + n) = iᵐ⁺ⁿ = iᵐ · iⁿ = σ(m) · σ(n)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⇒ σ 是同态，Z ∼ σ(Z)；</a:t>
              </a:r>
              <a:r>
                <a:rPr lang="el-GR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σ(Z) = {1, −1, i, −i}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是 C* 的子群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5800" y="5086350"/>
              <a:ext cx="5372100" cy="552450"/>
            </a:xfrm>
            <a:prstGeom prst="roundRect">
              <a:avLst>
                <a:gd name="adj" fmla="val 2069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2104" y="5185410"/>
              <a:ext cx="30449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对照定理：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σ(0) = i⁰ = 1 正是 C* 的单位元；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σ(−1) = i⁻¹ = −i，恰好等于 (σ(1))⁻¹ = i⁻¹</a:t>
              </a:r>
            </a:p>
          </p:txBody>
        </p:sp>
      </p:grpSp>
      <p:grpSp>
        <p:nvGrpSpPr>
          <p:cNvPr id="65" name="unit-circle-map"/>
          <p:cNvGrpSpPr/>
          <p:nvPr/>
        </p:nvGrpSpPr>
        <p:grpSpPr>
          <a:xfrm>
            <a:off x="6400800" y="3962400"/>
            <a:ext cx="5257800" cy="1790700"/>
            <a:chOff x="6400800" y="3962400"/>
            <a:chExt cx="5257800" cy="1790700"/>
          </a:xfrm>
        </p:grpSpPr>
        <p:sp>
          <p:nvSpPr>
            <p:cNvPr id="33" name="Rectangle 33"/>
            <p:cNvSpPr/>
            <p:nvPr/>
          </p:nvSpPr>
          <p:spPr>
            <a:xfrm>
              <a:off x="6400800" y="3962400"/>
              <a:ext cx="5257800" cy="1790700"/>
            </a:xfrm>
            <a:prstGeom prst="roundRect">
              <a:avLst>
                <a:gd name="adj" fmla="val 85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85204" y="4118610"/>
              <a:ext cx="207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只看除以 4 的余数：i⁴ = 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57975" y="468630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981825" y="4686300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305675" y="4686300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629525" y="4686300"/>
              <a:ext cx="247650" cy="247650"/>
            </a:xfrm>
            <a:prstGeom prst="ellipse">
              <a:avLst/>
            </a:prstGeom>
            <a:solidFill>
              <a:srgbClr val="7B8FCB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7953375" y="468630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277225" y="4686300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8601075" y="4686300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924925" y="4686300"/>
              <a:ext cx="247650" cy="247650"/>
            </a:xfrm>
            <a:prstGeom prst="ellipse">
              <a:avLst/>
            </a:prstGeom>
            <a:solidFill>
              <a:srgbClr val="7B8FC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735651" y="4744402"/>
              <a:ext cx="2359248" cy="205359"/>
              <a:chOff x="6735651" y="4744402"/>
              <a:chExt cx="2359248" cy="205359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6735651" y="47444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059501" y="47444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383351" y="47444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707201" y="47444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031051" y="47444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354901" y="47444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678751" y="47444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002601" y="47444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6875888" y="5106352"/>
              <a:ext cx="20597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… Z 中的整数（同色 = 同余数）…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9258300" y="4810125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791700" y="47529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503765" y="45596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10191750" y="4295775"/>
              <a:ext cx="1028700" cy="1028700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1134725" y="4724400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0620375" y="4210050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0106025" y="4724400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0620375" y="5238750"/>
              <a:ext cx="171450" cy="171450"/>
            </a:xfrm>
            <a:prstGeom prst="ellipse">
              <a:avLst/>
            </a:prstGeom>
            <a:solidFill>
              <a:srgbClr val="7B8FC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366754" y="47377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833354" y="4118610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80904" y="49377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33354" y="5433060"/>
              <a:ext cx="156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−i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6" name="Rectangle 6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134618" y="6003608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同态像自动是群：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单位元对单位元，逆元对逆元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，不必再另外验证。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2" name="TextBox 72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6401956" cy="960501"/>
            <a:chOff x="470893" y="361950"/>
            <a:chExt cx="640195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同态映射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35316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 6.4.1 的证明：五步验证 G′ 是群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idea-card"/>
          <p:cNvGrpSpPr/>
          <p:nvPr/>
        </p:nvGrpSpPr>
        <p:grpSpPr>
          <a:xfrm>
            <a:off x="533400" y="1485900"/>
            <a:ext cx="3429000" cy="4267200"/>
            <a:chOff x="533400" y="1485900"/>
            <a:chExt cx="3429000" cy="4267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429000" cy="42672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383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1060" y="1699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0942" y="1692592"/>
              <a:ext cx="1154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拉回 G 中去算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042" y="2083118"/>
              <a:ext cx="17967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G′ 的每个元素都能写成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某个 </a:t>
              </a:r>
              <a:r>
                <a:rPr lang="el-GR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σ(a)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（a ∈ G）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2667000"/>
              <a:ext cx="3048000" cy="419100"/>
            </a:xfrm>
            <a:prstGeom prst="roundRect">
              <a:avLst>
                <a:gd name="adj" fmla="val 2727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56918" y="2804160"/>
              <a:ext cx="13819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G′ 中要验证的等式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08913" y="3166110"/>
              <a:ext cx="12779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↓ 同态性：拉回 G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3409950"/>
              <a:ext cx="3048000" cy="419100"/>
            </a:xfrm>
            <a:prstGeom prst="roundRect">
              <a:avLst>
                <a:gd name="adj" fmla="val 27273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57914" y="3547110"/>
              <a:ext cx="1779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 中用群的性质算出结果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59627" y="3909060"/>
              <a:ext cx="1376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↓ 同态性：推回 G′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4152900"/>
              <a:ext cx="3048000" cy="419100"/>
            </a:xfrm>
            <a:prstGeom prst="roundRect">
              <a:avLst>
                <a:gd name="adj" fmla="val 2727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637690" y="4290060"/>
              <a:ext cx="12204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G′ 中的结论成立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" y="4762500"/>
              <a:ext cx="3048000" cy="838200"/>
            </a:xfrm>
            <a:prstGeom prst="roundRect">
              <a:avLst>
                <a:gd name="adj" fmla="val 13636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204" y="489966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回顾 6.2 群的定义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0204" y="5147310"/>
              <a:ext cx="1688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非空、封闭、结合律、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有左壹、每个元素有左逆</a:t>
              </a:r>
            </a:p>
          </p:txBody>
        </p:sp>
      </p:grpSp>
      <p:grpSp>
        <p:nvGrpSpPr>
          <p:cNvPr id="64" name="proof-steps"/>
          <p:cNvGrpSpPr/>
          <p:nvPr/>
        </p:nvGrpSpPr>
        <p:grpSpPr>
          <a:xfrm>
            <a:off x="4305300" y="1504950"/>
            <a:ext cx="7353300" cy="4192048"/>
            <a:chOff x="4305300" y="1504950"/>
            <a:chExt cx="7353300" cy="4192048"/>
          </a:xfrm>
        </p:grpSpPr>
        <p:sp>
          <p:nvSpPr>
            <p:cNvPr id="24" name="Line 24"/>
            <p:cNvSpPr/>
            <p:nvPr/>
          </p:nvSpPr>
          <p:spPr>
            <a:xfrm>
              <a:off x="4457700" y="1714500"/>
              <a:ext cx="9525" cy="3790950"/>
            </a:xfrm>
            <a:custGeom>
              <a:avLst/>
              <a:gdLst/>
              <a:ahLst/>
              <a:cxnLst/>
              <a:rect l="l" t="t" r="r" b="b"/>
              <a:pathLst>
                <a:path w="9525" h="3790950">
                  <a:moveTo>
                    <a:pt x="0" y="0"/>
                  </a:moveTo>
                  <a:lnTo>
                    <a:pt x="0" y="37909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31" name="step-1"/>
            <p:cNvGrpSpPr/>
            <p:nvPr/>
          </p:nvGrpSpPr>
          <p:grpSpPr>
            <a:xfrm>
              <a:off x="4305300" y="1504950"/>
              <a:ext cx="7353300" cy="632651"/>
              <a:chOff x="4305300" y="1504950"/>
              <a:chExt cx="7353300" cy="632651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762500" y="1504950"/>
                <a:ext cx="6896100" cy="628650"/>
              </a:xfrm>
              <a:prstGeom prst="roundRect">
                <a:avLst>
                  <a:gd name="adj" fmla="val 1818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4305300" y="15621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404958" y="16421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946523" y="1614964"/>
                <a:ext cx="3575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515973" y="1631156"/>
                <a:ext cx="19578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依据：群 G 非空，至少 1 ∈ G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946142" y="1873568"/>
                <a:ext cx="27293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1 ∈ G ⇒ σ(1) ∈ G′，所以 G′ 非空</a:t>
                </a:r>
              </a:p>
            </p:txBody>
          </p:sp>
        </p:grpSp>
        <p:grpSp>
          <p:nvGrpSpPr>
            <p:cNvPr id="38" name="step-2"/>
            <p:cNvGrpSpPr/>
            <p:nvPr/>
          </p:nvGrpSpPr>
          <p:grpSpPr>
            <a:xfrm>
              <a:off x="4305300" y="2209800"/>
              <a:ext cx="7353300" cy="632651"/>
              <a:chOff x="4305300" y="2209800"/>
              <a:chExt cx="7353300" cy="632651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762500" y="2209800"/>
                <a:ext cx="6896100" cy="628650"/>
              </a:xfrm>
              <a:prstGeom prst="roundRect">
                <a:avLst>
                  <a:gd name="adj" fmla="val 1818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305300" y="22669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404958" y="23469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946523" y="2319814"/>
                <a:ext cx="3575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封闭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278806" y="2336006"/>
                <a:ext cx="11950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依据：σ 的同态性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946142" y="2578418"/>
                <a:ext cx="65042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任取 a′ = σ(a)、b′ = σ(b)：a′b′ = σ(a)σ(b) = σ(ab)，而 ab ∈ G ⇒ a′b′ ∈ G′</a:t>
                </a:r>
              </a:p>
            </p:txBody>
          </p:sp>
        </p:grpSp>
        <p:grpSp>
          <p:nvGrpSpPr>
            <p:cNvPr id="45" name="step-3"/>
            <p:cNvGrpSpPr/>
            <p:nvPr/>
          </p:nvGrpSpPr>
          <p:grpSpPr>
            <a:xfrm>
              <a:off x="4305300" y="2914650"/>
              <a:ext cx="7353300" cy="880301"/>
              <a:chOff x="4305300" y="2914650"/>
              <a:chExt cx="7353300" cy="880301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4762500" y="2914650"/>
                <a:ext cx="6896100" cy="876300"/>
              </a:xfrm>
              <a:prstGeom prst="roundRect">
                <a:avLst>
                  <a:gd name="adj" fmla="val 1304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4305300" y="29718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404958" y="30518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946523" y="3024664"/>
                <a:ext cx="5298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结合律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71346" y="3040856"/>
                <a:ext cx="27024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依据：G 中 a(bc) = (ab)c，故两式相等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946142" y="3283268"/>
                <a:ext cx="3236976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l-GR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a′(b′c′) = σ(a)(σ(b)σ(c)) = σ(a(bc))</a:t>
                </a:r>
                <a:br/>
                <a:r>
                  <a:rPr lang="el-GR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(a′b′)c′ = (σ(a)σ(b))σ(c) = σ((ab)c)</a:t>
                </a:r>
              </a:p>
            </p:txBody>
          </p:sp>
        </p:grpSp>
        <p:grpSp>
          <p:nvGrpSpPr>
            <p:cNvPr id="52" name="step-4"/>
            <p:cNvGrpSpPr/>
            <p:nvPr/>
          </p:nvGrpSpPr>
          <p:grpSpPr>
            <a:xfrm>
              <a:off x="4305300" y="3867150"/>
              <a:ext cx="7353300" cy="632651"/>
              <a:chOff x="4305300" y="3867150"/>
              <a:chExt cx="7353300" cy="632651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4762500" y="3867150"/>
                <a:ext cx="6896100" cy="628650"/>
              </a:xfrm>
              <a:prstGeom prst="roundRect">
                <a:avLst>
                  <a:gd name="adj" fmla="val 1818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4305300" y="39243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4404958" y="40043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946523" y="3977164"/>
                <a:ext cx="115453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左壹就是 σ(1)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673433" y="3993356"/>
                <a:ext cx="18003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依据：1 是 G 的壹，1a = a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946142" y="4235768"/>
                <a:ext cx="53656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对任意 a′ = σ(a) ∈ G′：σ(1)a′ = σ(1)σ(a) = σ(1a) = σ(a) = a′</a:t>
                </a:r>
              </a:p>
            </p:txBody>
          </p:sp>
        </p:grpSp>
        <p:grpSp>
          <p:nvGrpSpPr>
            <p:cNvPr id="59" name="step-5"/>
            <p:cNvGrpSpPr/>
            <p:nvPr/>
          </p:nvGrpSpPr>
          <p:grpSpPr>
            <a:xfrm>
              <a:off x="4305300" y="4572000"/>
              <a:ext cx="7353300" cy="632651"/>
              <a:chOff x="4305300" y="4572000"/>
              <a:chExt cx="7353300" cy="632651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4762500" y="4572000"/>
                <a:ext cx="6896100" cy="628650"/>
              </a:xfrm>
              <a:prstGeom prst="roundRect">
                <a:avLst>
                  <a:gd name="adj" fmla="val 1818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4305300" y="4629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4404958" y="4709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946523" y="4682014"/>
                <a:ext cx="197819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σ(a) 的左逆就是 σ(a⁻¹)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164142" y="4698206"/>
                <a:ext cx="23096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依据：G 是群，a⁻¹ ∈ G，a⁻¹a = 1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946142" y="4940618"/>
                <a:ext cx="43853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σ(a⁻¹) ∈ G′，且 σ(a⁻¹)σ(a) = σ(a⁻¹a) = σ(1) = 1′</a:t>
                </a:r>
              </a:p>
            </p:txBody>
          </p:sp>
        </p:grpSp>
        <p:grpSp>
          <p:nvGrpSpPr>
            <p:cNvPr id="63" name="step-done"/>
            <p:cNvGrpSpPr/>
            <p:nvPr/>
          </p:nvGrpSpPr>
          <p:grpSpPr>
            <a:xfrm>
              <a:off x="4305300" y="5353050"/>
              <a:ext cx="5215929" cy="343948"/>
              <a:chOff x="4305300" y="5353050"/>
              <a:chExt cx="5215929" cy="343948"/>
            </a:xfrm>
          </p:grpSpPr>
          <p:sp>
            <p:nvSpPr>
              <p:cNvPr id="60" name="Ellipse 60"/>
              <p:cNvSpPr/>
              <p:nvPr/>
            </p:nvSpPr>
            <p:spPr>
              <a:xfrm>
                <a:off x="4305300" y="5353050"/>
                <a:ext cx="304800" cy="3048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4402137" y="546576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4755261" y="5418296"/>
                <a:ext cx="476596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所以 G′ 是群，壹 1′ = σ(1)，σ(a) 的逆是 σ(a⁻¹)。∎</a:t>
                </a:r>
              </a:p>
            </p:txBody>
          </p:sp>
        </p:grpSp>
      </p:grpSp>
      <p:grpSp>
        <p:nvGrpSpPr>
          <p:cNvPr id="70" name="corollar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5" name="Rectangle 6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35380" y="6010275"/>
              <a:ext cx="9768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若 σ(a) = σ(b)，则 σ(a⁻¹) = σ(b⁻¹)：两边取逆 (σ(a))⁻¹ = (σ(b))⁻¹，再用 (σ(a))⁻¹ = σ(a⁻¹)。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1" name="TextBox 71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843016" cy="960501"/>
            <a:chOff x="519684" y="361950"/>
            <a:chExt cx="584301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7767" y="432435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· 同构映射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同构映射：只是换了名字的同一个群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definition-iso"/>
          <p:cNvGrpSpPr/>
          <p:nvPr/>
        </p:nvGrpSpPr>
        <p:grpSpPr>
          <a:xfrm>
            <a:off x="533400" y="1485900"/>
            <a:ext cx="6667500" cy="2324100"/>
            <a:chOff x="533400" y="1485900"/>
            <a:chExt cx="6667500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667500" cy="2324100"/>
            </a:xfrm>
            <a:prstGeom prst="roundRect">
              <a:avLst>
                <a:gd name="adj" fmla="val 655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1943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同构映射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66925"/>
              <a:ext cx="4519612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是一个群，K 是一个代数系统，σ 是 G 到 K 内的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一个同态映射。如果 σ 是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 到 σ(G) 上的 1-1 映射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则称 σ 是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同构映射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，称 G 与 σ(G) 同构，记成：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028950"/>
              <a:ext cx="6057900" cy="590550"/>
            </a:xfrm>
            <a:prstGeom prst="roundRect">
              <a:avLst>
                <a:gd name="adj" fmla="val 1935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32007" y="3202305"/>
              <a:ext cx="12226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21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 ≅ σ(G)</a:t>
              </a:r>
            </a:p>
          </p:txBody>
        </p:sp>
      </p:grpSp>
      <p:grpSp>
        <p:nvGrpSpPr>
          <p:cNvPr id="21" name="note-onto"/>
          <p:cNvGrpSpPr/>
          <p:nvPr/>
        </p:nvGrpSpPr>
        <p:grpSpPr>
          <a:xfrm>
            <a:off x="533400" y="3924300"/>
            <a:ext cx="6667500" cy="838200"/>
            <a:chOff x="533400" y="3924300"/>
            <a:chExt cx="6667500" cy="838200"/>
          </a:xfrm>
        </p:grpSpPr>
        <p:sp>
          <p:nvSpPr>
            <p:cNvPr id="16" name="Rectangle 16"/>
            <p:cNvSpPr/>
            <p:nvPr/>
          </p:nvSpPr>
          <p:spPr>
            <a:xfrm>
              <a:off x="533400" y="3924300"/>
              <a:ext cx="6667500" cy="838200"/>
            </a:xfrm>
            <a:prstGeom prst="roundRect">
              <a:avLst>
                <a:gd name="adj" fmla="val 18182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4076700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14400" y="40767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1560" y="4137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9542" y="4121468"/>
              <a:ext cx="3795903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定义只要求 G 到 </a:t>
              </a:r>
              <a:r>
                <a:rPr lang="el-GR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σ(G)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上一一对应（单射即可）；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要说 G ≅ K，σ 还必须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满到整个 K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8" name="definition-auto"/>
          <p:cNvGrpSpPr/>
          <p:nvPr/>
        </p:nvGrpSpPr>
        <p:grpSpPr>
          <a:xfrm>
            <a:off x="533400" y="4876800"/>
            <a:ext cx="6667500" cy="876300"/>
            <a:chOff x="533400" y="4876800"/>
            <a:chExt cx="6667500" cy="876300"/>
          </a:xfrm>
        </p:grpSpPr>
        <p:sp>
          <p:nvSpPr>
            <p:cNvPr id="22" name="Rectangle 22"/>
            <p:cNvSpPr/>
            <p:nvPr/>
          </p:nvSpPr>
          <p:spPr>
            <a:xfrm>
              <a:off x="533400" y="4876800"/>
              <a:ext cx="6667500" cy="876300"/>
            </a:xfrm>
            <a:prstGeom prst="roundRect">
              <a:avLst>
                <a:gd name="adj" fmla="val 1739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5029200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14400" y="49911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1560" y="5052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31442" y="50453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自同构映射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6780" y="5400675"/>
              <a:ext cx="5878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设 G 是群，若 σ 是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 到 G 上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的同构映射，则称 σ 为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自同构映射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9" name="iso-figure"/>
          <p:cNvGrpSpPr/>
          <p:nvPr/>
        </p:nvGrpSpPr>
        <p:grpSpPr>
          <a:xfrm>
            <a:off x="7391400" y="1485900"/>
            <a:ext cx="4267200" cy="4267200"/>
            <a:chOff x="7391400" y="1485900"/>
            <a:chExt cx="4267200" cy="426720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400" y="1485900"/>
              <a:ext cx="4267200" cy="3200400"/>
            </a:xfrm>
            <a:prstGeom prst="roundRect">
              <a:avLst>
                <a:gd name="adj" fmla="val 4761"/>
              </a:avLst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391400" y="4800600"/>
              <a:ext cx="4267200" cy="95250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626350" y="5005388"/>
              <a:ext cx="177800" cy="188913"/>
              <a:chOff x="7626350" y="5005388"/>
              <a:chExt cx="177800" cy="18891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626350" y="5042848"/>
                <a:ext cx="55563" cy="7366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73665">
                    <a:moveTo>
                      <a:pt x="55563" y="0"/>
                    </a:moveTo>
                    <a:cubicBezTo>
                      <a:pt x="55563" y="49095"/>
                      <a:pt x="30682" y="73665"/>
                      <a:pt x="0" y="73665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26350" y="5042848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637463" y="50720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0"/>
                    </a:moveTo>
                    <a:cubicBezTo>
                      <a:pt x="0" y="23825"/>
                      <a:pt x="25025" y="43428"/>
                      <a:pt x="66675" y="44450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15250" y="5094288"/>
                <a:ext cx="88900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0013">
                    <a:moveTo>
                      <a:pt x="0" y="100013"/>
                    </a:moveTo>
                    <a:lnTo>
                      <a:pt x="44450" y="0"/>
                    </a:lnTo>
                    <a:lnTo>
                      <a:pt x="88900" y="100013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25252" y="5172076"/>
                <a:ext cx="6889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8898" h="9525">
                    <a:moveTo>
                      <a:pt x="688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656287" y="5005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812" y="6467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956042" y="5026342"/>
              <a:ext cx="27569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连法完全相同，只是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圆点换成方块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元素换了名字，运算关系一点不变。</a:t>
              </a:r>
            </a:p>
          </p:txBody>
        </p:sp>
      </p:grpSp>
      <p:grpSp>
        <p:nvGrpSpPr>
          <p:cNvPr id="49" name="template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0" name="Rectangle 4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68350" y="6010275"/>
              <a:ext cx="209550" cy="184149"/>
              <a:chOff x="768350" y="6010275"/>
              <a:chExt cx="209550" cy="18414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68350" y="60102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68350" y="60864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68350" y="6162674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63600" y="60293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63600" y="61055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63600" y="6181724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135380" y="6010275"/>
              <a:ext cx="9996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证明同构四步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① 是映射（像唯一）　›　② 单射　›　③ 满射（到 σ(G) 或 K）　›　④ 保运算 σ(ab) = σ(a)σ(b)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5277536" cy="960501"/>
            <a:chOff x="470893" y="361950"/>
            <a:chExt cx="527753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同构映射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2287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例：对数把“乘法”翻译成“加法”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roblem"/>
          <p:cNvGrpSpPr/>
          <p:nvPr/>
        </p:nvGrpSpPr>
        <p:grpSpPr>
          <a:xfrm>
            <a:off x="533400" y="1485900"/>
            <a:ext cx="4876800" cy="1562100"/>
            <a:chOff x="533400" y="1485900"/>
            <a:chExt cx="4876800" cy="1562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876800" cy="1562100"/>
            </a:xfrm>
            <a:prstGeom prst="roundRect">
              <a:avLst>
                <a:gd name="adj" fmla="val 975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383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5632" y="16992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8542" y="1692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对数映射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042" y="2083118"/>
              <a:ext cx="4051363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(R⁺, ·) 是正实数乘法群，(R, +) 是实数加法群，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令 σ : x ↦ log x（以 e 为底），x ∈ R⁺。</a:t>
              </a:r>
            </a:p>
            <a:p>
              <a:pPr algn="l">
                <a:lnSpc>
                  <a:spcPts val="2250"/>
                </a:lnSpc>
                <a:spcBef>
                  <a:spcPts val="300"/>
                </a:spcBef>
              </a:pP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证明：σ 是 R⁺ 到 R 上的同构映射。</a:t>
              </a:r>
            </a:p>
          </p:txBody>
        </p:sp>
      </p:grpSp>
      <p:grpSp>
        <p:nvGrpSpPr>
          <p:cNvPr id="57" name="number-lines"/>
          <p:cNvGrpSpPr/>
          <p:nvPr/>
        </p:nvGrpSpPr>
        <p:grpSpPr>
          <a:xfrm>
            <a:off x="533400" y="3200400"/>
            <a:ext cx="4876800" cy="2552700"/>
            <a:chOff x="533400" y="3200400"/>
            <a:chExt cx="48768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533400" y="3200400"/>
              <a:ext cx="4876800" cy="2552700"/>
            </a:xfrm>
            <a:prstGeom prst="roundRect">
              <a:avLst>
                <a:gd name="adj" fmla="val 59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7804" y="3356610"/>
              <a:ext cx="1421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“乘 e” 对应 “加 1”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180" y="38957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R⁺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066800" y="400050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31" name="top-ticks"/>
            <p:cNvGrpSpPr/>
            <p:nvPr/>
          </p:nvGrpSpPr>
          <p:grpSpPr>
            <a:xfrm>
              <a:off x="1467164" y="3601402"/>
              <a:ext cx="3021150" cy="803149"/>
              <a:chOff x="1467164" y="3601402"/>
              <a:chExt cx="3021150" cy="803149"/>
            </a:xfrm>
          </p:grpSpPr>
          <p:sp>
            <p:nvSpPr>
              <p:cNvPr id="17" name="Line 17"/>
              <p:cNvSpPr/>
              <p:nvPr/>
            </p:nvSpPr>
            <p:spPr>
              <a:xfrm>
                <a:off x="1524000" y="3924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2476500" y="3924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3429000" y="3924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4381500" y="3924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581150" y="3752850"/>
                <a:ext cx="838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152400">
                    <a:moveTo>
                      <a:pt x="0" y="152400"/>
                    </a:moveTo>
                    <a:cubicBezTo>
                      <a:pt x="279400" y="0"/>
                      <a:pt x="558800" y="0"/>
                      <a:pt x="838200" y="15240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533650" y="3752850"/>
                <a:ext cx="838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152400">
                    <a:moveTo>
                      <a:pt x="0" y="152400"/>
                    </a:moveTo>
                    <a:cubicBezTo>
                      <a:pt x="279400" y="0"/>
                      <a:pt x="558800" y="0"/>
                      <a:pt x="838200" y="15240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486150" y="3752850"/>
                <a:ext cx="838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152400">
                    <a:moveTo>
                      <a:pt x="0" y="152400"/>
                    </a:moveTo>
                    <a:cubicBezTo>
                      <a:pt x="279400" y="0"/>
                      <a:pt x="558800" y="0"/>
                      <a:pt x="838200" y="15240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891023" y="3601402"/>
                <a:ext cx="2184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× 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843523" y="3601402"/>
                <a:ext cx="2184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× 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96023" y="3601402"/>
                <a:ext cx="2184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× 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467164" y="41405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419664" y="41405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22187" y="414051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e²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274687" y="414051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e³</a:t>
                </a:r>
              </a:p>
            </p:txBody>
          </p:sp>
        </p:grpSp>
        <p:grpSp>
          <p:nvGrpSpPr>
            <p:cNvPr id="41" name="log-arrows"/>
            <p:cNvGrpSpPr/>
            <p:nvPr/>
          </p:nvGrpSpPr>
          <p:grpSpPr>
            <a:xfrm>
              <a:off x="1476375" y="4362450"/>
              <a:ext cx="3301091" cy="533400"/>
              <a:chOff x="1476375" y="4362450"/>
              <a:chExt cx="3301091" cy="533400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1524000" y="436245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custDash>
                  <a:ds d="250000" sp="200000"/>
                </a:custDash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2476500" y="436245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custDash>
                  <a:ds d="250000" sp="200000"/>
                </a:custDash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3429000" y="436245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custDash>
                  <a:ds d="250000" sp="200000"/>
                </a:custDash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4381500" y="436245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custDash>
                  <a:ds d="250000" sp="200000"/>
                </a:custDash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476375" y="48006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lnTo>
                      <a:pt x="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2428875" y="48006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lnTo>
                      <a:pt x="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381375" y="48006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lnTo>
                      <a:pt x="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333875" y="48006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lnTo>
                      <a:pt x="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527804" y="4537710"/>
                <a:ext cx="24966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log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754380" y="5038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R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066800" y="514350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55" name="bottom-ticks"/>
            <p:cNvGrpSpPr/>
            <p:nvPr/>
          </p:nvGrpSpPr>
          <p:grpSpPr>
            <a:xfrm>
              <a:off x="1467164" y="4953952"/>
              <a:ext cx="2971171" cy="593599"/>
              <a:chOff x="1467164" y="4953952"/>
              <a:chExt cx="2971171" cy="593599"/>
            </a:xfrm>
          </p:grpSpPr>
          <p:sp>
            <p:nvSpPr>
              <p:cNvPr id="44" name="Line 44"/>
              <p:cNvSpPr/>
              <p:nvPr/>
            </p:nvSpPr>
            <p:spPr>
              <a:xfrm>
                <a:off x="1524000" y="5067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2476500" y="5067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3429000" y="5067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4381500" y="5067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891023" y="4953952"/>
                <a:ext cx="2184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+ 1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843523" y="4953952"/>
                <a:ext cx="2184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+ 1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796023" y="4953952"/>
                <a:ext cx="2184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+ 1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467164" y="52835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419664" y="52835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372164" y="52835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324664" y="52835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966408" y="554450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上方按对数刻度画：等距 = 等比</a:t>
              </a:r>
            </a:p>
          </p:txBody>
        </p:sp>
      </p:grpSp>
      <p:grpSp>
        <p:nvGrpSpPr>
          <p:cNvPr id="80" name="proof-steps"/>
          <p:cNvGrpSpPr/>
          <p:nvPr/>
        </p:nvGrpSpPr>
        <p:grpSpPr>
          <a:xfrm>
            <a:off x="5753100" y="1562100"/>
            <a:ext cx="5905500" cy="3029998"/>
            <a:chOff x="5753100" y="1562100"/>
            <a:chExt cx="5905500" cy="3029998"/>
          </a:xfrm>
        </p:grpSpPr>
        <p:sp>
          <p:nvSpPr>
            <p:cNvPr id="58" name="Line 58"/>
            <p:cNvSpPr/>
            <p:nvPr/>
          </p:nvSpPr>
          <p:spPr>
            <a:xfrm>
              <a:off x="5905500" y="171450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63" name="step-injective"/>
            <p:cNvGrpSpPr/>
            <p:nvPr/>
          </p:nvGrpSpPr>
          <p:grpSpPr>
            <a:xfrm>
              <a:off x="5753100" y="1562100"/>
              <a:ext cx="4287393" cy="880301"/>
              <a:chOff x="5753100" y="1562100"/>
              <a:chExt cx="4287393" cy="880301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5753100" y="15621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5852758" y="16421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203442" y="16259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单射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203442" y="1930718"/>
                <a:ext cx="3837051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任取 x₁, x₂ ∈ R⁺，若 x₁ ≠ x₂，则 log x₁ ≠ log x₂</a:t>
                </a:r>
              </a:p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（log x 严格单调递增）</a:t>
                </a:r>
              </a:p>
            </p:txBody>
          </p:sp>
        </p:grpSp>
        <p:grpSp>
          <p:nvGrpSpPr>
            <p:cNvPr id="68" name="step-surjective"/>
            <p:cNvGrpSpPr/>
            <p:nvPr/>
          </p:nvGrpSpPr>
          <p:grpSpPr>
            <a:xfrm>
              <a:off x="5753100" y="2571750"/>
              <a:ext cx="3948951" cy="632651"/>
              <a:chOff x="5753100" y="2571750"/>
              <a:chExt cx="3948951" cy="632651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5753100" y="25717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5852758" y="26517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203442" y="26355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满射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203442" y="2940368"/>
                <a:ext cx="34986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任取 x ∈ R，存在 eˣ ∈ R⁺，满足 log eˣ = x</a:t>
                </a:r>
              </a:p>
            </p:txBody>
          </p:sp>
        </p:grpSp>
        <p:grpSp>
          <p:nvGrpSpPr>
            <p:cNvPr id="75" name="step-operation"/>
            <p:cNvGrpSpPr/>
            <p:nvPr/>
          </p:nvGrpSpPr>
          <p:grpSpPr>
            <a:xfrm>
              <a:off x="5753100" y="3314700"/>
              <a:ext cx="5905500" cy="819150"/>
              <a:chOff x="5753100" y="3314700"/>
              <a:chExt cx="5905500" cy="819150"/>
            </a:xfrm>
          </p:grpSpPr>
          <p:sp>
            <p:nvSpPr>
              <p:cNvPr id="69" name="Ellipse 69"/>
              <p:cNvSpPr/>
              <p:nvPr/>
            </p:nvSpPr>
            <p:spPr>
              <a:xfrm>
                <a:off x="5753100" y="33147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5852758" y="3394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203442" y="33785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保运算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359082" y="3402806"/>
                <a:ext cx="211473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依据：log(a·b) = log a + log b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6210300" y="3657600"/>
                <a:ext cx="5448300" cy="476250"/>
              </a:xfrm>
              <a:prstGeom prst="roundRect">
                <a:avLst>
                  <a:gd name="adj" fmla="val 24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6574346" y="3800475"/>
                <a:ext cx="47202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σ(a · b) = log(a · b) = log a + log b = σ(a) + σ(b)</a:t>
                </a:r>
              </a:p>
            </p:txBody>
          </p:sp>
        </p:grpSp>
        <p:grpSp>
          <p:nvGrpSpPr>
            <p:cNvPr id="79" name="step-done"/>
            <p:cNvGrpSpPr/>
            <p:nvPr/>
          </p:nvGrpSpPr>
          <p:grpSpPr>
            <a:xfrm>
              <a:off x="5753100" y="4248150"/>
              <a:ext cx="3321692" cy="343948"/>
              <a:chOff x="5753100" y="4248150"/>
              <a:chExt cx="3321692" cy="343948"/>
            </a:xfrm>
          </p:grpSpPr>
          <p:sp>
            <p:nvSpPr>
              <p:cNvPr id="76" name="Ellipse 76"/>
              <p:cNvSpPr/>
              <p:nvPr/>
            </p:nvSpPr>
            <p:spPr>
              <a:xfrm>
                <a:off x="5753100" y="4248150"/>
                <a:ext cx="304800" cy="3048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849937" y="436086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6203061" y="4313396"/>
                <a:ext cx="28717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故 σ 是 R⁺ 到 R 上的同构映射。∎</a:t>
                </a:r>
              </a:p>
            </p:txBody>
          </p:sp>
        </p:grpSp>
      </p:grpSp>
      <p:grpSp>
        <p:nvGrpSpPr>
          <p:cNvPr id="87" name="note-many"/>
          <p:cNvGrpSpPr/>
          <p:nvPr/>
        </p:nvGrpSpPr>
        <p:grpSpPr>
          <a:xfrm>
            <a:off x="5638800" y="4762500"/>
            <a:ext cx="6019800" cy="990600"/>
            <a:chOff x="5638800" y="4762500"/>
            <a:chExt cx="6019800" cy="990600"/>
          </a:xfrm>
        </p:grpSpPr>
        <p:sp>
          <p:nvSpPr>
            <p:cNvPr id="81" name="Rectangle 81"/>
            <p:cNvSpPr/>
            <p:nvPr/>
          </p:nvSpPr>
          <p:spPr>
            <a:xfrm>
              <a:off x="5638800" y="4762500"/>
              <a:ext cx="6019800" cy="990600"/>
            </a:xfrm>
            <a:prstGeom prst="roundRect">
              <a:avLst>
                <a:gd name="adj" fmla="val 15385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791200" y="4914900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5981700" y="48958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123432" y="49568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565392" y="4950142"/>
              <a:ext cx="4404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 σ(x) = log₂x 或 σ(x) = log₁₀x，也得到 R⁺ 到 R 上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974842" y="5321618"/>
              <a:ext cx="5120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不同的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同构映射——群之间可以有很多个甚至无限多个同构映射。</a:t>
              </a:r>
            </a:p>
          </p:txBody>
        </p:sp>
      </p:grpSp>
      <p:grpSp>
        <p:nvGrpSpPr>
          <p:cNvPr id="9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8" name="Rectangle 8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74700" y="5991225"/>
              <a:ext cx="203200" cy="215900"/>
              <a:chOff x="774700" y="5991225"/>
              <a:chExt cx="203200" cy="2159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74700" y="6034036"/>
                <a:ext cx="63500" cy="841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84188">
                    <a:moveTo>
                      <a:pt x="63500" y="0"/>
                    </a:moveTo>
                    <a:cubicBezTo>
                      <a:pt x="63500" y="56108"/>
                      <a:pt x="35065" y="84188"/>
                      <a:pt x="0" y="84188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74700" y="6034036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87400" y="60674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0"/>
                    </a:moveTo>
                    <a:cubicBezTo>
                      <a:pt x="0" y="27229"/>
                      <a:pt x="28600" y="49631"/>
                      <a:pt x="7620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76300" y="6092825"/>
                <a:ext cx="101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14300">
                    <a:moveTo>
                      <a:pt x="0" y="114300"/>
                    </a:moveTo>
                    <a:lnTo>
                      <a:pt x="50800" y="0"/>
                    </a:lnTo>
                    <a:lnTo>
                      <a:pt x="101600" y="1143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87730" y="6181724"/>
                <a:ext cx="787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740" h="9525">
                    <a:moveTo>
                      <a:pt x="7874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08914" y="5991225"/>
                <a:ext cx="1007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71" h="9525">
                    <a:moveTo>
                      <a:pt x="0" y="0"/>
                    </a:moveTo>
                    <a:lnTo>
                      <a:pt x="10071" y="7391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134618" y="6003608"/>
              <a:ext cx="8158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 把乘法“翻译”成加法：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(R⁺, ·) ≅ (R, +)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——这正是计算尺“化乘为加”的原理。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8" name="TextBox 98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4494249" cy="960501"/>
            <a:chOff x="470893" y="361950"/>
            <a:chExt cx="449424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同构映射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44545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例：两个“长得像整数”的群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example-cyclic"/>
          <p:cNvGrpSpPr/>
          <p:nvPr/>
        </p:nvGrpSpPr>
        <p:grpSpPr>
          <a:xfrm>
            <a:off x="533400" y="1485900"/>
            <a:ext cx="5448300" cy="4267200"/>
            <a:chOff x="533400" y="1485900"/>
            <a:chExt cx="5448300" cy="4267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48300" cy="42672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383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643" y="169926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3980" y="167640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无限循环群同构于整数加法群</a:t>
              </a:r>
            </a:p>
          </p:txBody>
        </p:sp>
        <p:grpSp>
          <p:nvGrpSpPr>
            <p:cNvPr id="33" name="strip-cyclic"/>
            <p:cNvGrpSpPr/>
            <p:nvPr/>
          </p:nvGrpSpPr>
          <p:grpSpPr>
            <a:xfrm>
              <a:off x="685800" y="2000250"/>
              <a:ext cx="5143500" cy="842201"/>
              <a:chOff x="685800" y="2000250"/>
              <a:chExt cx="5143500" cy="842201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685800" y="2000250"/>
                <a:ext cx="5143500" cy="838200"/>
              </a:xfrm>
              <a:prstGeom prst="roundRect">
                <a:avLst>
                  <a:gd name="adj" fmla="val 1363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009964" y="2140268"/>
                <a:ext cx="4495171" cy="702183"/>
                <a:chOff x="1009964" y="2140268"/>
                <a:chExt cx="4495171" cy="702183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1009964" y="214026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Cambria Math"/>
                      <a:ea typeface="Cambria Math"/>
                      <a:cs typeface="Cambria Math"/>
                    </a:rPr>
                    <a:t>…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652959" y="2140268"/>
                  <a:ext cx="31358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g⁻²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2395909" y="2140268"/>
                  <a:ext cx="31358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g⁻¹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3188837" y="2140268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g⁰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3931787" y="2140268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g¹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4674737" y="2140268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g²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391464" y="214026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Cambria Math"/>
                      <a:ea typeface="Cambria Math"/>
                      <a:cs typeface="Cambria Math"/>
                    </a:rPr>
                    <a:t>…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00996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Cambria Math"/>
                      <a:ea typeface="Cambria Math"/>
                      <a:cs typeface="Cambria Math"/>
                    </a:rPr>
                    <a:t>…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702937" y="2578418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−2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2445887" y="2578418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−1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323881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398176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72471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2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539146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Cambria Math"/>
                      <a:ea typeface="Cambria Math"/>
                      <a:cs typeface="Cambria Math"/>
                    </a:rPr>
                    <a:t>…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1809750" y="2362200"/>
                <a:ext cx="2981325" cy="171450"/>
                <a:chOff x="1809750" y="2362200"/>
                <a:chExt cx="2981325" cy="171450"/>
              </a:xfrm>
            </p:grpSpPr>
            <p:sp>
              <p:nvSpPr>
                <p:cNvPr id="27" name="Line 27"/>
                <p:cNvSpPr/>
                <p:nvPr/>
              </p:nvSpPr>
              <p:spPr>
                <a:xfrm>
                  <a:off x="180975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8" name="Line 28"/>
                <p:cNvSpPr/>
                <p:nvPr/>
              </p:nvSpPr>
              <p:spPr>
                <a:xfrm>
                  <a:off x="255270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9" name="Line 29"/>
                <p:cNvSpPr/>
                <p:nvPr/>
              </p:nvSpPr>
              <p:spPr>
                <a:xfrm>
                  <a:off x="329565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0" name="Line 30"/>
                <p:cNvSpPr/>
                <p:nvPr/>
              </p:nvSpPr>
              <p:spPr>
                <a:xfrm>
                  <a:off x="403860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1" name="Line 31"/>
                <p:cNvSpPr/>
                <p:nvPr/>
              </p:nvSpPr>
              <p:spPr>
                <a:xfrm>
                  <a:off x="478155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</p:grpSp>
        <p:sp>
          <p:nvSpPr>
            <p:cNvPr id="34" name="TextBox 34"/>
            <p:cNvSpPr txBox="1"/>
            <p:nvPr/>
          </p:nvSpPr>
          <p:spPr>
            <a:xfrm>
              <a:off x="717042" y="2997518"/>
              <a:ext cx="4282821" cy="740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= (g) 是无限循环群，Z 为整数加法群，对 ∀a ∈ G，</a:t>
              </a:r>
            </a:p>
            <a:p>
              <a:pPr algn="l">
                <a:lnSpc>
                  <a:spcPts val="1800"/>
                </a:lnSpc>
                <a:spcBef>
                  <a:spcPts val="150"/>
                </a:spcBef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∃n ∈ Z 使 a = gⁿ，令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 : a ↦ n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（g 的阶无限：gᵐ = gⁿ ⇔ m = n，所以 f 的定义是合理的）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23900" y="38100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2051" y="3858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1842" y="3835718"/>
              <a:ext cx="399135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：任取 a = gᵐ，b = gⁿ ∈ G 且 a ≠ b，知 m ≠ n，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 f(gᵐ) = m，f(gⁿ) = n，故 f(a) ≠ f(b)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23900" y="44005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2051" y="44491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1842" y="4426268"/>
              <a:ext cx="3931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满射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：任取 n ∈ Z，存在 gⁿ ∈ G，满足 f(gⁿ) = n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23900" y="47434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2051" y="4792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1842" y="4769168"/>
              <a:ext cx="423138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保运算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：任取 a, b ∈ G，有 i, j ∈ Z 使 a = gⁱ，b = gʲ，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f(gⁱgʲ) = f(gⁱ⁺ʲ) = i + j = f(gⁱ) + f(gʲ)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7042" y="5416868"/>
              <a:ext cx="3678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因此 f 是 G 到 Z 上的同构映射，即 G ≅ Z。∎</a:t>
              </a:r>
            </a:p>
          </p:txBody>
        </p:sp>
      </p:grpSp>
      <p:grpSp>
        <p:nvGrpSpPr>
          <p:cNvPr id="84" name="example-even"/>
          <p:cNvGrpSpPr/>
          <p:nvPr/>
        </p:nvGrpSpPr>
        <p:grpSpPr>
          <a:xfrm>
            <a:off x="6210300" y="1485900"/>
            <a:ext cx="5448300" cy="4267200"/>
            <a:chOff x="6210300" y="1485900"/>
            <a:chExt cx="5448300" cy="4267200"/>
          </a:xfrm>
        </p:grpSpPr>
        <p:sp>
          <p:nvSpPr>
            <p:cNvPr id="46" name="Rectangle 46"/>
            <p:cNvSpPr/>
            <p:nvPr/>
          </p:nvSpPr>
          <p:spPr>
            <a:xfrm>
              <a:off x="6210300" y="1485900"/>
              <a:ext cx="5448300" cy="42672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00800" y="16383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08543" y="169926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40880" y="167640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整数加法群同构于偶数加法群</a:t>
              </a:r>
            </a:p>
          </p:txBody>
        </p:sp>
        <p:grpSp>
          <p:nvGrpSpPr>
            <p:cNvPr id="72" name="strip-even"/>
            <p:cNvGrpSpPr/>
            <p:nvPr/>
          </p:nvGrpSpPr>
          <p:grpSpPr>
            <a:xfrm>
              <a:off x="6362700" y="2000250"/>
              <a:ext cx="5143500" cy="842201"/>
              <a:chOff x="6362700" y="2000250"/>
              <a:chExt cx="5143500" cy="842201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362700" y="2000250"/>
                <a:ext cx="5143500" cy="838200"/>
              </a:xfrm>
              <a:prstGeom prst="roundRect">
                <a:avLst>
                  <a:gd name="adj" fmla="val 1363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6686864" y="2140268"/>
                <a:ext cx="4495171" cy="702183"/>
                <a:chOff x="6686864" y="2140268"/>
                <a:chExt cx="4495171" cy="702183"/>
              </a:xfrm>
            </p:grpSpPr>
            <p:sp>
              <p:nvSpPr>
                <p:cNvPr id="51" name="TextBox 51"/>
                <p:cNvSpPr txBox="1"/>
                <p:nvPr/>
              </p:nvSpPr>
              <p:spPr>
                <a:xfrm>
                  <a:off x="6686864" y="214026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Cambria Math"/>
                      <a:ea typeface="Cambria Math"/>
                      <a:cs typeface="Cambria Math"/>
                    </a:rPr>
                    <a:t>…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7379837" y="2140268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−2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8122787" y="2140268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−1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915714" y="214026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9658664" y="214026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10401614" y="214026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2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11068364" y="214026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Cambria Math"/>
                      <a:ea typeface="Cambria Math"/>
                      <a:cs typeface="Cambria Math"/>
                    </a:rPr>
                    <a:t>…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668686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Cambria Math"/>
                      <a:ea typeface="Cambria Math"/>
                      <a:cs typeface="Cambria Math"/>
                    </a:rPr>
                    <a:t>…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7379837" y="2578418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−4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8122787" y="2578418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−2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891571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0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965866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2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1040161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4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11068364" y="2578418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Cambria Math"/>
                      <a:ea typeface="Cambria Math"/>
                      <a:cs typeface="Cambria Math"/>
                    </a:rPr>
                    <a:t>…</a:t>
                  </a:r>
                </a:p>
              </p:txBody>
            </p:sp>
          </p:grpSp>
          <p:grpSp>
            <p:nvGrpSpPr>
              <p:cNvPr id="71" name="Group 71"/>
              <p:cNvGrpSpPr/>
              <p:nvPr/>
            </p:nvGrpSpPr>
            <p:grpSpPr>
              <a:xfrm>
                <a:off x="7486650" y="2362200"/>
                <a:ext cx="2981325" cy="171450"/>
                <a:chOff x="7486650" y="2362200"/>
                <a:chExt cx="2981325" cy="171450"/>
              </a:xfrm>
            </p:grpSpPr>
            <p:sp>
              <p:nvSpPr>
                <p:cNvPr id="66" name="Line 66"/>
                <p:cNvSpPr/>
                <p:nvPr/>
              </p:nvSpPr>
              <p:spPr>
                <a:xfrm>
                  <a:off x="748665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67" name="Line 67"/>
                <p:cNvSpPr/>
                <p:nvPr/>
              </p:nvSpPr>
              <p:spPr>
                <a:xfrm>
                  <a:off x="822960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68" name="Line 68"/>
                <p:cNvSpPr/>
                <p:nvPr/>
              </p:nvSpPr>
              <p:spPr>
                <a:xfrm>
                  <a:off x="897255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69" name="Line 69"/>
                <p:cNvSpPr/>
                <p:nvPr/>
              </p:nvSpPr>
              <p:spPr>
                <a:xfrm>
                  <a:off x="971550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70" name="Line 70"/>
                <p:cNvSpPr/>
                <p:nvPr/>
              </p:nvSpPr>
              <p:spPr>
                <a:xfrm>
                  <a:off x="10458450" y="236220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</p:grpSp>
        <p:sp>
          <p:nvSpPr>
            <p:cNvPr id="73" name="TextBox 73"/>
            <p:cNvSpPr txBox="1"/>
            <p:nvPr/>
          </p:nvSpPr>
          <p:spPr>
            <a:xfrm>
              <a:off x="6393942" y="2997518"/>
              <a:ext cx="39570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证明整数加法群 (Z, +) 同构于偶数加法群 (B, +)。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令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 : n ↦ 2n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，∀n ∈ Z，f 是 Z 到 B 的映射。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400800" y="38100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68951" y="3858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98742" y="3835718"/>
              <a:ext cx="447998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：∀m, n ∈ Z，若 f(m) = f(n)，即 2m = 2n，则 m = n</a:t>
              </a:r>
            </a:p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（单射的另一种写法：像相等 ⇒ 原像相等）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400800" y="44005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468951" y="44491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98742" y="4426268"/>
              <a:ext cx="402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满射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：∀k ∈ B，存在 m = k/2 ∈ Z，f(m) = 2m = k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400800" y="47434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68951" y="4792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98742" y="4769168"/>
              <a:ext cx="360559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保运算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：对任意 m, n ∈ Z，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f(m + n) = 2(m + n) = 2m + 2n = f(m) + f(n)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393942" y="5416868"/>
              <a:ext cx="3751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综上，f 是 (Z, +) 到 (B, +) 的同构映射。∎</a:t>
              </a:r>
            </a:p>
          </p:txBody>
        </p:sp>
      </p:grpSp>
      <p:grpSp>
        <p:nvGrpSpPr>
          <p:cNvPr id="9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5" name="Rectangle 8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74698" y="5997720"/>
              <a:ext cx="209388" cy="215583"/>
              <a:chOff x="774698" y="5997720"/>
              <a:chExt cx="209388" cy="215583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838200" y="60674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63600" y="5997720"/>
                <a:ext cx="120486" cy="120505"/>
              </a:xfrm>
              <a:custGeom>
                <a:avLst/>
                <a:gdLst/>
                <a:ahLst/>
                <a:cxnLst/>
                <a:rect l="l" t="t" r="r" b="b"/>
                <a:pathLst>
                  <a:path w="120486" h="120505">
                    <a:moveTo>
                      <a:pt x="0" y="31605"/>
                    </a:moveTo>
                    <a:lnTo>
                      <a:pt x="5880" y="24798"/>
                    </a:lnTo>
                    <a:cubicBezTo>
                      <a:pt x="30682" y="0"/>
                      <a:pt x="70890" y="3"/>
                      <a:pt x="95688" y="24804"/>
                    </a:cubicBezTo>
                    <a:cubicBezTo>
                      <a:pt x="120486" y="49606"/>
                      <a:pt x="120483" y="89814"/>
                      <a:pt x="95682" y="114612"/>
                    </a:cubicBezTo>
                    <a:lnTo>
                      <a:pt x="88900" y="12050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74698" y="6092825"/>
                <a:ext cx="114302" cy="120478"/>
              </a:xfrm>
              <a:custGeom>
                <a:avLst/>
                <a:gdLst/>
                <a:ahLst/>
                <a:cxnLst/>
                <a:rect l="l" t="t" r="r" b="b"/>
                <a:pathLst>
                  <a:path w="114302" h="120478">
                    <a:moveTo>
                      <a:pt x="114302" y="88900"/>
                    </a:moveTo>
                    <a:lnTo>
                      <a:pt x="109260" y="95682"/>
                    </a:lnTo>
                    <a:cubicBezTo>
                      <a:pt x="84184" y="120478"/>
                      <a:pt x="43823" y="120478"/>
                      <a:pt x="18747" y="95682"/>
                    </a:cubicBezTo>
                    <a:cubicBezTo>
                      <a:pt x="6751" y="83820"/>
                      <a:pt x="0" y="67651"/>
                      <a:pt x="0" y="50781"/>
                    </a:cubicBezTo>
                    <a:cubicBezTo>
                      <a:pt x="0" y="33911"/>
                      <a:pt x="6751" y="17742"/>
                      <a:pt x="18747" y="5880"/>
                    </a:cubicBezTo>
                    <a:lnTo>
                      <a:pt x="25402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134618" y="6003608"/>
              <a:ext cx="76862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是 Z 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真子集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，却与 Z 同构——无限群可以和自己的真子群“结构一模一样”。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2" name="TextBox 92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6392030" cy="960501"/>
            <a:chOff x="470893" y="361950"/>
            <a:chExt cx="639203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同构映射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3432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反例：(R*, ·) 与 (R, +) 不可能同构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proof-steps"/>
          <p:cNvGrpSpPr/>
          <p:nvPr/>
        </p:nvGrpSpPr>
        <p:grpSpPr>
          <a:xfrm>
            <a:off x="533400" y="1485900"/>
            <a:ext cx="6286500" cy="4267200"/>
            <a:chOff x="533400" y="1485900"/>
            <a:chExt cx="6286500" cy="4267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286500" cy="4267200"/>
            </a:xfrm>
            <a:prstGeom prst="roundRect">
              <a:avLst>
                <a:gd name="adj" fmla="val 357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838200" cy="2667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4588" y="1680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反证法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9542" y="16735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假设能同构，推出矛盾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22098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6" name="step-assume"/>
            <p:cNvGrpSpPr/>
            <p:nvPr/>
          </p:nvGrpSpPr>
          <p:grpSpPr>
            <a:xfrm>
              <a:off x="762000" y="2057400"/>
              <a:ext cx="5453767" cy="594551"/>
              <a:chOff x="762000" y="2057400"/>
              <a:chExt cx="5453767" cy="594551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762000" y="20574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61658" y="2137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12723" y="21293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假设同构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12342" y="2387918"/>
                <a:ext cx="50034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假设 (R*, ·) 与 (R, +) 同构，设 σ 是 R* 到 R 上的同构映射</a:t>
                </a:r>
              </a:p>
            </p:txBody>
          </p:sp>
        </p:grpSp>
        <p:grpSp>
          <p:nvGrpSpPr>
            <p:cNvPr id="21" name="step-identity"/>
            <p:cNvGrpSpPr/>
            <p:nvPr/>
          </p:nvGrpSpPr>
          <p:grpSpPr>
            <a:xfrm>
              <a:off x="762000" y="2743200"/>
              <a:ext cx="4312253" cy="861251"/>
              <a:chOff x="762000" y="2743200"/>
              <a:chExt cx="4312253" cy="861251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762000" y="27432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61658" y="28232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12723" y="2815114"/>
                <a:ext cx="12178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看 1 和 −1 的像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2342" y="3073718"/>
                <a:ext cx="3861911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单位元对单位元（定理 6.4.1）：必有 </a:t>
                </a:r>
                <a:r>
                  <a:rPr lang="el-GR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σ(1) = 0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；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σ 是单射且 −1 ≠ 1，故 </a:t>
                </a:r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σ(−1) = a，a ≠ 0</a:t>
                </a:r>
              </a:p>
            </p:txBody>
          </p:sp>
        </p:grpSp>
        <p:grpSp>
          <p:nvGrpSpPr>
            <p:cNvPr id="28" name="step-compute"/>
            <p:cNvGrpSpPr/>
            <p:nvPr/>
          </p:nvGrpSpPr>
          <p:grpSpPr>
            <a:xfrm>
              <a:off x="762000" y="3733800"/>
              <a:ext cx="5873115" cy="819150"/>
              <a:chOff x="762000" y="3733800"/>
              <a:chExt cx="5873115" cy="8191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62000" y="37338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61658" y="38138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2723" y="3805714"/>
                <a:ext cx="8099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计算 σ(1)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37456" y="3821906"/>
                <a:ext cx="219765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依据：(−1)·(−1) = 1，σ 保运算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219200" y="4076700"/>
                <a:ext cx="5410200" cy="476250"/>
              </a:xfrm>
              <a:prstGeom prst="roundRect">
                <a:avLst>
                  <a:gd name="adj" fmla="val 24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554099" y="4229100"/>
                <a:ext cx="47404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σ(1) = σ((−1)·(−1)) = σ(−1) + σ(−1) = a + a = 2a</a:t>
                </a:r>
              </a:p>
            </p:txBody>
          </p:sp>
        </p:grpSp>
        <p:grpSp>
          <p:nvGrpSpPr>
            <p:cNvPr id="33" name="step-contradiction"/>
            <p:cNvGrpSpPr/>
            <p:nvPr/>
          </p:nvGrpSpPr>
          <p:grpSpPr>
            <a:xfrm>
              <a:off x="762000" y="4724400"/>
              <a:ext cx="4322540" cy="899351"/>
              <a:chOff x="762000" y="4724400"/>
              <a:chExt cx="4322540" cy="899351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762000" y="4724400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61658" y="4804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12723" y="4796314"/>
                <a:ext cx="3575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矛盾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12342" y="5054918"/>
                <a:ext cx="3872198" cy="5688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σ(1) = 0 ⇒ 2a = 0 ⇒ a = 0，与 a ≠ 0 矛盾。</a:t>
                </a:r>
                <a:br/>
                <a:r>
                  <a:rPr lang="zh-CN" sz="13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故原假设不对：(R*, ·) 与 (R, +) 不可能同构。∎</a:t>
                </a:r>
              </a:p>
            </p:txBody>
          </p:sp>
        </p:grpSp>
      </p:grpSp>
      <p:grpSp>
        <p:nvGrpSpPr>
          <p:cNvPr id="48" name="intuition"/>
          <p:cNvGrpSpPr/>
          <p:nvPr/>
        </p:nvGrpSpPr>
        <p:grpSpPr>
          <a:xfrm>
            <a:off x="7048500" y="1485900"/>
            <a:ext cx="4610100" cy="2514600"/>
            <a:chOff x="7048500" y="1485900"/>
            <a:chExt cx="4610100" cy="2514600"/>
          </a:xfrm>
        </p:grpSpPr>
        <p:sp>
          <p:nvSpPr>
            <p:cNvPr id="35" name="Rectangle 35"/>
            <p:cNvSpPr/>
            <p:nvPr/>
          </p:nvSpPr>
          <p:spPr>
            <a:xfrm>
              <a:off x="7048500" y="1485900"/>
              <a:ext cx="4610100" cy="2514600"/>
            </a:xfrm>
            <a:prstGeom prst="roundRect">
              <a:avLst>
                <a:gd name="adj" fmla="val 6061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9956" y="1669256"/>
              <a:ext cx="185737" cy="185737"/>
              <a:chOff x="7269956" y="1669256"/>
              <a:chExt cx="185737" cy="185737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269956" y="16692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306856" y="17105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339092" y="18137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575042" y="1683068"/>
              <a:ext cx="2586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直观：两边的“结构特征”对不上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200900" y="2000250"/>
              <a:ext cx="4305300" cy="762000"/>
            </a:xfrm>
            <a:prstGeom prst="roundRect">
              <a:avLst>
                <a:gd name="adj" fmla="val 1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19594" y="2265998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R*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94142" y="2159318"/>
              <a:ext cx="216255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−1 满足 x · x = 1，但 x ≠ 1</a:t>
              </a:r>
            </a:p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有“自乘回到单位元”的非单位元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200900" y="2857500"/>
              <a:ext cx="4305300" cy="762000"/>
            </a:xfrm>
            <a:prstGeom prst="roundRect">
              <a:avLst>
                <a:gd name="adj" fmla="val 1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76744" y="3123248"/>
              <a:ext cx="17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94142" y="3016568"/>
              <a:ext cx="152247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+ x = 0 只有 x = 0</a:t>
              </a:r>
            </a:p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没有这样的非单位元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32904" y="3737610"/>
              <a:ext cx="3276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同构会把这种元素送到这种元素 ⇒ 不可能同构</a:t>
              </a:r>
            </a:p>
          </p:txBody>
        </p:sp>
      </p:grpSp>
      <p:grpSp>
        <p:nvGrpSpPr>
          <p:cNvPr id="56" name="pitfall"/>
          <p:cNvGrpSpPr/>
          <p:nvPr/>
        </p:nvGrpSpPr>
        <p:grpSpPr>
          <a:xfrm>
            <a:off x="7048500" y="4152900"/>
            <a:ext cx="4610100" cy="1600200"/>
            <a:chOff x="7048500" y="4152900"/>
            <a:chExt cx="4610100" cy="1600200"/>
          </a:xfrm>
        </p:grpSpPr>
        <p:sp>
          <p:nvSpPr>
            <p:cNvPr id="49" name="Rectangle 49"/>
            <p:cNvSpPr/>
            <p:nvPr/>
          </p:nvSpPr>
          <p:spPr>
            <a:xfrm>
              <a:off x="7048500" y="4152900"/>
              <a:ext cx="4610100" cy="1600200"/>
            </a:xfrm>
            <a:prstGeom prst="roundRect">
              <a:avLst>
                <a:gd name="adj" fmla="val 9524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200900" y="4305300"/>
              <a:ext cx="47625" cy="12954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29500" y="4286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66660" y="4347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46542" y="4340542"/>
              <a:ext cx="2222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“找不到同构映射”不算证明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23023" y="4701064"/>
              <a:ext cx="3077210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否定同构的两条路：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反证法：假设同构，推出矛盾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找一个同构必须保持、两边却不同的特征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23785" y="5479256"/>
              <a:ext cx="3668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对比：去掉负数后 (R⁺, ·) ≅ (R, +)，因为没有 −1 了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7" name="Rectangle 5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134618" y="6003608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同构保持一切运算特征：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一边有、另一边没有的特征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，就是不同构的证据。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3" name="TextBox 63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5221197" cy="960501"/>
            <a:chOff x="470893" y="361950"/>
            <a:chExt cx="522119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同构映射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7240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自同构：群到自身的“换名游戏”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example-identity"/>
          <p:cNvGrpSpPr/>
          <p:nvPr/>
        </p:nvGrpSpPr>
        <p:grpSpPr>
          <a:xfrm>
            <a:off x="533400" y="1485900"/>
            <a:ext cx="4648200" cy="800100"/>
            <a:chOff x="533400" y="1485900"/>
            <a:chExt cx="4648200" cy="800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648200" cy="800100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56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8542" y="1673542"/>
              <a:ext cx="1227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恒等映射 </a:t>
              </a:r>
              <a:r>
                <a:rPr lang="en-US" sz="13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x ↦ 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423" y="19959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称为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恒等自同构映射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，每个群都有</a:t>
              </a:r>
            </a:p>
          </p:txBody>
        </p:sp>
      </p:grpSp>
      <p:grpSp>
        <p:nvGrpSpPr>
          <p:cNvPr id="18" name="example-negate"/>
          <p:cNvGrpSpPr/>
          <p:nvPr/>
        </p:nvGrpSpPr>
        <p:grpSpPr>
          <a:xfrm>
            <a:off x="533400" y="2400300"/>
            <a:ext cx="4648200" cy="876300"/>
            <a:chOff x="533400" y="2400300"/>
            <a:chExt cx="4648200" cy="876300"/>
          </a:xfrm>
        </p:grpSpPr>
        <p:sp>
          <p:nvSpPr>
            <p:cNvPr id="13" name="Rectangle 13"/>
            <p:cNvSpPr/>
            <p:nvPr/>
          </p:nvSpPr>
          <p:spPr>
            <a:xfrm>
              <a:off x="533400" y="2400300"/>
              <a:ext cx="4648200" cy="876300"/>
            </a:xfrm>
            <a:prstGeom prst="roundRect">
              <a:avLst>
                <a:gd name="adj" fmla="val 173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3900" y="25336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5632" y="25946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8542" y="2587942"/>
              <a:ext cx="2410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(Z, +) 中 </a:t>
              </a:r>
              <a:r>
                <a:rPr lang="el-GR" sz="13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 : n ↦ −n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，n ∈ Z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423" y="2948464"/>
              <a:ext cx="3866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 Z 的自同构：</a:t>
              </a:r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σ(m + n) = −m − n = σ(m) + σ(n)</a:t>
              </a:r>
            </a:p>
          </p:txBody>
        </p:sp>
      </p:grpSp>
      <p:grpSp>
        <p:nvGrpSpPr>
          <p:cNvPr id="33" name="example-inverse"/>
          <p:cNvGrpSpPr/>
          <p:nvPr/>
        </p:nvGrpSpPr>
        <p:grpSpPr>
          <a:xfrm>
            <a:off x="533400" y="3390900"/>
            <a:ext cx="4648200" cy="2362200"/>
            <a:chOff x="533400" y="3390900"/>
            <a:chExt cx="4648200" cy="2362200"/>
          </a:xfrm>
        </p:grpSpPr>
        <p:sp>
          <p:nvSpPr>
            <p:cNvPr id="19" name="Rectangle 19"/>
            <p:cNvSpPr/>
            <p:nvPr/>
          </p:nvSpPr>
          <p:spPr>
            <a:xfrm>
              <a:off x="533400" y="3390900"/>
              <a:ext cx="4648200" cy="23622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3900" y="3524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5632" y="3585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8542" y="3578542"/>
              <a:ext cx="2746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Abel 群中 </a:t>
              </a:r>
              <a:r>
                <a:rPr lang="el-GR" sz="13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 : a ↦ a⁻¹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（∀a ∈ G）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423" y="3920014"/>
              <a:ext cx="342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是 Abel 群，把每个元素映到其逆元素：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5800" y="4171950"/>
              <a:ext cx="4343400" cy="438150"/>
            </a:xfrm>
            <a:prstGeom prst="roundRect">
              <a:avLst>
                <a:gd name="adj" fmla="val 2608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0950" y="4303871"/>
              <a:ext cx="41531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σ(ab) = (ab)⁻¹ = b⁻¹a⁻¹ = a⁻¹b⁻¹ = σ(a)σ(b)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8185" y="4736306"/>
              <a:ext cx="319760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注：此例包含上例为特例（Z 中 n 的逆元是 −n）；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 G 的元数大于 2 时，它不一定是恒等自同构。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5800" y="5200650"/>
              <a:ext cx="4343400" cy="438150"/>
            </a:xfrm>
            <a:prstGeom prst="roundRect">
              <a:avLst>
                <a:gd name="adj" fmla="val 2608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16819" y="5328718"/>
              <a:ext cx="176105" cy="151297"/>
              <a:chOff x="816819" y="5328718"/>
              <a:chExt cx="176105" cy="15129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04875" y="5384006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6819" y="5328718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04875" y="5445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79754" y="5347335"/>
              <a:ext cx="2882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非 Abel 群不行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：b⁻¹a⁻¹ 一般 ≠ a⁻¹b⁻¹</a:t>
              </a:r>
            </a:p>
          </p:txBody>
        </p:sp>
      </p:grpSp>
      <p:grpSp>
        <p:nvGrpSpPr>
          <p:cNvPr id="61" name="exercise-inner"/>
          <p:cNvGrpSpPr/>
          <p:nvPr/>
        </p:nvGrpSpPr>
        <p:grpSpPr>
          <a:xfrm>
            <a:off x="5372100" y="1485900"/>
            <a:ext cx="6286500" cy="4267200"/>
            <a:chOff x="5372100" y="1485900"/>
            <a:chExt cx="6286500" cy="4267200"/>
          </a:xfrm>
        </p:grpSpPr>
        <p:sp>
          <p:nvSpPr>
            <p:cNvPr id="34" name="Rectangle 34"/>
            <p:cNvSpPr/>
            <p:nvPr/>
          </p:nvSpPr>
          <p:spPr>
            <a:xfrm>
              <a:off x="5372100" y="1485900"/>
              <a:ext cx="6286500" cy="4267200"/>
            </a:xfrm>
            <a:prstGeom prst="roundRect">
              <a:avLst>
                <a:gd name="adj" fmla="val 357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5626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315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习题 6.4-7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0642" y="1673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内自同构映射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55742" y="2045018"/>
              <a:ext cx="4048792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是群，证明对 ∀a ∈ G，</a:t>
              </a:r>
              <a:r>
                <a:rPr lang="el-GR" sz="13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σₐ : x ↦ axa⁻¹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（x ∈ G）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 G 的自同构映射，称为 G 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内自同构映射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715000" y="2857500"/>
              <a:ext cx="9525" cy="1314450"/>
            </a:xfrm>
            <a:custGeom>
              <a:avLst/>
              <a:gdLst/>
              <a:ahLst/>
              <a:cxnLst/>
              <a:rect l="l" t="t" r="r" b="b"/>
              <a:pathLst>
                <a:path w="9525" h="1314450">
                  <a:moveTo>
                    <a:pt x="0" y="0"/>
                  </a:moveTo>
                  <a:lnTo>
                    <a:pt x="0" y="13144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5591175" y="27336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68851" y="2791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37123" y="2777014"/>
              <a:ext cx="4051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是映射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：任取 x ∈ G，都有唯一确定的元素 axa⁻¹ ∈ G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591175" y="31718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68851" y="3229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37123" y="3215164"/>
              <a:ext cx="5216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单射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：任取 x₁ ≠ x₂，得 ax₁a⁻¹ ≠ ax₂a⁻¹（否则两边消去 a、a⁻¹）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591175" y="36099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68851" y="3668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37123" y="3653314"/>
              <a:ext cx="42155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满射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：任取 x ∈ G，有 a⁻¹xa ∈ G，满足 σₐ(a⁻¹xa) = x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591175" y="40481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68851" y="41062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37123" y="4091464"/>
              <a:ext cx="21057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保运算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：任取 x₁, x₂ ∈ G，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943600" y="4343400"/>
              <a:ext cx="5524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56178" y="4484846"/>
              <a:ext cx="50993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42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σₐ(x₁x₂) = ax₁x₂a⁻¹ = ax₁a⁻¹ · ax₂a⁻¹ = σₐ(x₁)σₐ(x₂)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55742" y="4959668"/>
              <a:ext cx="471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综上，σₐ 是 G 到 G 上的同构映射，即 G 的自同构映射。∎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62600" y="5238750"/>
              <a:ext cx="5905500" cy="400050"/>
            </a:xfrm>
            <a:prstGeom prst="roundRect">
              <a:avLst>
                <a:gd name="adj" fmla="val 2857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5722144" y="5360194"/>
              <a:ext cx="157163" cy="157163"/>
              <a:chOff x="5722144" y="5360194"/>
              <a:chExt cx="157163" cy="15716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5722144" y="5360194"/>
                <a:ext cx="157163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3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753367" y="539511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780643" y="548243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5994654" y="5366385"/>
              <a:ext cx="4955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关键一步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：在 x₁ 与 x₂ 之间插入 a⁻¹a = 1，就把 ax₁x₂a⁻¹ 拆成两段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74700" y="5991225"/>
              <a:ext cx="203199" cy="228600"/>
              <a:chOff x="774700" y="5991225"/>
              <a:chExt cx="203199" cy="2286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74700" y="59912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55158"/>
                      <a:pt x="17058" y="38100"/>
                      <a:pt x="38100" y="38100"/>
                    </a:cubicBezTo>
                    <a:lnTo>
                      <a:pt x="203199" y="38100"/>
                    </a:lnTo>
                    <a:moveTo>
                      <a:pt x="165100" y="0"/>
                    </a:moveTo>
                    <a:lnTo>
                      <a:pt x="203199" y="38100"/>
                    </a:lnTo>
                    <a:lnTo>
                      <a:pt x="1651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4700" y="61055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203199" y="0"/>
                    </a:moveTo>
                    <a:lnTo>
                      <a:pt x="203199" y="38100"/>
                    </a:lnTo>
                    <a:cubicBezTo>
                      <a:pt x="203199" y="59142"/>
                      <a:pt x="186142" y="76200"/>
                      <a:pt x="165100" y="76200"/>
                    </a:cubicBezTo>
                    <a:lnTo>
                      <a:pt x="0" y="76200"/>
                    </a:lnTo>
                    <a:moveTo>
                      <a:pt x="38100" y="114300"/>
                    </a:moveTo>
                    <a:lnTo>
                      <a:pt x="0" y="76200"/>
                    </a:lnTo>
                    <a:lnTo>
                      <a:pt x="381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134618" y="6003608"/>
              <a:ext cx="8984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自同构 = 群到自身的保运算双射；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 ↦ axa⁻¹ 对任何群都成立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，a ↦ a⁻¹ 只对 Abel 群成立。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8" name="TextBox 68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panel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panel-disc"/>
          <p:cNvSpPr/>
          <p:nvPr/>
        </p:nvSpPr>
        <p:spPr>
          <a:xfrm>
            <a:off x="2381250" y="5429250"/>
            <a:ext cx="2857500" cy="2857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panel-dot"/>
          <p:cNvSpPr/>
          <p:nvPr/>
        </p:nvSpPr>
        <p:spPr>
          <a:xfrm>
            <a:off x="3295650" y="781050"/>
            <a:ext cx="266700" cy="26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" name="section-title"/>
          <p:cNvGrpSpPr/>
          <p:nvPr/>
        </p:nvGrpSpPr>
        <p:grpSpPr>
          <a:xfrm>
            <a:off x="438150" y="1581150"/>
            <a:ext cx="2551786" cy="3396234"/>
            <a:chOff x="438150" y="1581150"/>
            <a:chExt cx="2551786" cy="3396234"/>
          </a:xfrm>
        </p:grpSpPr>
        <p:sp>
          <p:nvSpPr>
            <p:cNvPr id="5" name="Rectangle 5"/>
            <p:cNvSpPr/>
            <p:nvPr/>
          </p:nvSpPr>
          <p:spPr>
            <a:xfrm>
              <a:off x="533400" y="1581150"/>
              <a:ext cx="2400300" cy="323850"/>
            </a:xfrm>
            <a:prstGeom prst="roundRect">
              <a:avLst>
                <a:gd name="adj" fmla="val 50000"/>
              </a:avLst>
            </a:prstGeom>
            <a:solidFill>
              <a:srgbClr val="3F5DB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593" y="167068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6.4 同态及同构 · 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2133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5112" y="37261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同态核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4343400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4256" y="4625340"/>
              <a:ext cx="2465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核：同态“压扁”了多少</a:t>
              </a:r>
            </a:p>
          </p:txBody>
        </p:sp>
      </p:grpSp>
      <p:grpSp>
        <p:nvGrpSpPr>
          <p:cNvPr id="50" name="route"/>
          <p:cNvGrpSpPr/>
          <p:nvPr/>
        </p:nvGrpSpPr>
        <p:grpSpPr>
          <a:xfrm>
            <a:off x="4381500" y="800100"/>
            <a:ext cx="7277100" cy="4610100"/>
            <a:chOff x="4381500" y="800100"/>
            <a:chExt cx="7277100" cy="4610100"/>
          </a:xfrm>
        </p:grpSpPr>
        <p:sp>
          <p:nvSpPr>
            <p:cNvPr id="12" name="Rectangle 12"/>
            <p:cNvSpPr/>
            <p:nvPr/>
          </p:nvSpPr>
          <p:spPr>
            <a:xfrm>
              <a:off x="4381500" y="80010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45330" y="8191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本部分五站：从核出发，走到子群对应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762500" y="152400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21" name="station-1"/>
            <p:cNvGrpSpPr/>
            <p:nvPr/>
          </p:nvGrpSpPr>
          <p:grpSpPr>
            <a:xfrm>
              <a:off x="4381500" y="1143000"/>
              <a:ext cx="7277100" cy="762000"/>
              <a:chOff x="4381500" y="1143000"/>
              <a:chExt cx="7277100" cy="762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381500" y="1143000"/>
                <a:ext cx="72771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4552950" y="1314450"/>
                <a:ext cx="419100" cy="4191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703165" y="14449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35118" y="12887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核的定义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137404" y="1623060"/>
                <a:ext cx="28726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 = σ⁻¹(1′)：所有被映成单位元的元素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178235" y="1353502"/>
                <a:ext cx="2570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P15</a:t>
                </a:r>
              </a:p>
            </p:txBody>
          </p:sp>
        </p:grpSp>
        <p:grpSp>
          <p:nvGrpSpPr>
            <p:cNvPr id="28" name="station-2"/>
            <p:cNvGrpSpPr/>
            <p:nvPr/>
          </p:nvGrpSpPr>
          <p:grpSpPr>
            <a:xfrm>
              <a:off x="4381500" y="2019300"/>
              <a:ext cx="7277100" cy="762000"/>
              <a:chOff x="4381500" y="2019300"/>
              <a:chExt cx="7277100" cy="762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381500" y="2019300"/>
                <a:ext cx="72771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4552950" y="2190750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703165" y="23212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135118" y="21650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第一同态定理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137404" y="2499360"/>
                <a:ext cx="37519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核是正规子群；每个 a′ 的原像 σ⁻¹(a′) 是一个陪集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268255" y="2229802"/>
                <a:ext cx="11670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定理 6.4.2 · P16</a:t>
                </a:r>
              </a:p>
            </p:txBody>
          </p:sp>
        </p:grpSp>
        <p:grpSp>
          <p:nvGrpSpPr>
            <p:cNvPr id="35" name="station-3"/>
            <p:cNvGrpSpPr/>
            <p:nvPr/>
          </p:nvGrpSpPr>
          <p:grpSpPr>
            <a:xfrm>
              <a:off x="4381500" y="2895600"/>
              <a:ext cx="7277100" cy="762000"/>
              <a:chOff x="4381500" y="2895600"/>
              <a:chExt cx="7277100" cy="762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381500" y="2895600"/>
                <a:ext cx="72771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4552950" y="3067050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703165" y="31975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135118" y="30413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第二同态定理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137404" y="3375660"/>
                <a:ext cx="29132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 正规时，陪集按陪集乘法作成商群 G/N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456420" y="3106102"/>
                <a:ext cx="19789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引理 1 · 定理 6.4.3 · P17–18</a:t>
                </a:r>
              </a:p>
            </p:txBody>
          </p:sp>
        </p:grpSp>
        <p:grpSp>
          <p:nvGrpSpPr>
            <p:cNvPr id="42" name="station-4"/>
            <p:cNvGrpSpPr/>
            <p:nvPr/>
          </p:nvGrpSpPr>
          <p:grpSpPr>
            <a:xfrm>
              <a:off x="4381500" y="3771900"/>
              <a:ext cx="7277100" cy="762000"/>
              <a:chOff x="4381500" y="3771900"/>
              <a:chExt cx="7277100" cy="7620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381500" y="3771900"/>
                <a:ext cx="72771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4552950" y="3943350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703165" y="40738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135118" y="39176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第三同态定理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137404" y="4251960"/>
                <a:ext cx="21317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同态像与商群同构：G′ ≅ G/N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268255" y="3982402"/>
                <a:ext cx="11670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定理 6.4.4 · P19</a:t>
                </a:r>
              </a:p>
            </p:txBody>
          </p:sp>
        </p:grpSp>
        <p:grpSp>
          <p:nvGrpSpPr>
            <p:cNvPr id="49" name="station-5"/>
            <p:cNvGrpSpPr/>
            <p:nvPr/>
          </p:nvGrpSpPr>
          <p:grpSpPr>
            <a:xfrm>
              <a:off x="4381500" y="4648200"/>
              <a:ext cx="7277100" cy="762000"/>
              <a:chOff x="4381500" y="4648200"/>
              <a:chExt cx="7277100" cy="762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381500" y="4648200"/>
                <a:ext cx="72771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4552950" y="48196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703165" y="49501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135118" y="479393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子群的对应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137404" y="5128260"/>
                <a:ext cx="33002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σ⁻¹(σ(H)) = HN；包含 N 的子群 ↔ G′ 的子群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300934" y="4858702"/>
                <a:ext cx="21344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 1–4 · 定理 6.4.5 · P20–23</a:t>
                </a:r>
              </a:p>
            </p:txBody>
          </p:sp>
        </p:grpSp>
      </p:grpSp>
      <p:grpSp>
        <p:nvGrpSpPr>
          <p:cNvPr id="59" name="prereq"/>
          <p:cNvGrpSpPr/>
          <p:nvPr/>
        </p:nvGrpSpPr>
        <p:grpSpPr>
          <a:xfrm>
            <a:off x="4381500" y="5715000"/>
            <a:ext cx="7277100" cy="609600"/>
            <a:chOff x="4381500" y="5715000"/>
            <a:chExt cx="7277100" cy="609600"/>
          </a:xfrm>
        </p:grpSpPr>
        <p:sp>
          <p:nvSpPr>
            <p:cNvPr id="51" name="Rectangle 51"/>
            <p:cNvSpPr/>
            <p:nvPr/>
          </p:nvSpPr>
          <p:spPr>
            <a:xfrm>
              <a:off x="4381500" y="5715000"/>
              <a:ext cx="7277100" cy="609600"/>
            </a:xfrm>
            <a:prstGeom prst="roundRect">
              <a:avLst>
                <a:gd name="adj" fmla="val 2187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4610100" y="5923182"/>
              <a:ext cx="238124" cy="185518"/>
              <a:chOff x="4610100" y="5923182"/>
              <a:chExt cx="238124" cy="185518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610100" y="6088282"/>
                <a:ext cx="228599" cy="20418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418">
                    <a:moveTo>
                      <a:pt x="0" y="20418"/>
                    </a:moveTo>
                    <a:cubicBezTo>
                      <a:pt x="35364" y="0"/>
                      <a:pt x="78935" y="0"/>
                      <a:pt x="114300" y="20418"/>
                    </a:cubicBezTo>
                    <a:cubicBezTo>
                      <a:pt x="149664" y="0"/>
                      <a:pt x="193235" y="0"/>
                      <a:pt x="228599" y="20418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610100" y="5923182"/>
                <a:ext cx="228599" cy="20418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418">
                    <a:moveTo>
                      <a:pt x="0" y="20418"/>
                    </a:moveTo>
                    <a:cubicBezTo>
                      <a:pt x="35364" y="0"/>
                      <a:pt x="78935" y="0"/>
                      <a:pt x="114300" y="20418"/>
                    </a:cubicBezTo>
                    <a:cubicBezTo>
                      <a:pt x="149664" y="0"/>
                      <a:pt x="193235" y="0"/>
                      <a:pt x="228599" y="20418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610100" y="5943600"/>
                <a:ext cx="95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100">
                    <a:moveTo>
                      <a:pt x="0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724400" y="5943600"/>
                <a:ext cx="95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100">
                    <a:moveTo>
                      <a:pt x="0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838699" y="5943600"/>
                <a:ext cx="95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100">
                    <a:moveTo>
                      <a:pt x="0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5003292" y="5950268"/>
              <a:ext cx="6562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先回顾 6.3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：陪集 aN、Na；正规子群 N：对任意 g ∈ G，gNg⁻¹ ⊆ N（⇔ gN = Ng）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28066" y="6573202"/>
            <a:ext cx="18354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DF8"/>
                </a:solidFill>
                <a:latin typeface="+mn-lt"/>
                <a:ea typeface="+mn-ea"/>
                <a:cs typeface="+mn-cs"/>
              </a:rPr>
              <a:t>离散数学II · 6.4 同态及同构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5465" y="361950"/>
            <a:ext cx="5943573" cy="960501"/>
            <a:chOff x="475465" y="361950"/>
            <a:chExt cx="594357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7145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546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同态核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993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同态核：被“压”成单位元的那些元素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definition"/>
          <p:cNvGrpSpPr/>
          <p:nvPr/>
        </p:nvGrpSpPr>
        <p:grpSpPr>
          <a:xfrm>
            <a:off x="533400" y="1485900"/>
            <a:ext cx="6667500" cy="1905000"/>
            <a:chOff x="533400" y="1485900"/>
            <a:chExt cx="6667500" cy="1905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667500" cy="1905000"/>
            </a:xfrm>
            <a:prstGeom prst="roundRect">
              <a:avLst>
                <a:gd name="adj" fmla="val 8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15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5101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σ 是 G 到 G′ 上的一个同态映射，命 N 为 G 中所有映射到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G′ 中 1′ 的元素 g 的集合，记为 σ⁻¹(1′)，称 N 为 σ 的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667000"/>
              <a:ext cx="6057900" cy="552450"/>
            </a:xfrm>
            <a:prstGeom prst="roundRect">
              <a:avLst>
                <a:gd name="adj" fmla="val 2069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69836" y="2827972"/>
              <a:ext cx="47470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N = σ⁻¹(1′) = {g | g ∈ G，σ(g) = 1′}</a:t>
              </a:r>
            </a:p>
          </p:txBody>
        </p:sp>
      </p:grpSp>
      <p:grpSp>
        <p:nvGrpSpPr>
          <p:cNvPr id="64" name="example"/>
          <p:cNvGrpSpPr/>
          <p:nvPr/>
        </p:nvGrpSpPr>
        <p:grpSpPr>
          <a:xfrm>
            <a:off x="533400" y="3543300"/>
            <a:ext cx="6667500" cy="2209800"/>
            <a:chOff x="533400" y="3543300"/>
            <a:chExt cx="6667500" cy="2209800"/>
          </a:xfrm>
        </p:grpSpPr>
        <p:sp>
          <p:nvSpPr>
            <p:cNvPr id="16" name="Rectangle 16"/>
            <p:cNvSpPr/>
            <p:nvPr/>
          </p:nvSpPr>
          <p:spPr>
            <a:xfrm>
              <a:off x="533400" y="3543300"/>
              <a:ext cx="6667500" cy="2209800"/>
            </a:xfrm>
            <a:prstGeom prst="roundRect">
              <a:avLst>
                <a:gd name="adj" fmla="val 689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3900" y="36766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632" y="37376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88542" y="3730942"/>
              <a:ext cx="38061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整数加法群 → 模 3 加法群：</a:t>
              </a:r>
              <a:r>
                <a:rPr lang="el-GR" sz="13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 : x ↦ x (mod 3)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8185" y="4050506"/>
              <a:ext cx="5183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 为整数加法群，G′ = {0, 1, 2} 为模 3 加法群，σ 是 G 到 G′ 上的同态映射</a:t>
              </a:r>
            </a:p>
          </p:txBody>
        </p:sp>
        <p:grpSp>
          <p:nvGrpSpPr>
            <p:cNvPr id="58" name="kernel-map"/>
            <p:cNvGrpSpPr/>
            <p:nvPr/>
          </p:nvGrpSpPr>
          <p:grpSpPr>
            <a:xfrm>
              <a:off x="771525" y="4391025"/>
              <a:ext cx="3333750" cy="1339786"/>
              <a:chOff x="771525" y="4391025"/>
              <a:chExt cx="3333750" cy="1339786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914400" y="4667250"/>
                <a:ext cx="3048000" cy="533400"/>
                <a:chOff x="914400" y="4667250"/>
                <a:chExt cx="3048000" cy="533400"/>
              </a:xfrm>
            </p:grpSpPr>
            <p:sp>
              <p:nvSpPr>
                <p:cNvPr id="21" name="Line 21"/>
                <p:cNvSpPr/>
                <p:nvPr/>
              </p:nvSpPr>
              <p:spPr>
                <a:xfrm>
                  <a:off x="914400" y="4667250"/>
                  <a:ext cx="381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533400">
                      <a:moveTo>
                        <a:pt x="0" y="0"/>
                      </a:moveTo>
                      <a:lnTo>
                        <a:pt x="381000" y="53340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22" name="Line 22"/>
                <p:cNvSpPr/>
                <p:nvPr/>
              </p:nvSpPr>
              <p:spPr>
                <a:xfrm>
                  <a:off x="1295400" y="4667250"/>
                  <a:ext cx="1143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533400">
                      <a:moveTo>
                        <a:pt x="0" y="0"/>
                      </a:moveTo>
                      <a:lnTo>
                        <a:pt x="1143000" y="533400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</a:ln>
              </p:spPr>
            </p:sp>
            <p:sp>
              <p:nvSpPr>
                <p:cNvPr id="23" name="Line 23"/>
                <p:cNvSpPr/>
                <p:nvPr/>
              </p:nvSpPr>
              <p:spPr>
                <a:xfrm>
                  <a:off x="1676400" y="4667250"/>
                  <a:ext cx="1905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533400">
                      <a:moveTo>
                        <a:pt x="0" y="0"/>
                      </a:moveTo>
                      <a:lnTo>
                        <a:pt x="1905000" y="533400"/>
                      </a:lnTo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1295400" y="4667250"/>
                  <a:ext cx="762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33400">
                      <a:moveTo>
                        <a:pt x="76200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25" name="Line 25"/>
                <p:cNvSpPr/>
                <p:nvPr/>
              </p:nvSpPr>
              <p:spPr>
                <a:xfrm>
                  <a:off x="2438400" y="4667250"/>
                  <a:ext cx="9525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3400">
                      <a:moveTo>
                        <a:pt x="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</a:ln>
              </p:spPr>
            </p:sp>
            <p:sp>
              <p:nvSpPr>
                <p:cNvPr id="26" name="Line 26"/>
                <p:cNvSpPr/>
                <p:nvPr/>
              </p:nvSpPr>
              <p:spPr>
                <a:xfrm>
                  <a:off x="2819400" y="4667250"/>
                  <a:ext cx="762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33400">
                      <a:moveTo>
                        <a:pt x="0" y="0"/>
                      </a:moveTo>
                      <a:lnTo>
                        <a:pt x="762000" y="533400"/>
                      </a:lnTo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  <p:sp>
              <p:nvSpPr>
                <p:cNvPr id="27" name="Line 27"/>
                <p:cNvSpPr/>
                <p:nvPr/>
              </p:nvSpPr>
              <p:spPr>
                <a:xfrm>
                  <a:off x="1295400" y="4667250"/>
                  <a:ext cx="1905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533400">
                      <a:moveTo>
                        <a:pt x="190500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28" name="Line 28"/>
                <p:cNvSpPr/>
                <p:nvPr/>
              </p:nvSpPr>
              <p:spPr>
                <a:xfrm>
                  <a:off x="2438400" y="4667250"/>
                  <a:ext cx="1143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533400">
                      <a:moveTo>
                        <a:pt x="114300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</a:ln>
              </p:spPr>
            </p:sp>
            <p:sp>
              <p:nvSpPr>
                <p:cNvPr id="29" name="Line 29"/>
                <p:cNvSpPr/>
                <p:nvPr/>
              </p:nvSpPr>
              <p:spPr>
                <a:xfrm>
                  <a:off x="3581400" y="4667250"/>
                  <a:ext cx="3810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533400">
                      <a:moveTo>
                        <a:pt x="381000" y="0"/>
                      </a:moveTo>
                      <a:lnTo>
                        <a:pt x="0" y="533400"/>
                      </a:lnTo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</p:grpSp>
          <p:sp>
            <p:nvSpPr>
              <p:cNvPr id="31" name="Ellipse 31"/>
              <p:cNvSpPr/>
              <p:nvPr/>
            </p:nvSpPr>
            <p:spPr>
              <a:xfrm>
                <a:off x="771525" y="43910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1152525" y="4391025"/>
                <a:ext cx="285750" cy="2857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533525" y="4391025"/>
                <a:ext cx="285750" cy="2857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914525" y="43910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2295525" y="4391025"/>
                <a:ext cx="285750" cy="2857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2676525" y="4391025"/>
                <a:ext cx="285750" cy="2857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057525" y="43910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3438525" y="4391025"/>
                <a:ext cx="285750" cy="2857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3819525" y="4391025"/>
                <a:ext cx="285750" cy="2857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833259" y="4476274"/>
                <a:ext cx="3172188" cy="190690"/>
                <a:chOff x="833259" y="4476274"/>
                <a:chExt cx="3172188" cy="190690"/>
              </a:xfrm>
            </p:grpSpPr>
            <p:sp>
              <p:nvSpPr>
                <p:cNvPr id="40" name="TextBox 40"/>
                <p:cNvSpPr txBox="1"/>
                <p:nvPr/>
              </p:nvSpPr>
              <p:spPr>
                <a:xfrm>
                  <a:off x="833259" y="4476274"/>
                  <a:ext cx="16228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−3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214259" y="4476274"/>
                  <a:ext cx="16228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−2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595259" y="4476274"/>
                  <a:ext cx="16228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−1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2014353" y="4476274"/>
                  <a:ext cx="8609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2395353" y="4476274"/>
                  <a:ext cx="8609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2776353" y="4476274"/>
                  <a:ext cx="8609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3157353" y="4476274"/>
                  <a:ext cx="8609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3538353" y="4476274"/>
                  <a:ext cx="8609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3919353" y="4476274"/>
                  <a:ext cx="8609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</p:grpSp>
          <p:sp>
            <p:nvSpPr>
              <p:cNvPr id="50" name="Ellipse 50"/>
              <p:cNvSpPr/>
              <p:nvPr/>
            </p:nvSpPr>
            <p:spPr>
              <a:xfrm>
                <a:off x="1104900" y="52006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2247900" y="5200650"/>
                <a:ext cx="381000" cy="381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3390900" y="5200650"/>
                <a:ext cx="381000" cy="381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1236065" y="5302568"/>
                <a:ext cx="2404669" cy="264033"/>
                <a:chOff x="1236065" y="5302568"/>
                <a:chExt cx="2404669" cy="264033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1236065" y="530256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2379065" y="530256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3522065" y="530256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1556766" y="5525452"/>
                <a:ext cx="3000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= 1′</a:t>
                </a:r>
              </a:p>
            </p:txBody>
          </p:sp>
        </p:grpSp>
        <p:sp>
          <p:nvSpPr>
            <p:cNvPr id="59" name="Rectangle 59"/>
            <p:cNvSpPr/>
            <p:nvPr/>
          </p:nvSpPr>
          <p:spPr>
            <a:xfrm>
              <a:off x="4305300" y="4305300"/>
              <a:ext cx="2705100" cy="1295400"/>
            </a:xfrm>
            <a:prstGeom prst="roundRect">
              <a:avLst>
                <a:gd name="adj" fmla="val 8824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489704" y="4442460"/>
              <a:ext cx="1933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σ 的核（橙色圈出的元素）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485132" y="4707255"/>
              <a:ext cx="8995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N = 3G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489704" y="50901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{…, −6, −3, 0, 3, 6, …}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490466" y="53540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恰好是全体 3 的倍数</a:t>
              </a:r>
            </a:p>
          </p:txBody>
        </p:sp>
      </p:grpSp>
      <p:grpSp>
        <p:nvGrpSpPr>
          <p:cNvPr id="69" name="funnel-figure"/>
          <p:cNvGrpSpPr/>
          <p:nvPr/>
        </p:nvGrpSpPr>
        <p:grpSpPr>
          <a:xfrm>
            <a:off x="7391400" y="1485900"/>
            <a:ext cx="4267200" cy="4267200"/>
            <a:chOff x="7391400" y="1485900"/>
            <a:chExt cx="4267200" cy="4267200"/>
          </a:xfrm>
        </p:grpSpPr>
        <p:pic>
          <p:nvPicPr>
            <p:cNvPr id="65" name="Image 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400" y="1485900"/>
              <a:ext cx="4267200" cy="3200400"/>
            </a:xfrm>
            <a:prstGeom prst="roundRect">
              <a:avLst>
                <a:gd name="adj" fmla="val 4761"/>
              </a:avLst>
            </a:prstGeom>
          </p:spPr>
        </p:pic>
        <p:sp>
          <p:nvSpPr>
            <p:cNvPr id="66" name="Rectangle 66"/>
            <p:cNvSpPr/>
            <p:nvPr/>
          </p:nvSpPr>
          <p:spPr>
            <a:xfrm>
              <a:off x="7391400" y="4800600"/>
              <a:ext cx="4267200" cy="952500"/>
            </a:xfrm>
            <a:prstGeom prst="roundRect">
              <a:avLst>
                <a:gd name="adj" fmla="val 16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75804" y="4937760"/>
              <a:ext cx="2137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直观：核衡量同态“丢了多少”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75804" y="5204460"/>
              <a:ext cx="3001899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l-GR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σ(a) = σ(b) ⇔ σ(ab⁻¹) = 1′ ⇔ ab⁻¹ ∈ N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核越大压在一起的越多；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 = {1} ⇔ σ 是单射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0" name="Rectangle 7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774700" y="6003925"/>
              <a:ext cx="203199" cy="215899"/>
            </a:xfrm>
            <a:custGeom>
              <a:avLst/>
              <a:gdLst/>
              <a:ahLst/>
              <a:cxnLst/>
              <a:rect l="l" t="t" r="r" b="b"/>
              <a:pathLst>
                <a:path w="203199" h="215899">
                  <a:moveTo>
                    <a:pt x="0" y="0"/>
                  </a:moveTo>
                  <a:lnTo>
                    <a:pt x="203199" y="0"/>
                  </a:lnTo>
                  <a:lnTo>
                    <a:pt x="203199" y="27584"/>
                  </a:lnTo>
                  <a:cubicBezTo>
                    <a:pt x="203198" y="34320"/>
                    <a:pt x="200521" y="40780"/>
                    <a:pt x="195757" y="45542"/>
                  </a:cubicBezTo>
                  <a:lnTo>
                    <a:pt x="139700" y="101600"/>
                  </a:lnTo>
                  <a:lnTo>
                    <a:pt x="139700" y="190500"/>
                  </a:lnTo>
                  <a:lnTo>
                    <a:pt x="63500" y="215899"/>
                  </a:lnTo>
                  <a:lnTo>
                    <a:pt x="63500" y="107950"/>
                  </a:lnTo>
                  <a:lnTo>
                    <a:pt x="6604" y="45364"/>
                  </a:lnTo>
                  <a:cubicBezTo>
                    <a:pt x="2355" y="40690"/>
                    <a:pt x="1" y="34600"/>
                    <a:pt x="0" y="28283"/>
                  </a:cubicBez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34618" y="6003608"/>
              <a:ext cx="8717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 = 所有被映成 1′ 的元素；</a:t>
              </a:r>
              <a:r>
                <a:rPr lang="el-GR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σ(a) = σ(b) ⇔ ab⁻¹ ∈ N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，核决定哪些元素被“看成一样”。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4" name="TextBox 74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6982229" cy="960501"/>
            <a:chOff x="470893" y="361950"/>
            <a:chExt cx="698222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同态定理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第一同态定理：核是正规子群，原像是陪集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theorem"/>
          <p:cNvGrpSpPr/>
          <p:nvPr/>
        </p:nvGrpSpPr>
        <p:grpSpPr>
          <a:xfrm>
            <a:off x="533400" y="1485900"/>
            <a:ext cx="11125200" cy="1428750"/>
            <a:chOff x="533400" y="1485900"/>
            <a:chExt cx="111252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1428750"/>
            </a:xfrm>
            <a:prstGeom prst="roundRect">
              <a:avLst>
                <a:gd name="adj" fmla="val 1066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1047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6.4.2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第一同态定理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161" y="2017871"/>
              <a:ext cx="5848477" cy="850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σ 是群 G 到 G′ 上的一个同态映射，于是 σ 的核 N 是 G 的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正规子群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；对 G′ 的任意元素 a′，σ⁻¹(a′) = {x | x ∈ G，σ(x) = a′}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 N 在 G 中的一个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陪集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，因此 G′ 的元素和 N 的陪集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一一对应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grpSp>
          <p:nvGrpSpPr>
            <p:cNvPr id="37" name="fiber-diagram"/>
            <p:cNvGrpSpPr/>
            <p:nvPr/>
          </p:nvGrpSpPr>
          <p:grpSpPr>
            <a:xfrm>
              <a:off x="7768948" y="1638300"/>
              <a:ext cx="3756348" cy="1162050"/>
              <a:chOff x="7768948" y="1638300"/>
              <a:chExt cx="3756348" cy="116205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768948" y="2178368"/>
                <a:ext cx="1246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7981950" y="1638300"/>
                <a:ext cx="1409700" cy="1162050"/>
              </a:xfrm>
              <a:prstGeom prst="roundRect">
                <a:avLst>
                  <a:gd name="adj" fmla="val 9836"/>
                </a:avLst>
              </a:prstGeom>
              <a:solidFill>
                <a:schemeClr val="lt2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8077200" y="1733550"/>
                <a:ext cx="121920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8077200" y="2076450"/>
                <a:ext cx="121920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8077200" y="2419350"/>
                <a:ext cx="121920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635085" y="1812131"/>
                <a:ext cx="1034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91548" y="2155031"/>
                <a:ext cx="1905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Na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591548" y="2497931"/>
                <a:ext cx="1905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Nb</a:t>
                </a:r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9429750" y="1876425"/>
                <a:ext cx="952500" cy="695325"/>
                <a:chOff x="9429750" y="1876425"/>
                <a:chExt cx="952500" cy="695325"/>
              </a:xfrm>
            </p:grpSpPr>
            <p:sp>
              <p:nvSpPr>
                <p:cNvPr id="21" name="Line 21"/>
                <p:cNvSpPr/>
                <p:nvPr/>
              </p:nvSpPr>
              <p:spPr>
                <a:xfrm>
                  <a:off x="9429750" y="1876425"/>
                  <a:ext cx="952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0" h="9525">
                      <a:moveTo>
                        <a:pt x="0" y="0"/>
                      </a:moveTo>
                      <a:lnTo>
                        <a:pt x="9525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2" name="Line 22"/>
                <p:cNvSpPr/>
                <p:nvPr/>
              </p:nvSpPr>
              <p:spPr>
                <a:xfrm>
                  <a:off x="9429750" y="2219325"/>
                  <a:ext cx="952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0" h="9525">
                      <a:moveTo>
                        <a:pt x="0" y="0"/>
                      </a:moveTo>
                      <a:lnTo>
                        <a:pt x="9525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3" name="Line 23"/>
                <p:cNvSpPr/>
                <p:nvPr/>
              </p:nvSpPr>
              <p:spPr>
                <a:xfrm>
                  <a:off x="9429750" y="2562225"/>
                  <a:ext cx="952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0" h="9525">
                      <a:moveTo>
                        <a:pt x="0" y="0"/>
                      </a:moveTo>
                      <a:lnTo>
                        <a:pt x="9525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5" name="Freeform 25"/>
              <p:cNvSpPr/>
              <p:nvPr/>
            </p:nvSpPr>
            <p:spPr>
              <a:xfrm>
                <a:off x="10363200" y="18288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363200" y="21717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363200" y="25146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856749" y="1678781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12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σ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0515600" y="1638300"/>
                <a:ext cx="685800" cy="1162050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10629900" y="1819275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0629900" y="216217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10629900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814304" y="18040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1′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814304" y="21469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a′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814304" y="24898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b′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1289792" y="2178368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G′</a:t>
                </a:r>
              </a:p>
            </p:txBody>
          </p:sp>
        </p:grpSp>
      </p:grpSp>
      <p:grpSp>
        <p:nvGrpSpPr>
          <p:cNvPr id="48" name="proof-subgroup"/>
          <p:cNvGrpSpPr/>
          <p:nvPr/>
        </p:nvGrpSpPr>
        <p:grpSpPr>
          <a:xfrm>
            <a:off x="533400" y="3028950"/>
            <a:ext cx="3619500" cy="2724150"/>
            <a:chOff x="533400" y="3028950"/>
            <a:chExt cx="3619500" cy="2724150"/>
          </a:xfrm>
        </p:grpSpPr>
        <p:sp>
          <p:nvSpPr>
            <p:cNvPr id="39" name="Rectangle 39"/>
            <p:cNvSpPr/>
            <p:nvPr/>
          </p:nvSpPr>
          <p:spPr>
            <a:xfrm>
              <a:off x="533400" y="3028950"/>
              <a:ext cx="3619500" cy="2724150"/>
            </a:xfrm>
            <a:prstGeom prst="roundRect">
              <a:avLst>
                <a:gd name="adj" fmla="val 55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3900" y="31623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5171" y="32232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 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93342" y="3216592"/>
              <a:ext cx="730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是子群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7804" y="3585210"/>
              <a:ext cx="2834640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1) 非空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：σ(1) = 1′，所以 1 ∈ N</a:t>
              </a:r>
            </a:p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2) 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a, b ∈ N，即 σ(a) = σ(b) = 1′，则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" y="4076700"/>
              <a:ext cx="3314700" cy="895350"/>
            </a:xfrm>
            <a:prstGeom prst="roundRect">
              <a:avLst>
                <a:gd name="adj" fmla="val 1276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1723" y="4186714"/>
              <a:ext cx="1719834" cy="782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σ(ab⁻¹) = σ(a)σ(b⁻¹)</a:t>
              </a:r>
              <a:br/>
              <a:r>
                <a:rPr lang="zh-CN" sz="12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　　= σ(a)(σ(b))⁻¹</a:t>
              </a:r>
              <a:br/>
              <a:r>
                <a:rPr lang="zh-CN" sz="12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　　= 1′(1′)⁻¹ = 1′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7423" y="5120164"/>
              <a:ext cx="2203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故 ab⁻¹ ∈ N，N 是 G 的子群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8566" y="5430202"/>
              <a:ext cx="33889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依据：子群判定；σ(b⁻¹) = (σ(b))⁻¹（定理 6.4.1）</a:t>
              </a:r>
            </a:p>
          </p:txBody>
        </p:sp>
      </p:grpSp>
      <p:grpSp>
        <p:nvGrpSpPr>
          <p:cNvPr id="58" name="proof-normal"/>
          <p:cNvGrpSpPr/>
          <p:nvPr/>
        </p:nvGrpSpPr>
        <p:grpSpPr>
          <a:xfrm>
            <a:off x="4305300" y="3028950"/>
            <a:ext cx="3619500" cy="2724150"/>
            <a:chOff x="4305300" y="3028950"/>
            <a:chExt cx="3619500" cy="2724150"/>
          </a:xfrm>
        </p:grpSpPr>
        <p:sp>
          <p:nvSpPr>
            <p:cNvPr id="49" name="Rectangle 49"/>
            <p:cNvSpPr/>
            <p:nvPr/>
          </p:nvSpPr>
          <p:spPr>
            <a:xfrm>
              <a:off x="4305300" y="3028950"/>
              <a:ext cx="3619500" cy="2724150"/>
            </a:xfrm>
            <a:prstGeom prst="roundRect">
              <a:avLst>
                <a:gd name="adj" fmla="val 55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495800" y="31623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637071" y="32232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 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65242" y="3216592"/>
              <a:ext cx="1093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是正规子群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489704" y="3585210"/>
              <a:ext cx="26563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对任意 g ∈ G，证 gNg⁻¹ ⊆ N：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x ∈ gNg⁻¹，有 n ∈ N 使 x = gng⁻¹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457700" y="4076700"/>
              <a:ext cx="3314700" cy="895350"/>
            </a:xfrm>
            <a:prstGeom prst="roundRect">
              <a:avLst>
                <a:gd name="adj" fmla="val 1276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603623" y="4186714"/>
              <a:ext cx="1988058" cy="782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σ(x) = (σ(g)σ(n))σ(g⁻¹)</a:t>
              </a:r>
              <a:br/>
              <a:r>
                <a:rPr lang="zh-CN" sz="12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　 = (σ(g)1′)σ(g⁻¹)</a:t>
              </a:r>
              <a:br/>
              <a:r>
                <a:rPr lang="zh-CN" sz="12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　　 = σ(g)(σ(g))⁻¹ = 1′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89323" y="5120164"/>
              <a:ext cx="2060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因此 x ∈ N，即 gNg⁻¹ ⊆ 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90466" y="5430202"/>
              <a:ext cx="1560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依据：n ∈ N ⇒ σ(n) = 1′</a:t>
              </a:r>
            </a:p>
          </p:txBody>
        </p:sp>
      </p:grpSp>
      <p:grpSp>
        <p:nvGrpSpPr>
          <p:cNvPr id="67" name="proof-coset"/>
          <p:cNvGrpSpPr/>
          <p:nvPr/>
        </p:nvGrpSpPr>
        <p:grpSpPr>
          <a:xfrm>
            <a:off x="8077200" y="3028950"/>
            <a:ext cx="3581400" cy="2724150"/>
            <a:chOff x="8077200" y="3028950"/>
            <a:chExt cx="3581400" cy="2724150"/>
          </a:xfrm>
        </p:grpSpPr>
        <p:sp>
          <p:nvSpPr>
            <p:cNvPr id="59" name="Rectangle 59"/>
            <p:cNvSpPr/>
            <p:nvPr/>
          </p:nvSpPr>
          <p:spPr>
            <a:xfrm>
              <a:off x="8077200" y="3028950"/>
              <a:ext cx="3581400" cy="2724150"/>
            </a:xfrm>
            <a:prstGeom prst="roundRect">
              <a:avLst>
                <a:gd name="adj" fmla="val 55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267700" y="31623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408971" y="32232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 ③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37142" y="3216592"/>
              <a:ext cx="1194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σ⁻¹(a′) = Na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61985" y="3574256"/>
              <a:ext cx="2027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 σ(a) = a′，对任意 b ∈ G：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229600" y="3810000"/>
              <a:ext cx="3276600" cy="1447800"/>
            </a:xfrm>
            <a:prstGeom prst="roundRect">
              <a:avLst>
                <a:gd name="adj" fmla="val 789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375523" y="3939064"/>
              <a:ext cx="2223770" cy="1316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b ∈ σ⁻¹(a′) ⇔ σ(b) = a′</a:t>
              </a:r>
              <a:br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⇔ σ(b)(a′)⁻¹ = 1′</a:t>
              </a:r>
              <a:br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⇔ σ(b)(σ(a))⁻¹ = 1′</a:t>
              </a:r>
              <a:br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⇔ σ(ba⁻¹) = σ(b)σ(a⁻¹) = 1′</a:t>
              </a:r>
              <a:br/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⇔ ba⁻¹ ∈ N ⇔ </a:t>
              </a:r>
              <a:r>
                <a:rPr lang="en-US" sz="128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b ∈ Na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61223" y="5405914"/>
              <a:ext cx="14796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原像恰好是陪集 Na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8" name="Rectangle 6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62000" y="6003925"/>
              <a:ext cx="228599" cy="203200"/>
              <a:chOff x="762000" y="6003925"/>
              <a:chExt cx="228599" cy="2032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62000" y="6105525"/>
                <a:ext cx="22859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63500">
                    <a:moveTo>
                      <a:pt x="228599" y="63500"/>
                    </a:moveTo>
                    <a:lnTo>
                      <a:pt x="127000" y="63500"/>
                    </a:lnTo>
                    <a:lnTo>
                      <a:pt x="82550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44613" y="6042025"/>
                <a:ext cx="145986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45986" h="63500">
                    <a:moveTo>
                      <a:pt x="145986" y="0"/>
                    </a:moveTo>
                    <a:lnTo>
                      <a:pt x="44386" y="0"/>
                    </a:lnTo>
                    <a:lnTo>
                      <a:pt x="0" y="63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52499" y="600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52499" y="6130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4618" y="6003608"/>
              <a:ext cx="77183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同态把 G 按核的陪集“打包”：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同一个陪集 ↦ 同一个像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，不同陪集 ↦ 不同的像。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6" name="TextBox 76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7097958" cy="960501"/>
            <a:chOff x="470893" y="361950"/>
            <a:chExt cx="709795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同态定理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704916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第二同态定理：陪集也能组成群——商群 G/N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lemma"/>
          <p:cNvGrpSpPr/>
          <p:nvPr/>
        </p:nvGrpSpPr>
        <p:grpSpPr>
          <a:xfrm>
            <a:off x="533400" y="1485900"/>
            <a:ext cx="4267200" cy="2209800"/>
            <a:chOff x="533400" y="1485900"/>
            <a:chExt cx="4267200" cy="2209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267200" cy="2209800"/>
            </a:xfrm>
            <a:prstGeom prst="roundRect">
              <a:avLst>
                <a:gd name="adj" fmla="val 689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1828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75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7642" y="16735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陪集之积还是陪集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45018"/>
              <a:ext cx="27569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N 是群 G 的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正规子群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，若 A、B 是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N 的陪集，则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AB 也是 N 的陪集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609850"/>
              <a:ext cx="37338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704" y="2727960"/>
              <a:ext cx="3347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证：N 正规 ⇒ Nb = bN；设 A = aN，B = bN，则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99128" y="3022282"/>
              <a:ext cx="25643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AB = aNbN = abNN = abN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2742" y="3334702"/>
              <a:ext cx="30571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（中间用 Nb = bN 交换；NN = N 因为 N 是子群）</a:t>
              </a:r>
            </a:p>
          </p:txBody>
        </p:sp>
      </p:grpSp>
      <p:grpSp>
        <p:nvGrpSpPr>
          <p:cNvPr id="20" name="bins-figure"/>
          <p:cNvGrpSpPr/>
          <p:nvPr/>
        </p:nvGrpSpPr>
        <p:grpSpPr>
          <a:xfrm>
            <a:off x="533400" y="3810000"/>
            <a:ext cx="3795903" cy="1943100"/>
            <a:chOff x="533400" y="3810000"/>
            <a:chExt cx="3795903" cy="194310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3810000"/>
              <a:ext cx="2590800" cy="1943100"/>
            </a:xfrm>
            <a:prstGeom prst="roundRect">
              <a:avLst>
                <a:gd name="adj" fmla="val 7843"/>
              </a:avLst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3269742" y="4045268"/>
              <a:ext cx="1059561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按陪集分堆，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每一堆看成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新元素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</a:t>
              </a:r>
            </a:p>
            <a:p>
              <a:pPr algn="l">
                <a:lnSpc>
                  <a:spcPts val="2100"/>
                </a:lnSpc>
                <a:spcBef>
                  <a:spcPts val="900"/>
                </a:spcBef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这就是商群。</a:t>
              </a:r>
            </a:p>
          </p:txBody>
        </p:sp>
      </p:grpSp>
      <p:grpSp>
        <p:nvGrpSpPr>
          <p:cNvPr id="29" name="theorem"/>
          <p:cNvGrpSpPr/>
          <p:nvPr/>
        </p:nvGrpSpPr>
        <p:grpSpPr>
          <a:xfrm>
            <a:off x="4991100" y="1485900"/>
            <a:ext cx="6667500" cy="1981200"/>
            <a:chOff x="4991100" y="1485900"/>
            <a:chExt cx="6667500" cy="1981200"/>
          </a:xfrm>
        </p:grpSpPr>
        <p:sp>
          <p:nvSpPr>
            <p:cNvPr id="21" name="Rectangle 21"/>
            <p:cNvSpPr/>
            <p:nvPr/>
          </p:nvSpPr>
          <p:spPr>
            <a:xfrm>
              <a:off x="4991100" y="1485900"/>
              <a:ext cx="6667500" cy="19812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143500" y="167640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721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410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6.4.3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0142" y="1673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第二同态定理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65242" y="2025968"/>
              <a:ext cx="4737164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N 是群 G 的正规子群，于是按照陪集的乘法，N 的所有陪集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作成一个群 G/N。命 σ : a ↦ aN，a ∈ G，则 σ 是 G 到 G/N 上的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一个同态映射，且 σ 的核就是 N。G/N 称为 G 对于 N 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商群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72100" y="2876550"/>
              <a:ext cx="6096000" cy="438150"/>
            </a:xfrm>
            <a:prstGeom prst="roundRect">
              <a:avLst>
                <a:gd name="adj" fmla="val 2608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56504" y="3023235"/>
              <a:ext cx="4647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G 是有限群：商群的元素个数 = N 在 G 中的指数 = 陪集的个数</a:t>
              </a:r>
            </a:p>
          </p:txBody>
        </p:sp>
      </p:grpSp>
      <p:grpSp>
        <p:nvGrpSpPr>
          <p:cNvPr id="45" name="proof-steps"/>
          <p:cNvGrpSpPr/>
          <p:nvPr/>
        </p:nvGrpSpPr>
        <p:grpSpPr>
          <a:xfrm>
            <a:off x="4984623" y="3653314"/>
            <a:ext cx="6488811" cy="1963864"/>
            <a:chOff x="4984623" y="3653314"/>
            <a:chExt cx="6488811" cy="1963864"/>
          </a:xfrm>
        </p:grpSpPr>
        <p:sp>
          <p:nvSpPr>
            <p:cNvPr id="30" name="TextBox 30"/>
            <p:cNvSpPr txBox="1"/>
            <p:nvPr/>
          </p:nvSpPr>
          <p:spPr>
            <a:xfrm>
              <a:off x="4984623" y="3653314"/>
              <a:ext cx="2342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证明：借定理 6.4.1 一步到位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143500" y="40767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5019675" y="39528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97351" y="4010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65623" y="3996214"/>
              <a:ext cx="5282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映射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：显然 σ : a ↦ aN 是 G 到 G/N 上的映射（每个陪集 aN = σ(a)）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019675" y="44100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97351" y="44681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65623" y="4453414"/>
              <a:ext cx="4260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同态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：任取 a, b ∈ G，σ(ab) = abN = aNbN = σ(a)σ(b)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35863" y="4477702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依据：引理 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019675" y="48672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97351" y="4925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65623" y="4910614"/>
              <a:ext cx="52269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是群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：G/N = σ(G)，由定理 6.4.1 知 G/N 是群，单位元为 σ(1) = N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019675" y="5324475"/>
              <a:ext cx="247650" cy="24765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097351" y="5382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65623" y="5367814"/>
              <a:ext cx="49449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核是 N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：{g ∈ G | σ(g) = N} = {g ∈ G | gN = N} = {g | g ∈ N} = N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74700" y="6003925"/>
              <a:ext cx="203199" cy="203199"/>
              <a:chOff x="774700" y="6003925"/>
              <a:chExt cx="203199" cy="203199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74700" y="6003925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101600" y="0"/>
                    </a:moveTo>
                    <a:lnTo>
                      <a:pt x="0" y="50800"/>
                    </a:lnTo>
                    <a:lnTo>
                      <a:pt x="101600" y="101600"/>
                    </a:lnTo>
                    <a:lnTo>
                      <a:pt x="203199" y="5080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4700" y="6105525"/>
                <a:ext cx="203199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4700" y="6156324"/>
                <a:ext cx="203199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50800">
                    <a:moveTo>
                      <a:pt x="0" y="0"/>
                    </a:moveTo>
                    <a:lnTo>
                      <a:pt x="101600" y="508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134618" y="6003608"/>
              <a:ext cx="7814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商群 G/N：把 N 的每个陪集当成一个元素，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 · bN = abN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，单位元是 N 本身。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6273249" cy="960501"/>
            <a:chOff x="470893" y="361950"/>
            <a:chExt cx="627324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同态定理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22445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例：把整数按 5G 分堆，得到商群 G/N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osets"/>
          <p:cNvGrpSpPr/>
          <p:nvPr/>
        </p:nvGrpSpPr>
        <p:grpSpPr>
          <a:xfrm>
            <a:off x="533400" y="1485900"/>
            <a:ext cx="6667500" cy="4267200"/>
            <a:chOff x="533400" y="1485900"/>
            <a:chExt cx="6667500" cy="4267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667500" cy="42672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56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8542" y="1673542"/>
              <a:ext cx="20218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为整数加法群，N = 5G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042" y="2025968"/>
              <a:ext cx="453999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= 5G = {…, −10, −5, 0, 5, 10, …} 是 G 的正规子群，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中 N 的所有陪集作成的集合 G/N 共有 5 个元素（陪集）：</a:t>
              </a:r>
            </a:p>
          </p:txBody>
        </p:sp>
        <p:grpSp>
          <p:nvGrpSpPr>
            <p:cNvPr id="18" name="coset-0"/>
            <p:cNvGrpSpPr/>
            <p:nvPr/>
          </p:nvGrpSpPr>
          <p:grpSpPr>
            <a:xfrm>
              <a:off x="685800" y="2609850"/>
              <a:ext cx="6362700" cy="388620"/>
              <a:chOff x="685800" y="2609850"/>
              <a:chExt cx="6362700" cy="38862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85800" y="2609850"/>
                <a:ext cx="6362700" cy="361950"/>
              </a:xfrm>
              <a:prstGeom prst="roundRect">
                <a:avLst>
                  <a:gd name="adj" fmla="val 2631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85800" y="2609850"/>
                <a:ext cx="533400" cy="361950"/>
              </a:xfrm>
              <a:prstGeom prst="roundRect">
                <a:avLst>
                  <a:gd name="adj" fmla="val 2631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86573" y="27051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895350" y="27051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364742" y="2711768"/>
                <a:ext cx="23944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{…, −10, −5, 0, 5, 10, …}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264204" y="2711768"/>
                <a:ext cx="638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= 0 + N</a:t>
                </a:r>
              </a:p>
            </p:txBody>
          </p:sp>
        </p:grpSp>
        <p:grpSp>
          <p:nvGrpSpPr>
            <p:cNvPr id="25" name="coset-1"/>
            <p:cNvGrpSpPr/>
            <p:nvPr/>
          </p:nvGrpSpPr>
          <p:grpSpPr>
            <a:xfrm>
              <a:off x="685800" y="3048000"/>
              <a:ext cx="6362700" cy="388620"/>
              <a:chOff x="685800" y="3048000"/>
              <a:chExt cx="6362700" cy="38862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85800" y="3048000"/>
                <a:ext cx="6362700" cy="361950"/>
              </a:xfrm>
              <a:prstGeom prst="roundRect">
                <a:avLst>
                  <a:gd name="adj" fmla="val 2631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85800" y="3048000"/>
                <a:ext cx="533400" cy="361950"/>
              </a:xfrm>
              <a:prstGeom prst="roundRect">
                <a:avLst>
                  <a:gd name="adj" fmla="val 2631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86573" y="31432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895350" y="31432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64742" y="3149918"/>
                <a:ext cx="22945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{…, −9, −4, 1, 6, 11, …}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64204" y="3149918"/>
                <a:ext cx="638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chemeClr val="accent2"/>
                    </a:solidFill>
                    <a:latin typeface="Cambria Math"/>
                    <a:ea typeface="Cambria Math"/>
                    <a:cs typeface="Cambria Math"/>
                  </a:rPr>
                  <a:t>= 1 + N</a:t>
                </a:r>
              </a:p>
            </p:txBody>
          </p:sp>
        </p:grpSp>
        <p:grpSp>
          <p:nvGrpSpPr>
            <p:cNvPr id="32" name="coset-2"/>
            <p:cNvGrpSpPr/>
            <p:nvPr/>
          </p:nvGrpSpPr>
          <p:grpSpPr>
            <a:xfrm>
              <a:off x="685800" y="3486150"/>
              <a:ext cx="6362700" cy="388620"/>
              <a:chOff x="685800" y="3486150"/>
              <a:chExt cx="6362700" cy="38862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85800" y="3486150"/>
                <a:ext cx="6362700" cy="361950"/>
              </a:xfrm>
              <a:prstGeom prst="roundRect">
                <a:avLst>
                  <a:gd name="adj" fmla="val 2631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85800" y="3486150"/>
                <a:ext cx="533400" cy="361950"/>
              </a:xfrm>
              <a:prstGeom prst="roundRect">
                <a:avLst>
                  <a:gd name="adj" fmla="val 26316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86573" y="35814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895350" y="35814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364742" y="3588068"/>
                <a:ext cx="22945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{…, −8, −3, 2, 7, 12, …}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264204" y="3588068"/>
                <a:ext cx="638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chemeClr val="accent3"/>
                    </a:solidFill>
                    <a:latin typeface="Cambria Math"/>
                    <a:ea typeface="Cambria Math"/>
                    <a:cs typeface="Cambria Math"/>
                  </a:rPr>
                  <a:t>= 2 + N</a:t>
                </a:r>
              </a:p>
            </p:txBody>
          </p:sp>
        </p:grpSp>
        <p:grpSp>
          <p:nvGrpSpPr>
            <p:cNvPr id="39" name="coset-3"/>
            <p:cNvGrpSpPr/>
            <p:nvPr/>
          </p:nvGrpSpPr>
          <p:grpSpPr>
            <a:xfrm>
              <a:off x="685800" y="3924300"/>
              <a:ext cx="6362700" cy="388620"/>
              <a:chOff x="685800" y="3924300"/>
              <a:chExt cx="6362700" cy="38862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85800" y="3924300"/>
                <a:ext cx="6362700" cy="361950"/>
              </a:xfrm>
              <a:prstGeom prst="roundRect">
                <a:avLst>
                  <a:gd name="adj" fmla="val 2631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85800" y="3924300"/>
                <a:ext cx="533400" cy="361950"/>
              </a:xfrm>
              <a:prstGeom prst="roundRect">
                <a:avLst>
                  <a:gd name="adj" fmla="val 26316"/>
                </a:avLst>
              </a:prstGeom>
              <a:solidFill>
                <a:srgbClr val="7B8FCB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86573" y="40195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895350" y="40195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364742" y="4026218"/>
                <a:ext cx="22945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{…, −7, −2, 3, 8, 13, …}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264204" y="4026218"/>
                <a:ext cx="638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3 + N</a:t>
                </a:r>
              </a:p>
            </p:txBody>
          </p:sp>
        </p:grpSp>
        <p:grpSp>
          <p:nvGrpSpPr>
            <p:cNvPr id="46" name="coset-4"/>
            <p:cNvGrpSpPr/>
            <p:nvPr/>
          </p:nvGrpSpPr>
          <p:grpSpPr>
            <a:xfrm>
              <a:off x="685800" y="4362450"/>
              <a:ext cx="6362700" cy="388620"/>
              <a:chOff x="685800" y="4362450"/>
              <a:chExt cx="6362700" cy="38862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85800" y="4362450"/>
                <a:ext cx="6362700" cy="361950"/>
              </a:xfrm>
              <a:prstGeom prst="roundRect">
                <a:avLst>
                  <a:gd name="adj" fmla="val 2631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85800" y="4362450"/>
                <a:ext cx="533400" cy="361950"/>
              </a:xfrm>
              <a:prstGeom prst="roundRect">
                <a:avLst>
                  <a:gd name="adj" fmla="val 26316"/>
                </a:avLst>
              </a:prstGeom>
              <a:solidFill>
                <a:srgbClr val="5B6475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86573" y="44577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895350" y="44577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364742" y="4464368"/>
                <a:ext cx="22945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{…, −6, −1, 4, 9, 14, …}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4204" y="4464368"/>
                <a:ext cx="638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4 + N</a:t>
                </a: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717423" y="4948714"/>
              <a:ext cx="5447741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⊕ 表示陪集加法：</a:t>
              </a:r>
              <a:r>
                <a:rPr lang="en-US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(1 + N) ⊕ (4 + N) = (1 + 4) + N = </a:t>
              </a:r>
              <a:r>
                <a:rPr lang="en-US" sz="128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N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（即 0 + N）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G/N 在陪集加法下是群；</a:t>
              </a:r>
              <a:r>
                <a:rPr lang="el-GR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σ : a ↦ a + N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是 G 到 G/N 上的同态映射，核就是 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8566" y="5487352"/>
              <a:ext cx="3228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 + N 里是 5 的倍数，k + N 里是除以 5 余 k 的整数</a:t>
              </a:r>
            </a:p>
          </p:txBody>
        </p:sp>
      </p:grpSp>
      <p:grpSp>
        <p:nvGrpSpPr>
          <p:cNvPr id="142" name="cayley-table"/>
          <p:cNvGrpSpPr/>
          <p:nvPr/>
        </p:nvGrpSpPr>
        <p:grpSpPr>
          <a:xfrm>
            <a:off x="7353300" y="1485900"/>
            <a:ext cx="4305300" cy="4267200"/>
            <a:chOff x="7353300" y="1485900"/>
            <a:chExt cx="4305300" cy="4267200"/>
          </a:xfrm>
        </p:grpSpPr>
        <p:sp>
          <p:nvSpPr>
            <p:cNvPr id="50" name="Rectangle 50"/>
            <p:cNvSpPr/>
            <p:nvPr/>
          </p:nvSpPr>
          <p:spPr>
            <a:xfrm>
              <a:off x="7353300" y="1485900"/>
              <a:ext cx="4305300" cy="4267200"/>
            </a:xfrm>
            <a:prstGeom prst="roundRect">
              <a:avLst>
                <a:gd name="adj" fmla="val 357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96133" y="1644968"/>
              <a:ext cx="1819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陪集加法表 (G/N, ⊕)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962900" y="1924050"/>
              <a:ext cx="3086100" cy="5143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962900" y="2438400"/>
              <a:ext cx="514350" cy="257175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477250" y="2952750"/>
              <a:ext cx="2571750" cy="5143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534650" y="2438400"/>
              <a:ext cx="514350" cy="25717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553700" y="2971800"/>
              <a:ext cx="476250" cy="476250"/>
            </a:xfrm>
            <a:prstGeom prst="rect">
              <a:avLst/>
            </a:prstGeom>
            <a:solidFill>
              <a:srgbClr val="FDEEE7"/>
            </a:solidFill>
            <a:ln w="28575">
              <a:solidFill>
                <a:schemeClr val="accent2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962900" y="24384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8477250" y="19240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962900" y="295275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8991600" y="19240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79629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9505950" y="19240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7962900" y="398145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020300" y="19240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7962900" y="44958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10534650" y="19240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962900" y="1924050"/>
              <a:ext cx="3086100" cy="30861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8154148" y="2085975"/>
              <a:ext cx="2703605" cy="2865120"/>
              <a:chOff x="8154148" y="2085975"/>
              <a:chExt cx="2703605" cy="2865120"/>
            </a:xfrm>
          </p:grpSpPr>
          <p:sp>
            <p:nvSpPr>
              <p:cNvPr id="68" name="TextBox 68"/>
              <p:cNvSpPr txBox="1"/>
              <p:nvPr/>
            </p:nvSpPr>
            <p:spPr>
              <a:xfrm>
                <a:off x="8154148" y="20859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⊕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668498" y="20859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182848" y="20859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697198" y="20859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211548" y="20859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0725898" y="20859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154148" y="26003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671274" y="26003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185624" y="26003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699974" y="26003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10214324" y="26003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0728674" y="26003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8154148" y="31146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8671274" y="31146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185624" y="31146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99974" y="31146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0214324" y="31146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0725898" y="31146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8154148" y="36290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8671274" y="36290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185624" y="36290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9699974" y="36290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214324" y="36290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10728674" y="36290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8154148" y="41433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8671274" y="41433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9185624" y="41433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9699974" y="41433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10214324" y="41433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0728674" y="41433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8154148" y="46577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8671274" y="46577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4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9185624" y="46577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0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9699974" y="46577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10214324" y="46577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10728674" y="465772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3</a:t>
                </a:r>
              </a:p>
            </p:txBody>
          </p:sp>
        </p:grpSp>
        <p:grpSp>
          <p:nvGrpSpPr>
            <p:cNvPr id="140" name="cell-bars"/>
            <p:cNvGrpSpPr/>
            <p:nvPr/>
          </p:nvGrpSpPr>
          <p:grpSpPr>
            <a:xfrm>
              <a:off x="8162925" y="2076450"/>
              <a:ext cx="2686050" cy="2581275"/>
              <a:chOff x="8162925" y="2076450"/>
              <a:chExt cx="2686050" cy="2581275"/>
            </a:xfrm>
          </p:grpSpPr>
          <p:sp>
            <p:nvSpPr>
              <p:cNvPr id="105" name="Line 105"/>
              <p:cNvSpPr/>
              <p:nvPr/>
            </p:nvSpPr>
            <p:spPr>
              <a:xfrm>
                <a:off x="8677275" y="20764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accent1"/>
                </a:solidFill>
              </a:ln>
            </p:spPr>
          </p:sp>
          <p:sp>
            <p:nvSpPr>
              <p:cNvPr id="106" name="Line 106"/>
              <p:cNvSpPr/>
              <p:nvPr/>
            </p:nvSpPr>
            <p:spPr>
              <a:xfrm>
                <a:off x="9191625" y="20764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accent1"/>
                </a:solidFill>
              </a:ln>
            </p:spPr>
          </p:sp>
          <p:sp>
            <p:nvSpPr>
              <p:cNvPr id="107" name="Line 107"/>
              <p:cNvSpPr/>
              <p:nvPr/>
            </p:nvSpPr>
            <p:spPr>
              <a:xfrm>
                <a:off x="9705975" y="20764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accent1"/>
                </a:solidFill>
              </a:ln>
            </p:spPr>
          </p:sp>
          <p:sp>
            <p:nvSpPr>
              <p:cNvPr id="108" name="Line 108"/>
              <p:cNvSpPr/>
              <p:nvPr/>
            </p:nvSpPr>
            <p:spPr>
              <a:xfrm>
                <a:off x="10220325" y="20764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accent1"/>
                </a:solidFill>
              </a:ln>
            </p:spPr>
          </p:sp>
          <p:sp>
            <p:nvSpPr>
              <p:cNvPr id="109" name="Line 109"/>
              <p:cNvSpPr/>
              <p:nvPr/>
            </p:nvSpPr>
            <p:spPr>
              <a:xfrm>
                <a:off x="10734675" y="20764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rgbClr val="C2410C"/>
                </a:solidFill>
              </a:ln>
            </p:spPr>
          </p:sp>
          <p:sp>
            <p:nvSpPr>
              <p:cNvPr id="110" name="Line 110"/>
              <p:cNvSpPr/>
              <p:nvPr/>
            </p:nvSpPr>
            <p:spPr>
              <a:xfrm>
                <a:off x="8162925" y="25908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accent1"/>
                </a:solidFill>
              </a:ln>
            </p:spPr>
          </p:sp>
          <p:sp>
            <p:nvSpPr>
              <p:cNvPr id="111" name="Line 111"/>
              <p:cNvSpPr/>
              <p:nvPr/>
            </p:nvSpPr>
            <p:spPr>
              <a:xfrm>
                <a:off x="8677275" y="25908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12" name="Line 112"/>
              <p:cNvSpPr/>
              <p:nvPr/>
            </p:nvSpPr>
            <p:spPr>
              <a:xfrm>
                <a:off x="9191625" y="25908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13" name="Line 113"/>
              <p:cNvSpPr/>
              <p:nvPr/>
            </p:nvSpPr>
            <p:spPr>
              <a:xfrm>
                <a:off x="9705975" y="25908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14" name="Line 114"/>
              <p:cNvSpPr/>
              <p:nvPr/>
            </p:nvSpPr>
            <p:spPr>
              <a:xfrm>
                <a:off x="10220325" y="25908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15" name="Line 115"/>
              <p:cNvSpPr/>
              <p:nvPr/>
            </p:nvSpPr>
            <p:spPr>
              <a:xfrm>
                <a:off x="10734675" y="25908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16" name="Line 116"/>
              <p:cNvSpPr/>
              <p:nvPr/>
            </p:nvSpPr>
            <p:spPr>
              <a:xfrm>
                <a:off x="8162925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rgbClr val="C2410C"/>
                </a:solidFill>
              </a:ln>
            </p:spPr>
          </p:sp>
          <p:sp>
            <p:nvSpPr>
              <p:cNvPr id="117" name="Line 117"/>
              <p:cNvSpPr/>
              <p:nvPr/>
            </p:nvSpPr>
            <p:spPr>
              <a:xfrm>
                <a:off x="8677275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18" name="Line 118"/>
              <p:cNvSpPr/>
              <p:nvPr/>
            </p:nvSpPr>
            <p:spPr>
              <a:xfrm>
                <a:off x="9191625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19" name="Line 119"/>
              <p:cNvSpPr/>
              <p:nvPr/>
            </p:nvSpPr>
            <p:spPr>
              <a:xfrm>
                <a:off x="9705975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20" name="Line 120"/>
              <p:cNvSpPr/>
              <p:nvPr/>
            </p:nvSpPr>
            <p:spPr>
              <a:xfrm>
                <a:off x="10220325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21" name="Line 121"/>
              <p:cNvSpPr/>
              <p:nvPr/>
            </p:nvSpPr>
            <p:spPr>
              <a:xfrm>
                <a:off x="10734675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rgbClr val="C2410C"/>
                </a:solidFill>
              </a:ln>
            </p:spPr>
          </p:sp>
          <p:sp>
            <p:nvSpPr>
              <p:cNvPr id="122" name="Line 122"/>
              <p:cNvSpPr/>
              <p:nvPr/>
            </p:nvSpPr>
            <p:spPr>
              <a:xfrm>
                <a:off x="8162925" y="36195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accent1"/>
                </a:solidFill>
              </a:ln>
            </p:spPr>
          </p:sp>
          <p:sp>
            <p:nvSpPr>
              <p:cNvPr id="123" name="Line 123"/>
              <p:cNvSpPr/>
              <p:nvPr/>
            </p:nvSpPr>
            <p:spPr>
              <a:xfrm>
                <a:off x="8677275" y="36195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24" name="Line 124"/>
              <p:cNvSpPr/>
              <p:nvPr/>
            </p:nvSpPr>
            <p:spPr>
              <a:xfrm>
                <a:off x="9191625" y="36195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25" name="Line 125"/>
              <p:cNvSpPr/>
              <p:nvPr/>
            </p:nvSpPr>
            <p:spPr>
              <a:xfrm>
                <a:off x="9705975" y="36195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26" name="Line 126"/>
              <p:cNvSpPr/>
              <p:nvPr/>
            </p:nvSpPr>
            <p:spPr>
              <a:xfrm>
                <a:off x="10220325" y="36195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27" name="Line 127"/>
              <p:cNvSpPr/>
              <p:nvPr/>
            </p:nvSpPr>
            <p:spPr>
              <a:xfrm>
                <a:off x="10734675" y="36195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28" name="Line 128"/>
              <p:cNvSpPr/>
              <p:nvPr/>
            </p:nvSpPr>
            <p:spPr>
              <a:xfrm>
                <a:off x="8162925" y="41338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accent1"/>
                </a:solidFill>
              </a:ln>
            </p:spPr>
          </p:sp>
          <p:sp>
            <p:nvSpPr>
              <p:cNvPr id="129" name="Line 129"/>
              <p:cNvSpPr/>
              <p:nvPr/>
            </p:nvSpPr>
            <p:spPr>
              <a:xfrm>
                <a:off x="8677275" y="41338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30" name="Line 130"/>
              <p:cNvSpPr/>
              <p:nvPr/>
            </p:nvSpPr>
            <p:spPr>
              <a:xfrm>
                <a:off x="9191625" y="41338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31" name="Line 131"/>
              <p:cNvSpPr/>
              <p:nvPr/>
            </p:nvSpPr>
            <p:spPr>
              <a:xfrm>
                <a:off x="9705975" y="41338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32" name="Line 132"/>
              <p:cNvSpPr/>
              <p:nvPr/>
            </p:nvSpPr>
            <p:spPr>
              <a:xfrm>
                <a:off x="10220325" y="41338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33" name="Line 133"/>
              <p:cNvSpPr/>
              <p:nvPr/>
            </p:nvSpPr>
            <p:spPr>
              <a:xfrm>
                <a:off x="10734675" y="41338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34" name="Line 134"/>
              <p:cNvSpPr/>
              <p:nvPr/>
            </p:nvSpPr>
            <p:spPr>
              <a:xfrm>
                <a:off x="8162925" y="46482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accent1"/>
                </a:solidFill>
              </a:ln>
            </p:spPr>
          </p:sp>
          <p:sp>
            <p:nvSpPr>
              <p:cNvPr id="135" name="Line 135"/>
              <p:cNvSpPr/>
              <p:nvPr/>
            </p:nvSpPr>
            <p:spPr>
              <a:xfrm>
                <a:off x="8677275" y="46482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36" name="Line 136"/>
              <p:cNvSpPr/>
              <p:nvPr/>
            </p:nvSpPr>
            <p:spPr>
              <a:xfrm>
                <a:off x="9191625" y="46482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37" name="Line 137"/>
              <p:cNvSpPr/>
              <p:nvPr/>
            </p:nvSpPr>
            <p:spPr>
              <a:xfrm>
                <a:off x="9705975" y="46482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38" name="Line 138"/>
              <p:cNvSpPr/>
              <p:nvPr/>
            </p:nvSpPr>
            <p:spPr>
              <a:xfrm>
                <a:off x="10220325" y="46482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  <p:sp>
            <p:nvSpPr>
              <p:cNvPr id="139" name="Line 139"/>
              <p:cNvSpPr/>
              <p:nvPr/>
            </p:nvSpPr>
            <p:spPr>
              <a:xfrm>
                <a:off x="10734675" y="46482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7145">
                <a:solidFill>
                  <a:schemeClr val="dk1"/>
                </a:solidFill>
              </a:ln>
            </p:spPr>
          </p:sp>
        </p:grpSp>
        <p:sp>
          <p:nvSpPr>
            <p:cNvPr id="141" name="TextBox 141"/>
            <p:cNvSpPr txBox="1"/>
            <p:nvPr/>
          </p:nvSpPr>
          <p:spPr>
            <a:xfrm>
              <a:off x="8414004" y="5185410"/>
              <a:ext cx="21838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橙框：</a:t>
              </a:r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+ N) ⊕ (4 + N) = 0 + N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和模 5 加法表一模一样</a:t>
              </a:r>
            </a:p>
          </p:txBody>
        </p:sp>
      </p:grpSp>
      <p:grpSp>
        <p:nvGrpSpPr>
          <p:cNvPr id="14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43" name="Rectangle 14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47" name="Group 147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45" name="Freeform 145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46" name="Freeform 146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48" name="TextBox 148"/>
            <p:cNvSpPr txBox="1"/>
            <p:nvPr/>
          </p:nvSpPr>
          <p:spPr>
            <a:xfrm>
              <a:off x="1134618" y="6003608"/>
              <a:ext cx="72307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加法群里 aN 写作 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+ N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；交换群的子群都是正规子群，所以都能做商群。</a:t>
              </a:r>
            </a:p>
          </p:txBody>
        </p:sp>
      </p:grpSp>
      <p:grpSp>
        <p:nvGrpSpPr>
          <p:cNvPr id="15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50" name="TextBox 150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4876806" cy="960501"/>
            <a:chOff x="470893" y="361950"/>
            <a:chExt cx="487680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同态定理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280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第三同态定理：同态像 ≅ 商群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theorem"/>
          <p:cNvGrpSpPr/>
          <p:nvPr/>
        </p:nvGrpSpPr>
        <p:grpSpPr>
          <a:xfrm>
            <a:off x="533400" y="1485900"/>
            <a:ext cx="5067300" cy="1428750"/>
            <a:chOff x="533400" y="1485900"/>
            <a:chExt cx="50673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067300" cy="1428750"/>
            </a:xfrm>
            <a:prstGeom prst="roundRect">
              <a:avLst>
                <a:gd name="adj" fmla="val 1066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1047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6.4.4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2442" y="1673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第三同态定理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45018"/>
              <a:ext cx="4595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σ 是群 G 到 G′ 上的一个同态映射，若 σ 的核为 N，则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324100"/>
              <a:ext cx="4457700" cy="476250"/>
            </a:xfrm>
            <a:prstGeom prst="roundRect">
              <a:avLst>
                <a:gd name="adj" fmla="val 24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20986" y="2440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G′ ≅ G/N</a:t>
              </a:r>
            </a:p>
          </p:txBody>
        </p:sp>
      </p:grpSp>
      <p:grpSp>
        <p:nvGrpSpPr>
          <p:cNvPr id="44" name="triangle"/>
          <p:cNvGrpSpPr/>
          <p:nvPr/>
        </p:nvGrpSpPr>
        <p:grpSpPr>
          <a:xfrm>
            <a:off x="533400" y="3067050"/>
            <a:ext cx="5067300" cy="2686050"/>
            <a:chOff x="533400" y="3067050"/>
            <a:chExt cx="5067300" cy="2686050"/>
          </a:xfrm>
        </p:grpSpPr>
        <p:sp>
          <p:nvSpPr>
            <p:cNvPr id="16" name="Rectangle 16"/>
            <p:cNvSpPr/>
            <p:nvPr/>
          </p:nvSpPr>
          <p:spPr>
            <a:xfrm>
              <a:off x="533400" y="3067050"/>
              <a:ext cx="5067300" cy="2686050"/>
            </a:xfrm>
            <a:prstGeom prst="roundRect">
              <a:avLst>
                <a:gd name="adj" fmla="val 567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52475" y="3238500"/>
              <a:ext cx="171450" cy="161925"/>
              <a:chOff x="752475" y="3238500"/>
              <a:chExt cx="171450" cy="1619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19150" y="32385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28575"/>
                    </a:lnTo>
                    <a:cubicBezTo>
                      <a:pt x="38100" y="33836"/>
                      <a:pt x="33836" y="38100"/>
                      <a:pt x="28575" y="38100"/>
                    </a:cubicBezTo>
                    <a:lnTo>
                      <a:pt x="9525" y="38100"/>
                    </a:lnTo>
                    <a:cubicBezTo>
                      <a:pt x="4264" y="38100"/>
                      <a:pt x="0" y="33836"/>
                      <a:pt x="0" y="285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52475" y="33623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28575"/>
                    </a:lnTo>
                    <a:cubicBezTo>
                      <a:pt x="38100" y="33836"/>
                      <a:pt x="33836" y="38100"/>
                      <a:pt x="28575" y="38100"/>
                    </a:cubicBezTo>
                    <a:lnTo>
                      <a:pt x="9525" y="38100"/>
                    </a:lnTo>
                    <a:cubicBezTo>
                      <a:pt x="4264" y="38100"/>
                      <a:pt x="0" y="33836"/>
                      <a:pt x="0" y="285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85825" y="33623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28575"/>
                    </a:lnTo>
                    <a:cubicBezTo>
                      <a:pt x="38100" y="33836"/>
                      <a:pt x="33836" y="38100"/>
                      <a:pt x="28575" y="38100"/>
                    </a:cubicBezTo>
                    <a:lnTo>
                      <a:pt x="9525" y="38100"/>
                    </a:lnTo>
                    <a:cubicBezTo>
                      <a:pt x="4264" y="38100"/>
                      <a:pt x="0" y="33836"/>
                      <a:pt x="0" y="285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85812" y="3276600"/>
                <a:ext cx="47625" cy="86678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6678">
                    <a:moveTo>
                      <a:pt x="0" y="86678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2962" y="3276600"/>
                <a:ext cx="47625" cy="86678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6678">
                    <a:moveTo>
                      <a:pt x="47625" y="8667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90575" y="33813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22604" y="32518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同态三角：三个定理各管一条边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52500" y="3638550"/>
              <a:ext cx="762000" cy="419100"/>
            </a:xfrm>
            <a:prstGeom prst="roundRect">
              <a:avLst>
                <a:gd name="adj" fmla="val 27273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64272" y="37528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95750" y="3638550"/>
              <a:ext cx="762000" cy="419100"/>
            </a:xfrm>
            <a:prstGeom prst="roundRect">
              <a:avLst>
                <a:gd name="adj" fmla="val 27273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45915" y="375285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28875" y="4991100"/>
              <a:ext cx="952500" cy="419100"/>
            </a:xfrm>
            <a:prstGeom prst="roundRect">
              <a:avLst>
                <a:gd name="adj" fmla="val 27273"/>
              </a:avLst>
            </a:prstGeom>
            <a:solidFill>
              <a:srgbClr val="FDEEE7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712682" y="510540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G/N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752600" y="38481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962400" y="37909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45790" y="36071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12263" y="3963352"/>
              <a:ext cx="985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满同态，核为 N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1524000" y="4095750"/>
              <a:ext cx="1028700" cy="800100"/>
            </a:xfrm>
            <a:custGeom>
              <a:avLst/>
              <a:gdLst/>
              <a:ahLst/>
              <a:cxnLst/>
              <a:rect l="l" t="t" r="r" b="b"/>
              <a:pathLst>
                <a:path w="1028700" h="800100">
                  <a:moveTo>
                    <a:pt x="0" y="0"/>
                  </a:moveTo>
                  <a:lnTo>
                    <a:pt x="1028700" y="800100"/>
                  </a:lnTo>
                </a:path>
              </a:pathLst>
            </a:custGeom>
            <a:noFill/>
            <a:ln w="23812">
              <a:solidFill>
                <a:schemeClr val="accent3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2505075" y="4829175"/>
              <a:ext cx="114300" cy="123825"/>
            </a:xfrm>
            <a:custGeom>
              <a:avLst/>
              <a:gdLst/>
              <a:ahLst/>
              <a:cxnLst/>
              <a:rect l="l" t="t" r="r" b="b"/>
              <a:pathLst>
                <a:path w="114300" h="123825">
                  <a:moveTo>
                    <a:pt x="114300" y="123825"/>
                  </a:moveTo>
                  <a:lnTo>
                    <a:pt x="0" y="952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95196" y="4575810"/>
              <a:ext cx="47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a ↦ aN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65631" y="4809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第二同态定理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3257550" y="4095750"/>
              <a:ext cx="1028700" cy="800100"/>
            </a:xfrm>
            <a:custGeom>
              <a:avLst/>
              <a:gdLst/>
              <a:ahLst/>
              <a:cxnLst/>
              <a:rect l="l" t="t" r="r" b="b"/>
              <a:pathLst>
                <a:path w="1028700" h="800100">
                  <a:moveTo>
                    <a:pt x="0" y="800100"/>
                  </a:moveTo>
                  <a:lnTo>
                    <a:pt x="102870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238625" y="403860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114300" y="0"/>
                  </a:moveTo>
                  <a:lnTo>
                    <a:pt x="66675" y="10477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42004" y="4575810"/>
              <a:ext cx="777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aN ↦ σ(a)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43147" y="4809649"/>
              <a:ext cx="1500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一一对应 + 保运算 ⇒ 同构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00783" y="5506402"/>
              <a:ext cx="2132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 G 出发，两条路到 G′ 结果相同</a:t>
              </a:r>
            </a:p>
          </p:txBody>
        </p:sp>
      </p:grpSp>
      <p:grpSp>
        <p:nvGrpSpPr>
          <p:cNvPr id="60" name="proof"/>
          <p:cNvGrpSpPr/>
          <p:nvPr/>
        </p:nvGrpSpPr>
        <p:grpSpPr>
          <a:xfrm>
            <a:off x="5791200" y="1485900"/>
            <a:ext cx="5867400" cy="2552700"/>
            <a:chOff x="5791200" y="1485900"/>
            <a:chExt cx="5867400" cy="2552700"/>
          </a:xfrm>
        </p:grpSpPr>
        <p:sp>
          <p:nvSpPr>
            <p:cNvPr id="45" name="Rectangle 45"/>
            <p:cNvSpPr/>
            <p:nvPr/>
          </p:nvSpPr>
          <p:spPr>
            <a:xfrm>
              <a:off x="5791200" y="1485900"/>
              <a:ext cx="5867400" cy="2552700"/>
            </a:xfrm>
            <a:prstGeom prst="roundRect">
              <a:avLst>
                <a:gd name="adj" fmla="val 597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9817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188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8742" y="1673542"/>
              <a:ext cx="208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一一对应 + 保运算 ⇒ 同构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134100" y="21717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010275" y="20478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8795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56223" y="2091214"/>
              <a:ext cx="4515866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一一对应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：由定理 6.4.2，G′ 的元素和 G/N 的元素一一对应，</a:t>
              </a:r>
              <a:br/>
              <a:r>
                <a:rPr lang="zh-CN" sz="12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a′ ↔ aN，b′ ↔ bN，其中 a′ = σ(a)，b′ = σ(b)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10275" y="27336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87951" y="2791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56223" y="2777014"/>
              <a:ext cx="4150106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保运算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：a′b′ = σ(a)σ(b) = σ(ab)，所以 a′b′ 对应的是</a:t>
              </a:r>
              <a:br/>
              <a:r>
                <a:rPr lang="zh-CN" sz="128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abN = aNbN，即 a′b′ ↔ aN · bN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010275" y="3419475"/>
              <a:ext cx="247650" cy="24765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6089650" y="3511550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31750"/>
                  </a:moveTo>
                  <a:lnTo>
                    <a:pt x="31750" y="63500"/>
                  </a:lnTo>
                  <a:lnTo>
                    <a:pt x="95250" y="0"/>
                  </a:lnTo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5842" y="3454718"/>
              <a:ext cx="2005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所以 G′ 和 G/N 同构。∎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76366" y="3772852"/>
              <a:ext cx="34727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（N 正规，Na = aN，所以对应与代表元 a 的选取无关）</a:t>
              </a:r>
            </a:p>
          </p:txBody>
        </p:sp>
      </p:grpSp>
      <p:grpSp>
        <p:nvGrpSpPr>
          <p:cNvPr id="67" name="example"/>
          <p:cNvGrpSpPr/>
          <p:nvPr/>
        </p:nvGrpSpPr>
        <p:grpSpPr>
          <a:xfrm>
            <a:off x="5791200" y="4152900"/>
            <a:ext cx="5867400" cy="1600200"/>
            <a:chOff x="5791200" y="4152900"/>
            <a:chExt cx="5867400" cy="1600200"/>
          </a:xfrm>
        </p:grpSpPr>
        <p:sp>
          <p:nvSpPr>
            <p:cNvPr id="61" name="Rectangle 61"/>
            <p:cNvSpPr/>
            <p:nvPr/>
          </p:nvSpPr>
          <p:spPr>
            <a:xfrm>
              <a:off x="5791200" y="4152900"/>
              <a:ext cx="5867400" cy="16002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981700" y="4286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23432" y="4347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46342" y="4340542"/>
              <a:ext cx="208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整数加法群 → 模 5 加法群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975604" y="4671060"/>
              <a:ext cx="45460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为整数加法群，σ : x ↦ x (mod 5)，G′ = σ(G) = {0, 1, 2, 3, 4}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是模 5 的加法群，σ 是 G 到 G′ 上的同态映射，核为 N = 5G，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G/N = {0 + N, 1 + N, 2 + N, 3 + N, 4 + N}，则 </a:t>
              </a:r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G′ ≅ G/N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976366" y="5468302"/>
              <a:ext cx="2999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对应关系：k ↔ k + N——正好是上一页那张加法表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8" name="Rectangle 6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134618" y="6003608"/>
              <a:ext cx="70777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一句话记住：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同态像 G′ 就是 G 把核 N “压成一点”后得到的商群 G/N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4" name="TextBox 74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6618755" cy="960501"/>
            <a:chOff x="470893" y="361950"/>
            <a:chExt cx="661875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子群对应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5699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子群的对应（一）：像与原像都还是子群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setting"/>
          <p:cNvGrpSpPr/>
          <p:nvPr/>
        </p:nvGrpSpPr>
        <p:grpSpPr>
          <a:xfrm>
            <a:off x="533400" y="1485900"/>
            <a:ext cx="11125200" cy="419100"/>
            <a:chOff x="533400" y="1485900"/>
            <a:chExt cx="11125200" cy="41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419100"/>
            </a:xfrm>
            <a:prstGeom prst="roundRect">
              <a:avLst>
                <a:gd name="adj" fmla="val 27273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142" y="1616392"/>
              <a:ext cx="86226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设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σ 为群 G 到 G′ 上的同态映射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，1′ 为 G′ 的单位元。子群判定（6.3）：非空，且 a, b ∈ H ⇒ ab⁻¹ ∈ H。</a:t>
              </a:r>
            </a:p>
          </p:txBody>
        </p:sp>
      </p:grpSp>
      <p:grpSp>
        <p:nvGrpSpPr>
          <p:cNvPr id="25" name="conclusion-1"/>
          <p:cNvGrpSpPr/>
          <p:nvPr/>
        </p:nvGrpSpPr>
        <p:grpSpPr>
          <a:xfrm>
            <a:off x="533400" y="2057400"/>
            <a:ext cx="4229100" cy="3695700"/>
            <a:chOff x="533400" y="2057400"/>
            <a:chExt cx="4229100" cy="3695700"/>
          </a:xfrm>
        </p:grpSpPr>
        <p:sp>
          <p:nvSpPr>
            <p:cNvPr id="10" name="Rectangle 10"/>
            <p:cNvSpPr/>
            <p:nvPr/>
          </p:nvSpPr>
          <p:spPr>
            <a:xfrm>
              <a:off x="533400" y="2057400"/>
              <a:ext cx="4229100" cy="3695700"/>
            </a:xfrm>
            <a:prstGeom prst="roundRect">
              <a:avLst>
                <a:gd name="adj" fmla="val 412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85800" y="2247900"/>
              <a:ext cx="47625" cy="3314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4400" y="21907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7571" y="22517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7642" y="22450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子群的像是子群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2571750"/>
              <a:ext cx="3695700" cy="704850"/>
            </a:xfrm>
            <a:prstGeom prst="roundRect">
              <a:avLst>
                <a:gd name="adj" fmla="val 16216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9942" y="2711768"/>
              <a:ext cx="203211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H 为 G 之子群，则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H′ = σ(H) 亦为 G′ 之子群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3470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7923" y="3729514"/>
              <a:ext cx="2817114" cy="1316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H 为 G 之子群，知 H 为群；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 为群 G 到 G′ 上的同态映射，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故 σ 为群 H 到 H′ 上的同态映射；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由定理 6.4.1 知 H′ 亦为群，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 H′ = σ(H) ⊆ G′，故为 G′ 之子群。∎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4400" y="5219700"/>
              <a:ext cx="3695700" cy="400050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54894" y="5341144"/>
              <a:ext cx="157163" cy="157163"/>
              <a:chOff x="1054894" y="5341144"/>
              <a:chExt cx="157163" cy="15716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54894" y="5341144"/>
                <a:ext cx="157163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3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7463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86117" y="537606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7463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13393" y="546338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7463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308354" y="5347335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：直接套用“同态像是群”</a:t>
              </a:r>
            </a:p>
          </p:txBody>
        </p:sp>
      </p:grpSp>
      <p:grpSp>
        <p:nvGrpSpPr>
          <p:cNvPr id="42" name="two-way-diagram"/>
          <p:cNvGrpSpPr/>
          <p:nvPr/>
        </p:nvGrpSpPr>
        <p:grpSpPr>
          <a:xfrm>
            <a:off x="4914900" y="2057400"/>
            <a:ext cx="2362200" cy="3695700"/>
            <a:chOff x="4914900" y="2057400"/>
            <a:chExt cx="2362200" cy="3695700"/>
          </a:xfrm>
        </p:grpSpPr>
        <p:sp>
          <p:nvSpPr>
            <p:cNvPr id="26" name="Rectangle 26"/>
            <p:cNvSpPr/>
            <p:nvPr/>
          </p:nvSpPr>
          <p:spPr>
            <a:xfrm>
              <a:off x="4914900" y="2057400"/>
              <a:ext cx="2362200" cy="36957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66816" y="21945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两个方向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72100" y="2476500"/>
              <a:ext cx="1447800" cy="14478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753100" y="2952750"/>
              <a:ext cx="685800" cy="685800"/>
            </a:xfrm>
            <a:prstGeom prst="ellips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26772" y="320040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12892" y="26927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829300" y="3676650"/>
              <a:ext cx="9525" cy="800100"/>
            </a:xfrm>
            <a:custGeom>
              <a:avLst/>
              <a:gdLst/>
              <a:ahLst/>
              <a:cxnLst/>
              <a:rect l="l" t="t" r="r" b="b"/>
              <a:pathLst>
                <a:path w="9525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772150" y="445770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57150" y="104775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03189" y="4007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362700" y="375285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81915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chemeClr val="accent3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305550" y="3667125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57150" y="0"/>
                  </a:moveTo>
                  <a:lnTo>
                    <a:pt x="0" y="104775"/>
                  </a:lnTo>
                  <a:lnTo>
                    <a:pt x="114300" y="10477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89192" y="400716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σ⁻¹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505450" y="4419600"/>
              <a:ext cx="1181100" cy="1181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810250" y="4781550"/>
              <a:ext cx="571500" cy="57150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65165" y="497205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H′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0642" y="547401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G′</a:t>
              </a:r>
            </a:p>
          </p:txBody>
        </p:sp>
      </p:grpSp>
      <p:grpSp>
        <p:nvGrpSpPr>
          <p:cNvPr id="62" name="conclusion-2"/>
          <p:cNvGrpSpPr/>
          <p:nvPr/>
        </p:nvGrpSpPr>
        <p:grpSpPr>
          <a:xfrm>
            <a:off x="7429500" y="2057400"/>
            <a:ext cx="4229100" cy="3695700"/>
            <a:chOff x="7429500" y="2057400"/>
            <a:chExt cx="4229100" cy="3695700"/>
          </a:xfrm>
        </p:grpSpPr>
        <p:sp>
          <p:nvSpPr>
            <p:cNvPr id="43" name="Rectangle 43"/>
            <p:cNvSpPr/>
            <p:nvPr/>
          </p:nvSpPr>
          <p:spPr>
            <a:xfrm>
              <a:off x="7429500" y="2057400"/>
              <a:ext cx="4229100" cy="3695700"/>
            </a:xfrm>
            <a:prstGeom prst="roundRect">
              <a:avLst>
                <a:gd name="adj" fmla="val 412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81900" y="2247900"/>
              <a:ext cx="47625" cy="3314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810500" y="21907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13671" y="22517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03742" y="22450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子群的原像是子群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810500" y="2571750"/>
              <a:ext cx="3695700" cy="704850"/>
            </a:xfrm>
            <a:prstGeom prst="roundRect">
              <a:avLst>
                <a:gd name="adj" fmla="val 16216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56042" y="2711768"/>
              <a:ext cx="230257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H′ 为 G′ 之子群，则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 = σ⁻¹(H′) 亦必为 G 之子群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4785" y="3402806"/>
              <a:ext cx="2704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σ⁻¹(H′) = {x | x ∈ G，σ(x) ∈ H′}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04023" y="3672364"/>
              <a:ext cx="3417367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非空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：σ(1) = 1′ ∈ H′，所以 1 ∈ σ⁻¹(H′)</a:t>
              </a:r>
              <a:br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② 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a, b ∈ σ⁻¹(H′)，即 σ(a), σ(b) ∈ H′，故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810500" y="4210050"/>
              <a:ext cx="3695700" cy="419100"/>
            </a:xfrm>
            <a:prstGeom prst="roundRect">
              <a:avLst>
                <a:gd name="adj" fmla="val 2727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972547" y="4339114"/>
              <a:ext cx="33716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σ(ab⁻¹) = σ(a)σ(b⁻¹) = σ(a)σ(b)⁻¹ ∈ H′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04785" y="4736306"/>
              <a:ext cx="2543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（因 H′ 为子群，对乘积与求逆封闭）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04023" y="4967764"/>
              <a:ext cx="3249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因此 ab⁻¹ ∈ σ⁻¹(H′)，H 是 G 的子群。∎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810500" y="5257800"/>
              <a:ext cx="3695700" cy="381000"/>
            </a:xfrm>
            <a:prstGeom prst="roundRect">
              <a:avLst>
                <a:gd name="adj" fmla="val 3000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941519" y="5366818"/>
              <a:ext cx="176105" cy="151297"/>
              <a:chOff x="7941519" y="5366818"/>
              <a:chExt cx="176105" cy="151297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029575" y="5422106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941519" y="5366818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029575" y="5483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204835" y="5384006"/>
              <a:ext cx="264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σ⁻¹(H′) 只是原像集合，</a:t>
              </a: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不要求 σ 可逆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3" name="Rectangle 6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50900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39799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800" y="6118225"/>
                <a:ext cx="1270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0800">
                    <a:moveTo>
                      <a:pt x="0" y="50800"/>
                    </a:moveTo>
                    <a:lnTo>
                      <a:pt x="63500" y="0"/>
                    </a:lnTo>
                    <a:lnTo>
                      <a:pt x="1270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6300" y="60420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134618" y="6003608"/>
              <a:ext cx="6713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子群沿 σ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往前推（取像）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往回拉（取原像）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，得到的都还是子群。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2" name="TextBox 72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8072651" cy="960501"/>
            <a:chOff x="470893" y="361950"/>
            <a:chExt cx="807265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子群对应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80238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子群的对应（二）：映过去再拉回来，会变大吗？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think"/>
          <p:cNvGrpSpPr/>
          <p:nvPr/>
        </p:nvGrpSpPr>
        <p:grpSpPr>
          <a:xfrm>
            <a:off x="533400" y="1485900"/>
            <a:ext cx="4229100" cy="4267200"/>
            <a:chOff x="533400" y="1485900"/>
            <a:chExt cx="4229100" cy="4267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229100" cy="4267200"/>
            </a:xfrm>
            <a:prstGeom prst="roundRect">
              <a:avLst>
                <a:gd name="adj" fmla="val 3604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57238" y="1671638"/>
              <a:ext cx="200026" cy="200026"/>
              <a:chOff x="757238" y="1671638"/>
              <a:chExt cx="200026" cy="20002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57238" y="16716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57250" y="18161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0582" y="173607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78230" y="16859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32585" y="1726406"/>
              <a:ext cx="1950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σ 是 G 到 G′ 上（满）的同态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2019300"/>
              <a:ext cx="3924300" cy="1447800"/>
            </a:xfrm>
            <a:prstGeom prst="roundRect">
              <a:avLst>
                <a:gd name="adj" fmla="val 789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9442" y="2178368"/>
              <a:ext cx="2736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 1：σ(σ⁻¹(H′)) 等于 H′ 吗？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204" y="2499360"/>
              <a:ext cx="289255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等于。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“⊆”显然；反过来任取 h′ ∈ H′，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 是满射，有 x ∈ G 使 σ(x) = h′，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 x ∈ σ⁻¹(H′)，所以 h′ ∈ σ(σ⁻¹(H′))。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" y="3581400"/>
              <a:ext cx="3924300" cy="1238250"/>
            </a:xfrm>
            <a:prstGeom prst="roundRect">
              <a:avLst>
                <a:gd name="adj" fmla="val 9231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9442" y="3740468"/>
              <a:ext cx="2518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 2：σ⁻¹(σ(H)) 等于 H 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204" y="4061460"/>
              <a:ext cx="232105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不一定！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拉回来时，核 N 里的元素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也会被一起带回来：</a:t>
              </a:r>
              <a:br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σ⁻¹(σ(H)) = HN（下一页证明）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" y="4933950"/>
              <a:ext cx="3924300" cy="685800"/>
            </a:xfrm>
            <a:prstGeom prst="roundRect">
              <a:avLst>
                <a:gd name="adj" fmla="val 1666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45344" y="5074444"/>
              <a:ext cx="157163" cy="157163"/>
              <a:chOff x="845344" y="5074444"/>
              <a:chExt cx="157163" cy="15716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45344" y="5074444"/>
                <a:ext cx="157163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3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6567" y="510936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03843" y="519668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7463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117854" y="5080635"/>
              <a:ext cx="261061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看右边：H = {0, 6} 映过去再拉回来，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变成了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 个元素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7" name="example"/>
          <p:cNvGrpSpPr/>
          <p:nvPr/>
        </p:nvGrpSpPr>
        <p:grpSpPr>
          <a:xfrm>
            <a:off x="4953000" y="1485900"/>
            <a:ext cx="6705600" cy="4267200"/>
            <a:chOff x="4953000" y="1485900"/>
            <a:chExt cx="6705600" cy="4267200"/>
          </a:xfrm>
        </p:grpSpPr>
        <p:sp>
          <p:nvSpPr>
            <p:cNvPr id="27" name="Rectangle 27"/>
            <p:cNvSpPr/>
            <p:nvPr/>
          </p:nvSpPr>
          <p:spPr>
            <a:xfrm>
              <a:off x="4953000" y="1485900"/>
              <a:ext cx="6705600" cy="42672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1435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52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08142" y="1673542"/>
              <a:ext cx="3948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 12 加法群 → 模 4 加法群：</a:t>
              </a:r>
              <a:r>
                <a:rPr lang="el-GR" sz="13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 : x ↦ x (mod 4)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37404" y="2023110"/>
              <a:ext cx="54909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是模 12 的整数加法群 {0, 1, …, 11}，G′ 是模 4 的整数加法群 {0, 1, 2, 3}；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 为 G 到 G′ 上的同态映射，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σ 的核为 N = {0, 4, 8}</a:t>
              </a:r>
            </a:p>
          </p:txBody>
        </p:sp>
        <p:grpSp>
          <p:nvGrpSpPr>
            <p:cNvPr id="82" name="z12-map"/>
            <p:cNvGrpSpPr/>
            <p:nvPr/>
          </p:nvGrpSpPr>
          <p:grpSpPr>
            <a:xfrm>
              <a:off x="5101948" y="2705100"/>
              <a:ext cx="6371486" cy="1143000"/>
              <a:chOff x="5101948" y="2705100"/>
              <a:chExt cx="6371486" cy="1143000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5448300" y="3009900"/>
                <a:ext cx="5448300" cy="457200"/>
                <a:chOff x="5448300" y="3009900"/>
                <a:chExt cx="5448300" cy="457200"/>
              </a:xfrm>
            </p:grpSpPr>
            <p:sp>
              <p:nvSpPr>
                <p:cNvPr id="32" name="Line 32"/>
                <p:cNvSpPr/>
                <p:nvPr/>
              </p:nvSpPr>
              <p:spPr>
                <a:xfrm>
                  <a:off x="5448300" y="3009900"/>
                  <a:ext cx="13144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450" h="457200">
                      <a:moveTo>
                        <a:pt x="0" y="0"/>
                      </a:moveTo>
                      <a:lnTo>
                        <a:pt x="1314450" y="45720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33" name="Line 33"/>
                <p:cNvSpPr/>
                <p:nvPr/>
              </p:nvSpPr>
              <p:spPr>
                <a:xfrm>
                  <a:off x="5943600" y="3009900"/>
                  <a:ext cx="19621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0" h="457200">
                      <a:moveTo>
                        <a:pt x="0" y="0"/>
                      </a:moveTo>
                      <a:lnTo>
                        <a:pt x="1962150" y="457200"/>
                      </a:lnTo>
                    </a:path>
                  </a:pathLst>
                </a:custGeom>
                <a:noFill/>
                <a:ln w="14288">
                  <a:solidFill>
                    <a:srgbClr val="7B8FCB"/>
                  </a:solidFill>
                </a:ln>
              </p:spPr>
            </p:sp>
            <p:sp>
              <p:nvSpPr>
                <p:cNvPr id="34" name="Line 34"/>
                <p:cNvSpPr/>
                <p:nvPr/>
              </p:nvSpPr>
              <p:spPr>
                <a:xfrm>
                  <a:off x="6438900" y="3009900"/>
                  <a:ext cx="26098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9850" h="457200">
                      <a:moveTo>
                        <a:pt x="0" y="0"/>
                      </a:moveTo>
                      <a:lnTo>
                        <a:pt x="2609850" y="457200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</a:ln>
              </p:spPr>
            </p:sp>
            <p:sp>
              <p:nvSpPr>
                <p:cNvPr id="35" name="Line 35"/>
                <p:cNvSpPr/>
                <p:nvPr/>
              </p:nvSpPr>
              <p:spPr>
                <a:xfrm>
                  <a:off x="6934200" y="3009900"/>
                  <a:ext cx="32575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7550" h="457200">
                      <a:moveTo>
                        <a:pt x="0" y="0"/>
                      </a:moveTo>
                      <a:lnTo>
                        <a:pt x="3257550" y="457200"/>
                      </a:lnTo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  <p:sp>
              <p:nvSpPr>
                <p:cNvPr id="36" name="Line 36"/>
                <p:cNvSpPr/>
                <p:nvPr/>
              </p:nvSpPr>
              <p:spPr>
                <a:xfrm>
                  <a:off x="6762750" y="3009900"/>
                  <a:ext cx="6667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457200">
                      <a:moveTo>
                        <a:pt x="66675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37" name="Line 37"/>
                <p:cNvSpPr/>
                <p:nvPr/>
              </p:nvSpPr>
              <p:spPr>
                <a:xfrm>
                  <a:off x="7905750" y="3009900"/>
                  <a:ext cx="190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457200">
                      <a:moveTo>
                        <a:pt x="1905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4288">
                  <a:solidFill>
                    <a:srgbClr val="7B8FCB"/>
                  </a:solidFill>
                </a:ln>
              </p:spPr>
            </p:sp>
            <p:sp>
              <p:nvSpPr>
                <p:cNvPr id="38" name="Line 38"/>
                <p:cNvSpPr/>
                <p:nvPr/>
              </p:nvSpPr>
              <p:spPr>
                <a:xfrm>
                  <a:off x="8420100" y="3009900"/>
                  <a:ext cx="6286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" h="457200">
                      <a:moveTo>
                        <a:pt x="0" y="0"/>
                      </a:moveTo>
                      <a:lnTo>
                        <a:pt x="628650" y="457200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</a:ln>
              </p:spPr>
            </p:sp>
            <p:sp>
              <p:nvSpPr>
                <p:cNvPr id="39" name="Line 39"/>
                <p:cNvSpPr/>
                <p:nvPr/>
              </p:nvSpPr>
              <p:spPr>
                <a:xfrm>
                  <a:off x="8915400" y="3009900"/>
                  <a:ext cx="12763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350" h="457200">
                      <a:moveTo>
                        <a:pt x="0" y="0"/>
                      </a:moveTo>
                      <a:lnTo>
                        <a:pt x="1276350" y="457200"/>
                      </a:lnTo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  <p:sp>
              <p:nvSpPr>
                <p:cNvPr id="40" name="Line 40"/>
                <p:cNvSpPr/>
                <p:nvPr/>
              </p:nvSpPr>
              <p:spPr>
                <a:xfrm>
                  <a:off x="6762750" y="3009900"/>
                  <a:ext cx="26479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950" h="457200">
                      <a:moveTo>
                        <a:pt x="264795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41" name="Line 41"/>
                <p:cNvSpPr/>
                <p:nvPr/>
              </p:nvSpPr>
              <p:spPr>
                <a:xfrm>
                  <a:off x="7905750" y="3009900"/>
                  <a:ext cx="20002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0" h="457200">
                      <a:moveTo>
                        <a:pt x="200025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4288">
                  <a:solidFill>
                    <a:srgbClr val="7B8FCB"/>
                  </a:solidFill>
                </a:ln>
              </p:spPr>
            </p:sp>
            <p:sp>
              <p:nvSpPr>
                <p:cNvPr id="42" name="Line 42"/>
                <p:cNvSpPr/>
                <p:nvPr/>
              </p:nvSpPr>
              <p:spPr>
                <a:xfrm>
                  <a:off x="9048750" y="3009900"/>
                  <a:ext cx="13525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2550" h="457200">
                      <a:moveTo>
                        <a:pt x="135255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</a:ln>
              </p:spPr>
            </p:sp>
            <p:sp>
              <p:nvSpPr>
                <p:cNvPr id="43" name="Line 43"/>
                <p:cNvSpPr/>
                <p:nvPr/>
              </p:nvSpPr>
              <p:spPr>
                <a:xfrm>
                  <a:off x="10191750" y="3009900"/>
                  <a:ext cx="70485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50" h="457200">
                      <a:moveTo>
                        <a:pt x="704850" y="0"/>
                      </a:moveTo>
                      <a:lnTo>
                        <a:pt x="0" y="457200"/>
                      </a:lnTo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</p:grpSp>
          <p:sp>
            <p:nvSpPr>
              <p:cNvPr id="45" name="Ellipse 45"/>
              <p:cNvSpPr/>
              <p:nvPr/>
            </p:nvSpPr>
            <p:spPr>
              <a:xfrm>
                <a:off x="5295900" y="27051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dk1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5791200" y="2705100"/>
                <a:ext cx="304800" cy="304800"/>
              </a:xfrm>
              <a:prstGeom prst="ellipse">
                <a:avLst/>
              </a:prstGeom>
              <a:solidFill>
                <a:srgbClr val="7B8FCB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6286500" y="27051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6781800" y="2705100"/>
                <a:ext cx="304800" cy="3048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7277100" y="27051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7772400" y="2705100"/>
                <a:ext cx="304800" cy="304800"/>
              </a:xfrm>
              <a:prstGeom prst="ellipse">
                <a:avLst/>
              </a:prstGeom>
              <a:solidFill>
                <a:srgbClr val="7B8FCB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8267700" y="27051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chemeClr val="dk1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763000" y="2705100"/>
                <a:ext cx="304800" cy="3048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9258300" y="27051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9753600" y="2705100"/>
                <a:ext cx="304800" cy="304800"/>
              </a:xfrm>
              <a:prstGeom prst="ellipse">
                <a:avLst/>
              </a:prstGeom>
              <a:solidFill>
                <a:srgbClr val="7B8FCB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10248900" y="27051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10744200" y="2705100"/>
                <a:ext cx="304800" cy="3048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5402151" y="2791778"/>
                <a:ext cx="5581413" cy="205359"/>
                <a:chOff x="5402151" y="2791778"/>
                <a:chExt cx="5581413" cy="205359"/>
              </a:xfrm>
            </p:grpSpPr>
            <p:sp>
              <p:nvSpPr>
                <p:cNvPr id="57" name="TextBox 57"/>
                <p:cNvSpPr txBox="1"/>
                <p:nvPr/>
              </p:nvSpPr>
              <p:spPr>
                <a:xfrm>
                  <a:off x="54021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58974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63927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68880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73833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78786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3739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88692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93645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9859851" y="2791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10314336" y="2791778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0809636" y="2791778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11</a:t>
                  </a:r>
                </a:p>
              </p:txBody>
            </p:sp>
          </p:grpSp>
          <p:sp>
            <p:nvSpPr>
              <p:cNvPr id="70" name="Ellipse 70"/>
              <p:cNvSpPr/>
              <p:nvPr/>
            </p:nvSpPr>
            <p:spPr>
              <a:xfrm>
                <a:off x="6572250" y="346710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dk1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7715250" y="3467100"/>
                <a:ext cx="381000" cy="381000"/>
              </a:xfrm>
              <a:prstGeom prst="ellipse">
                <a:avLst/>
              </a:prstGeom>
              <a:solidFill>
                <a:srgbClr val="7B8FCB"/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8858250" y="3467100"/>
                <a:ext cx="381000" cy="3810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chemeClr val="dk1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10001250" y="3467100"/>
                <a:ext cx="381000" cy="381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>
                <a:off x="6703415" y="3569018"/>
                <a:ext cx="3547669" cy="264033"/>
                <a:chOff x="6703415" y="3569018"/>
                <a:chExt cx="3547669" cy="264033"/>
              </a:xfrm>
            </p:grpSpPr>
            <p:sp>
              <p:nvSpPr>
                <p:cNvPr id="74" name="TextBox 74"/>
                <p:cNvSpPr txBox="1"/>
                <p:nvPr/>
              </p:nvSpPr>
              <p:spPr>
                <a:xfrm>
                  <a:off x="6703415" y="356901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7846415" y="356901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8989415" y="356901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10132415" y="3569018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79" name="TextBox 79"/>
              <p:cNvSpPr txBox="1"/>
              <p:nvPr/>
            </p:nvSpPr>
            <p:spPr>
              <a:xfrm>
                <a:off x="5101948" y="2768918"/>
                <a:ext cx="1246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G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210254" y="3569018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G′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10561320" y="3601402"/>
                <a:ext cx="9121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黑圈：H 与 H′</a:t>
                </a:r>
              </a:p>
            </p:txBody>
          </p:sp>
        </p:grpSp>
        <p:sp>
          <p:nvSpPr>
            <p:cNvPr id="83" name="Rectangle 83"/>
            <p:cNvSpPr/>
            <p:nvPr/>
          </p:nvSpPr>
          <p:spPr>
            <a:xfrm>
              <a:off x="5105400" y="4000500"/>
              <a:ext cx="64008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251704" y="4118610"/>
              <a:ext cx="3665601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取 H′ = {0, 2}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：σ⁻¹(H′) = {0, 4, 8, 2, 6, 10}，</a:t>
              </a:r>
              <a:br/>
              <a:r>
                <a:rPr lang="el-G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σ(σ⁻¹(H′)) = {0, 2} = H′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（回到原处）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105400" y="4705350"/>
              <a:ext cx="6400800" cy="933450"/>
            </a:xfrm>
            <a:prstGeom prst="roundRect">
              <a:avLst>
                <a:gd name="adj" fmla="val 1224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251704" y="4823460"/>
              <a:ext cx="541477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取 G 的子群 H = {0, 6}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：H′ = σ(H) = {0, 2} 是 G′ 的子群，而</a:t>
              </a:r>
              <a:br/>
              <a:r>
                <a:rPr lang="el-GR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σ⁻¹(σ(H)) = σ⁻¹({0, 2}) = {0, 4, 8, 2, 6, 10} = H + N = {0, 6} + {0, 4, 8}</a:t>
              </a:r>
              <a:br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≠ H：多出来的 4 个元素，正是核 N 带来的</a:t>
              </a:r>
            </a:p>
          </p:txBody>
        </p:sp>
      </p:grpSp>
      <p:grpSp>
        <p:nvGrpSpPr>
          <p:cNvPr id="9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8" name="Rectangle 8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134618" y="6003608"/>
              <a:ext cx="82921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映过去再拉回来：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σ(σ⁻¹(H′)) = H′ 总成立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；σ⁻¹(σ(H)) 却会把核 N 一起带回来。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4" name="TextBox 94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5729410" cy="960501"/>
            <a:chOff x="470893" y="361950"/>
            <a:chExt cx="572941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子群对应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68061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子群的对应（三）：拉回来得到 HN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onclusion-3"/>
          <p:cNvGrpSpPr/>
          <p:nvPr/>
        </p:nvGrpSpPr>
        <p:grpSpPr>
          <a:xfrm>
            <a:off x="533400" y="1485900"/>
            <a:ext cx="5905500" cy="2857500"/>
            <a:chOff x="533400" y="1485900"/>
            <a:chExt cx="5905500" cy="28575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905500" cy="285750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2476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75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44218" y="1650682"/>
              <a:ext cx="17530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6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σ⁻¹(σ(H)) = HN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12258" y="17059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证两个方向的包含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2023110"/>
              <a:ext cx="1616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(1) HN ⊆ σ⁻¹(σ(H))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304" y="2270760"/>
              <a:ext cx="432511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a ∈ HN，则有 h ∈ H，n ∈ N，使得 a = hn，故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σ(a) = σ(hn) = σ(h)σ(n) = σ(h) ∈ σ(H)，因此 a ∈ σ⁻¹(σ(H))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304" y="2861310"/>
              <a:ext cx="1616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(2) σ⁻¹(σ(H)) ⊆ HN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304" y="3108960"/>
              <a:ext cx="48127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a ∈ σ⁻¹(σ(H))，则 σ(a) ∈ σ(H)，故有 h ∈ H 使 σ(h) = σ(a)，即</a:t>
              </a:r>
              <a:br/>
              <a:r>
                <a:rPr lang="el-GR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σ(h⁻¹a) = σ(h⁻¹)σ(a) = σ(h⁻¹)σ(h) = σ(1) = 1′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故 h⁻¹a ∈ N，即有 n ∈ N 使 h⁻¹a = n，所以 a = hn ∈ HN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923" y="3977164"/>
              <a:ext cx="2032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总之 σ⁻¹(σ(H)) = HN。∎</a:t>
              </a:r>
            </a:p>
          </p:txBody>
        </p:sp>
      </p:grpSp>
      <p:grpSp>
        <p:nvGrpSpPr>
          <p:cNvPr id="27" name="conclusion-4"/>
          <p:cNvGrpSpPr/>
          <p:nvPr/>
        </p:nvGrpSpPr>
        <p:grpSpPr>
          <a:xfrm>
            <a:off x="533400" y="4457700"/>
            <a:ext cx="5905500" cy="1295400"/>
            <a:chOff x="533400" y="4457700"/>
            <a:chExt cx="5905500" cy="1295400"/>
          </a:xfrm>
        </p:grpSpPr>
        <p:sp>
          <p:nvSpPr>
            <p:cNvPr id="19" name="Rectangle 19"/>
            <p:cNvSpPr/>
            <p:nvPr/>
          </p:nvSpPr>
          <p:spPr>
            <a:xfrm>
              <a:off x="533400" y="4457700"/>
              <a:ext cx="5905500" cy="1295400"/>
            </a:xfrm>
            <a:prstGeom prst="roundRect">
              <a:avLst>
                <a:gd name="adj" fmla="val 1176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4648200"/>
              <a:ext cx="47625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4400" y="45910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7571" y="46520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7642" y="4645342"/>
              <a:ext cx="3423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若 N ⊆ H，则 HN = H，即 </a:t>
              </a:r>
              <a:r>
                <a:rPr lang="el-GR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σ⁻¹(σ(H)) = 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304" y="5013960"/>
              <a:ext cx="21381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(1) 因 1 ∈ N，故 </a:t>
              </a:r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H = H{1} ⊆ HN</a:t>
              </a:r>
            </a:p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(2) 若 N ⊆ H，则 </a:t>
              </a:r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HN ⊆ HH = 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2842" y="5253514"/>
              <a:ext cx="1222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因此 HN = H。∎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066" y="5525452"/>
              <a:ext cx="2372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HH = H：H 是子群，对乘法封闭且含 1</a:t>
              </a:r>
            </a:p>
          </p:txBody>
        </p:sp>
      </p:grpSp>
      <p:grpSp>
        <p:nvGrpSpPr>
          <p:cNvPr id="50" name="diagram-1"/>
          <p:cNvGrpSpPr/>
          <p:nvPr/>
        </p:nvGrpSpPr>
        <p:grpSpPr>
          <a:xfrm>
            <a:off x="6591300" y="1485900"/>
            <a:ext cx="5067300" cy="2095500"/>
            <a:chOff x="6591300" y="1485900"/>
            <a:chExt cx="5067300" cy="2095500"/>
          </a:xfrm>
        </p:grpSpPr>
        <p:sp>
          <p:nvSpPr>
            <p:cNvPr id="28" name="Rectangle 28"/>
            <p:cNvSpPr/>
            <p:nvPr/>
          </p:nvSpPr>
          <p:spPr>
            <a:xfrm>
              <a:off x="6591300" y="1485900"/>
              <a:ext cx="5067300" cy="2095500"/>
            </a:xfrm>
            <a:prstGeom prst="roundRect">
              <a:avLst>
                <a:gd name="adj" fmla="val 727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5704" y="1604010"/>
              <a:ext cx="1807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示意图 1：若 H 不包含 N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58000" y="1962150"/>
              <a:ext cx="1524000" cy="1524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0004" y="19850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048500" y="2190750"/>
              <a:ext cx="1143000" cy="114300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181850" y="2286000"/>
              <a:ext cx="571500" cy="571500"/>
            </a:xfrm>
            <a:prstGeom prst="ellipse">
              <a:avLst/>
            </a:prstGeom>
            <a:solidFill>
              <a:srgbClr val="C9D3EE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543800" y="2667000"/>
              <a:ext cx="419100" cy="419100"/>
            </a:xfrm>
            <a:prstGeom prst="ellipse">
              <a:avLst/>
            </a:prstGeom>
            <a:solidFill>
              <a:srgbClr val="BFE8DE">
                <a:alpha val="85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16968" y="24041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96885" y="28884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N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72375" y="26955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68082" y="198501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G′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10020300" y="2209800"/>
              <a:ext cx="1104900" cy="1104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287000" y="2476500"/>
              <a:ext cx="571500" cy="57150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534650" y="2781300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475034" y="25836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H′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82097" y="28855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1′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229600" y="2495550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172700" y="24384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48408" y="22707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06152" y="2736056"/>
              <a:ext cx="1189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σ⁻¹(σ(H)) = HN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26995" y="2980849"/>
              <a:ext cx="1662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浅橙圆 = HN，黑点 = 单位元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91581" y="3323749"/>
              <a:ext cx="6191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H′ = σ(H)</a:t>
              </a:r>
            </a:p>
          </p:txBody>
        </p:sp>
      </p:grpSp>
      <p:grpSp>
        <p:nvGrpSpPr>
          <p:cNvPr id="72" name="diagram-2"/>
          <p:cNvGrpSpPr/>
          <p:nvPr/>
        </p:nvGrpSpPr>
        <p:grpSpPr>
          <a:xfrm>
            <a:off x="6591300" y="3695700"/>
            <a:ext cx="5067300" cy="2057400"/>
            <a:chOff x="6591300" y="3695700"/>
            <a:chExt cx="5067300" cy="2057400"/>
          </a:xfrm>
        </p:grpSpPr>
        <p:sp>
          <p:nvSpPr>
            <p:cNvPr id="51" name="Rectangle 51"/>
            <p:cNvSpPr/>
            <p:nvPr/>
          </p:nvSpPr>
          <p:spPr>
            <a:xfrm>
              <a:off x="6591300" y="3695700"/>
              <a:ext cx="5067300" cy="205740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5704" y="3813810"/>
              <a:ext cx="14211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示意图 2：若 H ⊇ N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77050" y="4133850"/>
              <a:ext cx="1485900" cy="1485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09054" y="41757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86600" y="4381500"/>
              <a:ext cx="1066800" cy="106680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296150" y="4819650"/>
              <a:ext cx="457200" cy="457200"/>
            </a:xfrm>
            <a:prstGeom prst="ellipse">
              <a:avLst/>
            </a:prstGeom>
            <a:solidFill>
              <a:srgbClr val="BFE8D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50368" y="46139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73035" y="50601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N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486650" y="4933950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68082" y="41757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G′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10020300" y="4362450"/>
              <a:ext cx="1104900" cy="1104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10287000" y="4629150"/>
              <a:ext cx="571500" cy="571500"/>
            </a:xfrm>
            <a:prstGeom prst="ellipse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0534650" y="4933950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475034" y="47363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H′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82097" y="50382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1′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8191500" y="46482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0172700" y="45910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148408" y="4423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54146" y="4888706"/>
              <a:ext cx="1094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σ⁻¹(σ(H)) = H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31200" y="5133499"/>
              <a:ext cx="1739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 已在 H 里，拉回来不多不少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10170" y="5495449"/>
              <a:ext cx="1581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H′ = σ(H)，N 整体映到 1′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3" name="Rectangle 7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50900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939799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12800" y="6118225"/>
                <a:ext cx="1270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0800">
                    <a:moveTo>
                      <a:pt x="0" y="50800"/>
                    </a:moveTo>
                    <a:lnTo>
                      <a:pt x="63500" y="0"/>
                    </a:lnTo>
                    <a:lnTo>
                      <a:pt x="1270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6300" y="60420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134618" y="6003608"/>
              <a:ext cx="62204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拉回来得到 HN：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只有 H 本来就包含核 N 时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，才会原样回到 H。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2" name="TextBox 82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70893" y="361950"/>
            <a:ext cx="6730489" cy="960501"/>
            <a:chOff x="470893" y="361950"/>
            <a:chExt cx="673048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669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7089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子群对应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681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 6.4.5：包含 N 的子群 ↔ G′ 的子群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theorem"/>
          <p:cNvGrpSpPr/>
          <p:nvPr/>
        </p:nvGrpSpPr>
        <p:grpSpPr>
          <a:xfrm>
            <a:off x="533400" y="1485900"/>
            <a:ext cx="5562600" cy="1676400"/>
            <a:chOff x="533400" y="1485900"/>
            <a:chExt cx="5562600" cy="16764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562600" cy="16764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1295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6.4.5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2045018"/>
              <a:ext cx="30998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与 N 之间的子群和 G′ 的子群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一一对应，大群对应大群，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小群对应小群，正规子群对应正规子群。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9066" y="2877502"/>
              <a:ext cx="22940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“G 与 N 之间”指满足 N ⊆ H 的子群 H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191000" y="1771650"/>
              <a:ext cx="1714500" cy="381000"/>
            </a:xfrm>
            <a:prstGeom prst="roundRect">
              <a:avLst>
                <a:gd name="adj" fmla="val 3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59072" y="1889760"/>
              <a:ext cx="11783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包含 N 的子群 H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838700" y="2209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781550" y="2486025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57150" y="104775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31613" y="2316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12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σ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257800" y="22860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30480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chemeClr val="accent3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200650" y="220980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57150" y="0"/>
                  </a:moveTo>
                  <a:lnTo>
                    <a:pt x="0" y="104775"/>
                  </a:lnTo>
                  <a:lnTo>
                    <a:pt x="114300" y="10477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66385" y="23169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σ⁻¹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91000" y="2647950"/>
              <a:ext cx="1714500" cy="381000"/>
            </a:xfrm>
            <a:prstGeom prst="roundRect">
              <a:avLst>
                <a:gd name="adj" fmla="val 3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48927" y="2766060"/>
              <a:ext cx="998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G′ 的子群 H′</a:t>
              </a:r>
            </a:p>
          </p:txBody>
        </p:sp>
      </p:grpSp>
      <p:grpSp>
        <p:nvGrpSpPr>
          <p:cNvPr id="31" name="proof-order"/>
          <p:cNvGrpSpPr/>
          <p:nvPr/>
        </p:nvGrpSpPr>
        <p:grpSpPr>
          <a:xfrm>
            <a:off x="533400" y="3276600"/>
            <a:ext cx="5562600" cy="2476500"/>
            <a:chOff x="533400" y="3276600"/>
            <a:chExt cx="5562600" cy="2476500"/>
          </a:xfrm>
        </p:grpSpPr>
        <p:sp>
          <p:nvSpPr>
            <p:cNvPr id="24" name="Rectangle 24"/>
            <p:cNvSpPr/>
            <p:nvPr/>
          </p:nvSpPr>
          <p:spPr>
            <a:xfrm>
              <a:off x="533400" y="3276600"/>
              <a:ext cx="5562600" cy="247650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3900" y="34099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5171" y="34709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 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93723" y="3472339"/>
              <a:ext cx="1944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一一对应 · 大群对应大群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7804" y="3794760"/>
              <a:ext cx="4599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一一对应（已证）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：N ⊆ H ⇒ σ⁻¹(σ(H)) = H；σ(σ⁻¹(H′)) = H′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804" y="4099560"/>
              <a:ext cx="346405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像保包含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：H₁ ⊇ H₂ 是 G 的子群 ⇒ σ(H₁) ⊇ σ(H₂)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任取 h₂′ ∈ σ(H₂)，则有 h₂ ∈ H₂ 使 σ(h₂) = h₂′；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 H₁ ⊇ H₂ 知 h₂ ∈ H₁，故 h₂′ = σ(h₂) ∈ σ(H₁)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7804" y="4899660"/>
              <a:ext cx="421081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原像保包含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：H₁′ ⊇ H₂′ 是 G′ 的子群 ⇒ σ⁻¹(H₁′) ⊇ σ⁻¹(H₂′)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任取 h₂ ∈ σ⁻¹(H₂′)，于是 σ(h₂) ∈ H₂′；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 H₁′ ⊇ H₂′，故 σ(h₂) ∈ H₁′，所以 h₂ ∈ σ⁻¹(H₁′)</a:t>
              </a:r>
            </a:p>
          </p:txBody>
        </p:sp>
      </p:grpSp>
      <p:grpSp>
        <p:nvGrpSpPr>
          <p:cNvPr id="40" name="proof-normal-image"/>
          <p:cNvGrpSpPr/>
          <p:nvPr/>
        </p:nvGrpSpPr>
        <p:grpSpPr>
          <a:xfrm>
            <a:off x="6286500" y="1485900"/>
            <a:ext cx="5372100" cy="2076450"/>
            <a:chOff x="6286500" y="1485900"/>
            <a:chExt cx="5372100" cy="2076450"/>
          </a:xfrm>
        </p:grpSpPr>
        <p:sp>
          <p:nvSpPr>
            <p:cNvPr id="32" name="Rectangle 32"/>
            <p:cNvSpPr/>
            <p:nvPr/>
          </p:nvSpPr>
          <p:spPr>
            <a:xfrm>
              <a:off x="6286500" y="1485900"/>
              <a:ext cx="5372100" cy="2076450"/>
            </a:xfrm>
            <a:prstGeom prst="roundRect">
              <a:avLst>
                <a:gd name="adj" fmla="val 733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7000" y="16192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82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 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46823" y="1681639"/>
              <a:ext cx="19724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正规 ⇒ H′ = σ(H) 正规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0904" y="2023110"/>
              <a:ext cx="40584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对任 g′ ∈ G′，往证 g′H′g′⁻¹ ⊆ H′。任取 x′ = g′h′g′⁻¹，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g′ = σ(g)，h′ = σ(h)，h ∈ H，则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77000" y="2495550"/>
              <a:ext cx="4991100" cy="381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3382" y="2605564"/>
              <a:ext cx="4398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x′ = σ(g)σ(h)(σ(g))⁻¹ = σ(g)σ(h)σ(g⁻¹) = σ(ghg⁻¹)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0904" y="2994660"/>
              <a:ext cx="326593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正规 ⇒ ghg⁻¹ ∈ gHg⁻¹ ⊆ H，故 x′ ∈ σ(H) = H′</a:t>
              </a:r>
              <a:br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即 g′H′g′⁻¹ ⊆ H′，H′ 是 G′ 的正规子群。∎</a:t>
              </a:r>
            </a:p>
          </p:txBody>
        </p:sp>
      </p:grpSp>
      <p:grpSp>
        <p:nvGrpSpPr>
          <p:cNvPr id="49" name="proof-normal-preimage"/>
          <p:cNvGrpSpPr/>
          <p:nvPr/>
        </p:nvGrpSpPr>
        <p:grpSpPr>
          <a:xfrm>
            <a:off x="6286500" y="3676650"/>
            <a:ext cx="5372100" cy="2076450"/>
            <a:chOff x="6286500" y="3676650"/>
            <a:chExt cx="5372100" cy="2076450"/>
          </a:xfrm>
        </p:grpSpPr>
        <p:sp>
          <p:nvSpPr>
            <p:cNvPr id="41" name="Rectangle 41"/>
            <p:cNvSpPr/>
            <p:nvPr/>
          </p:nvSpPr>
          <p:spPr>
            <a:xfrm>
              <a:off x="6286500" y="3676650"/>
              <a:ext cx="5372100" cy="2076450"/>
            </a:xfrm>
            <a:prstGeom prst="roundRect">
              <a:avLst>
                <a:gd name="adj" fmla="val 733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7000" y="38100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18271" y="38709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 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46823" y="3872389"/>
              <a:ext cx="2284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H′ 正规 ⇒ H = σ⁻¹(H′) 正规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0904" y="4213860"/>
              <a:ext cx="4142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对任 g ∈ G，往证 gHg⁻¹ ⊆ H。任取 x = ghg⁻¹（h ∈ H），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77000" y="4457700"/>
              <a:ext cx="4991100" cy="381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78610" y="4567714"/>
              <a:ext cx="4587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σ(x) = σ(g)σ(h)σ(g⁻¹) = σ(g)σ(h)(σ(g))⁻¹ = g′h′g′⁻¹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0904" y="4937760"/>
              <a:ext cx="3745992" cy="749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H′ 正规 ⇒ g′h′g′⁻¹ ∈ g′H′g′⁻¹ ⊆ H′，故 σ(x) ∈ H′，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所以 x ∈ σ⁻¹(H′) = H（且 N = σ⁻¹(1′) ⊆ H）</a:t>
              </a:r>
            </a:p>
            <a:p>
              <a:pPr algn="l">
                <a:lnSpc>
                  <a:spcPts val="1950"/>
                </a:lnSpc>
                <a:spcBef>
                  <a:spcPts val="150"/>
                </a:spcBef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即 gHg⁻¹ ⊆ H，H 是 G 的正规子群。∎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50900" y="599122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62000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39799" y="6169024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0"/>
                    </a:lnTo>
                    <a:lnTo>
                      <a:pt x="50800" y="50800"/>
                    </a:lnTo>
                    <a:lnTo>
                      <a:pt x="0" y="508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800" y="6118225"/>
                <a:ext cx="1270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50800">
                    <a:moveTo>
                      <a:pt x="0" y="50800"/>
                    </a:moveTo>
                    <a:lnTo>
                      <a:pt x="63500" y="0"/>
                    </a:lnTo>
                    <a:lnTo>
                      <a:pt x="1270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6300" y="60420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134618" y="6003608"/>
              <a:ext cx="72969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 在“包含 N 的子群”与“G′ 的子群”之间建立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保包含、保正规的一一对应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08612" y="361950"/>
            <a:ext cx="2946296" cy="960501"/>
            <a:chOff x="508612" y="361950"/>
            <a:chExt cx="294629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19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08612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易错点与判定模板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pitfalls"/>
          <p:cNvGrpSpPr/>
          <p:nvPr/>
        </p:nvGrpSpPr>
        <p:grpSpPr>
          <a:xfrm>
            <a:off x="533400" y="1549411"/>
            <a:ext cx="5562600" cy="4051289"/>
            <a:chOff x="533400" y="1549411"/>
            <a:chExt cx="5562600" cy="4051289"/>
          </a:xfrm>
        </p:grpSpPr>
        <p:grpSp>
          <p:nvGrpSpPr>
            <p:cNvPr id="10" name="Group 10"/>
            <p:cNvGrpSpPr/>
            <p:nvPr/>
          </p:nvGrpSpPr>
          <p:grpSpPr>
            <a:xfrm>
              <a:off x="551639" y="1549411"/>
              <a:ext cx="192114" cy="165051"/>
              <a:chOff x="551639" y="1549411"/>
              <a:chExt cx="192114" cy="1650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7700" y="16097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51639" y="15494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47700" y="1676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31342" y="1559242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 个易错点</a:t>
              </a:r>
            </a:p>
          </p:txBody>
        </p:sp>
        <p:grpSp>
          <p:nvGrpSpPr>
            <p:cNvPr id="17" name="pit-1"/>
            <p:cNvGrpSpPr/>
            <p:nvPr/>
          </p:nvGrpSpPr>
          <p:grpSpPr>
            <a:xfrm>
              <a:off x="533400" y="1866900"/>
              <a:ext cx="5562600" cy="685800"/>
              <a:chOff x="533400" y="1866900"/>
              <a:chExt cx="5562600" cy="6858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1866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704850" y="2038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16965" y="2121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73480" y="1990725"/>
                <a:ext cx="28422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同态不要求单射，也不要求满射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75004" y="2270760"/>
                <a:ext cx="33319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零同态、取模、取负都是同态，单/满各不相同</a:t>
                </a:r>
              </a:p>
            </p:txBody>
          </p:sp>
        </p:grpSp>
        <p:grpSp>
          <p:nvGrpSpPr>
            <p:cNvPr id="23" name="pit-2"/>
            <p:cNvGrpSpPr/>
            <p:nvPr/>
          </p:nvGrpSpPr>
          <p:grpSpPr>
            <a:xfrm>
              <a:off x="533400" y="2628900"/>
              <a:ext cx="5562600" cy="685800"/>
              <a:chOff x="533400" y="2628900"/>
              <a:chExt cx="5562600" cy="6858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2628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704850" y="2800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16965" y="2883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73480" y="2752725"/>
                <a:ext cx="32030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σ(1) 是 G′ 的单位元，未必是 K 的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75004" y="3032760"/>
                <a:ext cx="33716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K 只是代数系统时不能断言；K 是群时才一定是</a:t>
                </a:r>
              </a:p>
            </p:txBody>
          </p:sp>
        </p:grpSp>
        <p:grpSp>
          <p:nvGrpSpPr>
            <p:cNvPr id="29" name="pit-3"/>
            <p:cNvGrpSpPr/>
            <p:nvPr/>
          </p:nvGrpSpPr>
          <p:grpSpPr>
            <a:xfrm>
              <a:off x="533400" y="3390900"/>
              <a:ext cx="5562600" cy="685800"/>
              <a:chOff x="533400" y="3390900"/>
              <a:chExt cx="5562600" cy="6858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390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704850" y="3562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16965" y="3645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3480" y="3514725"/>
                <a:ext cx="31045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同构只要求 G 到 σ(G) 上一一对应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5004" y="3794760"/>
                <a:ext cx="23452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要说 G ≅ K，σ 还必须满到整个 K</a:t>
                </a:r>
              </a:p>
            </p:txBody>
          </p:sp>
        </p:grpSp>
        <p:grpSp>
          <p:nvGrpSpPr>
            <p:cNvPr id="35" name="pit-4"/>
            <p:cNvGrpSpPr/>
            <p:nvPr/>
          </p:nvGrpSpPr>
          <p:grpSpPr>
            <a:xfrm>
              <a:off x="533400" y="4152900"/>
              <a:ext cx="5562600" cy="685800"/>
              <a:chOff x="533400" y="4152900"/>
              <a:chExt cx="5562600" cy="6858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33400" y="4152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704850" y="4324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6965" y="4407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73480" y="4276725"/>
                <a:ext cx="31412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σ⁻¹(H′) 是原像集合，不是逆映射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75004" y="4556760"/>
                <a:ext cx="27023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而且 σ⁻¹(σ(H)) = HN，不一定等于 H</a:t>
                </a:r>
              </a:p>
            </p:txBody>
          </p:sp>
        </p:grpSp>
        <p:grpSp>
          <p:nvGrpSpPr>
            <p:cNvPr id="41" name="pit-5"/>
            <p:cNvGrpSpPr/>
            <p:nvPr/>
          </p:nvGrpSpPr>
          <p:grpSpPr>
            <a:xfrm>
              <a:off x="533400" y="4914900"/>
              <a:ext cx="5562600" cy="685800"/>
              <a:chOff x="533400" y="4914900"/>
              <a:chExt cx="5562600" cy="6858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4914900"/>
                <a:ext cx="55626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04850" y="5086350"/>
                <a:ext cx="342900" cy="3429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6965" y="51692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173480" y="5038725"/>
                <a:ext cx="29528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↦ a⁻¹ 只在 Abel 群中是自同构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75004" y="5318760"/>
                <a:ext cx="33480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一般群里 (ab)⁻¹ = b⁻¹a⁻¹，未必等于 a⁻¹b⁻¹</a:t>
                </a:r>
              </a:p>
            </p:txBody>
          </p:sp>
        </p:grpSp>
      </p:grpSp>
      <p:grpSp>
        <p:nvGrpSpPr>
          <p:cNvPr id="93" name="templates"/>
          <p:cNvGrpSpPr/>
          <p:nvPr/>
        </p:nvGrpSpPr>
        <p:grpSpPr>
          <a:xfrm>
            <a:off x="6324600" y="1559242"/>
            <a:ext cx="5334000" cy="4013264"/>
            <a:chOff x="6324600" y="1559242"/>
            <a:chExt cx="5334000" cy="4013264"/>
          </a:xfrm>
        </p:grpSpPr>
        <p:grpSp>
          <p:nvGrpSpPr>
            <p:cNvPr id="49" name="Group 49"/>
            <p:cNvGrpSpPr/>
            <p:nvPr/>
          </p:nvGrpSpPr>
          <p:grpSpPr>
            <a:xfrm>
              <a:off x="6357938" y="1566862"/>
              <a:ext cx="157162" cy="138113"/>
              <a:chOff x="6357938" y="1566862"/>
              <a:chExt cx="157162" cy="13811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357938" y="156686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357938" y="162401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57938" y="168116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29375" y="15811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29375" y="16383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29375" y="16954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622542" y="1559242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个证明模板</a:t>
              </a:r>
            </a:p>
          </p:txBody>
        </p:sp>
        <p:grpSp>
          <p:nvGrpSpPr>
            <p:cNvPr id="64" name="tpl-hom"/>
            <p:cNvGrpSpPr/>
            <p:nvPr/>
          </p:nvGrpSpPr>
          <p:grpSpPr>
            <a:xfrm>
              <a:off x="6324600" y="1866900"/>
              <a:ext cx="5334000" cy="1191006"/>
              <a:chOff x="6324600" y="1866900"/>
              <a:chExt cx="5334000" cy="1191006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6324600" y="1866900"/>
                <a:ext cx="533400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6553200" y="198120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656371" y="2032635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模板 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346442" y="2025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证明同态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6553200" y="2286000"/>
                <a:ext cx="10668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725107" y="2442210"/>
                <a:ext cx="7229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任取 a、b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674237" y="23964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7886700" y="2286000"/>
                <a:ext cx="22479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8103946" y="2442210"/>
                <a:ext cx="18134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算 σ(a∗b) 与 σ(a)·σ(b)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188837" y="23964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10401300" y="2286000"/>
                <a:ext cx="1028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0586466" y="24422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两边相等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547104" y="2823210"/>
                <a:ext cx="28715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否定同态：找一对 a、b 使两边不等即可</a:t>
                </a:r>
              </a:p>
            </p:txBody>
          </p:sp>
        </p:grpSp>
        <p:grpSp>
          <p:nvGrpSpPr>
            <p:cNvPr id="78" name="tpl-iso"/>
            <p:cNvGrpSpPr/>
            <p:nvPr/>
          </p:nvGrpSpPr>
          <p:grpSpPr>
            <a:xfrm>
              <a:off x="6324600" y="3124200"/>
              <a:ext cx="5334000" cy="1191006"/>
              <a:chOff x="6324600" y="3124200"/>
              <a:chExt cx="5334000" cy="1191006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6324600" y="3124200"/>
                <a:ext cx="533400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6553200" y="323850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6656371" y="3289935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模板 2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346442" y="32832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证明同构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6553200" y="35433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009638" y="3699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是映射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017137" y="3653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8229600" y="35433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51237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单射 + 满射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693537" y="3653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9906000" y="3543300"/>
                <a:ext cx="15240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10419588" y="3699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保运算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547104" y="4080510"/>
                <a:ext cx="40507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否定同构：反证，或找同构必须保持、两边却不同的特征</a:t>
                </a:r>
              </a:p>
            </p:txBody>
          </p:sp>
        </p:grpSp>
        <p:grpSp>
          <p:nvGrpSpPr>
            <p:cNvPr id="92" name="tpl-subgroup"/>
            <p:cNvGrpSpPr/>
            <p:nvPr/>
          </p:nvGrpSpPr>
          <p:grpSpPr>
            <a:xfrm>
              <a:off x="6324600" y="4381500"/>
              <a:ext cx="5334000" cy="1191006"/>
              <a:chOff x="6324600" y="4381500"/>
              <a:chExt cx="5334000" cy="1191006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6324600" y="4381500"/>
                <a:ext cx="533400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6553200" y="449580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6656371" y="4547235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模板 3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346442" y="45405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证明（正规）子群</a:t>
                </a:r>
              </a:p>
            </p:txBody>
          </p:sp>
          <p:sp>
            <p:nvSpPr>
              <p:cNvPr id="83" name="Rectangle 83"/>
              <p:cNvSpPr/>
              <p:nvPr/>
            </p:nvSpPr>
            <p:spPr>
              <a:xfrm>
                <a:off x="6553200" y="48006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6698666" y="4956810"/>
                <a:ext cx="11187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非空：1 在其中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017137" y="49110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86" name="Rectangle 86"/>
              <p:cNvSpPr/>
              <p:nvPr/>
            </p:nvSpPr>
            <p:spPr>
              <a:xfrm>
                <a:off x="8229600" y="4800600"/>
                <a:ext cx="14097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290255" y="4956810"/>
                <a:ext cx="12883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a, b 在 ⇒ ab⁻¹ 在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693537" y="49110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›</a:t>
                </a:r>
              </a:p>
            </p:txBody>
          </p:sp>
          <p:sp>
            <p:nvSpPr>
              <p:cNvPr id="89" name="Rectangle 89"/>
              <p:cNvSpPr/>
              <p:nvPr/>
            </p:nvSpPr>
            <p:spPr>
              <a:xfrm>
                <a:off x="9906000" y="4800600"/>
                <a:ext cx="152400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10049980" y="4956810"/>
                <a:ext cx="12360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正规：gHg⁻¹ ⊆ H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6547104" y="5337810"/>
                <a:ext cx="37277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核、像、原像的证明都是这个套路（用同态性化简）</a:t>
                </a:r>
              </a:p>
            </p:txBody>
          </p:sp>
        </p:grpSp>
      </p:grpSp>
      <p:grpSp>
        <p:nvGrpSpPr>
          <p:cNvPr id="10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4" name="Rectangle 9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63600" y="60928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12800" y="60420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134618" y="6003608"/>
              <a:ext cx="8191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同态看保运算，同构再加一一对应；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子群用“非空 + ab⁻¹”，正规再验 gHg⁻¹ ⊆ H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1" name="TextBox 101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08612" y="361950"/>
            <a:ext cx="4839087" cy="960501"/>
            <a:chOff x="508612" y="361950"/>
            <a:chExt cx="483908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192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08612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6.4 同态及同构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280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本册小结：一张图 + 五道自测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oncept-map"/>
          <p:cNvGrpSpPr/>
          <p:nvPr/>
        </p:nvGrpSpPr>
        <p:grpSpPr>
          <a:xfrm>
            <a:off x="533400" y="1524000"/>
            <a:ext cx="5562600" cy="4171950"/>
            <a:chOff x="533400" y="1524000"/>
            <a:chExt cx="5562600" cy="4171950"/>
          </a:xfrm>
        </p:grpSpPr>
        <p:grpSp>
          <p:nvGrpSpPr>
            <p:cNvPr id="11" name="Group 11"/>
            <p:cNvGrpSpPr/>
            <p:nvPr/>
          </p:nvGrpSpPr>
          <p:grpSpPr>
            <a:xfrm>
              <a:off x="3314700" y="2209800"/>
              <a:ext cx="9525" cy="2571750"/>
              <a:chOff x="3314700" y="2209800"/>
              <a:chExt cx="9525" cy="257175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3314700" y="22098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28575">
                <a:solidFill>
                  <a:schemeClr val="accent6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314700" y="29718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28575">
                <a:solidFill>
                  <a:schemeClr val="accent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314700" y="37338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28575">
                <a:solidFill>
                  <a:schemeClr val="accent6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314700" y="45910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28575">
                <a:solidFill>
                  <a:schemeClr val="accent6"/>
                </a:solidFill>
              </a:ln>
            </p:spPr>
          </p:sp>
        </p:grpSp>
        <p:sp>
          <p:nvSpPr>
            <p:cNvPr id="12" name="Rectangle 12"/>
            <p:cNvSpPr/>
            <p:nvPr/>
          </p:nvSpPr>
          <p:spPr>
            <a:xfrm>
              <a:off x="533400" y="1524000"/>
              <a:ext cx="5562600" cy="685800"/>
            </a:xfrm>
            <a:prstGeom prst="roundRect">
              <a:avLst>
                <a:gd name="adj" fmla="val 22222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6280" y="1647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同态映射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7642" y="1664018"/>
              <a:ext cx="1940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σ(a ∗ b) = σ(a) · σ(b)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8185" y="1964531"/>
              <a:ext cx="3953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 6.4.1：像 G′ 是群，1′ = σ(1)，(σ(a))⁻¹ = σ(a⁻¹)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00300"/>
              <a:ext cx="3143250" cy="571500"/>
            </a:xfrm>
            <a:prstGeom prst="roundRect">
              <a:avLst>
                <a:gd name="adj" fmla="val 2333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7423" y="250078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同构 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185" y="274558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一一对应的同态；否定用结构特征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29050" y="2400300"/>
              <a:ext cx="2266950" cy="571500"/>
            </a:xfrm>
            <a:prstGeom prst="roundRect">
              <a:avLst>
                <a:gd name="adj" fmla="val 2333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74973" y="25007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自同构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75735" y="2745581"/>
              <a:ext cx="1950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到 G 的同构，如 x ↦ axa⁻¹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62300"/>
              <a:ext cx="5562600" cy="571500"/>
            </a:xfrm>
            <a:prstGeom prst="roundRect">
              <a:avLst>
                <a:gd name="adj" fmla="val 2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6661" y="3256121"/>
              <a:ext cx="14130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 N = σ⁻¹(1′)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185" y="3517106"/>
              <a:ext cx="3537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第一同态定理：N 是正规子群，σ⁻¹(a′) = Na 是陪集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24300"/>
              <a:ext cx="2724150" cy="666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7804" y="4061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第二同态定理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185" y="4317206"/>
              <a:ext cx="1837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正规 ⇒ 陪集组成商群 G/N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71850" y="3924300"/>
              <a:ext cx="2724150" cy="666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56254" y="4061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第三同态定理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6635" y="4317206"/>
              <a:ext cx="1482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同态像 G′ ≅ 商群 G/N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781550"/>
              <a:ext cx="5562600" cy="914400"/>
            </a:xfrm>
            <a:prstGeom prst="roundRect">
              <a:avLst>
                <a:gd name="adj" fmla="val 1458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7423" y="49106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子群的对应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185" y="5174456"/>
              <a:ext cx="381635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σ(H)、σ⁻¹(H′) 都是子群；σ⁻¹(σ(H)) = HN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 6.4.5：包含 N 的子群 ↔ G′ 的子群（保包含、保正规）</a:t>
              </a:r>
            </a:p>
          </p:txBody>
        </p:sp>
      </p:grpSp>
      <p:grpSp>
        <p:nvGrpSpPr>
          <p:cNvPr id="67" name="self-test"/>
          <p:cNvGrpSpPr/>
          <p:nvPr/>
        </p:nvGrpSpPr>
        <p:grpSpPr>
          <a:xfrm>
            <a:off x="6324600" y="1485900"/>
            <a:ext cx="5334000" cy="4267200"/>
            <a:chOff x="6324600" y="1485900"/>
            <a:chExt cx="5334000" cy="4267200"/>
          </a:xfrm>
        </p:grpSpPr>
        <p:sp>
          <p:nvSpPr>
            <p:cNvPr id="35" name="Rectangle 35"/>
            <p:cNvSpPr/>
            <p:nvPr/>
          </p:nvSpPr>
          <p:spPr>
            <a:xfrm>
              <a:off x="6324600" y="1485900"/>
              <a:ext cx="5334000" cy="42672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586538" y="1690688"/>
              <a:ext cx="200026" cy="200026"/>
              <a:chOff x="6586538" y="169068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86538" y="1690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86550" y="1835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69882" y="175512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907530" y="170497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自测 5 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82457" y="1744028"/>
              <a:ext cx="2752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先遮住答案再作答 · 第 3–5 题为课件思考题</a:t>
              </a:r>
            </a:p>
          </p:txBody>
        </p:sp>
        <p:grpSp>
          <p:nvGrpSpPr>
            <p:cNvPr id="46" name="q-1"/>
            <p:cNvGrpSpPr/>
            <p:nvPr/>
          </p:nvGrpSpPr>
          <p:grpSpPr>
            <a:xfrm>
              <a:off x="6534150" y="2095500"/>
              <a:ext cx="4563318" cy="536734"/>
              <a:chOff x="6534150" y="2095500"/>
              <a:chExt cx="4563318" cy="536734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534150" y="2095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14758" y="2156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889623" y="2148364"/>
                <a:ext cx="276607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(R*, ·) 与 (R, +) 为什么不同构？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90385" y="2412206"/>
                <a:ext cx="420708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答：R* 中 (−1)·(−1) = 1 且 −1 ≠ 1；R 中 a + a = 0 只有 a = 0</a:t>
                </a:r>
              </a:p>
            </p:txBody>
          </p:sp>
        </p:grpSp>
        <p:grpSp>
          <p:nvGrpSpPr>
            <p:cNvPr id="51" name="q-2"/>
            <p:cNvGrpSpPr/>
            <p:nvPr/>
          </p:nvGrpSpPr>
          <p:grpSpPr>
            <a:xfrm>
              <a:off x="6534150" y="2857500"/>
              <a:ext cx="4245483" cy="536734"/>
              <a:chOff x="6534150" y="2857500"/>
              <a:chExt cx="4245483" cy="536734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6534150" y="2857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614758" y="2918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889623" y="2910364"/>
                <a:ext cx="389001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 12 加法群到模 4 加法群，x ↦ x (mod 4) 的核？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890385" y="3174206"/>
                <a:ext cx="38722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答：N = {0, 4, 8}；由第三同态定理，G/N ≅ 模 4 加法群</a:t>
                </a:r>
              </a:p>
            </p:txBody>
          </p:sp>
        </p:grpSp>
        <p:grpSp>
          <p:nvGrpSpPr>
            <p:cNvPr id="56" name="q-3"/>
            <p:cNvGrpSpPr/>
            <p:nvPr/>
          </p:nvGrpSpPr>
          <p:grpSpPr>
            <a:xfrm>
              <a:off x="6534150" y="3619500"/>
              <a:ext cx="3816650" cy="536734"/>
              <a:chOff x="6534150" y="3619500"/>
              <a:chExt cx="3816650" cy="536734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6534150" y="3619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614758" y="3680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89623" y="3672364"/>
                <a:ext cx="34611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 是 G 的子群，H 的右陪集中有几个是子群？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890385" y="3936206"/>
                <a:ext cx="32433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答：只有 H 本身一个；a ∉ H 时 Ha 不含单位元 1</a:t>
                </a:r>
              </a:p>
            </p:txBody>
          </p:sp>
        </p:grpSp>
        <p:grpSp>
          <p:nvGrpSpPr>
            <p:cNvPr id="61" name="q-4"/>
            <p:cNvGrpSpPr/>
            <p:nvPr/>
          </p:nvGrpSpPr>
          <p:grpSpPr>
            <a:xfrm>
              <a:off x="6534150" y="4381500"/>
              <a:ext cx="4509338" cy="536734"/>
              <a:chOff x="6534150" y="4381500"/>
              <a:chExt cx="4509338" cy="536734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6534150" y="4381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614758" y="4442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889623" y="4434364"/>
                <a:ext cx="35437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 是子群、N 是正规子群，HN 是 G 的子群吗？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890385" y="4698206"/>
                <a:ext cx="41531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答：是：(h₁n₁)(h₂n₂)⁻¹ = h₁h₂⁻¹ · h₂(n₁n₂⁻¹)h₂⁻¹ ∈ HN</a:t>
                </a:r>
              </a:p>
            </p:txBody>
          </p:sp>
        </p:grpSp>
        <p:grpSp>
          <p:nvGrpSpPr>
            <p:cNvPr id="66" name="q-5"/>
            <p:cNvGrpSpPr/>
            <p:nvPr/>
          </p:nvGrpSpPr>
          <p:grpSpPr>
            <a:xfrm>
              <a:off x="6534150" y="5143500"/>
              <a:ext cx="5121468" cy="536734"/>
              <a:chOff x="6534150" y="5143500"/>
              <a:chExt cx="5121468" cy="536734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6534150" y="5143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614758" y="5204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889623" y="5196364"/>
                <a:ext cx="31633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H₁、H₂ 都是子群，H₁H₂ 一定是子群吗？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890385" y="5460206"/>
                <a:ext cx="476523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答：不一定：S₃ 中 {(1), (12)}{(1), (13)} 有 4 个元素，4 不整除 6</a:t>
                </a:r>
              </a:p>
            </p:txBody>
          </p:sp>
        </p:grpSp>
      </p:grpSp>
      <p:grpSp>
        <p:nvGrpSpPr>
          <p:cNvPr id="7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8" name="Rectangle 6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134618" y="6003608"/>
              <a:ext cx="6308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同态看保运算，同构看一一对应；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同态像就是商群：G′ ≅ G/N。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4" name="TextBox 74"/>
            <p:cNvSpPr txBox="1"/>
            <p:nvPr/>
          </p:nvSpPr>
          <p:spPr>
            <a:xfrm>
              <a:off x="528066" y="6573202"/>
              <a:ext cx="1835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6.4 同态及同构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2_6-4_homomorphism">
  <a:themeElements>
    <a:clrScheme name="dm2_6-4_homomorphism">
      <a:dk1>
        <a:srgbClr val="1F2937"/>
      </a:dk1>
      <a:lt1>
        <a:srgbClr val="FFFFFF"/>
      </a:lt1>
      <a:dk2>
        <a:srgbClr val="1F497D"/>
      </a:dk2>
      <a:lt2>
        <a:srgbClr val="F4F6FB"/>
      </a:lt2>
      <a:accent1>
        <a:srgbClr val="2F4B9A"/>
      </a:accent1>
      <a:accent2>
        <a:srgbClr val="F26B3A"/>
      </a:accent2>
      <a:accent3>
        <a:srgbClr val="14A38B"/>
      </a:accent3>
      <a:accent4>
        <a:srgbClr val="2F4B9A"/>
      </a:accent4>
      <a:accent5>
        <a:srgbClr val="5B6475"/>
      </a:accent5>
      <a:accent6>
        <a:srgbClr val="D9DFEA"/>
      </a:accent6>
      <a:hlink>
        <a:srgbClr val="F26B3A"/>
      </a:hlink>
      <a:folHlink>
        <a:srgbClr val="14A38B"/>
      </a:folHlink>
    </a:clrScheme>
    <a:fontScheme name="dm2_6-4_homomorphism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2_6-4_homomorphis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2026-09-16T11:34:54Z</dcterms:created>
  <dcterms:modified xsi:type="dcterms:W3CDTF">2026-09-16T11:34:54Z</dcterms:modified>
  <cp:category/>
  <cp:contentStatus/>
</cp:coreProperties>
</file>