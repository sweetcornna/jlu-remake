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m2_6-2_group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m2_6-2_group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e07ae25702f7d57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1b614f892673a1b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8f19e2bb985be9c.pn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01df028631760e2.png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1676c071494257b.png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239000" cy="6858000"/>
          </a:xfrm>
          <a:prstGeom prst="rect">
            <a:avLst/>
          </a:prstGeom>
          <a:gradFill>
            <a:gsLst>
              <a:gs pos="0">
                <a:schemeClr val="lt1">
                  <a:alpha val="96000"/>
                </a:schemeClr>
              </a:gs>
              <a:gs pos="60000">
                <a:schemeClr val="lt1">
                  <a:alpha val="82000"/>
                </a:schemeClr>
              </a:gs>
              <a:gs pos="100000">
                <a:schemeClr val="lt1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10" name="cover-title"/>
          <p:cNvGrpSpPr/>
          <p:nvPr/>
        </p:nvGrpSpPr>
        <p:grpSpPr>
          <a:xfrm>
            <a:off x="666750" y="1695450"/>
            <a:ext cx="3945849" cy="3318701"/>
            <a:chOff x="666750" y="1695450"/>
            <a:chExt cx="3945849" cy="3318701"/>
          </a:xfrm>
        </p:grpSpPr>
        <p:sp>
          <p:nvSpPr>
            <p:cNvPr id="4" name="Rectangle 4"/>
            <p:cNvSpPr/>
            <p:nvPr/>
          </p:nvSpPr>
          <p:spPr>
            <a:xfrm>
              <a:off x="685800" y="1695450"/>
              <a:ext cx="2971800" cy="3619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70204" y="1813560"/>
              <a:ext cx="2315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离散数学II · 第六章 群、环、域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396490"/>
              <a:ext cx="394584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</a:t>
              </a:r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群的定义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8135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5894" y="3599498"/>
              <a:ext cx="2743962" cy="800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每一步运算都能被撤销，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就走进了</a:t>
              </a:r>
              <a:r>
                <a:rPr lang="zh-CN" sz="19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“群”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的世界。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942" y="47501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从半群出发，一路走到置换群</a:t>
              </a:r>
            </a:p>
          </p:txBody>
        </p:sp>
      </p:grpSp>
      <p:grpSp>
        <p:nvGrpSpPr>
          <p:cNvPr id="12" name="cover-credit"/>
          <p:cNvGrpSpPr/>
          <p:nvPr/>
        </p:nvGrpSpPr>
        <p:grpSpPr>
          <a:xfrm>
            <a:off x="680466" y="6192202"/>
            <a:ext cx="5294928" cy="205359"/>
            <a:chOff x="680466" y="6192202"/>
            <a:chExt cx="5294928" cy="205359"/>
          </a:xfrm>
        </p:grpSpPr>
        <p:sp>
          <p:nvSpPr>
            <p:cNvPr id="11" name="TextBox 11"/>
            <p:cNvSpPr txBox="1"/>
            <p:nvPr/>
          </p:nvSpPr>
          <p:spPr>
            <a:xfrm>
              <a:off x="680466" y="6192202"/>
              <a:ext cx="5294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重制讲义 · 自学复习版 ｜ 据吉林大学计算机科学与技术学院《离散数学II》课件整理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94134" y="361950"/>
            <a:ext cx="4778144" cy="960501"/>
            <a:chOff x="494134" y="361950"/>
            <a:chExt cx="4778144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4287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94134" y="432435"/>
              <a:ext cx="150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开篇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75259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学习地图：从代数系统走到群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route"/>
          <p:cNvGrpSpPr/>
          <p:nvPr/>
        </p:nvGrpSpPr>
        <p:grpSpPr>
          <a:xfrm>
            <a:off x="533400" y="1866900"/>
            <a:ext cx="11125200" cy="1333881"/>
            <a:chOff x="533400" y="1866900"/>
            <a:chExt cx="11125200" cy="1333881"/>
          </a:xfrm>
        </p:grpSpPr>
        <p:sp>
          <p:nvSpPr>
            <p:cNvPr id="7" name="Freeform 7"/>
            <p:cNvSpPr/>
            <p:nvPr/>
          </p:nvSpPr>
          <p:spPr>
            <a:xfrm>
              <a:off x="533400" y="1866900"/>
              <a:ext cx="2514600" cy="914400"/>
            </a:xfrm>
            <a:prstGeom prst="homePlate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2686050" y="1866900"/>
              <a:ext cx="2514600" cy="9144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83870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99135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14400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306068" y="2088832"/>
              <a:ext cx="9374695" cy="582169"/>
              <a:chOff x="1306068" y="2088832"/>
              <a:chExt cx="9374695" cy="582169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47560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306068" y="2406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代数系统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74255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6.2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73018" y="2406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群的定义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89520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543931" y="24069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子群及其陪集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4785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6.4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05712" y="24069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群的同态与同构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20050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6.5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121836" y="24069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环与域</a:t>
                </a:r>
              </a:p>
            </p:txBody>
          </p:sp>
        </p:grpSp>
        <p:sp>
          <p:nvSpPr>
            <p:cNvPr id="23" name="Rectangle 23"/>
            <p:cNvSpPr/>
            <p:nvPr/>
          </p:nvSpPr>
          <p:spPr>
            <a:xfrm>
              <a:off x="3409950" y="289560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42077" y="2966085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▲ 你在这里</a:t>
              </a:r>
            </a:p>
          </p:txBody>
        </p:sp>
      </p:grpSp>
      <p:grpSp>
        <p:nvGrpSpPr>
          <p:cNvPr id="29" name="chapter-note"/>
          <p:cNvGrpSpPr/>
          <p:nvPr/>
        </p:nvGrpSpPr>
        <p:grpSpPr>
          <a:xfrm>
            <a:off x="526542" y="3352800"/>
            <a:ext cx="11132058" cy="381000"/>
            <a:chOff x="526542" y="3352800"/>
            <a:chExt cx="11132058" cy="381000"/>
          </a:xfrm>
        </p:grpSpPr>
        <p:sp>
          <p:nvSpPr>
            <p:cNvPr id="26" name="TextBox 26"/>
            <p:cNvSpPr txBox="1"/>
            <p:nvPr/>
          </p:nvSpPr>
          <p:spPr>
            <a:xfrm>
              <a:off x="526542" y="3454718"/>
              <a:ext cx="6092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第六章共 8 节，本套讲义覆盖 6.1–6.5（后 3 节：素域、多项式、有限域）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886700" y="3352800"/>
              <a:ext cx="3771900" cy="3810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12533" y="3454718"/>
              <a:ext cx="27202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另一条主线：第7章 格与布尔代数</a:t>
              </a:r>
            </a:p>
          </p:txBody>
        </p:sp>
      </p:grpSp>
      <p:grpSp>
        <p:nvGrpSpPr>
          <p:cNvPr id="55" name="goals"/>
          <p:cNvGrpSpPr/>
          <p:nvPr/>
        </p:nvGrpSpPr>
        <p:grpSpPr>
          <a:xfrm>
            <a:off x="525018" y="3974782"/>
            <a:ext cx="11133582" cy="1721168"/>
            <a:chOff x="525018" y="3974782"/>
            <a:chExt cx="11133582" cy="1721168"/>
          </a:xfrm>
        </p:grpSpPr>
        <p:sp>
          <p:nvSpPr>
            <p:cNvPr id="30" name="TextBox 30"/>
            <p:cNvSpPr txBox="1"/>
            <p:nvPr/>
          </p:nvSpPr>
          <p:spPr>
            <a:xfrm>
              <a:off x="525018" y="39747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本册四个目标</a:t>
              </a:r>
            </a:p>
          </p:txBody>
        </p:sp>
        <p:grpSp>
          <p:nvGrpSpPr>
            <p:cNvPr id="36" name="goal-1"/>
            <p:cNvGrpSpPr/>
            <p:nvPr/>
          </p:nvGrpSpPr>
          <p:grpSpPr>
            <a:xfrm>
              <a:off x="533400" y="4324350"/>
              <a:ext cx="2667000" cy="1371600"/>
              <a:chOff x="533400" y="4324350"/>
              <a:chExt cx="2667000" cy="1371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4324350"/>
                <a:ext cx="26670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723900" y="451485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48473" y="46101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10818" y="46034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半群与群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17804" y="5071110"/>
                <a:ext cx="200101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6.2.1–6.2.2：会逐条判定，</a:t>
                </a:r>
                <a:br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能指出失败在哪一关</a:t>
                </a:r>
              </a:p>
            </p:txBody>
          </p:sp>
        </p:grpSp>
        <p:grpSp>
          <p:nvGrpSpPr>
            <p:cNvPr id="42" name="goal-2"/>
            <p:cNvGrpSpPr/>
            <p:nvPr/>
          </p:nvGrpSpPr>
          <p:grpSpPr>
            <a:xfrm>
              <a:off x="3352800" y="4324350"/>
              <a:ext cx="2667000" cy="1371600"/>
              <a:chOff x="3352800" y="4324350"/>
              <a:chExt cx="2667000" cy="13716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3352800" y="4324350"/>
                <a:ext cx="26670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3543300" y="451485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667873" y="46101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030218" y="46034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群的性质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537204" y="5071110"/>
                <a:ext cx="19933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6.2.3：唯一性、消去律、</a:t>
                </a:r>
                <a:br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减弱条件、可除条件、指数律</a:t>
                </a:r>
              </a:p>
            </p:txBody>
          </p:sp>
        </p:grpSp>
        <p:grpSp>
          <p:nvGrpSpPr>
            <p:cNvPr id="48" name="goal-3"/>
            <p:cNvGrpSpPr/>
            <p:nvPr/>
          </p:nvGrpSpPr>
          <p:grpSpPr>
            <a:xfrm>
              <a:off x="6172200" y="4324350"/>
              <a:ext cx="2667000" cy="1371600"/>
              <a:chOff x="6172200" y="4324350"/>
              <a:chExt cx="2667000" cy="13716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6172200" y="4324350"/>
                <a:ext cx="26670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6362700" y="451485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487273" y="46101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849618" y="4603432"/>
                <a:ext cx="7710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Abel 群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356604" y="5071110"/>
                <a:ext cx="13837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会用定义与指数条件</a:t>
                </a:r>
                <a:br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证明一个群可交换</a:t>
                </a:r>
              </a:p>
            </p:txBody>
          </p:sp>
        </p:grpSp>
        <p:grpSp>
          <p:nvGrpSpPr>
            <p:cNvPr id="54" name="goal-4"/>
            <p:cNvGrpSpPr/>
            <p:nvPr/>
          </p:nvGrpSpPr>
          <p:grpSpPr>
            <a:xfrm>
              <a:off x="8991600" y="4324350"/>
              <a:ext cx="2667000" cy="1371600"/>
              <a:chOff x="8991600" y="4324350"/>
              <a:chExt cx="2667000" cy="13716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8991600" y="4324350"/>
                <a:ext cx="26670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9182100" y="451485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306673" y="46101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669018" y="4603432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置换群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176004" y="5071110"/>
                <a:ext cx="21076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6.2.4：乘积、逆、轮换分解、</a:t>
                </a:r>
                <a:br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对换与奇偶性</a:t>
                </a:r>
              </a:p>
            </p:txBody>
          </p:sp>
        </p:grpSp>
      </p:grpSp>
      <p:grpSp>
        <p:nvGrpSpPr>
          <p:cNvPr id="62" name="study-tip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6" name="Rectangle 56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62000" y="5991225"/>
              <a:ext cx="228599" cy="228600"/>
              <a:chOff x="762000" y="5991225"/>
              <a:chExt cx="228599" cy="2286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62000" y="5991225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07415" y="6042025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47090" y="6169024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135380" y="6019800"/>
              <a:ext cx="78804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全册约定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置换乘法 (στ)(x) = σ(τ(x))：先做右边的 τ，再做左边的 σ——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从右往左算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3" name="TextBox 63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94134" y="361950"/>
            <a:ext cx="4834482" cy="960501"/>
            <a:chOff x="494134" y="361950"/>
            <a:chExt cx="483448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4287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94134" y="432435"/>
              <a:ext cx="150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开篇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80893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群是什么：每一步都能“撤销”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ube-figure"/>
          <p:cNvGrpSpPr/>
          <p:nvPr/>
        </p:nvGrpSpPr>
        <p:grpSpPr>
          <a:xfrm>
            <a:off x="533400" y="1485900"/>
            <a:ext cx="3048000" cy="2286000"/>
            <a:chOff x="533400" y="1485900"/>
            <a:chExt cx="3048000" cy="2286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485900"/>
              <a:ext cx="3048000" cy="2286000"/>
            </a:xfrm>
            <a:prstGeom prst="roundRect">
              <a:avLst>
                <a:gd name="adj" fmla="val 6666"/>
              </a:avLst>
            </a:prstGeom>
          </p:spPr>
        </p:pic>
      </p:grpSp>
      <p:grpSp>
        <p:nvGrpSpPr>
          <p:cNvPr id="36" name="analogy"/>
          <p:cNvGrpSpPr/>
          <p:nvPr/>
        </p:nvGrpSpPr>
        <p:grpSpPr>
          <a:xfrm>
            <a:off x="3733800" y="1485900"/>
            <a:ext cx="7924800" cy="2286000"/>
            <a:chOff x="3733800" y="1485900"/>
            <a:chExt cx="7924800" cy="2286000"/>
          </a:xfrm>
        </p:grpSpPr>
        <p:sp>
          <p:nvSpPr>
            <p:cNvPr id="9" name="Rectangle 9"/>
            <p:cNvSpPr/>
            <p:nvPr/>
          </p:nvSpPr>
          <p:spPr>
            <a:xfrm>
              <a:off x="3733800" y="1485900"/>
              <a:ext cx="7924800" cy="2286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3993356" y="1669256"/>
              <a:ext cx="185737" cy="185737"/>
              <a:chOff x="3993356" y="1669256"/>
              <a:chExt cx="185737" cy="18573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3993356" y="1669256"/>
                <a:ext cx="185737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92868">
                    <a:moveTo>
                      <a:pt x="0" y="92868"/>
                    </a:moveTo>
                    <a:lnTo>
                      <a:pt x="10319" y="92868"/>
                    </a:lnTo>
                    <a:moveTo>
                      <a:pt x="92868" y="0"/>
                    </a:moveTo>
                    <a:lnTo>
                      <a:pt x="92868" y="10319"/>
                    </a:lnTo>
                    <a:moveTo>
                      <a:pt x="175418" y="92868"/>
                    </a:moveTo>
                    <a:lnTo>
                      <a:pt x="185737" y="92868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8" y="26829"/>
                    </a:moveTo>
                    <a:lnTo>
                      <a:pt x="151685" y="34052"/>
                    </a:lnTo>
                  </a:path>
                </a:pathLst>
              </a:custGeom>
              <a:noFill/>
              <a:ln w="20637">
                <a:solidFill>
                  <a:srgbClr val="C2410C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4030256" y="1710531"/>
                <a:ext cx="111937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11937" h="144462">
                    <a:moveTo>
                      <a:pt x="25012" y="92868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7" y="56346"/>
                      <a:pt x="104691" y="79544"/>
                      <a:pt x="86925" y="92868"/>
                    </a:cubicBezTo>
                    <a:cubicBezTo>
                      <a:pt x="78754" y="100957"/>
                      <a:pt x="74922" y="112452"/>
                      <a:pt x="76606" y="123825"/>
                    </a:cubicBezTo>
                    <a:cubicBezTo>
                      <a:pt x="76606" y="135222"/>
                      <a:pt x="67366" y="144462"/>
                      <a:pt x="55969" y="144462"/>
                    </a:cubicBezTo>
                    <a:cubicBezTo>
                      <a:pt x="44571" y="144462"/>
                      <a:pt x="35331" y="135222"/>
                      <a:pt x="35331" y="123825"/>
                    </a:cubicBezTo>
                    <a:cubicBezTo>
                      <a:pt x="37015" y="112452"/>
                      <a:pt x="33183" y="100957"/>
                      <a:pt x="25012" y="92868"/>
                    </a:cubicBezTo>
                  </a:path>
                </a:pathLst>
              </a:custGeom>
              <a:noFill/>
              <a:ln w="20637">
                <a:solidFill>
                  <a:srgbClr val="C2410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4062492" y="1813718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20637">
                <a:solidFill>
                  <a:srgbClr val="C2410C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4297680" y="16668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用拧魔方来想：群的每个条件都对应一个动作</a:t>
              </a:r>
            </a:p>
          </p:txBody>
        </p:sp>
        <p:grpSp>
          <p:nvGrpSpPr>
            <p:cNvPr id="35" name="map-rows"/>
            <p:cNvGrpSpPr/>
            <p:nvPr/>
          </p:nvGrpSpPr>
          <p:grpSpPr>
            <a:xfrm>
              <a:off x="3962400" y="2000250"/>
              <a:ext cx="7467600" cy="1708975"/>
              <a:chOff x="3962400" y="2000250"/>
              <a:chExt cx="7467600" cy="1708975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3962400" y="2000250"/>
                <a:ext cx="7467600" cy="3048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107942" y="2073592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拧一下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648764" y="207359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→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965442" y="2073592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群中一个元素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（一个操作）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962400" y="2343150"/>
                <a:ext cx="7467600" cy="3048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107942" y="2416492"/>
                <a:ext cx="22127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连拧两下，仍是“一种拧法”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48764" y="241649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→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65442" y="2416492"/>
                <a:ext cx="17883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封闭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：a · b 仍在 G 中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962400" y="2686050"/>
                <a:ext cx="7467600" cy="3048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107942" y="2759392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连拧三下，先合并哪两下都行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648764" y="275939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→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965442" y="2759392"/>
                <a:ext cx="27852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结合律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：(a · b) · c = a · (b · c)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3962400" y="3028950"/>
                <a:ext cx="7467600" cy="3048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107942" y="3102292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什么都不拧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48764" y="310229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→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965442" y="3102292"/>
                <a:ext cx="223090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单位元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1：1 · a = a · 1 = a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3962400" y="3371850"/>
                <a:ext cx="7467600" cy="3048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107942" y="3445192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把刚才那一下反着拧回去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648764" y="344519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→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965442" y="3445192"/>
                <a:ext cx="26489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逆元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a⁻¹：a · a⁻¹ = a⁻¹ · a = 1</a:t>
                </a:r>
              </a:p>
            </p:txBody>
          </p:sp>
        </p:grpSp>
      </p:grpSp>
      <p:grpSp>
        <p:nvGrpSpPr>
          <p:cNvPr id="79" name="ladder"/>
          <p:cNvGrpSpPr/>
          <p:nvPr/>
        </p:nvGrpSpPr>
        <p:grpSpPr>
          <a:xfrm>
            <a:off x="533400" y="3905250"/>
            <a:ext cx="11125200" cy="1847850"/>
            <a:chOff x="533400" y="3905250"/>
            <a:chExt cx="11125200" cy="1847850"/>
          </a:xfrm>
        </p:grpSpPr>
        <p:grpSp>
          <p:nvGrpSpPr>
            <p:cNvPr id="40" name="Group 40"/>
            <p:cNvGrpSpPr/>
            <p:nvPr/>
          </p:nvGrpSpPr>
          <p:grpSpPr>
            <a:xfrm>
              <a:off x="554037" y="3936206"/>
              <a:ext cx="206374" cy="185737"/>
              <a:chOff x="554037" y="3936206"/>
              <a:chExt cx="206374" cy="185737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54037" y="3967162"/>
                <a:ext cx="206374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206374" h="154781">
                    <a:moveTo>
                      <a:pt x="206374" y="0"/>
                    </a:moveTo>
                    <a:lnTo>
                      <a:pt x="154781" y="0"/>
                    </a:lnTo>
                    <a:lnTo>
                      <a:pt x="154781" y="51594"/>
                    </a:lnTo>
                    <a:lnTo>
                      <a:pt x="103187" y="51594"/>
                    </a:lnTo>
                    <a:lnTo>
                      <a:pt x="103187" y="103187"/>
                    </a:lnTo>
                    <a:lnTo>
                      <a:pt x="51594" y="103187"/>
                    </a:lnTo>
                    <a:lnTo>
                      <a:pt x="51594" y="154781"/>
                    </a:lnTo>
                    <a:lnTo>
                      <a:pt x="0" y="154781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95312" y="3936206"/>
                <a:ext cx="9525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2231">
                    <a:moveTo>
                      <a:pt x="0" y="72231"/>
                    </a:moveTo>
                    <a:lnTo>
                      <a:pt x="0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64356" y="3936206"/>
                <a:ext cx="61912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30956">
                    <a:moveTo>
                      <a:pt x="0" y="30956"/>
                    </a:moveTo>
                    <a:lnTo>
                      <a:pt x="30956" y="0"/>
                    </a:lnTo>
                    <a:lnTo>
                      <a:pt x="61912" y="30956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50392" y="39500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结构阶梯：每加一条规律，上一级台阶</a:t>
              </a:r>
            </a:p>
          </p:txBody>
        </p:sp>
        <p:grpSp>
          <p:nvGrpSpPr>
            <p:cNvPr id="46" name="step-system"/>
            <p:cNvGrpSpPr/>
            <p:nvPr/>
          </p:nvGrpSpPr>
          <p:grpSpPr>
            <a:xfrm>
              <a:off x="533400" y="4838700"/>
              <a:ext cx="2133600" cy="914400"/>
              <a:chOff x="533400" y="4838700"/>
              <a:chExt cx="2133600" cy="9144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33400" y="4838700"/>
                <a:ext cx="2133600" cy="914400"/>
              </a:xfrm>
              <a:prstGeom prst="roundRect">
                <a:avLst>
                  <a:gd name="adj" fmla="val 12500"/>
                </a:avLst>
              </a:prstGeom>
              <a:solidFill>
                <a:schemeClr val="lt2"/>
              </a:solidFill>
              <a:ln w="14288">
                <a:solidFill>
                  <a:schemeClr val="accent6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78180" y="496252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代数系统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9704" y="5242560"/>
                <a:ext cx="16635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(Z, −)：封闭但不结合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80466" y="54873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只保证运算封闭</a:t>
                </a:r>
              </a:p>
            </p:txBody>
          </p:sp>
        </p:grpSp>
        <p:grpSp>
          <p:nvGrpSpPr>
            <p:cNvPr id="54" name="step-semigroup"/>
            <p:cNvGrpSpPr/>
            <p:nvPr/>
          </p:nvGrpSpPr>
          <p:grpSpPr>
            <a:xfrm>
              <a:off x="2781300" y="4362450"/>
              <a:ext cx="2133600" cy="1390650"/>
              <a:chOff x="2781300" y="4362450"/>
              <a:chExt cx="2133600" cy="139065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2781300" y="4362450"/>
                <a:ext cx="9906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2956099" y="4423410"/>
                <a:ext cx="64100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+ 结合律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2781300" y="4686300"/>
                <a:ext cx="2133600" cy="1066800"/>
              </a:xfrm>
              <a:prstGeom prst="roundRect">
                <a:avLst>
                  <a:gd name="adj" fmla="val 10714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2926080" y="48101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半群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927604" y="5090160"/>
                <a:ext cx="13772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⊙ b = a + b + a·b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2928366" y="5334952"/>
                <a:ext cx="11270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（A 为正整数集）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2928366" y="552545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结合，但没有单位元</a:t>
                </a:r>
              </a:p>
            </p:txBody>
          </p:sp>
        </p:grpSp>
        <p:grpSp>
          <p:nvGrpSpPr>
            <p:cNvPr id="62" name="step-monoid"/>
            <p:cNvGrpSpPr/>
            <p:nvPr/>
          </p:nvGrpSpPr>
          <p:grpSpPr>
            <a:xfrm>
              <a:off x="5029200" y="4210050"/>
              <a:ext cx="2133600" cy="1543050"/>
              <a:chOff x="5029200" y="4210050"/>
              <a:chExt cx="2133600" cy="154305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5029200" y="4210050"/>
                <a:ext cx="9906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5203999" y="4271010"/>
                <a:ext cx="64100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+ 单位元</a:t>
                </a:r>
              </a:p>
            </p:txBody>
          </p:sp>
          <p:sp>
            <p:nvSpPr>
              <p:cNvPr id="57" name="Rectangle 57"/>
              <p:cNvSpPr/>
              <p:nvPr/>
            </p:nvSpPr>
            <p:spPr>
              <a:xfrm>
                <a:off x="5029200" y="4533900"/>
                <a:ext cx="2133600" cy="1219200"/>
              </a:xfrm>
              <a:prstGeom prst="roundRect">
                <a:avLst>
                  <a:gd name="adj" fmla="val 9375"/>
                </a:avLst>
              </a:prstGeom>
              <a:solidFill>
                <a:srgbClr val="D5DDF0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5173980" y="46577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独异点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175504" y="4956810"/>
                <a:ext cx="147782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(Z, ·)：单位元是 1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5175504" y="520446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但 2 没有整数逆元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5176266" y="548735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含有单位元的半群</a:t>
                </a:r>
              </a:p>
            </p:txBody>
          </p:sp>
        </p:grpSp>
        <p:grpSp>
          <p:nvGrpSpPr>
            <p:cNvPr id="70" name="step-group"/>
            <p:cNvGrpSpPr/>
            <p:nvPr/>
          </p:nvGrpSpPr>
          <p:grpSpPr>
            <a:xfrm>
              <a:off x="7277100" y="4057650"/>
              <a:ext cx="2133600" cy="1695450"/>
              <a:chOff x="7277100" y="4057650"/>
              <a:chExt cx="2133600" cy="169545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7277100" y="4057650"/>
                <a:ext cx="9906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532671" y="4118610"/>
                <a:ext cx="4794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+ 逆元</a:t>
                </a: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7277100" y="4381500"/>
                <a:ext cx="2133600" cy="1371600"/>
              </a:xfrm>
              <a:prstGeom prst="roundRect">
                <a:avLst>
                  <a:gd name="adj" fmla="val 8333"/>
                </a:avLst>
              </a:prstGeom>
              <a:solidFill>
                <a:srgbClr val="3F5DB0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7421118" y="4508182"/>
                <a:ext cx="23888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群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423404" y="4842510"/>
                <a:ext cx="116921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S₃（第三节）：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423404" y="509016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每个元素都有逆元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7423404" y="5337810"/>
                <a:ext cx="76337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DF8"/>
                    </a:solidFill>
                    <a:latin typeface="+mn-lt"/>
                    <a:ea typeface="+mn-ea"/>
                    <a:cs typeface="+mn-cs"/>
                  </a:rPr>
                  <a:t>但 στ ≠ τσ</a:t>
                </a:r>
              </a:p>
            </p:txBody>
          </p:sp>
        </p:grpSp>
        <p:grpSp>
          <p:nvGrpSpPr>
            <p:cNvPr id="78" name="step-abel"/>
            <p:cNvGrpSpPr/>
            <p:nvPr/>
          </p:nvGrpSpPr>
          <p:grpSpPr>
            <a:xfrm>
              <a:off x="9525000" y="3905250"/>
              <a:ext cx="2133600" cy="1847850"/>
              <a:chOff x="9525000" y="3905250"/>
              <a:chExt cx="2133600" cy="184785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9525000" y="3905250"/>
                <a:ext cx="9906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9699799" y="3966210"/>
                <a:ext cx="64100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+ 交换律</a:t>
                </a:r>
              </a:p>
            </p:txBody>
          </p:sp>
          <p:sp>
            <p:nvSpPr>
              <p:cNvPr id="73" name="Rectangle 73"/>
              <p:cNvSpPr/>
              <p:nvPr/>
            </p:nvSpPr>
            <p:spPr>
              <a:xfrm>
                <a:off x="9525000" y="4229100"/>
                <a:ext cx="2133600" cy="1524000"/>
              </a:xfrm>
              <a:prstGeom prst="roundRect">
                <a:avLst>
                  <a:gd name="adj" fmla="val 75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9669018" y="4355782"/>
                <a:ext cx="7710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Abel 群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9671304" y="4690110"/>
                <a:ext cx="152628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(Z, +)、模 5 加法群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9671304" y="493776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因子可以随意交换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9672066" y="522065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DF8"/>
                    </a:solidFill>
                    <a:latin typeface="+mn-lt"/>
                    <a:ea typeface="+mn-ea"/>
                    <a:cs typeface="+mn-cs"/>
                  </a:rPr>
                  <a:t>也叫交换群</a:t>
                </a:r>
              </a:p>
            </p:txBody>
          </p:sp>
        </p:grpSp>
      </p:grpSp>
      <p:grpSp>
        <p:nvGrpSpPr>
          <p:cNvPr id="85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0" name="Rectangle 80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87400" y="6029325"/>
              <a:ext cx="190500" cy="152400"/>
              <a:chOff x="787400" y="6029325"/>
              <a:chExt cx="190500" cy="15240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87400" y="6029325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50800" y="101600"/>
                    </a:moveTo>
                    <a:lnTo>
                      <a:pt x="0" y="5080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787400" y="6080125"/>
                <a:ext cx="1905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1600">
                    <a:moveTo>
                      <a:pt x="0" y="0"/>
                    </a:moveTo>
                    <a:lnTo>
                      <a:pt x="139700" y="0"/>
                    </a:lnTo>
                    <a:cubicBezTo>
                      <a:pt x="167756" y="0"/>
                      <a:pt x="190500" y="22744"/>
                      <a:pt x="190500" y="50800"/>
                    </a:cubicBezTo>
                    <a:cubicBezTo>
                      <a:pt x="190500" y="78856"/>
                      <a:pt x="167756" y="101600"/>
                      <a:pt x="139700" y="101600"/>
                    </a:cubicBezTo>
                    <a:lnTo>
                      <a:pt x="127000" y="1016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134618" y="6003608"/>
              <a:ext cx="67804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 = 结合律 + 单位元 + 逆元：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能做，也能撤销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；交换律不是必需的。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6" name="TextBox 86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6477000" y="-381000"/>
            <a:ext cx="7620000" cy="76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section-disc-inner"/>
          <p:cNvSpPr/>
          <p:nvPr/>
        </p:nvSpPr>
        <p:spPr>
          <a:xfrm>
            <a:off x="9620250" y="3714750"/>
            <a:ext cx="3238500" cy="3238500"/>
          </a:xfrm>
          <a:prstGeom prst="ellipse">
            <a:avLst/>
          </a:prstGeom>
          <a:solidFill>
            <a:srgbClr val="3F5DB0"/>
          </a:solidFill>
          <a:ln>
            <a:noFill/>
          </a:ln>
        </p:spPr>
      </p:sp>
      <p:sp>
        <p:nvSpPr>
          <p:cNvPr id="4" name="section-dot"/>
          <p:cNvSpPr/>
          <p:nvPr/>
        </p:nvSpPr>
        <p:spPr>
          <a:xfrm>
            <a:off x="7067550" y="116205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section-number"/>
          <p:cNvGrpSpPr/>
          <p:nvPr/>
        </p:nvGrpSpPr>
        <p:grpSpPr>
          <a:xfrm>
            <a:off x="8763533" y="2514600"/>
            <a:ext cx="1903933" cy="2305050"/>
            <a:chOff x="8763533" y="2514600"/>
            <a:chExt cx="1903933" cy="2305050"/>
          </a:xfrm>
        </p:grpSpPr>
        <p:sp>
          <p:nvSpPr>
            <p:cNvPr id="5" name="TextBox 5"/>
            <p:cNvSpPr txBox="1"/>
            <p:nvPr/>
          </p:nvSpPr>
          <p:spPr>
            <a:xfrm>
              <a:off x="8763533" y="25146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2" name="section-title"/>
          <p:cNvGrpSpPr/>
          <p:nvPr/>
        </p:nvGrpSpPr>
        <p:grpSpPr>
          <a:xfrm>
            <a:off x="743712" y="1866900"/>
            <a:ext cx="3419856" cy="1872234"/>
            <a:chOff x="743712" y="1866900"/>
            <a:chExt cx="3419856" cy="1872234"/>
          </a:xfrm>
        </p:grpSpPr>
        <p:sp>
          <p:nvSpPr>
            <p:cNvPr id="7" name="Rectangle 7"/>
            <p:cNvSpPr/>
            <p:nvPr/>
          </p:nvSpPr>
          <p:spPr>
            <a:xfrm>
              <a:off x="762000" y="1866900"/>
              <a:ext cx="2209800" cy="3238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1715" y="1956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第一部分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3712" y="252603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半群与群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3143250"/>
              <a:ext cx="762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2856" y="33870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先加结合律，再加单位元与逆元</a:t>
              </a:r>
            </a:p>
          </p:txBody>
        </p:sp>
      </p:grpSp>
      <p:grpSp>
        <p:nvGrpSpPr>
          <p:cNvPr id="26" name="section-questions"/>
          <p:cNvGrpSpPr/>
          <p:nvPr/>
        </p:nvGrpSpPr>
        <p:grpSpPr>
          <a:xfrm>
            <a:off x="755142" y="4102418"/>
            <a:ext cx="4692777" cy="1747647"/>
            <a:chOff x="755142" y="4102418"/>
            <a:chExt cx="4692777" cy="1747647"/>
          </a:xfrm>
        </p:grpSpPr>
        <p:sp>
          <p:nvSpPr>
            <p:cNvPr id="13" name="TextBox 13"/>
            <p:cNvSpPr txBox="1"/>
            <p:nvPr/>
          </p:nvSpPr>
          <p:spPr>
            <a:xfrm>
              <a:off x="755142" y="4102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本节要回答</a:t>
              </a:r>
            </a:p>
          </p:txBody>
        </p:sp>
        <p:grpSp>
          <p:nvGrpSpPr>
            <p:cNvPr id="17" name="q-1"/>
            <p:cNvGrpSpPr/>
            <p:nvPr/>
          </p:nvGrpSpPr>
          <p:grpSpPr>
            <a:xfrm>
              <a:off x="781050" y="4457700"/>
              <a:ext cx="3556254" cy="363665"/>
              <a:chOff x="781050" y="4457700"/>
              <a:chExt cx="3556254" cy="363665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781050" y="44577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80708" y="45377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10818" y="4498658"/>
                <a:ext cx="31264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半群比代数系统多要求了什么？</a:t>
                </a:r>
              </a:p>
            </p:txBody>
          </p:sp>
        </p:grpSp>
        <p:grpSp>
          <p:nvGrpSpPr>
            <p:cNvPr id="21" name="q-2"/>
            <p:cNvGrpSpPr/>
            <p:nvPr/>
          </p:nvGrpSpPr>
          <p:grpSpPr>
            <a:xfrm>
              <a:off x="781050" y="4972050"/>
              <a:ext cx="4666869" cy="363665"/>
              <a:chOff x="781050" y="4972050"/>
              <a:chExt cx="4666869" cy="36366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81050" y="497205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80708" y="50520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10818" y="5013008"/>
                <a:ext cx="42371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群还要加哪两条？怎样指出失败在哪一关？</a:t>
                </a:r>
              </a:p>
            </p:txBody>
          </p:sp>
        </p:grpSp>
        <p:grpSp>
          <p:nvGrpSpPr>
            <p:cNvPr id="25" name="q-3"/>
            <p:cNvGrpSpPr/>
            <p:nvPr/>
          </p:nvGrpSpPr>
          <p:grpSpPr>
            <a:xfrm>
              <a:off x="781050" y="5486400"/>
              <a:ext cx="3778377" cy="363665"/>
              <a:chOff x="781050" y="5486400"/>
              <a:chExt cx="3778377" cy="36366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81050" y="54864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80708" y="55664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10818" y="5527358"/>
                <a:ext cx="334860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单位元、逆元、零元有什么区别？</a:t>
                </a:r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528066" y="6573202"/>
            <a:ext cx="16940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离散数学II · 6.2 群的定义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4452389" cy="960501"/>
            <a:chOff x="456415" y="361950"/>
            <a:chExt cx="4452389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半群与群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3891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半群：只多要求一条结合律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definition"/>
          <p:cNvGrpSpPr/>
          <p:nvPr/>
        </p:nvGrpSpPr>
        <p:grpSpPr>
          <a:xfrm>
            <a:off x="533400" y="1485900"/>
            <a:ext cx="7162800" cy="1333500"/>
            <a:chOff x="533400" y="1485900"/>
            <a:chExt cx="7162800" cy="13335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7162800" cy="1333500"/>
            </a:xfrm>
            <a:prstGeom prst="roundRect">
              <a:avLst>
                <a:gd name="adj" fmla="val 1142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028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6.2.1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半群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018" y="2069782"/>
              <a:ext cx="4930712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G 是一个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非空集合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，若 · 为 G 上的二元代数运算，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且满足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结合律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，则称该代数系统 (G, ·) 为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半群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8" name="formula-card"/>
          <p:cNvGrpSpPr/>
          <p:nvPr/>
        </p:nvGrpSpPr>
        <p:grpSpPr>
          <a:xfrm>
            <a:off x="7848600" y="1485900"/>
            <a:ext cx="3810000" cy="1333500"/>
            <a:chOff x="7848600" y="1485900"/>
            <a:chExt cx="3810000" cy="1333500"/>
          </a:xfrm>
        </p:grpSpPr>
        <p:sp>
          <p:nvSpPr>
            <p:cNvPr id="14" name="Rectangle 14"/>
            <p:cNvSpPr/>
            <p:nvPr/>
          </p:nvSpPr>
          <p:spPr>
            <a:xfrm>
              <a:off x="7848600" y="1485900"/>
              <a:ext cx="3810000" cy="1333500"/>
            </a:xfrm>
            <a:prstGeom prst="roundRect">
              <a:avLst>
                <a:gd name="adj" fmla="val 11429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71104" y="1699260"/>
              <a:ext cx="2096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结合律：对任意 a、b、c ∈ 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73223" y="2154555"/>
              <a:ext cx="33607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(a · b) · c = a · (b · c)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27847" y="2556510"/>
              <a:ext cx="2451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元素顺序不动，只改“先算哪一步”</a:t>
              </a:r>
            </a:p>
          </p:txBody>
        </p:sp>
      </p:grpSp>
      <p:grpSp>
        <p:nvGrpSpPr>
          <p:cNvPr id="34" name="three-steps"/>
          <p:cNvGrpSpPr/>
          <p:nvPr/>
        </p:nvGrpSpPr>
        <p:grpSpPr>
          <a:xfrm>
            <a:off x="526542" y="2952750"/>
            <a:ext cx="7169658" cy="495300"/>
            <a:chOff x="526542" y="2952750"/>
            <a:chExt cx="7169658" cy="495300"/>
          </a:xfrm>
        </p:grpSpPr>
        <p:sp>
          <p:nvSpPr>
            <p:cNvPr id="19" name="TextBox 19"/>
            <p:cNvSpPr txBox="1"/>
            <p:nvPr/>
          </p:nvSpPr>
          <p:spPr>
            <a:xfrm>
              <a:off x="526542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判定三步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409700" y="2952750"/>
              <a:ext cx="1790700" cy="49530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0670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23658" y="31280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98142" y="31213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集合非空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30837" y="30918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619500" y="2952750"/>
              <a:ext cx="1790700" cy="49530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752850" y="30670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33458" y="31280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07942" y="31213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运算封闭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40637" y="30918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›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829300" y="2952750"/>
              <a:ext cx="1866900" cy="495300"/>
            </a:xfrm>
            <a:prstGeom prst="roundRect">
              <a:avLst>
                <a:gd name="adj" fmla="val 23077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962650" y="30670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43258" y="31280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17742" y="31213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结合律成立</a:t>
              </a:r>
            </a:p>
          </p:txBody>
        </p:sp>
      </p:grpSp>
      <p:grpSp>
        <p:nvGrpSpPr>
          <p:cNvPr id="48" name="examples-yes"/>
          <p:cNvGrpSpPr/>
          <p:nvPr/>
        </p:nvGrpSpPr>
        <p:grpSpPr>
          <a:xfrm>
            <a:off x="533400" y="3581400"/>
            <a:ext cx="7162800" cy="2133600"/>
            <a:chOff x="533400" y="3581400"/>
            <a:chExt cx="7162800" cy="2133600"/>
          </a:xfrm>
        </p:grpSpPr>
        <p:sp>
          <p:nvSpPr>
            <p:cNvPr id="35" name="Rectangle 35"/>
            <p:cNvSpPr/>
            <p:nvPr/>
          </p:nvSpPr>
          <p:spPr>
            <a:xfrm>
              <a:off x="533400" y="3581400"/>
              <a:ext cx="7162800" cy="2133600"/>
            </a:xfrm>
            <a:prstGeom prst="roundRect">
              <a:avLst>
                <a:gd name="adj" fmla="val 7143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2000" y="37147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0584" y="3775710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· 是半群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60042" y="37690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三步都能通过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805656" y="419496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17463">
              <a:solidFill>
                <a:srgbClr val="0F7A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59942" y="4159568"/>
              <a:ext cx="4565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(ρ(S), ∩)、(ρ(S), ∪)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：S 非空，交、并都满足结合律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805656" y="455691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17463">
              <a:solidFill>
                <a:srgbClr val="0F7A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59942" y="4521518"/>
              <a:ext cx="3061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(Z, +)、(Z, ·)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：整数的加法、乘法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05656" y="491886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17463">
              <a:solidFill>
                <a:srgbClr val="0F7A6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59942" y="4883468"/>
              <a:ext cx="51570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(S, ·)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：非空集合 A 上所有二元关系，关系乘积（R₁·R₂ ∈ S）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805656" y="528081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17463">
              <a:solidFill>
                <a:srgbClr val="0F7A6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59942" y="5245418"/>
              <a:ext cx="4178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到 A 的全体映射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，映射乘积 (f•g)(x) = f(g(x))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61466" y="5506402"/>
              <a:ext cx="3890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习题6：它还有单位元 I_A（恒等映射），是“有单位元的半群”</a:t>
              </a:r>
            </a:p>
          </p:txBody>
        </p:sp>
      </p:grpSp>
      <p:grpSp>
        <p:nvGrpSpPr>
          <p:cNvPr id="56" name="counter"/>
          <p:cNvGrpSpPr/>
          <p:nvPr/>
        </p:nvGrpSpPr>
        <p:grpSpPr>
          <a:xfrm>
            <a:off x="7848600" y="2933700"/>
            <a:ext cx="3810000" cy="1371600"/>
            <a:chOff x="7848600" y="2933700"/>
            <a:chExt cx="3810000" cy="1371600"/>
          </a:xfrm>
        </p:grpSpPr>
        <p:sp>
          <p:nvSpPr>
            <p:cNvPr id="49" name="Rectangle 49"/>
            <p:cNvSpPr/>
            <p:nvPr/>
          </p:nvSpPr>
          <p:spPr>
            <a:xfrm>
              <a:off x="7848600" y="2933700"/>
              <a:ext cx="3810000" cy="1371600"/>
            </a:xfrm>
            <a:prstGeom prst="roundRect">
              <a:avLst>
                <a:gd name="adj" fmla="val 11111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77200" y="30670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214360" y="31280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94242" y="3121342"/>
              <a:ext cx="1416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(Z, −) 不是半群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69580" y="3476625"/>
              <a:ext cx="1500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(1 − 2) − 3 = </a:t>
              </a:r>
              <a:r>
                <a:rPr lang="zh-CN" sz="150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−4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69580" y="3762375"/>
              <a:ext cx="13838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1 − (2 − 3) = </a:t>
              </a:r>
              <a:r>
                <a:rPr lang="zh-CN" sz="150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71104" y="40614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封闭，但减法不满足结合律</a:t>
              </a:r>
            </a:p>
          </p:txBody>
        </p:sp>
      </p:grpSp>
      <p:grpSp>
        <p:nvGrpSpPr>
          <p:cNvPr id="63" name="monoid"/>
          <p:cNvGrpSpPr/>
          <p:nvPr/>
        </p:nvGrpSpPr>
        <p:grpSpPr>
          <a:xfrm>
            <a:off x="7848600" y="4419600"/>
            <a:ext cx="3810000" cy="1295400"/>
            <a:chOff x="7848600" y="4419600"/>
            <a:chExt cx="3810000" cy="1295400"/>
          </a:xfrm>
        </p:grpSpPr>
        <p:sp>
          <p:nvSpPr>
            <p:cNvPr id="57" name="Rectangle 57"/>
            <p:cNvSpPr/>
            <p:nvPr/>
          </p:nvSpPr>
          <p:spPr>
            <a:xfrm>
              <a:off x="7848600" y="4419600"/>
              <a:ext cx="3810000" cy="1295400"/>
            </a:xfrm>
            <a:prstGeom prst="roundRect">
              <a:avLst>
                <a:gd name="adj" fmla="val 1176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001000" y="4572000"/>
              <a:ext cx="47625" cy="990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229600" y="4552950"/>
              <a:ext cx="8382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319516" y="4613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补充定义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75242" y="46072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独异点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22742" y="4978718"/>
              <a:ext cx="224256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含有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单位元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的半群称为独异点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例：(Z, ·)，单位元是 1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4" name="Rectangle 6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87400" y="6003925"/>
              <a:ext cx="177799" cy="203199"/>
              <a:chOff x="787400" y="6003925"/>
              <a:chExt cx="177799" cy="203199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87400" y="6003925"/>
                <a:ext cx="381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03199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03199"/>
                    </a:lnTo>
                    <a:lnTo>
                      <a:pt x="38100" y="2031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27099" y="6003925"/>
                <a:ext cx="381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03199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03199"/>
                    </a:lnTo>
                    <a:lnTo>
                      <a:pt x="0" y="2031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134618" y="6003608"/>
              <a:ext cx="68026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半群 = 非空 + 封闭 +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结合律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；有单位元叫独异点，离“群”只差逆元。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0" name="TextBox 70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3725441" cy="960501"/>
            <a:chOff x="456415" y="361950"/>
            <a:chExt cx="3725441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例题精讲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例题精讲：验证结合律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example-1"/>
          <p:cNvGrpSpPr/>
          <p:nvPr/>
        </p:nvGrpSpPr>
        <p:grpSpPr>
          <a:xfrm>
            <a:off x="533400" y="1485900"/>
            <a:ext cx="7200900" cy="4229100"/>
            <a:chOff x="533400" y="1485900"/>
            <a:chExt cx="72009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72009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3924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2143" y="168021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55242" y="1673542"/>
              <a:ext cx="4653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为正整数集，a ⊙ b = a + b + a·b，(A, ⊙) 是半群吗？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914400" y="20574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95008" y="21183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69492" y="2111692"/>
              <a:ext cx="49324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封闭：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⊙ 为 A 上二元代数运算（正整数的和、积仍是正整数）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914400" y="24574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5008" y="2518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69492" y="2511742"/>
              <a:ext cx="2903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任取 a、b、c ∈ A，两边分别展开：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14400" y="2800350"/>
              <a:ext cx="6629400" cy="990600"/>
            </a:xfrm>
            <a:prstGeom prst="roundRect">
              <a:avLst>
                <a:gd name="adj" fmla="val 115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60704" y="2937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左式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55242" y="2921318"/>
              <a:ext cx="2239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(a⊙b)⊙c = (a + b + a·b)⊙c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17242" y="3226118"/>
              <a:ext cx="3121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(a + b + a·b) + c + (a + b + a·b)·c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17242" y="3530918"/>
              <a:ext cx="32768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= a + b + c + a·b + b·c + a·c + a·b·c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14400" y="3867150"/>
              <a:ext cx="6629400" cy="990600"/>
            </a:xfrm>
            <a:prstGeom prst="roundRect">
              <a:avLst>
                <a:gd name="adj" fmla="val 115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60704" y="4004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右式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55242" y="3988118"/>
              <a:ext cx="2239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a⊙(b⊙c) = a⊙(b + c + b·c)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17242" y="4292918"/>
              <a:ext cx="3121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a + (b + c + b·c) + a·(b + c + b·c)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17242" y="4597718"/>
              <a:ext cx="32768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= a + b + c + a·b + b·c + a·c + a·b·c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914400" y="4972050"/>
              <a:ext cx="266700" cy="266700"/>
            </a:xfrm>
            <a:prstGeom prst="ellipse">
              <a:avLst/>
            </a:prstGeom>
            <a:solidFill>
              <a:srgbClr val="0F7A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95008" y="50330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69492" y="5026342"/>
              <a:ext cx="40408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两边相等 ⇒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(a⊙b)⊙c = a⊙(b⊙c)，(A, ⊙) 为半群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940594" y="5360194"/>
              <a:ext cx="157163" cy="157163"/>
              <a:chOff x="940594" y="5360194"/>
              <a:chExt cx="157163" cy="15716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40594" y="5360194"/>
                <a:ext cx="157163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78581">
                    <a:moveTo>
                      <a:pt x="0" y="78581"/>
                    </a:moveTo>
                    <a:lnTo>
                      <a:pt x="8731" y="78581"/>
                    </a:lnTo>
                    <a:moveTo>
                      <a:pt x="78581" y="0"/>
                    </a:moveTo>
                    <a:lnTo>
                      <a:pt x="78581" y="8731"/>
                    </a:lnTo>
                    <a:moveTo>
                      <a:pt x="148431" y="78581"/>
                    </a:moveTo>
                    <a:lnTo>
                      <a:pt x="157163" y="78581"/>
                    </a:lnTo>
                    <a:moveTo>
                      <a:pt x="22701" y="22701"/>
                    </a:moveTo>
                    <a:lnTo>
                      <a:pt x="28813" y="28813"/>
                    </a:lnTo>
                    <a:moveTo>
                      <a:pt x="134461" y="22701"/>
                    </a:moveTo>
                    <a:lnTo>
                      <a:pt x="128349" y="28813"/>
                    </a:lnTo>
                  </a:path>
                </a:pathLst>
              </a:custGeom>
              <a:noFill/>
              <a:ln w="17463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71817" y="5395119"/>
                <a:ext cx="94716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4716" h="122238">
                    <a:moveTo>
                      <a:pt x="21164" y="78581"/>
                    </a:moveTo>
                    <a:cubicBezTo>
                      <a:pt x="6132" y="67307"/>
                      <a:pt x="0" y="47678"/>
                      <a:pt x="5942" y="29851"/>
                    </a:cubicBezTo>
                    <a:cubicBezTo>
                      <a:pt x="11884" y="12024"/>
                      <a:pt x="28567" y="0"/>
                      <a:pt x="47358" y="0"/>
                    </a:cubicBezTo>
                    <a:cubicBezTo>
                      <a:pt x="66149" y="0"/>
                      <a:pt x="82832" y="12024"/>
                      <a:pt x="88774" y="29851"/>
                    </a:cubicBezTo>
                    <a:cubicBezTo>
                      <a:pt x="94716" y="47678"/>
                      <a:pt x="88585" y="67307"/>
                      <a:pt x="73552" y="78581"/>
                    </a:cubicBezTo>
                    <a:cubicBezTo>
                      <a:pt x="66638" y="85425"/>
                      <a:pt x="63396" y="95152"/>
                      <a:pt x="64821" y="104775"/>
                    </a:cubicBezTo>
                    <a:cubicBezTo>
                      <a:pt x="64821" y="114419"/>
                      <a:pt x="57002" y="122238"/>
                      <a:pt x="47358" y="122238"/>
                    </a:cubicBezTo>
                    <a:cubicBezTo>
                      <a:pt x="37714" y="122238"/>
                      <a:pt x="29896" y="114419"/>
                      <a:pt x="29896" y="104775"/>
                    </a:cubicBezTo>
                    <a:cubicBezTo>
                      <a:pt x="31320" y="95152"/>
                      <a:pt x="28078" y="85425"/>
                      <a:pt x="21164" y="78581"/>
                    </a:cubicBezTo>
                  </a:path>
                </a:pathLst>
              </a:custGeom>
              <a:noFill/>
              <a:ln w="17463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99093" y="5482431"/>
                <a:ext cx="40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164" h="9525">
                    <a:moveTo>
                      <a:pt x="0" y="0"/>
                    </a:moveTo>
                    <a:lnTo>
                      <a:pt x="40164" y="0"/>
                    </a:lnTo>
                  </a:path>
                </a:pathLst>
              </a:custGeom>
              <a:noFill/>
              <a:ln w="17463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194054" y="5375910"/>
              <a:ext cx="54885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看穿它：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⊙ b = (a + 1)(b + 1) − 1，是“平移后的乘法”，结合律继承自乘法</a:t>
              </a:r>
            </a:p>
          </p:txBody>
        </p:sp>
      </p:grpSp>
      <p:grpSp>
        <p:nvGrpSpPr>
          <p:cNvPr id="48" name="example-2"/>
          <p:cNvGrpSpPr/>
          <p:nvPr/>
        </p:nvGrpSpPr>
        <p:grpSpPr>
          <a:xfrm>
            <a:off x="7886700" y="1485900"/>
            <a:ext cx="3771900" cy="2781300"/>
            <a:chOff x="7886700" y="1485900"/>
            <a:chExt cx="3771900" cy="2781300"/>
          </a:xfrm>
        </p:grpSpPr>
        <p:sp>
          <p:nvSpPr>
            <p:cNvPr id="37" name="Rectangle 37"/>
            <p:cNvSpPr/>
            <p:nvPr/>
          </p:nvSpPr>
          <p:spPr>
            <a:xfrm>
              <a:off x="7886700" y="1485900"/>
              <a:ext cx="3771900" cy="2781300"/>
            </a:xfrm>
            <a:prstGeom prst="roundRect">
              <a:avLst>
                <a:gd name="adj" fmla="val 547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039100" y="1638300"/>
              <a:ext cx="47625" cy="2476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267700" y="16192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75443" y="168021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08542" y="1673542"/>
              <a:ext cx="14840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 非空，a ∘ b = 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61604" y="2042160"/>
              <a:ext cx="318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“永远取右边那个元素”，(S, ∘) 是半群吗？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60842" y="2368868"/>
              <a:ext cx="912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(1)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S 非空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60842" y="2673668"/>
              <a:ext cx="27263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(2)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任取 a、b ∈ S，a ∘ b = b ∈ 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60842" y="2978468"/>
              <a:ext cx="1646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(3)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任取 a、b、c：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03742" y="3283268"/>
              <a:ext cx="1753933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 ∘ b) ∘ c = b ∘ c = c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∘ (b ∘ c) = a ∘ c = 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60842" y="3911918"/>
              <a:ext cx="2374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满足结合律 ⇒ (S, ∘) 为半群</a:t>
              </a:r>
            </a:p>
          </p:txBody>
        </p:sp>
      </p:grpSp>
      <p:grpSp>
        <p:nvGrpSpPr>
          <p:cNvPr id="55" name="teaser"/>
          <p:cNvGrpSpPr/>
          <p:nvPr/>
        </p:nvGrpSpPr>
        <p:grpSpPr>
          <a:xfrm>
            <a:off x="7886700" y="4381500"/>
            <a:ext cx="3771900" cy="1333500"/>
            <a:chOff x="7886700" y="4381500"/>
            <a:chExt cx="3771900" cy="1333500"/>
          </a:xfrm>
        </p:grpSpPr>
        <p:sp>
          <p:nvSpPr>
            <p:cNvPr id="49" name="Rectangle 49"/>
            <p:cNvSpPr/>
            <p:nvPr/>
          </p:nvSpPr>
          <p:spPr>
            <a:xfrm>
              <a:off x="7886700" y="4381500"/>
              <a:ext cx="3771900" cy="1333500"/>
            </a:xfrm>
            <a:prstGeom prst="roundRect">
              <a:avLst>
                <a:gd name="adj" fmla="val 1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8105775" y="4562477"/>
              <a:ext cx="171448" cy="171448"/>
              <a:chOff x="8105775" y="4562477"/>
              <a:chExt cx="171448" cy="171448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105775" y="4562477"/>
                <a:ext cx="171448" cy="171448"/>
              </a:xfrm>
              <a:custGeom>
                <a:avLst/>
                <a:gdLst/>
                <a:ahLst/>
                <a:cxnLst/>
                <a:rect l="l" t="t" r="r" b="b"/>
                <a:pathLst>
                  <a:path w="171448" h="171448">
                    <a:moveTo>
                      <a:pt x="129111" y="8028"/>
                    </a:moveTo>
                    <a:lnTo>
                      <a:pt x="163420" y="42337"/>
                    </a:lnTo>
                    <a:cubicBezTo>
                      <a:pt x="168560" y="47476"/>
                      <a:pt x="171448" y="54447"/>
                      <a:pt x="171448" y="61715"/>
                    </a:cubicBezTo>
                    <a:cubicBezTo>
                      <a:pt x="171448" y="68984"/>
                      <a:pt x="168560" y="75955"/>
                      <a:pt x="163420" y="81094"/>
                    </a:cubicBezTo>
                    <a:lnTo>
                      <a:pt x="138246" y="106269"/>
                    </a:lnTo>
                    <a:cubicBezTo>
                      <a:pt x="133107" y="111409"/>
                      <a:pt x="126136" y="114296"/>
                      <a:pt x="118867" y="114296"/>
                    </a:cubicBezTo>
                    <a:cubicBezTo>
                      <a:pt x="111599" y="114296"/>
                      <a:pt x="104628" y="111409"/>
                      <a:pt x="99489" y="106269"/>
                    </a:cubicBezTo>
                    <a:lnTo>
                      <a:pt x="96622" y="103402"/>
                    </a:lnTo>
                    <a:lnTo>
                      <a:pt x="34157" y="165867"/>
                    </a:lnTo>
                    <a:cubicBezTo>
                      <a:pt x="30992" y="169031"/>
                      <a:pt x="26814" y="170980"/>
                      <a:pt x="22355" y="171372"/>
                    </a:cubicBezTo>
                    <a:lnTo>
                      <a:pt x="20688" y="171448"/>
                    </a:lnTo>
                    <a:lnTo>
                      <a:pt x="9525" y="171448"/>
                    </a:lnTo>
                    <a:cubicBezTo>
                      <a:pt x="4696" y="171448"/>
                      <a:pt x="632" y="167833"/>
                      <a:pt x="67" y="163038"/>
                    </a:cubicBezTo>
                    <a:lnTo>
                      <a:pt x="0" y="161923"/>
                    </a:lnTo>
                    <a:lnTo>
                      <a:pt x="0" y="150760"/>
                    </a:lnTo>
                    <a:cubicBezTo>
                      <a:pt x="1" y="146287"/>
                      <a:pt x="1576" y="141958"/>
                      <a:pt x="4448" y="138530"/>
                    </a:cubicBezTo>
                    <a:lnTo>
                      <a:pt x="5582" y="137292"/>
                    </a:lnTo>
                    <a:lnTo>
                      <a:pt x="9525" y="133348"/>
                    </a:lnTo>
                    <a:lnTo>
                      <a:pt x="28575" y="133348"/>
                    </a:lnTo>
                    <a:lnTo>
                      <a:pt x="28575" y="114298"/>
                    </a:lnTo>
                    <a:lnTo>
                      <a:pt x="47625" y="114298"/>
                    </a:lnTo>
                    <a:lnTo>
                      <a:pt x="47625" y="95248"/>
                    </a:lnTo>
                    <a:lnTo>
                      <a:pt x="68047" y="74827"/>
                    </a:lnTo>
                    <a:lnTo>
                      <a:pt x="65180" y="71960"/>
                    </a:lnTo>
                    <a:cubicBezTo>
                      <a:pt x="60040" y="66820"/>
                      <a:pt x="57152" y="59849"/>
                      <a:pt x="57152" y="52581"/>
                    </a:cubicBezTo>
                    <a:cubicBezTo>
                      <a:pt x="57152" y="45312"/>
                      <a:pt x="60040" y="38342"/>
                      <a:pt x="65180" y="33202"/>
                    </a:cubicBezTo>
                    <a:lnTo>
                      <a:pt x="90354" y="8028"/>
                    </a:lnTo>
                    <a:cubicBezTo>
                      <a:pt x="95493" y="2888"/>
                      <a:pt x="102464" y="0"/>
                      <a:pt x="109733" y="0"/>
                    </a:cubicBezTo>
                    <a:cubicBezTo>
                      <a:pt x="117001" y="0"/>
                      <a:pt x="123972" y="2888"/>
                      <a:pt x="129111" y="8028"/>
                    </a:cubicBezTo>
                  </a:path>
                </a:pathLst>
              </a:custGeom>
              <a:noFill/>
              <a:ln w="19050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220075" y="46196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8375142" y="45691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伏笔：它们都不是群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71104" y="4918710"/>
              <a:ext cx="236677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(A, ⊙)：单位元只能是 0，但 0 ∉ A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(S, ∘)：|S| ≥ 2 时找不到单位元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详见 P08“判群闯关”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6" name="Rectangle 56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74700" y="6008947"/>
              <a:ext cx="198178" cy="198178"/>
              <a:chOff x="774700" y="6008947"/>
              <a:chExt cx="198178" cy="198178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74700" y="6008947"/>
                <a:ext cx="198178" cy="198178"/>
              </a:xfrm>
              <a:custGeom>
                <a:avLst/>
                <a:gdLst/>
                <a:ahLst/>
                <a:cxnLst/>
                <a:rect l="l" t="t" r="r" b="b"/>
                <a:pathLst>
                  <a:path w="198178" h="198178">
                    <a:moveTo>
                      <a:pt x="0" y="198178"/>
                    </a:moveTo>
                    <a:lnTo>
                      <a:pt x="50800" y="198178"/>
                    </a:lnTo>
                    <a:lnTo>
                      <a:pt x="184150" y="64828"/>
                    </a:lnTo>
                    <a:cubicBezTo>
                      <a:pt x="198178" y="50800"/>
                      <a:pt x="198178" y="28056"/>
                      <a:pt x="184150" y="14028"/>
                    </a:cubicBezTo>
                    <a:cubicBezTo>
                      <a:pt x="170122" y="0"/>
                      <a:pt x="147378" y="0"/>
                      <a:pt x="133350" y="14028"/>
                    </a:cubicBezTo>
                    <a:lnTo>
                      <a:pt x="0" y="147378"/>
                    </a:lnTo>
                    <a:lnTo>
                      <a:pt x="0" y="198178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95350" y="603567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134618" y="6003608"/>
              <a:ext cx="83380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验证结合律：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任取 a、b、c → 分别展开两边 → 化到同一个式子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；否定只需一组反例。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2" name="TextBox 62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5292014" cy="960501"/>
            <a:chOff x="456415" y="361950"/>
            <a:chExt cx="5292014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半群与群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2287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群的定义：再加“有壹”与“有逆”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definition"/>
          <p:cNvGrpSpPr/>
          <p:nvPr/>
        </p:nvGrpSpPr>
        <p:grpSpPr>
          <a:xfrm>
            <a:off x="533400" y="1485900"/>
            <a:ext cx="7048500" cy="2514600"/>
            <a:chOff x="533400" y="1485900"/>
            <a:chExt cx="7048500" cy="25146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7048500" cy="2514600"/>
            </a:xfrm>
            <a:prstGeom prst="roundRect">
              <a:avLst>
                <a:gd name="adj" fmla="val 606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2209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6.2.2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28825"/>
              <a:ext cx="3621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(G, ·) 为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半群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，如果满足下面条件：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324100"/>
              <a:ext cx="6515100" cy="609600"/>
            </a:xfrm>
            <a:prstGeom prst="roundRect">
              <a:avLst>
                <a:gd name="adj" fmla="val 1875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409825"/>
              <a:ext cx="4758214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(1) 有壹（单位元）：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 中有一个元素 1，适合对于 G 中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任意元素 a，都有 1 · a = a · 1 = a；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14400" y="3009900"/>
              <a:ext cx="6515100" cy="609600"/>
            </a:xfrm>
            <a:prstGeom prst="roundRect">
              <a:avLst>
                <a:gd name="adj" fmla="val 1875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59180" y="3095625"/>
              <a:ext cx="4996339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(2) 有逆：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对于 G 中任意 a，都可找到 G 中一个元素 a⁻¹，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满足 a · a⁻¹ = a⁻¹ · a = 1，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6780" y="3705225"/>
              <a:ext cx="1803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则称 (G, ·) 为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群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1" name="finite-note"/>
          <p:cNvGrpSpPr/>
          <p:nvPr/>
        </p:nvGrpSpPr>
        <p:grpSpPr>
          <a:xfrm>
            <a:off x="533400" y="4114800"/>
            <a:ext cx="7048500" cy="381000"/>
            <a:chOff x="533400" y="4114800"/>
            <a:chExt cx="7048500" cy="381000"/>
          </a:xfrm>
        </p:grpSpPr>
        <p:sp>
          <p:nvSpPr>
            <p:cNvPr id="19" name="Rectangle 19"/>
            <p:cNvSpPr/>
            <p:nvPr/>
          </p:nvSpPr>
          <p:spPr>
            <a:xfrm>
              <a:off x="533400" y="4114800"/>
              <a:ext cx="7048500" cy="381000"/>
            </a:xfrm>
            <a:prstGeom prst="roundRect">
              <a:avLst>
                <a:gd name="adj" fmla="val 3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7804" y="4232910"/>
              <a:ext cx="6532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 G 包含的元素个数有限，称为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有限群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，否则称为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无限群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｜　注：单位元有时也用 e 表示</a:t>
              </a:r>
            </a:p>
          </p:txBody>
        </p:sp>
      </p:grpSp>
      <p:grpSp>
        <p:nvGrpSpPr>
          <p:cNvPr id="55" name="checklist"/>
          <p:cNvGrpSpPr/>
          <p:nvPr/>
        </p:nvGrpSpPr>
        <p:grpSpPr>
          <a:xfrm>
            <a:off x="7734300" y="1485900"/>
            <a:ext cx="3924300" cy="3009900"/>
            <a:chOff x="7734300" y="1485900"/>
            <a:chExt cx="3924300" cy="3009900"/>
          </a:xfrm>
        </p:grpSpPr>
        <p:sp>
          <p:nvSpPr>
            <p:cNvPr id="22" name="Rectangle 22"/>
            <p:cNvSpPr/>
            <p:nvPr/>
          </p:nvSpPr>
          <p:spPr>
            <a:xfrm>
              <a:off x="7734300" y="1485900"/>
              <a:ext cx="3924300" cy="3009900"/>
            </a:xfrm>
            <a:prstGeom prst="roundRect">
              <a:avLst>
                <a:gd name="adj" fmla="val 5063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960916" y="1665684"/>
              <a:ext cx="170258" cy="149622"/>
              <a:chOff x="7960916" y="1665684"/>
              <a:chExt cx="170258" cy="14962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960916" y="1665684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960916" y="1727597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960916" y="1789509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038306" y="1681162"/>
                <a:ext cx="9286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8" h="9525">
                    <a:moveTo>
                      <a:pt x="0" y="0"/>
                    </a:moveTo>
                    <a:lnTo>
                      <a:pt x="92868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038306" y="1743075"/>
                <a:ext cx="9286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8" h="9525">
                    <a:moveTo>
                      <a:pt x="0" y="0"/>
                    </a:moveTo>
                    <a:lnTo>
                      <a:pt x="92868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038306" y="1804987"/>
                <a:ext cx="9286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8" h="9525">
                    <a:moveTo>
                      <a:pt x="0" y="0"/>
                    </a:moveTo>
                    <a:lnTo>
                      <a:pt x="92868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8241792" y="16640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判群五项检查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924800" y="1981200"/>
              <a:ext cx="2895600" cy="419100"/>
            </a:xfrm>
            <a:prstGeom prst="roundRect">
              <a:avLst>
                <a:gd name="adj" fmla="val 2272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029575" y="206692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04149" y="2126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75142" y="21116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集合非空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924800" y="2457450"/>
              <a:ext cx="2895600" cy="419100"/>
            </a:xfrm>
            <a:prstGeom prst="roundRect">
              <a:avLst>
                <a:gd name="adj" fmla="val 2272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8029575" y="25431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04149" y="26027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5142" y="25879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运算封闭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924800" y="2933700"/>
              <a:ext cx="2895600" cy="419100"/>
            </a:xfrm>
            <a:prstGeom prst="roundRect">
              <a:avLst>
                <a:gd name="adj" fmla="val 2272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029575" y="301942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04149" y="30789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75142" y="30641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满足结合律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924800" y="3409950"/>
              <a:ext cx="2895600" cy="419100"/>
            </a:xfrm>
            <a:prstGeom prst="roundRect">
              <a:avLst>
                <a:gd name="adj" fmla="val 22727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029575" y="34956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104149" y="35552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75142" y="3540442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有壹：单位元 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924800" y="3886200"/>
              <a:ext cx="2895600" cy="419100"/>
            </a:xfrm>
            <a:prstGeom prst="roundRect">
              <a:avLst>
                <a:gd name="adj" fmla="val 22727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8029575" y="397192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104149" y="4031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75142" y="4016692"/>
              <a:ext cx="1695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有逆：每个 a 有 a⁻¹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10934700" y="2019300"/>
              <a:ext cx="114300" cy="1295400"/>
            </a:xfrm>
            <a:custGeom>
              <a:avLst/>
              <a:gdLst/>
              <a:ahLst/>
              <a:cxnLst/>
              <a:rect l="l" t="t" r="r" b="b"/>
              <a:pathLst>
                <a:path w="114300" h="1295400">
                  <a:moveTo>
                    <a:pt x="0" y="0"/>
                  </a:moveTo>
                  <a:lnTo>
                    <a:pt x="114300" y="0"/>
                  </a:lnTo>
                  <a:lnTo>
                    <a:pt x="114300" y="1295400"/>
                  </a:lnTo>
                  <a:lnTo>
                    <a:pt x="0" y="12954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175492" y="2445068"/>
              <a:ext cx="1851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半</a:t>
              </a:r>
              <a:br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群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10934700" y="3448050"/>
              <a:ext cx="114300" cy="819150"/>
            </a:xfrm>
            <a:custGeom>
              <a:avLst/>
              <a:gdLst/>
              <a:ahLst/>
              <a:cxnLst/>
              <a:rect l="l" t="t" r="r" b="b"/>
              <a:pathLst>
                <a:path w="114300" h="819150">
                  <a:moveTo>
                    <a:pt x="0" y="0"/>
                  </a:moveTo>
                  <a:lnTo>
                    <a:pt x="114300" y="0"/>
                  </a:lnTo>
                  <a:lnTo>
                    <a:pt x="114300" y="819150"/>
                  </a:lnTo>
                  <a:lnTo>
                    <a:pt x="0" y="819150"/>
                  </a:lnTo>
                </a:path>
              </a:pathLst>
            </a:custGeom>
            <a:noFill/>
            <a:ln w="19050">
              <a:solidFill>
                <a:srgbClr val="C2410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176254" y="3680460"/>
              <a:ext cx="1645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新</a:t>
              </a:r>
              <a:br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增</a:t>
              </a:r>
            </a:p>
          </p:txBody>
        </p:sp>
      </p:grpSp>
      <p:grpSp>
        <p:nvGrpSpPr>
          <p:cNvPr id="60" name="reminder-1"/>
          <p:cNvGrpSpPr/>
          <p:nvPr/>
        </p:nvGrpSpPr>
        <p:grpSpPr>
          <a:xfrm>
            <a:off x="533400" y="4610100"/>
            <a:ext cx="3581400" cy="1104900"/>
            <a:chOff x="533400" y="4610100"/>
            <a:chExt cx="3581400" cy="1104900"/>
          </a:xfrm>
        </p:grpSpPr>
        <p:sp>
          <p:nvSpPr>
            <p:cNvPr id="56" name="Rectangle 56"/>
            <p:cNvSpPr/>
            <p:nvPr/>
          </p:nvSpPr>
          <p:spPr>
            <a:xfrm>
              <a:off x="533400" y="4610100"/>
              <a:ext cx="3581400" cy="1104900"/>
            </a:xfrm>
            <a:prstGeom prst="roundRect">
              <a:avLst>
                <a:gd name="adj" fmla="val 13793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5800" y="4762500"/>
              <a:ext cx="47625" cy="8001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69442" y="4826318"/>
              <a:ext cx="1581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“1”不一定是数字 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0204" y="5147310"/>
              <a:ext cx="267157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(Z, +) 中单位元是 0，a 的逆元是 −a；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a⁻¹ 也不一定是“倒数”</a:t>
              </a:r>
            </a:p>
          </p:txBody>
        </p:sp>
      </p:grpSp>
      <p:grpSp>
        <p:nvGrpSpPr>
          <p:cNvPr id="65" name="reminder-2"/>
          <p:cNvGrpSpPr/>
          <p:nvPr/>
        </p:nvGrpSpPr>
        <p:grpSpPr>
          <a:xfrm>
            <a:off x="4267200" y="4610100"/>
            <a:ext cx="3657600" cy="1104900"/>
            <a:chOff x="4267200" y="4610100"/>
            <a:chExt cx="3657600" cy="1104900"/>
          </a:xfrm>
        </p:grpSpPr>
        <p:sp>
          <p:nvSpPr>
            <p:cNvPr id="61" name="Rectangle 61"/>
            <p:cNvSpPr/>
            <p:nvPr/>
          </p:nvSpPr>
          <p:spPr>
            <a:xfrm>
              <a:off x="4267200" y="4610100"/>
              <a:ext cx="3657600" cy="1104900"/>
            </a:xfrm>
            <a:prstGeom prst="roundRect">
              <a:avLst>
                <a:gd name="adj" fmla="val 13793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4419600" y="4762500"/>
              <a:ext cx="47625" cy="8001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603242" y="4826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注意量词的顺序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604004" y="5147310"/>
              <a:ext cx="249631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单位元：同一个 1 对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a 都成立；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逆元：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a 各有自己的 a⁻¹</a:t>
              </a:r>
            </a:p>
          </p:txBody>
        </p:sp>
      </p:grpSp>
      <p:grpSp>
        <p:nvGrpSpPr>
          <p:cNvPr id="70" name="reminder-3"/>
          <p:cNvGrpSpPr/>
          <p:nvPr/>
        </p:nvGrpSpPr>
        <p:grpSpPr>
          <a:xfrm>
            <a:off x="8077200" y="4610100"/>
            <a:ext cx="3581400" cy="1104900"/>
            <a:chOff x="8077200" y="4610100"/>
            <a:chExt cx="3581400" cy="1104900"/>
          </a:xfrm>
        </p:grpSpPr>
        <p:sp>
          <p:nvSpPr>
            <p:cNvPr id="66" name="Rectangle 66"/>
            <p:cNvSpPr/>
            <p:nvPr/>
          </p:nvSpPr>
          <p:spPr>
            <a:xfrm>
              <a:off x="8077200" y="4610100"/>
              <a:ext cx="3581400" cy="1104900"/>
            </a:xfrm>
            <a:prstGeom prst="roundRect">
              <a:avLst>
                <a:gd name="adj" fmla="val 13793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229600" y="4762500"/>
              <a:ext cx="47625" cy="8001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413242" y="48263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交换律不是必需条件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414004" y="5147310"/>
              <a:ext cx="220675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群可以不交换（如置换群 S₃）；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满足交换律的群另称 Abel 群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1" name="Rectangle 71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134618" y="6003608"/>
              <a:ext cx="70869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判群五项：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非空 · 封闭 · 结合 · 有壹 · 有逆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；前三项合起来就是半群。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7" name="TextBox 77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4452389" cy="960501"/>
            <a:chOff x="456415" y="361950"/>
            <a:chExt cx="4452389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半群与群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3891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判群闯关：失败在哪一关？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gates"/>
          <p:cNvGrpSpPr/>
          <p:nvPr/>
        </p:nvGrpSpPr>
        <p:grpSpPr>
          <a:xfrm>
            <a:off x="533400" y="1485900"/>
            <a:ext cx="11125200" cy="533400"/>
            <a:chOff x="533400" y="1485900"/>
            <a:chExt cx="11125200" cy="533400"/>
          </a:xfrm>
        </p:grpSpPr>
        <p:sp>
          <p:nvSpPr>
            <p:cNvPr id="7" name="Freeform 7"/>
            <p:cNvSpPr/>
            <p:nvPr/>
          </p:nvSpPr>
          <p:spPr>
            <a:xfrm>
              <a:off x="533400" y="1485900"/>
              <a:ext cx="1981200" cy="53340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2362200" y="1485900"/>
              <a:ext cx="1981200" cy="5334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191000" y="1485900"/>
              <a:ext cx="1981200" cy="5334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019800" y="1485900"/>
              <a:ext cx="1981200" cy="5334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848600" y="1485900"/>
              <a:ext cx="1981200" cy="5334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9677400" y="1485900"/>
              <a:ext cx="1981200" cy="533400"/>
            </a:xfrm>
            <a:prstGeom prst="chevron">
              <a:avLst/>
            </a:prstGeom>
            <a:solidFill>
              <a:srgbClr val="0F7A68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129089" y="1657350"/>
              <a:ext cx="9886278" cy="293370"/>
              <a:chOff x="1129089" y="1657350"/>
              <a:chExt cx="9886278" cy="29337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1129089" y="1657350"/>
                <a:ext cx="5993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① 非空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053139" y="1657350"/>
                <a:ext cx="5993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② 封闭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881939" y="1657350"/>
                <a:ext cx="5993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③ 结合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710739" y="1657350"/>
                <a:ext cx="5993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④ 有壹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539539" y="1657350"/>
                <a:ext cx="5993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⑤ 有逆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320633" y="1657350"/>
                <a:ext cx="69473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✓ 是群</a:t>
                </a:r>
              </a:p>
            </p:txBody>
          </p:sp>
        </p:grpSp>
      </p:grpSp>
      <p:grpSp>
        <p:nvGrpSpPr>
          <p:cNvPr id="24" name="col-nonempty"/>
          <p:cNvGrpSpPr/>
          <p:nvPr/>
        </p:nvGrpSpPr>
        <p:grpSpPr>
          <a:xfrm>
            <a:off x="571500" y="2171700"/>
            <a:ext cx="1714500" cy="2514600"/>
            <a:chOff x="571500" y="2171700"/>
            <a:chExt cx="1714500" cy="2514600"/>
          </a:xfrm>
        </p:grpSpPr>
        <p:sp>
          <p:nvSpPr>
            <p:cNvPr id="21" name="Rectangle 21"/>
            <p:cNvSpPr/>
            <p:nvPr/>
          </p:nvSpPr>
          <p:spPr>
            <a:xfrm>
              <a:off x="571500" y="2171700"/>
              <a:ext cx="1714500" cy="2514600"/>
            </a:xfrm>
            <a:prstGeom prst="roundRect">
              <a:avLst>
                <a:gd name="adj" fmla="val 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7804" y="2327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本页例子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185" y="2621756"/>
              <a:ext cx="1099566" cy="1020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集合都非空，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第一关全部通过</a:t>
              </a:r>
            </a:p>
            <a:p>
              <a:pPr algn="l">
                <a:lnSpc>
                  <a:spcPts val="1800"/>
                </a:lnSpc>
                <a:spcBef>
                  <a:spcPts val="900"/>
                </a:spcBef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判群时仍要写出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“如 0 ∈ Z，非空”</a:t>
              </a:r>
            </a:p>
          </p:txBody>
        </p:sp>
      </p:grpSp>
      <p:grpSp>
        <p:nvGrpSpPr>
          <p:cNvPr id="32" name="col-closed"/>
          <p:cNvGrpSpPr/>
          <p:nvPr/>
        </p:nvGrpSpPr>
        <p:grpSpPr>
          <a:xfrm>
            <a:off x="2400300" y="2171700"/>
            <a:ext cx="1714500" cy="2514600"/>
            <a:chOff x="2400300" y="2171700"/>
            <a:chExt cx="1714500" cy="2514600"/>
          </a:xfrm>
        </p:grpSpPr>
        <p:sp>
          <p:nvSpPr>
            <p:cNvPr id="25" name="Rectangle 25"/>
            <p:cNvSpPr/>
            <p:nvPr/>
          </p:nvSpPr>
          <p:spPr>
            <a:xfrm>
              <a:off x="2400300" y="2171700"/>
              <a:ext cx="1714500" cy="2514600"/>
            </a:xfrm>
            <a:prstGeom prst="roundRect">
              <a:avLst>
                <a:gd name="adj" fmla="val 777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2600325" y="2352675"/>
              <a:ext cx="95250" cy="95250"/>
              <a:chOff x="2600325" y="2352675"/>
              <a:chExt cx="95250" cy="952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2600325" y="23526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600325" y="23526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794254" y="2327910"/>
              <a:ext cx="693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(Q*, +)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46985" y="2621756"/>
              <a:ext cx="807974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1 + (−1) = 0</a:t>
              </a:r>
              <a:br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0 ∉ Q*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46985" y="3231356"/>
              <a:ext cx="879094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加法把结果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“加”出了集合</a:t>
              </a:r>
            </a:p>
          </p:txBody>
        </p:sp>
      </p:grpSp>
      <p:grpSp>
        <p:nvGrpSpPr>
          <p:cNvPr id="40" name="col-assoc"/>
          <p:cNvGrpSpPr/>
          <p:nvPr/>
        </p:nvGrpSpPr>
        <p:grpSpPr>
          <a:xfrm>
            <a:off x="4229100" y="2171700"/>
            <a:ext cx="1714500" cy="2514600"/>
            <a:chOff x="4229100" y="2171700"/>
            <a:chExt cx="1714500" cy="2514600"/>
          </a:xfrm>
        </p:grpSpPr>
        <p:sp>
          <p:nvSpPr>
            <p:cNvPr id="33" name="Rectangle 33"/>
            <p:cNvSpPr/>
            <p:nvPr/>
          </p:nvSpPr>
          <p:spPr>
            <a:xfrm>
              <a:off x="4229100" y="2171700"/>
              <a:ext cx="1714500" cy="2514600"/>
            </a:xfrm>
            <a:prstGeom prst="roundRect">
              <a:avLst>
                <a:gd name="adj" fmla="val 777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4429125" y="2352675"/>
              <a:ext cx="95250" cy="95250"/>
              <a:chOff x="4429125" y="2352675"/>
              <a:chExt cx="95250" cy="9525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4429125" y="23526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4429125" y="23526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4623054" y="2327910"/>
              <a:ext cx="5588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(Z, −)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75785" y="2621756"/>
              <a:ext cx="104978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(1 − 2) − 3 = −4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1 − (2 − 3) = 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75785" y="3231356"/>
              <a:ext cx="86487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封闭，但减法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不满足结合律</a:t>
              </a:r>
            </a:p>
          </p:txBody>
        </p:sp>
      </p:grpSp>
      <p:grpSp>
        <p:nvGrpSpPr>
          <p:cNvPr id="53" name="col-identity"/>
          <p:cNvGrpSpPr/>
          <p:nvPr/>
        </p:nvGrpSpPr>
        <p:grpSpPr>
          <a:xfrm>
            <a:off x="6057900" y="2171700"/>
            <a:ext cx="1714500" cy="2514600"/>
            <a:chOff x="6057900" y="2171700"/>
            <a:chExt cx="1714500" cy="2514600"/>
          </a:xfrm>
        </p:grpSpPr>
        <p:sp>
          <p:nvSpPr>
            <p:cNvPr id="41" name="Rectangle 41"/>
            <p:cNvSpPr/>
            <p:nvPr/>
          </p:nvSpPr>
          <p:spPr>
            <a:xfrm>
              <a:off x="6057900" y="2171700"/>
              <a:ext cx="1714500" cy="2514600"/>
            </a:xfrm>
            <a:prstGeom prst="roundRect">
              <a:avLst>
                <a:gd name="adj" fmla="val 777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257925" y="2352675"/>
              <a:ext cx="95250" cy="95250"/>
              <a:chOff x="6257925" y="2352675"/>
              <a:chExt cx="95250" cy="9525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257925" y="23526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257925" y="23526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451854" y="2327910"/>
              <a:ext cx="5588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(A, ⊙)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04585" y="2583656"/>
              <a:ext cx="985774" cy="905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为正整数集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设单位元为 e：</a:t>
              </a:r>
              <a:br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 + a + e·a = a</a:t>
              </a:r>
              <a:br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⇒ e = 0 ∉ A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210300" y="3676650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700" y="0"/>
                  </a:lnTo>
                </a:path>
              </a:pathLst>
            </a:custGeom>
            <a:noFill/>
            <a:ln w="14288">
              <a:solidFill>
                <a:srgbClr val="F1B8B1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257925" y="3857625"/>
              <a:ext cx="95250" cy="95250"/>
              <a:chOff x="6257925" y="3857625"/>
              <a:chExt cx="95250" cy="952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257925" y="38576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257925" y="38576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451854" y="3832860"/>
              <a:ext cx="5588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(S, ∘)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04585" y="4107656"/>
              <a:ext cx="112090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∘ b = b，|S| ≥ 2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时没有单位元</a:t>
              </a:r>
            </a:p>
          </p:txBody>
        </p:sp>
      </p:grpSp>
      <p:grpSp>
        <p:nvGrpSpPr>
          <p:cNvPr id="64" name="col-inverse"/>
          <p:cNvGrpSpPr/>
          <p:nvPr/>
        </p:nvGrpSpPr>
        <p:grpSpPr>
          <a:xfrm>
            <a:off x="7886700" y="2171700"/>
            <a:ext cx="1714500" cy="2514600"/>
            <a:chOff x="7886700" y="2171700"/>
            <a:chExt cx="1714500" cy="2514600"/>
          </a:xfrm>
        </p:grpSpPr>
        <p:sp>
          <p:nvSpPr>
            <p:cNvPr id="54" name="Rectangle 54"/>
            <p:cNvSpPr/>
            <p:nvPr/>
          </p:nvSpPr>
          <p:spPr>
            <a:xfrm>
              <a:off x="7886700" y="2171700"/>
              <a:ext cx="1714500" cy="2514600"/>
            </a:xfrm>
            <a:prstGeom prst="roundRect">
              <a:avLst>
                <a:gd name="adj" fmla="val 7778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033385" y="2316956"/>
              <a:ext cx="521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(Z, ·)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33385" y="2545556"/>
              <a:ext cx="1255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除 1、−1 外无逆元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33385" y="2850356"/>
              <a:ext cx="1124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Q、R、C 对乘法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33385" y="3078956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没有逆元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33385" y="3383756"/>
              <a:ext cx="7765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(ρ(S), ∩)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33385" y="3612356"/>
              <a:ext cx="1353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单位元 S，其余无逆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33385" y="3917156"/>
              <a:ext cx="7765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(ρ(S), ∪)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33385" y="4145756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单位元 ∅，其余无逆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34147" y="44476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（它们都是半群）</a:t>
              </a:r>
            </a:p>
          </p:txBody>
        </p:sp>
      </p:grpSp>
      <p:grpSp>
        <p:nvGrpSpPr>
          <p:cNvPr id="72" name="col-group"/>
          <p:cNvGrpSpPr/>
          <p:nvPr/>
        </p:nvGrpSpPr>
        <p:grpSpPr>
          <a:xfrm>
            <a:off x="9715500" y="2171700"/>
            <a:ext cx="1943100" cy="2514600"/>
            <a:chOff x="9715500" y="2171700"/>
            <a:chExt cx="1943100" cy="2514600"/>
          </a:xfrm>
        </p:grpSpPr>
        <p:sp>
          <p:nvSpPr>
            <p:cNvPr id="65" name="Rectangle 65"/>
            <p:cNvSpPr/>
            <p:nvPr/>
          </p:nvSpPr>
          <p:spPr>
            <a:xfrm>
              <a:off x="9715500" y="2171700"/>
              <a:ext cx="1943100" cy="2514600"/>
            </a:xfrm>
            <a:prstGeom prst="roundRect">
              <a:avLst>
                <a:gd name="adj" fmla="val 6863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862185" y="2316956"/>
              <a:ext cx="1325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(Z, +) 整数加法群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862185" y="2564606"/>
              <a:ext cx="1263142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Q、R、C 对加法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Q*、R*、C* 对乘法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862185" y="3155156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 阶非奇异实矩阵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862185" y="33837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矩阵乘法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862185" y="3688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普通乘法下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862185" y="3917156"/>
              <a:ext cx="928878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{1, −1}</a:t>
              </a:r>
              <a:br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{1, −1, i, −i}</a:t>
              </a:r>
            </a:p>
          </p:txBody>
        </p:sp>
      </p:grpSp>
      <p:grpSp>
        <p:nvGrpSpPr>
          <p:cNvPr id="92" name="proof-strip"/>
          <p:cNvGrpSpPr/>
          <p:nvPr/>
        </p:nvGrpSpPr>
        <p:grpSpPr>
          <a:xfrm>
            <a:off x="533400" y="4800600"/>
            <a:ext cx="11125200" cy="914400"/>
            <a:chOff x="533400" y="4800600"/>
            <a:chExt cx="11125200" cy="914400"/>
          </a:xfrm>
        </p:grpSpPr>
        <p:sp>
          <p:nvSpPr>
            <p:cNvPr id="73" name="Rectangle 73"/>
            <p:cNvSpPr/>
            <p:nvPr/>
          </p:nvSpPr>
          <p:spPr>
            <a:xfrm>
              <a:off x="533400" y="4800600"/>
              <a:ext cx="11125200" cy="914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85800" y="4933950"/>
              <a:ext cx="123825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97437" y="4994910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· 完整证明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78942" y="5359718"/>
              <a:ext cx="10526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(Z, +) 是群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2057400" y="4914900"/>
              <a:ext cx="180975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165985" y="5079206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(1) 非空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165985" y="5326856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∈ Z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3981450" y="4914900"/>
              <a:ext cx="180975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4090035" y="5079206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(2) 封闭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090035" y="5326856"/>
              <a:ext cx="1378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a、b ∈ Z ⇒ a + b ∈ Z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905500" y="4914900"/>
              <a:ext cx="180975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014085" y="5079206"/>
              <a:ext cx="772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(3) 结合律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014085" y="53268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整数加法满足结合律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829550" y="4914900"/>
              <a:ext cx="180975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938135" y="5079206"/>
              <a:ext cx="7562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(4) 有壹 0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938135" y="5326856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+ a = a + 0 = a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9753600" y="4914900"/>
              <a:ext cx="17907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862185" y="5079206"/>
              <a:ext cx="843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(5) 有逆 −a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862185" y="5326856"/>
              <a:ext cx="1436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(−a)+a = a+(−a) = 0</a:t>
              </a:r>
            </a:p>
          </p:txBody>
        </p:sp>
      </p:grpSp>
      <p:grpSp>
        <p:nvGrpSpPr>
          <p:cNvPr id="99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93" name="Rectangle 93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762000" y="616902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939799" y="599122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787400" y="6016625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1134618" y="6003608"/>
              <a:ext cx="69486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否定群：</a:t>
              </a:r>
              <a:r>
                <a:rPr lang="zh-CN" sz="16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指出失败的那一关 + 一个具体反例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；肯定群：</a:t>
              </a:r>
              <a:r>
                <a:rPr lang="zh-CN" sz="16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五关逐条写全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00" name="TextBox 100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6421509" cy="960501"/>
            <a:chOff x="456415" y="361950"/>
            <a:chExt cx="6421509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半群与群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35824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看得见的群：模 m 加法与小群的运算表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mod-m-definition"/>
          <p:cNvGrpSpPr/>
          <p:nvPr/>
        </p:nvGrpSpPr>
        <p:grpSpPr>
          <a:xfrm>
            <a:off x="533400" y="1485900"/>
            <a:ext cx="3619500" cy="4229100"/>
            <a:chOff x="533400" y="1485900"/>
            <a:chExt cx="36195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619500" cy="4229100"/>
            </a:xfrm>
            <a:prstGeom prst="roundRect">
              <a:avLst>
                <a:gd name="adj" fmla="val 421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3924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18669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64324" y="1680210"/>
              <a:ext cx="15670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· 模 m 整数加法群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2064068"/>
              <a:ext cx="2268284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S = {0, 1, 2, …, m − 1}，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规定 S 上的运算 ⊕ 如下：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mod-m-cases"/>
                <p:cNvSpPr txBox="1">
                  <a:spLocks noGrp="1"/>
                </p:cNvSpPr>
                <p:nvPr/>
              </p:nvSpPr>
              <p:spPr>
                <a:xfrm>
                  <a:off x="838200" y="2571750"/>
                  <a:ext cx="3200400" cy="72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⊕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≥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907542" y="3416618"/>
              <a:ext cx="3059954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其中 +、− 为数的加与减，则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(S, ⊕) 是群，称为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模 m 的整数加法群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76300" y="3981450"/>
              <a:ext cx="3124200" cy="914400"/>
            </a:xfrm>
            <a:prstGeom prst="roundRect">
              <a:avLst>
                <a:gd name="adj" fmla="val 125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03554" y="4099560"/>
              <a:ext cx="251155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直观：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相加后取除以 m 的余数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单位元 0；a ≠ 0 时 a⁻¹ = m − a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 ⊕₅ 3 = 2，5 ⊕₇ 2 = 0（5、2 互逆）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76300" y="5010150"/>
              <a:ext cx="3124200" cy="590550"/>
            </a:xfrm>
            <a:prstGeom prst="roundRect">
              <a:avLst>
                <a:gd name="adj" fmla="val 19355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03935" y="5117306"/>
              <a:ext cx="282067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 = {a, b}：a·a=a，a·b=b，b·a=b，b·b=a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是群（a 作单位元），即右下的二元群</a:t>
              </a:r>
            </a:p>
          </p:txBody>
        </p:sp>
      </p:grpSp>
      <p:grpSp>
        <p:nvGrpSpPr>
          <p:cNvPr id="86" name="z5-table"/>
          <p:cNvGrpSpPr/>
          <p:nvPr/>
        </p:nvGrpSpPr>
        <p:grpSpPr>
          <a:xfrm>
            <a:off x="4305300" y="1485900"/>
            <a:ext cx="3619500" cy="4229100"/>
            <a:chOff x="4305300" y="1485900"/>
            <a:chExt cx="3619500" cy="4229100"/>
          </a:xfrm>
        </p:grpSpPr>
        <p:sp>
          <p:nvSpPr>
            <p:cNvPr id="19" name="Rectangle 19"/>
            <p:cNvSpPr/>
            <p:nvPr/>
          </p:nvSpPr>
          <p:spPr>
            <a:xfrm>
              <a:off x="4305300" y="1485900"/>
              <a:ext cx="3619500" cy="4229100"/>
            </a:xfrm>
            <a:prstGeom prst="roundRect">
              <a:avLst>
                <a:gd name="adj" fmla="val 42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95800" y="1619250"/>
              <a:ext cx="11811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59634" y="1680210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模 5 加法群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85104" y="1689735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a 行第 b 列 = a ⊕ b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972050" y="2038350"/>
              <a:ext cx="2286000" cy="3810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972050" y="2419350"/>
              <a:ext cx="381000" cy="19050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53050" y="2419350"/>
              <a:ext cx="1905000" cy="190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62575" y="2428875"/>
              <a:ext cx="36195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86575" y="2809875"/>
              <a:ext cx="36195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505575" y="3190875"/>
              <a:ext cx="36195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124575" y="3571875"/>
              <a:ext cx="36195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43575" y="3952875"/>
              <a:ext cx="36195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4972050" y="24193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4972050" y="28003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4972050" y="31813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4972050" y="35623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4972050" y="39433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5353050" y="20383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5734050" y="20383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6115050" y="20383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6496050" y="20383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6877050" y="20383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972050" y="2038350"/>
              <a:ext cx="2286000" cy="22860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96623" y="2133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77623" y="2133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858623" y="2133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39623" y="2133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20623" y="2133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01623" y="2133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96623" y="2514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77623" y="2514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861399" y="2514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42399" y="2514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23399" y="2514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04399" y="2514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96623" y="2895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480399" y="2895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861399" y="2895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42399" y="2895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23399" y="2895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01623" y="2895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096623" y="3276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480399" y="3276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861399" y="3276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42399" y="3276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20623" y="3276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04399" y="3276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096623" y="3657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480399" y="3657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861399" y="3657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39623" y="3657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23399" y="3657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004399" y="3657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096623" y="4038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480399" y="4038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858623" y="4038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242399" y="4038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23399" y="4038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004399" y="4038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527804" y="4499610"/>
              <a:ext cx="2307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逆元配对：结果为 0 的绿色格子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4533900" y="4762500"/>
              <a:ext cx="990600" cy="342900"/>
            </a:xfrm>
            <a:prstGeom prst="roundRect">
              <a:avLst>
                <a:gd name="adj" fmla="val 27778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807665" y="4854892"/>
              <a:ext cx="443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 ↔ 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619750" y="4762500"/>
              <a:ext cx="990600" cy="342900"/>
            </a:xfrm>
            <a:prstGeom prst="roundRect">
              <a:avLst>
                <a:gd name="adj" fmla="val 27778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893515" y="4854892"/>
              <a:ext cx="443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 ↔ 4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705600" y="4762500"/>
              <a:ext cx="990600" cy="342900"/>
            </a:xfrm>
            <a:prstGeom prst="roundRect">
              <a:avLst>
                <a:gd name="adj" fmla="val 27778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979365" y="4854892"/>
              <a:ext cx="443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 ↔ 3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527804" y="5242560"/>
              <a:ext cx="20162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每行、每列：0–4 各出现一次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表关于主对角线对称 ⇒ 交换群</a:t>
              </a:r>
            </a:p>
          </p:txBody>
        </p:sp>
      </p:grpSp>
      <p:grpSp>
        <p:nvGrpSpPr>
          <p:cNvPr id="164" name="small-groups"/>
          <p:cNvGrpSpPr/>
          <p:nvPr/>
        </p:nvGrpSpPr>
        <p:grpSpPr>
          <a:xfrm>
            <a:off x="8077200" y="1485900"/>
            <a:ext cx="3581400" cy="4229100"/>
            <a:chOff x="8077200" y="1485900"/>
            <a:chExt cx="3581400" cy="4229100"/>
          </a:xfrm>
        </p:grpSpPr>
        <p:sp>
          <p:nvSpPr>
            <p:cNvPr id="87" name="Rectangle 87"/>
            <p:cNvSpPr/>
            <p:nvPr/>
          </p:nvSpPr>
          <p:spPr>
            <a:xfrm>
              <a:off x="8077200" y="1485900"/>
              <a:ext cx="3581400" cy="4229100"/>
            </a:xfrm>
            <a:prstGeom prst="roundRect">
              <a:avLst>
                <a:gd name="adj" fmla="val 425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8267700" y="1619250"/>
              <a:ext cx="16383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274649" y="1680210"/>
              <a:ext cx="1624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{1, −1, i, −i} · 乘法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014204" y="1689735"/>
              <a:ext cx="512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i² = −1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8820150" y="2019300"/>
              <a:ext cx="2095500" cy="3810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8820150" y="2400300"/>
              <a:ext cx="419100" cy="15240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9239250" y="2400300"/>
              <a:ext cx="1676400" cy="152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9248775" y="2409825"/>
              <a:ext cx="40005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9667875" y="2790825"/>
              <a:ext cx="40005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10506075" y="3171825"/>
              <a:ext cx="40005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10086975" y="3552825"/>
              <a:ext cx="40005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8" name="Line 98"/>
            <p:cNvSpPr/>
            <p:nvPr/>
          </p:nvSpPr>
          <p:spPr>
            <a:xfrm>
              <a:off x="8820150" y="24003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99" name="Line 99"/>
            <p:cNvSpPr/>
            <p:nvPr/>
          </p:nvSpPr>
          <p:spPr>
            <a:xfrm>
              <a:off x="8820150" y="27813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00" name="Line 100"/>
            <p:cNvSpPr/>
            <p:nvPr/>
          </p:nvSpPr>
          <p:spPr>
            <a:xfrm>
              <a:off x="8820150" y="31623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01" name="Line 101"/>
            <p:cNvSpPr/>
            <p:nvPr/>
          </p:nvSpPr>
          <p:spPr>
            <a:xfrm>
              <a:off x="8820150" y="35433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02" name="Line 102"/>
            <p:cNvSpPr/>
            <p:nvPr/>
          </p:nvSpPr>
          <p:spPr>
            <a:xfrm>
              <a:off x="9239250" y="201930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03" name="Line 103"/>
            <p:cNvSpPr/>
            <p:nvPr/>
          </p:nvSpPr>
          <p:spPr>
            <a:xfrm>
              <a:off x="9658350" y="201930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04" name="Line 104"/>
            <p:cNvSpPr/>
            <p:nvPr/>
          </p:nvSpPr>
          <p:spPr>
            <a:xfrm>
              <a:off x="10077450" y="201930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10496550" y="201930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8820150" y="2019300"/>
              <a:ext cx="2095500" cy="19050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970365" y="212407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389465" y="212407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756089" y="212407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251518" y="2124075"/>
              <a:ext cx="709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0618142" y="2124075"/>
              <a:ext cx="1759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−i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970365" y="250507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9389465" y="250507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761087" y="2505075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252881" y="2505075"/>
              <a:ext cx="68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0622004" y="2505075"/>
              <a:ext cx="1681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−i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8917889" y="288607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341987" y="2886075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808565" y="288607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0202904" y="2886075"/>
              <a:ext cx="1681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−i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0671981" y="2886075"/>
              <a:ext cx="68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8994218" y="3267075"/>
              <a:ext cx="709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9414681" y="3267075"/>
              <a:ext cx="68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9783804" y="3267075"/>
              <a:ext cx="1681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−i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0180187" y="3267075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0646765" y="326707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8941742" y="3648075"/>
              <a:ext cx="1759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−i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9364704" y="3648075"/>
              <a:ext cx="1681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−i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9833781" y="3648075"/>
              <a:ext cx="68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0227665" y="364807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10599287" y="3648075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8261604" y="4061460"/>
              <a:ext cx="2403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单位元 1；(−1)⁻¹ = −1，i⁻¹ = −i</a:t>
              </a:r>
            </a:p>
          </p:txBody>
        </p:sp>
        <p:sp>
          <p:nvSpPr>
            <p:cNvPr id="133" name="Line 133"/>
            <p:cNvSpPr/>
            <p:nvPr/>
          </p:nvSpPr>
          <p:spPr>
            <a:xfrm>
              <a:off x="8267700" y="434340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8262366" y="4458652"/>
              <a:ext cx="1482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元数为 1 的群仅有 1 个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8572500" y="4705350"/>
              <a:ext cx="609600" cy="3048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8572500" y="5010150"/>
              <a:ext cx="304800" cy="3048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37" name="Rectangle 137"/>
            <p:cNvSpPr/>
            <p:nvPr/>
          </p:nvSpPr>
          <p:spPr>
            <a:xfrm>
              <a:off x="8877300" y="5010150"/>
              <a:ext cx="304800" cy="304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38" name="Line 138"/>
            <p:cNvSpPr/>
            <p:nvPr/>
          </p:nvSpPr>
          <p:spPr>
            <a:xfrm>
              <a:off x="8572500" y="501015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39" name="Line 139"/>
            <p:cNvSpPr/>
            <p:nvPr/>
          </p:nvSpPr>
          <p:spPr>
            <a:xfrm>
              <a:off x="8877300" y="470535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40" name="Rectangle 140"/>
            <p:cNvSpPr/>
            <p:nvPr/>
          </p:nvSpPr>
          <p:spPr>
            <a:xfrm>
              <a:off x="8572500" y="4705350"/>
              <a:ext cx="609600" cy="6096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8672158" y="47815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8976958" y="47815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8672158" y="50863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8979179" y="50863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9900666" y="4458652"/>
              <a:ext cx="1482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元数为 2 的群仅有 1 个</a:t>
              </a:r>
            </a:p>
          </p:txBody>
        </p:sp>
        <p:sp>
          <p:nvSpPr>
            <p:cNvPr id="146" name="Rectangle 146"/>
            <p:cNvSpPr/>
            <p:nvPr/>
          </p:nvSpPr>
          <p:spPr>
            <a:xfrm>
              <a:off x="10134600" y="4705350"/>
              <a:ext cx="914400" cy="3048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7" name="Rectangle 147"/>
            <p:cNvSpPr/>
            <p:nvPr/>
          </p:nvSpPr>
          <p:spPr>
            <a:xfrm>
              <a:off x="10134600" y="5010150"/>
              <a:ext cx="304800" cy="6096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10439400" y="5010150"/>
              <a:ext cx="609600" cy="609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9" name="Line 149"/>
            <p:cNvSpPr/>
            <p:nvPr/>
          </p:nvSpPr>
          <p:spPr>
            <a:xfrm>
              <a:off x="10134600" y="5010150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50" name="Line 150"/>
            <p:cNvSpPr/>
            <p:nvPr/>
          </p:nvSpPr>
          <p:spPr>
            <a:xfrm>
              <a:off x="10134600" y="5314950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51" name="Line 151"/>
            <p:cNvSpPr/>
            <p:nvPr/>
          </p:nvSpPr>
          <p:spPr>
            <a:xfrm>
              <a:off x="10439400" y="470535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0" y="0"/>
                  </a:moveTo>
                  <a:lnTo>
                    <a:pt x="0" y="9144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52" name="Line 152"/>
            <p:cNvSpPr/>
            <p:nvPr/>
          </p:nvSpPr>
          <p:spPr>
            <a:xfrm>
              <a:off x="10744200" y="470535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0" y="0"/>
                  </a:moveTo>
                  <a:lnTo>
                    <a:pt x="0" y="9144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53" name="Rectangle 153"/>
            <p:cNvSpPr/>
            <p:nvPr/>
          </p:nvSpPr>
          <p:spPr>
            <a:xfrm>
              <a:off x="10134600" y="4705350"/>
              <a:ext cx="914400" cy="9144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10234258" y="47815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10539058" y="47815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10843858" y="47815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10234258" y="50863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10541279" y="50863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10846079" y="50863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10234258" y="53911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10541279" y="53911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10846079" y="53911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8262747" y="5457349"/>
              <a:ext cx="9202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{1, −1} 也是群</a:t>
              </a:r>
            </a:p>
          </p:txBody>
        </p:sp>
      </p:grpSp>
      <p:grpSp>
        <p:nvGrpSpPr>
          <p:cNvPr id="171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65" name="Rectangle 16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69" name="Group 169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166" name="Freeform 166"/>
              <p:cNvSpPr/>
              <p:nvPr/>
            </p:nvSpPr>
            <p:spPr>
              <a:xfrm>
                <a:off x="762000" y="5991225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203199" y="0"/>
                    </a:lnTo>
                    <a:cubicBezTo>
                      <a:pt x="217227" y="0"/>
                      <a:pt x="228599" y="11372"/>
                      <a:pt x="228599" y="25400"/>
                    </a:cubicBezTo>
                    <a:lnTo>
                      <a:pt x="228599" y="203199"/>
                    </a:lnTo>
                    <a:cubicBezTo>
                      <a:pt x="228599" y="217227"/>
                      <a:pt x="217227" y="228599"/>
                      <a:pt x="203199" y="228599"/>
                    </a:cubicBez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67" name="Freeform 167"/>
              <p:cNvSpPr/>
              <p:nvPr/>
            </p:nvSpPr>
            <p:spPr>
              <a:xfrm>
                <a:off x="762000" y="6080125"/>
                <a:ext cx="2285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9525">
                    <a:moveTo>
                      <a:pt x="0" y="0"/>
                    </a:moveTo>
                    <a:lnTo>
                      <a:pt x="2285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68" name="Freeform 168"/>
              <p:cNvSpPr/>
              <p:nvPr/>
            </p:nvSpPr>
            <p:spPr>
              <a:xfrm>
                <a:off x="850900" y="5991225"/>
                <a:ext cx="9525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599">
                    <a:moveTo>
                      <a:pt x="0" y="0"/>
                    </a:moveTo>
                    <a:lnTo>
                      <a:pt x="0" y="2285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70" name="TextBox 170"/>
            <p:cNvSpPr txBox="1"/>
            <p:nvPr/>
          </p:nvSpPr>
          <p:spPr>
            <a:xfrm>
              <a:off x="1134618" y="6003608"/>
              <a:ext cx="77910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读群表：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照抄表头的那一行就是单位元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；结果为单位元的格子给出互逆的一对。</a:t>
              </a:r>
            </a:p>
          </p:txBody>
        </p:sp>
      </p:grpSp>
      <p:grpSp>
        <p:nvGrpSpPr>
          <p:cNvPr id="174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72" name="TextBox 172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6745910" cy="960501"/>
            <a:chOff x="456415" y="361950"/>
            <a:chExt cx="6745910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半群与群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68264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单位元与零元：一个“不变”，一个“吞噬”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zero-definition"/>
          <p:cNvGrpSpPr/>
          <p:nvPr/>
        </p:nvGrpSpPr>
        <p:grpSpPr>
          <a:xfrm>
            <a:off x="533400" y="1485900"/>
            <a:ext cx="5257800" cy="1447800"/>
            <a:chOff x="533400" y="1485900"/>
            <a:chExt cx="5257800" cy="14478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257800" cy="1447800"/>
            </a:xfrm>
            <a:prstGeom prst="roundRect">
              <a:avLst>
                <a:gd name="adj" fmla="val 10526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143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8382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316" y="1680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补充定义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60042" y="16735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零元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2045018"/>
              <a:ext cx="3974211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∗ 是集合 S 上的二元代数运算，如果 S 中存在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元素 θ，使得对于 S 中任意元素 a，都有 a ∗ θ = θ，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θ ∗ a = θ，则称 θ 是 S 上关于运算 ∗ 的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零元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1" name="compare-identity"/>
          <p:cNvGrpSpPr/>
          <p:nvPr/>
        </p:nvGrpSpPr>
        <p:grpSpPr>
          <a:xfrm>
            <a:off x="533400" y="3048000"/>
            <a:ext cx="2590800" cy="1066800"/>
            <a:chOff x="533400" y="3048000"/>
            <a:chExt cx="2590800" cy="1066800"/>
          </a:xfrm>
        </p:grpSpPr>
        <p:sp>
          <p:nvSpPr>
            <p:cNvPr id="14" name="Rectangle 14"/>
            <p:cNvSpPr/>
            <p:nvPr/>
          </p:nvSpPr>
          <p:spPr>
            <a:xfrm>
              <a:off x="533400" y="3048000"/>
              <a:ext cx="2590800" cy="1066800"/>
            </a:xfrm>
            <a:prstGeom prst="roundRect">
              <a:avLst>
                <a:gd name="adj" fmla="val 1428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14375" y="3209925"/>
              <a:ext cx="171450" cy="171450"/>
              <a:chOff x="714375" y="3209925"/>
              <a:chExt cx="171450" cy="17145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90575" y="32861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14375" y="32099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983742" y="321659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单位元：保持不变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8942" y="35690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1 ∗ a = a ∗ 1 = 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0466" y="38681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像透明玻璃，谁穿过都不变</a:t>
              </a:r>
            </a:p>
          </p:txBody>
        </p:sp>
      </p:grpSp>
      <p:grpSp>
        <p:nvGrpSpPr>
          <p:cNvPr id="30" name="compare-zero"/>
          <p:cNvGrpSpPr/>
          <p:nvPr/>
        </p:nvGrpSpPr>
        <p:grpSpPr>
          <a:xfrm>
            <a:off x="3200400" y="3048000"/>
            <a:ext cx="2590800" cy="1066800"/>
            <a:chOff x="3200400" y="3048000"/>
            <a:chExt cx="2590800" cy="1066800"/>
          </a:xfrm>
        </p:grpSpPr>
        <p:sp>
          <p:nvSpPr>
            <p:cNvPr id="22" name="Rectangle 22"/>
            <p:cNvSpPr/>
            <p:nvPr/>
          </p:nvSpPr>
          <p:spPr>
            <a:xfrm>
              <a:off x="3200400" y="3048000"/>
              <a:ext cx="2590800" cy="1066800"/>
            </a:xfrm>
            <a:prstGeom prst="roundRect">
              <a:avLst>
                <a:gd name="adj" fmla="val 1428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371039" y="3206761"/>
              <a:ext cx="192114" cy="165051"/>
              <a:chOff x="3371039" y="3206761"/>
              <a:chExt cx="192114" cy="16505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3467100" y="326707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371039" y="320676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467100" y="3333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650742" y="32165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零元：吞掉一切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45942" y="35690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θ ∗ a = a ∗ θ = θ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47466" y="38681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像黑洞，谁碰到都变成它</a:t>
              </a:r>
            </a:p>
          </p:txBody>
        </p:sp>
      </p:grpSp>
      <p:grpSp>
        <p:nvGrpSpPr>
          <p:cNvPr id="51" name="power-set-table"/>
          <p:cNvGrpSpPr/>
          <p:nvPr/>
        </p:nvGrpSpPr>
        <p:grpSpPr>
          <a:xfrm>
            <a:off x="533400" y="4229100"/>
            <a:ext cx="5257800" cy="1485900"/>
            <a:chOff x="533400" y="4229100"/>
            <a:chExt cx="5257800" cy="1485900"/>
          </a:xfrm>
        </p:grpSpPr>
        <p:sp>
          <p:nvSpPr>
            <p:cNvPr id="31" name="Rectangle 31"/>
            <p:cNvSpPr/>
            <p:nvPr/>
          </p:nvSpPr>
          <p:spPr>
            <a:xfrm>
              <a:off x="533400" y="4229100"/>
              <a:ext cx="5257800" cy="1485900"/>
            </a:xfrm>
            <a:prstGeom prst="roundRect">
              <a:avLst>
                <a:gd name="adj" fmla="val 102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7804" y="4366260"/>
              <a:ext cx="25391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例：S 非空，ρ(S) 上的交、并运算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23900" y="4610100"/>
              <a:ext cx="3429000" cy="3429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23900" y="4953000"/>
              <a:ext cx="1143000" cy="6477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866900" y="4953000"/>
              <a:ext cx="2286000" cy="6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723900" y="49530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723900" y="527685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1866900" y="461010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3009900" y="461010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23900" y="4610100"/>
              <a:ext cx="3429000" cy="9906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27760" y="47091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189988" y="47091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单位元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13760" y="47091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零元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36443" y="5042535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 ∩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378735" y="5026342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524564" y="5026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6443" y="5366385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并 ∪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381564" y="53501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∅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521735" y="5350192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338066" y="4687252"/>
              <a:ext cx="944118" cy="10245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普通乘法里：</a:t>
              </a:r>
            </a:p>
            <a:p>
              <a:pPr algn="l">
                <a:lnSpc>
                  <a:spcPts val="1500"/>
                </a:lnSpc>
                <a:spcBef>
                  <a:spcPts val="75"/>
                </a:spcBef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是单位元，</a:t>
              </a:r>
            </a:p>
            <a:p>
              <a:pPr algn="l">
                <a:lnSpc>
                  <a:spcPts val="1500"/>
                </a:lnSpc>
                <a:spcBef>
                  <a:spcPts val="75"/>
                </a:spcBef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是零元</a:t>
              </a:r>
            </a:p>
            <a:p>
              <a:pPr algn="l">
                <a:lnSpc>
                  <a:spcPts val="1500"/>
                </a:lnSpc>
                <a:spcBef>
                  <a:spcPts val="300"/>
                </a:spcBef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单位元必须对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所有元素都成立</a:t>
              </a:r>
            </a:p>
          </p:txBody>
        </p:sp>
      </p:grpSp>
      <p:grpSp>
        <p:nvGrpSpPr>
          <p:cNvPr id="66" name="proof-idempotent"/>
          <p:cNvGrpSpPr/>
          <p:nvPr/>
        </p:nvGrpSpPr>
        <p:grpSpPr>
          <a:xfrm>
            <a:off x="5943600" y="1485900"/>
            <a:ext cx="5715000" cy="1790700"/>
            <a:chOff x="5943600" y="1485900"/>
            <a:chExt cx="5715000" cy="1790700"/>
          </a:xfrm>
        </p:grpSpPr>
        <p:sp>
          <p:nvSpPr>
            <p:cNvPr id="52" name="Rectangle 52"/>
            <p:cNvSpPr/>
            <p:nvPr/>
          </p:nvSpPr>
          <p:spPr>
            <a:xfrm>
              <a:off x="5943600" y="1485900"/>
              <a:ext cx="5715000" cy="1790700"/>
            </a:xfrm>
            <a:prstGeom prst="roundRect">
              <a:avLst>
                <a:gd name="adj" fmla="val 851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96000" y="1638300"/>
              <a:ext cx="47625" cy="1485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324600" y="1619250"/>
              <a:ext cx="8382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97756" y="1680210"/>
              <a:ext cx="691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 · 证明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70242" y="16735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单位元是群中唯一的幂等元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343650" y="20383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11801" y="2086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60642" y="20640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· 1 = 1，所以 1 是幂等元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343650" y="23812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11801" y="2429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60642" y="2406968"/>
              <a:ext cx="2630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x 是幂等元，即 x · x = x，则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324600" y="2667000"/>
              <a:ext cx="5181600" cy="495300"/>
            </a:xfrm>
            <a:prstGeom prst="roundRect">
              <a:avLst>
                <a:gd name="adj" fmla="val 19231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70142" y="2749868"/>
              <a:ext cx="38624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x = 1·x = (x⁻¹·x)·x = x⁻¹·(x·x) = x⁻¹·x = </a:t>
              </a:r>
              <a:r>
                <a:rPr lang="zh-CN" sz="13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72047" y="2980849"/>
              <a:ext cx="41722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依据依次为：单位元 → 逆元 → 结合律 → 幂等 → 逆元（或两边左乘 x⁻¹）</a:t>
              </a:r>
            </a:p>
          </p:txBody>
        </p:sp>
      </p:grpSp>
      <p:grpSp>
        <p:nvGrpSpPr>
          <p:cNvPr id="84" name="proof-no-zero"/>
          <p:cNvGrpSpPr/>
          <p:nvPr/>
        </p:nvGrpSpPr>
        <p:grpSpPr>
          <a:xfrm>
            <a:off x="5943600" y="3390900"/>
            <a:ext cx="5715000" cy="2324100"/>
            <a:chOff x="5943600" y="3390900"/>
            <a:chExt cx="5715000" cy="2324100"/>
          </a:xfrm>
        </p:grpSpPr>
        <p:sp>
          <p:nvSpPr>
            <p:cNvPr id="67" name="Rectangle 67"/>
            <p:cNvSpPr/>
            <p:nvPr/>
          </p:nvSpPr>
          <p:spPr>
            <a:xfrm>
              <a:off x="5943600" y="3390900"/>
              <a:ext cx="5715000" cy="2324100"/>
            </a:xfrm>
            <a:prstGeom prst="roundRect">
              <a:avLst>
                <a:gd name="adj" fmla="val 655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096000" y="3543300"/>
              <a:ext cx="47625" cy="2019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324600" y="3524250"/>
              <a:ext cx="8382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97756" y="3585210"/>
              <a:ext cx="691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 · 证明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270242" y="3578542"/>
              <a:ext cx="2356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群中无零元（设单位元为 1）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343650" y="39624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411801" y="4010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60642" y="3988118"/>
              <a:ext cx="2741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|G| = 1：它的唯一元素视为单位元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662166" y="4249102"/>
              <a:ext cx="3746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（这个元素也满足零元的定义，所以“无零元”针对 |G| &gt; 1）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343650" y="45529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411801" y="4601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660642" y="4578668"/>
              <a:ext cx="4241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|G| &gt; 1，反证：设 θ 是零元。若 θ = 1，任取 x ≠ θ，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660642" y="4826318"/>
              <a:ext cx="1985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x = 1·x = θ·x = θ，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矛盾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343650" y="51435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411801" y="51920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660642" y="5169218"/>
              <a:ext cx="3512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所以 θ ≠ 1，而对任意 x，x·θ = θ·x = θ ≠ 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660642" y="5435918"/>
              <a:ext cx="2549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⇒ θ 没有逆元，与 G 是群矛盾 ∎</a:t>
              </a:r>
            </a:p>
          </p:txBody>
        </p:sp>
      </p:grpSp>
      <p:grpSp>
        <p:nvGrpSpPr>
          <p:cNvPr id="9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5" name="Rectangle 8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1134618" y="6003608"/>
              <a:ext cx="8013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单位元让别人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保持不变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，零元把别人</a:t>
              </a:r>
              <a:r>
                <a:rPr lang="zh-CN" sz="16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变成自己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；元素多于一个的群里容不下零元。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91" name="TextBox 91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-panel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panel-disc"/>
          <p:cNvSpPr/>
          <p:nvPr/>
        </p:nvSpPr>
        <p:spPr>
          <a:xfrm>
            <a:off x="2381250" y="5429250"/>
            <a:ext cx="2857500" cy="2857500"/>
          </a:xfrm>
          <a:prstGeom prst="ellipse">
            <a:avLst/>
          </a:prstGeom>
          <a:solidFill>
            <a:srgbClr val="3F5DB0"/>
          </a:solidFill>
          <a:ln>
            <a:noFill/>
          </a:ln>
        </p:spPr>
      </p:sp>
      <p:sp>
        <p:nvSpPr>
          <p:cNvPr id="4" name="panel-dot"/>
          <p:cNvSpPr/>
          <p:nvPr/>
        </p:nvSpPr>
        <p:spPr>
          <a:xfrm>
            <a:off x="3295650" y="781050"/>
            <a:ext cx="266700" cy="266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1" name="section-title"/>
          <p:cNvGrpSpPr/>
          <p:nvPr/>
        </p:nvGrpSpPr>
        <p:grpSpPr>
          <a:xfrm>
            <a:off x="438150" y="1581150"/>
            <a:ext cx="2991231" cy="3383089"/>
            <a:chOff x="438150" y="1581150"/>
            <a:chExt cx="2991231" cy="3383089"/>
          </a:xfrm>
        </p:grpSpPr>
        <p:sp>
          <p:nvSpPr>
            <p:cNvPr id="5" name="Rectangle 5"/>
            <p:cNvSpPr/>
            <p:nvPr/>
          </p:nvSpPr>
          <p:spPr>
            <a:xfrm>
              <a:off x="533400" y="1581150"/>
              <a:ext cx="2209800" cy="323850"/>
            </a:xfrm>
            <a:prstGeom prst="roundRect">
              <a:avLst>
                <a:gd name="adj" fmla="val 50000"/>
              </a:avLst>
            </a:prstGeom>
            <a:solidFill>
              <a:srgbClr val="3F5DB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3115" y="167068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6.2 群的定义 · 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8150" y="21336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5112" y="37261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群的性质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4343400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018" y="46415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DF8"/>
                  </a:solidFill>
                  <a:latin typeface="+mn-lt"/>
                  <a:ea typeface="+mn-ea"/>
                  <a:cs typeface="+mn-cs"/>
                </a:rPr>
                <a:t>有了逆元，就能消去、解方程</a:t>
              </a:r>
            </a:p>
          </p:txBody>
        </p:sp>
      </p:grpSp>
      <p:grpSp>
        <p:nvGrpSpPr>
          <p:cNvPr id="53" name="group-compute"/>
          <p:cNvGrpSpPr/>
          <p:nvPr/>
        </p:nvGrpSpPr>
        <p:grpSpPr>
          <a:xfrm>
            <a:off x="4381500" y="800100"/>
            <a:ext cx="7277100" cy="2400300"/>
            <a:chOff x="4381500" y="800100"/>
            <a:chExt cx="7277100" cy="2400300"/>
          </a:xfrm>
        </p:grpSpPr>
        <p:sp>
          <p:nvSpPr>
            <p:cNvPr id="12" name="Rectangle 12"/>
            <p:cNvSpPr/>
            <p:nvPr/>
          </p:nvSpPr>
          <p:spPr>
            <a:xfrm>
              <a:off x="4381500" y="800100"/>
              <a:ext cx="57150" cy="209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45330" y="81915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在群里计算：放心使用的四个结论</a:t>
              </a:r>
            </a:p>
          </p:txBody>
        </p:sp>
        <p:grpSp>
          <p:nvGrpSpPr>
            <p:cNvPr id="22" name="badge-unique"/>
            <p:cNvGrpSpPr/>
            <p:nvPr/>
          </p:nvGrpSpPr>
          <p:grpSpPr>
            <a:xfrm>
              <a:off x="4381500" y="1123950"/>
              <a:ext cx="3524250" cy="990600"/>
              <a:chOff x="4381500" y="1123950"/>
              <a:chExt cx="3524250" cy="9906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381500" y="1123950"/>
                <a:ext cx="3524250" cy="990600"/>
              </a:xfrm>
              <a:prstGeom prst="roundRect">
                <a:avLst>
                  <a:gd name="adj" fmla="val 15385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4552950" y="1409700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4662488" y="1519238"/>
                <a:ext cx="200026" cy="200026"/>
                <a:chOff x="4662488" y="1519238"/>
                <a:chExt cx="200026" cy="200026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4751388" y="1608138"/>
                  <a:ext cx="222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22225">
                      <a:moveTo>
                        <a:pt x="0" y="11113"/>
                      </a:moveTo>
                      <a:cubicBezTo>
                        <a:pt x="0" y="17250"/>
                        <a:pt x="4975" y="22225"/>
                        <a:pt x="11113" y="22225"/>
                      </a:cubicBezTo>
                      <a:cubicBezTo>
                        <a:pt x="17250" y="22225"/>
                        <a:pt x="22225" y="17250"/>
                        <a:pt x="22225" y="11113"/>
                      </a:cubicBezTo>
                      <a:cubicBezTo>
                        <a:pt x="22225" y="4975"/>
                        <a:pt x="17250" y="0"/>
                        <a:pt x="11113" y="0"/>
                      </a:cubicBezTo>
                      <a:cubicBezTo>
                        <a:pt x="4975" y="0"/>
                        <a:pt x="0" y="4975"/>
                        <a:pt x="0" y="11113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4662488" y="1519238"/>
                  <a:ext cx="200026" cy="200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200026">
                      <a:moveTo>
                        <a:pt x="0" y="100013"/>
                      </a:moveTo>
                      <a:cubicBezTo>
                        <a:pt x="0" y="155248"/>
                        <a:pt x="44777" y="200026"/>
                        <a:pt x="100013" y="200026"/>
                      </a:cubicBezTo>
                      <a:cubicBezTo>
                        <a:pt x="155248" y="200026"/>
                        <a:pt x="200026" y="155248"/>
                        <a:pt x="200026" y="100013"/>
                      </a:cubicBezTo>
                      <a:cubicBezTo>
                        <a:pt x="200026" y="44777"/>
                        <a:pt x="155248" y="0"/>
                        <a:pt x="100013" y="0"/>
                      </a:cubicBezTo>
                      <a:cubicBezTo>
                        <a:pt x="44777" y="0"/>
                        <a:pt x="0" y="44777"/>
                        <a:pt x="0" y="100013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5097780" y="1304925"/>
                <a:ext cx="20118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唯一性（定理6.2.1）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098542" y="1606868"/>
                <a:ext cx="22127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单位元 1、逆元 a⁻¹ 都唯一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100066" y="1867852"/>
                <a:ext cx="11768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记号 a⁻¹ 才有意义</a:t>
                </a:r>
              </a:p>
            </p:txBody>
          </p:sp>
        </p:grpSp>
        <p:grpSp>
          <p:nvGrpSpPr>
            <p:cNvPr id="31" name="badge-inverse"/>
            <p:cNvGrpSpPr/>
            <p:nvPr/>
          </p:nvGrpSpPr>
          <p:grpSpPr>
            <a:xfrm>
              <a:off x="8134350" y="1123950"/>
              <a:ext cx="3524250" cy="990600"/>
              <a:chOff x="8134350" y="1123950"/>
              <a:chExt cx="3524250" cy="9906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8134350" y="1123950"/>
                <a:ext cx="3524250" cy="990600"/>
              </a:xfrm>
              <a:prstGeom prst="roundRect">
                <a:avLst>
                  <a:gd name="adj" fmla="val 15385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8305800" y="1409700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8437563" y="1552575"/>
                <a:ext cx="166688" cy="133350"/>
                <a:chOff x="8437563" y="1552575"/>
                <a:chExt cx="166688" cy="13335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8437563" y="1552575"/>
                  <a:ext cx="444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88900">
                      <a:moveTo>
                        <a:pt x="44450" y="88900"/>
                      </a:moveTo>
                      <a:lnTo>
                        <a:pt x="0" y="44450"/>
                      </a:ln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8437563" y="1597025"/>
                  <a:ext cx="16668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88900">
                      <a:moveTo>
                        <a:pt x="0" y="0"/>
                      </a:moveTo>
                      <a:lnTo>
                        <a:pt x="122238" y="0"/>
                      </a:lnTo>
                      <a:cubicBezTo>
                        <a:pt x="146787" y="0"/>
                        <a:pt x="166688" y="19901"/>
                        <a:pt x="166688" y="44450"/>
                      </a:cubicBezTo>
                      <a:cubicBezTo>
                        <a:pt x="166688" y="68999"/>
                        <a:pt x="146787" y="88900"/>
                        <a:pt x="122238" y="88900"/>
                      </a:cubicBezTo>
                      <a:lnTo>
                        <a:pt x="111125" y="8890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8850630" y="130492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逆元公式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851392" y="1606868"/>
                <a:ext cx="16220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(a·b)⁻¹ = b⁻¹·a⁻¹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852916" y="18678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撤销要倒着来</a:t>
                </a:r>
              </a:p>
            </p:txBody>
          </p:sp>
        </p:grpSp>
        <p:grpSp>
          <p:nvGrpSpPr>
            <p:cNvPr id="43" name="badge-cancel"/>
            <p:cNvGrpSpPr/>
            <p:nvPr/>
          </p:nvGrpSpPr>
          <p:grpSpPr>
            <a:xfrm>
              <a:off x="4381500" y="2209800"/>
              <a:ext cx="3524250" cy="990600"/>
              <a:chOff x="4381500" y="2209800"/>
              <a:chExt cx="3524250" cy="9906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4381500" y="2209800"/>
                <a:ext cx="3524250" cy="990600"/>
              </a:xfrm>
              <a:prstGeom prst="roundRect">
                <a:avLst>
                  <a:gd name="adj" fmla="val 15385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4552950" y="2495550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4662488" y="2605088"/>
                <a:ext cx="200025" cy="198438"/>
                <a:chOff x="4662488" y="2605088"/>
                <a:chExt cx="200025" cy="198438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4706938" y="2794001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695825" y="2627313"/>
                  <a:ext cx="133350" cy="11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1113">
                      <a:moveTo>
                        <a:pt x="0" y="11113"/>
                      </a:moveTo>
                      <a:lnTo>
                        <a:pt x="66675" y="0"/>
                      </a:lnTo>
                      <a:lnTo>
                        <a:pt x="133350" y="11113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762500" y="2605088"/>
                  <a:ext cx="9525" cy="188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88913">
                      <a:moveTo>
                        <a:pt x="0" y="0"/>
                      </a:moveTo>
                      <a:lnTo>
                        <a:pt x="0" y="188913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662488" y="2638425"/>
                  <a:ext cx="66675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00013">
                      <a:moveTo>
                        <a:pt x="66675" y="66675"/>
                      </a:moveTo>
                      <a:lnTo>
                        <a:pt x="33338" y="0"/>
                      </a:lnTo>
                      <a:lnTo>
                        <a:pt x="0" y="66675"/>
                      </a:lnTo>
                      <a:cubicBezTo>
                        <a:pt x="0" y="85087"/>
                        <a:pt x="14926" y="100013"/>
                        <a:pt x="33338" y="100013"/>
                      </a:cubicBezTo>
                      <a:cubicBezTo>
                        <a:pt x="51749" y="100013"/>
                        <a:pt x="66675" y="85087"/>
                        <a:pt x="66675" y="6667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4795838" y="2638425"/>
                  <a:ext cx="66675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00013">
                      <a:moveTo>
                        <a:pt x="66675" y="66675"/>
                      </a:moveTo>
                      <a:lnTo>
                        <a:pt x="33338" y="0"/>
                      </a:lnTo>
                      <a:lnTo>
                        <a:pt x="0" y="66675"/>
                      </a:lnTo>
                      <a:cubicBezTo>
                        <a:pt x="0" y="85087"/>
                        <a:pt x="14926" y="100013"/>
                        <a:pt x="33338" y="100013"/>
                      </a:cubicBezTo>
                      <a:cubicBezTo>
                        <a:pt x="51749" y="100013"/>
                        <a:pt x="66675" y="85087"/>
                        <a:pt x="66675" y="6667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5097780" y="239077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消去律与解方程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098542" y="2692718"/>
                <a:ext cx="16402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a·x = b ⇒ x = a⁻¹·b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100066" y="295370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左乘还是右乘，不能混</a:t>
                </a:r>
              </a:p>
            </p:txBody>
          </p:sp>
        </p:grpSp>
        <p:grpSp>
          <p:nvGrpSpPr>
            <p:cNvPr id="52" name="badge-power"/>
            <p:cNvGrpSpPr/>
            <p:nvPr/>
          </p:nvGrpSpPr>
          <p:grpSpPr>
            <a:xfrm>
              <a:off x="8134350" y="2209800"/>
              <a:ext cx="3524250" cy="990600"/>
              <a:chOff x="8134350" y="2209800"/>
              <a:chExt cx="3524250" cy="9906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8134350" y="2209800"/>
                <a:ext cx="3524250" cy="990600"/>
              </a:xfrm>
              <a:prstGeom prst="roundRect">
                <a:avLst>
                  <a:gd name="adj" fmla="val 15385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8305800" y="2495550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8426450" y="2605088"/>
                <a:ext cx="177801" cy="200025"/>
                <a:chOff x="8426450" y="2605088"/>
                <a:chExt cx="177801" cy="200025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8426450" y="2605088"/>
                  <a:ext cx="177801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1" h="100013">
                      <a:moveTo>
                        <a:pt x="0" y="100013"/>
                      </a:moveTo>
                      <a:lnTo>
                        <a:pt x="0" y="66675"/>
                      </a:lnTo>
                      <a:cubicBezTo>
                        <a:pt x="0" y="48263"/>
                        <a:pt x="14926" y="33338"/>
                        <a:pt x="33338" y="33338"/>
                      </a:cubicBezTo>
                      <a:lnTo>
                        <a:pt x="177801" y="33338"/>
                      </a:lnTo>
                      <a:moveTo>
                        <a:pt x="144463" y="0"/>
                      </a:moveTo>
                      <a:lnTo>
                        <a:pt x="177801" y="33338"/>
                      </a:lnTo>
                      <a:lnTo>
                        <a:pt x="144463" y="66675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8426450" y="2705100"/>
                  <a:ext cx="177801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1" h="100013">
                      <a:moveTo>
                        <a:pt x="177801" y="0"/>
                      </a:moveTo>
                      <a:lnTo>
                        <a:pt x="177801" y="33338"/>
                      </a:lnTo>
                      <a:cubicBezTo>
                        <a:pt x="177801" y="51749"/>
                        <a:pt x="162875" y="66675"/>
                        <a:pt x="144463" y="66675"/>
                      </a:cubicBezTo>
                      <a:lnTo>
                        <a:pt x="0" y="66675"/>
                      </a:lnTo>
                      <a:moveTo>
                        <a:pt x="33338" y="100013"/>
                      </a:moveTo>
                      <a:lnTo>
                        <a:pt x="0" y="66675"/>
                      </a:lnTo>
                      <a:lnTo>
                        <a:pt x="33338" y="33338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8850630" y="2390775"/>
                <a:ext cx="20118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指数律（定理6.2.4）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851392" y="2692718"/>
                <a:ext cx="23126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aᵐ·aⁿ = aᵐ⁺ⁿ，(aᵐ)ⁿ = aᵐⁿ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852916" y="295370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长乘积可以任意加括号</a:t>
                </a:r>
              </a:p>
            </p:txBody>
          </p:sp>
        </p:grpSp>
      </p:grpSp>
      <p:grpSp>
        <p:nvGrpSpPr>
          <p:cNvPr id="95" name="group-judge"/>
          <p:cNvGrpSpPr/>
          <p:nvPr/>
        </p:nvGrpSpPr>
        <p:grpSpPr>
          <a:xfrm>
            <a:off x="4381500" y="3333750"/>
            <a:ext cx="7277100" cy="2400300"/>
            <a:chOff x="4381500" y="3333750"/>
            <a:chExt cx="7277100" cy="2400300"/>
          </a:xfrm>
        </p:grpSpPr>
        <p:sp>
          <p:nvSpPr>
            <p:cNvPr id="54" name="Rectangle 54"/>
            <p:cNvSpPr/>
            <p:nvPr/>
          </p:nvSpPr>
          <p:spPr>
            <a:xfrm>
              <a:off x="4381500" y="3333750"/>
              <a:ext cx="57150" cy="209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545330" y="335280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判定群：更省力的四件新工具</a:t>
              </a:r>
            </a:p>
          </p:txBody>
        </p:sp>
        <p:grpSp>
          <p:nvGrpSpPr>
            <p:cNvPr id="65" name="badge-left"/>
            <p:cNvGrpSpPr/>
            <p:nvPr/>
          </p:nvGrpSpPr>
          <p:grpSpPr>
            <a:xfrm>
              <a:off x="4381500" y="3657600"/>
              <a:ext cx="3524250" cy="990600"/>
              <a:chOff x="4381500" y="3657600"/>
              <a:chExt cx="3524250" cy="9906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4381500" y="3657600"/>
                <a:ext cx="3524250" cy="990600"/>
              </a:xfrm>
              <a:prstGeom prst="roundRect">
                <a:avLst>
                  <a:gd name="adj" fmla="val 15385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4552950" y="3943350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61" name="Group 61"/>
              <p:cNvGrpSpPr/>
              <p:nvPr/>
            </p:nvGrpSpPr>
            <p:grpSpPr>
              <a:xfrm>
                <a:off x="4662488" y="4052888"/>
                <a:ext cx="200025" cy="200025"/>
                <a:chOff x="4662488" y="4052888"/>
                <a:chExt cx="200025" cy="200025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4662488" y="4208463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4818063" y="405288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22225" y="44450"/>
                      </a:move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  <a:cubicBezTo>
                        <a:pt x="0" y="34500"/>
                        <a:pt x="9950" y="44450"/>
                        <a:pt x="22225" y="44450"/>
                      </a:cubicBez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4684713" y="4075113"/>
                  <a:ext cx="166688" cy="15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155575">
                      <a:moveTo>
                        <a:pt x="66675" y="155575"/>
                      </a:moveTo>
                      <a:lnTo>
                        <a:pt x="127794" y="155575"/>
                      </a:lnTo>
                      <a:cubicBezTo>
                        <a:pt x="149275" y="155575"/>
                        <a:pt x="166688" y="138162"/>
                        <a:pt x="166688" y="116682"/>
                      </a:cubicBezTo>
                      <a:cubicBezTo>
                        <a:pt x="166688" y="95201"/>
                        <a:pt x="149275" y="77788"/>
                        <a:pt x="127794" y="77788"/>
                      </a:cubicBezTo>
                      <a:lnTo>
                        <a:pt x="38894" y="77788"/>
                      </a:lnTo>
                      <a:cubicBezTo>
                        <a:pt x="17413" y="77788"/>
                        <a:pt x="0" y="60374"/>
                        <a:pt x="0" y="38894"/>
                      </a:cubicBezTo>
                      <a:cubicBezTo>
                        <a:pt x="0" y="17413"/>
                        <a:pt x="17413" y="0"/>
                        <a:pt x="38894" y="0"/>
                      </a:cubicBezTo>
                      <a:lnTo>
                        <a:pt x="88900" y="0"/>
                      </a:ln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5097780" y="3838575"/>
                <a:ext cx="245758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左壹 + 左逆（定理6.2.2）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5098542" y="4140518"/>
                <a:ext cx="16130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1·a = a，a⁻¹·a = 1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5100066" y="4401502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只验一边就够（方向要一致）</a:t>
                </a:r>
              </a:p>
            </p:txBody>
          </p:sp>
        </p:grpSp>
        <p:grpSp>
          <p:nvGrpSpPr>
            <p:cNvPr id="72" name="badge-divide"/>
            <p:cNvGrpSpPr/>
            <p:nvPr/>
          </p:nvGrpSpPr>
          <p:grpSpPr>
            <a:xfrm>
              <a:off x="8134350" y="3657600"/>
              <a:ext cx="3524250" cy="990600"/>
              <a:chOff x="8134350" y="3657600"/>
              <a:chExt cx="3524250" cy="9906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8134350" y="3657600"/>
                <a:ext cx="3524250" cy="990600"/>
              </a:xfrm>
              <a:prstGeom prst="roundRect">
                <a:avLst>
                  <a:gd name="adj" fmla="val 15385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8305800" y="3943350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415338" y="40528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11113" y="44450"/>
                    </a:moveTo>
                    <a:lnTo>
                      <a:pt x="44450" y="44450"/>
                    </a:lnTo>
                    <a:cubicBezTo>
                      <a:pt x="50587" y="44450"/>
                      <a:pt x="55563" y="39475"/>
                      <a:pt x="55563" y="33338"/>
                    </a:cubicBezTo>
                    <a:lnTo>
                      <a:pt x="55563" y="22225"/>
                    </a:lnTo>
                    <a:cubicBezTo>
                      <a:pt x="55563" y="9950"/>
                      <a:pt x="65513" y="0"/>
                      <a:pt x="77788" y="0"/>
                    </a:cubicBezTo>
                    <a:cubicBezTo>
                      <a:pt x="90062" y="0"/>
                      <a:pt x="100013" y="9950"/>
                      <a:pt x="100013" y="22225"/>
                    </a:cubicBezTo>
                    <a:lnTo>
                      <a:pt x="100013" y="33338"/>
                    </a:lnTo>
                    <a:cubicBezTo>
                      <a:pt x="100013" y="39475"/>
                      <a:pt x="104988" y="44450"/>
                      <a:pt x="111125" y="44450"/>
                    </a:cubicBezTo>
                    <a:lnTo>
                      <a:pt x="144463" y="44450"/>
                    </a:lnTo>
                    <a:cubicBezTo>
                      <a:pt x="150600" y="44450"/>
                      <a:pt x="155575" y="49425"/>
                      <a:pt x="155575" y="55563"/>
                    </a:cubicBezTo>
                    <a:lnTo>
                      <a:pt x="155575" y="88900"/>
                    </a:lnTo>
                    <a:cubicBezTo>
                      <a:pt x="155575" y="95038"/>
                      <a:pt x="160551" y="100013"/>
                      <a:pt x="166688" y="100013"/>
                    </a:cubicBezTo>
                    <a:lnTo>
                      <a:pt x="177801" y="100013"/>
                    </a:lnTo>
                    <a:cubicBezTo>
                      <a:pt x="190075" y="100013"/>
                      <a:pt x="200026" y="109963"/>
                      <a:pt x="200026" y="122238"/>
                    </a:cubicBezTo>
                    <a:cubicBezTo>
                      <a:pt x="200026" y="134512"/>
                      <a:pt x="190075" y="144463"/>
                      <a:pt x="177801" y="144463"/>
                    </a:cubicBezTo>
                    <a:lnTo>
                      <a:pt x="166688" y="144463"/>
                    </a:lnTo>
                    <a:cubicBezTo>
                      <a:pt x="160551" y="144463"/>
                      <a:pt x="155575" y="149438"/>
                      <a:pt x="155575" y="155575"/>
                    </a:cubicBezTo>
                    <a:lnTo>
                      <a:pt x="155575" y="188913"/>
                    </a:lnTo>
                    <a:cubicBezTo>
                      <a:pt x="155575" y="195050"/>
                      <a:pt x="150600" y="200026"/>
                      <a:pt x="144463" y="200026"/>
                    </a:cubicBezTo>
                    <a:lnTo>
                      <a:pt x="111125" y="200026"/>
                    </a:lnTo>
                    <a:cubicBezTo>
                      <a:pt x="104988" y="200026"/>
                      <a:pt x="100013" y="195050"/>
                      <a:pt x="100013" y="188913"/>
                    </a:cubicBezTo>
                    <a:lnTo>
                      <a:pt x="100013" y="177801"/>
                    </a:lnTo>
                    <a:cubicBezTo>
                      <a:pt x="100013" y="165526"/>
                      <a:pt x="90062" y="155575"/>
                      <a:pt x="77788" y="155575"/>
                    </a:cubicBezTo>
                    <a:cubicBezTo>
                      <a:pt x="65513" y="155575"/>
                      <a:pt x="55563" y="165526"/>
                      <a:pt x="55563" y="177801"/>
                    </a:cubicBezTo>
                    <a:lnTo>
                      <a:pt x="55563" y="188913"/>
                    </a:lnTo>
                    <a:cubicBezTo>
                      <a:pt x="55563" y="195050"/>
                      <a:pt x="50587" y="200026"/>
                      <a:pt x="44450" y="200026"/>
                    </a:cubicBezTo>
                    <a:lnTo>
                      <a:pt x="11113" y="200026"/>
                    </a:lnTo>
                    <a:cubicBezTo>
                      <a:pt x="4975" y="200026"/>
                      <a:pt x="0" y="195050"/>
                      <a:pt x="0" y="188913"/>
                    </a:cubicBezTo>
                    <a:lnTo>
                      <a:pt x="0" y="155575"/>
                    </a:lnTo>
                    <a:cubicBezTo>
                      <a:pt x="0" y="149438"/>
                      <a:pt x="4975" y="144463"/>
                      <a:pt x="11113" y="144463"/>
                    </a:cubicBezTo>
                    <a:lnTo>
                      <a:pt x="22225" y="144463"/>
                    </a:lnTo>
                    <a:cubicBezTo>
                      <a:pt x="34500" y="144463"/>
                      <a:pt x="44450" y="134512"/>
                      <a:pt x="44450" y="122238"/>
                    </a:cubicBezTo>
                    <a:cubicBezTo>
                      <a:pt x="44450" y="109963"/>
                      <a:pt x="34500" y="100013"/>
                      <a:pt x="22225" y="100013"/>
                    </a:cubicBezTo>
                    <a:lnTo>
                      <a:pt x="11113" y="100013"/>
                    </a:lnTo>
                    <a:cubicBezTo>
                      <a:pt x="4975" y="100013"/>
                      <a:pt x="0" y="95038"/>
                      <a:pt x="0" y="88900"/>
                    </a:cubicBezTo>
                    <a:lnTo>
                      <a:pt x="0" y="55563"/>
                    </a:lnTo>
                    <a:cubicBezTo>
                      <a:pt x="0" y="49425"/>
                      <a:pt x="4975" y="44450"/>
                      <a:pt x="11113" y="44450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8850630" y="3838575"/>
                <a:ext cx="22137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可除条件（定理6.2.3）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851392" y="414051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x·a = b、a·y = b 都有解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852916" y="4401502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有限时：表中每行每列无重复</a:t>
                </a:r>
              </a:p>
            </p:txBody>
          </p:sp>
        </p:grpSp>
        <p:grpSp>
          <p:nvGrpSpPr>
            <p:cNvPr id="85" name="badge-finite"/>
            <p:cNvGrpSpPr/>
            <p:nvPr/>
          </p:nvGrpSpPr>
          <p:grpSpPr>
            <a:xfrm>
              <a:off x="4381500" y="4743450"/>
              <a:ext cx="3524250" cy="990600"/>
              <a:chOff x="4381500" y="4743450"/>
              <a:chExt cx="3524250" cy="9906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4381500" y="4743450"/>
                <a:ext cx="3524250" cy="990600"/>
              </a:xfrm>
              <a:prstGeom prst="roundRect">
                <a:avLst>
                  <a:gd name="adj" fmla="val 15385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4552950" y="5029200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81" name="Group 81"/>
              <p:cNvGrpSpPr/>
              <p:nvPr/>
            </p:nvGrpSpPr>
            <p:grpSpPr>
              <a:xfrm>
                <a:off x="4668044" y="5155406"/>
                <a:ext cx="183357" cy="161132"/>
                <a:chOff x="4668044" y="5155406"/>
                <a:chExt cx="183357" cy="161132"/>
              </a:xfrm>
            </p:grpSpPr>
            <p:sp>
              <p:nvSpPr>
                <p:cNvPr id="75" name="Freeform 75"/>
                <p:cNvSpPr/>
                <p:nvPr/>
              </p:nvSpPr>
              <p:spPr>
                <a:xfrm>
                  <a:off x="4668044" y="5155406"/>
                  <a:ext cx="44450" cy="27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27781">
                      <a:moveTo>
                        <a:pt x="0" y="11113"/>
                      </a:moveTo>
                      <a:lnTo>
                        <a:pt x="16669" y="27781"/>
                      </a:ln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4668044" y="5222082"/>
                  <a:ext cx="44450" cy="27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27781">
                      <a:moveTo>
                        <a:pt x="0" y="11113"/>
                      </a:moveTo>
                      <a:lnTo>
                        <a:pt x="16669" y="27781"/>
                      </a:ln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4668044" y="5288757"/>
                  <a:ext cx="44450" cy="27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27781">
                      <a:moveTo>
                        <a:pt x="0" y="11113"/>
                      </a:moveTo>
                      <a:lnTo>
                        <a:pt x="16669" y="27781"/>
                      </a:ln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4751388" y="5172075"/>
                  <a:ext cx="10001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3" h="9525">
                      <a:moveTo>
                        <a:pt x="0" y="0"/>
                      </a:moveTo>
                      <a:lnTo>
                        <a:pt x="100013" y="0"/>
                      </a:ln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  <p:sp>
              <p:nvSpPr>
                <p:cNvPr id="79" name="Freeform 79"/>
                <p:cNvSpPr/>
                <p:nvPr/>
              </p:nvSpPr>
              <p:spPr>
                <a:xfrm>
                  <a:off x="4751388" y="5238750"/>
                  <a:ext cx="10001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3" h="9525">
                      <a:moveTo>
                        <a:pt x="0" y="0"/>
                      </a:moveTo>
                      <a:lnTo>
                        <a:pt x="100013" y="0"/>
                      </a:ln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  <p:sp>
              <p:nvSpPr>
                <p:cNvPr id="80" name="Freeform 80"/>
                <p:cNvSpPr/>
                <p:nvPr/>
              </p:nvSpPr>
              <p:spPr>
                <a:xfrm>
                  <a:off x="4751388" y="5305426"/>
                  <a:ext cx="10001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3" h="9525">
                      <a:moveTo>
                        <a:pt x="0" y="0"/>
                      </a:moveTo>
                      <a:lnTo>
                        <a:pt x="100013" y="0"/>
                      </a:ln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</p:grpSp>
          <p:sp>
            <p:nvSpPr>
              <p:cNvPr id="82" name="TextBox 82"/>
              <p:cNvSpPr txBox="1"/>
              <p:nvPr/>
            </p:nvSpPr>
            <p:spPr>
              <a:xfrm>
                <a:off x="5097780" y="4924425"/>
                <a:ext cx="12687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有限 + 消去律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5098542" y="5226368"/>
                <a:ext cx="20400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有限半群满足消去律 ⇒ 群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5100066" y="5487352"/>
                <a:ext cx="169274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习题6.2-2 · 无限时不成立</a:t>
                </a:r>
              </a:p>
            </p:txBody>
          </p:sp>
        </p:grpSp>
        <p:grpSp>
          <p:nvGrpSpPr>
            <p:cNvPr id="94" name="badge-abel"/>
            <p:cNvGrpSpPr/>
            <p:nvPr/>
          </p:nvGrpSpPr>
          <p:grpSpPr>
            <a:xfrm>
              <a:off x="8134350" y="4743450"/>
              <a:ext cx="3524250" cy="990600"/>
              <a:chOff x="8134350" y="4743450"/>
              <a:chExt cx="3524250" cy="99060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8134350" y="4743450"/>
                <a:ext cx="3524250" cy="990600"/>
              </a:xfrm>
              <a:prstGeom prst="roundRect">
                <a:avLst>
                  <a:gd name="adj" fmla="val 15385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8305800" y="5029200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90" name="Group 90"/>
              <p:cNvGrpSpPr/>
              <p:nvPr/>
            </p:nvGrpSpPr>
            <p:grpSpPr>
              <a:xfrm>
                <a:off x="8415338" y="5172075"/>
                <a:ext cx="200025" cy="133350"/>
                <a:chOff x="8415338" y="5172075"/>
                <a:chExt cx="200025" cy="133350"/>
              </a:xfrm>
            </p:grpSpPr>
            <p:sp>
              <p:nvSpPr>
                <p:cNvPr id="88" name="Freeform 88"/>
                <p:cNvSpPr/>
                <p:nvPr/>
              </p:nvSpPr>
              <p:spPr>
                <a:xfrm>
                  <a:off x="8459788" y="5172075"/>
                  <a:ext cx="1555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44450">
                      <a:moveTo>
                        <a:pt x="0" y="44450"/>
                      </a:moveTo>
                      <a:lnTo>
                        <a:pt x="155575" y="44450"/>
                      </a:lnTo>
                      <a:lnTo>
                        <a:pt x="111125" y="0"/>
                      </a:ln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  <p:sp>
              <p:nvSpPr>
                <p:cNvPr id="89" name="Freeform 89"/>
                <p:cNvSpPr/>
                <p:nvPr/>
              </p:nvSpPr>
              <p:spPr>
                <a:xfrm>
                  <a:off x="8415338" y="5260975"/>
                  <a:ext cx="1555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44450">
                      <a:moveTo>
                        <a:pt x="155575" y="0"/>
                      </a:moveTo>
                      <a:lnTo>
                        <a:pt x="0" y="0"/>
                      </a:lnTo>
                      <a:lnTo>
                        <a:pt x="44450" y="44450"/>
                      </a:ln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</p:grpSp>
          <p:sp>
            <p:nvSpPr>
              <p:cNvPr id="91" name="TextBox 91"/>
              <p:cNvSpPr txBox="1"/>
              <p:nvPr/>
            </p:nvSpPr>
            <p:spPr>
              <a:xfrm>
                <a:off x="8850630" y="4924425"/>
                <a:ext cx="209177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Abel 群（定理6.2.5）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8851392" y="5226368"/>
                <a:ext cx="8224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a·b = b·a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8852916" y="548735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乘积的因子可任意换序</a:t>
                </a:r>
              </a:p>
            </p:txBody>
          </p:sp>
        </p:grpSp>
      </p:grpSp>
      <p:grpSp>
        <p:nvGrpSpPr>
          <p:cNvPr id="105" name="method-tip"/>
          <p:cNvGrpSpPr/>
          <p:nvPr/>
        </p:nvGrpSpPr>
        <p:grpSpPr>
          <a:xfrm>
            <a:off x="4381500" y="5867400"/>
            <a:ext cx="7277100" cy="533400"/>
            <a:chOff x="4381500" y="5867400"/>
            <a:chExt cx="7277100" cy="533400"/>
          </a:xfrm>
        </p:grpSpPr>
        <p:sp>
          <p:nvSpPr>
            <p:cNvPr id="96" name="Rectangle 96"/>
            <p:cNvSpPr/>
            <p:nvPr/>
          </p:nvSpPr>
          <p:spPr>
            <a:xfrm>
              <a:off x="4381500" y="5867400"/>
              <a:ext cx="7277100" cy="5334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4616450" y="6038850"/>
              <a:ext cx="209550" cy="184149"/>
              <a:chOff x="4616450" y="6038850"/>
              <a:chExt cx="209550" cy="184149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4616450" y="6038850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4616450" y="6115050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4616450" y="6191249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4711700" y="60579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4711700" y="61341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4711700" y="6210299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5002530" y="6038850"/>
              <a:ext cx="47853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逐条拆解：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定理 → 带依据的证明步骤 → 例题 → 易错点</a:t>
              </a:r>
            </a:p>
          </p:txBody>
        </p:sp>
      </p:grpSp>
      <p:sp>
        <p:nvSpPr>
          <p:cNvPr id="106" name="TextBox 106"/>
          <p:cNvSpPr txBox="1"/>
          <p:nvPr/>
        </p:nvSpPr>
        <p:spPr>
          <a:xfrm>
            <a:off x="528066" y="6573202"/>
            <a:ext cx="16940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DF8"/>
                </a:solidFill>
                <a:latin typeface="+mn-lt"/>
                <a:ea typeface="+mn-ea"/>
                <a:cs typeface="+mn-cs"/>
              </a:rPr>
              <a:t>离散数学II · 6.2 群的定义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5542811" cy="960501"/>
            <a:chOff x="456415" y="361950"/>
            <a:chExt cx="5542811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群的性质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4795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唯一性与逆元公式：撤销要倒着来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theorem"/>
          <p:cNvGrpSpPr/>
          <p:nvPr/>
        </p:nvGrpSpPr>
        <p:grpSpPr>
          <a:xfrm>
            <a:off x="533400" y="1485900"/>
            <a:ext cx="11125200" cy="1066800"/>
            <a:chOff x="533400" y="1485900"/>
            <a:chExt cx="11125200" cy="10668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1066800"/>
            </a:xfrm>
            <a:prstGeom prst="roundRect">
              <a:avLst>
                <a:gd name="adj" fmla="val 14286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762000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433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6.2.1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1680" y="1657350"/>
              <a:ext cx="60068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(G, ·) 是一个群，则 G 中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恰有一个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元素 1 适合 1·a = a·1 = a，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1971675"/>
              <a:ext cx="54774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而且对于任意 a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恰有一个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元素 a⁻¹ 适合 a·a⁻¹ = a⁻¹·a = 1。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8304" y="2289810"/>
              <a:ext cx="67808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即：群的单位元素是唯一的；群中任意元素的逆也是唯一的——所以记号 1、a⁻¹ 才有明确含义。</a:t>
              </a:r>
            </a:p>
          </p:txBody>
        </p:sp>
      </p:grpSp>
      <p:grpSp>
        <p:nvGrpSpPr>
          <p:cNvPr id="58" name="proof"/>
          <p:cNvGrpSpPr/>
          <p:nvPr/>
        </p:nvGrpSpPr>
        <p:grpSpPr>
          <a:xfrm>
            <a:off x="533400" y="2667000"/>
            <a:ext cx="5562600" cy="3048000"/>
            <a:chOff x="533400" y="2667000"/>
            <a:chExt cx="5562600" cy="3048000"/>
          </a:xfrm>
        </p:grpSpPr>
        <p:sp>
          <p:nvSpPr>
            <p:cNvPr id="15" name="Rectangle 15"/>
            <p:cNvSpPr/>
            <p:nvPr/>
          </p:nvSpPr>
          <p:spPr>
            <a:xfrm>
              <a:off x="533400" y="2667000"/>
              <a:ext cx="5562600" cy="3048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85800" y="2819400"/>
              <a:ext cx="47625" cy="2743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14400" y="28003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1560" y="2861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32204" y="287083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每个等号下面标出依据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914400" y="31813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2551" y="3229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12342" y="3207068"/>
              <a:ext cx="30759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单位元唯一：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 1 和 1′ 都是单位元素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986219" y="3533775"/>
              <a:ext cx="2172652" cy="293370"/>
              <a:chOff x="986219" y="3533775"/>
              <a:chExt cx="2172652" cy="29337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986219" y="353377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1′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551337" y="3533775"/>
                <a:ext cx="6311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= 1·1′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860929" y="3533775"/>
                <a:ext cx="2979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= 1</a:t>
                </a:r>
              </a:p>
            </p:txBody>
          </p:sp>
        </p:grpSp>
        <p:sp>
          <p:nvSpPr>
            <p:cNvPr id="27" name="Rectangle 27"/>
            <p:cNvSpPr/>
            <p:nvPr/>
          </p:nvSpPr>
          <p:spPr>
            <a:xfrm>
              <a:off x="1447800" y="3790950"/>
              <a:ext cx="838200" cy="2286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542023" y="3847624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是单位元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552700" y="3790950"/>
              <a:ext cx="914400" cy="2286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648742" y="3847624"/>
              <a:ext cx="7223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1′ 是单位元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26942" y="3549968"/>
              <a:ext cx="710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⇒ 1′ = 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914400" y="41910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2551" y="42395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12342" y="4216718"/>
              <a:ext cx="30032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逆元唯一：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 b 和 c 都是 a 的逆元素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965549" y="4543425"/>
              <a:ext cx="4536472" cy="293370"/>
              <a:chOff x="965549" y="4543425"/>
              <a:chExt cx="4536472" cy="293370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965549" y="454342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b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340168" y="4543425"/>
                <a:ext cx="52006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= b·1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070544" y="4543425"/>
                <a:ext cx="96431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= b·(a·c)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175444" y="4543425"/>
                <a:ext cx="96431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= (b·a)·c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350068" y="4543425"/>
                <a:ext cx="52006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= 1·c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204079" y="4543425"/>
                <a:ext cx="2979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= c</a:t>
                </a:r>
              </a:p>
            </p:txBody>
          </p:sp>
        </p:grpSp>
        <p:sp>
          <p:nvSpPr>
            <p:cNvPr id="42" name="Rectangle 42"/>
            <p:cNvSpPr/>
            <p:nvPr/>
          </p:nvSpPr>
          <p:spPr>
            <a:xfrm>
              <a:off x="1257300" y="4800600"/>
              <a:ext cx="685800" cy="2286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397356" y="485727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单位元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171700" y="4800600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326768" y="48572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a·c = 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276600" y="4800600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454756" y="485727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结合律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229100" y="4800600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384168" y="48572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b·a = 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067300" y="4800600"/>
              <a:ext cx="609600" cy="2286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169256" y="485727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单位元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76300" y="5143500"/>
              <a:ext cx="506730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1019175" y="5286375"/>
              <a:ext cx="171450" cy="171450"/>
              <a:chOff x="1019175" y="5286375"/>
              <a:chExt cx="171450" cy="17145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019175" y="52863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04900" y="5410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090612" y="5341605"/>
                <a:ext cx="34933" cy="40047"/>
              </a:xfrm>
              <a:custGeom>
                <a:avLst/>
                <a:gdLst/>
                <a:ahLst/>
                <a:cxnLst/>
                <a:rect l="l" t="t" r="r" b="b"/>
                <a:pathLst>
                  <a:path w="34933" h="40047">
                    <a:moveTo>
                      <a:pt x="14288" y="40020"/>
                    </a:moveTo>
                    <a:cubicBezTo>
                      <a:pt x="23106" y="40047"/>
                      <a:pt x="30790" y="34017"/>
                      <a:pt x="32862" y="25445"/>
                    </a:cubicBezTo>
                    <a:cubicBezTo>
                      <a:pt x="34933" y="16874"/>
                      <a:pt x="30851" y="8000"/>
                      <a:pt x="22993" y="3997"/>
                    </a:cubicBezTo>
                    <a:cubicBezTo>
                      <a:pt x="15191" y="0"/>
                      <a:pt x="5664" y="1906"/>
                      <a:pt x="0" y="8597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308354" y="5299710"/>
              <a:ext cx="44627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除 1 外还能有 x⁻¹ = x 吗？</a:t>
              </a: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能！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{1, −1} 对乘法：(−1)⁻¹ = −1</a:t>
              </a:r>
            </a:p>
          </p:txBody>
        </p:sp>
      </p:grpSp>
      <p:grpSp>
        <p:nvGrpSpPr>
          <p:cNvPr id="63" name="gift-figure"/>
          <p:cNvGrpSpPr/>
          <p:nvPr/>
        </p:nvGrpSpPr>
        <p:grpSpPr>
          <a:xfrm>
            <a:off x="6248400" y="2667000"/>
            <a:ext cx="3162300" cy="3048381"/>
            <a:chOff x="6248400" y="2667000"/>
            <a:chExt cx="3162300" cy="3048381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48400" y="2667000"/>
              <a:ext cx="3162300" cy="2371725"/>
            </a:xfrm>
            <a:prstGeom prst="roundRect">
              <a:avLst>
                <a:gd name="adj" fmla="val 6425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6248400" y="5143500"/>
              <a:ext cx="3162300" cy="5715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94704" y="5252085"/>
              <a:ext cx="19022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包装：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先装盒 b，再包纸 a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94704" y="5480685"/>
              <a:ext cx="22576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拆开：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先拆纸 a⁻¹，再开盒 b⁻¹</a:t>
              </a:r>
            </a:p>
          </p:txBody>
        </p:sp>
      </p:grpSp>
      <p:grpSp>
        <p:nvGrpSpPr>
          <p:cNvPr id="75" name="formulas"/>
          <p:cNvGrpSpPr/>
          <p:nvPr/>
        </p:nvGrpSpPr>
        <p:grpSpPr>
          <a:xfrm>
            <a:off x="9563100" y="2667000"/>
            <a:ext cx="2095500" cy="3048000"/>
            <a:chOff x="9563100" y="2667000"/>
            <a:chExt cx="2095500" cy="3048000"/>
          </a:xfrm>
        </p:grpSpPr>
        <p:sp>
          <p:nvSpPr>
            <p:cNvPr id="64" name="Rectangle 64"/>
            <p:cNvSpPr/>
            <p:nvPr/>
          </p:nvSpPr>
          <p:spPr>
            <a:xfrm>
              <a:off x="9563100" y="2667000"/>
              <a:ext cx="2095500" cy="876300"/>
            </a:xfrm>
            <a:prstGeom prst="roundRect">
              <a:avLst>
                <a:gd name="adj" fmla="val 15217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707880" y="2828925"/>
              <a:ext cx="11919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(a⁻¹)⁻¹ = a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710166" y="3144202"/>
              <a:ext cx="13747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因 a·a⁻¹ = a⁻¹·a = 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710547" y="3342799"/>
              <a:ext cx="9465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就是 a⁻¹ 的逆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563100" y="3638550"/>
              <a:ext cx="2095500" cy="1123950"/>
            </a:xfrm>
            <a:prstGeom prst="roundRect">
              <a:avLst>
                <a:gd name="adj" fmla="val 11864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707880" y="3800475"/>
              <a:ext cx="18916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(a·b)⁻¹ = b⁻¹·a⁻¹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710166" y="4115752"/>
              <a:ext cx="1217486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因 a·b·b⁻¹·a⁻¹ = 1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且 b⁻¹·a⁻¹·a·b = 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710547" y="455247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顺序反过来！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563100" y="4857750"/>
              <a:ext cx="2095500" cy="857250"/>
            </a:xfrm>
            <a:prstGeom prst="roundRect">
              <a:avLst>
                <a:gd name="adj" fmla="val 15556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707880" y="5019675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1⁻¹ = 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710166" y="5334952"/>
              <a:ext cx="667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因 1·1 = 1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6" name="Rectangle 76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87400" y="6029325"/>
              <a:ext cx="190500" cy="152400"/>
              <a:chOff x="787400" y="6029325"/>
              <a:chExt cx="190500" cy="1524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87400" y="6029325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50800" y="101600"/>
                    </a:moveTo>
                    <a:lnTo>
                      <a:pt x="0" y="5080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87400" y="6080125"/>
                <a:ext cx="1905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1600">
                    <a:moveTo>
                      <a:pt x="0" y="0"/>
                    </a:moveTo>
                    <a:lnTo>
                      <a:pt x="139700" y="0"/>
                    </a:lnTo>
                    <a:cubicBezTo>
                      <a:pt x="167756" y="0"/>
                      <a:pt x="190500" y="22744"/>
                      <a:pt x="190500" y="50800"/>
                    </a:cubicBezTo>
                    <a:cubicBezTo>
                      <a:pt x="190500" y="78856"/>
                      <a:pt x="167756" y="101600"/>
                      <a:pt x="139700" y="101600"/>
                    </a:cubicBezTo>
                    <a:lnTo>
                      <a:pt x="127000" y="1016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134618" y="6003608"/>
              <a:ext cx="85557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撤销要倒着来：</a:t>
              </a:r>
              <a:r>
                <a:rPr lang="en-US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(a·b)⁻¹ = b⁻¹·a⁻¹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，先撤销最后做的那一步；一般不等于 a⁻¹·b⁻¹。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2" name="TextBox 82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4872201" cy="960501"/>
            <a:chOff x="456415" y="361950"/>
            <a:chExt cx="4872201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群的性质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80893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群里可以放心“约分”和解方程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ancel-proof"/>
          <p:cNvGrpSpPr/>
          <p:nvPr/>
        </p:nvGrpSpPr>
        <p:grpSpPr>
          <a:xfrm>
            <a:off x="533400" y="1485900"/>
            <a:ext cx="5181600" cy="2324100"/>
            <a:chOff x="533400" y="1485900"/>
            <a:chExt cx="5181600" cy="2324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181600" cy="2324100"/>
            </a:xfrm>
            <a:prstGeom prst="roundRect">
              <a:avLst>
                <a:gd name="adj" fmla="val 655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2019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61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79042" y="16735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群中消去律一定成立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8304" y="1985010"/>
              <a:ext cx="38200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(G, ·) 是群，单位元为 1，对 G 中任意 a, b, c：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8304" y="2251710"/>
              <a:ext cx="16332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(1) 若 a·b = a·c，则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9942" y="2502218"/>
              <a:ext cx="1908238" cy="9784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a⁻¹·(a·b) = a⁻¹·(a·c)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(a⁻¹·a)·b = (a⁻¹·a)·c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1·b = 1·c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b = c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38600" y="2495550"/>
              <a:ext cx="1485900" cy="2095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84112" y="2542699"/>
              <a:ext cx="7948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两边左乘 a⁻¹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038600" y="2733675"/>
              <a:ext cx="1485900" cy="2095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78706" y="27808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结合律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38600" y="2971800"/>
              <a:ext cx="1485900" cy="2095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83058" y="3018949"/>
              <a:ext cx="5969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a⁻¹·a = 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038600" y="3209925"/>
              <a:ext cx="1485900" cy="2095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456673" y="3257074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 是单位元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8304" y="3528060"/>
              <a:ext cx="3614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(2) 同理：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 b·a = c·a，两边右乘 a⁻¹，得 b = c</a:t>
              </a:r>
            </a:p>
          </p:txBody>
        </p:sp>
      </p:grpSp>
      <p:grpSp>
        <p:nvGrpSpPr>
          <p:cNvPr id="40" name="ab-proof"/>
          <p:cNvGrpSpPr/>
          <p:nvPr/>
        </p:nvGrpSpPr>
        <p:grpSpPr>
          <a:xfrm>
            <a:off x="533400" y="3905250"/>
            <a:ext cx="5181600" cy="1809750"/>
            <a:chOff x="533400" y="3905250"/>
            <a:chExt cx="5181600" cy="1809750"/>
          </a:xfrm>
        </p:grpSpPr>
        <p:sp>
          <p:nvSpPr>
            <p:cNvPr id="25" name="Rectangle 25"/>
            <p:cNvSpPr/>
            <p:nvPr/>
          </p:nvSpPr>
          <p:spPr>
            <a:xfrm>
              <a:off x="533400" y="3905250"/>
              <a:ext cx="5181600" cy="1809750"/>
            </a:xfrm>
            <a:prstGeom prst="roundRect">
              <a:avLst>
                <a:gd name="adj" fmla="val 842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85800" y="4057650"/>
              <a:ext cx="47625" cy="15049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14400" y="403860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56132" y="40995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79042" y="4092892"/>
              <a:ext cx="3414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(G, ·) 是群，若 a·b = 1，则 b·a =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9942" y="4407218"/>
              <a:ext cx="1385316" cy="9784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b·a = 1·(b·a)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(a⁻¹·a)·(b·a)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a⁻¹·(a·b)·a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a⁻¹·1·a = 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038600" y="4400550"/>
              <a:ext cx="1485900" cy="2095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456673" y="4447699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 是单位元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038600" y="4638675"/>
              <a:ext cx="1485900" cy="2095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483058" y="4685824"/>
              <a:ext cx="5969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a⁻¹·a = 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038600" y="4876800"/>
              <a:ext cx="1485900" cy="2095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78706" y="49239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结合律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038600" y="5114925"/>
              <a:ext cx="1485900" cy="2095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03902" y="5162074"/>
              <a:ext cx="7552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已知 a·b = 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9066" y="5449252"/>
              <a:ext cx="3000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注：推导用到了 a 的逆元，只在群中可以这样用</a:t>
              </a:r>
            </a:p>
          </p:txBody>
        </p:sp>
      </p:grpSp>
      <p:grpSp>
        <p:nvGrpSpPr>
          <p:cNvPr id="74" name="equation-table"/>
          <p:cNvGrpSpPr/>
          <p:nvPr/>
        </p:nvGrpSpPr>
        <p:grpSpPr>
          <a:xfrm>
            <a:off x="5867400" y="1485900"/>
            <a:ext cx="5791200" cy="3276600"/>
            <a:chOff x="5867400" y="1485900"/>
            <a:chExt cx="5791200" cy="3276600"/>
          </a:xfrm>
        </p:grpSpPr>
        <p:sp>
          <p:nvSpPr>
            <p:cNvPr id="41" name="Rectangle 41"/>
            <p:cNvSpPr/>
            <p:nvPr/>
          </p:nvSpPr>
          <p:spPr>
            <a:xfrm>
              <a:off x="5867400" y="1485900"/>
              <a:ext cx="5791200" cy="3276600"/>
            </a:xfrm>
            <a:prstGeom prst="roundRect">
              <a:avLst>
                <a:gd name="adj" fmla="val 465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57900" y="1619250"/>
              <a:ext cx="8001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09538" y="16802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解方程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65442" y="1673542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乘上逆元，把 x 单独留下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57900" y="2000250"/>
              <a:ext cx="5410200" cy="3810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57900" y="2381250"/>
              <a:ext cx="5410200" cy="1828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677400" y="2381250"/>
              <a:ext cx="1790700" cy="18288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Line 48"/>
            <p:cNvSpPr/>
            <p:nvPr/>
          </p:nvSpPr>
          <p:spPr>
            <a:xfrm>
              <a:off x="6057900" y="238125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6057900" y="283845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057900" y="329565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6057900" y="375285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7486650" y="2000250"/>
              <a:ext cx="9525" cy="2209800"/>
            </a:xfrm>
            <a:custGeom>
              <a:avLst/>
              <a:gdLst/>
              <a:ahLst/>
              <a:cxnLst/>
              <a:rect l="l" t="t" r="r" b="b"/>
              <a:pathLst>
                <a:path w="9525" h="2209800">
                  <a:moveTo>
                    <a:pt x="0" y="0"/>
                  </a:moveTo>
                  <a:lnTo>
                    <a:pt x="0" y="22098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9677400" y="2000250"/>
              <a:ext cx="9525" cy="2209800"/>
            </a:xfrm>
            <a:custGeom>
              <a:avLst/>
              <a:gdLst/>
              <a:ahLst/>
              <a:cxnLst/>
              <a:rect l="l" t="t" r="r" b="b"/>
              <a:pathLst>
                <a:path w="9525" h="2209800">
                  <a:moveTo>
                    <a:pt x="0" y="0"/>
                  </a:moveTo>
                  <a:lnTo>
                    <a:pt x="0" y="22098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57900" y="2000250"/>
              <a:ext cx="5410200" cy="22098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04635" y="21183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14385" y="21183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24338" y="21183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唯一解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6315361" y="2514600"/>
              <a:ext cx="913828" cy="1664970"/>
              <a:chOff x="6315361" y="2514600"/>
              <a:chExt cx="913828" cy="1664970"/>
            </a:xfrm>
          </p:grpSpPr>
          <p:sp>
            <p:nvSpPr>
              <p:cNvPr id="58" name="TextBox 58"/>
              <p:cNvSpPr txBox="1"/>
              <p:nvPr/>
            </p:nvSpPr>
            <p:spPr>
              <a:xfrm>
                <a:off x="6426422" y="2514600"/>
                <a:ext cx="69170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a·x = b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426422" y="2971800"/>
                <a:ext cx="69170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x·a = b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315361" y="3429000"/>
                <a:ext cx="91382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a·x·c = d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315361" y="3886200"/>
                <a:ext cx="91382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a·x = a·b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7857058" y="2537460"/>
              <a:ext cx="1449934" cy="1606296"/>
              <a:chOff x="7857058" y="2537460"/>
              <a:chExt cx="1449934" cy="1606296"/>
            </a:xfrm>
          </p:grpSpPr>
          <p:sp>
            <p:nvSpPr>
              <p:cNvPr id="63" name="TextBox 63"/>
              <p:cNvSpPr txBox="1"/>
              <p:nvPr/>
            </p:nvSpPr>
            <p:spPr>
              <a:xfrm>
                <a:off x="8095336" y="2537460"/>
                <a:ext cx="97337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两边</a:t>
                </a:r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左乘</a:t>
                </a:r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a⁻¹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095336" y="2994660"/>
                <a:ext cx="97337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两边</a:t>
                </a:r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右乘</a:t>
                </a:r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a⁻¹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857058" y="3451860"/>
                <a:ext cx="144993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左乘</a:t>
                </a: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a⁻¹，</a:t>
                </a:r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右乘</a:t>
                </a:r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c⁻¹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8103413" y="3909060"/>
                <a:ext cx="9572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消去左因子 a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9860142" y="2514600"/>
              <a:ext cx="1425216" cy="1664970"/>
              <a:chOff x="9860142" y="2514600"/>
              <a:chExt cx="1425216" cy="1664970"/>
            </a:xfrm>
          </p:grpSpPr>
          <p:sp>
            <p:nvSpPr>
              <p:cNvPr id="68" name="TextBox 68"/>
              <p:cNvSpPr txBox="1"/>
              <p:nvPr/>
            </p:nvSpPr>
            <p:spPr>
              <a:xfrm>
                <a:off x="10093371" y="2514600"/>
                <a:ext cx="95875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x = a⁻¹·b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093371" y="2971800"/>
                <a:ext cx="95875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x = b·a⁻¹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9860142" y="3429000"/>
                <a:ext cx="142521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x = a⁻¹·d·c⁻¹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0326600" y="3886200"/>
                <a:ext cx="4923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x = b</a:t>
                </a:r>
              </a:p>
            </p:txBody>
          </p:sp>
        </p:grpSp>
        <p:sp>
          <p:nvSpPr>
            <p:cNvPr id="73" name="TextBox 73"/>
            <p:cNvSpPr txBox="1"/>
            <p:nvPr/>
          </p:nvSpPr>
          <p:spPr>
            <a:xfrm>
              <a:off x="6051804" y="4404360"/>
              <a:ext cx="5496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为什么唯一：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 x₁、x₂ 都满足 a·x = b，则 a·x₁ = a·x₂，由消去律 x₁ = x₂</a:t>
              </a:r>
            </a:p>
          </p:txBody>
        </p:sp>
      </p:grpSp>
      <p:grpSp>
        <p:nvGrpSpPr>
          <p:cNvPr id="81" name="pitfall"/>
          <p:cNvGrpSpPr/>
          <p:nvPr/>
        </p:nvGrpSpPr>
        <p:grpSpPr>
          <a:xfrm>
            <a:off x="5867400" y="4876800"/>
            <a:ext cx="5791200" cy="838200"/>
            <a:chOff x="5867400" y="4876800"/>
            <a:chExt cx="5791200" cy="838200"/>
          </a:xfrm>
        </p:grpSpPr>
        <p:sp>
          <p:nvSpPr>
            <p:cNvPr id="75" name="Rectangle 75"/>
            <p:cNvSpPr/>
            <p:nvPr/>
          </p:nvSpPr>
          <p:spPr>
            <a:xfrm>
              <a:off x="5867400" y="4876800"/>
              <a:ext cx="5791200" cy="838200"/>
            </a:xfrm>
            <a:prstGeom prst="roundRect">
              <a:avLst>
                <a:gd name="adj" fmla="val 18182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019800" y="5029200"/>
              <a:ext cx="47625" cy="5334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210300" y="50101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347460" y="50711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927723" y="507253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左右不能混：一般群不满足交换律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204204" y="5414010"/>
              <a:ext cx="47860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a·x = b 的解是 a⁻¹·b，</a:t>
              </a:r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不能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随手写成 b·a⁻¹（除非 G 是 Abel 群）</a:t>
              </a:r>
            </a:p>
          </p:txBody>
        </p:sp>
      </p:grpSp>
      <p:grpSp>
        <p:nvGrpSpPr>
          <p:cNvPr id="9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2" name="Rectangle 82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62000" y="5991225"/>
              <a:ext cx="228600" cy="225424"/>
              <a:chOff x="762000" y="5991225"/>
              <a:chExt cx="228600" cy="225424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812800" y="6207124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00100" y="6016625"/>
                <a:ext cx="1524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2700">
                    <a:moveTo>
                      <a:pt x="0" y="12700"/>
                    </a:moveTo>
                    <a:lnTo>
                      <a:pt x="76200" y="0"/>
                    </a:lnTo>
                    <a:lnTo>
                      <a:pt x="15240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76300" y="5991225"/>
                <a:ext cx="9525" cy="2158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5899">
                    <a:moveTo>
                      <a:pt x="0" y="0"/>
                    </a:moveTo>
                    <a:lnTo>
                      <a:pt x="0" y="2158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762000" y="6029325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76200"/>
                    </a:moveTo>
                    <a:lnTo>
                      <a:pt x="38100" y="0"/>
                    </a:lnTo>
                    <a:lnTo>
                      <a:pt x="0" y="76200"/>
                    </a:lnTo>
                    <a:cubicBezTo>
                      <a:pt x="0" y="97242"/>
                      <a:pt x="17058" y="114300"/>
                      <a:pt x="38100" y="114300"/>
                    </a:cubicBezTo>
                    <a:cubicBezTo>
                      <a:pt x="59142" y="114300"/>
                      <a:pt x="76200" y="97242"/>
                      <a:pt x="76200" y="762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914400" y="6029325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76200"/>
                    </a:moveTo>
                    <a:lnTo>
                      <a:pt x="38100" y="0"/>
                    </a:lnTo>
                    <a:lnTo>
                      <a:pt x="0" y="76200"/>
                    </a:lnTo>
                    <a:cubicBezTo>
                      <a:pt x="0" y="97242"/>
                      <a:pt x="17058" y="114300"/>
                      <a:pt x="38100" y="114300"/>
                    </a:cubicBezTo>
                    <a:cubicBezTo>
                      <a:pt x="59142" y="114300"/>
                      <a:pt x="76200" y="97242"/>
                      <a:pt x="76200" y="762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1134618" y="6003608"/>
              <a:ext cx="7568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公共因子在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左边就左乘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它的逆，在</a:t>
              </a:r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右边就右乘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它的逆；方程的解存在且唯一。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91" name="TextBox 91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6360628" cy="960501"/>
            <a:chOff x="456415" y="361950"/>
            <a:chExt cx="636062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群的性质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29735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定理6.2.2：只验“左壹 + 左逆”就够了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theorem"/>
          <p:cNvGrpSpPr/>
          <p:nvPr/>
        </p:nvGrpSpPr>
        <p:grpSpPr>
          <a:xfrm>
            <a:off x="533400" y="1485900"/>
            <a:ext cx="11125200" cy="952500"/>
            <a:chOff x="533400" y="1485900"/>
            <a:chExt cx="11125200" cy="9525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952500"/>
            </a:xfrm>
            <a:prstGeom prst="roundRect">
              <a:avLst>
                <a:gd name="adj" fmla="val 16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647700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433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6.2.2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5167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(G, ·) 是半群，群定义中的条件 (1) 和 (2) 可以减弱如下：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14400" y="1962150"/>
              <a:ext cx="5143500" cy="361950"/>
            </a:xfrm>
            <a:prstGeom prst="roundRect">
              <a:avLst>
                <a:gd name="adj" fmla="val 26316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9942" y="2054542"/>
              <a:ext cx="35254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(1)′ 左壹：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 中有一个元素 1 适合 1·a = a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72200" y="1962150"/>
              <a:ext cx="5334000" cy="361950"/>
            </a:xfrm>
            <a:prstGeom prst="roundRect">
              <a:avLst>
                <a:gd name="adj" fmla="val 26316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17742" y="2054542"/>
              <a:ext cx="3916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(2)′ 左逆：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对于任意 a，有 a⁻¹ 适合 a⁻¹·a = 1</a:t>
              </a:r>
            </a:p>
          </p:txBody>
        </p:sp>
      </p:grpSp>
      <p:grpSp>
        <p:nvGrpSpPr>
          <p:cNvPr id="39" name="proof-one"/>
          <p:cNvGrpSpPr/>
          <p:nvPr/>
        </p:nvGrpSpPr>
        <p:grpSpPr>
          <a:xfrm>
            <a:off x="533400" y="2552700"/>
            <a:ext cx="6705600" cy="3162300"/>
            <a:chOff x="533400" y="2552700"/>
            <a:chExt cx="6705600" cy="3162300"/>
          </a:xfrm>
        </p:grpSpPr>
        <p:sp>
          <p:nvSpPr>
            <p:cNvPr id="17" name="Rectangle 17"/>
            <p:cNvSpPr/>
            <p:nvPr/>
          </p:nvSpPr>
          <p:spPr>
            <a:xfrm>
              <a:off x="533400" y="2552700"/>
              <a:ext cx="6705600" cy="3162300"/>
            </a:xfrm>
            <a:prstGeom prst="roundRect">
              <a:avLst>
                <a:gd name="adj" fmla="val 481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7042" y="2692718"/>
              <a:ext cx="4706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证法一：只需再证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a·a⁻¹ = 1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（右逆）和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a·1 = a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（右壹）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23900" y="2971800"/>
              <a:ext cx="6324600" cy="49530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57250" y="30861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7858" y="3147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50442" y="3140392"/>
              <a:ext cx="2330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a⁻¹ = 1·a⁻¹ = (a⁻¹·a)·a⁻¹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38166" y="31632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依据：(1)′ 左壹；(2)′ 左逆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23900" y="3543300"/>
              <a:ext cx="6324600" cy="49530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57250" y="36576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7858" y="3718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50442" y="3711892"/>
              <a:ext cx="2239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a⁻¹ 也有左逆 b：b·a⁻¹ = 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38166" y="3734752"/>
              <a:ext cx="15301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依据：(2)′ 用在 a⁻¹ 上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23900" y="4114800"/>
              <a:ext cx="6324600" cy="762000"/>
            </a:xfrm>
            <a:prstGeom prst="roundRect">
              <a:avLst>
                <a:gd name="adj" fmla="val 15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857250" y="42291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7858" y="4290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50442" y="4283392"/>
              <a:ext cx="3311985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1 = b·a⁻¹ = b·((a⁻¹·a)·a⁻¹)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= (b·a⁻¹)·(a·a⁻¹) = 1·(a·a⁻¹) = </a:t>
              </a:r>
              <a:r>
                <a:rPr lang="en-US" sz="13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a·a⁻¹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38166" y="4306252"/>
              <a:ext cx="1364170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依据：代入第 1 步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结合律；第 2 步；左壹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23900" y="4953000"/>
              <a:ext cx="6324600" cy="609600"/>
            </a:xfrm>
            <a:prstGeom prst="roundRect">
              <a:avLst>
                <a:gd name="adj" fmla="val 1875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57250" y="51244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7858" y="5185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50442" y="5178742"/>
              <a:ext cx="33535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a·1 = a·(a⁻¹·a) = (a·a⁻¹)·a = 1·a = </a:t>
              </a:r>
              <a:r>
                <a:rPr lang="en-US" sz="13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38166" y="5087302"/>
              <a:ext cx="13441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依据：左逆；结合律；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3 步；左壹 ∎</a:t>
              </a:r>
            </a:p>
          </p:txBody>
        </p:sp>
      </p:grpSp>
      <p:grpSp>
        <p:nvGrpSpPr>
          <p:cNvPr id="45" name="proof-two"/>
          <p:cNvGrpSpPr/>
          <p:nvPr/>
        </p:nvGrpSpPr>
        <p:grpSpPr>
          <a:xfrm>
            <a:off x="7353300" y="2552700"/>
            <a:ext cx="4305300" cy="1562100"/>
            <a:chOff x="7353300" y="2552700"/>
            <a:chExt cx="4305300" cy="1562100"/>
          </a:xfrm>
        </p:grpSpPr>
        <p:sp>
          <p:nvSpPr>
            <p:cNvPr id="40" name="Rectangle 40"/>
            <p:cNvSpPr/>
            <p:nvPr/>
          </p:nvSpPr>
          <p:spPr>
            <a:xfrm>
              <a:off x="7353300" y="2552700"/>
              <a:ext cx="4305300" cy="1562100"/>
            </a:xfrm>
            <a:prstGeom prst="roundRect">
              <a:avLst>
                <a:gd name="adj" fmla="val 97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543800" y="2686050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57338" y="27470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证法二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75904" y="2756535"/>
              <a:ext cx="27313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先证 a·1 = a（右壹），右逆同证法一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38085" y="3117056"/>
              <a:ext cx="3190494" cy="9629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由 1·1 = 1，将左因子和右端的 1 换成 a⁻¹·a：</a:t>
              </a:r>
              <a:br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(a⁻¹·a)·1 = a⁻¹·a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左乘 a⁻¹ 的左逆 b：(b·a⁻¹)·(a·1) = (b·a⁻¹)·a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即 1·(a·1) = 1·a，由 (1)′ 得 </a:t>
              </a:r>
              <a:r>
                <a:rPr lang="en-US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a·1 = a</a:t>
              </a:r>
            </a:p>
          </p:txBody>
        </p:sp>
      </p:grpSp>
      <p:grpSp>
        <p:nvGrpSpPr>
          <p:cNvPr id="51" name="proof-three"/>
          <p:cNvGrpSpPr/>
          <p:nvPr/>
        </p:nvGrpSpPr>
        <p:grpSpPr>
          <a:xfrm>
            <a:off x="7353300" y="4229100"/>
            <a:ext cx="4305300" cy="1485900"/>
            <a:chOff x="7353300" y="4229100"/>
            <a:chExt cx="4305300" cy="1485900"/>
          </a:xfrm>
        </p:grpSpPr>
        <p:sp>
          <p:nvSpPr>
            <p:cNvPr id="46" name="Rectangle 46"/>
            <p:cNvSpPr/>
            <p:nvPr/>
          </p:nvSpPr>
          <p:spPr>
            <a:xfrm>
              <a:off x="7353300" y="4229100"/>
              <a:ext cx="4305300" cy="1485900"/>
            </a:xfrm>
            <a:prstGeom prst="roundRect">
              <a:avLst>
                <a:gd name="adj" fmla="val 102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543800" y="4362450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57338" y="44234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证法三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75904" y="4432935"/>
              <a:ext cx="20852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a·1 = a 同证法二，再证右逆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38085" y="4755356"/>
              <a:ext cx="2671318" cy="905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令 b 为 a⁻¹ 的左逆：b·a⁻¹ = 1，右乘 a：</a:t>
              </a:r>
              <a:br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(b·a⁻¹)·a = 1·a = a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左边 = b·(a⁻¹·a) = b·1 = b，所以 b = a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⇒ </a:t>
              </a:r>
              <a:r>
                <a:rPr lang="en-US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a·a⁻¹ = b·a⁻¹ = 1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2" name="Rectangle 52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62000" y="616902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39799" y="599122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87400" y="6016625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134618" y="6003608"/>
              <a:ext cx="74134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左壹 + 左逆（或右壹 + 右逆）就够；</a:t>
              </a:r>
              <a:r>
                <a:rPr lang="zh-CN" sz="16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方向必须一致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，左壹配右逆未必成群。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9" name="TextBox 59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5254758" cy="960501"/>
            <a:chOff x="456415" y="361950"/>
            <a:chExt cx="525475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群的性质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9148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反例：左壹 + 右逆，不一定成群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problem"/>
          <p:cNvGrpSpPr/>
          <p:nvPr/>
        </p:nvGrpSpPr>
        <p:grpSpPr>
          <a:xfrm>
            <a:off x="533400" y="1485900"/>
            <a:ext cx="11125200" cy="800100"/>
            <a:chOff x="533400" y="1485900"/>
            <a:chExt cx="11125200" cy="800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800100"/>
            </a:xfrm>
            <a:prstGeom prst="roundRect">
              <a:avLst>
                <a:gd name="adj" fmla="val 190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9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6.2-3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36242" y="1673542"/>
              <a:ext cx="4202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举例说明：定理6.2.2 中的 (1)′、(2)′ 若分别改成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7042" y="2006918"/>
              <a:ext cx="80216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左壹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：G 中有一个元素 1 适合 1·a = a；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右逆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：对任意 a 有 a⁻¹ 适合 a·a⁻¹ = 1，则 G 不见得是群。</a:t>
              </a:r>
            </a:p>
          </p:txBody>
        </p:sp>
      </p:grpSp>
      <p:grpSp>
        <p:nvGrpSpPr>
          <p:cNvPr id="18" name="set-card"/>
          <p:cNvGrpSpPr/>
          <p:nvPr/>
        </p:nvGrpSpPr>
        <p:grpSpPr>
          <a:xfrm>
            <a:off x="533400" y="2400300"/>
            <a:ext cx="3581400" cy="1676400"/>
            <a:chOff x="533400" y="2400300"/>
            <a:chExt cx="3581400" cy="1676400"/>
          </a:xfrm>
        </p:grpSpPr>
        <p:sp>
          <p:nvSpPr>
            <p:cNvPr id="13" name="Rectangle 13"/>
            <p:cNvSpPr/>
            <p:nvPr/>
          </p:nvSpPr>
          <p:spPr>
            <a:xfrm>
              <a:off x="533400" y="2400300"/>
              <a:ext cx="3581400" cy="167640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85800" y="25336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244" y="25946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集合与运算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-set"/>
                <p:cNvSpPr txBox="1">
                  <a:spLocks noGrp="1"/>
                </p:cNvSpPr>
                <p:nvPr/>
              </p:nvSpPr>
              <p:spPr>
                <a:xfrm>
                  <a:off x="685800" y="2876550"/>
                  <a:ext cx="3276600" cy="609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|"/>
                            <m:endChr m:val="}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baseJc m:val="center"/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</m:mcPr>
                                      </m:mc>
                                      <m:mc>
                                        <m:mcPr>
                                          <m:count m:val="1"/>
                                        </m:mcPr>
                                      </m:mc>
                                    </m:mcs>
                                  </m:mPr>
                                  <m:m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r>
                              <m:rPr>
                                <m:scr m:val="double-struck"/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≠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18185" y="3631406"/>
              <a:ext cx="301269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运算：矩阵乘法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乘积左上角 ac ≠ 0，封闭；矩阵乘法满足结合律</a:t>
              </a:r>
            </a:p>
          </p:txBody>
        </p:sp>
      </p:grpSp>
      <p:grpSp>
        <p:nvGrpSpPr>
          <p:cNvPr id="25" name="left-identity-card"/>
          <p:cNvGrpSpPr/>
          <p:nvPr/>
        </p:nvGrpSpPr>
        <p:grpSpPr>
          <a:xfrm>
            <a:off x="4229100" y="2400300"/>
            <a:ext cx="3657600" cy="1676400"/>
            <a:chOff x="4229100" y="2400300"/>
            <a:chExt cx="3657600" cy="1676400"/>
          </a:xfrm>
        </p:grpSpPr>
        <p:sp>
          <p:nvSpPr>
            <p:cNvPr id="19" name="Rectangle 19"/>
            <p:cNvSpPr/>
            <p:nvPr/>
          </p:nvSpPr>
          <p:spPr>
            <a:xfrm>
              <a:off x="4229100" y="2400300"/>
              <a:ext cx="3657600" cy="1676400"/>
            </a:xfrm>
            <a:prstGeom prst="roundRect">
              <a:avLst>
                <a:gd name="adj" fmla="val 9091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81500" y="2533650"/>
              <a:ext cx="8001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03656" y="2594610"/>
              <a:ext cx="555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左壹 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90185" y="2612231"/>
              <a:ext cx="1337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 放在左边，A 不变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-left-identity"/>
                <p:cNvSpPr txBox="1">
                  <a:spLocks noGrp="1"/>
                </p:cNvSpPr>
                <p:nvPr/>
              </p:nvSpPr>
              <p:spPr>
                <a:xfrm>
                  <a:off x="4381500" y="2876550"/>
                  <a:ext cx="3352800" cy="609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TextBox 24"/>
            <p:cNvSpPr txBox="1"/>
            <p:nvPr/>
          </p:nvSpPr>
          <p:spPr>
            <a:xfrm>
              <a:off x="4413885" y="3631406"/>
              <a:ext cx="272110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 = 左边那个矩阵，属于 G（a = 1，b = 0）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 G 中每个 A 都有 E·A = A</a:t>
              </a:r>
            </a:p>
          </p:txBody>
        </p:sp>
      </p:grpSp>
      <p:grpSp>
        <p:nvGrpSpPr>
          <p:cNvPr id="32" name="right-inverse-card"/>
          <p:cNvGrpSpPr/>
          <p:nvPr/>
        </p:nvGrpSpPr>
        <p:grpSpPr>
          <a:xfrm>
            <a:off x="8001000" y="2400300"/>
            <a:ext cx="3657600" cy="1676400"/>
            <a:chOff x="8001000" y="2400300"/>
            <a:chExt cx="3657600" cy="1676400"/>
          </a:xfrm>
        </p:grpSpPr>
        <p:sp>
          <p:nvSpPr>
            <p:cNvPr id="26" name="Rectangle 26"/>
            <p:cNvSpPr/>
            <p:nvPr/>
          </p:nvSpPr>
          <p:spPr>
            <a:xfrm>
              <a:off x="8001000" y="2400300"/>
              <a:ext cx="3657600" cy="1676400"/>
            </a:xfrm>
            <a:prstGeom prst="roundRect">
              <a:avLst>
                <a:gd name="adj" fmla="val 9091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53400" y="2533650"/>
              <a:ext cx="8001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75556" y="2594610"/>
              <a:ext cx="555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右逆 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62085" y="2612231"/>
              <a:ext cx="12022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乘在右边，得到 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-right-inverse"/>
                <p:cNvSpPr txBox="1">
                  <a:spLocks noGrp="1"/>
                </p:cNvSpPr>
                <p:nvPr/>
              </p:nvSpPr>
              <p:spPr>
                <a:xfrm>
                  <a:off x="8153400" y="2876550"/>
                  <a:ext cx="3352800" cy="609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sSup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8185785" y="3631406"/>
              <a:ext cx="219481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因为 a ≠ 0，a⁻¹ 存在，右逆属于 G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 A 都有右逆 A·A⁻¹ = E</a:t>
              </a:r>
            </a:p>
          </p:txBody>
        </p:sp>
      </p:grpSp>
      <p:grpSp>
        <p:nvGrpSpPr>
          <p:cNvPr id="43" name="why-not"/>
          <p:cNvGrpSpPr/>
          <p:nvPr/>
        </p:nvGrpSpPr>
        <p:grpSpPr>
          <a:xfrm>
            <a:off x="533400" y="4191000"/>
            <a:ext cx="7315200" cy="1524000"/>
            <a:chOff x="533400" y="4191000"/>
            <a:chExt cx="7315200" cy="1524000"/>
          </a:xfrm>
        </p:grpSpPr>
        <p:sp>
          <p:nvSpPr>
            <p:cNvPr id="33" name="Rectangle 33"/>
            <p:cNvSpPr/>
            <p:nvPr/>
          </p:nvSpPr>
          <p:spPr>
            <a:xfrm>
              <a:off x="533400" y="4191000"/>
              <a:ext cx="7315200" cy="15240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5800" y="434340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76300" y="43053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13460" y="4366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93342" y="43595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为什么不是群？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8685" y="4641056"/>
              <a:ext cx="2156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①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b ≠ 0 时，E 放在右边会改变 A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-not-right"/>
                <p:cNvSpPr txBox="1">
                  <a:spLocks noGrp="1"/>
                </p:cNvSpPr>
                <p:nvPr/>
              </p:nvSpPr>
              <p:spPr>
                <a:xfrm>
                  <a:off x="838200" y="4819650"/>
                  <a:ext cx="3390900" cy="5524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≠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0" name="TextBox 40"/>
            <p:cNvSpPr txBox="1"/>
            <p:nvPr/>
          </p:nvSpPr>
          <p:spPr>
            <a:xfrm>
              <a:off x="4375785" y="4641056"/>
              <a:ext cx="1502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②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任取 U ∈ G 放在右边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f-any-right"/>
                <p:cNvSpPr txBox="1">
                  <a:spLocks noGrp="1"/>
                </p:cNvSpPr>
                <p:nvPr/>
              </p:nvSpPr>
              <p:spPr>
                <a:xfrm>
                  <a:off x="4343400" y="4819650"/>
                  <a:ext cx="3352800" cy="5524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ax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ay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2" name="TextBox 42"/>
            <p:cNvSpPr txBox="1"/>
            <p:nvPr/>
          </p:nvSpPr>
          <p:spPr>
            <a:xfrm>
              <a:off x="908685" y="5479256"/>
              <a:ext cx="47622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右上角 ay 不可能对所有 b 都等于 b ⇒ </a:t>
              </a:r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G 中没有单位元，(G, ·) 不是群</a:t>
              </a:r>
            </a:p>
          </p:txBody>
        </p:sp>
      </p:grpSp>
      <p:grpSp>
        <p:nvGrpSpPr>
          <p:cNvPr id="53" name="conclusion"/>
          <p:cNvGrpSpPr/>
          <p:nvPr/>
        </p:nvGrpSpPr>
        <p:grpSpPr>
          <a:xfrm>
            <a:off x="7962900" y="4191000"/>
            <a:ext cx="3695700" cy="1524000"/>
            <a:chOff x="7962900" y="4191000"/>
            <a:chExt cx="3695700" cy="1524000"/>
          </a:xfrm>
        </p:grpSpPr>
        <p:sp>
          <p:nvSpPr>
            <p:cNvPr id="44" name="Rectangle 44"/>
            <p:cNvSpPr/>
            <p:nvPr/>
          </p:nvSpPr>
          <p:spPr>
            <a:xfrm>
              <a:off x="7962900" y="4191000"/>
              <a:ext cx="3695700" cy="1524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146542" y="4350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逐项核对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153400" y="4610100"/>
              <a:ext cx="1600200" cy="285750"/>
            </a:xfrm>
            <a:prstGeom prst="roundRect">
              <a:avLst>
                <a:gd name="adj" fmla="val 33333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00085" y="4688681"/>
              <a:ext cx="13276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封闭 ✓　结合律 ✓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867900" y="4610100"/>
              <a:ext cx="1600200" cy="285750"/>
            </a:xfrm>
            <a:prstGeom prst="roundRect">
              <a:avLst>
                <a:gd name="adj" fmla="val 33333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014585" y="4688681"/>
              <a:ext cx="11769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左壹 ✓　右逆 ✓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153400" y="4972050"/>
              <a:ext cx="3314700" cy="285750"/>
            </a:xfrm>
            <a:prstGeom prst="roundRect">
              <a:avLst>
                <a:gd name="adj" fmla="val 33333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300085" y="5050631"/>
              <a:ext cx="28116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单位元 ✗（左右两边都成立的 1 不存在）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48447" y="5362099"/>
              <a:ext cx="2443099" cy="3430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注：原题只写 a, b 为实数；为使右逆存在，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这里补上 a ≠ 0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4" name="Rectangle 5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48219" y="5987006"/>
              <a:ext cx="256151" cy="220068"/>
              <a:chOff x="748219" y="5987006"/>
              <a:chExt cx="256151" cy="22006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76300" y="6067425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48219" y="5987006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6300" y="615632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134618" y="6003608"/>
              <a:ext cx="67026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左壹配右逆是“方向混搭”：封闭、结合都满足，</a:t>
              </a:r>
              <a:r>
                <a:rPr lang="zh-CN" sz="16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却连单位元都没有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1" name="TextBox 61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5921733" cy="960501"/>
            <a:chOff x="456415" y="361950"/>
            <a:chExt cx="592173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群的性质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8584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定理6.2.3：可除条件——方程总有解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theorem"/>
          <p:cNvGrpSpPr/>
          <p:nvPr/>
        </p:nvGrpSpPr>
        <p:grpSpPr>
          <a:xfrm>
            <a:off x="533400" y="1485900"/>
            <a:ext cx="11125200" cy="876300"/>
            <a:chOff x="533400" y="1485900"/>
            <a:chExt cx="11125200" cy="8763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876300"/>
            </a:xfrm>
            <a:prstGeom prst="roundRect">
              <a:avLst>
                <a:gd name="adj" fmla="val 1739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571500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433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6.2.3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5712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(G, ·) 是半群，群定义中的条件 (1) 和 (2) 等价于下列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可除条件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14400" y="1924050"/>
              <a:ext cx="7239000" cy="342900"/>
            </a:xfrm>
            <a:prstGeom prst="roundRect">
              <a:avLst>
                <a:gd name="adj" fmla="val 27778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9942" y="2006918"/>
              <a:ext cx="40719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对于任意 a, b，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 x 使 x·a = b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 y 使 a·y = 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38185" y="2031206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“除法”总能做：左右两种方程都有解</a:t>
              </a:r>
            </a:p>
          </p:txBody>
        </p:sp>
      </p:grpSp>
      <p:grpSp>
        <p:nvGrpSpPr>
          <p:cNvPr id="28" name="forward"/>
          <p:cNvGrpSpPr/>
          <p:nvPr/>
        </p:nvGrpSpPr>
        <p:grpSpPr>
          <a:xfrm>
            <a:off x="533400" y="2438400"/>
            <a:ext cx="2857500" cy="3276600"/>
            <a:chOff x="533400" y="2438400"/>
            <a:chExt cx="2857500" cy="3276600"/>
          </a:xfrm>
        </p:grpSpPr>
        <p:sp>
          <p:nvSpPr>
            <p:cNvPr id="16" name="Rectangle 16"/>
            <p:cNvSpPr/>
            <p:nvPr/>
          </p:nvSpPr>
          <p:spPr>
            <a:xfrm>
              <a:off x="533400" y="2438400"/>
              <a:ext cx="2857500" cy="3276600"/>
            </a:xfrm>
            <a:prstGeom prst="roundRect">
              <a:avLst>
                <a:gd name="adj" fmla="val 533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" y="25717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7858" y="26327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02842" y="2626042"/>
              <a:ext cx="1141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 ⇒ 可除条件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8185" y="29837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在群中直接写出解：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23900" y="3238500"/>
              <a:ext cx="2476500" cy="876300"/>
            </a:xfrm>
            <a:prstGeom prst="roundRect">
              <a:avLst>
                <a:gd name="adj" fmla="val 13043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8680" y="3400425"/>
              <a:ext cx="958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x = b·a⁻¹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0585" y="3764756"/>
              <a:ext cx="1858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x·a = b·(a⁻¹·a) = b·1 = b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23900" y="4229100"/>
              <a:ext cx="2476500" cy="876300"/>
            </a:xfrm>
            <a:prstGeom prst="roundRect">
              <a:avLst>
                <a:gd name="adj" fmla="val 13043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8680" y="4391025"/>
              <a:ext cx="958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y = a⁻¹·b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585" y="4755356"/>
              <a:ext cx="1858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a·y = (a·a⁻¹)·b = 1·b = 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8566" y="5277802"/>
              <a:ext cx="1757553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就是上一页“解方程”的结论：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右乘 a⁻¹ 与左乘 a⁻¹</a:t>
              </a:r>
            </a:p>
          </p:txBody>
        </p:sp>
      </p:grpSp>
      <p:grpSp>
        <p:nvGrpSpPr>
          <p:cNvPr id="52" name="backward"/>
          <p:cNvGrpSpPr/>
          <p:nvPr/>
        </p:nvGrpSpPr>
        <p:grpSpPr>
          <a:xfrm>
            <a:off x="3505200" y="2438400"/>
            <a:ext cx="4953000" cy="3276600"/>
            <a:chOff x="3505200" y="2438400"/>
            <a:chExt cx="4953000" cy="3276600"/>
          </a:xfrm>
        </p:grpSpPr>
        <p:sp>
          <p:nvSpPr>
            <p:cNvPr id="29" name="Rectangle 29"/>
            <p:cNvSpPr/>
            <p:nvPr/>
          </p:nvSpPr>
          <p:spPr>
            <a:xfrm>
              <a:off x="3505200" y="2438400"/>
              <a:ext cx="4953000" cy="3276600"/>
            </a:xfrm>
            <a:prstGeom prst="roundRect">
              <a:avLst>
                <a:gd name="adj" fmla="val 465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657600" y="25717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09658" y="26327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74642" y="2626042"/>
              <a:ext cx="23826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可除条件 ⇒ (1)′、(2)′ ⇒ 群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657600" y="2914650"/>
              <a:ext cx="4648200" cy="704850"/>
            </a:xfrm>
            <a:prstGeom prst="roundRect">
              <a:avLst>
                <a:gd name="adj" fmla="val 162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771900" y="3028950"/>
              <a:ext cx="228600" cy="2286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840051" y="3077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70604" y="3070860"/>
              <a:ext cx="3335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造左壹：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任取 c ∈ G，令 1 为适合 x·c = c 的 x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70223" y="3291364"/>
              <a:ext cx="26021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1·c = c</a:t>
              </a: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依据：可除条件（取 a = b = c）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657600" y="3676650"/>
              <a:ext cx="4648200" cy="704850"/>
            </a:xfrm>
            <a:prstGeom prst="roundRect">
              <a:avLst>
                <a:gd name="adj" fmla="val 162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771900" y="3790950"/>
              <a:ext cx="228600" cy="2286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840051" y="3839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70604" y="3832860"/>
              <a:ext cx="2863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验左壹：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对任意 a，有 y 使 c·y = a，故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70223" y="4053364"/>
              <a:ext cx="38710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1·a = 1·(c·y) = (1·c)·y = c·y = a</a:t>
              </a: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结合律；第 1 步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657600" y="4438650"/>
              <a:ext cx="4648200" cy="704850"/>
            </a:xfrm>
            <a:prstGeom prst="roundRect">
              <a:avLst>
                <a:gd name="adj" fmla="val 162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3771900" y="4552950"/>
              <a:ext cx="228600" cy="2286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840051" y="4601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070604" y="4594860"/>
              <a:ext cx="26049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造左逆：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令 a⁻¹ 为适合 x·a = 1 的 x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70223" y="4815364"/>
              <a:ext cx="25673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a⁻¹·a = 1</a:t>
              </a: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依据：可除条件（取 b = 1）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657600" y="5200650"/>
              <a:ext cx="4648200" cy="400050"/>
            </a:xfrm>
            <a:prstGeom prst="roundRect">
              <a:avLst>
                <a:gd name="adj" fmla="val 28571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3771900" y="5286375"/>
              <a:ext cx="228600" cy="2286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840051" y="53349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070604" y="5328285"/>
              <a:ext cx="3266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左壹 + 左逆，由定理6.2.2 ⇒ (G, ·) 是群 ∎</a:t>
              </a:r>
            </a:p>
          </p:txBody>
        </p:sp>
      </p:grpSp>
      <p:grpSp>
        <p:nvGrpSpPr>
          <p:cNvPr id="96" name="table-intuition"/>
          <p:cNvGrpSpPr/>
          <p:nvPr/>
        </p:nvGrpSpPr>
        <p:grpSpPr>
          <a:xfrm>
            <a:off x="8572500" y="2438400"/>
            <a:ext cx="3086100" cy="3276600"/>
            <a:chOff x="8572500" y="2438400"/>
            <a:chExt cx="3086100" cy="3276600"/>
          </a:xfrm>
        </p:grpSpPr>
        <p:sp>
          <p:nvSpPr>
            <p:cNvPr id="53" name="Rectangle 53"/>
            <p:cNvSpPr/>
            <p:nvPr/>
          </p:nvSpPr>
          <p:spPr>
            <a:xfrm>
              <a:off x="8572500" y="2438400"/>
              <a:ext cx="3086100" cy="3276600"/>
            </a:xfrm>
            <a:prstGeom prst="roundRect">
              <a:avLst>
                <a:gd name="adj" fmla="val 4938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791575" y="2600325"/>
              <a:ext cx="171450" cy="171450"/>
              <a:chOff x="8791575" y="2600325"/>
              <a:chExt cx="171450" cy="17145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791575" y="26003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52400"/>
                    </a:lnTo>
                    <a:cubicBezTo>
                      <a:pt x="171450" y="162921"/>
                      <a:pt x="162921" y="171450"/>
                      <a:pt x="152400" y="171450"/>
                    </a:cubicBez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91575" y="26670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858250" y="2600325"/>
                <a:ext cx="95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">
                    <a:moveTo>
                      <a:pt x="0" y="0"/>
                    </a:moveTo>
                    <a:lnTo>
                      <a:pt x="0" y="1714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9060942" y="2616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在运算表里看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201150" y="2914650"/>
              <a:ext cx="1828800" cy="36195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201150" y="3276600"/>
              <a:ext cx="457200" cy="108585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658350" y="3276600"/>
              <a:ext cx="1371600" cy="1085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667875" y="3648075"/>
              <a:ext cx="438150" cy="342900"/>
            </a:xfrm>
            <a:prstGeom prst="rect">
              <a:avLst/>
            </a:prstGeom>
            <a:solidFill>
              <a:srgbClr val="D5DDF0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125075" y="3648075"/>
              <a:ext cx="438150" cy="342900"/>
            </a:xfrm>
            <a:prstGeom prst="rect">
              <a:avLst/>
            </a:prstGeom>
            <a:solidFill>
              <a:srgbClr val="FDEEE7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582275" y="3648075"/>
              <a:ext cx="438150" cy="342900"/>
            </a:xfrm>
            <a:prstGeom prst="rect">
              <a:avLst/>
            </a:prstGeom>
            <a:solidFill>
              <a:srgbClr val="D5DDF0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125075" y="3286125"/>
              <a:ext cx="438150" cy="3429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125075" y="4010025"/>
              <a:ext cx="438150" cy="3429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7" name="Line 67"/>
            <p:cNvSpPr/>
            <p:nvPr/>
          </p:nvSpPr>
          <p:spPr>
            <a:xfrm>
              <a:off x="9201150" y="3276600"/>
              <a:ext cx="1828800" cy="9525"/>
            </a:xfrm>
            <a:custGeom>
              <a:avLst/>
              <a:gdLst/>
              <a:ahLst/>
              <a:cxnLst/>
              <a:rect l="l" t="t" r="r" b="b"/>
              <a:pathLst>
                <a:path w="1828800" h="9525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9201150" y="3638550"/>
              <a:ext cx="1828800" cy="9525"/>
            </a:xfrm>
            <a:custGeom>
              <a:avLst/>
              <a:gdLst/>
              <a:ahLst/>
              <a:cxnLst/>
              <a:rect l="l" t="t" r="r" b="b"/>
              <a:pathLst>
                <a:path w="1828800" h="9525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9201150" y="4000500"/>
              <a:ext cx="1828800" cy="9525"/>
            </a:xfrm>
            <a:custGeom>
              <a:avLst/>
              <a:gdLst/>
              <a:ahLst/>
              <a:cxnLst/>
              <a:rect l="l" t="t" r="r" b="b"/>
              <a:pathLst>
                <a:path w="1828800" h="9525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9658350" y="2914650"/>
              <a:ext cx="9525" cy="1447800"/>
            </a:xfrm>
            <a:custGeom>
              <a:avLst/>
              <a:gdLst/>
              <a:ahLst/>
              <a:cxnLst/>
              <a:rect l="l" t="t" r="r" b="b"/>
              <a:pathLst>
                <a:path w="9525" h="1447800">
                  <a:moveTo>
                    <a:pt x="0" y="0"/>
                  </a:moveTo>
                  <a:lnTo>
                    <a:pt x="0" y="14478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1" name="Line 71"/>
            <p:cNvSpPr/>
            <p:nvPr/>
          </p:nvSpPr>
          <p:spPr>
            <a:xfrm>
              <a:off x="10115550" y="2914650"/>
              <a:ext cx="9525" cy="1447800"/>
            </a:xfrm>
            <a:custGeom>
              <a:avLst/>
              <a:gdLst/>
              <a:ahLst/>
              <a:cxnLst/>
              <a:rect l="l" t="t" r="r" b="b"/>
              <a:pathLst>
                <a:path w="9525" h="1447800">
                  <a:moveTo>
                    <a:pt x="0" y="0"/>
                  </a:moveTo>
                  <a:lnTo>
                    <a:pt x="0" y="14478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10572750" y="2914650"/>
              <a:ext cx="9525" cy="1447800"/>
            </a:xfrm>
            <a:custGeom>
              <a:avLst/>
              <a:gdLst/>
              <a:ahLst/>
              <a:cxnLst/>
              <a:rect l="l" t="t" r="r" b="b"/>
              <a:pathLst>
                <a:path w="9525" h="1447800">
                  <a:moveTo>
                    <a:pt x="0" y="0"/>
                  </a:moveTo>
                  <a:lnTo>
                    <a:pt x="0" y="14478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9201150" y="2914650"/>
              <a:ext cx="1828800" cy="14478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370415" y="300990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827615" y="300990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284815" y="300990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742015" y="300990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370415" y="337185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830114" y="337185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284815" y="337185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744514" y="337185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370415" y="373380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827615" y="373380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284815" y="373380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742015" y="373380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370415" y="409575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830114" y="409575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284815" y="409575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744514" y="409575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8763000" y="4533900"/>
              <a:ext cx="133350" cy="133350"/>
            </a:xfrm>
            <a:prstGeom prst="roundRect">
              <a:avLst>
                <a:gd name="adj" fmla="val 21429"/>
              </a:avLst>
            </a:prstGeom>
            <a:solidFill>
              <a:srgbClr val="D5DDF0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966835" y="4536281"/>
              <a:ext cx="1941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a·y = b 有解 ⇔ 第 a </a:t>
              </a:r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行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里有 b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763000" y="4781550"/>
              <a:ext cx="133350" cy="13335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966835" y="4783931"/>
              <a:ext cx="1941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x·a = b 有解 ⇔ 第 a 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列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里有 b</a:t>
              </a:r>
            </a:p>
          </p:txBody>
        </p:sp>
        <p:sp>
          <p:nvSpPr>
            <p:cNvPr id="94" name="Line 94"/>
            <p:cNvSpPr/>
            <p:nvPr/>
          </p:nvSpPr>
          <p:spPr>
            <a:xfrm>
              <a:off x="8763000" y="5067300"/>
              <a:ext cx="2705100" cy="9525"/>
            </a:xfrm>
            <a:custGeom>
              <a:avLst/>
              <a:gdLst/>
              <a:ahLst/>
              <a:cxnLst/>
              <a:rect l="l" t="t" r="r" b="b"/>
              <a:pathLst>
                <a:path w="2705100" h="9525">
                  <a:moveTo>
                    <a:pt x="0" y="0"/>
                  </a:moveTo>
                  <a:lnTo>
                    <a:pt x="27051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757285" y="5193506"/>
              <a:ext cx="157607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有限群的表：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每行、每列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每个元素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恰好出现一次</a:t>
              </a:r>
            </a:p>
          </p:txBody>
        </p:sp>
      </p:grpSp>
      <p:grpSp>
        <p:nvGrpSpPr>
          <p:cNvPr id="10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97" name="Rectangle 97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8" name="Freeform 98"/>
            <p:cNvSpPr/>
            <p:nvPr/>
          </p:nvSpPr>
          <p:spPr>
            <a:xfrm>
              <a:off x="762000" y="5991225"/>
              <a:ext cx="228599" cy="228599"/>
            </a:xfrm>
            <a:custGeom>
              <a:avLst/>
              <a:gdLst/>
              <a:ahLst/>
              <a:cxnLst/>
              <a:rect l="l" t="t" r="r" b="b"/>
              <a:pathLst>
                <a:path w="228599" h="228599">
                  <a:moveTo>
                    <a:pt x="12700" y="50800"/>
                  </a:moveTo>
                  <a:lnTo>
                    <a:pt x="50800" y="50800"/>
                  </a:lnTo>
                  <a:cubicBezTo>
                    <a:pt x="57814" y="50800"/>
                    <a:pt x="63500" y="45114"/>
                    <a:pt x="63500" y="38100"/>
                  </a:cubicBezTo>
                  <a:lnTo>
                    <a:pt x="63500" y="25400"/>
                  </a:lnTo>
                  <a:cubicBezTo>
                    <a:pt x="63500" y="11372"/>
                    <a:pt x="74872" y="0"/>
                    <a:pt x="88900" y="0"/>
                  </a:cubicBezTo>
                  <a:cubicBezTo>
                    <a:pt x="102928" y="0"/>
                    <a:pt x="114300" y="11372"/>
                    <a:pt x="114300" y="25400"/>
                  </a:cubicBezTo>
                  <a:lnTo>
                    <a:pt x="114300" y="38100"/>
                  </a:lnTo>
                  <a:cubicBezTo>
                    <a:pt x="114300" y="45114"/>
                    <a:pt x="119986" y="50800"/>
                    <a:pt x="127000" y="50800"/>
                  </a:cubicBezTo>
                  <a:lnTo>
                    <a:pt x="165100" y="50800"/>
                  </a:lnTo>
                  <a:cubicBezTo>
                    <a:pt x="172114" y="50800"/>
                    <a:pt x="177800" y="56486"/>
                    <a:pt x="177800" y="63500"/>
                  </a:cubicBezTo>
                  <a:lnTo>
                    <a:pt x="177800" y="101600"/>
                  </a:lnTo>
                  <a:cubicBezTo>
                    <a:pt x="177800" y="108614"/>
                    <a:pt x="183486" y="114300"/>
                    <a:pt x="190500" y="114300"/>
                  </a:cubicBezTo>
                  <a:lnTo>
                    <a:pt x="203199" y="114300"/>
                  </a:lnTo>
                  <a:cubicBezTo>
                    <a:pt x="217227" y="114300"/>
                    <a:pt x="228599" y="125672"/>
                    <a:pt x="228599" y="139700"/>
                  </a:cubicBezTo>
                  <a:cubicBezTo>
                    <a:pt x="228599" y="153728"/>
                    <a:pt x="217227" y="165100"/>
                    <a:pt x="203199" y="165100"/>
                  </a:cubicBezTo>
                  <a:lnTo>
                    <a:pt x="190500" y="165100"/>
                  </a:lnTo>
                  <a:cubicBezTo>
                    <a:pt x="183486" y="165100"/>
                    <a:pt x="177800" y="170786"/>
                    <a:pt x="177800" y="177800"/>
                  </a:cubicBezTo>
                  <a:lnTo>
                    <a:pt x="177800" y="215899"/>
                  </a:lnTo>
                  <a:cubicBezTo>
                    <a:pt x="177800" y="222913"/>
                    <a:pt x="172114" y="228599"/>
                    <a:pt x="165100" y="228599"/>
                  </a:cubicBezTo>
                  <a:lnTo>
                    <a:pt x="127000" y="228599"/>
                  </a:lnTo>
                  <a:cubicBezTo>
                    <a:pt x="119986" y="228599"/>
                    <a:pt x="114300" y="222913"/>
                    <a:pt x="114300" y="215899"/>
                  </a:cubicBezTo>
                  <a:lnTo>
                    <a:pt x="114300" y="203199"/>
                  </a:lnTo>
                  <a:cubicBezTo>
                    <a:pt x="114300" y="189171"/>
                    <a:pt x="102928" y="177800"/>
                    <a:pt x="88900" y="177800"/>
                  </a:cubicBezTo>
                  <a:cubicBezTo>
                    <a:pt x="74872" y="177800"/>
                    <a:pt x="63500" y="189171"/>
                    <a:pt x="63500" y="203199"/>
                  </a:cubicBezTo>
                  <a:lnTo>
                    <a:pt x="63500" y="215899"/>
                  </a:lnTo>
                  <a:cubicBezTo>
                    <a:pt x="63500" y="222913"/>
                    <a:pt x="57814" y="228599"/>
                    <a:pt x="50800" y="228599"/>
                  </a:cubicBezTo>
                  <a:lnTo>
                    <a:pt x="12700" y="228599"/>
                  </a:lnTo>
                  <a:cubicBezTo>
                    <a:pt x="5686" y="228599"/>
                    <a:pt x="0" y="222913"/>
                    <a:pt x="0" y="215899"/>
                  </a:cubicBezTo>
                  <a:lnTo>
                    <a:pt x="0" y="177800"/>
                  </a:lnTo>
                  <a:cubicBezTo>
                    <a:pt x="0" y="170786"/>
                    <a:pt x="5686" y="165100"/>
                    <a:pt x="12700" y="165100"/>
                  </a:cubicBezTo>
                  <a:lnTo>
                    <a:pt x="25400" y="165100"/>
                  </a:lnTo>
                  <a:cubicBezTo>
                    <a:pt x="39428" y="165100"/>
                    <a:pt x="50800" y="153728"/>
                    <a:pt x="50800" y="139700"/>
                  </a:cubicBezTo>
                  <a:cubicBezTo>
                    <a:pt x="50800" y="125672"/>
                    <a:pt x="39428" y="114300"/>
                    <a:pt x="25400" y="114300"/>
                  </a:cubicBezTo>
                  <a:lnTo>
                    <a:pt x="12700" y="114300"/>
                  </a:lnTo>
                  <a:cubicBezTo>
                    <a:pt x="5686" y="114300"/>
                    <a:pt x="0" y="108614"/>
                    <a:pt x="0" y="101600"/>
                  </a:cubicBezTo>
                  <a:lnTo>
                    <a:pt x="0" y="63500"/>
                  </a:lnTo>
                  <a:cubicBezTo>
                    <a:pt x="0" y="56486"/>
                    <a:pt x="5686" y="50800"/>
                    <a:pt x="12700" y="50800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1134618" y="6003608"/>
              <a:ext cx="67915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半群中：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有壹有逆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⇔ </a:t>
              </a:r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x·a = b、a·y = b 总有解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；判群又多了一条路。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01" name="TextBox 101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5179337" cy="960501"/>
            <a:chOff x="456415" y="361950"/>
            <a:chExt cx="5179337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群的性质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160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例题：从运算表判群、补全群表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example-one"/>
          <p:cNvGrpSpPr/>
          <p:nvPr/>
        </p:nvGrpSpPr>
        <p:grpSpPr>
          <a:xfrm>
            <a:off x="533400" y="1485900"/>
            <a:ext cx="3543300" cy="4229100"/>
            <a:chOff x="533400" y="1485900"/>
            <a:chExt cx="35433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543300" cy="4229100"/>
            </a:xfrm>
            <a:prstGeom prst="roundRect">
              <a:avLst>
                <a:gd name="adj" fmla="val 430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743" y="168021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41704" y="16897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用可除条件判断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7804" y="20421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下面的乘法表是否为群？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238250" y="2324100"/>
              <a:ext cx="2133600" cy="4191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238250" y="2743200"/>
              <a:ext cx="533400" cy="12573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771650" y="2743200"/>
              <a:ext cx="1600200" cy="1257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781175" y="2752725"/>
              <a:ext cx="514350" cy="4000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781175" y="3590925"/>
              <a:ext cx="514350" cy="4000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1238250" y="2743200"/>
              <a:ext cx="2133600" cy="9525"/>
            </a:xfrm>
            <a:custGeom>
              <a:avLst/>
              <a:gdLst/>
              <a:ahLst/>
              <a:cxnLst/>
              <a:rect l="l" t="t" r="r" b="b"/>
              <a:pathLst>
                <a:path w="2133600" h="9525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238250" y="3162300"/>
              <a:ext cx="2133600" cy="9525"/>
            </a:xfrm>
            <a:custGeom>
              <a:avLst/>
              <a:gdLst/>
              <a:ahLst/>
              <a:cxnLst/>
              <a:rect l="l" t="t" r="r" b="b"/>
              <a:pathLst>
                <a:path w="2133600" h="9525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238250" y="3581400"/>
              <a:ext cx="2133600" cy="9525"/>
            </a:xfrm>
            <a:custGeom>
              <a:avLst/>
              <a:gdLst/>
              <a:ahLst/>
              <a:cxnLst/>
              <a:rect l="l" t="t" r="r" b="b"/>
              <a:pathLst>
                <a:path w="2133600" h="9525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771650" y="232410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2305050" y="232410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2838450" y="232410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238250" y="2324100"/>
              <a:ext cx="2133600" cy="16764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39023" y="2438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72423" y="2438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05823" y="2438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39223" y="2438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39023" y="28575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72423" y="28575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08599" y="28575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41999" y="28575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39023" y="3276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75199" y="3276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08599" y="3276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41999" y="3276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39023" y="36957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72423" y="36957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508599" y="36957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41999" y="36957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23900" y="4152900"/>
              <a:ext cx="3162300" cy="1409700"/>
            </a:xfrm>
            <a:prstGeom prst="roundRect">
              <a:avLst>
                <a:gd name="adj" fmla="val 8108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9442" y="4292918"/>
              <a:ext cx="8069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 不是群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0585" y="4602956"/>
              <a:ext cx="2457958" cy="7343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列为 a, b, a：a 重复出现，c 没出现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⇒ 方程 </a:t>
              </a:r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x·a = c 无解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，可除条件不成立</a:t>
              </a:r>
            </a:p>
            <a:p>
              <a:pPr algn="l">
                <a:lnSpc>
                  <a:spcPts val="1800"/>
                </a:lnSpc>
                <a:spcBef>
                  <a:spcPts val="450"/>
                </a:spcBef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（c 列为 c, c, b，同样有重复）</a:t>
              </a:r>
            </a:p>
          </p:txBody>
        </p:sp>
      </p:grpSp>
      <p:grpSp>
        <p:nvGrpSpPr>
          <p:cNvPr id="132" name="example-two"/>
          <p:cNvGrpSpPr/>
          <p:nvPr/>
        </p:nvGrpSpPr>
        <p:grpSpPr>
          <a:xfrm>
            <a:off x="4191000" y="1485900"/>
            <a:ext cx="3810000" cy="4229100"/>
            <a:chOff x="4191000" y="1485900"/>
            <a:chExt cx="3810000" cy="4229100"/>
          </a:xfrm>
        </p:grpSpPr>
        <p:sp>
          <p:nvSpPr>
            <p:cNvPr id="44" name="Rectangle 44"/>
            <p:cNvSpPr/>
            <p:nvPr/>
          </p:nvSpPr>
          <p:spPr>
            <a:xfrm>
              <a:off x="4191000" y="1485900"/>
              <a:ext cx="3810000" cy="4229100"/>
            </a:xfrm>
            <a:prstGeom prst="roundRect">
              <a:avLst>
                <a:gd name="adj" fmla="val 4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43815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527343" y="168021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99304" y="1689735"/>
              <a:ext cx="176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补全群表（1 是单位元）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75404" y="2042160"/>
              <a:ext cx="2944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已知表中 9 个乘积，填写未列出的元素：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838700" y="2324100"/>
              <a:ext cx="2514600" cy="3429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838700" y="2667000"/>
              <a:ext cx="419100" cy="17145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257800" y="2667000"/>
              <a:ext cx="2095500" cy="171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267325" y="2676525"/>
              <a:ext cx="40005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686425" y="3019425"/>
              <a:ext cx="40005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43725" y="3019425"/>
              <a:ext cx="40005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686425" y="3362325"/>
              <a:ext cx="40005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105525" y="3362325"/>
              <a:ext cx="40005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524625" y="3362325"/>
              <a:ext cx="40005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686425" y="3705225"/>
              <a:ext cx="40005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524625" y="3705225"/>
              <a:ext cx="40005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943725" y="3705225"/>
              <a:ext cx="40005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686425" y="2676525"/>
              <a:ext cx="400050" cy="32385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105525" y="2676525"/>
              <a:ext cx="400050" cy="32385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524625" y="2676525"/>
              <a:ext cx="400050" cy="32385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943725" y="2676525"/>
              <a:ext cx="400050" cy="32385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267325" y="3019425"/>
              <a:ext cx="400050" cy="32385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267325" y="3362325"/>
              <a:ext cx="400050" cy="32385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267325" y="3705225"/>
              <a:ext cx="400050" cy="32385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267325" y="4048125"/>
              <a:ext cx="400050" cy="32385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105525" y="3019425"/>
              <a:ext cx="400050" cy="3238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524625" y="3019425"/>
              <a:ext cx="400050" cy="3238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943725" y="3362325"/>
              <a:ext cx="400050" cy="3238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105525" y="3705225"/>
              <a:ext cx="400050" cy="3238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5686425" y="4048125"/>
              <a:ext cx="400050" cy="3238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105525" y="4048125"/>
              <a:ext cx="400050" cy="3238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524625" y="4048125"/>
              <a:ext cx="400050" cy="3238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943725" y="4048125"/>
              <a:ext cx="400050" cy="3238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7" name="Line 77"/>
            <p:cNvSpPr/>
            <p:nvPr/>
          </p:nvSpPr>
          <p:spPr>
            <a:xfrm>
              <a:off x="4838700" y="26670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4838700" y="30099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4838700" y="33528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4838700" y="36957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81" name="Line 81"/>
            <p:cNvSpPr/>
            <p:nvPr/>
          </p:nvSpPr>
          <p:spPr>
            <a:xfrm>
              <a:off x="4838700" y="40386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82" name="Line 82"/>
            <p:cNvSpPr/>
            <p:nvPr/>
          </p:nvSpPr>
          <p:spPr>
            <a:xfrm>
              <a:off x="5257800" y="232410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83" name="Line 83"/>
            <p:cNvSpPr/>
            <p:nvPr/>
          </p:nvSpPr>
          <p:spPr>
            <a:xfrm>
              <a:off x="5676900" y="232410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84" name="Line 84"/>
            <p:cNvSpPr/>
            <p:nvPr/>
          </p:nvSpPr>
          <p:spPr>
            <a:xfrm>
              <a:off x="6096000" y="232410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85" name="Line 85"/>
            <p:cNvSpPr/>
            <p:nvPr/>
          </p:nvSpPr>
          <p:spPr>
            <a:xfrm>
              <a:off x="6515100" y="232410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86" name="Line 86"/>
            <p:cNvSpPr/>
            <p:nvPr/>
          </p:nvSpPr>
          <p:spPr>
            <a:xfrm>
              <a:off x="6934200" y="232410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4838700" y="2324100"/>
              <a:ext cx="2514600" cy="20574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4988915" y="24098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408015" y="24098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827115" y="24098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246215" y="24098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665315" y="24098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084415" y="24098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4988915" y="27527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5408015" y="27527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827115" y="27527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246215" y="27527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665315" y="27527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084415" y="27527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4988915" y="30956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5408015" y="30956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5827115" y="30956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246215" y="30956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665315" y="30956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084415" y="30956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4988915" y="34385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5408015" y="34385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5827115" y="34385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6246215" y="34385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665315" y="34385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084415" y="34385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4988915" y="37814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5408015" y="37814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5827115" y="37814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6246215" y="37814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6665315" y="37814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084415" y="37814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4988915" y="41243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5408015" y="41243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5827115" y="41243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6246215" y="41243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6665315" y="41243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7084415" y="41243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4381500" y="4533900"/>
              <a:ext cx="133350" cy="133350"/>
            </a:xfrm>
            <a:prstGeom prst="roundRect">
              <a:avLst>
                <a:gd name="adj" fmla="val 21429"/>
              </a:avLst>
            </a:prstGeom>
            <a:solidFill>
              <a:schemeClr val="lt1"/>
            </a:solidFill>
            <a:ln w="9525">
              <a:solidFill>
                <a:schemeClr val="dk1"/>
              </a:solidFill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4567047" y="45524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题目已知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5334000" y="4533900"/>
              <a:ext cx="133350" cy="133350"/>
            </a:xfrm>
            <a:prstGeom prst="roundRect">
              <a:avLst>
                <a:gd name="adj" fmla="val 21429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5519547" y="455247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单位元行、列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6438900" y="4533900"/>
              <a:ext cx="133350" cy="13335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6624447" y="45524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推出后补填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4381500" y="4781550"/>
              <a:ext cx="3429000" cy="781050"/>
            </a:xfrm>
            <a:prstGeom prst="roundRect">
              <a:avLst>
                <a:gd name="adj" fmla="val 14634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4528185" y="4926806"/>
              <a:ext cx="3041142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思路：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= a²（a·a = b），c = a³（b·a = c），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 = a⁴（c·a = d），a⁵ = a·d = 1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⇒ aⁱ·aʲ：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指数相加再模 5</a:t>
              </a:r>
            </a:p>
          </p:txBody>
        </p:sp>
      </p:grpSp>
      <p:grpSp>
        <p:nvGrpSpPr>
          <p:cNvPr id="170" name="exercise-four"/>
          <p:cNvGrpSpPr/>
          <p:nvPr/>
        </p:nvGrpSpPr>
        <p:grpSpPr>
          <a:xfrm>
            <a:off x="8115300" y="1485900"/>
            <a:ext cx="3543300" cy="4229100"/>
            <a:chOff x="8115300" y="1485900"/>
            <a:chExt cx="3543300" cy="4229100"/>
          </a:xfrm>
        </p:grpSpPr>
        <p:sp>
          <p:nvSpPr>
            <p:cNvPr id="133" name="Rectangle 133"/>
            <p:cNvSpPr/>
            <p:nvPr/>
          </p:nvSpPr>
          <p:spPr>
            <a:xfrm>
              <a:off x="8115300" y="1485900"/>
              <a:ext cx="3543300" cy="4229100"/>
            </a:xfrm>
            <a:prstGeom prst="roundRect">
              <a:avLst>
                <a:gd name="adj" fmla="val 430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83058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84128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6.2-4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8299704" y="2042160"/>
              <a:ext cx="3206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 = {a, b, c}，(G, ·) 是半群吗？是群吗？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8820150" y="2324100"/>
              <a:ext cx="2133600" cy="4191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8820150" y="2743200"/>
              <a:ext cx="533400" cy="12573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9353550" y="2743200"/>
              <a:ext cx="1600200" cy="1257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0" name="Rectangle 140"/>
            <p:cNvSpPr/>
            <p:nvPr/>
          </p:nvSpPr>
          <p:spPr>
            <a:xfrm>
              <a:off x="9363075" y="3590925"/>
              <a:ext cx="514350" cy="4000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1" name="Rectangle 141"/>
            <p:cNvSpPr/>
            <p:nvPr/>
          </p:nvSpPr>
          <p:spPr>
            <a:xfrm>
              <a:off x="9896475" y="3590925"/>
              <a:ext cx="514350" cy="4000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10429875" y="3590925"/>
              <a:ext cx="514350" cy="4000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3" name="Line 143"/>
            <p:cNvSpPr/>
            <p:nvPr/>
          </p:nvSpPr>
          <p:spPr>
            <a:xfrm>
              <a:off x="8820150" y="2743200"/>
              <a:ext cx="2133600" cy="9525"/>
            </a:xfrm>
            <a:custGeom>
              <a:avLst/>
              <a:gdLst/>
              <a:ahLst/>
              <a:cxnLst/>
              <a:rect l="l" t="t" r="r" b="b"/>
              <a:pathLst>
                <a:path w="2133600" h="9525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44" name="Line 144"/>
            <p:cNvSpPr/>
            <p:nvPr/>
          </p:nvSpPr>
          <p:spPr>
            <a:xfrm>
              <a:off x="8820150" y="3162300"/>
              <a:ext cx="2133600" cy="9525"/>
            </a:xfrm>
            <a:custGeom>
              <a:avLst/>
              <a:gdLst/>
              <a:ahLst/>
              <a:cxnLst/>
              <a:rect l="l" t="t" r="r" b="b"/>
              <a:pathLst>
                <a:path w="2133600" h="9525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45" name="Line 145"/>
            <p:cNvSpPr/>
            <p:nvPr/>
          </p:nvSpPr>
          <p:spPr>
            <a:xfrm>
              <a:off x="8820150" y="3581400"/>
              <a:ext cx="2133600" cy="9525"/>
            </a:xfrm>
            <a:custGeom>
              <a:avLst/>
              <a:gdLst/>
              <a:ahLst/>
              <a:cxnLst/>
              <a:rect l="l" t="t" r="r" b="b"/>
              <a:pathLst>
                <a:path w="2133600" h="9525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46" name="Line 146"/>
            <p:cNvSpPr/>
            <p:nvPr/>
          </p:nvSpPr>
          <p:spPr>
            <a:xfrm>
              <a:off x="9353550" y="232410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47" name="Line 147"/>
            <p:cNvSpPr/>
            <p:nvPr/>
          </p:nvSpPr>
          <p:spPr>
            <a:xfrm>
              <a:off x="9886950" y="232410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48" name="Line 148"/>
            <p:cNvSpPr/>
            <p:nvPr/>
          </p:nvSpPr>
          <p:spPr>
            <a:xfrm>
              <a:off x="10420350" y="232410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49" name="Rectangle 149"/>
            <p:cNvSpPr/>
            <p:nvPr/>
          </p:nvSpPr>
          <p:spPr>
            <a:xfrm>
              <a:off x="8820150" y="2324100"/>
              <a:ext cx="2133600" cy="16764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9020923" y="2438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9554323" y="2438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10087723" y="2438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10621123" y="2438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9020923" y="28575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9557099" y="28575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10090499" y="28575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10623899" y="28575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9020923" y="3276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9557099" y="3276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10090499" y="3276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10623899" y="32766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9020923" y="36957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9554323" y="36957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10087723" y="36957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10621123" y="36957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66" name="Rectangle 166"/>
            <p:cNvSpPr/>
            <p:nvPr/>
          </p:nvSpPr>
          <p:spPr>
            <a:xfrm>
              <a:off x="8305800" y="4152900"/>
              <a:ext cx="3162300" cy="590550"/>
            </a:xfrm>
            <a:prstGeom prst="roundRect">
              <a:avLst>
                <a:gd name="adj" fmla="val 19355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8452485" y="4279106"/>
              <a:ext cx="239395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 是半群：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封闭；a 是单位元；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结合律可对 27 种 (x, y, z) 逐一验证</a:t>
              </a:r>
            </a:p>
          </p:txBody>
        </p:sp>
        <p:sp>
          <p:nvSpPr>
            <p:cNvPr id="168" name="Rectangle 168"/>
            <p:cNvSpPr/>
            <p:nvPr/>
          </p:nvSpPr>
          <p:spPr>
            <a:xfrm>
              <a:off x="8305800" y="4819650"/>
              <a:ext cx="3162300" cy="742950"/>
            </a:xfrm>
            <a:prstGeom prst="roundRect">
              <a:avLst>
                <a:gd name="adj" fmla="val 15385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9" name="TextBox 169"/>
            <p:cNvSpPr txBox="1"/>
            <p:nvPr/>
          </p:nvSpPr>
          <p:spPr>
            <a:xfrm>
              <a:off x="8452485" y="4945856"/>
              <a:ext cx="2137918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 不是群：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 行全是 c，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找不到 y 使 c·y = a ⇒ c 没有逆元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（c 是零元，呼应“群中无零元”）</a:t>
              </a:r>
            </a:p>
          </p:txBody>
        </p:sp>
      </p:grpSp>
      <p:grpSp>
        <p:nvGrpSpPr>
          <p:cNvPr id="177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71" name="Rectangle 171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75" name="Group 175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172" name="Freeform 172"/>
              <p:cNvSpPr/>
              <p:nvPr/>
            </p:nvSpPr>
            <p:spPr>
              <a:xfrm>
                <a:off x="762000" y="5991225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203199" y="0"/>
                    </a:lnTo>
                    <a:cubicBezTo>
                      <a:pt x="217227" y="0"/>
                      <a:pt x="228599" y="11372"/>
                      <a:pt x="228599" y="25400"/>
                    </a:cubicBezTo>
                    <a:lnTo>
                      <a:pt x="228599" y="203199"/>
                    </a:lnTo>
                    <a:cubicBezTo>
                      <a:pt x="228599" y="217227"/>
                      <a:pt x="217227" y="228599"/>
                      <a:pt x="203199" y="228599"/>
                    </a:cubicBez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73" name="Freeform 173"/>
              <p:cNvSpPr/>
              <p:nvPr/>
            </p:nvSpPr>
            <p:spPr>
              <a:xfrm>
                <a:off x="762000" y="6080125"/>
                <a:ext cx="2285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9525">
                    <a:moveTo>
                      <a:pt x="0" y="0"/>
                    </a:moveTo>
                    <a:lnTo>
                      <a:pt x="2285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74" name="Freeform 174"/>
              <p:cNvSpPr/>
              <p:nvPr/>
            </p:nvSpPr>
            <p:spPr>
              <a:xfrm>
                <a:off x="850900" y="5991225"/>
                <a:ext cx="9525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599">
                    <a:moveTo>
                      <a:pt x="0" y="0"/>
                    </a:moveTo>
                    <a:lnTo>
                      <a:pt x="0" y="2285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76" name="TextBox 176"/>
            <p:cNvSpPr txBox="1"/>
            <p:nvPr/>
          </p:nvSpPr>
          <p:spPr>
            <a:xfrm>
              <a:off x="1134618" y="6003608"/>
              <a:ext cx="77910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群表的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每行、每列都没有重复元素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：一旦有重复就不是群；补表时用它来检查。</a:t>
              </a:r>
            </a:p>
          </p:txBody>
        </p:sp>
      </p:grpSp>
      <p:grpSp>
        <p:nvGrpSpPr>
          <p:cNvPr id="180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78" name="TextBox 178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179" name="TextBox 179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3876283" cy="960501"/>
            <a:chOff x="456415" y="361950"/>
            <a:chExt cx="387628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群的性质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38130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有限半群 + 消去律 ⇒ 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problem"/>
          <p:cNvGrpSpPr/>
          <p:nvPr/>
        </p:nvGrpSpPr>
        <p:grpSpPr>
          <a:xfrm>
            <a:off x="533400" y="1485900"/>
            <a:ext cx="3352800" cy="2209800"/>
            <a:chOff x="533400" y="1485900"/>
            <a:chExt cx="3352800" cy="22098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352800" cy="2209800"/>
            </a:xfrm>
            <a:prstGeom prst="roundRect">
              <a:avLst>
                <a:gd name="adj" fmla="val 689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905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6.2-2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0204" y="2042160"/>
              <a:ext cx="1993392" cy="1511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举例说明：不要求可除条件，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而要求</a:t>
              </a: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消去条件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 a·x = a·y 可推出 x = y，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 x·a = y·a 可推出 x = y，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 G 不见得是一个群。</a:t>
              </a:r>
            </a:p>
            <a:p>
              <a:pPr algn="l">
                <a:lnSpc>
                  <a:spcPts val="1950"/>
                </a:lnSpc>
                <a:spcBef>
                  <a:spcPts val="300"/>
                </a:spcBef>
              </a:pP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若 G 有限，怎么样？</a:t>
              </a:r>
            </a:p>
          </p:txBody>
        </p:sp>
      </p:grpSp>
      <p:grpSp>
        <p:nvGrpSpPr>
          <p:cNvPr id="19" name="infinite-counter"/>
          <p:cNvGrpSpPr/>
          <p:nvPr/>
        </p:nvGrpSpPr>
        <p:grpSpPr>
          <a:xfrm>
            <a:off x="533400" y="3810000"/>
            <a:ext cx="3352800" cy="1905000"/>
            <a:chOff x="533400" y="3810000"/>
            <a:chExt cx="33528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533400" y="3810000"/>
              <a:ext cx="3352800" cy="1905000"/>
            </a:xfrm>
            <a:prstGeom prst="roundRect">
              <a:avLst>
                <a:gd name="adj" fmla="val 8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85800" y="3962400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76300" y="39433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13460" y="4004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93723" y="4005739"/>
              <a:ext cx="13996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(1) 无限时不成立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0204" y="4385310"/>
              <a:ext cx="1947672" cy="1244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全体正整数 Z⁺ 对普通乘法：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封闭、结合，满足消去律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（ab = ac ⇒ b = c）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有单位元 1，但 2 没有逆元</a:t>
              </a:r>
            </a:p>
            <a:p>
              <a:pPr algn="l">
                <a:lnSpc>
                  <a:spcPts val="1950"/>
                </a:lnSpc>
                <a:spcBef>
                  <a:spcPts val="150"/>
                </a:spcBef>
              </a:pPr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⇒ (Z⁺, ·) 不是群</a:t>
              </a:r>
            </a:p>
          </p:txBody>
        </p:sp>
      </p:grpSp>
      <p:grpSp>
        <p:nvGrpSpPr>
          <p:cNvPr id="44" name="finite-proof"/>
          <p:cNvGrpSpPr/>
          <p:nvPr/>
        </p:nvGrpSpPr>
        <p:grpSpPr>
          <a:xfrm>
            <a:off x="4000500" y="1485900"/>
            <a:ext cx="4457700" cy="4229100"/>
            <a:chOff x="4000500" y="1485900"/>
            <a:chExt cx="4457700" cy="4229100"/>
          </a:xfrm>
        </p:grpSpPr>
        <p:sp>
          <p:nvSpPr>
            <p:cNvPr id="20" name="Rectangle 20"/>
            <p:cNvSpPr/>
            <p:nvPr/>
          </p:nvSpPr>
          <p:spPr>
            <a:xfrm>
              <a:off x="4000500" y="1485900"/>
              <a:ext cx="44577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1910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3281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08423" y="1681639"/>
              <a:ext cx="2469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有限半群满足消去条件 ⇒ 群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191000" y="2000250"/>
              <a:ext cx="4076700" cy="781050"/>
            </a:xfrm>
            <a:prstGeom prst="roundRect">
              <a:avLst>
                <a:gd name="adj" fmla="val 146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286250" y="2057400"/>
              <a:ext cx="228600" cy="228600"/>
            </a:xfrm>
            <a:prstGeom prst="ellipse">
              <a:avLst/>
            </a:prstGeom>
            <a:solidFill>
              <a:srgbClr val="0F7A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54401" y="2105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84954" y="2099310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右乘同一个 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85335" y="2336006"/>
              <a:ext cx="255041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G = {a₁, a₂, …, aₙ}，任取 a ∈ G，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用 a 右乘各元素：a₁·a, a₂·a, …, aₙ·a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191000" y="2838450"/>
              <a:ext cx="4076700" cy="781050"/>
            </a:xfrm>
            <a:prstGeom prst="roundRect">
              <a:avLst>
                <a:gd name="adj" fmla="val 146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4286250" y="2895600"/>
              <a:ext cx="228600" cy="228600"/>
            </a:xfrm>
            <a:prstGeom prst="ellipse">
              <a:avLst/>
            </a:prstGeom>
            <a:solidFill>
              <a:srgbClr val="0F7A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354401" y="29441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84954" y="293751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这 n 个元素互不相同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85335" y="3174206"/>
              <a:ext cx="208813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反证：若 aᵢ·a = aⱼ·a（i ≠ j），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由消去条件得 aᵢ = aⱼ，矛盾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191000" y="3676650"/>
              <a:ext cx="4076700" cy="781050"/>
            </a:xfrm>
            <a:prstGeom prst="roundRect">
              <a:avLst>
                <a:gd name="adj" fmla="val 146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286250" y="3733800"/>
              <a:ext cx="228600" cy="228600"/>
            </a:xfrm>
            <a:prstGeom prst="ellipse">
              <a:avLst/>
            </a:prstGeom>
            <a:solidFill>
              <a:srgbClr val="0F7A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354401" y="3782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84954" y="3775710"/>
              <a:ext cx="810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恰好占满 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85335" y="4012406"/>
              <a:ext cx="238683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G₁ = {a₁·a, …, aₙ·a} ⊆ G（封闭），</a:t>
              </a:r>
              <a:br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|G₁| = n = |G| ⇒ G₁ = G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191000" y="4514850"/>
              <a:ext cx="4076700" cy="990600"/>
            </a:xfrm>
            <a:prstGeom prst="roundRect">
              <a:avLst>
                <a:gd name="adj" fmla="val 11538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4286250" y="4572000"/>
              <a:ext cx="228600" cy="228600"/>
            </a:xfrm>
            <a:prstGeom prst="ellipse">
              <a:avLst/>
            </a:prstGeom>
            <a:solidFill>
              <a:srgbClr val="0F7A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354401" y="46205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84954" y="4613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方程都有解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85335" y="4850606"/>
              <a:ext cx="3190494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任意 b ∈ G = G₁，有 aᵢ 使 aᵢ·a = b：x·a = b 有解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同理（用 a 左乘）a·y = b 有解</a:t>
              </a:r>
              <a:br/>
              <a:r>
                <a:rPr lang="zh-CN" sz="1120" b="1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由定理6.2.3，G 是群 ∎</a:t>
              </a:r>
            </a:p>
          </p:txBody>
        </p:sp>
      </p:grpSp>
      <p:grpSp>
        <p:nvGrpSpPr>
          <p:cNvPr id="46" name="pigeon-figure"/>
          <p:cNvGrpSpPr/>
          <p:nvPr/>
        </p:nvGrpSpPr>
        <p:grpSpPr>
          <a:xfrm>
            <a:off x="8572500" y="1485900"/>
            <a:ext cx="3086100" cy="2314575"/>
            <a:chOff x="8572500" y="1485900"/>
            <a:chExt cx="3086100" cy="2314575"/>
          </a:xfrm>
        </p:grpSpPr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72500" y="1485900"/>
              <a:ext cx="3086100" cy="2314575"/>
            </a:xfrm>
            <a:prstGeom prst="roundRect">
              <a:avLst>
                <a:gd name="adj" fmla="val 6584"/>
              </a:avLst>
            </a:prstGeom>
          </p:spPr>
        </p:pic>
      </p:grpSp>
      <p:grpSp>
        <p:nvGrpSpPr>
          <p:cNvPr id="57" name="four-ways"/>
          <p:cNvGrpSpPr/>
          <p:nvPr/>
        </p:nvGrpSpPr>
        <p:grpSpPr>
          <a:xfrm>
            <a:off x="8572500" y="3886200"/>
            <a:ext cx="3086100" cy="1828800"/>
            <a:chOff x="8572500" y="3886200"/>
            <a:chExt cx="3086100" cy="1828800"/>
          </a:xfrm>
        </p:grpSpPr>
        <p:sp>
          <p:nvSpPr>
            <p:cNvPr id="47" name="Rectangle 47"/>
            <p:cNvSpPr/>
            <p:nvPr/>
          </p:nvSpPr>
          <p:spPr>
            <a:xfrm>
              <a:off x="8572500" y="3886200"/>
              <a:ext cx="3086100" cy="1828800"/>
            </a:xfrm>
            <a:prstGeom prst="roundRect">
              <a:avLst>
                <a:gd name="adj" fmla="val 8333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758238" y="4062412"/>
              <a:ext cx="157162" cy="138113"/>
              <a:chOff x="8758238" y="4062412"/>
              <a:chExt cx="157162" cy="13811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758238" y="406241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58238" y="411956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58238" y="417671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829675" y="407670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829675" y="413385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829675" y="419100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9023223" y="4062889"/>
              <a:ext cx="15904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证明“是群”的四条路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57666" y="4420552"/>
              <a:ext cx="2021586" cy="1234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定义：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封闭、结合、有壹、有逆</a:t>
              </a:r>
              <a:br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定理6.2.2：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半群 + 左壹 + 左逆</a:t>
              </a:r>
              <a:br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定理6.2.3：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半群 + 可除条件</a:t>
              </a:r>
              <a:br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习题6.2-2：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有限半群 + 消去律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8" name="Rectangle 58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55650" y="5991225"/>
              <a:ext cx="241300" cy="228600"/>
              <a:chOff x="755650" y="5991225"/>
              <a:chExt cx="241300" cy="2286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25500" y="5991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55650" y="6118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95350" y="6118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134618" y="6003608"/>
              <a:ext cx="74356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 n 只鸟飞进 n 个格子：</a:t>
              </a:r>
              <a:r>
                <a:rPr lang="zh-CN" sz="16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互不同格，就必然占满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——有限是这个证明的关键。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5" name="TextBox 65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3361967" cy="960501"/>
            <a:chOff x="456415" y="361950"/>
            <a:chExt cx="3361967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群的性质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3298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广义结合律与指数律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general-assoc"/>
          <p:cNvGrpSpPr/>
          <p:nvPr/>
        </p:nvGrpSpPr>
        <p:grpSpPr>
          <a:xfrm>
            <a:off x="533400" y="1485900"/>
            <a:ext cx="5334000" cy="4229100"/>
            <a:chOff x="533400" y="1485900"/>
            <a:chExt cx="53340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3340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952500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161925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623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6.2.4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36242" y="16735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广义结合律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9442" y="2025968"/>
              <a:ext cx="303123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G 是一个群，在一个乘积 a₁a₂…aₙ 中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可以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任意加括号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而求其值。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23900" y="26289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7804" y="2747010"/>
              <a:ext cx="29450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证明思路：都化成“从左往右”加括号的积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9823" y="3005614"/>
              <a:ext cx="3157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(…((a₁·a₂)·a₃)…·aₙ₋₁)·aₙ　　—— (1)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185" y="3288506"/>
              <a:ext cx="4180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 n 归纳：n = 1, 2, 3 显然成立；假定少于 n 个因子时成立。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76300" y="3543300"/>
              <a:ext cx="1866900" cy="323850"/>
            </a:xfrm>
            <a:prstGeom prst="roundRect">
              <a:avLst>
                <a:gd name="adj" fmla="val 23529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05357" y="3632835"/>
              <a:ext cx="8087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ambria Math"/>
                  <a:ea typeface="Microsoft YaHei"/>
                  <a:cs typeface="Cambria Math"/>
                </a:rPr>
                <a:t>B：a₁ ⋯ aₖ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819400" y="3543300"/>
              <a:ext cx="2019300" cy="323850"/>
            </a:xfrm>
            <a:prstGeom prst="roundRect">
              <a:avLst>
                <a:gd name="adj" fmla="val 23529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246958" y="3632835"/>
              <a:ext cx="1164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D：aₖ₊₁ ⋯ aₙ₋₁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914900" y="3543300"/>
              <a:ext cx="609600" cy="323850"/>
            </a:xfrm>
            <a:prstGeom prst="roundRect">
              <a:avLst>
                <a:gd name="adj" fmla="val 23529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20312" y="36328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aₙ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2819400" y="3981450"/>
              <a:ext cx="2705100" cy="57150"/>
            </a:xfrm>
            <a:custGeom>
              <a:avLst/>
              <a:gdLst/>
              <a:ahLst/>
              <a:cxnLst/>
              <a:rect l="l" t="t" r="r" b="b"/>
              <a:pathLst>
                <a:path w="2705100" h="57150">
                  <a:moveTo>
                    <a:pt x="0" y="0"/>
                  </a:moveTo>
                  <a:lnTo>
                    <a:pt x="0" y="57150"/>
                  </a:lnTo>
                  <a:lnTo>
                    <a:pt x="2705100" y="57150"/>
                  </a:lnTo>
                  <a:lnTo>
                    <a:pt x="2705100" y="0"/>
                  </a:lnTo>
                </a:path>
              </a:pathLst>
            </a:custGeom>
            <a:noFill/>
            <a:ln w="14288">
              <a:solidFill>
                <a:srgbClr val="0F7A6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07619" y="4085749"/>
              <a:ext cx="7286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 = (D)·aₙ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9823" y="4320064"/>
              <a:ext cx="1224026" cy="9923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= (B)·(C)</a:t>
              </a:r>
              <a:br/>
              <a:r>
                <a:rPr lang="en-US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(B)·((D)·aₙ)</a:t>
              </a:r>
              <a:br/>
              <a:r>
                <a:rPr lang="en-US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((B)·(D))·aₙ</a:t>
              </a:r>
              <a:br/>
              <a:r>
                <a:rPr lang="zh-CN" sz="12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= (1) 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23947" y="4352449"/>
              <a:ext cx="2125726" cy="933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最后一次乘法把 A 分成前后两段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 的因子少于 n：归纳假设</a:t>
              </a:r>
              <a:br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结合律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(B)·(D) 只有 n − 1 个因子：归纳假设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23900" y="5295900"/>
              <a:ext cx="4953000" cy="304800"/>
            </a:xfrm>
            <a:prstGeom prst="roundRect">
              <a:avLst>
                <a:gd name="adj" fmla="val 312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71347" y="5390674"/>
              <a:ext cx="43302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注：本定理对有结合律的一切代数系统成立（C 只含 aₙ 时直接得第 3 行）</a:t>
              </a:r>
            </a:p>
          </p:txBody>
        </p:sp>
      </p:grpSp>
      <p:grpSp>
        <p:nvGrpSpPr>
          <p:cNvPr id="38" name="power-def"/>
          <p:cNvGrpSpPr/>
          <p:nvPr/>
        </p:nvGrpSpPr>
        <p:grpSpPr>
          <a:xfrm>
            <a:off x="5981700" y="1485900"/>
            <a:ext cx="5676900" cy="1676400"/>
            <a:chOff x="5981700" y="1485900"/>
            <a:chExt cx="5676900" cy="1676400"/>
          </a:xfrm>
        </p:grpSpPr>
        <p:sp>
          <p:nvSpPr>
            <p:cNvPr id="30" name="Rectangle 30"/>
            <p:cNvSpPr/>
            <p:nvPr/>
          </p:nvSpPr>
          <p:spPr>
            <a:xfrm>
              <a:off x="5981700" y="1485900"/>
              <a:ext cx="5676900" cy="167640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134100" y="1638300"/>
              <a:ext cx="47625" cy="137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3246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617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41642" y="167354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幂（有了广义结合律才有意义）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18123" y="2034064"/>
              <a:ext cx="4175303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n 个 a 的连乘积称为 a 的 n 次方，记为 </a:t>
              </a:r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aⁿ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（n 为正整数）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规定：</a:t>
              </a:r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a⁰ = 1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a⁻ⁿ = (aⁿ)⁻¹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324600" y="2628900"/>
              <a:ext cx="5143500" cy="381000"/>
            </a:xfrm>
            <a:prstGeom prst="roundRect">
              <a:avLst>
                <a:gd name="adj" fmla="val 25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71285" y="2755106"/>
              <a:ext cx="44724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(aⁿ)⁻¹ = (a⁻¹)ⁿ：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aⁿ·(a⁻¹)ⁿ 中间相邻的 a·a⁻¹ 逐对抵消，得 1</a:t>
              </a:r>
            </a:p>
          </p:txBody>
        </p:sp>
      </p:grpSp>
      <p:grpSp>
        <p:nvGrpSpPr>
          <p:cNvPr id="43" name="law-one"/>
          <p:cNvGrpSpPr/>
          <p:nvPr/>
        </p:nvGrpSpPr>
        <p:grpSpPr>
          <a:xfrm>
            <a:off x="5981700" y="3276600"/>
            <a:ext cx="2781300" cy="857250"/>
            <a:chOff x="5981700" y="3276600"/>
            <a:chExt cx="2781300" cy="857250"/>
          </a:xfrm>
        </p:grpSpPr>
        <p:sp>
          <p:nvSpPr>
            <p:cNvPr id="39" name="Rectangle 39"/>
            <p:cNvSpPr/>
            <p:nvPr/>
          </p:nvSpPr>
          <p:spPr>
            <a:xfrm>
              <a:off x="5981700" y="3276600"/>
              <a:ext cx="2781300" cy="857250"/>
            </a:xfrm>
            <a:prstGeom prst="roundRect">
              <a:avLst>
                <a:gd name="adj" fmla="val 15556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28385" y="3421856"/>
              <a:ext cx="11218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 第一指数定律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25718" y="3708082"/>
              <a:ext cx="14394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aᵐ·aⁿ = aᵐ⁺ⁿ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2786" y="3438049"/>
              <a:ext cx="992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m, n 为任意整数</a:t>
              </a:r>
            </a:p>
          </p:txBody>
        </p:sp>
      </p:grpSp>
      <p:grpSp>
        <p:nvGrpSpPr>
          <p:cNvPr id="48" name="law-two"/>
          <p:cNvGrpSpPr/>
          <p:nvPr/>
        </p:nvGrpSpPr>
        <p:grpSpPr>
          <a:xfrm>
            <a:off x="8877300" y="3276600"/>
            <a:ext cx="2781300" cy="857250"/>
            <a:chOff x="8877300" y="3276600"/>
            <a:chExt cx="2781300" cy="857250"/>
          </a:xfrm>
        </p:grpSpPr>
        <p:sp>
          <p:nvSpPr>
            <p:cNvPr id="44" name="Rectangle 44"/>
            <p:cNvSpPr/>
            <p:nvPr/>
          </p:nvSpPr>
          <p:spPr>
            <a:xfrm>
              <a:off x="8877300" y="3276600"/>
              <a:ext cx="2781300" cy="857250"/>
            </a:xfrm>
            <a:prstGeom prst="roundRect">
              <a:avLst>
                <a:gd name="adj" fmla="val 15556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23985" y="3421856"/>
              <a:ext cx="11218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 第二指数定律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21318" y="3708082"/>
              <a:ext cx="13111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(aᵐ)ⁿ = aᵐⁿ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518386" y="3438049"/>
              <a:ext cx="992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m, n 为任意整数</a:t>
              </a:r>
            </a:p>
          </p:txBody>
        </p:sp>
      </p:grpSp>
      <p:grpSp>
        <p:nvGrpSpPr>
          <p:cNvPr id="54" name="law-three"/>
          <p:cNvGrpSpPr/>
          <p:nvPr/>
        </p:nvGrpSpPr>
        <p:grpSpPr>
          <a:xfrm>
            <a:off x="5981700" y="4248150"/>
            <a:ext cx="5676900" cy="1466850"/>
            <a:chOff x="5981700" y="4248150"/>
            <a:chExt cx="5676900" cy="1466850"/>
          </a:xfrm>
        </p:grpSpPr>
        <p:sp>
          <p:nvSpPr>
            <p:cNvPr id="49" name="Rectangle 49"/>
            <p:cNvSpPr/>
            <p:nvPr/>
          </p:nvSpPr>
          <p:spPr>
            <a:xfrm>
              <a:off x="5981700" y="4248150"/>
              <a:ext cx="5676900" cy="1466850"/>
            </a:xfrm>
            <a:prstGeom prst="roundRect">
              <a:avLst>
                <a:gd name="adj" fmla="val 9091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134100" y="44005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18885" y="4488656"/>
              <a:ext cx="1875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 第三指数定律一般不成立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97418" y="44510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(a·b)ⁿ = aⁿ·bⁿ ?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18885" y="4812506"/>
              <a:ext cx="4491990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反例（S₃，置换乘法从右往左，第四部分详讲）：a = (1 2)，b = (1 3)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a·b = (1 3 2)，(a·b)² = (1 2 3)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但 a² = b² = I，a²·b² = I </a:t>
              </a:r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≠ (a·b)²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；交换群中才成立 → 下一页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5" name="Rectangle 5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87400" y="6003925"/>
              <a:ext cx="177799" cy="203199"/>
              <a:chOff x="787400" y="6003925"/>
              <a:chExt cx="177799" cy="203199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87400" y="6003925"/>
                <a:ext cx="381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03199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03199"/>
                    </a:lnTo>
                    <a:lnTo>
                      <a:pt x="38100" y="2031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27099" y="6003925"/>
                <a:ext cx="381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03199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03199"/>
                    </a:lnTo>
                    <a:lnTo>
                      <a:pt x="0" y="2031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134618" y="6003608"/>
              <a:ext cx="72135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括号可以任意加，aⁿ 才有意义；前两条指数律总成立，</a:t>
              </a:r>
              <a:r>
                <a:rPr lang="zh-CN" sz="16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第三条要交换律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1" name="TextBox 61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5207133" cy="960501"/>
            <a:chOff x="456415" y="361950"/>
            <a:chExt cx="520713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群的性质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438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Abel群：可以随意交换因子的群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abel-definition"/>
          <p:cNvGrpSpPr/>
          <p:nvPr/>
        </p:nvGrpSpPr>
        <p:grpSpPr>
          <a:xfrm>
            <a:off x="533400" y="1485900"/>
            <a:ext cx="5496750" cy="1790700"/>
            <a:chOff x="533400" y="1485900"/>
            <a:chExt cx="5496750" cy="17907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486400" cy="1790700"/>
            </a:xfrm>
            <a:prstGeom prst="roundRect">
              <a:avLst>
                <a:gd name="adj" fmla="val 851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485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34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93342" y="1673542"/>
              <a:ext cx="1539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Abel 群（交换群）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9823" y="2015014"/>
              <a:ext cx="4741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若群 (G, ·) 的运算适合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交换律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，则称它为 Abel 群或交换群。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" y="2286000"/>
              <a:ext cx="4953000" cy="266700"/>
            </a:xfrm>
            <a:prstGeom prst="roundRect">
              <a:avLst>
                <a:gd name="adj" fmla="val 28571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5266" y="2353628"/>
              <a:ext cx="49706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 无限：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(Z, +)、(Q, +)、(R, +)、(C, +)；(Q*, ·)、(R*, ·)、(C*, ·)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6300" y="2590800"/>
              <a:ext cx="4953000" cy="266700"/>
            </a:xfrm>
            <a:prstGeom prst="roundRect">
              <a:avLst>
                <a:gd name="adj" fmla="val 28571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5266" y="2658428"/>
              <a:ext cx="50448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 有限：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元数为 1、2、3 的群，运算表都只有一种（元素改名不算），且都交换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76300" y="2895600"/>
              <a:ext cx="4953000" cy="266700"/>
            </a:xfrm>
            <a:prstGeom prst="roundRect">
              <a:avLst>
                <a:gd name="adj" fmla="val 28571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5266" y="2963228"/>
              <a:ext cx="4189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 不是：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阶（n ≥ 2）非奇异实矩阵对矩阵乘法——是群，但不交换</a:t>
              </a:r>
            </a:p>
          </p:txBody>
        </p:sp>
      </p:grpSp>
      <p:grpSp>
        <p:nvGrpSpPr>
          <p:cNvPr id="28" name="theorem-reorder"/>
          <p:cNvGrpSpPr/>
          <p:nvPr/>
        </p:nvGrpSpPr>
        <p:grpSpPr>
          <a:xfrm>
            <a:off x="533400" y="3390900"/>
            <a:ext cx="5486400" cy="2324100"/>
            <a:chOff x="533400" y="3390900"/>
            <a:chExt cx="5486400" cy="2324100"/>
          </a:xfrm>
        </p:grpSpPr>
        <p:sp>
          <p:nvSpPr>
            <p:cNvPr id="20" name="Rectangle 20"/>
            <p:cNvSpPr/>
            <p:nvPr/>
          </p:nvSpPr>
          <p:spPr>
            <a:xfrm>
              <a:off x="533400" y="3390900"/>
              <a:ext cx="5486400" cy="2324100"/>
            </a:xfrm>
            <a:prstGeom prst="roundRect">
              <a:avLst>
                <a:gd name="adj" fmla="val 655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5800" y="3543300"/>
              <a:ext cx="47625" cy="2019300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76300" y="352425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6238" y="3585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6.2.5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37004" y="3594735"/>
              <a:ext cx="280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Abel 群中，乘积可以任意颠倒因子次序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5"/>
                <p:cNvSpPr txBox="1"/>
                <p:nvPr/>
              </p:nvSpPr>
              <p:spPr>
                <a:xfrm>
                  <a:off x="869442" y="3911918"/>
                  <a:ext cx="3928129" cy="2979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sSub>
                        <m:e>
                          <m: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>
                        <m:e>
                          <m: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d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>
                        <m:e>
                          <m: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</m:oMath>
                  </a14:m>
                  <a:r>
                    <a:rPr lang="zh-CN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（σ 是 {1, …, n} 上的一一变换）</a:t>
                  </a:r>
                </a:p>
              </p:txBody>
            </p:sp>
          </mc:Choice>
        </mc:AlternateContent>
        <p:sp>
          <p:nvSpPr>
            <p:cNvPr id="26" name="Rectangle 26"/>
            <p:cNvSpPr/>
            <p:nvPr/>
          </p:nvSpPr>
          <p:spPr>
            <a:xfrm>
              <a:off x="876300" y="4191000"/>
              <a:ext cx="4953000" cy="1390650"/>
            </a:xfrm>
            <a:prstGeom prst="roundRect">
              <a:avLst>
                <a:gd name="adj" fmla="val 821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22985" y="4317206"/>
              <a:ext cx="3716782" cy="1172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思路：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 n 归纳。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关键一步：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aₙ 必在乘积 P 中某处出现</a:t>
              </a:r>
            </a:p>
            <a:p>
              <a:pPr algn="l">
                <a:lnSpc>
                  <a:spcPts val="1650"/>
                </a:lnSpc>
                <a:spcBef>
                  <a:spcPts val="300"/>
                </a:spcBef>
              </a:pPr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 = P′·aₙ·P″ = P′·(aₙ·P″) = P′·(P″·aₙ) = (P′·P″)·aₙ</a:t>
              </a:r>
            </a:p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（后三个等号依次用：结合律、交换律、结合律）</a:t>
              </a:r>
            </a:p>
            <a:p>
              <a:pPr algn="l">
                <a:lnSpc>
                  <a:spcPts val="1650"/>
                </a:lnSpc>
                <a:spcBef>
                  <a:spcPts val="300"/>
                </a:spcBef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P′·P″ 只含 a₁, …, aₙ₋₁，由归纳假设 = a₁⋯aₙ₋₁</a:t>
              </a:r>
            </a:p>
            <a:p>
              <a:pPr algn="l">
                <a:lnSpc>
                  <a:spcPts val="1650"/>
                </a:lnSpc>
                <a:spcBef>
                  <a:spcPts val="300"/>
                </a:spcBef>
              </a:pP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推论：Abel 群中 (a·b)ᵐ = aᵐ·bᵐ（m 为任意整数）</a:t>
              </a:r>
            </a:p>
          </p:txBody>
        </p:sp>
      </p:grpSp>
      <p:grpSp>
        <p:nvGrpSpPr>
          <p:cNvPr id="71" name="notation-table"/>
          <p:cNvGrpSpPr/>
          <p:nvPr/>
        </p:nvGrpSpPr>
        <p:grpSpPr>
          <a:xfrm>
            <a:off x="6172200" y="1485900"/>
            <a:ext cx="5486400" cy="3124200"/>
            <a:chOff x="6172200" y="1485900"/>
            <a:chExt cx="5486400" cy="3124200"/>
          </a:xfrm>
        </p:grpSpPr>
        <p:sp>
          <p:nvSpPr>
            <p:cNvPr id="29" name="Rectangle 29"/>
            <p:cNvSpPr/>
            <p:nvPr/>
          </p:nvSpPr>
          <p:spPr>
            <a:xfrm>
              <a:off x="6172200" y="1485900"/>
              <a:ext cx="5486400" cy="312420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18123" y="1653064"/>
              <a:ext cx="28444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加法群 (G, +)：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永远假定是 Abel 群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324600" y="1905000"/>
              <a:ext cx="5181600" cy="32385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324600" y="2228850"/>
              <a:ext cx="914400" cy="226695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39000" y="2228850"/>
              <a:ext cx="4267200" cy="2266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6324600" y="22288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6324600" y="25527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6324600" y="28765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6324600" y="32004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6324600" y="35242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6324600" y="38481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6324600" y="41719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7239000" y="1905000"/>
              <a:ext cx="9525" cy="2590800"/>
            </a:xfrm>
            <a:custGeom>
              <a:avLst/>
              <a:gdLst/>
              <a:ahLst/>
              <a:cxnLst/>
              <a:rect l="l" t="t" r="r" b="b"/>
              <a:pathLst>
                <a:path w="9525" h="2590800">
                  <a:moveTo>
                    <a:pt x="0" y="0"/>
                  </a:moveTo>
                  <a:lnTo>
                    <a:pt x="0" y="25908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9372600" y="1905000"/>
              <a:ext cx="9525" cy="2590800"/>
            </a:xfrm>
            <a:custGeom>
              <a:avLst/>
              <a:gdLst/>
              <a:ahLst/>
              <a:cxnLst/>
              <a:rect l="l" t="t" r="r" b="b"/>
              <a:pathLst>
                <a:path w="9525" h="2590800">
                  <a:moveTo>
                    <a:pt x="0" y="0"/>
                  </a:moveTo>
                  <a:lnTo>
                    <a:pt x="0" y="25908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324600" y="1905000"/>
              <a:ext cx="5181600" cy="25908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5311" y="20026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93739" y="2002631"/>
              <a:ext cx="10241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乘法群 (G, ·)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27339" y="2002631"/>
              <a:ext cx="10241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加法群 (G, +)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6564440" y="2325052"/>
              <a:ext cx="434721" cy="2148459"/>
              <a:chOff x="6564440" y="2325052"/>
              <a:chExt cx="434721" cy="2148459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6635115" y="232505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运算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564440" y="2648902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单位元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635115" y="297275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逆元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572037" y="3296602"/>
                <a:ext cx="4195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n 次幂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564440" y="3620452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零次幂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564440" y="3944302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负次幂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635115" y="426815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思考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7670602" y="2326481"/>
              <a:ext cx="1270396" cy="2163128"/>
              <a:chOff x="7670602" y="2326481"/>
              <a:chExt cx="1270396" cy="2163128"/>
            </a:xfrm>
          </p:grpSpPr>
          <p:sp>
            <p:nvSpPr>
              <p:cNvPr id="55" name="TextBox 55"/>
              <p:cNvSpPr txBox="1"/>
              <p:nvPr/>
            </p:nvSpPr>
            <p:spPr>
              <a:xfrm>
                <a:off x="8175696" y="2326481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a·b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836454" y="2650331"/>
                <a:ext cx="93869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1·a = a·1 = a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670602" y="2974181"/>
                <a:ext cx="127039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a⁻¹·a = a·a⁻¹ = 1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217159" y="3298031"/>
                <a:ext cx="1772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aⁿ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089001" y="3621881"/>
                <a:ext cx="43359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a⁰ = 1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840223" y="3945731"/>
                <a:ext cx="93115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a⁻ⁿ = (aⁿ)⁻¹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092770" y="4269581"/>
                <a:ext cx="426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a·b⁻¹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9630811" y="2326481"/>
              <a:ext cx="1617177" cy="2163128"/>
              <a:chOff x="9630811" y="2326481"/>
              <a:chExt cx="1617177" cy="2163128"/>
            </a:xfrm>
          </p:grpSpPr>
          <p:sp>
            <p:nvSpPr>
              <p:cNvPr id="63" name="TextBox 63"/>
              <p:cNvSpPr txBox="1"/>
              <p:nvPr/>
            </p:nvSpPr>
            <p:spPr>
              <a:xfrm>
                <a:off x="10264064" y="2326481"/>
                <a:ext cx="3506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a + b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879589" y="2650331"/>
                <a:ext cx="111962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0 + a = a + 0 = a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630811" y="2974181"/>
                <a:ext cx="161717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(−a) + a = a + (−a) = 0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0350759" y="3298031"/>
                <a:ext cx="1772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na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0222601" y="3621881"/>
                <a:ext cx="43359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0a = 0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9932360" y="3945731"/>
                <a:ext cx="101408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(−n)a = −(na)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264064" y="4269581"/>
                <a:ext cx="3506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a − b</a:t>
                </a:r>
              </a:p>
            </p:txBody>
          </p:sp>
        </p:grpSp>
      </p:grpSp>
      <p:grpSp>
        <p:nvGrpSpPr>
          <p:cNvPr id="76" name="additive-laws"/>
          <p:cNvGrpSpPr/>
          <p:nvPr/>
        </p:nvGrpSpPr>
        <p:grpSpPr>
          <a:xfrm>
            <a:off x="6172200" y="4724400"/>
            <a:ext cx="5486400" cy="990600"/>
            <a:chOff x="6172200" y="4724400"/>
            <a:chExt cx="5486400" cy="990600"/>
          </a:xfrm>
        </p:grpSpPr>
        <p:sp>
          <p:nvSpPr>
            <p:cNvPr id="72" name="Rectangle 72"/>
            <p:cNvSpPr/>
            <p:nvPr/>
          </p:nvSpPr>
          <p:spPr>
            <a:xfrm>
              <a:off x="6172200" y="4724400"/>
              <a:ext cx="5486400" cy="990600"/>
            </a:xfrm>
            <a:prstGeom prst="roundRect">
              <a:avLst>
                <a:gd name="adj" fmla="val 15385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18885" y="4869656"/>
              <a:ext cx="2962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加法群的三个指数定律（m, n 为任意整数）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317742" y="5169218"/>
              <a:ext cx="5256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(m + n)a = ma + na　　m(na) = (mn)a　　m(a + b) = ma + mb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319647" y="5476399"/>
              <a:ext cx="40205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加法群里的 0 是单位元（不是“零元”）；第三条成立正因为 + 可交换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7" name="Rectangle 77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62000" y="6029325"/>
              <a:ext cx="228600" cy="152400"/>
              <a:chOff x="762000" y="6029325"/>
              <a:chExt cx="228600" cy="1524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812800" y="6029325"/>
                <a:ext cx="177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50800">
                    <a:moveTo>
                      <a:pt x="0" y="50800"/>
                    </a:moveTo>
                    <a:lnTo>
                      <a:pt x="177800" y="50800"/>
                    </a:ln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62000" y="6130925"/>
                <a:ext cx="177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50800">
                    <a:moveTo>
                      <a:pt x="177800" y="0"/>
                    </a:moveTo>
                    <a:lnTo>
                      <a:pt x="0" y="0"/>
                    </a:ln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134618" y="6003608"/>
              <a:ext cx="66986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Abel 群 = 群 + 交换律：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因子可任意换序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，(a·b)ᵐ = aᵐ·bᵐ 才成立。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3" name="TextBox 83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6166310" cy="960501"/>
            <a:chOff x="456415" y="361950"/>
            <a:chExt cx="6166310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群的性质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10304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例题精讲：怎样证明一个群是 Abel 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example-square"/>
          <p:cNvGrpSpPr/>
          <p:nvPr/>
        </p:nvGrpSpPr>
        <p:grpSpPr>
          <a:xfrm>
            <a:off x="533400" y="1485900"/>
            <a:ext cx="3581400" cy="4229100"/>
            <a:chOff x="533400" y="1485900"/>
            <a:chExt cx="35814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581400" cy="4229100"/>
            </a:xfrm>
            <a:prstGeom prst="roundRect">
              <a:avLst>
                <a:gd name="adj" fmla="val 425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743" y="168021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41704" y="16897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充要条件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7804" y="2004060"/>
              <a:ext cx="24810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 (G, ·) 是 Abel 群的充要条件是：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对任意 a, b ∈ G，</a:t>
              </a:r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(a·b)² = a²·b²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23900" y="2514600"/>
              <a:ext cx="3200400" cy="1409700"/>
            </a:xfrm>
            <a:prstGeom prst="roundRect">
              <a:avLst>
                <a:gd name="adj" fmla="val 810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0585" y="2621756"/>
              <a:ext cx="1802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⇒ 必要性：已知 a·b = b·a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0204" y="2880360"/>
              <a:ext cx="1658112" cy="9776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(a·b)² = (a·b)·(a·b)</a:t>
              </a:r>
              <a:br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a·(b·a)·b</a:t>
              </a:r>
              <a:br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a·(a·b)·b</a:t>
              </a:r>
              <a:br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(a·a)·(b·b) = a²·b²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3371164" y="3152299"/>
              <a:ext cx="405689" cy="685990"/>
              <a:chOff x="3371164" y="3152299"/>
              <a:chExt cx="405689" cy="68599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3371164" y="3152299"/>
                <a:ext cx="40568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结合律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371164" y="3399949"/>
                <a:ext cx="40568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交换律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371164" y="3647599"/>
                <a:ext cx="40568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结合律</a:t>
                </a:r>
              </a:p>
            </p:txBody>
          </p:sp>
        </p:grpSp>
        <p:sp>
          <p:nvSpPr>
            <p:cNvPr id="19" name="Rectangle 19"/>
            <p:cNvSpPr/>
            <p:nvPr/>
          </p:nvSpPr>
          <p:spPr>
            <a:xfrm>
              <a:off x="723900" y="4038600"/>
              <a:ext cx="3200400" cy="1524000"/>
            </a:xfrm>
            <a:prstGeom prst="roundRect">
              <a:avLst>
                <a:gd name="adj" fmla="val 75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0585" y="4145756"/>
              <a:ext cx="22379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⇐ 充分性：已知 (a·b)² = a²·b²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0204" y="442341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a·b·a·b = a·a·b·b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0585" y="4717256"/>
              <a:ext cx="1835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两边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左乘 a⁻¹、右乘 b⁻¹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0585" y="5003006"/>
              <a:ext cx="3004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a⁻¹·(a·b·a·b)·b⁻¹ = a⁻¹·(a·a·b·b)·b⁻¹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9442" y="5264468"/>
              <a:ext cx="102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b·a = a·b ∎</a:t>
              </a:r>
            </a:p>
          </p:txBody>
        </p:sp>
      </p:grpSp>
      <p:grpSp>
        <p:nvGrpSpPr>
          <p:cNvPr id="39" name="example-cubes"/>
          <p:cNvGrpSpPr/>
          <p:nvPr/>
        </p:nvGrpSpPr>
        <p:grpSpPr>
          <a:xfrm>
            <a:off x="4229100" y="1485900"/>
            <a:ext cx="3733800" cy="4229100"/>
            <a:chOff x="4229100" y="1485900"/>
            <a:chExt cx="3733800" cy="4229100"/>
          </a:xfrm>
        </p:grpSpPr>
        <p:sp>
          <p:nvSpPr>
            <p:cNvPr id="26" name="Rectangle 26"/>
            <p:cNvSpPr/>
            <p:nvPr/>
          </p:nvSpPr>
          <p:spPr>
            <a:xfrm>
              <a:off x="4229100" y="1485900"/>
              <a:ext cx="3733800" cy="4229100"/>
            </a:xfrm>
            <a:prstGeom prst="roundRect">
              <a:avLst>
                <a:gd name="adj" fmla="val 4082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4196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65443" y="168021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37404" y="16897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由指数条件逐步化简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13885" y="2012156"/>
              <a:ext cx="2742438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 G 中对任意 a, b 都有 a³·b³ = (a·b)³，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a⁵·b⁵ = (a·b)⁵，证明 G 是交换群。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19600" y="2495550"/>
              <a:ext cx="3352800" cy="6858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547235" y="2621756"/>
              <a:ext cx="227269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(1) </a:t>
              </a:r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a³·b³ = (a·b)³ = a·(b·a)²·b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消去左 a、右 b ⇒ </a:t>
              </a:r>
              <a:r>
                <a:rPr lang="en-US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a²·b² = (b·a)²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419600" y="3238500"/>
              <a:ext cx="3352800" cy="6858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47235" y="3364706"/>
              <a:ext cx="227269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(2) </a:t>
              </a:r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a⁵·b⁵ = (a·b)⁵ = a·(b·a)⁴·b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同理 ⇒ </a:t>
              </a:r>
              <a:r>
                <a:rPr lang="en-US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a⁴·b⁴ = (b·a)⁴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419600" y="3981450"/>
              <a:ext cx="3352800" cy="9144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47235" y="4107656"/>
              <a:ext cx="3133242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(3) </a:t>
              </a: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(b·a)⁴ = ((b·a)²)² = (a²·b²)²（用 (1)）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与 (2) 比较：a²·a²·b²·b² = a²·b²·a²·b²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消去左 a²、右 b² ⇒ </a:t>
              </a:r>
              <a:r>
                <a:rPr lang="en-US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a²·b² = b²·a²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419600" y="4953000"/>
              <a:ext cx="3352800" cy="647700"/>
            </a:xfrm>
            <a:prstGeom prst="roundRect">
              <a:avLst>
                <a:gd name="adj" fmla="val 17647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47235" y="5079206"/>
              <a:ext cx="2358034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(4) </a:t>
              </a: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由 (1)(3)：b·a·b·a = b·b·a·a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消去左 b、右 a ⇒ </a:t>
              </a:r>
              <a:r>
                <a:rPr lang="en-US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a·b = b·a ∎</a:t>
              </a:r>
            </a:p>
          </p:txBody>
        </p:sp>
      </p:grpSp>
      <p:grpSp>
        <p:nvGrpSpPr>
          <p:cNvPr id="57" name="exercise-square-one"/>
          <p:cNvGrpSpPr/>
          <p:nvPr/>
        </p:nvGrpSpPr>
        <p:grpSpPr>
          <a:xfrm>
            <a:off x="8077200" y="1485900"/>
            <a:ext cx="3581400" cy="4229100"/>
            <a:chOff x="8077200" y="1485900"/>
            <a:chExt cx="3581400" cy="4229100"/>
          </a:xfrm>
        </p:grpSpPr>
        <p:sp>
          <p:nvSpPr>
            <p:cNvPr id="40" name="Rectangle 40"/>
            <p:cNvSpPr/>
            <p:nvPr/>
          </p:nvSpPr>
          <p:spPr>
            <a:xfrm>
              <a:off x="8077200" y="1485900"/>
              <a:ext cx="3581400" cy="4229100"/>
            </a:xfrm>
            <a:prstGeom prst="roundRect">
              <a:avLst>
                <a:gd name="adj" fmla="val 425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267700" y="16192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70871" y="16802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61704" y="1689735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每个元素 x² = 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61604" y="2004060"/>
              <a:ext cx="28087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 (G, ·) 的每个元素都满足方程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x² = 1（1 为单位元），则 G 是 Abel 群。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267700" y="2514600"/>
              <a:ext cx="3200400" cy="148590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14385" y="2621756"/>
              <a:ext cx="1755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证法一：插入 1 = (a·b)²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14004" y="2880360"/>
              <a:ext cx="1871472" cy="9776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a·b = a·1·b = a·(a·b)²·b</a:t>
              </a:r>
              <a:br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a·(a·b·a·b)·b</a:t>
              </a:r>
              <a:br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a²·(b·a)·b²</a:t>
              </a:r>
              <a:br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= 1·(b·a)·1 = </a:t>
              </a:r>
              <a:r>
                <a:rPr lang="en-US" sz="120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b·a</a:t>
              </a:r>
              <a:r>
                <a:rPr lang="zh-CN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 ∎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10644513" y="3152299"/>
              <a:ext cx="676140" cy="685990"/>
              <a:chOff x="10644513" y="3152299"/>
              <a:chExt cx="676140" cy="685990"/>
            </a:xfrm>
          </p:grpSpPr>
          <p:sp>
            <p:nvSpPr>
              <p:cNvPr id="48" name="TextBox 48"/>
              <p:cNvSpPr txBox="1"/>
              <p:nvPr/>
            </p:nvSpPr>
            <p:spPr>
              <a:xfrm>
                <a:off x="10783037" y="315229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展开平方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0914964" y="3399949"/>
                <a:ext cx="40568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结合律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644513" y="3647599"/>
                <a:ext cx="67614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a² = b² = 1</a:t>
                </a:r>
              </a:p>
            </p:txBody>
          </p:sp>
        </p:grpSp>
        <p:sp>
          <p:nvSpPr>
            <p:cNvPr id="52" name="Rectangle 52"/>
            <p:cNvSpPr/>
            <p:nvPr/>
          </p:nvSpPr>
          <p:spPr>
            <a:xfrm>
              <a:off x="8267700" y="4114800"/>
              <a:ext cx="3200400" cy="1447800"/>
            </a:xfrm>
            <a:prstGeom prst="roundRect">
              <a:avLst>
                <a:gd name="adj" fmla="val 7895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14385" y="4221956"/>
              <a:ext cx="1770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证法二：x² = 1 ⇔ x⁻¹ = x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14385" y="4507706"/>
              <a:ext cx="25176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对任意 x ∈ G，x·x = 1，所以 x⁻¹ = x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13242" y="4807268"/>
              <a:ext cx="28092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a·b = (a·b)⁻¹ = b⁻¹·a⁻¹ = </a:t>
              </a:r>
              <a:r>
                <a:rPr lang="en-US" sz="13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b·a</a:t>
              </a:r>
              <a:r>
                <a:rPr lang="zh-CN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 ∎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15147" y="5133499"/>
              <a:ext cx="2411984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1、3 个等号：x⁻¹ = x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2 个等号：逆元公式 (a·b)⁻¹ = b⁻¹·a⁻¹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8" name="Rectangle 58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134618" y="6003608"/>
              <a:ext cx="75045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证交换的套路：把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a·b 与 b·a 放进同一个等式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，再用消去律去掉多余因子。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4" name="TextBox 64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6477000" y="-381000"/>
            <a:ext cx="7620000" cy="76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section-disc-inner"/>
          <p:cNvSpPr/>
          <p:nvPr/>
        </p:nvSpPr>
        <p:spPr>
          <a:xfrm>
            <a:off x="9620250" y="3714750"/>
            <a:ext cx="3238500" cy="3238500"/>
          </a:xfrm>
          <a:prstGeom prst="ellipse">
            <a:avLst/>
          </a:prstGeom>
          <a:solidFill>
            <a:srgbClr val="3F5DB0"/>
          </a:solidFill>
          <a:ln>
            <a:noFill/>
          </a:ln>
        </p:spPr>
      </p:sp>
      <p:sp>
        <p:nvSpPr>
          <p:cNvPr id="4" name="section-dot"/>
          <p:cNvSpPr/>
          <p:nvPr/>
        </p:nvSpPr>
        <p:spPr>
          <a:xfrm>
            <a:off x="7067550" y="116205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section-number"/>
          <p:cNvGrpSpPr/>
          <p:nvPr/>
        </p:nvGrpSpPr>
        <p:grpSpPr>
          <a:xfrm>
            <a:off x="8763533" y="2514600"/>
            <a:ext cx="1903933" cy="2305050"/>
            <a:chOff x="8763533" y="2514600"/>
            <a:chExt cx="1903933" cy="2305050"/>
          </a:xfrm>
        </p:grpSpPr>
        <p:sp>
          <p:nvSpPr>
            <p:cNvPr id="5" name="TextBox 5"/>
            <p:cNvSpPr txBox="1"/>
            <p:nvPr/>
          </p:nvSpPr>
          <p:spPr>
            <a:xfrm>
              <a:off x="8763533" y="25146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2" name="section-title"/>
          <p:cNvGrpSpPr/>
          <p:nvPr/>
        </p:nvGrpSpPr>
        <p:grpSpPr>
          <a:xfrm>
            <a:off x="743712" y="1676400"/>
            <a:ext cx="4655668" cy="1872234"/>
            <a:chOff x="743712" y="1676400"/>
            <a:chExt cx="4655668" cy="1872234"/>
          </a:xfrm>
        </p:grpSpPr>
        <p:sp>
          <p:nvSpPr>
            <p:cNvPr id="7" name="Rectangle 7"/>
            <p:cNvSpPr/>
            <p:nvPr/>
          </p:nvSpPr>
          <p:spPr>
            <a:xfrm>
              <a:off x="762000" y="1676400"/>
              <a:ext cx="2209800" cy="3238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1715" y="17659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第三部分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3712" y="233553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置换群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952750"/>
              <a:ext cx="762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2856" y="3196590"/>
              <a:ext cx="46465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给座位上的人重新排座——最典型的非交换群</a:t>
              </a:r>
            </a:p>
          </p:txBody>
        </p:sp>
      </p:grpSp>
      <p:grpSp>
        <p:nvGrpSpPr>
          <p:cNvPr id="26" name="section-questions"/>
          <p:cNvGrpSpPr/>
          <p:nvPr/>
        </p:nvGrpSpPr>
        <p:grpSpPr>
          <a:xfrm>
            <a:off x="755142" y="3835718"/>
            <a:ext cx="4914900" cy="1747647"/>
            <a:chOff x="755142" y="3835718"/>
            <a:chExt cx="4914900" cy="1747647"/>
          </a:xfrm>
        </p:grpSpPr>
        <p:sp>
          <p:nvSpPr>
            <p:cNvPr id="13" name="TextBox 13"/>
            <p:cNvSpPr txBox="1"/>
            <p:nvPr/>
          </p:nvSpPr>
          <p:spPr>
            <a:xfrm>
              <a:off x="755142" y="38357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本节要回答</a:t>
              </a:r>
            </a:p>
          </p:txBody>
        </p:sp>
        <p:grpSp>
          <p:nvGrpSpPr>
            <p:cNvPr id="17" name="q-1"/>
            <p:cNvGrpSpPr/>
            <p:nvPr/>
          </p:nvGrpSpPr>
          <p:grpSpPr>
            <a:xfrm>
              <a:off x="781050" y="4191000"/>
              <a:ext cx="4888992" cy="363665"/>
              <a:chOff x="781050" y="4191000"/>
              <a:chExt cx="4888992" cy="363665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781050" y="41910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80708" y="42710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10818" y="4231958"/>
                <a:ext cx="445922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什么是置换？怎样用双行式、轮换记号来写？</a:t>
                </a:r>
              </a:p>
            </p:txBody>
          </p:sp>
        </p:grpSp>
        <p:grpSp>
          <p:nvGrpSpPr>
            <p:cNvPr id="21" name="q-2"/>
            <p:cNvGrpSpPr/>
            <p:nvPr/>
          </p:nvGrpSpPr>
          <p:grpSpPr>
            <a:xfrm>
              <a:off x="781050" y="4705350"/>
              <a:ext cx="3556254" cy="363665"/>
              <a:chOff x="781050" y="4705350"/>
              <a:chExt cx="3556254" cy="36366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81050" y="470535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80708" y="47853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10818" y="4746308"/>
                <a:ext cx="31264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置换怎样相乘、求逆、解方程？</a:t>
                </a:r>
              </a:p>
            </p:txBody>
          </p:sp>
        </p:grpSp>
        <p:grpSp>
          <p:nvGrpSpPr>
            <p:cNvPr id="25" name="q-3"/>
            <p:cNvGrpSpPr/>
            <p:nvPr/>
          </p:nvGrpSpPr>
          <p:grpSpPr>
            <a:xfrm>
              <a:off x="781050" y="5219700"/>
              <a:ext cx="4666869" cy="363665"/>
              <a:chOff x="781050" y="5219700"/>
              <a:chExt cx="4666869" cy="36366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81050" y="52197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80708" y="52997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10818" y="5260658"/>
                <a:ext cx="42371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怎样拆成不相杂轮换、对换，并判断奇偶？</a:t>
                </a:r>
              </a:p>
            </p:txBody>
          </p:sp>
        </p:grpSp>
      </p:grpSp>
      <p:grpSp>
        <p:nvGrpSpPr>
          <p:cNvPr id="32" name="convention"/>
          <p:cNvGrpSpPr/>
          <p:nvPr/>
        </p:nvGrpSpPr>
        <p:grpSpPr>
          <a:xfrm>
            <a:off x="762000" y="5867400"/>
            <a:ext cx="5715000" cy="533400"/>
            <a:chOff x="762000" y="5867400"/>
            <a:chExt cx="5715000" cy="533400"/>
          </a:xfrm>
        </p:grpSpPr>
        <p:sp>
          <p:nvSpPr>
            <p:cNvPr id="27" name="Rectangle 27"/>
            <p:cNvSpPr/>
            <p:nvPr/>
          </p:nvSpPr>
          <p:spPr>
            <a:xfrm>
              <a:off x="762000" y="5867400"/>
              <a:ext cx="5715000" cy="5334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977900" y="6057900"/>
              <a:ext cx="190500" cy="152400"/>
              <a:chOff x="977900" y="6057900"/>
              <a:chExt cx="190500" cy="1524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977900" y="6057900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50800" y="101600"/>
                    </a:moveTo>
                    <a:lnTo>
                      <a:pt x="0" y="5080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77900" y="6108700"/>
                <a:ext cx="1905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1600">
                    <a:moveTo>
                      <a:pt x="0" y="0"/>
                    </a:moveTo>
                    <a:lnTo>
                      <a:pt x="139700" y="0"/>
                    </a:lnTo>
                    <a:cubicBezTo>
                      <a:pt x="167756" y="0"/>
                      <a:pt x="190500" y="22744"/>
                      <a:pt x="190500" y="50800"/>
                    </a:cubicBezTo>
                    <a:cubicBezTo>
                      <a:pt x="190500" y="78856"/>
                      <a:pt x="167756" y="101600"/>
                      <a:pt x="139700" y="101600"/>
                    </a:cubicBezTo>
                    <a:lnTo>
                      <a:pt x="127000" y="10160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326261" y="6046946"/>
              <a:ext cx="3971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全册约定：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(στ)(x) = σ(τ(x))，先做右边的 τ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28066" y="6573202"/>
            <a:ext cx="16940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离散数学II · 6.2 群的定义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80037" y="361950"/>
            <a:ext cx="4792241" cy="960501"/>
            <a:chOff x="480037" y="361950"/>
            <a:chExt cx="4792241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5621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0037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置换群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75259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置换：给座位上的人重新排座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definition"/>
          <p:cNvGrpSpPr/>
          <p:nvPr/>
        </p:nvGrpSpPr>
        <p:grpSpPr>
          <a:xfrm>
            <a:off x="533400" y="1485900"/>
            <a:ext cx="6134100" cy="2705100"/>
            <a:chOff x="533400" y="1485900"/>
            <a:chExt cx="6134100" cy="2705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134100" cy="2705100"/>
            </a:xfrm>
            <a:prstGeom prst="roundRect">
              <a:avLst>
                <a:gd name="adj" fmla="val 563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2400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34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93342" y="16735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变换与置换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9823" y="2015014"/>
              <a:ext cx="4304538" cy="7827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集合 A 到 A 自身的映射称为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变换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M 是非空有限集合，M 的一个一对一变换称为一个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置换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 = {a₁, a₂, …, aₙ} 的置换 σ 可简记为双行式：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-two-row"/>
                <p:cNvSpPr txBox="1">
                  <a:spLocks noGrp="1"/>
                </p:cNvSpPr>
                <p:nvPr/>
              </p:nvSpPr>
              <p:spPr>
                <a:xfrm>
                  <a:off x="876300" y="2800350"/>
                  <a:ext cx="3143250" cy="590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σ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4184904" y="2899410"/>
              <a:ext cx="20467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其中 </a:t>
              </a:r>
              <a:r>
                <a:rPr lang="el-GR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bᵢ = σ(aᵢ)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，i = 1, …, n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上行是“谁”，下行是“去哪”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6300" y="3486150"/>
              <a:ext cx="1676400" cy="285750"/>
            </a:xfrm>
            <a:prstGeom prst="roundRect">
              <a:avLst>
                <a:gd name="adj" fmla="val 33333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49789" y="3564731"/>
              <a:ext cx="1129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 元置换共 n! 个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667000" y="3486150"/>
              <a:ext cx="1333500" cy="285750"/>
            </a:xfrm>
            <a:prstGeom prst="roundRect">
              <a:avLst>
                <a:gd name="adj" fmla="val 33333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909394" y="3564731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全体记作 Sₙ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114800" y="3486150"/>
              <a:ext cx="2362200" cy="285750"/>
            </a:xfrm>
            <a:prstGeom prst="roundRect">
              <a:avLst>
                <a:gd name="adj" fmla="val 33333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67284" y="3564731"/>
              <a:ext cx="1657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恒等置换 I：σ(aᵢ) = aᵢ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0966" y="3925252"/>
              <a:ext cx="52547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直观：每个座位恰好坐一个人——不撞车（单射）、不空座（满射）；各列可调换顺序</a:t>
              </a:r>
            </a:p>
          </p:txBody>
        </p:sp>
      </p:grpSp>
      <p:grpSp>
        <p:nvGrpSpPr>
          <p:cNvPr id="24" name="seat-figure"/>
          <p:cNvGrpSpPr/>
          <p:nvPr/>
        </p:nvGrpSpPr>
        <p:grpSpPr>
          <a:xfrm>
            <a:off x="6781800" y="1485900"/>
            <a:ext cx="4876800" cy="2705100"/>
            <a:chOff x="6781800" y="1485900"/>
            <a:chExt cx="4876800" cy="2705100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rcRect l="0" t="13021" r="0" b="13021"/>
            <a:stretch>
              <a:fillRect/>
            </a:stretch>
          </p:blipFill>
          <p:spPr>
            <a:xfrm>
              <a:off x="6781800" y="1485900"/>
              <a:ext cx="4876800" cy="2705100"/>
            </a:xfrm>
            <a:prstGeom prst="roundRect">
              <a:avLst>
                <a:gd name="adj" fmla="val 5633"/>
              </a:avLst>
            </a:prstGeom>
          </p:spPr>
        </p:pic>
      </p:grpSp>
      <p:grpSp>
        <p:nvGrpSpPr>
          <p:cNvPr id="42" name="s3-list"/>
          <p:cNvGrpSpPr/>
          <p:nvPr/>
        </p:nvGrpSpPr>
        <p:grpSpPr>
          <a:xfrm>
            <a:off x="533400" y="4305300"/>
            <a:ext cx="11125200" cy="1409700"/>
            <a:chOff x="533400" y="4305300"/>
            <a:chExt cx="11125200" cy="1409700"/>
          </a:xfrm>
        </p:grpSpPr>
        <p:sp>
          <p:nvSpPr>
            <p:cNvPr id="25" name="Rectangle 25"/>
            <p:cNvSpPr/>
            <p:nvPr/>
          </p:nvSpPr>
          <p:spPr>
            <a:xfrm>
              <a:off x="533400" y="4305300"/>
              <a:ext cx="11125200" cy="1409700"/>
            </a:xfrm>
            <a:prstGeom prst="roundRect">
              <a:avLst>
                <a:gd name="adj" fmla="val 108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23900" y="44386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5632" y="44996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88923" y="4501039"/>
              <a:ext cx="6842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M = {1, 2, 3}，写出 M 的所有置换：共 3! = 6 个，</a:t>
              </a:r>
              <a:r>
                <a:rPr lang="el-GR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S₃ = {σ₁, σ₂, σ₃, σ₄, σ₅, σ₆}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-s3-1"/>
                <p:cNvSpPr txBox="1">
                  <a:spLocks noGrp="1"/>
                </p:cNvSpPr>
                <p:nvPr/>
              </p:nvSpPr>
              <p:spPr>
                <a:xfrm>
                  <a:off x="723900" y="4781550"/>
                  <a:ext cx="1790700" cy="5524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-s3-2"/>
                <p:cNvSpPr txBox="1">
                  <a:spLocks noGrp="1"/>
                </p:cNvSpPr>
                <p:nvPr/>
              </p:nvSpPr>
              <p:spPr>
                <a:xfrm>
                  <a:off x="2514600" y="4781550"/>
                  <a:ext cx="1790700" cy="5524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-s3-3"/>
                <p:cNvSpPr txBox="1">
                  <a:spLocks noGrp="1"/>
                </p:cNvSpPr>
                <p:nvPr/>
              </p:nvSpPr>
              <p:spPr>
                <a:xfrm>
                  <a:off x="4305300" y="4781550"/>
                  <a:ext cx="1790700" cy="5524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-s3-4"/>
                <p:cNvSpPr txBox="1">
                  <a:spLocks noGrp="1"/>
                </p:cNvSpPr>
                <p:nvPr/>
              </p:nvSpPr>
              <p:spPr>
                <a:xfrm>
                  <a:off x="6096000" y="4781550"/>
                  <a:ext cx="1790700" cy="5524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-s3-5"/>
                <p:cNvSpPr txBox="1">
                  <a:spLocks noGrp="1"/>
                </p:cNvSpPr>
                <p:nvPr/>
              </p:nvSpPr>
              <p:spPr>
                <a:xfrm>
                  <a:off x="7886700" y="4781550"/>
                  <a:ext cx="1790700" cy="5524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-s3-6"/>
                <p:cNvSpPr txBox="1">
                  <a:spLocks noGrp="1"/>
                </p:cNvSpPr>
                <p:nvPr/>
              </p:nvSpPr>
              <p:spPr>
                <a:xfrm>
                  <a:off x="9677400" y="4781550"/>
                  <a:ext cx="1790700" cy="5524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grpSp>
          <p:nvGrpSpPr>
            <p:cNvPr id="41" name="Group 41"/>
            <p:cNvGrpSpPr/>
            <p:nvPr/>
          </p:nvGrpSpPr>
          <p:grpSpPr>
            <a:xfrm>
              <a:off x="1308623" y="5476399"/>
              <a:ext cx="9740721" cy="190690"/>
              <a:chOff x="1308623" y="5476399"/>
              <a:chExt cx="9740721" cy="190690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1308623" y="5476399"/>
                <a:ext cx="62125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恒等置换 I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048792" y="5476399"/>
                <a:ext cx="72231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只交换 2、3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839492" y="5476399"/>
                <a:ext cx="72231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只交换 1、3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30192" y="5476399"/>
                <a:ext cx="72231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只交换 1、2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305456" y="5476399"/>
                <a:ext cx="9531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1→2→3→1 转一圈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0096156" y="5476399"/>
                <a:ext cx="9531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1→3→2→1 转一圈</a:t>
                </a:r>
              </a:p>
            </p:txBody>
          </p:sp>
        </p:grpSp>
      </p:grpSp>
      <p:grpSp>
        <p:nvGrpSpPr>
          <p:cNvPr id="5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43" name="Rectangle 43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62000" y="6003925"/>
              <a:ext cx="228599" cy="203200"/>
              <a:chOff x="762000" y="6003925"/>
              <a:chExt cx="228599" cy="2032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52499" y="6003925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0"/>
                    </a:moveTo>
                    <a:lnTo>
                      <a:pt x="38100" y="38100"/>
                    </a:lnTo>
                    <a:lnTo>
                      <a:pt x="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52499" y="6130925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76200"/>
                    </a:moveTo>
                    <a:lnTo>
                      <a:pt x="38100" y="381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62000" y="6042025"/>
                <a:ext cx="228599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27000">
                    <a:moveTo>
                      <a:pt x="0" y="0"/>
                    </a:moveTo>
                    <a:lnTo>
                      <a:pt x="38100" y="0"/>
                    </a:lnTo>
                    <a:cubicBezTo>
                      <a:pt x="73170" y="0"/>
                      <a:pt x="101600" y="28430"/>
                      <a:pt x="101600" y="63500"/>
                    </a:cubicBezTo>
                    <a:cubicBezTo>
                      <a:pt x="101600" y="98570"/>
                      <a:pt x="130030" y="127000"/>
                      <a:pt x="165100" y="127000"/>
                    </a:cubicBezTo>
                    <a:lnTo>
                      <a:pt x="228599" y="1270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62000" y="6042005"/>
                <a:ext cx="228599" cy="127035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27035">
                    <a:moveTo>
                      <a:pt x="228599" y="20"/>
                    </a:moveTo>
                    <a:lnTo>
                      <a:pt x="165100" y="20"/>
                    </a:lnTo>
                    <a:cubicBezTo>
                      <a:pt x="151357" y="0"/>
                      <a:pt x="137982" y="4458"/>
                      <a:pt x="127000" y="12720"/>
                    </a:cubicBezTo>
                    <a:moveTo>
                      <a:pt x="76200" y="114320"/>
                    </a:moveTo>
                    <a:cubicBezTo>
                      <a:pt x="65215" y="122577"/>
                      <a:pt x="51842" y="127035"/>
                      <a:pt x="38100" y="127020"/>
                    </a:cubicBezTo>
                    <a:lnTo>
                      <a:pt x="0" y="12702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134618" y="6003608"/>
              <a:ext cx="70119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置换 = 有限集合上的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一一变换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：n 个元素一共有 </a:t>
              </a:r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n!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种重新排座的方式。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1" name="TextBox 51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80037" y="361950"/>
            <a:ext cx="5155715" cy="960501"/>
            <a:chOff x="480037" y="361950"/>
            <a:chExt cx="5155715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5621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0037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置换群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160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置换乘法：从右往左，逐个跟踪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definition"/>
          <p:cNvGrpSpPr/>
          <p:nvPr/>
        </p:nvGrpSpPr>
        <p:grpSpPr>
          <a:xfrm>
            <a:off x="533400" y="1485900"/>
            <a:ext cx="11125200" cy="824484"/>
            <a:chOff x="533400" y="1485900"/>
            <a:chExt cx="11125200" cy="824484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76200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457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34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94104" y="1689735"/>
              <a:ext cx="3469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 M 中任意元素 a 及 M 的任意两个置换 σ、τ：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156" y="1958340"/>
              <a:ext cx="19901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8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στ(a) = σ(τ(a))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0" y="1695450"/>
              <a:ext cx="685800" cy="342900"/>
            </a:xfrm>
            <a:prstGeom prst="roundRect">
              <a:avLst>
                <a:gd name="adj" fmla="val 27778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79565" y="17878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a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858000" y="18669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3812">
              <a:solidFill>
                <a:schemeClr val="accent3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791450" y="18097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80459" y="1658302"/>
              <a:ext cx="545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① 先做 τ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981950" y="1695450"/>
              <a:ext cx="952500" cy="342900"/>
            </a:xfrm>
            <a:prstGeom prst="roundRect">
              <a:avLst>
                <a:gd name="adj" fmla="val 27778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41436" y="1787842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τ(a)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010650" y="18669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944100" y="18097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33109" y="1658302"/>
              <a:ext cx="545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② 再做 σ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134600" y="1695450"/>
              <a:ext cx="1333500" cy="342900"/>
            </a:xfrm>
            <a:prstGeom prst="roundRect">
              <a:avLst>
                <a:gd name="adj" fmla="val 27778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427156" y="1787842"/>
              <a:ext cx="748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σ(τ(a))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91047" y="2085499"/>
              <a:ext cx="28793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和函数复合 f(g(x)) 一样：离 a 最近的 τ 先作用</a:t>
              </a:r>
            </a:p>
          </p:txBody>
        </p:sp>
      </p:grpSp>
      <p:grpSp>
        <p:nvGrpSpPr>
          <p:cNvPr id="33" name="given"/>
          <p:cNvGrpSpPr/>
          <p:nvPr/>
        </p:nvGrpSpPr>
        <p:grpSpPr>
          <a:xfrm>
            <a:off x="533400" y="2362200"/>
            <a:ext cx="11125200" cy="666750"/>
            <a:chOff x="533400" y="2362200"/>
            <a:chExt cx="11125200" cy="666750"/>
          </a:xfrm>
        </p:grpSpPr>
        <p:sp>
          <p:nvSpPr>
            <p:cNvPr id="27" name="Rectangle 27"/>
            <p:cNvSpPr/>
            <p:nvPr/>
          </p:nvSpPr>
          <p:spPr>
            <a:xfrm>
              <a:off x="533400" y="2362200"/>
              <a:ext cx="11125200" cy="666750"/>
            </a:xfrm>
            <a:prstGeom prst="roundRect">
              <a:avLst>
                <a:gd name="adj" fmla="val 2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23900" y="2562225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5632" y="262318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-given"/>
                <p:cNvSpPr txBox="1">
                  <a:spLocks noGrp="1"/>
                </p:cNvSpPr>
                <p:nvPr/>
              </p:nvSpPr>
              <p:spPr>
                <a:xfrm>
                  <a:off x="1295400" y="2400300"/>
                  <a:ext cx="4000500" cy="590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σ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τ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5517642" y="2616518"/>
              <a:ext cx="11423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求 </a:t>
              </a:r>
              <a:r>
                <a:rPr lang="el-GR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στ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el-GR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τσ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00769" y="26408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方法：对每个元素，按箭头走两步</a:t>
              </a:r>
            </a:p>
          </p:txBody>
        </p:sp>
      </p:grpSp>
      <p:grpSp>
        <p:nvGrpSpPr>
          <p:cNvPr id="85" name="track-sigma-tau"/>
          <p:cNvGrpSpPr/>
          <p:nvPr/>
        </p:nvGrpSpPr>
        <p:grpSpPr>
          <a:xfrm>
            <a:off x="533400" y="3143250"/>
            <a:ext cx="5524500" cy="2571750"/>
            <a:chOff x="533400" y="3143250"/>
            <a:chExt cx="5524500" cy="2571750"/>
          </a:xfrm>
        </p:grpSpPr>
        <p:sp>
          <p:nvSpPr>
            <p:cNvPr id="34" name="Rectangle 34"/>
            <p:cNvSpPr/>
            <p:nvPr/>
          </p:nvSpPr>
          <p:spPr>
            <a:xfrm>
              <a:off x="533400" y="3143250"/>
              <a:ext cx="5524500" cy="2571750"/>
            </a:xfrm>
            <a:prstGeom prst="roundRect">
              <a:avLst>
                <a:gd name="adj" fmla="val 5926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23900" y="3276600"/>
              <a:ext cx="609600" cy="2857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04465" y="33242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στ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41323" y="3348514"/>
              <a:ext cx="221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先做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右边的 τ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，再做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左边的 σ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1531899" y="3688556"/>
              <a:ext cx="3788719" cy="220028"/>
              <a:chOff x="1531899" y="3688556"/>
              <a:chExt cx="3788719" cy="220028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1531899" y="36885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5"/>
                    </a:solidFill>
                    <a:latin typeface="Cambria Math"/>
                    <a:ea typeface="Cambria Math"/>
                    <a:cs typeface="Cambria Math"/>
                  </a:rPr>
                  <a:t>x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214628" y="3688556"/>
                <a:ext cx="44754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0F7A68"/>
                    </a:solidFill>
                    <a:latin typeface="Cambria Math"/>
                    <a:ea typeface="Microsoft YaHei"/>
                    <a:cs typeface="Cambria Math"/>
                  </a:rPr>
                  <a:t>τ 作用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115791" y="3688556"/>
                <a:ext cx="3597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120" b="1" dirty="0">
                    <a:solidFill>
                      <a:schemeClr val="accent5"/>
                    </a:solidFill>
                    <a:latin typeface="Cambria Math"/>
                    <a:ea typeface="Cambria Math"/>
                    <a:cs typeface="Cambria Math"/>
                  </a:rPr>
                  <a:t>τ(x)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929128" y="3688556"/>
                <a:ext cx="44754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C2410C"/>
                    </a:solidFill>
                    <a:latin typeface="Cambria Math"/>
                    <a:ea typeface="Microsoft YaHei"/>
                    <a:cs typeface="Cambria Math"/>
                  </a:rPr>
                  <a:t>σ 作用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699682" y="3688556"/>
                <a:ext cx="62093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12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σ(τ(x))</a:t>
                </a:r>
              </a:p>
            </p:txBody>
          </p:sp>
        </p:grpSp>
        <p:sp>
          <p:nvSpPr>
            <p:cNvPr id="44" name="Line 44"/>
            <p:cNvSpPr/>
            <p:nvPr/>
          </p:nvSpPr>
          <p:spPr>
            <a:xfrm>
              <a:off x="1752600" y="40576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3067050" y="4010025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0" y="0"/>
                  </a:moveTo>
                  <a:lnTo>
                    <a:pt x="8572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3467100" y="40576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4781550" y="4010025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0" y="0"/>
                  </a:moveTo>
                  <a:lnTo>
                    <a:pt x="8572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457325" y="3933825"/>
              <a:ext cx="247650" cy="247650"/>
            </a:xfrm>
            <a:prstGeom prst="ellipse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3171825" y="3933825"/>
              <a:ext cx="247650" cy="247650"/>
            </a:xfrm>
            <a:prstGeom prst="ellipse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4886325" y="3933825"/>
              <a:ext cx="247650" cy="247650"/>
            </a:xfrm>
            <a:prstGeom prst="ellipse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528408" y="39852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242908" y="39852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957408" y="39852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1752600" y="4333875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3067050" y="4286250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0" y="0"/>
                  </a:moveTo>
                  <a:lnTo>
                    <a:pt x="8572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3467100" y="4333875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4781550" y="4286250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0" y="0"/>
                  </a:moveTo>
                  <a:lnTo>
                    <a:pt x="8572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1457325" y="4210050"/>
              <a:ext cx="247650" cy="247650"/>
            </a:xfrm>
            <a:prstGeom prst="ellipse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3171825" y="4210050"/>
              <a:ext cx="247650" cy="247650"/>
            </a:xfrm>
            <a:prstGeom prst="ellipse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4886325" y="4210050"/>
              <a:ext cx="247650" cy="247650"/>
            </a:xfrm>
            <a:prstGeom prst="ellipse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528408" y="42614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242908" y="42614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957408" y="42614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1752600" y="461010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3067050" y="4562475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0" y="0"/>
                  </a:moveTo>
                  <a:lnTo>
                    <a:pt x="8572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66" name="Line 66"/>
            <p:cNvSpPr/>
            <p:nvPr/>
          </p:nvSpPr>
          <p:spPr>
            <a:xfrm>
              <a:off x="3467100" y="461010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4781550" y="4562475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0" y="0"/>
                  </a:moveTo>
                  <a:lnTo>
                    <a:pt x="8572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1457325" y="4486275"/>
              <a:ext cx="247650" cy="247650"/>
            </a:xfrm>
            <a:prstGeom prst="ellipse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3171825" y="4486275"/>
              <a:ext cx="247650" cy="247650"/>
            </a:xfrm>
            <a:prstGeom prst="ellipse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4886325" y="4486275"/>
              <a:ext cx="247650" cy="247650"/>
            </a:xfrm>
            <a:prstGeom prst="ellipse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528408" y="45377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242908" y="45377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957408" y="45377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1752600" y="4886325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3067050" y="4838700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0" y="0"/>
                  </a:moveTo>
                  <a:lnTo>
                    <a:pt x="8572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76" name="Line 76"/>
            <p:cNvSpPr/>
            <p:nvPr/>
          </p:nvSpPr>
          <p:spPr>
            <a:xfrm>
              <a:off x="3467100" y="4886325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4781550" y="4838700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0" y="0"/>
                  </a:moveTo>
                  <a:lnTo>
                    <a:pt x="8572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1457325" y="4762500"/>
              <a:ext cx="247650" cy="247650"/>
            </a:xfrm>
            <a:prstGeom prst="ellipse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3171825" y="4762500"/>
              <a:ext cx="247650" cy="247650"/>
            </a:xfrm>
            <a:prstGeom prst="ellipse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4886325" y="4762500"/>
              <a:ext cx="247650" cy="247650"/>
            </a:xfrm>
            <a:prstGeom prst="ellipse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528408" y="48139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242908" y="48139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957408" y="48139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f-track-sigma-tau"/>
                <p:cNvSpPr txBox="1">
                  <a:spLocks noGrp="1"/>
                </p:cNvSpPr>
                <p:nvPr/>
              </p:nvSpPr>
              <p:spPr>
                <a:xfrm>
                  <a:off x="723900" y="5105400"/>
                  <a:ext cx="51435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στ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37" name="track-tau-sigma"/>
          <p:cNvGrpSpPr/>
          <p:nvPr/>
        </p:nvGrpSpPr>
        <p:grpSpPr>
          <a:xfrm>
            <a:off x="6134100" y="3143250"/>
            <a:ext cx="5524500" cy="2571750"/>
            <a:chOff x="6134100" y="3143250"/>
            <a:chExt cx="5524500" cy="2571750"/>
          </a:xfrm>
        </p:grpSpPr>
        <p:sp>
          <p:nvSpPr>
            <p:cNvPr id="86" name="Rectangle 86"/>
            <p:cNvSpPr/>
            <p:nvPr/>
          </p:nvSpPr>
          <p:spPr>
            <a:xfrm>
              <a:off x="6134100" y="3143250"/>
              <a:ext cx="5524500" cy="2571750"/>
            </a:xfrm>
            <a:prstGeom prst="roundRect">
              <a:avLst>
                <a:gd name="adj" fmla="val 5926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6324600" y="3276600"/>
              <a:ext cx="609600" cy="2857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505165" y="33242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τσ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042023" y="3348514"/>
              <a:ext cx="221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先做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右边的 σ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，再做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左边的 τ</a:t>
              </a:r>
            </a:p>
          </p:txBody>
        </p:sp>
        <p:grpSp>
          <p:nvGrpSpPr>
            <p:cNvPr id="95" name="Group 95"/>
            <p:cNvGrpSpPr/>
            <p:nvPr/>
          </p:nvGrpSpPr>
          <p:grpSpPr>
            <a:xfrm>
              <a:off x="7132599" y="3688556"/>
              <a:ext cx="3788719" cy="220028"/>
              <a:chOff x="7132599" y="3688556"/>
              <a:chExt cx="3788719" cy="220028"/>
            </a:xfrm>
          </p:grpSpPr>
          <p:sp>
            <p:nvSpPr>
              <p:cNvPr id="90" name="TextBox 90"/>
              <p:cNvSpPr txBox="1"/>
              <p:nvPr/>
            </p:nvSpPr>
            <p:spPr>
              <a:xfrm>
                <a:off x="7132599" y="36885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5"/>
                    </a:solidFill>
                    <a:latin typeface="Cambria Math"/>
                    <a:ea typeface="Cambria Math"/>
                    <a:cs typeface="Cambria Math"/>
                  </a:rPr>
                  <a:t>x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7815328" y="3688556"/>
                <a:ext cx="44754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0F7A68"/>
                    </a:solidFill>
                    <a:latin typeface="Cambria Math"/>
                    <a:ea typeface="Microsoft YaHei"/>
                    <a:cs typeface="Cambria Math"/>
                  </a:rPr>
                  <a:t>σ 作用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8716491" y="3688556"/>
                <a:ext cx="3597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120" b="1" dirty="0">
                    <a:solidFill>
                      <a:schemeClr val="accent5"/>
                    </a:solidFill>
                    <a:latin typeface="Cambria Math"/>
                    <a:ea typeface="Cambria Math"/>
                    <a:cs typeface="Cambria Math"/>
                  </a:rPr>
                  <a:t>σ(x)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9529828" y="3688556"/>
                <a:ext cx="44754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C2410C"/>
                    </a:solidFill>
                    <a:latin typeface="Cambria Math"/>
                    <a:ea typeface="Microsoft YaHei"/>
                    <a:cs typeface="Cambria Math"/>
                  </a:rPr>
                  <a:t>τ 作用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10300382" y="3688556"/>
                <a:ext cx="62093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12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τ(σ(x))</a:t>
                </a:r>
              </a:p>
            </p:txBody>
          </p:sp>
        </p:grpSp>
        <p:sp>
          <p:nvSpPr>
            <p:cNvPr id="96" name="Line 96"/>
            <p:cNvSpPr/>
            <p:nvPr/>
          </p:nvSpPr>
          <p:spPr>
            <a:xfrm>
              <a:off x="7353300" y="40576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7" name="Freeform 97"/>
            <p:cNvSpPr/>
            <p:nvPr/>
          </p:nvSpPr>
          <p:spPr>
            <a:xfrm>
              <a:off x="8667750" y="4010025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0" y="0"/>
                  </a:moveTo>
                  <a:lnTo>
                    <a:pt x="8572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98" name="Line 98"/>
            <p:cNvSpPr/>
            <p:nvPr/>
          </p:nvSpPr>
          <p:spPr>
            <a:xfrm>
              <a:off x="9067800" y="40576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10382250" y="4010025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0" y="0"/>
                  </a:moveTo>
                  <a:lnTo>
                    <a:pt x="8572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7058025" y="3933825"/>
              <a:ext cx="247650" cy="247650"/>
            </a:xfrm>
            <a:prstGeom prst="ellipse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8772525" y="3933825"/>
              <a:ext cx="247650" cy="247650"/>
            </a:xfrm>
            <a:prstGeom prst="ellipse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10487025" y="3933825"/>
              <a:ext cx="247650" cy="247650"/>
            </a:xfrm>
            <a:prstGeom prst="ellipse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129108" y="39852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843608" y="39852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0558108" y="39852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6" name="Line 106"/>
            <p:cNvSpPr/>
            <p:nvPr/>
          </p:nvSpPr>
          <p:spPr>
            <a:xfrm>
              <a:off x="7353300" y="4333875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07" name="Freeform 107"/>
            <p:cNvSpPr/>
            <p:nvPr/>
          </p:nvSpPr>
          <p:spPr>
            <a:xfrm>
              <a:off x="8667750" y="4286250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0" y="0"/>
                  </a:moveTo>
                  <a:lnTo>
                    <a:pt x="8572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08" name="Line 108"/>
            <p:cNvSpPr/>
            <p:nvPr/>
          </p:nvSpPr>
          <p:spPr>
            <a:xfrm>
              <a:off x="9067800" y="4333875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09" name="Freeform 109"/>
            <p:cNvSpPr/>
            <p:nvPr/>
          </p:nvSpPr>
          <p:spPr>
            <a:xfrm>
              <a:off x="10382250" y="4286250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0" y="0"/>
                  </a:moveTo>
                  <a:lnTo>
                    <a:pt x="8572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7058025" y="4210050"/>
              <a:ext cx="247650" cy="247650"/>
            </a:xfrm>
            <a:prstGeom prst="ellipse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8772525" y="4210050"/>
              <a:ext cx="247650" cy="247650"/>
            </a:xfrm>
            <a:prstGeom prst="ellipse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10487025" y="4210050"/>
              <a:ext cx="247650" cy="247650"/>
            </a:xfrm>
            <a:prstGeom prst="ellipse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7129108" y="42614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843608" y="42614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558108" y="42614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6" name="Line 116"/>
            <p:cNvSpPr/>
            <p:nvPr/>
          </p:nvSpPr>
          <p:spPr>
            <a:xfrm>
              <a:off x="7353300" y="461010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17" name="Freeform 117"/>
            <p:cNvSpPr/>
            <p:nvPr/>
          </p:nvSpPr>
          <p:spPr>
            <a:xfrm>
              <a:off x="8667750" y="4562475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0" y="0"/>
                  </a:moveTo>
                  <a:lnTo>
                    <a:pt x="8572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18" name="Line 118"/>
            <p:cNvSpPr/>
            <p:nvPr/>
          </p:nvSpPr>
          <p:spPr>
            <a:xfrm>
              <a:off x="9067800" y="461010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9" name="Freeform 119"/>
            <p:cNvSpPr/>
            <p:nvPr/>
          </p:nvSpPr>
          <p:spPr>
            <a:xfrm>
              <a:off x="10382250" y="4562475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0" y="0"/>
                  </a:moveTo>
                  <a:lnTo>
                    <a:pt x="8572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20" name="Ellipse 120"/>
            <p:cNvSpPr/>
            <p:nvPr/>
          </p:nvSpPr>
          <p:spPr>
            <a:xfrm>
              <a:off x="7058025" y="4486275"/>
              <a:ext cx="247650" cy="247650"/>
            </a:xfrm>
            <a:prstGeom prst="ellipse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1" name="Ellipse 121"/>
            <p:cNvSpPr/>
            <p:nvPr/>
          </p:nvSpPr>
          <p:spPr>
            <a:xfrm>
              <a:off x="8772525" y="4486275"/>
              <a:ext cx="247650" cy="247650"/>
            </a:xfrm>
            <a:prstGeom prst="ellipse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10487025" y="4486275"/>
              <a:ext cx="247650" cy="247650"/>
            </a:xfrm>
            <a:prstGeom prst="ellipse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7129108" y="45377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8843608" y="45377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0558108" y="45377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6" name="Line 126"/>
            <p:cNvSpPr/>
            <p:nvPr/>
          </p:nvSpPr>
          <p:spPr>
            <a:xfrm>
              <a:off x="7353300" y="4886325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7" name="Freeform 127"/>
            <p:cNvSpPr/>
            <p:nvPr/>
          </p:nvSpPr>
          <p:spPr>
            <a:xfrm>
              <a:off x="8667750" y="4838700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0" y="0"/>
                  </a:moveTo>
                  <a:lnTo>
                    <a:pt x="8572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28" name="Line 128"/>
            <p:cNvSpPr/>
            <p:nvPr/>
          </p:nvSpPr>
          <p:spPr>
            <a:xfrm>
              <a:off x="9067800" y="4886325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29" name="Freeform 129"/>
            <p:cNvSpPr/>
            <p:nvPr/>
          </p:nvSpPr>
          <p:spPr>
            <a:xfrm>
              <a:off x="10382250" y="4838700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0" y="0"/>
                  </a:moveTo>
                  <a:lnTo>
                    <a:pt x="8572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0" name="Ellipse 130"/>
            <p:cNvSpPr/>
            <p:nvPr/>
          </p:nvSpPr>
          <p:spPr>
            <a:xfrm>
              <a:off x="7058025" y="4762500"/>
              <a:ext cx="247650" cy="247650"/>
            </a:xfrm>
            <a:prstGeom prst="ellipse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31" name="Ellipse 131"/>
            <p:cNvSpPr/>
            <p:nvPr/>
          </p:nvSpPr>
          <p:spPr>
            <a:xfrm>
              <a:off x="8772525" y="4762500"/>
              <a:ext cx="247650" cy="247650"/>
            </a:xfrm>
            <a:prstGeom prst="ellipse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2" name="Ellipse 132"/>
            <p:cNvSpPr/>
            <p:nvPr/>
          </p:nvSpPr>
          <p:spPr>
            <a:xfrm>
              <a:off x="10487025" y="4762500"/>
              <a:ext cx="247650" cy="247650"/>
            </a:xfrm>
            <a:prstGeom prst="ellipse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7129108" y="48139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8843608" y="48139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0558108" y="48139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6" name="f-track-tau-sigma"/>
                <p:cNvSpPr txBox="1">
                  <a:spLocks noGrp="1"/>
                </p:cNvSpPr>
                <p:nvPr/>
              </p:nvSpPr>
              <p:spPr>
                <a:xfrm>
                  <a:off x="6324600" y="5105400"/>
                  <a:ext cx="51435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τσ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44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38" name="Rectangle 138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42" name="Group 142"/>
            <p:cNvGrpSpPr/>
            <p:nvPr/>
          </p:nvGrpSpPr>
          <p:grpSpPr>
            <a:xfrm>
              <a:off x="748219" y="5987006"/>
              <a:ext cx="256151" cy="220068"/>
              <a:chOff x="748219" y="5987006"/>
              <a:chExt cx="256151" cy="220068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876300" y="6067425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rgbClr val="B42318"/>
                </a:solidFill>
              </a:ln>
            </p:spPr>
          </p:sp>
          <p:sp>
            <p:nvSpPr>
              <p:cNvPr id="140" name="Freeform 140"/>
              <p:cNvSpPr/>
              <p:nvPr/>
            </p:nvSpPr>
            <p:spPr>
              <a:xfrm>
                <a:off x="748219" y="5987006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rgbClr val="B42318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876300" y="615632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B42318"/>
                </a:solidFill>
              </a:ln>
            </p:spPr>
          </p:sp>
        </p:grpSp>
        <p:sp>
          <p:nvSpPr>
            <p:cNvPr id="143" name="TextBox 143"/>
            <p:cNvSpPr txBox="1"/>
            <p:nvPr/>
          </p:nvSpPr>
          <p:spPr>
            <a:xfrm>
              <a:off x="1134618" y="6003608"/>
              <a:ext cx="66432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不要从左往右读！先右后左；两个结果不同，</a:t>
              </a:r>
              <a:r>
                <a:rPr lang="zh-CN" sz="16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一般 στ ≠ τσ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47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45" name="TextBox 145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80037" y="361950"/>
            <a:ext cx="4993318" cy="960501"/>
            <a:chOff x="480037" y="361950"/>
            <a:chExt cx="499331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5621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0037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置换群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9536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对称群 Sₙ：最典型的非交换群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three-properties"/>
          <p:cNvGrpSpPr/>
          <p:nvPr/>
        </p:nvGrpSpPr>
        <p:grpSpPr>
          <a:xfrm>
            <a:off x="533400" y="1485900"/>
            <a:ext cx="5334000" cy="1866900"/>
            <a:chOff x="533400" y="1485900"/>
            <a:chExt cx="5334000" cy="18669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334000" cy="1866900"/>
            </a:xfrm>
            <a:prstGeom prst="roundRect">
              <a:avLst>
                <a:gd name="adj" fmla="val 816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562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34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93723" y="1681639"/>
              <a:ext cx="29359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置换乘法的三条性质（σ, τ, ρ ∈ Sₙ）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9823" y="2015014"/>
              <a:ext cx="2458263" cy="7827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结合律：</a:t>
              </a:r>
              <a:r>
                <a:rPr lang="el-GR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(στ)ρ = σ(τρ)</a:t>
              </a:r>
              <a:br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单位元：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恒等置换 I，Iτ = τI = τ</a:t>
              </a:r>
              <a:br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逆元：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把双行式的上下两行对调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-inverse"/>
                <p:cNvSpPr txBox="1">
                  <a:spLocks noGrp="1"/>
                </p:cNvSpPr>
                <p:nvPr/>
              </p:nvSpPr>
              <p:spPr>
                <a:xfrm>
                  <a:off x="876300" y="2781300"/>
                  <a:ext cx="476250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baseJc m:val="center"/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</m:mcPr>
                                      </m:mc>
                                      <m:mc>
                                        <m:mcPr>
                                          <m:count m:val="1"/>
                                        </m:mcPr>
                                      </m:mc>
                                      <m:mc>
                                        <m:mcPr>
                                          <m:count m:val="1"/>
                                        </m:mcPr>
                                      </m:mc>
                                      <m:mc>
                                        <m:mcPr>
                                          <m:count m:val="1"/>
                                        </m:mcPr>
                                      </m:mc>
                                    </m:mcs>
                                  </m:mPr>
                                  <m:mr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n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n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theorem"/>
          <p:cNvGrpSpPr/>
          <p:nvPr/>
        </p:nvGrpSpPr>
        <p:grpSpPr>
          <a:xfrm>
            <a:off x="533400" y="3448050"/>
            <a:ext cx="5334000" cy="924306"/>
            <a:chOff x="533400" y="3448050"/>
            <a:chExt cx="5334000" cy="924306"/>
          </a:xfrm>
        </p:grpSpPr>
        <p:sp>
          <p:nvSpPr>
            <p:cNvPr id="15" name="Rectangle 15"/>
            <p:cNvSpPr/>
            <p:nvPr/>
          </p:nvSpPr>
          <p:spPr>
            <a:xfrm>
              <a:off x="533400" y="3448050"/>
              <a:ext cx="5334000" cy="914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85800" y="3600450"/>
              <a:ext cx="47625" cy="609600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76300" y="356235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6238" y="36233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6.2.6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37004" y="3632835"/>
              <a:ext cx="31859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元置换的全体 Sₙ 对置换乘法作成一个群，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204" y="3947160"/>
              <a:ext cx="3484626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称为 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次对称群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；Sₙ 的任一子群称为 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次置换群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（子群：Sₙ 中对同一乘法也作成群的一部分置换）</a:t>
              </a:r>
            </a:p>
          </p:txBody>
        </p:sp>
      </p:grpSp>
      <p:grpSp>
        <p:nvGrpSpPr>
          <p:cNvPr id="27" name="not-abelian"/>
          <p:cNvGrpSpPr/>
          <p:nvPr/>
        </p:nvGrpSpPr>
        <p:grpSpPr>
          <a:xfrm>
            <a:off x="533400" y="4457700"/>
            <a:ext cx="5334000" cy="1257300"/>
            <a:chOff x="533400" y="4457700"/>
            <a:chExt cx="5334000" cy="1257300"/>
          </a:xfrm>
        </p:grpSpPr>
        <p:sp>
          <p:nvSpPr>
            <p:cNvPr id="22" name="Rectangle 22"/>
            <p:cNvSpPr/>
            <p:nvPr/>
          </p:nvSpPr>
          <p:spPr>
            <a:xfrm>
              <a:off x="533400" y="4457700"/>
              <a:ext cx="5334000" cy="1257300"/>
            </a:xfrm>
            <a:prstGeom prst="roundRect">
              <a:avLst>
                <a:gd name="adj" fmla="val 12121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4610100"/>
              <a:ext cx="47625" cy="9525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0585" y="4583906"/>
              <a:ext cx="40911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 ≥ 3 时 Sₙ 不是交换群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（n = 1, 2 时 S₁、S₂ 都是 Abel 群）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-noncomm-1"/>
                <p:cNvSpPr txBox="1">
                  <a:spLocks noGrp="1"/>
                </p:cNvSpPr>
                <p:nvPr/>
              </p:nvSpPr>
              <p:spPr>
                <a:xfrm>
                  <a:off x="838200" y="4781550"/>
                  <a:ext cx="491490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-noncomm-2"/>
                <p:cNvSpPr txBox="1">
                  <a:spLocks noGrp="1"/>
                </p:cNvSpPr>
                <p:nvPr/>
              </p:nvSpPr>
              <p:spPr>
                <a:xfrm>
                  <a:off x="838200" y="5238750"/>
                  <a:ext cx="491490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14" name="s3-table"/>
          <p:cNvGrpSpPr/>
          <p:nvPr/>
        </p:nvGrpSpPr>
        <p:grpSpPr>
          <a:xfrm>
            <a:off x="5981700" y="1485900"/>
            <a:ext cx="5676900" cy="4229100"/>
            <a:chOff x="5981700" y="1485900"/>
            <a:chExt cx="5676900" cy="4229100"/>
          </a:xfrm>
        </p:grpSpPr>
        <p:sp>
          <p:nvSpPr>
            <p:cNvPr id="28" name="Rectangle 28"/>
            <p:cNvSpPr/>
            <p:nvPr/>
          </p:nvSpPr>
          <p:spPr>
            <a:xfrm>
              <a:off x="5981700" y="1485900"/>
              <a:ext cx="56769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200775" y="1647825"/>
              <a:ext cx="171450" cy="171450"/>
              <a:chOff x="6200775" y="1647825"/>
              <a:chExt cx="171450" cy="17145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200775" y="16478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52400"/>
                    </a:lnTo>
                    <a:cubicBezTo>
                      <a:pt x="171450" y="162921"/>
                      <a:pt x="162921" y="171450"/>
                      <a:pt x="152400" y="171450"/>
                    </a:cubicBez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200775" y="17145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267450" y="1647825"/>
                <a:ext cx="95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">
                    <a:moveTo>
                      <a:pt x="0" y="0"/>
                    </a:moveTo>
                    <a:lnTo>
                      <a:pt x="0" y="1714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470523" y="1662589"/>
              <a:ext cx="30526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S₃ 运算表：第 σᵢ 行、第 σⱼ 列 = σᵢσⱼ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172200" y="1962150"/>
              <a:ext cx="3333750" cy="3810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172200" y="2343150"/>
              <a:ext cx="476250" cy="22860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48450" y="2343150"/>
              <a:ext cx="2857500" cy="228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57975" y="2352675"/>
              <a:ext cx="45720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134225" y="2733675"/>
              <a:ext cx="45720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10475" y="3114675"/>
              <a:ext cx="45720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086725" y="3495675"/>
              <a:ext cx="45720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039225" y="3876675"/>
              <a:ext cx="45720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562975" y="4257675"/>
              <a:ext cx="45720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10475" y="2733675"/>
              <a:ext cx="457200" cy="361950"/>
            </a:xfrm>
            <a:prstGeom prst="rect">
              <a:avLst/>
            </a:prstGeom>
            <a:solidFill>
              <a:srgbClr val="FDEEE7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134225" y="3114675"/>
              <a:ext cx="457200" cy="361950"/>
            </a:xfrm>
            <a:prstGeom prst="rect">
              <a:avLst/>
            </a:prstGeom>
            <a:solidFill>
              <a:srgbClr val="FDEEE7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6172200" y="2343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6172200" y="2724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6172200" y="3105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6172200" y="3486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6172200" y="3867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172200" y="4248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6648450" y="1962150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7124700" y="1962150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7600950" y="1962150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8077200" y="1962150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8553450" y="1962150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9029700" y="1962150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172200" y="1962150"/>
              <a:ext cx="3333750" cy="26670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54092" y="207121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·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80587" y="2071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56837" y="2071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33087" y="2071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09337" y="2071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85587" y="2071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161837" y="2071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04337" y="2452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780587" y="2452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261576" y="2452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37826" y="2452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14076" y="2452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90326" y="2452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166576" y="2452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304337" y="2833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785326" y="2833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256837" y="2833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733087" y="2833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14076" y="2833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690326" y="2833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166576" y="2833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304337" y="3214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785326" y="3214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256837" y="3214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733087" y="3214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214076" y="3214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690326" y="3214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166576" y="3214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304337" y="3595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785326" y="3595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261576" y="3595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737826" y="3595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209337" y="3595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690326" y="3595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166576" y="3595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304337" y="3976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785326" y="3976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261576" y="3976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737826" y="3976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214076" y="3976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690326" y="3976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161837" y="3976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304337" y="4357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785326" y="4357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261576" y="4357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737826" y="4357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214076" y="4357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685587" y="43572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166576" y="43572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690735" y="2031206"/>
              <a:ext cx="943813" cy="16487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：恒等 I</a:t>
              </a:r>
              <a:br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：交换 2、3</a:t>
              </a:r>
              <a:br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：交换 1、3</a:t>
              </a:r>
              <a:br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：交换 1、2</a:t>
              </a:r>
              <a:br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：1→2→3→1</a:t>
              </a:r>
              <a:br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：1→3→2→1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9696450" y="3886200"/>
              <a:ext cx="133350" cy="13335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901047" y="3904774"/>
              <a:ext cx="13819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结果为 σ₁：互逆的一对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9696450" y="4133850"/>
              <a:ext cx="133350" cy="13335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9901047" y="41524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不对称的一对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6172200" y="4762500"/>
              <a:ext cx="5295900" cy="800100"/>
            </a:xfrm>
            <a:prstGeom prst="roundRect">
              <a:avLst>
                <a:gd name="adj" fmla="val 1428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318504" y="4899660"/>
              <a:ext cx="468325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读表：</a:t>
              </a:r>
              <a:r>
                <a:rPr lang="el-GR" sz="12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σ₂σ₃ = σ₅</a:t>
              </a:r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，而 </a:t>
              </a:r>
              <a:r>
                <a:rPr lang="el-GR" sz="12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σ₃σ₂ = σ₆</a:t>
              </a:r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 ⇒ 表关于主对角线不对称</a:t>
              </a:r>
              <a:br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σ₅⁻¹ = σ₆，σ₆⁻¹ = σ₅，其余 σᵢ⁻¹ = σᵢ；每行每列各元素恰出现一次</a:t>
              </a:r>
            </a:p>
          </p:txBody>
        </p:sp>
      </p:grpSp>
      <p:grpSp>
        <p:nvGrpSpPr>
          <p:cNvPr id="122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15" name="Rectangle 11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20" name="Group 120"/>
            <p:cNvGrpSpPr/>
            <p:nvPr/>
          </p:nvGrpSpPr>
          <p:grpSpPr>
            <a:xfrm>
              <a:off x="762000" y="6003925"/>
              <a:ext cx="228599" cy="203200"/>
              <a:chOff x="762000" y="6003925"/>
              <a:chExt cx="228599" cy="20320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952499" y="6003925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0"/>
                    </a:moveTo>
                    <a:lnTo>
                      <a:pt x="38100" y="38100"/>
                    </a:lnTo>
                    <a:lnTo>
                      <a:pt x="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952499" y="6130925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76200"/>
                    </a:moveTo>
                    <a:lnTo>
                      <a:pt x="38100" y="381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762000" y="6042025"/>
                <a:ext cx="228599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27000">
                    <a:moveTo>
                      <a:pt x="0" y="0"/>
                    </a:moveTo>
                    <a:lnTo>
                      <a:pt x="38100" y="0"/>
                    </a:lnTo>
                    <a:cubicBezTo>
                      <a:pt x="73170" y="0"/>
                      <a:pt x="101600" y="28430"/>
                      <a:pt x="101600" y="63500"/>
                    </a:cubicBezTo>
                    <a:cubicBezTo>
                      <a:pt x="101600" y="98570"/>
                      <a:pt x="130030" y="127000"/>
                      <a:pt x="165100" y="127000"/>
                    </a:cubicBezTo>
                    <a:lnTo>
                      <a:pt x="228599" y="1270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19" name="Freeform 119"/>
              <p:cNvSpPr/>
              <p:nvPr/>
            </p:nvSpPr>
            <p:spPr>
              <a:xfrm>
                <a:off x="762000" y="6042005"/>
                <a:ext cx="228599" cy="127035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27035">
                    <a:moveTo>
                      <a:pt x="228599" y="20"/>
                    </a:moveTo>
                    <a:lnTo>
                      <a:pt x="165100" y="20"/>
                    </a:lnTo>
                    <a:cubicBezTo>
                      <a:pt x="151357" y="0"/>
                      <a:pt x="137982" y="4458"/>
                      <a:pt x="127000" y="12720"/>
                    </a:cubicBezTo>
                    <a:moveTo>
                      <a:pt x="76200" y="114320"/>
                    </a:moveTo>
                    <a:cubicBezTo>
                      <a:pt x="65215" y="122577"/>
                      <a:pt x="51842" y="127035"/>
                      <a:pt x="38100" y="127020"/>
                    </a:cubicBezTo>
                    <a:lnTo>
                      <a:pt x="0" y="12702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21" name="TextBox 121"/>
            <p:cNvSpPr txBox="1"/>
            <p:nvPr/>
          </p:nvSpPr>
          <p:spPr>
            <a:xfrm>
              <a:off x="1134618" y="6003608"/>
              <a:ext cx="75704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Sₙ 对置换乘法成群（n 次对称群）；</a:t>
              </a:r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≥ 3 时不交换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，是最典型的非交换群。</a:t>
              </a:r>
            </a:p>
          </p:txBody>
        </p:sp>
      </p:grpSp>
      <p:grpSp>
        <p:nvGrpSpPr>
          <p:cNvPr id="125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23" name="TextBox 123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80037" y="361950"/>
            <a:ext cx="5882663" cy="960501"/>
            <a:chOff x="480037" y="361950"/>
            <a:chExt cx="588266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5621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0037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置换群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8430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例题精讲：乘积、逆置换与置换方程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given"/>
          <p:cNvGrpSpPr/>
          <p:nvPr/>
        </p:nvGrpSpPr>
        <p:grpSpPr>
          <a:xfrm>
            <a:off x="533400" y="1485900"/>
            <a:ext cx="11125200" cy="685800"/>
            <a:chOff x="533400" y="1485900"/>
            <a:chExt cx="11125200" cy="6858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685800"/>
            </a:xfrm>
            <a:prstGeom prst="roundRect">
              <a:avLst>
                <a:gd name="adj" fmla="val 2222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954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5632" y="17564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-given"/>
                <p:cNvSpPr txBox="1">
                  <a:spLocks noGrp="1"/>
                </p:cNvSpPr>
                <p:nvPr/>
              </p:nvSpPr>
              <p:spPr>
                <a:xfrm>
                  <a:off x="1295400" y="1524000"/>
                  <a:ext cx="4476750" cy="609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σ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τ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1" name="TextBox 11"/>
            <p:cNvSpPr txBox="1"/>
            <p:nvPr/>
          </p:nvSpPr>
          <p:spPr>
            <a:xfrm>
              <a:off x="5993892" y="1749742"/>
              <a:ext cx="43899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求 σ²、στ、τσ、σ⁻¹、τ⁻¹，并解方程 </a:t>
              </a:r>
              <a:r>
                <a:rPr lang="el-GR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σx = τ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el-GR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yτ = σ</a:t>
              </a:r>
            </a:p>
          </p:txBody>
        </p:sp>
      </p:grpSp>
      <p:grpSp>
        <p:nvGrpSpPr>
          <p:cNvPr id="23" name="products"/>
          <p:cNvGrpSpPr/>
          <p:nvPr/>
        </p:nvGrpSpPr>
        <p:grpSpPr>
          <a:xfrm>
            <a:off x="533400" y="2286000"/>
            <a:ext cx="3581400" cy="3429000"/>
            <a:chOff x="533400" y="2286000"/>
            <a:chExt cx="3581400" cy="3429000"/>
          </a:xfrm>
        </p:grpSpPr>
        <p:sp>
          <p:nvSpPr>
            <p:cNvPr id="13" name="Rectangle 13"/>
            <p:cNvSpPr/>
            <p:nvPr/>
          </p:nvSpPr>
          <p:spPr>
            <a:xfrm>
              <a:off x="533400" y="2286000"/>
              <a:ext cx="3581400" cy="3429000"/>
            </a:xfrm>
            <a:prstGeom prst="roundRect">
              <a:avLst>
                <a:gd name="adj" fmla="val 444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23900" y="24574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4508" y="2518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78992" y="25117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乘积：从右往左跟踪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-s2"/>
                <p:cNvSpPr txBox="1">
                  <a:spLocks noGrp="1"/>
                </p:cNvSpPr>
                <p:nvPr/>
              </p:nvSpPr>
              <p:spPr>
                <a:xfrm>
                  <a:off x="723900" y="2819400"/>
                  <a:ext cx="32004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-st"/>
                <p:cNvSpPr txBox="1">
                  <a:spLocks noGrp="1"/>
                </p:cNvSpPr>
                <p:nvPr/>
              </p:nvSpPr>
              <p:spPr>
                <a:xfrm>
                  <a:off x="723900" y="3390900"/>
                  <a:ext cx="32004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στ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-ts"/>
                <p:cNvSpPr txBox="1">
                  <a:spLocks noGrp="1"/>
                </p:cNvSpPr>
                <p:nvPr/>
              </p:nvSpPr>
              <p:spPr>
                <a:xfrm>
                  <a:off x="723900" y="3962400"/>
                  <a:ext cx="32004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τσ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Rectangle 20"/>
            <p:cNvSpPr/>
            <p:nvPr/>
          </p:nvSpPr>
          <p:spPr>
            <a:xfrm>
              <a:off x="723900" y="4610100"/>
              <a:ext cx="3200400" cy="952500"/>
            </a:xfrm>
            <a:prstGeom prst="roundRect">
              <a:avLst>
                <a:gd name="adj" fmla="val 12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0585" y="4736306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跟踪示例（以元素 1 为例）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0204" y="4994910"/>
              <a:ext cx="2839974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στ：1 ─τ→ 2 ─σ→ </a:t>
              </a:r>
              <a:r>
                <a:rPr lang="zh-CN" sz="12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4</a:t>
              </a:r>
              <a:br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τσ：1 ─σ→ 2 ─τ→ </a:t>
              </a:r>
              <a:r>
                <a:rPr lang="zh-CN" sz="12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5</a:t>
              </a:r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　　σ²：1 ─σ→ 2 ─σ→ </a:t>
              </a:r>
              <a:r>
                <a:rPr lang="zh-CN" sz="12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4</a:t>
              </a:r>
            </a:p>
          </p:txBody>
        </p:sp>
      </p:grpSp>
      <p:grpSp>
        <p:nvGrpSpPr>
          <p:cNvPr id="36" name="inverses"/>
          <p:cNvGrpSpPr/>
          <p:nvPr/>
        </p:nvGrpSpPr>
        <p:grpSpPr>
          <a:xfrm>
            <a:off x="4229100" y="2286000"/>
            <a:ext cx="3733800" cy="3429000"/>
            <a:chOff x="4229100" y="2286000"/>
            <a:chExt cx="3733800" cy="3429000"/>
          </a:xfrm>
        </p:grpSpPr>
        <p:sp>
          <p:nvSpPr>
            <p:cNvPr id="24" name="Rectangle 24"/>
            <p:cNvSpPr/>
            <p:nvPr/>
          </p:nvSpPr>
          <p:spPr>
            <a:xfrm>
              <a:off x="4229100" y="2286000"/>
              <a:ext cx="3733800" cy="3429000"/>
            </a:xfrm>
            <a:prstGeom prst="roundRect">
              <a:avLst>
                <a:gd name="adj" fmla="val 444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419600" y="24574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00208" y="2518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74692" y="25117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逆置换：对调，再重排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13885" y="2888456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第一步：σ 的上下两行对调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-swap"/>
                <p:cNvSpPr txBox="1">
                  <a:spLocks noGrp="1"/>
                </p:cNvSpPr>
                <p:nvPr/>
              </p:nvSpPr>
              <p:spPr>
                <a:xfrm>
                  <a:off x="4419600" y="3067050"/>
                  <a:ext cx="335280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sSup>
                          <m:e>
                            <m:r>
                              <a:rPr lang="zh-CN" sz="1350" dirty="0">
                                <a:solidFill>
                                  <a:srgbClr val="5B6475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5B6475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5B6475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5B6475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5B6475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5B647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5B647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5B647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5B647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5B647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5B647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5B647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5B647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5B647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5B647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0" name="TextBox 30"/>
            <p:cNvSpPr txBox="1"/>
            <p:nvPr/>
          </p:nvSpPr>
          <p:spPr>
            <a:xfrm>
              <a:off x="4413885" y="3688556"/>
              <a:ext cx="2657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第二步：按上行 1 2 3 4 5 重新排列各列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-si"/>
                <p:cNvSpPr txBox="1">
                  <a:spLocks noGrp="1"/>
                </p:cNvSpPr>
                <p:nvPr/>
              </p:nvSpPr>
              <p:spPr>
                <a:xfrm>
                  <a:off x="4419600" y="3867150"/>
                  <a:ext cx="33528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sSup>
                          <m:e>
                            <m:r>
                              <a:rPr lang="zh-CN" sz="13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2" name="Line 32"/>
            <p:cNvSpPr/>
            <p:nvPr/>
          </p:nvSpPr>
          <p:spPr>
            <a:xfrm>
              <a:off x="4419600" y="45339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13885" y="46601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同样得到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-ti"/>
                <p:cNvSpPr txBox="1">
                  <a:spLocks noGrp="1"/>
                </p:cNvSpPr>
                <p:nvPr/>
              </p:nvSpPr>
              <p:spPr>
                <a:xfrm>
                  <a:off x="4419600" y="4857750"/>
                  <a:ext cx="33528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sSup>
                          <m:e>
                            <m:r>
                              <a:rPr lang="zh-CN" sz="13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τ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2F4B9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5" name="TextBox 35"/>
            <p:cNvSpPr txBox="1"/>
            <p:nvPr/>
          </p:nvSpPr>
          <p:spPr>
            <a:xfrm>
              <a:off x="4414647" y="5495449"/>
              <a:ext cx="19228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检验：σ⁻¹σ 把每个元素送回自己</a:t>
              </a:r>
            </a:p>
          </p:txBody>
        </p:sp>
      </p:grpSp>
      <p:grpSp>
        <p:nvGrpSpPr>
          <p:cNvPr id="48" name="equations"/>
          <p:cNvGrpSpPr/>
          <p:nvPr/>
        </p:nvGrpSpPr>
        <p:grpSpPr>
          <a:xfrm>
            <a:off x="8077200" y="2286000"/>
            <a:ext cx="3581400" cy="3429000"/>
            <a:chOff x="8077200" y="2286000"/>
            <a:chExt cx="3581400" cy="3429000"/>
          </a:xfrm>
        </p:grpSpPr>
        <p:sp>
          <p:nvSpPr>
            <p:cNvPr id="37" name="Rectangle 37"/>
            <p:cNvSpPr/>
            <p:nvPr/>
          </p:nvSpPr>
          <p:spPr>
            <a:xfrm>
              <a:off x="8077200" y="2286000"/>
              <a:ext cx="3581400" cy="3429000"/>
            </a:xfrm>
            <a:prstGeom prst="roundRect">
              <a:avLst>
                <a:gd name="adj" fmla="val 444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267700" y="2457450"/>
              <a:ext cx="266700" cy="2667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48308" y="2518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22792" y="25117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解置换方程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61985" y="2888456"/>
              <a:ext cx="1502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σx = τ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：两边</a:t>
              </a:r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左乘</a:t>
              </a:r>
              <a:r>
                <a:rPr lang="el-GR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σ⁻¹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f-x"/>
                <p:cNvSpPr txBox="1">
                  <a:spLocks noGrp="1"/>
                </p:cNvSpPr>
                <p:nvPr/>
              </p:nvSpPr>
              <p:spPr>
                <a:xfrm>
                  <a:off x="8267700" y="3067050"/>
                  <a:ext cx="32004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zh-CN" sz="1350" dirty="0">
                            <a:solidFill>
                              <a:srgbClr val="0F7A6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0F7A6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0F7A6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0F7A6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0F7A6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350" dirty="0">
                            <a:solidFill>
                              <a:srgbClr val="0F7A6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τ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0F7A6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0F7A6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3" name="TextBox 43"/>
            <p:cNvSpPr txBox="1"/>
            <p:nvPr/>
          </p:nvSpPr>
          <p:spPr>
            <a:xfrm>
              <a:off x="8261985" y="3726656"/>
              <a:ext cx="1502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yτ = σ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：两边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右乘</a:t>
              </a:r>
              <a:r>
                <a:rPr lang="el-GR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τ⁻¹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-y"/>
                <p:cNvSpPr txBox="1">
                  <a:spLocks noGrp="1"/>
                </p:cNvSpPr>
                <p:nvPr/>
              </p:nvSpPr>
              <p:spPr>
                <a:xfrm>
                  <a:off x="8267700" y="3905250"/>
                  <a:ext cx="32004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zh-CN" sz="1350" dirty="0">
                            <a:solidFill>
                              <a:srgbClr val="0F7A6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0F7A6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0F7A6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σ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0F7A6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τ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0F7A6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0F7A6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0F7A6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0F7A6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5" name="Rectangle 45"/>
            <p:cNvSpPr/>
            <p:nvPr/>
          </p:nvSpPr>
          <p:spPr>
            <a:xfrm>
              <a:off x="8267700" y="4572000"/>
              <a:ext cx="3200400" cy="990600"/>
            </a:xfrm>
            <a:prstGeom prst="roundRect">
              <a:avLst>
                <a:gd name="adj" fmla="val 11538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14385" y="46982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验算（抽查一个元素）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14385" y="4964906"/>
              <a:ext cx="1782318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σx(2) = σ(4) = 5 = τ(2) ✓</a:t>
              </a:r>
              <a:br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yτ(1) = y(2) = 2 = σ(1) ✓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49" name="Rectangle 49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134618" y="6003608"/>
              <a:ext cx="68148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解置换方程和群里解方程一样：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σx = τ 左乘 σ⁻¹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yτ = σ 右乘 τ⁻¹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5" name="TextBox 55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80037" y="361950"/>
            <a:ext cx="4065293" cy="960501"/>
            <a:chOff x="480037" y="361950"/>
            <a:chExt cx="406529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5621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0037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置换群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0256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轮换：沿着一个圈转一步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ycle-definition"/>
          <p:cNvGrpSpPr/>
          <p:nvPr/>
        </p:nvGrpSpPr>
        <p:grpSpPr>
          <a:xfrm>
            <a:off x="533400" y="1485900"/>
            <a:ext cx="5524500" cy="2514600"/>
            <a:chOff x="533400" y="1485900"/>
            <a:chExt cx="5524500" cy="25146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524500" cy="2514600"/>
            </a:xfrm>
            <a:prstGeom prst="roundRect">
              <a:avLst>
                <a:gd name="adj" fmla="val 606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2209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161925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623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6.2.5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36242" y="16735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轮换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204" y="2023110"/>
              <a:ext cx="3105912" cy="1149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σ 是 M 的置换，若可取到 M 的元素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a₁, …, aᵣ，使 σ(a₁) = a₂，σ(a₂) = a₃，…，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σ(aᵣ₋₁) = aᵣ，σ(aᵣ) = a₁，而 σ 不变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 的其余元素，则 σ 称为一个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轮换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记为 </a:t>
              </a:r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(a₁ a₂ … aᵣ)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4667250" y="2019300"/>
              <a:ext cx="1104900" cy="1104900"/>
            </a:xfrm>
            <a:prstGeom prst="ellipse">
              <a:avLst/>
            </a:prstGeom>
            <a:noFill/>
            <a:ln w="23812">
              <a:solidFill>
                <a:schemeClr val="accent3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535930" y="2106930"/>
              <a:ext cx="121920" cy="120968"/>
            </a:xfrm>
            <a:custGeom>
              <a:avLst/>
              <a:gdLst/>
              <a:ahLst/>
              <a:cxnLst/>
              <a:rect l="l" t="t" r="r" b="b"/>
              <a:pathLst>
                <a:path w="121920" h="120968">
                  <a:moveTo>
                    <a:pt x="121920" y="120968"/>
                  </a:moveTo>
                  <a:lnTo>
                    <a:pt x="80962" y="0"/>
                  </a:lnTo>
                  <a:lnTo>
                    <a:pt x="0" y="8096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563552" y="2887980"/>
              <a:ext cx="120967" cy="121920"/>
            </a:xfrm>
            <a:custGeom>
              <a:avLst/>
              <a:gdLst/>
              <a:ahLst/>
              <a:cxnLst/>
              <a:rect l="l" t="t" r="r" b="b"/>
              <a:pathLst>
                <a:path w="120967" h="121920">
                  <a:moveTo>
                    <a:pt x="0" y="121920"/>
                  </a:moveTo>
                  <a:lnTo>
                    <a:pt x="120967" y="80962"/>
                  </a:lnTo>
                  <a:lnTo>
                    <a:pt x="40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4754880" y="2133600"/>
              <a:ext cx="120967" cy="121920"/>
            </a:xfrm>
            <a:custGeom>
              <a:avLst/>
              <a:gdLst/>
              <a:ahLst/>
              <a:cxnLst/>
              <a:rect l="l" t="t" r="r" b="b"/>
              <a:pathLst>
                <a:path w="120967" h="121920">
                  <a:moveTo>
                    <a:pt x="120967" y="0"/>
                  </a:moveTo>
                  <a:lnTo>
                    <a:pt x="0" y="40958"/>
                  </a:lnTo>
                  <a:lnTo>
                    <a:pt x="80962" y="1219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714875" y="2847975"/>
              <a:ext cx="228600" cy="228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776433" y="28803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⋯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067300" y="1866900"/>
              <a:ext cx="304800" cy="304800"/>
            </a:xfrm>
            <a:prstGeom prst="ellipse">
              <a:avLst/>
            </a:prstGeom>
            <a:solidFill>
              <a:srgbClr val="E3F5F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20312" y="19469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a₁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619750" y="2419350"/>
              <a:ext cx="304800" cy="304800"/>
            </a:xfrm>
            <a:prstGeom prst="ellipse">
              <a:avLst/>
            </a:prstGeom>
            <a:solidFill>
              <a:srgbClr val="E3F5F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72762" y="249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067300" y="2971800"/>
              <a:ext cx="304800" cy="304800"/>
            </a:xfrm>
            <a:prstGeom prst="ellipse">
              <a:avLst/>
            </a:prstGeom>
            <a:solidFill>
              <a:srgbClr val="E3F5F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120312" y="30518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a₃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514850" y="2419350"/>
              <a:ext cx="304800" cy="304800"/>
            </a:xfrm>
            <a:prstGeom prst="ellipse">
              <a:avLst/>
            </a:prstGeom>
            <a:solidFill>
              <a:srgbClr val="E3F5F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67862" y="249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16856" y="25141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转一步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0585" y="3231356"/>
              <a:ext cx="3735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起点可任选：</a:t>
              </a:r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(a₁ a₂ … aᵣ) = (aᵢ aᵢ₊₁ … aᵣ a₁ … aᵢ₋₁)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23900" y="3467100"/>
              <a:ext cx="5181600" cy="495300"/>
            </a:xfrm>
            <a:prstGeom prst="roundRect">
              <a:avLst>
                <a:gd name="adj" fmla="val 19231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8304" y="36423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-cycle-example"/>
                <p:cNvSpPr txBox="1">
                  <a:spLocks noGrp="1"/>
                </p:cNvSpPr>
                <p:nvPr/>
              </p:nvSpPr>
              <p:spPr>
                <a:xfrm>
                  <a:off x="1295400" y="3505200"/>
                  <a:ext cx="4572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7" name="cycle-inverse"/>
          <p:cNvGrpSpPr/>
          <p:nvPr/>
        </p:nvGrpSpPr>
        <p:grpSpPr>
          <a:xfrm>
            <a:off x="533400" y="4114800"/>
            <a:ext cx="5524500" cy="1600200"/>
            <a:chOff x="533400" y="4114800"/>
            <a:chExt cx="5524500" cy="1600200"/>
          </a:xfrm>
        </p:grpSpPr>
        <p:sp>
          <p:nvSpPr>
            <p:cNvPr id="33" name="Rectangle 33"/>
            <p:cNvSpPr/>
            <p:nvPr/>
          </p:nvSpPr>
          <p:spPr>
            <a:xfrm>
              <a:off x="533400" y="4114800"/>
              <a:ext cx="5524500" cy="1600200"/>
            </a:xfrm>
            <a:prstGeom prst="roundRect">
              <a:avLst>
                <a:gd name="adj" fmla="val 952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5800" y="4267200"/>
              <a:ext cx="47625" cy="1295400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9442" y="4273868"/>
              <a:ext cx="4404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轮换的逆 = 倒过来写：</a:t>
              </a:r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(a₁ a₂ … aᵣ)⁻¹ = (aᵣ … a₂ a₁)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0966" y="4572952"/>
              <a:ext cx="4571238" cy="1081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思路：往证 (aᵣ … a₂ a₁)(a₁ a₂ … aᵣ) = I。任取 x ∈ M（先做右边的轮换）：</a:t>
              </a:r>
            </a:p>
            <a:p>
              <a:pPr algn="l" marL="113348" indent="-113348">
                <a:lnSpc>
                  <a:spcPts val="1725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 = aᵢ ∈ {a₁, …, aᵣ₋₁}：先变到 aᵢ₊₁，再变回 aᵢ</a:t>
              </a:r>
            </a:p>
            <a:p>
              <a:pPr algn="l" marL="113348" indent="-113348">
                <a:lnSpc>
                  <a:spcPts val="1725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 = aᵣ：先变到 a₁，再变回 aᵣ</a:t>
              </a:r>
            </a:p>
            <a:p>
              <a:pPr algn="l" marL="113348" indent="-113348">
                <a:lnSpc>
                  <a:spcPts val="1725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 ∉ {a₁, …, aᵣ}：两次都不动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同理 (a₁ a₂ … aᵣ)(aᵣ … a₂ a₁) = I</a:t>
              </a:r>
            </a:p>
          </p:txBody>
        </p:sp>
      </p:grpSp>
      <p:grpSp>
        <p:nvGrpSpPr>
          <p:cNvPr id="49" name="disjoint-definition"/>
          <p:cNvGrpSpPr/>
          <p:nvPr/>
        </p:nvGrpSpPr>
        <p:grpSpPr>
          <a:xfrm>
            <a:off x="6172200" y="1485900"/>
            <a:ext cx="5486400" cy="2514600"/>
            <a:chOff x="6172200" y="1485900"/>
            <a:chExt cx="5486400" cy="2514600"/>
          </a:xfrm>
        </p:grpSpPr>
        <p:sp>
          <p:nvSpPr>
            <p:cNvPr id="38" name="Rectangle 38"/>
            <p:cNvSpPr/>
            <p:nvPr/>
          </p:nvSpPr>
          <p:spPr>
            <a:xfrm>
              <a:off x="6172200" y="1485900"/>
              <a:ext cx="5486400" cy="2514600"/>
            </a:xfrm>
            <a:prstGeom prst="roundRect">
              <a:avLst>
                <a:gd name="adj" fmla="val 606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324600" y="1638300"/>
              <a:ext cx="47625" cy="2209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515100" y="161925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503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6.2.6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75042" y="16735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不相杂（不相交）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09004" y="2023110"/>
              <a:ext cx="3616071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 的两个轮换 σ = (a₁ … aᵣ) 和 τ = (b₁ … bₛ)，如果</a:t>
              </a:r>
              <a:br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{a₁, …, aᵣ} ∩ {b₁, …, bₛ} = ∅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，就说它们不相杂。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09766" y="2610802"/>
              <a:ext cx="16599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例：M = {1, 2, 3, 4, 5}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515100" y="2838450"/>
              <a:ext cx="4953000" cy="514350"/>
            </a:xfrm>
            <a:prstGeom prst="roundRect">
              <a:avLst>
                <a:gd name="adj" fmla="val 18519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61785" y="2926556"/>
              <a:ext cx="302691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相杂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（都含 2、3）：(1 3 2)(2 3 4) = (1 3 4)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(2 3 4)(1 3 2) = (1 4 2)　</a:t>
              </a:r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顺序一换，结果就变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515100" y="3429000"/>
              <a:ext cx="4953000" cy="457200"/>
            </a:xfrm>
            <a:prstGeom prst="roundRect">
              <a:avLst>
                <a:gd name="adj" fmla="val 20833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61785" y="3593306"/>
              <a:ext cx="3456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不相杂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：(1 3 4)(2 5) = (2 5)(1 3 4)　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随便换顺序</a:t>
              </a:r>
            </a:p>
          </p:txBody>
        </p:sp>
      </p:grpSp>
      <p:grpSp>
        <p:nvGrpSpPr>
          <p:cNvPr id="54" name="disjoint-commute"/>
          <p:cNvGrpSpPr/>
          <p:nvPr/>
        </p:nvGrpSpPr>
        <p:grpSpPr>
          <a:xfrm>
            <a:off x="6172200" y="4114800"/>
            <a:ext cx="5486400" cy="1600200"/>
            <a:chOff x="6172200" y="4114800"/>
            <a:chExt cx="5486400" cy="1600200"/>
          </a:xfrm>
        </p:grpSpPr>
        <p:sp>
          <p:nvSpPr>
            <p:cNvPr id="50" name="Rectangle 50"/>
            <p:cNvSpPr/>
            <p:nvPr/>
          </p:nvSpPr>
          <p:spPr>
            <a:xfrm>
              <a:off x="6172200" y="4114800"/>
              <a:ext cx="5486400" cy="1600200"/>
            </a:xfrm>
            <a:prstGeom prst="roundRect">
              <a:avLst>
                <a:gd name="adj" fmla="val 952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324600" y="4267200"/>
              <a:ext cx="47625" cy="1295400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08242" y="4273868"/>
              <a:ext cx="23885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σ、τ 不相杂 ⇒ </a:t>
              </a:r>
              <a:r>
                <a:rPr lang="el-GR" sz="13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στ = τσ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09766" y="4572952"/>
              <a:ext cx="3871151" cy="1081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思路：对每个 x 分三种情况比较 στ(x) 与 τσ(x)：</a:t>
              </a:r>
            </a:p>
            <a:p>
              <a:pPr algn="l">
                <a:lnSpc>
                  <a:spcPts val="1725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x = aᵢ：στ(aᵢ) = σ(aᵢ) = aᵢ₊₁，τσ(aᵢ) = τ(aᵢ₊₁) = aᵢ₊₁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　（i = r 时 aᵢ₊₁ 取 a₁；τ 不动 σ 里的元素）</a:t>
              </a:r>
            </a:p>
            <a:p>
              <a:pPr algn="l">
                <a:lnSpc>
                  <a:spcPts val="1725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x 在 b₁, …, bₛ 之中：同理 στ(x) = τσ(x)</a:t>
              </a:r>
            </a:p>
            <a:p>
              <a:pPr algn="l">
                <a:lnSpc>
                  <a:spcPts val="1725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 x 两者都不在：στ(x) = σ(x) = x，τσ(x) = τ(x) = x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5" name="Rectangle 5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769370" y="6004277"/>
              <a:ext cx="207894" cy="212883"/>
            </a:xfrm>
            <a:custGeom>
              <a:avLst/>
              <a:gdLst/>
              <a:ahLst/>
              <a:cxnLst/>
              <a:rect l="l" t="t" r="r" b="b"/>
              <a:pathLst>
                <a:path w="207894" h="212883">
                  <a:moveTo>
                    <a:pt x="207894" y="88548"/>
                  </a:moveTo>
                  <a:cubicBezTo>
                    <a:pt x="201250" y="37858"/>
                    <a:pt x="157976" y="0"/>
                    <a:pt x="106852" y="153"/>
                  </a:cubicBezTo>
                  <a:cubicBezTo>
                    <a:pt x="55729" y="306"/>
                    <a:pt x="12682" y="38422"/>
                    <a:pt x="6341" y="89150"/>
                  </a:cubicBezTo>
                  <a:cubicBezTo>
                    <a:pt x="0" y="139879"/>
                    <a:pt x="32340" y="187418"/>
                    <a:pt x="81853" y="200151"/>
                  </a:cubicBezTo>
                  <a:cubicBezTo>
                    <a:pt x="131365" y="212883"/>
                    <a:pt x="182627" y="186842"/>
                    <a:pt x="201544" y="139347"/>
                  </a:cubicBezTo>
                  <a:moveTo>
                    <a:pt x="207894" y="202847"/>
                  </a:moveTo>
                  <a:lnTo>
                    <a:pt x="207894" y="139347"/>
                  </a:lnTo>
                  <a:lnTo>
                    <a:pt x="144394" y="139347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34618" y="6003608"/>
              <a:ext cx="73801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轮换 = 沿圈转一步；</a:t>
              </a:r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倒过来写就是逆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；不相杂的轮换互不干扰，</a:t>
              </a:r>
              <a:r>
                <a:rPr lang="zh-CN" sz="16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可以交换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9" name="TextBox 59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80037" y="361950"/>
            <a:ext cx="6932194" cy="960501"/>
            <a:chOff x="480037" y="361950"/>
            <a:chExt cx="6932194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5621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0037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置换群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89254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定理6.2.7：任意置换都能拆成不相杂轮换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theorem"/>
          <p:cNvGrpSpPr/>
          <p:nvPr/>
        </p:nvGrpSpPr>
        <p:grpSpPr>
          <a:xfrm>
            <a:off x="533400" y="1485900"/>
            <a:ext cx="5334000" cy="914400"/>
            <a:chOff x="533400" y="1485900"/>
            <a:chExt cx="5334000" cy="9144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334000" cy="914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609600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161925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623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6.2.7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36623" y="168163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任意置换恰有一法写成不相杂轮换的乘积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585" y="203120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可表性：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总能写成不相杂轮换之积；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唯一性：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不计乘积顺序，写法唯一</a:t>
              </a:r>
            </a:p>
          </p:txBody>
        </p:sp>
      </p:grpSp>
      <p:grpSp>
        <p:nvGrpSpPr>
          <p:cNvPr id="30" name="proof"/>
          <p:cNvGrpSpPr/>
          <p:nvPr/>
        </p:nvGrpSpPr>
        <p:grpSpPr>
          <a:xfrm>
            <a:off x="533400" y="2514600"/>
            <a:ext cx="5334000" cy="3200400"/>
            <a:chOff x="533400" y="2514600"/>
            <a:chExt cx="5334000" cy="3200400"/>
          </a:xfrm>
        </p:grpSpPr>
        <p:sp>
          <p:nvSpPr>
            <p:cNvPr id="14" name="Rectangle 14"/>
            <p:cNvSpPr/>
            <p:nvPr/>
          </p:nvSpPr>
          <p:spPr>
            <a:xfrm>
              <a:off x="533400" y="2514600"/>
              <a:ext cx="5334000" cy="3200400"/>
            </a:xfrm>
            <a:prstGeom prst="roundRect">
              <a:avLst>
                <a:gd name="adj" fmla="val 4762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7804" y="2642235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证明思路：从一个元素出发，一直追到回到起点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23900" y="2876550"/>
              <a:ext cx="4953000" cy="514350"/>
            </a:xfrm>
            <a:prstGeom prst="roundRect">
              <a:avLst>
                <a:gd name="adj" fmla="val 1851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90575" y="294322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2303" y="29903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0516" y="2972752"/>
              <a:ext cx="2457641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任取 a₁ ∈ M。若 σ(a₁) = a₁，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则 a₁ 自己作成一个长度为 1 的轮换 (a₁)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23900" y="3448050"/>
              <a:ext cx="4953000" cy="723900"/>
            </a:xfrm>
            <a:prstGeom prst="roundRect">
              <a:avLst>
                <a:gd name="adj" fmla="val 1315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790575" y="351472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2303" y="35618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0516" y="3544252"/>
              <a:ext cx="3844480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否则沿 σ 追踪：σ(a₁) = a₂，σ(a₂) = a₃，…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M 有限 ⇒ 到某个 aᵣ，σ(aᵣ) 必落回 a₁, …, aᵣ 之中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σ 一对一，a₂, …, aᵣ 已被占用 ⇒ </a:t>
              </a:r>
              <a:r>
                <a:rPr lang="el-GR" sz="10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σ(aᵣ) = a₁</a:t>
              </a: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，得轮换 (a₁ … aᵣ)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23900" y="4229100"/>
              <a:ext cx="4953000" cy="723900"/>
            </a:xfrm>
            <a:prstGeom prst="roundRect">
              <a:avLst>
                <a:gd name="adj" fmla="val 1315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790575" y="42957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2303" y="43429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80516" y="4325302"/>
              <a:ext cx="3144393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若还有 b₁ 不在 a₁, …, aᵣ 中，同样得轮换 (b₁ … bₛ)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a₁, …, aᵣ 各已有变到它的元素 ⇒ 两个轮换不相杂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如此类推：</a:t>
              </a:r>
              <a:r>
                <a:rPr lang="el-GR" sz="10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 = (a₁ … aᵣ)(b₁ … bₛ)⋯(c₁ … cₜ)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23900" y="5010150"/>
              <a:ext cx="4953000" cy="590550"/>
            </a:xfrm>
            <a:prstGeom prst="roundRect">
              <a:avLst>
                <a:gd name="adj" fmla="val 16129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70966" y="5125402"/>
              <a:ext cx="385114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b="1" dirty="0">
                  <a:solidFill>
                    <a:srgbClr val="C2410C"/>
                  </a:solidFill>
                  <a:latin typeface="Cambria Math"/>
                  <a:ea typeface="Microsoft YaHei"/>
                  <a:cs typeface="Cambria Math"/>
                </a:rPr>
                <a:t>唯一性：</a:t>
              </a: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若另有表法，不妨设 a₁ = a′₁，则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a₂ = σ(a₁) = σ(a′₁) = a′₂，…，轮换逐个相同；次序可任意颠倒</a:t>
              </a:r>
            </a:p>
          </p:txBody>
        </p:sp>
      </p:grpSp>
      <p:grpSp>
        <p:nvGrpSpPr>
          <p:cNvPr id="42" name="examples"/>
          <p:cNvGrpSpPr/>
          <p:nvPr/>
        </p:nvGrpSpPr>
        <p:grpSpPr>
          <a:xfrm>
            <a:off x="5981700" y="1485900"/>
            <a:ext cx="5676900" cy="2514600"/>
            <a:chOff x="5981700" y="1485900"/>
            <a:chExt cx="5676900" cy="2514600"/>
          </a:xfrm>
        </p:grpSpPr>
        <p:sp>
          <p:nvSpPr>
            <p:cNvPr id="31" name="Rectangle 31"/>
            <p:cNvSpPr/>
            <p:nvPr/>
          </p:nvSpPr>
          <p:spPr>
            <a:xfrm>
              <a:off x="5981700" y="1485900"/>
              <a:ext cx="5676900" cy="2514600"/>
            </a:xfrm>
            <a:prstGeom prst="roundRect">
              <a:avLst>
                <a:gd name="adj" fmla="val 606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1722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139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37604" y="1689735"/>
              <a:ext cx="2459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写成轮换表法（先从 1 出发追踪）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f-dec-main"/>
                <p:cNvSpPr txBox="1">
                  <a:spLocks noGrp="1"/>
                </p:cNvSpPr>
                <p:nvPr/>
              </p:nvSpPr>
              <p:spPr>
                <a:xfrm>
                  <a:off x="6172200" y="1943100"/>
                  <a:ext cx="52959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7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8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8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7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6" name="TextBox 36"/>
            <p:cNvSpPr txBox="1"/>
            <p:nvPr/>
          </p:nvSpPr>
          <p:spPr>
            <a:xfrm>
              <a:off x="6166866" y="2553652"/>
              <a:ext cx="3591116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= (3 5 2 1)(7)(8 6)(4)：换起点、换次序，仍是同一个置换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省略长度为 1 的轮换，简写为 </a:t>
              </a:r>
              <a:r>
                <a:rPr lang="zh-CN" sz="10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(1 3 5 2)(6 8)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66866" y="29918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练习（附答案）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f-dec-p1"/>
                <p:cNvSpPr txBox="1">
                  <a:spLocks noGrp="1"/>
                </p:cNvSpPr>
                <p:nvPr/>
              </p:nvSpPr>
              <p:spPr>
                <a:xfrm>
                  <a:off x="6172200" y="3162300"/>
                  <a:ext cx="26289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-dec-p2"/>
                <p:cNvSpPr txBox="1">
                  <a:spLocks noGrp="1"/>
                </p:cNvSpPr>
                <p:nvPr/>
              </p:nvSpPr>
              <p:spPr>
                <a:xfrm>
                  <a:off x="8839200" y="3162300"/>
                  <a:ext cx="26289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-dec-p3"/>
                <p:cNvSpPr txBox="1">
                  <a:spLocks noGrp="1"/>
                </p:cNvSpPr>
                <p:nvPr/>
              </p:nvSpPr>
              <p:spPr>
                <a:xfrm>
                  <a:off x="6172200" y="3562350"/>
                  <a:ext cx="26289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1" name="TextBox 41"/>
            <p:cNvSpPr txBox="1"/>
            <p:nvPr/>
          </p:nvSpPr>
          <p:spPr>
            <a:xfrm>
              <a:off x="8910447" y="3628549"/>
              <a:ext cx="1752346" cy="3621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做法：从最小的未用元素出发，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追到回到起点就闭合一个轮换</a:t>
              </a:r>
            </a:p>
          </p:txBody>
        </p:sp>
      </p:grpSp>
      <p:grpSp>
        <p:nvGrpSpPr>
          <p:cNvPr id="83" name="tracking"/>
          <p:cNvGrpSpPr/>
          <p:nvPr/>
        </p:nvGrpSpPr>
        <p:grpSpPr>
          <a:xfrm>
            <a:off x="5981700" y="4114800"/>
            <a:ext cx="5676900" cy="1600200"/>
            <a:chOff x="5981700" y="4114800"/>
            <a:chExt cx="5676900" cy="1600200"/>
          </a:xfrm>
        </p:grpSpPr>
        <p:sp>
          <p:nvSpPr>
            <p:cNvPr id="43" name="Rectangle 43"/>
            <p:cNvSpPr/>
            <p:nvPr/>
          </p:nvSpPr>
          <p:spPr>
            <a:xfrm>
              <a:off x="5981700" y="4114800"/>
              <a:ext cx="5676900" cy="16002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66485" y="4241006"/>
              <a:ext cx="2989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轮换乘积：从右往左逐个跟踪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（习题6.2-5）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172200" y="4476750"/>
              <a:ext cx="3048000" cy="2286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172200" y="4705350"/>
              <a:ext cx="3048000" cy="91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7" name="Line 47"/>
            <p:cNvSpPr/>
            <p:nvPr/>
          </p:nvSpPr>
          <p:spPr>
            <a:xfrm>
              <a:off x="6172200" y="47053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6172200" y="49339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6172200" y="51625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172200" y="53911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6781800" y="447675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7391400" y="447675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8001000" y="447675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8610600" y="447675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172200" y="4476750"/>
              <a:ext cx="3048000" cy="11430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6433953" y="4533424"/>
              <a:ext cx="2718427" cy="1105090"/>
              <a:chOff x="6433953" y="4533424"/>
              <a:chExt cx="2718427" cy="1105090"/>
            </a:xfrm>
          </p:grpSpPr>
          <p:sp>
            <p:nvSpPr>
              <p:cNvPr id="56" name="TextBox 56"/>
              <p:cNvSpPr txBox="1"/>
              <p:nvPr/>
            </p:nvSpPr>
            <p:spPr>
              <a:xfrm>
                <a:off x="6433953" y="45334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x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908492" y="4533424"/>
                <a:ext cx="3562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(2 3)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518092" y="4533424"/>
                <a:ext cx="3562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(1 4)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068819" y="4533424"/>
                <a:ext cx="4739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(2 3 4)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678419" y="4533424"/>
                <a:ext cx="4739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(1 2 3)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433953" y="47620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045367" y="4762024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654967" y="4762024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4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264567" y="4762024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872353" y="47620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6433953" y="49906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045367" y="4990624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654967" y="4990624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264567" y="4990624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872353" y="49906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6433953" y="52192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7045367" y="5219224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7654967" y="5219224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264567" y="5219224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4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8872353" y="52192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4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6433953" y="54478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4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7045367" y="5447824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4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7654967" y="5447824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264567" y="5447824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8872353" y="54478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</p:grpSp>
        <p:sp>
          <p:nvSpPr>
            <p:cNvPr id="82" name="TextBox 82"/>
            <p:cNvSpPr txBox="1"/>
            <p:nvPr/>
          </p:nvSpPr>
          <p:spPr>
            <a:xfrm>
              <a:off x="9367647" y="4523899"/>
              <a:ext cx="1683893" cy="1086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表头从左到右 = 作用顺序</a:t>
              </a:r>
              <a:br/>
              <a:r>
                <a:rPr lang="zh-CN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(1 2 3)(2 3 4)(1 4)(2 3)</a:t>
              </a:r>
            </a:p>
            <a:p>
              <a:pPr algn="l">
                <a:lnSpc>
                  <a:spcPts val="1650"/>
                </a:lnSpc>
                <a:spcBef>
                  <a:spcPts val="150"/>
                </a:spcBef>
              </a:pPr>
              <a:r>
                <a:rPr lang="zh-CN" sz="128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= (1 3)(2 4)</a:t>
              </a:r>
            </a:p>
            <a:p>
              <a:pPr algn="l">
                <a:lnSpc>
                  <a:spcPts val="1650"/>
                </a:lnSpc>
                <a:spcBef>
                  <a:spcPts val="300"/>
                </a:spcBef>
              </a:pPr>
              <a:r>
                <a:rPr lang="zh-CN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(3 6 5 4)(3 2 4 1)(3 1 5 2 4)</a:t>
              </a:r>
            </a:p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= (1 4 2)(3 6 5)</a:t>
              </a:r>
            </a:p>
          </p:txBody>
        </p:sp>
      </p:grpSp>
      <p:grpSp>
        <p:nvGrpSpPr>
          <p:cNvPr id="9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4" name="Rectangle 8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762000" y="616902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939799" y="599122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787400" y="6016625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1134618" y="6003608"/>
              <a:ext cx="71247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追踪到回到起点就闭合一个轮换，再从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没出现过的元素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继续，直到用完。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91" name="TextBox 91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80037" y="361950"/>
            <a:ext cx="5519189" cy="960501"/>
            <a:chOff x="480037" y="361950"/>
            <a:chExt cx="5519189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5621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0037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置换群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4795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对换：任何轮换都能拆成两两交换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definition"/>
          <p:cNvGrpSpPr/>
          <p:nvPr/>
        </p:nvGrpSpPr>
        <p:grpSpPr>
          <a:xfrm>
            <a:off x="533400" y="1485900"/>
            <a:ext cx="11125200" cy="838200"/>
            <a:chOff x="533400" y="1485900"/>
            <a:chExt cx="11125200" cy="8382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838200"/>
            </a:xfrm>
            <a:prstGeom prst="roundRect">
              <a:avLst>
                <a:gd name="adj" fmla="val 18182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34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94104" y="1689735"/>
              <a:ext cx="5763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轮换 (a₁ a₂ … aᵣ) 的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长度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r = 其中所含元素的个数；长度为 2 的轮换称为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对换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204" y="20612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任意轮换可以写成对换的乘积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191000" y="1962150"/>
              <a:ext cx="7315200" cy="304800"/>
            </a:xfrm>
            <a:prstGeom prst="roundRect">
              <a:avLst>
                <a:gd name="adj" fmla="val 3125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397375" y="2019300"/>
              <a:ext cx="49024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(a₁ a₂ … aᵣ) = (a₁ aᵣ)(a₁ aᵣ₋₁)⋯(a₁ a₃)(a₁ a₂)</a:t>
              </a:r>
            </a:p>
          </p:txBody>
        </p:sp>
      </p:grpSp>
      <p:grpSp>
        <p:nvGrpSpPr>
          <p:cNvPr id="48" name="induction"/>
          <p:cNvGrpSpPr/>
          <p:nvPr/>
        </p:nvGrpSpPr>
        <p:grpSpPr>
          <a:xfrm>
            <a:off x="533400" y="2438400"/>
            <a:ext cx="6134100" cy="3276600"/>
            <a:chOff x="533400" y="2438400"/>
            <a:chExt cx="6134100" cy="3276600"/>
          </a:xfrm>
        </p:grpSpPr>
        <p:sp>
          <p:nvSpPr>
            <p:cNvPr id="16" name="Rectangle 16"/>
            <p:cNvSpPr/>
            <p:nvPr/>
          </p:nvSpPr>
          <p:spPr>
            <a:xfrm>
              <a:off x="533400" y="2438400"/>
              <a:ext cx="6134100" cy="3276600"/>
            </a:xfrm>
            <a:prstGeom prst="roundRect">
              <a:avLst>
                <a:gd name="adj" fmla="val 465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23900" y="25717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1060" y="26327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1704" y="2642235"/>
              <a:ext cx="24167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对长度 r 归纳：r = 2 时显然成立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8185" y="2945606"/>
              <a:ext cx="5601818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设 r = t 时成立。考虑 σ = (a₁ a₂ … aₜ aₜ₊₁)，令 </a:t>
              </a:r>
              <a:r>
                <a:rPr lang="el-GR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σ₁ = (a₁ aₜ₊₁)</a:t>
              </a: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，</a:t>
              </a:r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σ₂ = (a₁ a₂ … aₜ)</a:t>
              </a:r>
              <a:br/>
              <a:r>
                <a:rPr lang="zh-CN" sz="1120" b="1" dirty="0">
                  <a:solidFill>
                    <a:srgbClr val="C2410C"/>
                  </a:solidFill>
                  <a:latin typeface="Cambria Math"/>
                  <a:ea typeface="Microsoft YaHei"/>
                  <a:cs typeface="Cambria Math"/>
                </a:rPr>
                <a:t>关键一步：</a:t>
              </a: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验证 σ = σ₁σ₂（先 σ₂ 后 σ₁）——任取 l ∈ M 分四种情况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23900" y="3429000"/>
              <a:ext cx="5753100" cy="3048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3900" y="3733800"/>
              <a:ext cx="5753100" cy="1295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581400" y="3733800"/>
              <a:ext cx="2895600" cy="12954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723900" y="3733800"/>
              <a:ext cx="5753100" cy="9525"/>
            </a:xfrm>
            <a:custGeom>
              <a:avLst/>
              <a:gdLst/>
              <a:ahLst/>
              <a:cxnLst/>
              <a:rect l="l" t="t" r="r" b="b"/>
              <a:pathLst>
                <a:path w="5753100" h="9525">
                  <a:moveTo>
                    <a:pt x="0" y="0"/>
                  </a:moveTo>
                  <a:lnTo>
                    <a:pt x="57531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23900" y="4057650"/>
              <a:ext cx="5753100" cy="9525"/>
            </a:xfrm>
            <a:custGeom>
              <a:avLst/>
              <a:gdLst/>
              <a:ahLst/>
              <a:cxnLst/>
              <a:rect l="l" t="t" r="r" b="b"/>
              <a:pathLst>
                <a:path w="5753100" h="9525">
                  <a:moveTo>
                    <a:pt x="0" y="0"/>
                  </a:moveTo>
                  <a:lnTo>
                    <a:pt x="57531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23900" y="4381500"/>
              <a:ext cx="5753100" cy="9525"/>
            </a:xfrm>
            <a:custGeom>
              <a:avLst/>
              <a:gdLst/>
              <a:ahLst/>
              <a:cxnLst/>
              <a:rect l="l" t="t" r="r" b="b"/>
              <a:pathLst>
                <a:path w="5753100" h="9525">
                  <a:moveTo>
                    <a:pt x="0" y="0"/>
                  </a:moveTo>
                  <a:lnTo>
                    <a:pt x="57531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23900" y="4705350"/>
              <a:ext cx="5753100" cy="9525"/>
            </a:xfrm>
            <a:custGeom>
              <a:avLst/>
              <a:gdLst/>
              <a:ahLst/>
              <a:cxnLst/>
              <a:rect l="l" t="t" r="r" b="b"/>
              <a:pathLst>
                <a:path w="5753100" h="9525">
                  <a:moveTo>
                    <a:pt x="0" y="0"/>
                  </a:moveTo>
                  <a:lnTo>
                    <a:pt x="57531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2152650" y="34290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3581400" y="34290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3900" y="3429000"/>
              <a:ext cx="5753100" cy="16002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886003" y="3517106"/>
              <a:ext cx="4896942" cy="1505903"/>
              <a:chOff x="886003" y="3517106"/>
              <a:chExt cx="4896942" cy="1505903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1408813" y="3517106"/>
                <a:ext cx="5892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l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706955" y="3517106"/>
                <a:ext cx="3201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12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σ(l)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275456" y="3517106"/>
                <a:ext cx="150748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12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σ₁σ₂(l) = σ₁(σ₂(l))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86003" y="3831431"/>
                <a:ext cx="110454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aₘ（1 ≤ m &lt; t）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695458" y="3831431"/>
                <a:ext cx="3431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aₘ₊₁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307118" y="3831431"/>
                <a:ext cx="144416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12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σ₁(aₘ₊₁) = aₘ₊₁ ✓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349634" y="4155281"/>
                <a:ext cx="1772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aₜ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695458" y="4155281"/>
                <a:ext cx="3431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aₜ₊₁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394190" y="4155281"/>
                <a:ext cx="12700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12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σ₁(a₁) = aₜ₊₁ ✓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266708" y="4479131"/>
                <a:ext cx="3431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aₜ₊₁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778384" y="4479131"/>
                <a:ext cx="1772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a₁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394190" y="4479131"/>
                <a:ext cx="12700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12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σ₁(aₜ₊₁) = a₁ ✓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61166" y="4802981"/>
                <a:ext cx="55421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其余的 l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838694" y="4802981"/>
                <a:ext cx="5666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l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607913" y="4802981"/>
                <a:ext cx="8425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12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σ₁(l) = l ✓</a:t>
                </a:r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718185" y="5212556"/>
              <a:ext cx="5068062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两者处处相同 ⇒ σ = (a₁ aₜ₊₁)(a₁ a₂ … aₜ)；再由归纳假设展开 (a₁ a₂ … aₜ)：</a:t>
              </a:r>
              <a:br/>
              <a:r>
                <a:rPr lang="zh-CN" sz="1120" b="1" dirty="0">
                  <a:solidFill>
                    <a:srgbClr val="C2410C"/>
                  </a:solidFill>
                  <a:latin typeface="Cambria Math"/>
                  <a:ea typeface="Microsoft YaHei"/>
                  <a:cs typeface="Cambria Math"/>
                </a:rPr>
                <a:t>σ = (a₁ aₜ₊₁)(a₁ aₜ)⋯(a₁ a₂)，归纳完成 ∎</a:t>
              </a:r>
            </a:p>
          </p:txBody>
        </p:sp>
      </p:grpSp>
      <p:grpSp>
        <p:nvGrpSpPr>
          <p:cNvPr id="85" name="example"/>
          <p:cNvGrpSpPr/>
          <p:nvPr/>
        </p:nvGrpSpPr>
        <p:grpSpPr>
          <a:xfrm>
            <a:off x="6743700" y="2438400"/>
            <a:ext cx="4914900" cy="1562100"/>
            <a:chOff x="6743700" y="2438400"/>
            <a:chExt cx="4914900" cy="1562100"/>
          </a:xfrm>
        </p:grpSpPr>
        <p:sp>
          <p:nvSpPr>
            <p:cNvPr id="49" name="Rectangle 49"/>
            <p:cNvSpPr/>
            <p:nvPr/>
          </p:nvSpPr>
          <p:spPr>
            <a:xfrm>
              <a:off x="6743700" y="2438400"/>
              <a:ext cx="4914900" cy="1562100"/>
            </a:xfrm>
            <a:prstGeom prst="roundRect">
              <a:avLst>
                <a:gd name="adj" fmla="val 97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34200" y="25717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75932" y="26327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99223" y="2634139"/>
              <a:ext cx="2337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(1 2 3 4) = (1 4)(1 3)(1 2)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934200" y="2914650"/>
              <a:ext cx="2209800" cy="200025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34200" y="3114675"/>
              <a:ext cx="2209800" cy="80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5" name="Line 55"/>
            <p:cNvSpPr/>
            <p:nvPr/>
          </p:nvSpPr>
          <p:spPr>
            <a:xfrm>
              <a:off x="6934200" y="3114675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6934200" y="33147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6934200" y="3514725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6934200" y="371475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7486650" y="2914650"/>
              <a:ext cx="9525" cy="1000125"/>
            </a:xfrm>
            <a:custGeom>
              <a:avLst/>
              <a:gdLst/>
              <a:ahLst/>
              <a:cxnLst/>
              <a:rect l="l" t="t" r="r" b="b"/>
              <a:pathLst>
                <a:path w="9525" h="1000125">
                  <a:moveTo>
                    <a:pt x="0" y="0"/>
                  </a:moveTo>
                  <a:lnTo>
                    <a:pt x="0" y="1000125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8039100" y="2914650"/>
              <a:ext cx="9525" cy="1000125"/>
            </a:xfrm>
            <a:custGeom>
              <a:avLst/>
              <a:gdLst/>
              <a:ahLst/>
              <a:cxnLst/>
              <a:rect l="l" t="t" r="r" b="b"/>
              <a:pathLst>
                <a:path w="9525" h="1000125">
                  <a:moveTo>
                    <a:pt x="0" y="0"/>
                  </a:moveTo>
                  <a:lnTo>
                    <a:pt x="0" y="1000125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8591550" y="2914650"/>
              <a:ext cx="9525" cy="1000125"/>
            </a:xfrm>
            <a:custGeom>
              <a:avLst/>
              <a:gdLst/>
              <a:ahLst/>
              <a:cxnLst/>
              <a:rect l="l" t="t" r="r" b="b"/>
              <a:pathLst>
                <a:path w="9525" h="1000125">
                  <a:moveTo>
                    <a:pt x="0" y="0"/>
                  </a:moveTo>
                  <a:lnTo>
                    <a:pt x="0" y="1000125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934200" y="2914650"/>
              <a:ext cx="2209800" cy="1000125"/>
            </a:xfrm>
            <a:prstGeom prst="rect">
              <a:avLst/>
            </a:prstGeom>
            <a:noFill/>
            <a:ln w="11430">
              <a:solidFill>
                <a:schemeClr val="accent1"/>
              </a:solidFill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167378" y="2952274"/>
              <a:ext cx="1878505" cy="990790"/>
              <a:chOff x="7167378" y="2952274"/>
              <a:chExt cx="1878505" cy="990790"/>
            </a:xfrm>
          </p:grpSpPr>
          <p:sp>
            <p:nvSpPr>
              <p:cNvPr id="63" name="TextBox 63"/>
              <p:cNvSpPr txBox="1"/>
              <p:nvPr/>
            </p:nvSpPr>
            <p:spPr>
              <a:xfrm>
                <a:off x="7167378" y="295227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x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584767" y="2952274"/>
                <a:ext cx="3562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(1 2)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137217" y="2952274"/>
                <a:ext cx="3562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(1 3)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8689667" y="2952274"/>
                <a:ext cx="3562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(1 4)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167378" y="3152299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721642" y="3152299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274092" y="3152299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824728" y="3152299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7167378" y="33523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7721642" y="3352324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274092" y="3352324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824728" y="33523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7167378" y="3552349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7721642" y="3552349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8274092" y="3552349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8824728" y="3552349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4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7167378" y="375237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4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7721642" y="3752374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4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8274092" y="3752374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4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8824728" y="375237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</p:grpSp>
        <p:sp>
          <p:nvSpPr>
            <p:cNvPr id="84" name="TextBox 84"/>
            <p:cNvSpPr txBox="1"/>
            <p:nvPr/>
          </p:nvSpPr>
          <p:spPr>
            <a:xfrm>
              <a:off x="9291066" y="2934652"/>
              <a:ext cx="1317498" cy="10435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从右往左：先 (1 2)，</a:t>
              </a:r>
            </a:p>
            <a:p>
              <a:pPr algn="l">
                <a:lnSpc>
                  <a:spcPts val="1500"/>
                </a:lnSpc>
                <a:spcBef>
                  <a:spcPts val="150"/>
                </a:spcBef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 (1 3)，最后 (1 4)</a:t>
              </a:r>
            </a:p>
            <a:p>
              <a:pPr algn="l">
                <a:lnSpc>
                  <a:spcPts val="1500"/>
                </a:lnSpc>
                <a:spcBef>
                  <a:spcPts val="450"/>
                </a:spcBef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结果 1→2，2→3，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3→4，4→1</a:t>
              </a:r>
              <a:br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正是 (1 2 3 4) ✓</a:t>
              </a:r>
            </a:p>
          </p:txBody>
        </p:sp>
      </p:grpSp>
      <p:grpSp>
        <p:nvGrpSpPr>
          <p:cNvPr id="92" name="corollary"/>
          <p:cNvGrpSpPr/>
          <p:nvPr/>
        </p:nvGrpSpPr>
        <p:grpSpPr>
          <a:xfrm>
            <a:off x="6743700" y="4114800"/>
            <a:ext cx="4914900" cy="1600200"/>
            <a:chOff x="6743700" y="4114800"/>
            <a:chExt cx="4914900" cy="1600200"/>
          </a:xfrm>
        </p:grpSpPr>
        <p:sp>
          <p:nvSpPr>
            <p:cNvPr id="86" name="Rectangle 86"/>
            <p:cNvSpPr/>
            <p:nvPr/>
          </p:nvSpPr>
          <p:spPr>
            <a:xfrm>
              <a:off x="6743700" y="4114800"/>
              <a:ext cx="4914900" cy="1600200"/>
            </a:xfrm>
            <a:prstGeom prst="roundRect">
              <a:avLst>
                <a:gd name="adj" fmla="val 952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6896100" y="4267200"/>
              <a:ext cx="47625" cy="1295400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7086600" y="42481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223760" y="43091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推论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080885" y="4641056"/>
              <a:ext cx="3055366" cy="982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 n 元置换（n &gt; 1）都可以写成对换的乘积：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先拆成不相杂轮换，再把每个轮换拆成对换</a:t>
              </a:r>
            </a:p>
            <a:p>
              <a:pPr algn="l">
                <a:lnSpc>
                  <a:spcPts val="1800"/>
                </a:lnSpc>
                <a:spcBef>
                  <a:spcPts val="450"/>
                </a:spcBef>
              </a:pPr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但对换已非不相杂，表法也不唯一：</a:t>
              </a:r>
            </a:p>
            <a:p>
              <a:pPr algn="l">
                <a:lnSpc>
                  <a:spcPts val="1800"/>
                </a:lnSpc>
                <a:spcBef>
                  <a:spcPts val="150"/>
                </a:spcBef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(1 2) = (1 2)(1 3)(1 3) = (2 3)(1 3)(2 3)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616161" y="434292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轮换分解唯一，对换分解不唯一</a:t>
              </a:r>
            </a:p>
          </p:txBody>
        </p:sp>
      </p:grpSp>
      <p:grpSp>
        <p:nvGrpSpPr>
          <p:cNvPr id="98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93" name="Rectangle 93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762000" y="6029325"/>
              <a:ext cx="228600" cy="152400"/>
              <a:chOff x="762000" y="6029325"/>
              <a:chExt cx="228600" cy="15240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812800" y="6029325"/>
                <a:ext cx="177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50800">
                    <a:moveTo>
                      <a:pt x="0" y="50800"/>
                    </a:moveTo>
                    <a:lnTo>
                      <a:pt x="177800" y="50800"/>
                    </a:ln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762000" y="6130925"/>
                <a:ext cx="177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50800">
                    <a:moveTo>
                      <a:pt x="177800" y="0"/>
                    </a:moveTo>
                    <a:lnTo>
                      <a:pt x="0" y="0"/>
                    </a:ln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1134618" y="6003608"/>
              <a:ext cx="77860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长度为 r 的轮换 = </a:t>
              </a:r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 − 1 个对换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之积；个数不唯一，但奇偶性确定（下一页）。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99" name="TextBox 99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80037" y="361950"/>
            <a:ext cx="6609611" cy="960501"/>
            <a:chOff x="480037" y="361950"/>
            <a:chExt cx="6609611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5621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0037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置换群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5699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置换的奇偶性：对换个数的奇偶是确定的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parity-definition"/>
          <p:cNvGrpSpPr/>
          <p:nvPr/>
        </p:nvGrpSpPr>
        <p:grpSpPr>
          <a:xfrm>
            <a:off x="533400" y="1485900"/>
            <a:ext cx="5334000" cy="2057400"/>
            <a:chOff x="533400" y="1485900"/>
            <a:chExt cx="5334000" cy="20574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334000" cy="2057400"/>
            </a:xfrm>
            <a:prstGeom prst="roundRect">
              <a:avLst>
                <a:gd name="adj" fmla="val 740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752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34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93723" y="168163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奇置换与偶置换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585" y="2012156"/>
              <a:ext cx="3639617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σ 表为 k 个不相杂轮换之积（</a:t>
              </a:r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包括长度为 1 的轮换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），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长度分别为 r₁, r₂, …, rₖ。若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-parity-sum"/>
                <p:cNvSpPr txBox="1">
                  <a:spLocks noGrp="1"/>
                </p:cNvSpPr>
                <p:nvPr/>
              </p:nvSpPr>
              <p:spPr>
                <a:xfrm>
                  <a:off x="876300" y="2400300"/>
                  <a:ext cx="28575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2F4B9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2F4B9A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2F4B9A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2F4B9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2F4B9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3842385" y="2507456"/>
              <a:ext cx="129159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奇数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⇒ σ 是奇置换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偶数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⇒ σ 是偶置换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6300" y="3009900"/>
              <a:ext cx="4800600" cy="438150"/>
            </a:xfrm>
            <a:prstGeom prst="roundRect">
              <a:avLst>
                <a:gd name="adj" fmla="val 2173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4697" y="3085624"/>
              <a:ext cx="3052953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S₈：(1 3 5 2)(4)(6 8)(7)，k = 4，n − k = 4 ⇒ </a:t>
              </a:r>
              <a:r>
                <a:rPr lang="zh-CN" sz="980" b="1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偶置换</a:t>
              </a:r>
              <a:br/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S₃：(1 2) = (1 2)(3)，k = 2，n − k = 1 ⇒ </a:t>
              </a:r>
              <a:r>
                <a:rPr lang="zh-CN" sz="980" b="1" dirty="0">
                  <a:solidFill>
                    <a:srgbClr val="C2410C"/>
                  </a:solidFill>
                  <a:latin typeface="Cambria Math"/>
                  <a:ea typeface="Microsoft YaHei"/>
                  <a:cs typeface="Cambria Math"/>
                </a:rPr>
                <a:t>奇置换</a:t>
              </a:r>
            </a:p>
          </p:txBody>
        </p:sp>
      </p:grpSp>
      <p:grpSp>
        <p:nvGrpSpPr>
          <p:cNvPr id="46" name="parity-rules"/>
          <p:cNvGrpSpPr/>
          <p:nvPr/>
        </p:nvGrpSpPr>
        <p:grpSpPr>
          <a:xfrm>
            <a:off x="533400" y="3657600"/>
            <a:ext cx="5334000" cy="2057400"/>
            <a:chOff x="533400" y="3657600"/>
            <a:chExt cx="5334000" cy="2057400"/>
          </a:xfrm>
        </p:grpSpPr>
        <p:sp>
          <p:nvSpPr>
            <p:cNvPr id="18" name="Rectangle 18"/>
            <p:cNvSpPr/>
            <p:nvPr/>
          </p:nvSpPr>
          <p:spPr>
            <a:xfrm>
              <a:off x="533400" y="3657600"/>
              <a:ext cx="5334000" cy="2057400"/>
            </a:xfrm>
            <a:prstGeom prst="roundRect">
              <a:avLst>
                <a:gd name="adj" fmla="val 740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3810000"/>
              <a:ext cx="47625" cy="1752600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76300" y="37909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13460" y="38519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94104" y="3861435"/>
              <a:ext cx="1354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为什么叫“奇”“偶”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0966" y="4191952"/>
              <a:ext cx="2430971" cy="1081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长度为 r 的轮换 = r − 1 个对换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⇒ σ 可写成 Σ(rⱼ − 1) = n − k 个对换之积</a:t>
              </a:r>
            </a:p>
            <a:p>
              <a:pPr algn="l">
                <a:lnSpc>
                  <a:spcPts val="1650"/>
                </a:lnSpc>
                <a:spcBef>
                  <a:spcPts val="300"/>
                </a:spcBef>
              </a:pP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奇置换只能分解为奇数个对换，</a:t>
              </a:r>
              <a:br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偶置换只能分解为偶数个对换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（对换个数不唯一，奇偶性唯一）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810000" y="4191000"/>
              <a:ext cx="1828800" cy="32385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810000" y="4514850"/>
              <a:ext cx="609600" cy="6477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419600" y="4514850"/>
              <a:ext cx="609600" cy="3238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029200" y="4514850"/>
              <a:ext cx="609600" cy="3238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419600" y="4838700"/>
              <a:ext cx="609600" cy="3238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029200" y="4838700"/>
              <a:ext cx="609600" cy="3238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3810000" y="4514850"/>
              <a:ext cx="1828800" cy="9525"/>
            </a:xfrm>
            <a:custGeom>
              <a:avLst/>
              <a:gdLst/>
              <a:ahLst/>
              <a:cxnLst/>
              <a:rect l="l" t="t" r="r" b="b"/>
              <a:pathLst>
                <a:path w="1828800" h="9525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4419600" y="4191000"/>
              <a:ext cx="9525" cy="971550"/>
            </a:xfrm>
            <a:custGeom>
              <a:avLst/>
              <a:gdLst/>
              <a:ahLst/>
              <a:cxnLst/>
              <a:rect l="l" t="t" r="r" b="b"/>
              <a:pathLst>
                <a:path w="9525" h="971550">
                  <a:moveTo>
                    <a:pt x="0" y="0"/>
                  </a:moveTo>
                  <a:lnTo>
                    <a:pt x="0" y="97155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3810000" y="4838700"/>
              <a:ext cx="1828800" cy="9525"/>
            </a:xfrm>
            <a:custGeom>
              <a:avLst/>
              <a:gdLst/>
              <a:ahLst/>
              <a:cxnLst/>
              <a:rect l="l" t="t" r="r" b="b"/>
              <a:pathLst>
                <a:path w="1828800" h="9525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5029200" y="4191000"/>
              <a:ext cx="9525" cy="971550"/>
            </a:xfrm>
            <a:custGeom>
              <a:avLst/>
              <a:gdLst/>
              <a:ahLst/>
              <a:cxnLst/>
              <a:rect l="l" t="t" r="r" b="b"/>
              <a:pathLst>
                <a:path w="9525" h="971550">
                  <a:moveTo>
                    <a:pt x="0" y="0"/>
                  </a:moveTo>
                  <a:lnTo>
                    <a:pt x="0" y="97155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810000" y="4191000"/>
              <a:ext cx="1828800" cy="9715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4027932" y="4280535"/>
              <a:ext cx="1392936" cy="882396"/>
              <a:chOff x="4027932" y="4280535"/>
              <a:chExt cx="1392936" cy="882396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4062058" y="428053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×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637532" y="4280535"/>
                <a:ext cx="1737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偶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027932" y="4604385"/>
                <a:ext cx="1737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247132" y="4280535"/>
                <a:ext cx="1737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奇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027932" y="4928235"/>
                <a:ext cx="1737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奇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637532" y="4604385"/>
                <a:ext cx="1737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偶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247132" y="4604385"/>
                <a:ext cx="1737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奇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637532" y="4928235"/>
                <a:ext cx="1737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奇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247132" y="4928235"/>
                <a:ext cx="1737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偶</a:t>
                </a:r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3917987" y="530494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乘积的奇偶 = 对换个数相加</a:t>
              </a:r>
            </a:p>
          </p:txBody>
        </p:sp>
      </p:grpSp>
      <p:grpSp>
        <p:nvGrpSpPr>
          <p:cNvPr id="100" name="s4-table"/>
          <p:cNvGrpSpPr/>
          <p:nvPr/>
        </p:nvGrpSpPr>
        <p:grpSpPr>
          <a:xfrm>
            <a:off x="5981700" y="1485900"/>
            <a:ext cx="5676900" cy="2705100"/>
            <a:chOff x="5981700" y="1485900"/>
            <a:chExt cx="5676900" cy="2705100"/>
          </a:xfrm>
        </p:grpSpPr>
        <p:sp>
          <p:nvSpPr>
            <p:cNvPr id="47" name="Rectangle 47"/>
            <p:cNvSpPr/>
            <p:nvPr/>
          </p:nvSpPr>
          <p:spPr>
            <a:xfrm>
              <a:off x="5981700" y="1485900"/>
              <a:ext cx="5676900" cy="2705100"/>
            </a:xfrm>
            <a:prstGeom prst="roundRect">
              <a:avLst>
                <a:gd name="adj" fmla="val 56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66104" y="1623060"/>
              <a:ext cx="2651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例：S₄ 的 24 个置换按轮换类型分组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172200" y="1866900"/>
              <a:ext cx="5295900" cy="2667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172200" y="2133600"/>
              <a:ext cx="5295900" cy="1733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934700" y="2133600"/>
              <a:ext cx="533400" cy="2857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Line 52"/>
            <p:cNvSpPr/>
            <p:nvPr/>
          </p:nvSpPr>
          <p:spPr>
            <a:xfrm>
              <a:off x="6172200" y="21336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11430">
              <a:solidFill>
                <a:schemeClr val="accent6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934700" y="2419350"/>
              <a:ext cx="533400" cy="2857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Line 54"/>
            <p:cNvSpPr/>
            <p:nvPr/>
          </p:nvSpPr>
          <p:spPr>
            <a:xfrm>
              <a:off x="6172200" y="241935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11430">
              <a:solidFill>
                <a:schemeClr val="accent6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934700" y="2705100"/>
              <a:ext cx="533400" cy="4381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172200" y="27051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11430">
              <a:solidFill>
                <a:schemeClr val="accent6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934700" y="3143250"/>
              <a:ext cx="533400" cy="2857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Line 58"/>
            <p:cNvSpPr/>
            <p:nvPr/>
          </p:nvSpPr>
          <p:spPr>
            <a:xfrm>
              <a:off x="6172200" y="314325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11430">
              <a:solidFill>
                <a:schemeClr val="accent6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934700" y="3429000"/>
              <a:ext cx="533400" cy="4381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0" name="Line 60"/>
            <p:cNvSpPr/>
            <p:nvPr/>
          </p:nvSpPr>
          <p:spPr>
            <a:xfrm>
              <a:off x="6172200" y="34290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11430">
              <a:solidFill>
                <a:schemeClr val="accent6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7048500" y="18669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11430">
              <a:solidFill>
                <a:schemeClr val="accent6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9944100" y="18669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11430">
              <a:solidFill>
                <a:schemeClr val="accent6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10401300" y="18669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11430">
              <a:solidFill>
                <a:schemeClr val="accent6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10934700" y="18669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11430">
              <a:solidFill>
                <a:schemeClr val="accent6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172200" y="1866900"/>
              <a:ext cx="5295900" cy="20002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6341542" y="1942624"/>
              <a:ext cx="4996738" cy="1924240"/>
              <a:chOff x="6341542" y="1942624"/>
              <a:chExt cx="4996738" cy="1924240"/>
            </a:xfrm>
          </p:grpSpPr>
          <p:sp>
            <p:nvSpPr>
              <p:cNvPr id="66" name="TextBox 66"/>
              <p:cNvSpPr txBox="1"/>
              <p:nvPr/>
            </p:nvSpPr>
            <p:spPr>
              <a:xfrm>
                <a:off x="6473469" y="1942624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Microsoft YaHei"/>
                    <a:cs typeface="Cambria Math"/>
                  </a:rPr>
                  <a:t>类型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125036" y="1942624"/>
                <a:ext cx="7425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Microsoft YaHei"/>
                    <a:cs typeface="Cambria Math"/>
                  </a:rPr>
                  <a:t>S₄ 中的置换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035819" y="1942624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Microsoft YaHei"/>
                    <a:cs typeface="Cambria Math"/>
                  </a:rPr>
                  <a:t>个数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507208" y="1942624"/>
                <a:ext cx="32158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n − k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11064519" y="1942624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Microsoft YaHei"/>
                    <a:cs typeface="Cambria Math"/>
                  </a:rPr>
                  <a:t>奇偶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6473469" y="221884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Microsoft YaHei"/>
                    <a:cs typeface="Cambria Math"/>
                  </a:rPr>
                  <a:t>恒等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470438" y="2218849"/>
                <a:ext cx="5172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I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10131467" y="2218849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10626767" y="2218849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0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11130483" y="2218849"/>
                <a:ext cx="14183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0F7A68"/>
                    </a:solidFill>
                    <a:latin typeface="Cambria Math"/>
                    <a:ea typeface="Microsoft YaHei"/>
                    <a:cs typeface="Cambria Math"/>
                  </a:rPr>
                  <a:t>偶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6473469" y="25045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Microsoft YaHei"/>
                    <a:cs typeface="Cambria Math"/>
                  </a:rPr>
                  <a:t>对换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7221544" y="2504599"/>
                <a:ext cx="254951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(1 2), (1 3), (1 4), (2 3), (2 4), (3 4)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10131467" y="2504599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6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10626767" y="2504599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1130483" y="2504599"/>
                <a:ext cx="14183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C2410C"/>
                    </a:solidFill>
                    <a:latin typeface="Cambria Math"/>
                    <a:ea typeface="Microsoft YaHei"/>
                    <a:cs typeface="Cambria Math"/>
                  </a:rPr>
                  <a:t>奇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6397281" y="2866549"/>
                <a:ext cx="42613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Microsoft YaHei"/>
                    <a:cs typeface="Cambria Math"/>
                  </a:rPr>
                  <a:t>3-轮换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7402944" y="2780824"/>
                <a:ext cx="218671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(1 2 3), (1 3 2), (1 2 4), (1 4 2),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7439224" y="2952274"/>
                <a:ext cx="21141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(1 3 4), (1 4 3), (2 3 4), (2 4 3)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0131467" y="2866549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8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10626767" y="2866549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11130483" y="2866549"/>
                <a:ext cx="14183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0F7A68"/>
                    </a:solidFill>
                    <a:latin typeface="Cambria Math"/>
                    <a:ea typeface="Microsoft YaHei"/>
                    <a:cs typeface="Cambria Math"/>
                  </a:rPr>
                  <a:t>偶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6341542" y="322849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Microsoft YaHei"/>
                    <a:cs typeface="Cambria Math"/>
                  </a:rPr>
                  <a:t>两个对换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7389752" y="3228499"/>
                <a:ext cx="22130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(1 2)(3 4), (1 3)(2 4), (1 4)(2 3)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10131467" y="3228499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10626767" y="3228499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11130483" y="3228499"/>
                <a:ext cx="14183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0F7A68"/>
                    </a:solidFill>
                    <a:latin typeface="Cambria Math"/>
                    <a:ea typeface="Microsoft YaHei"/>
                    <a:cs typeface="Cambria Math"/>
                  </a:rPr>
                  <a:t>偶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6397281" y="3590449"/>
                <a:ext cx="42613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Cambria Math"/>
                    <a:ea typeface="Microsoft YaHei"/>
                    <a:cs typeface="Cambria Math"/>
                  </a:rPr>
                  <a:t>4-轮换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7511785" y="3504724"/>
                <a:ext cx="196903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(1 2 3 4), (1 2 4 3), (1 3 2 4),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7548065" y="3676174"/>
                <a:ext cx="189647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(1 3 4 2), (1 4 2 3), (1 4 3 2)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10131467" y="3590449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6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10626767" y="3590449"/>
                <a:ext cx="824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11130483" y="3590449"/>
                <a:ext cx="14183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C2410C"/>
                    </a:solidFill>
                    <a:latin typeface="Cambria Math"/>
                    <a:ea typeface="Microsoft YaHei"/>
                    <a:cs typeface="Cambria Math"/>
                  </a:rPr>
                  <a:t>奇</a:t>
                </a:r>
              </a:p>
            </p:txBody>
          </p:sp>
        </p:grpSp>
        <p:sp>
          <p:nvSpPr>
            <p:cNvPr id="99" name="TextBox 99"/>
            <p:cNvSpPr txBox="1"/>
            <p:nvPr/>
          </p:nvSpPr>
          <p:spPr>
            <a:xfrm>
              <a:off x="6167247" y="3971449"/>
              <a:ext cx="54300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奇 12 个、偶 12 个，各占 4!/2；S₃：奇 {(1 2), (1 3), (2 3)}，偶 {I, (1 2 3), (1 3 2)}</a:t>
              </a:r>
            </a:p>
          </p:txBody>
        </p:sp>
      </p:grpSp>
      <p:grpSp>
        <p:nvGrpSpPr>
          <p:cNvPr id="105" name="half-proof"/>
          <p:cNvGrpSpPr/>
          <p:nvPr/>
        </p:nvGrpSpPr>
        <p:grpSpPr>
          <a:xfrm>
            <a:off x="5981700" y="4305300"/>
            <a:ext cx="5676900" cy="1409700"/>
            <a:chOff x="5981700" y="4305300"/>
            <a:chExt cx="5676900" cy="1409700"/>
          </a:xfrm>
        </p:grpSpPr>
        <p:sp>
          <p:nvSpPr>
            <p:cNvPr id="101" name="Rectangle 101"/>
            <p:cNvSpPr/>
            <p:nvPr/>
          </p:nvSpPr>
          <p:spPr>
            <a:xfrm>
              <a:off x="5981700" y="4305300"/>
              <a:ext cx="5676900" cy="1409700"/>
            </a:xfrm>
            <a:prstGeom prst="roundRect">
              <a:avLst>
                <a:gd name="adj" fmla="val 1081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6134100" y="4457700"/>
              <a:ext cx="47625" cy="1104900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318885" y="4431506"/>
              <a:ext cx="31638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结论：n &gt; 1 时，Sₙ 中奇、偶置换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各占 n!/2 个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319266" y="4668202"/>
              <a:ext cx="4431220" cy="1005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思路：T、S 为奇、偶置换集；取定对换 (a b)，令 f(σ) = (a b)σ（σ ∈ T）</a:t>
              </a:r>
            </a:p>
            <a:p>
              <a:pPr algn="l" marL="113348" indent="-113348">
                <a:lnSpc>
                  <a:spcPts val="1575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f(σ) 多乘一个对换，由奇变偶，所以 f 是 T 到 S 的映射</a:t>
              </a:r>
            </a:p>
            <a:p>
              <a:pPr algn="l" marL="113348" indent="-113348">
                <a:lnSpc>
                  <a:spcPts val="1575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满射：任取 τ ∈ S，(a b)τ ∈ T，且 f((a b)τ) = (a b)(a b)τ = τ</a:t>
              </a:r>
            </a:p>
            <a:p>
              <a:pPr algn="l" marL="113348" indent="-113348">
                <a:lnSpc>
                  <a:spcPts val="1575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单射：若 (a b)σ₁ = (a b)σ₂，由消去律 σ₁ = σ₂</a:t>
              </a:r>
              <a:br/>
              <a:r>
                <a:rPr lang="zh-CN" sz="1050" b="1" dirty="0">
                  <a:solidFill>
                    <a:srgbClr val="C2410C"/>
                  </a:solidFill>
                  <a:latin typeface="Cambria Math"/>
                  <a:ea typeface="Microsoft YaHei"/>
                  <a:cs typeface="Cambria Math"/>
                </a:rPr>
                <a:t>⇒ f 是一一映射，|T| = |S| = n!/2</a:t>
              </a:r>
            </a:p>
          </p:txBody>
        </p:sp>
      </p:grpSp>
      <p:grpSp>
        <p:nvGrpSpPr>
          <p:cNvPr id="114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06" name="Rectangle 106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12" name="Group 112"/>
            <p:cNvGrpSpPr/>
            <p:nvPr/>
          </p:nvGrpSpPr>
          <p:grpSpPr>
            <a:xfrm>
              <a:off x="762000" y="5991225"/>
              <a:ext cx="228600" cy="225424"/>
              <a:chOff x="762000" y="5991225"/>
              <a:chExt cx="228600" cy="225424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812800" y="6207124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800100" y="6016625"/>
                <a:ext cx="1524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2700">
                    <a:moveTo>
                      <a:pt x="0" y="12700"/>
                    </a:moveTo>
                    <a:lnTo>
                      <a:pt x="76200" y="0"/>
                    </a:lnTo>
                    <a:lnTo>
                      <a:pt x="15240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876300" y="5991225"/>
                <a:ext cx="9525" cy="2158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5899">
                    <a:moveTo>
                      <a:pt x="0" y="0"/>
                    </a:moveTo>
                    <a:lnTo>
                      <a:pt x="0" y="2158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762000" y="6029325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76200"/>
                    </a:moveTo>
                    <a:lnTo>
                      <a:pt x="38100" y="0"/>
                    </a:lnTo>
                    <a:lnTo>
                      <a:pt x="0" y="76200"/>
                    </a:lnTo>
                    <a:cubicBezTo>
                      <a:pt x="0" y="97242"/>
                      <a:pt x="17058" y="114300"/>
                      <a:pt x="38100" y="114300"/>
                    </a:cubicBezTo>
                    <a:cubicBezTo>
                      <a:pt x="59142" y="114300"/>
                      <a:pt x="76200" y="97242"/>
                      <a:pt x="76200" y="762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914400" y="6029325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76200"/>
                    </a:moveTo>
                    <a:lnTo>
                      <a:pt x="38100" y="0"/>
                    </a:lnTo>
                    <a:lnTo>
                      <a:pt x="0" y="76200"/>
                    </a:lnTo>
                    <a:cubicBezTo>
                      <a:pt x="0" y="97242"/>
                      <a:pt x="17058" y="114300"/>
                      <a:pt x="38100" y="114300"/>
                    </a:cubicBezTo>
                    <a:cubicBezTo>
                      <a:pt x="59142" y="114300"/>
                      <a:pt x="76200" y="97242"/>
                      <a:pt x="76200" y="762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13" name="TextBox 113"/>
            <p:cNvSpPr txBox="1"/>
            <p:nvPr/>
          </p:nvSpPr>
          <p:spPr>
            <a:xfrm>
              <a:off x="1134618" y="6003608"/>
              <a:ext cx="68276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奇偶看 </a:t>
              </a:r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 − k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（k 含长度为 1 的轮换）；对换个数不唯一，</a:t>
              </a:r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奇偶唯一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17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15" name="TextBox 115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80037" y="361950"/>
            <a:ext cx="5231136" cy="960501"/>
            <a:chOff x="480037" y="361950"/>
            <a:chExt cx="5231136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5621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0037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置换群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9148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置换群实例：正方形的 8 种对称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square-figure"/>
          <p:cNvGrpSpPr/>
          <p:nvPr/>
        </p:nvGrpSpPr>
        <p:grpSpPr>
          <a:xfrm>
            <a:off x="533400" y="1485900"/>
            <a:ext cx="5524500" cy="1866900"/>
            <a:chOff x="533400" y="1485900"/>
            <a:chExt cx="5524500" cy="18669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524500" cy="1866900"/>
            </a:xfrm>
            <a:prstGeom prst="roundRect">
              <a:avLst>
                <a:gd name="adj" fmla="val 81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00100" y="1771650"/>
              <a:ext cx="914400" cy="914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257300" y="177165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0" y="0"/>
                  </a:moveTo>
                  <a:lnTo>
                    <a:pt x="0" y="9144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00100" y="2228850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257300" y="165735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300000" sp="20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685800" y="22288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300000" sp="200000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704850" y="1676400"/>
              <a:ext cx="1104900" cy="1104900"/>
            </a:xfrm>
            <a:custGeom>
              <a:avLst/>
              <a:gdLst/>
              <a:ahLst/>
              <a:cxnLst/>
              <a:rect l="l" t="t" r="r" b="b"/>
              <a:pathLst>
                <a:path w="1104900" h="1104900">
                  <a:moveTo>
                    <a:pt x="0" y="0"/>
                  </a:moveTo>
                  <a:lnTo>
                    <a:pt x="1104900" y="11049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300000" sp="200000"/>
              </a:custDash>
            </a:ln>
          </p:spPr>
        </p:sp>
        <p:sp>
          <p:nvSpPr>
            <p:cNvPr id="14" name="Line 14"/>
            <p:cNvSpPr/>
            <p:nvPr/>
          </p:nvSpPr>
          <p:spPr>
            <a:xfrm>
              <a:off x="704850" y="1676400"/>
              <a:ext cx="1104900" cy="1104900"/>
            </a:xfrm>
            <a:custGeom>
              <a:avLst/>
              <a:gdLst/>
              <a:ahLst/>
              <a:cxnLst/>
              <a:rect l="l" t="t" r="r" b="b"/>
              <a:pathLst>
                <a:path w="1104900" h="1104900">
                  <a:moveTo>
                    <a:pt x="0" y="1104900"/>
                  </a:moveTo>
                  <a:lnTo>
                    <a:pt x="11049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300000" sp="200000"/>
              </a:custDash>
            </a:ln>
          </p:spPr>
        </p:sp>
        <p:sp>
          <p:nvSpPr>
            <p:cNvPr id="15" name="Ellipse 15"/>
            <p:cNvSpPr/>
            <p:nvPr/>
          </p:nvSpPr>
          <p:spPr>
            <a:xfrm>
              <a:off x="904875" y="1876425"/>
              <a:ext cx="247650" cy="2476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362075" y="1876425"/>
              <a:ext cx="247650" cy="2476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04875" y="2333625"/>
              <a:ext cx="247650" cy="2476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362075" y="2333625"/>
              <a:ext cx="247650" cy="2476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6180" y="18983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3380" y="18983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6180" y="23555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13380" y="23555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628900" y="1771650"/>
              <a:ext cx="914400" cy="914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3086100" y="177165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0" y="0"/>
                  </a:moveTo>
                  <a:lnTo>
                    <a:pt x="0" y="9144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2628900" y="2228850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784980" y="18983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42180" y="18983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84980" y="23555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42180" y="23555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1885950" y="1828800"/>
              <a:ext cx="647700" cy="228600"/>
            </a:xfrm>
            <a:custGeom>
              <a:avLst/>
              <a:gdLst/>
              <a:ahLst/>
              <a:cxnLst/>
              <a:rect l="l" t="t" r="r" b="b"/>
              <a:pathLst>
                <a:path w="647700" h="228600">
                  <a:moveTo>
                    <a:pt x="0" y="228600"/>
                  </a:moveTo>
                  <a:cubicBezTo>
                    <a:pt x="228600" y="0"/>
                    <a:pt x="444500" y="0"/>
                    <a:pt x="647700" y="228600"/>
                  </a:cubicBez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2457450" y="19812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133350"/>
                  </a:moveTo>
                  <a:lnTo>
                    <a:pt x="0" y="7620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006956" y="22950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逆时针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03822" y="2466499"/>
              <a:ext cx="4119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转 90°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0809" y="30379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原图（虚线为对称轴）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34837" y="3037999"/>
              <a:ext cx="7025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转 90° 以后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04666" y="1791652"/>
              <a:ext cx="1744218" cy="14055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图形可绕中心旋转、绕对称轴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翻转，但必须与原图重合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（格中数字可以改变）</a:t>
              </a:r>
            </a:p>
            <a:p>
              <a:pPr algn="l">
                <a:lnSpc>
                  <a:spcPts val="1650"/>
                </a:lnSpc>
                <a:spcBef>
                  <a:spcPts val="600"/>
                </a:spcBef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逆时针转 90° 后，1, 2, 3, 4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分别变为 2, 3, 4, 1</a:t>
              </a:r>
            </a:p>
            <a:p>
              <a:pPr algn="l">
                <a:lnSpc>
                  <a:spcPts val="1650"/>
                </a:lnSpc>
                <a:spcBef>
                  <a:spcPts val="600"/>
                </a:spcBef>
              </a:pP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⇒ 看作置换 (1 2 3 4)</a:t>
              </a:r>
            </a:p>
          </p:txBody>
        </p:sp>
      </p:grpSp>
      <p:grpSp>
        <p:nvGrpSpPr>
          <p:cNvPr id="56" name="actions"/>
          <p:cNvGrpSpPr/>
          <p:nvPr/>
        </p:nvGrpSpPr>
        <p:grpSpPr>
          <a:xfrm>
            <a:off x="533400" y="3467100"/>
            <a:ext cx="5524500" cy="2247900"/>
            <a:chOff x="533400" y="3467100"/>
            <a:chExt cx="5524500" cy="2247900"/>
          </a:xfrm>
        </p:grpSpPr>
        <p:sp>
          <p:nvSpPr>
            <p:cNvPr id="38" name="Rectangle 38"/>
            <p:cNvSpPr/>
            <p:nvPr/>
          </p:nvSpPr>
          <p:spPr>
            <a:xfrm>
              <a:off x="533400" y="3467100"/>
              <a:ext cx="5524500" cy="2247900"/>
            </a:xfrm>
            <a:prstGeom prst="roundRect">
              <a:avLst>
                <a:gd name="adj" fmla="val 678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7804" y="3604260"/>
              <a:ext cx="3303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种动作 = 8 个置换，D₄ = {σ₁, σ₂, …, σ₈}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7804" y="3870960"/>
              <a:ext cx="15133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σ₁ = (1)(2)(3)(4)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8947" y="4076224"/>
              <a:ext cx="111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绕中心逆时针转 0°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7804" y="4309110"/>
              <a:ext cx="11062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σ₂ = (1 2 3 4)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8947" y="4514374"/>
              <a:ext cx="11906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绕中心逆时针转 90°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7804" y="4747260"/>
              <a:ext cx="1241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σ₃ = (1 3)(2 4)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8947" y="4952524"/>
              <a:ext cx="12632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绕中心逆时针转 180°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7804" y="5185410"/>
              <a:ext cx="11062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σ₄ = (1 4 3 2)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8947" y="5390674"/>
              <a:ext cx="12632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绕中心逆时针转 270°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84804" y="3870960"/>
              <a:ext cx="1241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σ₅ = (1 2)(3 4)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385947" y="4076224"/>
              <a:ext cx="11312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绕垂直轴翻转 180°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384804" y="4309110"/>
              <a:ext cx="1241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σ₆ = (1 4)(2 3)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385947" y="4514374"/>
              <a:ext cx="11312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绕水平轴翻转 180°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384804" y="4747260"/>
              <a:ext cx="8178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σ₇ = (2 4)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385947" y="4952524"/>
              <a:ext cx="1467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绕西北—东南轴翻转 180°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384804" y="5185410"/>
              <a:ext cx="8178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σ₈ = (1 3)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385947" y="5390674"/>
              <a:ext cx="1467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绕西南—东北轴翻转 180°</a:t>
              </a:r>
            </a:p>
          </p:txBody>
        </p:sp>
      </p:grpSp>
      <p:grpSp>
        <p:nvGrpSpPr>
          <p:cNvPr id="170" name="d4-table"/>
          <p:cNvGrpSpPr/>
          <p:nvPr/>
        </p:nvGrpSpPr>
        <p:grpSpPr>
          <a:xfrm>
            <a:off x="6172200" y="1485900"/>
            <a:ext cx="5492480" cy="4229100"/>
            <a:chOff x="6172200" y="1485900"/>
            <a:chExt cx="5492480" cy="4229100"/>
          </a:xfrm>
        </p:grpSpPr>
        <p:sp>
          <p:nvSpPr>
            <p:cNvPr id="57" name="Rectangle 57"/>
            <p:cNvSpPr/>
            <p:nvPr/>
          </p:nvSpPr>
          <p:spPr>
            <a:xfrm>
              <a:off x="6172200" y="1485900"/>
              <a:ext cx="54864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18504" y="1642110"/>
              <a:ext cx="3872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D₄ 运算表（第 σᵢ 行第 σⱼ 列 = σᵢσⱼ，先 σⱼ 后 σᵢ）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686550" y="1885950"/>
              <a:ext cx="4457700" cy="36195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86550" y="2247900"/>
              <a:ext cx="495300" cy="28956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181850" y="2247900"/>
              <a:ext cx="3962400" cy="2895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191375" y="2257425"/>
              <a:ext cx="476250" cy="3429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677275" y="2619375"/>
              <a:ext cx="476250" cy="3429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181975" y="2981325"/>
              <a:ext cx="476250" cy="3429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86675" y="3343275"/>
              <a:ext cx="476250" cy="3429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172575" y="3705225"/>
              <a:ext cx="476250" cy="3429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667875" y="4067175"/>
              <a:ext cx="476250" cy="3429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163175" y="4429125"/>
              <a:ext cx="476250" cy="3429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10658475" y="4791075"/>
              <a:ext cx="476250" cy="3429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0" name="Line 70"/>
            <p:cNvSpPr/>
            <p:nvPr/>
          </p:nvSpPr>
          <p:spPr>
            <a:xfrm>
              <a:off x="6686550" y="224790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1" name="Line 71"/>
            <p:cNvSpPr/>
            <p:nvPr/>
          </p:nvSpPr>
          <p:spPr>
            <a:xfrm>
              <a:off x="6686550" y="260985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6686550" y="297180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6686550" y="333375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4" name="Line 74"/>
            <p:cNvSpPr/>
            <p:nvPr/>
          </p:nvSpPr>
          <p:spPr>
            <a:xfrm>
              <a:off x="6686550" y="369570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5" name="Line 75"/>
            <p:cNvSpPr/>
            <p:nvPr/>
          </p:nvSpPr>
          <p:spPr>
            <a:xfrm>
              <a:off x="6686550" y="405765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6686550" y="441960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6686550" y="478155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7181850" y="1885950"/>
              <a:ext cx="9525" cy="3257550"/>
            </a:xfrm>
            <a:custGeom>
              <a:avLst/>
              <a:gdLst/>
              <a:ahLst/>
              <a:cxnLst/>
              <a:rect l="l" t="t" r="r" b="b"/>
              <a:pathLst>
                <a:path w="9525" h="3257550">
                  <a:moveTo>
                    <a:pt x="0" y="0"/>
                  </a:moveTo>
                  <a:lnTo>
                    <a:pt x="0" y="325755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7677150" y="1885950"/>
              <a:ext cx="9525" cy="3257550"/>
            </a:xfrm>
            <a:custGeom>
              <a:avLst/>
              <a:gdLst/>
              <a:ahLst/>
              <a:cxnLst/>
              <a:rect l="l" t="t" r="r" b="b"/>
              <a:pathLst>
                <a:path w="9525" h="3257550">
                  <a:moveTo>
                    <a:pt x="0" y="0"/>
                  </a:moveTo>
                  <a:lnTo>
                    <a:pt x="0" y="325755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8172450" y="1885950"/>
              <a:ext cx="9525" cy="3257550"/>
            </a:xfrm>
            <a:custGeom>
              <a:avLst/>
              <a:gdLst/>
              <a:ahLst/>
              <a:cxnLst/>
              <a:rect l="l" t="t" r="r" b="b"/>
              <a:pathLst>
                <a:path w="9525" h="3257550">
                  <a:moveTo>
                    <a:pt x="0" y="0"/>
                  </a:moveTo>
                  <a:lnTo>
                    <a:pt x="0" y="325755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81" name="Line 81"/>
            <p:cNvSpPr/>
            <p:nvPr/>
          </p:nvSpPr>
          <p:spPr>
            <a:xfrm>
              <a:off x="8667750" y="1885950"/>
              <a:ext cx="9525" cy="3257550"/>
            </a:xfrm>
            <a:custGeom>
              <a:avLst/>
              <a:gdLst/>
              <a:ahLst/>
              <a:cxnLst/>
              <a:rect l="l" t="t" r="r" b="b"/>
              <a:pathLst>
                <a:path w="9525" h="3257550">
                  <a:moveTo>
                    <a:pt x="0" y="0"/>
                  </a:moveTo>
                  <a:lnTo>
                    <a:pt x="0" y="325755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82" name="Line 82"/>
            <p:cNvSpPr/>
            <p:nvPr/>
          </p:nvSpPr>
          <p:spPr>
            <a:xfrm>
              <a:off x="9163050" y="1885950"/>
              <a:ext cx="9525" cy="3257550"/>
            </a:xfrm>
            <a:custGeom>
              <a:avLst/>
              <a:gdLst/>
              <a:ahLst/>
              <a:cxnLst/>
              <a:rect l="l" t="t" r="r" b="b"/>
              <a:pathLst>
                <a:path w="9525" h="3257550">
                  <a:moveTo>
                    <a:pt x="0" y="0"/>
                  </a:moveTo>
                  <a:lnTo>
                    <a:pt x="0" y="325755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83" name="Line 83"/>
            <p:cNvSpPr/>
            <p:nvPr/>
          </p:nvSpPr>
          <p:spPr>
            <a:xfrm>
              <a:off x="9658350" y="1885950"/>
              <a:ext cx="9525" cy="3257550"/>
            </a:xfrm>
            <a:custGeom>
              <a:avLst/>
              <a:gdLst/>
              <a:ahLst/>
              <a:cxnLst/>
              <a:rect l="l" t="t" r="r" b="b"/>
              <a:pathLst>
                <a:path w="9525" h="3257550">
                  <a:moveTo>
                    <a:pt x="0" y="0"/>
                  </a:moveTo>
                  <a:lnTo>
                    <a:pt x="0" y="325755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84" name="Line 84"/>
            <p:cNvSpPr/>
            <p:nvPr/>
          </p:nvSpPr>
          <p:spPr>
            <a:xfrm>
              <a:off x="10153650" y="1885950"/>
              <a:ext cx="9525" cy="3257550"/>
            </a:xfrm>
            <a:custGeom>
              <a:avLst/>
              <a:gdLst/>
              <a:ahLst/>
              <a:cxnLst/>
              <a:rect l="l" t="t" r="r" b="b"/>
              <a:pathLst>
                <a:path w="9525" h="3257550">
                  <a:moveTo>
                    <a:pt x="0" y="0"/>
                  </a:moveTo>
                  <a:lnTo>
                    <a:pt x="0" y="325755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85" name="Line 85"/>
            <p:cNvSpPr/>
            <p:nvPr/>
          </p:nvSpPr>
          <p:spPr>
            <a:xfrm>
              <a:off x="10648950" y="1885950"/>
              <a:ext cx="9525" cy="3257550"/>
            </a:xfrm>
            <a:custGeom>
              <a:avLst/>
              <a:gdLst/>
              <a:ahLst/>
              <a:cxnLst/>
              <a:rect l="l" t="t" r="r" b="b"/>
              <a:pathLst>
                <a:path w="9525" h="3257550">
                  <a:moveTo>
                    <a:pt x="0" y="0"/>
                  </a:moveTo>
                  <a:lnTo>
                    <a:pt x="0" y="325755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686550" y="1885950"/>
              <a:ext cx="4457700" cy="32575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884949" y="19950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·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336713" y="19950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832013" y="19950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327313" y="19950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822613" y="19950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317913" y="19950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813213" y="19950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308513" y="19950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σ₇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803813" y="19950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σ₈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841413" y="23569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336713" y="23569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836159" y="23569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331459" y="23569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826759" y="23569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322059" y="23569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817359" y="23569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312659" y="23569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σ₇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0807959" y="23569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σ₈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841413" y="27189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340859" y="27189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836159" y="27189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331459" y="27189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822613" y="27189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322059" y="27189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σ₈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817359" y="27189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σ₇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0312659" y="27189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807959" y="27189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6841413" y="30808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340859" y="30808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7836159" y="30808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8327313" y="30808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8826759" y="30808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322059" y="30808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9817359" y="30808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0312659" y="30808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σ₈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0807959" y="30808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σ₇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6841413" y="34428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340859" y="34428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7832013" y="34428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8331459" y="34428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8826759" y="34428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9322059" y="34428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σ₇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9817359" y="34428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σ₈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0312659" y="34428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10807959" y="34428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6841413" y="38047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7340859" y="38047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7836159" y="38047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σ₇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8331459" y="38047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8826759" y="38047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σ₈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9317913" y="38047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9817359" y="38047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10312659" y="38047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10807959" y="38047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6841413" y="41667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7340859" y="41667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7836159" y="41667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σ₈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8331459" y="41667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8826759" y="41667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σ₇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9322059" y="41667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9813213" y="41667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10312659" y="41667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10807959" y="41667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6841413" y="45286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σ₇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7340859" y="45286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σ₇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7836159" y="45286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8331459" y="45286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σ₈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8826759" y="45286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9322059" y="45286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9817359" y="45286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10308513" y="45286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10807959" y="45286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6841413" y="48906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σ₈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7340859" y="48906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σ₈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7836159" y="48906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σ₅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8331459" y="48906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σ₇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8826759" y="48906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σ₆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9322059" y="48906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σ₂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9817359" y="48906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σ₄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10312659" y="48906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σ₃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10803813" y="48906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σ₁</a:t>
              </a:r>
            </a:p>
          </p:txBody>
        </p:sp>
        <p:sp>
          <p:nvSpPr>
            <p:cNvPr id="168" name="Rectangle 168"/>
            <p:cNvSpPr/>
            <p:nvPr/>
          </p:nvSpPr>
          <p:spPr>
            <a:xfrm>
              <a:off x="6324600" y="5276850"/>
              <a:ext cx="5181600" cy="342900"/>
            </a:xfrm>
            <a:prstGeom prst="roundRect">
              <a:avLst>
                <a:gd name="adj" fmla="val 27778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9" name="TextBox 169"/>
            <p:cNvSpPr txBox="1"/>
            <p:nvPr/>
          </p:nvSpPr>
          <p:spPr>
            <a:xfrm>
              <a:off x="6433566" y="5392102"/>
              <a:ext cx="52311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封闭 ✓ 结合 ✓ 单位元 σ₁；</a:t>
              </a:r>
              <a:r>
                <a:rPr lang="zh-CN" sz="1050" b="1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σ₂⁻¹ = σ₄，σ₄⁻¹ = σ₂，其余 σᵢ⁻¹ = σᵢ</a:t>
              </a: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 ⇒ 4 次置换群</a:t>
              </a:r>
            </a:p>
          </p:txBody>
        </p:sp>
      </p:grpSp>
      <p:grpSp>
        <p:nvGrpSpPr>
          <p:cNvPr id="174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71" name="Rectangle 171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2" name="Freeform 172"/>
            <p:cNvSpPr/>
            <p:nvPr/>
          </p:nvSpPr>
          <p:spPr>
            <a:xfrm>
              <a:off x="769370" y="6004277"/>
              <a:ext cx="207894" cy="212883"/>
            </a:xfrm>
            <a:custGeom>
              <a:avLst/>
              <a:gdLst/>
              <a:ahLst/>
              <a:cxnLst/>
              <a:rect l="l" t="t" r="r" b="b"/>
              <a:pathLst>
                <a:path w="207894" h="212883">
                  <a:moveTo>
                    <a:pt x="207894" y="88548"/>
                  </a:moveTo>
                  <a:cubicBezTo>
                    <a:pt x="201250" y="37858"/>
                    <a:pt x="157976" y="0"/>
                    <a:pt x="106852" y="153"/>
                  </a:cubicBezTo>
                  <a:cubicBezTo>
                    <a:pt x="55729" y="306"/>
                    <a:pt x="12682" y="38422"/>
                    <a:pt x="6341" y="89150"/>
                  </a:cubicBezTo>
                  <a:cubicBezTo>
                    <a:pt x="0" y="139879"/>
                    <a:pt x="32340" y="187418"/>
                    <a:pt x="81853" y="200151"/>
                  </a:cubicBezTo>
                  <a:cubicBezTo>
                    <a:pt x="131365" y="212883"/>
                    <a:pt x="182627" y="186842"/>
                    <a:pt x="201544" y="139347"/>
                  </a:cubicBezTo>
                  <a:moveTo>
                    <a:pt x="207894" y="202847"/>
                  </a:moveTo>
                  <a:lnTo>
                    <a:pt x="207894" y="139347"/>
                  </a:lnTo>
                  <a:lnTo>
                    <a:pt x="144394" y="139347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173" name="TextBox 173"/>
            <p:cNvSpPr txBox="1"/>
            <p:nvPr/>
          </p:nvSpPr>
          <p:spPr>
            <a:xfrm>
              <a:off x="1134618" y="6003608"/>
              <a:ext cx="7073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让正方形与原图重合的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种旋转 + 4 种翻转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，在置换乘法下构成群 D₄。</a:t>
              </a:r>
            </a:p>
          </p:txBody>
        </p:sp>
      </p:grpSp>
      <p:grpSp>
        <p:nvGrpSpPr>
          <p:cNvPr id="177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75" name="TextBox 175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4872201" cy="960501"/>
            <a:chOff x="456415" y="361950"/>
            <a:chExt cx="4872201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习题精讲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80893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习题精讲：五步法证明“是群”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3" name="five-step-matrix"/>
          <p:cNvGrpSpPr/>
          <p:nvPr/>
        </p:nvGrpSpPr>
        <p:grpSpPr>
          <a:xfrm>
            <a:off x="533400" y="1485900"/>
            <a:ext cx="11125200" cy="4305300"/>
            <a:chOff x="533400" y="1485900"/>
            <a:chExt cx="11125200" cy="43053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361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847850"/>
              <a:ext cx="1981200" cy="352425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2514600" y="1847850"/>
              <a:ext cx="9144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514600" y="2552700"/>
              <a:ext cx="91440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514600" y="3257550"/>
              <a:ext cx="9144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14600" y="3962400"/>
              <a:ext cx="91440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514600" y="4667250"/>
              <a:ext cx="9144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001000" y="1847850"/>
              <a:ext cx="3657600" cy="3524250"/>
            </a:xfrm>
            <a:prstGeom prst="rect">
              <a:avLst/>
            </a:prstGeom>
            <a:solidFill>
              <a:srgbClr val="E3F5F1">
                <a:alpha val="55000"/>
              </a:srgbClr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533400" y="25527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533400" y="32575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33400" y="39624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33400" y="4667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2514600" y="1485900"/>
              <a:ext cx="9525" cy="3886200"/>
            </a:xfrm>
            <a:custGeom>
              <a:avLst/>
              <a:gdLst/>
              <a:ahLst/>
              <a:cxnLst/>
              <a:rect l="l" t="t" r="r" b="b"/>
              <a:pathLst>
                <a:path w="9525" h="3886200">
                  <a:moveTo>
                    <a:pt x="0" y="0"/>
                  </a:moveTo>
                  <a:lnTo>
                    <a:pt x="0" y="38862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343400" y="1485900"/>
              <a:ext cx="9525" cy="3886200"/>
            </a:xfrm>
            <a:custGeom>
              <a:avLst/>
              <a:gdLst/>
              <a:ahLst/>
              <a:cxnLst/>
              <a:rect l="l" t="t" r="r" b="b"/>
              <a:pathLst>
                <a:path w="9525" h="3886200">
                  <a:moveTo>
                    <a:pt x="0" y="0"/>
                  </a:moveTo>
                  <a:lnTo>
                    <a:pt x="0" y="38862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172200" y="1485900"/>
              <a:ext cx="9525" cy="3886200"/>
            </a:xfrm>
            <a:custGeom>
              <a:avLst/>
              <a:gdLst/>
              <a:ahLst/>
              <a:cxnLst/>
              <a:rect l="l" t="t" r="r" b="b"/>
              <a:pathLst>
                <a:path w="9525" h="3886200">
                  <a:moveTo>
                    <a:pt x="0" y="0"/>
                  </a:moveTo>
                  <a:lnTo>
                    <a:pt x="0" y="38862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001000" y="1485900"/>
              <a:ext cx="9525" cy="3886200"/>
            </a:xfrm>
            <a:custGeom>
              <a:avLst/>
              <a:gdLst/>
              <a:ahLst/>
              <a:cxnLst/>
              <a:rect l="l" t="t" r="r" b="b"/>
              <a:pathLst>
                <a:path w="9525" h="3886200">
                  <a:moveTo>
                    <a:pt x="0" y="0"/>
                  </a:moveTo>
                  <a:lnTo>
                    <a:pt x="0" y="38862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9829800" y="1485900"/>
              <a:ext cx="9525" cy="3886200"/>
            </a:xfrm>
            <a:custGeom>
              <a:avLst/>
              <a:gdLst/>
              <a:ahLst/>
              <a:cxnLst/>
              <a:rect l="l" t="t" r="r" b="b"/>
              <a:pathLst>
                <a:path w="9525" h="3886200">
                  <a:moveTo>
                    <a:pt x="0" y="0"/>
                  </a:moveTo>
                  <a:lnTo>
                    <a:pt x="0" y="38862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1485900"/>
              <a:ext cx="11125200" cy="38862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25706" y="1602581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题目 / 步骤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05228" y="160258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非空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34028" y="160258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封闭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87440" y="1602581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结合律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4692" y="1602581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左壹（单位元）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18879" y="1602581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⑤ 左逆（逆元）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797" y="2047399"/>
              <a:ext cx="1117600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1050" b="1" dirty="0">
                  <a:solidFill>
                    <a:schemeClr val="accent1"/>
                  </a:solidFill>
                  <a:latin typeface="Cambria Math"/>
                  <a:ea typeface="Microsoft YaHei"/>
                  <a:cs typeface="Cambria Math"/>
                </a:rPr>
                <a:t>习题 3</a:t>
              </a:r>
              <a:br/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Z 上 a•b = a + b − 2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23947" y="2142649"/>
              <a:ext cx="392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Z 非空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52747" y="2142649"/>
              <a:ext cx="1137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a•b = a + b − 2 ∈ Z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81547" y="2047399"/>
              <a:ext cx="713105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两边都等于</a:t>
              </a:r>
              <a:br/>
              <a:r>
                <a:rPr lang="en-US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+ b + c − 4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10347" y="2142649"/>
              <a:ext cx="11246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2•a = 2 + a − 2 = 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39147" y="2047399"/>
              <a:ext cx="775335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980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(4 − a)•a = 2</a:t>
              </a:r>
              <a:br/>
              <a:r>
                <a:rPr lang="en-US" sz="980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4 − a ∈ Z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1797" y="2666524"/>
              <a:ext cx="986917" cy="552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1050" b="1" dirty="0">
                  <a:solidFill>
                    <a:schemeClr val="accent1"/>
                  </a:solidFill>
                  <a:latin typeface="Cambria Math"/>
                  <a:ea typeface="Microsoft YaHei"/>
                  <a:cs typeface="Cambria Math"/>
                </a:rPr>
                <a:t>习题 1</a:t>
              </a:r>
              <a:br/>
              <a:r>
                <a:rPr lang="en-US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G = {km | k ∈ Z}</a:t>
              </a:r>
              <a:br/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运算为普通加法 +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623947" y="2847499"/>
              <a:ext cx="6475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0 = 0m ∈ 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52747" y="2752249"/>
              <a:ext cx="1067816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km + lm = (k + l)m</a:t>
              </a:r>
              <a:br/>
              <a:r>
                <a:rPr lang="en-US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∈ 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81547" y="2752249"/>
              <a:ext cx="632206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整数加法</a:t>
              </a:r>
              <a:br/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满足结合律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10347" y="2847499"/>
              <a:ext cx="976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0 + x = x，0 ∈ 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939147" y="2752249"/>
              <a:ext cx="893572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980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(−k)m + km = 0</a:t>
              </a:r>
              <a:br/>
              <a:r>
                <a:rPr lang="en-US" sz="980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(−k)m ∈ 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797" y="3371374"/>
              <a:ext cx="955802" cy="552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1050" b="1" dirty="0">
                  <a:solidFill>
                    <a:schemeClr val="accent1"/>
                  </a:solidFill>
                  <a:latin typeface="Cambria Math"/>
                  <a:ea typeface="Microsoft YaHei"/>
                  <a:cs typeface="Cambria Math"/>
                </a:rPr>
                <a:t>习题 8</a:t>
              </a:r>
              <a:br/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群 (G, •)，u ∈ G</a:t>
              </a:r>
              <a:br/>
              <a:r>
                <a:rPr lang="en-US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a*b = a•u⁻¹•b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623947" y="3552349"/>
              <a:ext cx="392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G 非空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52747" y="3552349"/>
              <a:ext cx="752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a•u⁻¹•b ∈ 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81547" y="3457099"/>
              <a:ext cx="899795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两边都等于</a:t>
              </a:r>
              <a:br/>
              <a:r>
                <a:rPr lang="en-US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a•u⁻¹•b•u⁻¹•c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10347" y="3457099"/>
              <a:ext cx="1049147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980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u*a = u•u⁻¹•a = a</a:t>
              </a:r>
              <a:br/>
              <a:r>
                <a:rPr lang="zh-CN" sz="980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左壹是 u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39147" y="3457099"/>
              <a:ext cx="974471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980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(u•a⁻¹•u)*a = u</a:t>
              </a:r>
              <a:br/>
              <a:r>
                <a:rPr lang="zh-CN" sz="980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左逆是 u•a⁻¹•u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1797" y="4076224"/>
              <a:ext cx="1509649" cy="552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1050" b="1" dirty="0">
                  <a:solidFill>
                    <a:schemeClr val="accent1"/>
                  </a:solidFill>
                  <a:latin typeface="Cambria Math"/>
                  <a:ea typeface="Microsoft YaHei"/>
                  <a:cs typeface="Cambria Math"/>
                </a:rPr>
                <a:t>习题 11</a:t>
              </a:r>
              <a:br/>
              <a:r>
                <a:rPr lang="el-GR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σₙ(x) = x + n</a:t>
              </a:r>
              <a:br/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G = {σₙ | n ∈ Z}，映射乘积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623947" y="4161949"/>
              <a:ext cx="563753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l-GR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σ₀(x) = x</a:t>
              </a:r>
              <a:br/>
              <a:r>
                <a:rPr lang="el-GR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σ₀ ∈ 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452747" y="4161949"/>
              <a:ext cx="1285621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l-GR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σₘσₙ(x) = (x + n) + m</a:t>
              </a:r>
              <a:br/>
              <a:r>
                <a:rPr lang="el-GR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⇒ σₘσₙ = σₘ₊ₙ ∈ G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81547" y="4161949"/>
              <a:ext cx="632206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映射的乘积</a:t>
              </a:r>
              <a:br/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满足结合律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10347" y="4257199"/>
              <a:ext cx="10389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σ₀σₙ = σₙσ₀ = σₙ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939147" y="4257199"/>
              <a:ext cx="11840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σ₋ₙσₙ = σₙσ₋ₙ = σ₀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1797" y="4781074"/>
              <a:ext cx="1410081" cy="552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1050" b="1" dirty="0">
                  <a:solidFill>
                    <a:schemeClr val="accent1"/>
                  </a:solidFill>
                  <a:latin typeface="Cambria Math"/>
                  <a:ea typeface="Microsoft YaHei"/>
                  <a:cs typeface="Cambria Math"/>
                </a:rPr>
                <a:t>习题 6.2-9</a:t>
              </a:r>
              <a:br/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n 个元素的全体偶置换 Aₙ</a:t>
              </a:r>
              <a:br/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（n 次交代群）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623947" y="4866799"/>
              <a:ext cx="582422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I 是偶置换</a:t>
              </a:r>
              <a:br/>
              <a:r>
                <a:rPr lang="en-US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I ∈ Aₙ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452747" y="4866799"/>
              <a:ext cx="899795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偶置换 × 偶置换</a:t>
              </a:r>
              <a:br/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= 偶置换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81547" y="4866799"/>
              <a:ext cx="632206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置换乘法</a:t>
              </a:r>
              <a:br/>
              <a:r>
                <a:rPr lang="zh-CN" sz="9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满足结合律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10347" y="4866799"/>
              <a:ext cx="576199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l-GR" sz="980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Iσ = σI = σ</a:t>
              </a:r>
              <a:br/>
              <a:r>
                <a:rPr lang="en-US" sz="980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I ∈ Aₙ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39147" y="4866799"/>
              <a:ext cx="1105154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980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σσ⁻¹ = I 为偶，σ 偶</a:t>
              </a:r>
              <a:br/>
              <a:r>
                <a:rPr lang="zh-CN" sz="980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⇒ σ⁻¹ 偶，σ⁻¹ ∈ Aₙ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5448300"/>
              <a:ext cx="11125200" cy="34290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2"/>
                <p:cNvSpPr txBox="1"/>
                <p:nvPr/>
              </p:nvSpPr>
              <p:spPr>
                <a:xfrm>
                  <a:off x="680466" y="5533282"/>
                  <a:ext cx="7497270" cy="2578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同型题：</a:t>
                  </a:r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群 (A, *) 中令 σₐ(x) = a*x，G = {σₐ | a ∈ A} 对映射乘法成群：</a:t>
                  </a:r>
                  <a14:m>
                    <m:oMath xmlns:a="http://schemas.openxmlformats.org/drawingml/2006/main" xmlns:m="http://schemas.openxmlformats.org/officeDocument/2006/math">
                      <m:sSub>
                        <m:e>
                          <m:r>
                            <a:rPr lang="zh-CN" sz="10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0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</m:sSub>
                      <m:sSub>
                        <m:e>
                          <m:r>
                            <a:rPr lang="zh-CN" sz="10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0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05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0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0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  <m:r>
                            <a:rPr lang="zh-CN" sz="10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，单位元 σₑ，</a:t>
                  </a:r>
                  <a14:m>
                    <m:oMath xmlns:a="http://schemas.openxmlformats.org/drawingml/2006/main" xmlns:m="http://schemas.openxmlformats.org/officeDocument/2006/math">
                      <m:sSubSup>
                        <m:e>
                          <m:r>
                            <a:rPr lang="zh-CN" sz="10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0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0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05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0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sSup>
                            <m:e>
                              <m:r>
                                <a:rPr lang="zh-CN" sz="1050" dirty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050" dirty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</m:sSup>
                        </m:sub>
                      </m:sSub>
                    </m:oMath>
                  </a14:m>
                </a:p>
              </p:txBody>
            </p:sp>
          </mc:Choice>
        </mc:AlternateContent>
      </p:grpSp>
      <p:grpSp>
        <p:nvGrpSpPr>
          <p:cNvPr id="73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4" name="Rectangle 6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68350" y="6010275"/>
              <a:ext cx="209550" cy="184149"/>
              <a:chOff x="768350" y="6010275"/>
              <a:chExt cx="209550" cy="184149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68350" y="60102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68350" y="60864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68350" y="6162674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63600" y="60293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63600" y="61055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63600" y="6181724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134618" y="6003608"/>
              <a:ext cx="72757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由定理6.2.2，证明“是群”只需五步：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非空 → 封闭 → 结合 → 左壹 → 左逆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4" name="TextBox 74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6581884" cy="960501"/>
            <a:chOff x="456415" y="361950"/>
            <a:chExt cx="6581884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习题精讲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51861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习题精讲：直积 G×G 与“可交换 ⇒ 相等”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direct-product"/>
          <p:cNvGrpSpPr/>
          <p:nvPr/>
        </p:nvGrpSpPr>
        <p:grpSpPr>
          <a:xfrm>
            <a:off x="533400" y="1485900"/>
            <a:ext cx="5524500" cy="4229100"/>
            <a:chOff x="533400" y="1485900"/>
            <a:chExt cx="55245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5245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9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6.2-1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98523" y="1681639"/>
              <a:ext cx="19365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直积 G×G：分量各算各的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23900" y="1962150"/>
              <a:ext cx="5143500" cy="533400"/>
            </a:xfrm>
            <a:prstGeom prst="roundRect">
              <a:avLst>
                <a:gd name="adj" fmla="val 17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0585" y="2059781"/>
              <a:ext cx="3958590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(G, ·) 是代数系统，G×G 上的运算规定为（a, b, c, d ∈ G）：</a:t>
              </a:r>
              <a:br/>
              <a:r>
                <a:rPr lang="en-US" sz="112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(a, b)*(c, d) = (a·c, b·d)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3900" y="2590800"/>
              <a:ext cx="5143500" cy="952500"/>
            </a:xfrm>
            <a:prstGeom prst="roundRect">
              <a:avLst>
                <a:gd name="adj" fmla="val 1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0585" y="2678906"/>
              <a:ext cx="2739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(1) (G, ·) 是半群 ⇒ (G×G, *) 是半群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966" y="2906078"/>
              <a:ext cx="4297871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0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((a, b)*(c, d))*(e, f) = (a·c, b·d)*(e, f) = ((a·c)·e, (b·d)·f)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= (a·(c·e), b·(d·f))　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← 每个分量用 G 的结合律</a:t>
              </a:r>
              <a:br/>
              <a:r>
                <a:rPr lang="en-US" sz="10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(a, b)*((c, d)*(e, f))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23900" y="3619500"/>
              <a:ext cx="5143500" cy="742950"/>
            </a:xfrm>
            <a:prstGeom prst="roundRect">
              <a:avLst>
                <a:gd name="adj" fmla="val 12821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0585" y="3707606"/>
              <a:ext cx="3060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(2) G 有单位元 1 ⇒ (1, 1) 是 G×G 的单位元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0966" y="3934778"/>
              <a:ext cx="2310956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0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(a, b)*(1, 1) = (a·1, b·1) = (a, b)</a:t>
              </a:r>
              <a:br/>
              <a:r>
                <a:rPr lang="en-US" sz="10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(1, 1)*(a, b) = (1·a, 1·b) = (a, b)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23900" y="4438650"/>
              <a:ext cx="5143500" cy="1143000"/>
            </a:xfrm>
            <a:prstGeom prst="roundRect">
              <a:avLst>
                <a:gd name="adj" fmla="val 8333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0585" y="4526756"/>
              <a:ext cx="2437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(3) (G, ·) 是群 ⇒ (G×G, *) 是群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0966" y="4753928"/>
              <a:ext cx="2604326" cy="834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设 a′、b′ 分别是 a、b 在 G 中的逆元素：</a:t>
              </a:r>
              <a:br/>
              <a:r>
                <a:rPr lang="en-US" sz="10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(a, b)*(a′, b′) = (a·a′, b·b′) = (1, 1)</a:t>
              </a:r>
              <a:br/>
              <a:r>
                <a:rPr lang="en-US" sz="10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(a′, b′)*(a, b) = (a′·a, b′·b) = (1, 1)</a:t>
              </a:r>
              <a:br/>
              <a:r>
                <a:rPr lang="zh-CN" sz="1050" b="1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⇒ (a′, b′) 就是 (a, b) 的逆元素</a:t>
              </a:r>
            </a:p>
          </p:txBody>
        </p:sp>
      </p:grpSp>
      <p:grpSp>
        <p:nvGrpSpPr>
          <p:cNvPr id="37" name="commute-equal"/>
          <p:cNvGrpSpPr/>
          <p:nvPr/>
        </p:nvGrpSpPr>
        <p:grpSpPr>
          <a:xfrm>
            <a:off x="6172200" y="1485900"/>
            <a:ext cx="5486400" cy="4229100"/>
            <a:chOff x="6172200" y="1485900"/>
            <a:chExt cx="5486400" cy="4229100"/>
          </a:xfrm>
        </p:grpSpPr>
        <p:sp>
          <p:nvSpPr>
            <p:cNvPr id="23" name="Rectangle 23"/>
            <p:cNvSpPr/>
            <p:nvPr/>
          </p:nvSpPr>
          <p:spPr>
            <a:xfrm>
              <a:off x="6172200" y="1485900"/>
              <a:ext cx="54864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362700" y="1619250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84921" y="16802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94423" y="1681639"/>
              <a:ext cx="1082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可交换 ⇒ 相等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362700" y="1962150"/>
              <a:ext cx="5105400" cy="742950"/>
            </a:xfrm>
            <a:prstGeom prst="roundRect">
              <a:avLst>
                <a:gd name="adj" fmla="val 128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09385" y="2059781"/>
              <a:ext cx="3261614" cy="658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(S, *) 是半群，对所有 a, b ∈ S，只要 a ≠ b，必有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a*b ≠ b*a。证明：</a:t>
              </a:r>
            </a:p>
            <a:p>
              <a:pPr algn="l">
                <a:lnSpc>
                  <a:spcPts val="1725"/>
                </a:lnSpc>
              </a:pPr>
              <a:r>
                <a:rPr lang="zh-CN" sz="1120" b="1" dirty="0">
                  <a:solidFill>
                    <a:schemeClr val="accent1"/>
                  </a:solidFill>
                  <a:latin typeface="Cambria Math"/>
                  <a:ea typeface="Microsoft YaHei"/>
                  <a:cs typeface="Cambria Math"/>
                </a:rPr>
                <a:t>1) a*a = a　　2) a*b*a = a　　3) a*b*c = a*c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362700" y="2781300"/>
              <a:ext cx="5105400" cy="438150"/>
            </a:xfrm>
            <a:prstGeom prst="roundRect">
              <a:avLst>
                <a:gd name="adj" fmla="val 21739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09766" y="2934652"/>
              <a:ext cx="44088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逆否形式：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 a*b = b*a，则 a = b——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要证 X = Y，只需证 X、Y 可交换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362700" y="3295650"/>
              <a:ext cx="5105400" cy="590550"/>
            </a:xfrm>
            <a:prstGeom prst="roundRect">
              <a:avLst>
                <a:gd name="adj" fmla="val 16129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09766" y="3401378"/>
              <a:ext cx="2051590" cy="424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0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1)</a:t>
              </a: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 (a*a)*a = a*(a*a)（结合律）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⇒ a*a 与 a 可交换 ⇒ </a:t>
              </a:r>
              <a:r>
                <a:rPr lang="en-US" sz="10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a*a = a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362700" y="3962400"/>
              <a:ext cx="5105400" cy="800100"/>
            </a:xfrm>
            <a:prstGeom prst="roundRect">
              <a:avLst>
                <a:gd name="adj" fmla="val 11905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09766" y="4068128"/>
              <a:ext cx="2704338" cy="6435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0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2)</a:t>
              </a:r>
              <a:r>
                <a:rPr lang="en-US" sz="10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 (a*b*a)*a = a*b*(a*a) = a*b*a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a*(a*b*a) = (a*a)*b*a = a*b*a　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← 用了 1)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⇒ a*b*a 与 a 可交换 ⇒ </a:t>
              </a:r>
              <a:r>
                <a:rPr lang="en-US" sz="10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a*b*a = a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62700" y="4838700"/>
              <a:ext cx="5105400" cy="762000"/>
            </a:xfrm>
            <a:prstGeom prst="roundRect">
              <a:avLst>
                <a:gd name="adj" fmla="val 125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09766" y="4934902"/>
              <a:ext cx="3144393" cy="6435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0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3)</a:t>
              </a:r>
              <a:r>
                <a:rPr lang="en-US" sz="10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 (a*b*c)*(a*c) = a*b*(c*a*c) = a*b*c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(a*c)*(a*b*c) = (a*c*a)*b*c = a*b*c　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← 用了 2)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⇒ a*b*c 与 a*c 可交换 ⇒ </a:t>
              </a:r>
              <a:r>
                <a:rPr lang="en-US" sz="10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a*b*c = a*c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38" name="Rectangle 38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62000" y="5991225"/>
              <a:ext cx="228599" cy="228600"/>
              <a:chOff x="762000" y="5991225"/>
              <a:chExt cx="228599" cy="228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62000" y="5991225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07415" y="6042025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47090" y="6169024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134618" y="6003608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两个技巧：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直积按分量继承性质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</a:t>
              </a:r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要证相等，先证可交换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5599149" cy="960501"/>
            <a:chOff x="456415" y="361950"/>
            <a:chExt cx="5599149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习题精讲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5358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习题精讲：两两配对与“中间抵消”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pairing-diagram"/>
          <p:cNvGrpSpPr/>
          <p:nvPr/>
        </p:nvGrpSpPr>
        <p:grpSpPr>
          <a:xfrm>
            <a:off x="533400" y="1485900"/>
            <a:ext cx="5524500" cy="1524000"/>
            <a:chOff x="533400" y="1485900"/>
            <a:chExt cx="5524500" cy="15240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524500" cy="1524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804" y="1623060"/>
              <a:ext cx="1814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按“逆元”给群的元素分组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876300" y="2038350"/>
              <a:ext cx="342900" cy="342900"/>
            </a:xfrm>
            <a:prstGeom prst="ellipse">
              <a:avLst/>
            </a:prstGeom>
            <a:solidFill>
              <a:srgbClr val="E3F5F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98499" y="2145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1818" y="25045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e⁻¹ = e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1695450" y="2038350"/>
              <a:ext cx="342900" cy="342900"/>
            </a:xfrm>
            <a:prstGeom prst="ellipse">
              <a:avLst/>
            </a:prstGeom>
            <a:solidFill>
              <a:srgbClr val="E3F5F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17649" y="2145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40968" y="25045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b⁻¹ = b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400300" y="1981200"/>
              <a:ext cx="1447800" cy="4572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2"/>
              </a:solidFill>
              <a:custDash>
                <a:ds d="333333" sp="266667"/>
              </a:custDash>
            </a:ln>
          </p:spPr>
        </p:sp>
        <p:sp>
          <p:nvSpPr>
            <p:cNvPr id="16" name="Line 16"/>
            <p:cNvSpPr/>
            <p:nvPr/>
          </p:nvSpPr>
          <p:spPr>
            <a:xfrm>
              <a:off x="2895600" y="220980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552700" y="2038350"/>
              <a:ext cx="342900" cy="342900"/>
            </a:xfrm>
            <a:prstGeom prst="ellipse">
              <a:avLst/>
            </a:prstGeom>
            <a:solidFill>
              <a:srgbClr val="FDEEE7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674899" y="2145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352800" y="2038350"/>
              <a:ext cx="342900" cy="342900"/>
            </a:xfrm>
            <a:prstGeom prst="ellipse">
              <a:avLst/>
            </a:prstGeom>
            <a:solidFill>
              <a:srgbClr val="FDEEE7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396471" y="215360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a⁻¹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00377" y="2504599"/>
              <a:ext cx="8476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≠ a⁻¹，成对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000500" y="1981200"/>
              <a:ext cx="1447800" cy="4572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2"/>
              </a:solidFill>
              <a:custDash>
                <a:ds d="333333" sp="266667"/>
              </a:custDash>
            </a:ln>
          </p:spPr>
        </p:sp>
        <p:sp>
          <p:nvSpPr>
            <p:cNvPr id="23" name="Line 23"/>
            <p:cNvSpPr/>
            <p:nvPr/>
          </p:nvSpPr>
          <p:spPr>
            <a:xfrm>
              <a:off x="4495800" y="220980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152900" y="2038350"/>
              <a:ext cx="342900" cy="342900"/>
            </a:xfrm>
            <a:prstGeom prst="ellipse">
              <a:avLst/>
            </a:prstGeom>
            <a:solidFill>
              <a:srgbClr val="FDEEE7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75099" y="2145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4953000" y="2038350"/>
              <a:ext cx="342900" cy="342900"/>
            </a:xfrm>
            <a:prstGeom prst="ellipse">
              <a:avLst/>
            </a:prstGeom>
            <a:solidFill>
              <a:srgbClr val="FDEEE7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996671" y="215360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c⁻¹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00577" y="2504599"/>
              <a:ext cx="8476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 ≠ c⁻¹，成对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17565" y="21212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8566" y="2763202"/>
              <a:ext cx="44324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逆元唯一 ⇒ 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 ≠ x⁻¹ 的元素恰好两两成对，共偶数个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；x² = e ⇔ x⁻¹ = x</a:t>
              </a:r>
            </a:p>
          </p:txBody>
        </p:sp>
      </p:grpSp>
      <p:grpSp>
        <p:nvGrpSpPr>
          <p:cNvPr id="37" name="exercise-five"/>
          <p:cNvGrpSpPr/>
          <p:nvPr/>
        </p:nvGrpSpPr>
        <p:grpSpPr>
          <a:xfrm>
            <a:off x="533400" y="3124200"/>
            <a:ext cx="5524500" cy="1219200"/>
            <a:chOff x="533400" y="3124200"/>
            <a:chExt cx="5524500" cy="1219200"/>
          </a:xfrm>
        </p:grpSpPr>
        <p:sp>
          <p:nvSpPr>
            <p:cNvPr id="32" name="Rectangle 32"/>
            <p:cNvSpPr/>
            <p:nvPr/>
          </p:nvSpPr>
          <p:spPr>
            <a:xfrm>
              <a:off x="533400" y="3124200"/>
              <a:ext cx="5524500" cy="1219200"/>
            </a:xfrm>
            <a:prstGeom prst="roundRect">
              <a:avLst>
                <a:gd name="adj" fmla="val 125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3900" y="32575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7071" y="33185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18285" y="3336131"/>
              <a:ext cx="2968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偶数元有限群 G 中，方程 x² = 1 有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偶数个解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8566" y="3639502"/>
              <a:ext cx="3831146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x² = 1 ⇔ x⁻¹ = x。不满足的元素（x⁻¹ ≠ x）与其逆元成对出现，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个数为偶数；|G| 又是偶数</a:t>
              </a:r>
              <a:br/>
              <a:r>
                <a:rPr lang="zh-CN" sz="1050" b="1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⇒ 解的个数 = |G| − 偶数 = 偶数 ∎</a:t>
              </a:r>
            </a:p>
          </p:txBody>
        </p:sp>
      </p:grpSp>
      <p:grpSp>
        <p:nvGrpSpPr>
          <p:cNvPr id="43" name="exercise-ten"/>
          <p:cNvGrpSpPr/>
          <p:nvPr/>
        </p:nvGrpSpPr>
        <p:grpSpPr>
          <a:xfrm>
            <a:off x="533400" y="4457700"/>
            <a:ext cx="5524500" cy="1257300"/>
            <a:chOff x="533400" y="4457700"/>
            <a:chExt cx="5524500" cy="1257300"/>
          </a:xfrm>
        </p:grpSpPr>
        <p:sp>
          <p:nvSpPr>
            <p:cNvPr id="38" name="Rectangle 38"/>
            <p:cNvSpPr/>
            <p:nvPr/>
          </p:nvSpPr>
          <p:spPr>
            <a:xfrm>
              <a:off x="533400" y="4457700"/>
              <a:ext cx="5524500" cy="1257300"/>
            </a:xfrm>
            <a:prstGeom prst="roundRect">
              <a:avLst>
                <a:gd name="adj" fmla="val 1212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23900" y="459105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18525" y="4652010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10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94485" y="4669631"/>
              <a:ext cx="261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偶数元有限群中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必存在 a ≠ e 使 a² = 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8566" y="4973002"/>
              <a:ext cx="3924491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只需找 a ≠ e 使 a = a⁻¹。反证：若所有 a ≠ e 都有 a ≠ a⁻¹，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它们两两成对共偶数个，再加上 e（e = e⁻¹）⇒ |G| 为奇数，矛盾 ∎</a:t>
              </a:r>
              <a:br/>
              <a:r>
                <a:rPr lang="zh-CN" sz="1050" dirty="0">
                  <a:solidFill>
                    <a:schemeClr val="accent5"/>
                  </a:solidFill>
                  <a:latin typeface="Cambria Math"/>
                  <a:ea typeface="Microsoft YaHei"/>
                  <a:cs typeface="Cambria Math"/>
                </a:rPr>
                <a:t>（也可由习题 5：解的个数为偶数且 e 是一个解，故还有 a ≠ e）</a:t>
              </a:r>
            </a:p>
          </p:txBody>
        </p:sp>
      </p:grpSp>
      <p:grpSp>
        <p:nvGrpSpPr>
          <p:cNvPr id="76" name="exercise-two"/>
          <p:cNvGrpSpPr/>
          <p:nvPr/>
        </p:nvGrpSpPr>
        <p:grpSpPr>
          <a:xfrm>
            <a:off x="6172200" y="1485900"/>
            <a:ext cx="5486400" cy="2362200"/>
            <a:chOff x="6172200" y="1485900"/>
            <a:chExt cx="5486400" cy="2362200"/>
          </a:xfrm>
        </p:grpSpPr>
        <p:sp>
          <p:nvSpPr>
            <p:cNvPr id="44" name="Rectangle 44"/>
            <p:cNvSpPr/>
            <p:nvPr/>
          </p:nvSpPr>
          <p:spPr>
            <a:xfrm>
              <a:off x="6172200" y="1485900"/>
              <a:ext cx="5486400" cy="2362200"/>
            </a:xfrm>
            <a:prstGeom prst="roundRect">
              <a:avLst>
                <a:gd name="adj" fmla="val 6452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362700" y="16192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65871" y="16802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57085" y="1697831"/>
              <a:ext cx="1528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 G 中，k 为正整数：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55842" y="1968818"/>
              <a:ext cx="2771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(x⁻¹·y·x)ᵏ = x⁻¹·y·x ⇔ yᵏ = y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57366" y="2286952"/>
              <a:ext cx="35373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关键：把 k 个 x⁻¹·y·x 连乘，相邻处的 x·x⁻¹ 全部抵消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6362700" y="2533650"/>
              <a:ext cx="3543300" cy="289084"/>
              <a:chOff x="6362700" y="2533650"/>
              <a:chExt cx="3543300" cy="289084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362700" y="2533650"/>
                <a:ext cx="38100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416877" y="2602706"/>
                <a:ext cx="27264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x⁻¹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6781800" y="2533650"/>
                <a:ext cx="28575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875424" y="260270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y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7105650" y="2533650"/>
                <a:ext cx="28575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199274" y="260270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x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7429500" y="2533650"/>
                <a:ext cx="38100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483677" y="2602706"/>
                <a:ext cx="27264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x⁻¹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7848600" y="2533650"/>
                <a:ext cx="28575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942224" y="260270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y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8172450" y="2533650"/>
                <a:ext cx="28575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8266074" y="260270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x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618499" y="260270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5"/>
                    </a:solidFill>
                    <a:latin typeface="Cambria Math"/>
                    <a:ea typeface="Cambria Math"/>
                    <a:cs typeface="Cambria Math"/>
                  </a:rPr>
                  <a:t>⋯</a:t>
                </a:r>
              </a:p>
            </p:txBody>
          </p:sp>
          <p:sp>
            <p:nvSpPr>
              <p:cNvPr id="63" name="Rectangle 63"/>
              <p:cNvSpPr/>
              <p:nvPr/>
            </p:nvSpPr>
            <p:spPr>
              <a:xfrm>
                <a:off x="8877300" y="2533650"/>
                <a:ext cx="38100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8931477" y="2602706"/>
                <a:ext cx="27264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x⁻¹</a:t>
                </a: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9296400" y="2533650"/>
                <a:ext cx="28575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9390024" y="260270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y</a:t>
                </a:r>
              </a:p>
            </p:txBody>
          </p:sp>
          <p:sp>
            <p:nvSpPr>
              <p:cNvPr id="67" name="Rectangle 67"/>
              <p:cNvSpPr/>
              <p:nvPr/>
            </p:nvSpPr>
            <p:spPr>
              <a:xfrm>
                <a:off x="9620250" y="2533650"/>
                <a:ext cx="28575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9713874" y="260270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x</a:t>
                </a:r>
              </a:p>
            </p:txBody>
          </p:sp>
        </p:grpSp>
        <p:sp>
          <p:nvSpPr>
            <p:cNvPr id="70" name="Freeform 70"/>
            <p:cNvSpPr/>
            <p:nvPr/>
          </p:nvSpPr>
          <p:spPr>
            <a:xfrm>
              <a:off x="7105650" y="2876550"/>
              <a:ext cx="704850" cy="76200"/>
            </a:xfrm>
            <a:custGeom>
              <a:avLst/>
              <a:gdLst/>
              <a:ahLst/>
              <a:cxnLst/>
              <a:rect l="l" t="t" r="r" b="b"/>
              <a:pathLst>
                <a:path w="704850" h="76200">
                  <a:moveTo>
                    <a:pt x="0" y="0"/>
                  </a:moveTo>
                  <a:lnTo>
                    <a:pt x="0" y="76200"/>
                  </a:lnTo>
                  <a:lnTo>
                    <a:pt x="704850" y="76200"/>
                  </a:lnTo>
                  <a:lnTo>
                    <a:pt x="70485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144906" y="2999899"/>
              <a:ext cx="6263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x·x⁻¹ = 1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8172450" y="2876550"/>
              <a:ext cx="1085850" cy="76200"/>
            </a:xfrm>
            <a:custGeom>
              <a:avLst/>
              <a:gdLst/>
              <a:ahLst/>
              <a:cxnLst/>
              <a:rect l="l" t="t" r="r" b="b"/>
              <a:pathLst>
                <a:path w="1085850" h="76200">
                  <a:moveTo>
                    <a:pt x="0" y="0"/>
                  </a:moveTo>
                  <a:lnTo>
                    <a:pt x="0" y="76200"/>
                  </a:lnTo>
                  <a:lnTo>
                    <a:pt x="1085850" y="76200"/>
                  </a:lnTo>
                  <a:lnTo>
                    <a:pt x="108585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453658" y="2999899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⋯ 都抵消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090023" y="2586514"/>
              <a:ext cx="9628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x⁻¹·yᵏ·x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357366" y="3277552"/>
              <a:ext cx="3689794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所以 (x⁻¹·y·x)ᵏ = x⁻¹·y·x ⇔ x⁻¹·yᵏ·x = x⁻¹·y·x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⇔ </a:t>
              </a:r>
              <a:r>
                <a:rPr lang="en-US" sz="10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yᵏ = y</a:t>
              </a: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　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（左边消去 x⁻¹，右边消去 x；反向两边同乘即可）</a:t>
              </a:r>
            </a:p>
          </p:txBody>
        </p:sp>
      </p:grpSp>
      <p:grpSp>
        <p:nvGrpSpPr>
          <p:cNvPr id="85" name="exercise-nine"/>
          <p:cNvGrpSpPr/>
          <p:nvPr/>
        </p:nvGrpSpPr>
        <p:grpSpPr>
          <a:xfrm>
            <a:off x="6172200" y="3962400"/>
            <a:ext cx="5486400" cy="1752600"/>
            <a:chOff x="6172200" y="3962400"/>
            <a:chExt cx="5486400" cy="1752600"/>
          </a:xfrm>
        </p:grpSpPr>
        <p:sp>
          <p:nvSpPr>
            <p:cNvPr id="77" name="Rectangle 77"/>
            <p:cNvSpPr/>
            <p:nvPr/>
          </p:nvSpPr>
          <p:spPr>
            <a:xfrm>
              <a:off x="6172200" y="3962400"/>
              <a:ext cx="5486400" cy="1752600"/>
            </a:xfrm>
            <a:prstGeom prst="roundRect">
              <a:avLst>
                <a:gd name="adj" fmla="val 8696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362700" y="40957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465871" y="41567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9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157085" y="4174331"/>
              <a:ext cx="3727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 非交换 ⇒ 存在 a ≠ b，ab = ba，且 a、b 都不是单位元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362700" y="4438650"/>
              <a:ext cx="5105400" cy="533400"/>
            </a:xfrm>
            <a:prstGeom prst="roundRect">
              <a:avLst>
                <a:gd name="adj" fmla="val 17857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509766" y="4534852"/>
              <a:ext cx="2727674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b="1" dirty="0">
                  <a:solidFill>
                    <a:srgbClr val="B42318"/>
                  </a:solidFill>
                  <a:latin typeface="Cambria Math"/>
                  <a:ea typeface="Microsoft YaHei"/>
                  <a:cs typeface="Cambria Math"/>
                </a:rPr>
                <a:t>① 先证有 a ≠ a⁻¹：</a:t>
              </a: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反证，若所有 x = x⁻¹，则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xy = (xy)⁻¹ = y⁻¹x⁻¹ = yx，G 可交换，矛盾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362700" y="5048250"/>
              <a:ext cx="5105400" cy="552450"/>
            </a:xfrm>
            <a:prstGeom prst="roundRect">
              <a:avLst>
                <a:gd name="adj" fmla="val 17241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509766" y="5144452"/>
              <a:ext cx="3094387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b="1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② 取 b = a⁻¹：</a:t>
              </a: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 ≠ b；a ≠ e（否则 a = a⁻¹）；b ≠ e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且 ab = ba = e </a:t>
              </a:r>
              <a:r>
                <a:rPr lang="zh-CN" sz="1050" b="1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✓ 满足全部要求 ∎</a:t>
              </a:r>
            </a:p>
          </p:txBody>
        </p:sp>
      </p:grpSp>
      <p:grpSp>
        <p:nvGrpSpPr>
          <p:cNvPr id="92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6" name="Rectangle 86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55650" y="5991225"/>
              <a:ext cx="241300" cy="228600"/>
              <a:chOff x="755650" y="5991225"/>
              <a:chExt cx="241300" cy="22860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825500" y="5991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55650" y="6118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95350" y="6118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134618" y="6003608"/>
              <a:ext cx="74578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逆元唯一 ⇒ </a:t>
              </a:r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 ≠ x⁻¹ 的元素两两成对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；共轭连乘时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中间的 x·x⁻¹ 全部抵消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93" name="TextBox 93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94134" y="361950"/>
            <a:ext cx="4853565" cy="960501"/>
            <a:chOff x="494134" y="361950"/>
            <a:chExt cx="4853565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4287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94134" y="432435"/>
              <a:ext cx="150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收尾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82801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易错点清单：这 8 个坑最常见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pitfall-1"/>
          <p:cNvGrpSpPr/>
          <p:nvPr/>
        </p:nvGrpSpPr>
        <p:grpSpPr>
          <a:xfrm>
            <a:off x="533400" y="1485900"/>
            <a:ext cx="5486400" cy="971550"/>
            <a:chOff x="533400" y="1485900"/>
            <a:chExt cx="5486400" cy="97155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486400" cy="971550"/>
            </a:xfrm>
            <a:prstGeom prst="roundRect">
              <a:avLst>
                <a:gd name="adj" fmla="val 1372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485900"/>
              <a:ext cx="57150" cy="9715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14375" y="1809750"/>
              <a:ext cx="323850" cy="323850"/>
            </a:xfrm>
            <a:prstGeom prst="ellipse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6965" y="18926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56716" y="1648778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Cambria Math"/>
                  <a:ea typeface="Microsoft YaHei"/>
                  <a:cs typeface="Cambria Math"/>
                </a:rPr>
                <a:t>✗ 群的运算一定满足交换律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5573" y="1881664"/>
              <a:ext cx="14543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✓ 群不要求交换律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6716" y="2172652"/>
              <a:ext cx="1866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ambria Math"/>
                  <a:ea typeface="Microsoft YaHei"/>
                  <a:cs typeface="Cambria Math"/>
                </a:rPr>
                <a:t>例：S₃ 是群，但一般 στ ≠ τσ</a:t>
              </a:r>
            </a:p>
          </p:txBody>
        </p:sp>
      </p:grpSp>
      <p:grpSp>
        <p:nvGrpSpPr>
          <p:cNvPr id="22" name="pitfall-2"/>
          <p:cNvGrpSpPr/>
          <p:nvPr/>
        </p:nvGrpSpPr>
        <p:grpSpPr>
          <a:xfrm>
            <a:off x="533400" y="2533650"/>
            <a:ext cx="5486400" cy="971550"/>
            <a:chOff x="533400" y="2533650"/>
            <a:chExt cx="5486400" cy="971550"/>
          </a:xfrm>
        </p:grpSpPr>
        <p:sp>
          <p:nvSpPr>
            <p:cNvPr id="15" name="Rectangle 15"/>
            <p:cNvSpPr/>
            <p:nvPr/>
          </p:nvSpPr>
          <p:spPr>
            <a:xfrm>
              <a:off x="533400" y="2533650"/>
              <a:ext cx="5486400" cy="971550"/>
            </a:xfrm>
            <a:prstGeom prst="roundRect">
              <a:avLst>
                <a:gd name="adj" fmla="val 1372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533650"/>
              <a:ext cx="57150" cy="9715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14375" y="2857500"/>
              <a:ext cx="323850" cy="323850"/>
            </a:xfrm>
            <a:prstGeom prst="ellipse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6965" y="29403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56716" y="2696528"/>
              <a:ext cx="21521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Cambria Math"/>
                  <a:ea typeface="Microsoft YaHei"/>
                  <a:cs typeface="Cambria Math"/>
                </a:rPr>
                <a:t>✗ 单位元就是数 1，逆元就是倒数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5573" y="2929414"/>
              <a:ext cx="21436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✓ 单位元、逆元由运算决定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56716" y="3220402"/>
              <a:ext cx="2645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ambria Math"/>
                  <a:ea typeface="Microsoft YaHei"/>
                  <a:cs typeface="Cambria Math"/>
                </a:rPr>
                <a:t>例：(Z, +) 的单位元是 0，a 的逆元是 −a</a:t>
              </a:r>
            </a:p>
          </p:txBody>
        </p:sp>
      </p:grpSp>
      <p:grpSp>
        <p:nvGrpSpPr>
          <p:cNvPr id="30" name="pitfall-3"/>
          <p:cNvGrpSpPr/>
          <p:nvPr/>
        </p:nvGrpSpPr>
        <p:grpSpPr>
          <a:xfrm>
            <a:off x="533400" y="3581400"/>
            <a:ext cx="5486400" cy="971550"/>
            <a:chOff x="533400" y="3581400"/>
            <a:chExt cx="5486400" cy="971550"/>
          </a:xfrm>
        </p:grpSpPr>
        <p:sp>
          <p:nvSpPr>
            <p:cNvPr id="23" name="Rectangle 23"/>
            <p:cNvSpPr/>
            <p:nvPr/>
          </p:nvSpPr>
          <p:spPr>
            <a:xfrm>
              <a:off x="533400" y="3581400"/>
              <a:ext cx="5486400" cy="971550"/>
            </a:xfrm>
            <a:prstGeom prst="roundRect">
              <a:avLst>
                <a:gd name="adj" fmla="val 1372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81400"/>
              <a:ext cx="57150" cy="9715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714375" y="3905250"/>
              <a:ext cx="323850" cy="323850"/>
            </a:xfrm>
            <a:prstGeom prst="ellipse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6965" y="39881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6716" y="3744278"/>
              <a:ext cx="2187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Cambria Math"/>
                  <a:ea typeface="Microsoft YaHei"/>
                  <a:cs typeface="Cambria Math"/>
                </a:rPr>
                <a:t>✗ 每个元素可以有“自己的”单位元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55573" y="3977164"/>
              <a:ext cx="33498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✓ 单位元是对所有元素都适用的同一个元素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6716" y="4268152"/>
              <a:ext cx="19289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ambria Math"/>
                  <a:ea typeface="Microsoft YaHei"/>
                  <a:cs typeface="Cambria Math"/>
                </a:rPr>
                <a:t>例：ρ(S) 对 ∪ 的单位元只有 ∅</a:t>
              </a:r>
            </a:p>
          </p:txBody>
        </p:sp>
      </p:grpSp>
      <p:grpSp>
        <p:nvGrpSpPr>
          <p:cNvPr id="38" name="pitfall-4"/>
          <p:cNvGrpSpPr/>
          <p:nvPr/>
        </p:nvGrpSpPr>
        <p:grpSpPr>
          <a:xfrm>
            <a:off x="533400" y="4629150"/>
            <a:ext cx="5486400" cy="971550"/>
            <a:chOff x="533400" y="4629150"/>
            <a:chExt cx="5486400" cy="971550"/>
          </a:xfrm>
        </p:grpSpPr>
        <p:sp>
          <p:nvSpPr>
            <p:cNvPr id="31" name="Rectangle 31"/>
            <p:cNvSpPr/>
            <p:nvPr/>
          </p:nvSpPr>
          <p:spPr>
            <a:xfrm>
              <a:off x="533400" y="4629150"/>
              <a:ext cx="5486400" cy="971550"/>
            </a:xfrm>
            <a:prstGeom prst="roundRect">
              <a:avLst>
                <a:gd name="adj" fmla="val 1372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629150"/>
              <a:ext cx="57150" cy="9715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14375" y="4953000"/>
              <a:ext cx="323850" cy="323850"/>
            </a:xfrm>
            <a:prstGeom prst="ellipse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16965" y="50358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6716" y="4792028"/>
              <a:ext cx="2604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Cambria Math"/>
                  <a:ea typeface="Microsoft YaHei"/>
                  <a:cs typeface="Cambria Math"/>
                </a:rPr>
                <a:t>✗ (a·b)⁻¹ = a⁻¹·b⁻¹，(a·b)ⁿ = aⁿ·bⁿ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5573" y="5024914"/>
              <a:ext cx="3055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✓ (a·b)⁻¹ = b⁻¹·a⁻¹，顺序要反过来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6716" y="5315902"/>
              <a:ext cx="30895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ambria Math"/>
                  <a:ea typeface="Microsoft YaHei"/>
                  <a:cs typeface="Cambria Math"/>
                </a:rPr>
                <a:t>例：一般群中 (a·b)ⁿ ≠ aⁿ·bⁿ，Abel 群中才相等</a:t>
              </a:r>
            </a:p>
          </p:txBody>
        </p:sp>
      </p:grpSp>
      <p:grpSp>
        <p:nvGrpSpPr>
          <p:cNvPr id="46" name="pitfall-5"/>
          <p:cNvGrpSpPr/>
          <p:nvPr/>
        </p:nvGrpSpPr>
        <p:grpSpPr>
          <a:xfrm>
            <a:off x="6172200" y="1485900"/>
            <a:ext cx="5486400" cy="971550"/>
            <a:chOff x="6172200" y="1485900"/>
            <a:chExt cx="5486400" cy="971550"/>
          </a:xfrm>
        </p:grpSpPr>
        <p:sp>
          <p:nvSpPr>
            <p:cNvPr id="39" name="Rectangle 39"/>
            <p:cNvSpPr/>
            <p:nvPr/>
          </p:nvSpPr>
          <p:spPr>
            <a:xfrm>
              <a:off x="6172200" y="1485900"/>
              <a:ext cx="5486400" cy="971550"/>
            </a:xfrm>
            <a:prstGeom prst="roundRect">
              <a:avLst>
                <a:gd name="adj" fmla="val 1372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172200" y="1485900"/>
              <a:ext cx="57150" cy="9715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353175" y="1809750"/>
              <a:ext cx="323850" cy="323850"/>
            </a:xfrm>
            <a:prstGeom prst="ellipse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55765" y="18926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95516" y="1648778"/>
              <a:ext cx="14595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✗ a·x = b ⇒ x = b·a⁻¹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94373" y="1881664"/>
              <a:ext cx="24318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✓ 解方程保持左右：x = a⁻¹·b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95516" y="21726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ambria Math"/>
                  <a:ea typeface="Microsoft YaHei"/>
                  <a:cs typeface="Cambria Math"/>
                </a:rPr>
                <a:t>例：公因子在左边就左乘逆元，在右边就右乘逆元</a:t>
              </a:r>
            </a:p>
          </p:txBody>
        </p:sp>
      </p:grpSp>
      <p:grpSp>
        <p:nvGrpSpPr>
          <p:cNvPr id="54" name="pitfall-6"/>
          <p:cNvGrpSpPr/>
          <p:nvPr/>
        </p:nvGrpSpPr>
        <p:grpSpPr>
          <a:xfrm>
            <a:off x="6172200" y="2533650"/>
            <a:ext cx="5486400" cy="971550"/>
            <a:chOff x="6172200" y="2533650"/>
            <a:chExt cx="5486400" cy="971550"/>
          </a:xfrm>
        </p:grpSpPr>
        <p:sp>
          <p:nvSpPr>
            <p:cNvPr id="47" name="Rectangle 47"/>
            <p:cNvSpPr/>
            <p:nvPr/>
          </p:nvSpPr>
          <p:spPr>
            <a:xfrm>
              <a:off x="6172200" y="2533650"/>
              <a:ext cx="5486400" cy="971550"/>
            </a:xfrm>
            <a:prstGeom prst="roundRect">
              <a:avLst>
                <a:gd name="adj" fmla="val 1372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172200" y="2533650"/>
              <a:ext cx="57150" cy="9715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353175" y="2857500"/>
              <a:ext cx="323850" cy="323850"/>
            </a:xfrm>
            <a:prstGeom prst="ellipse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55765" y="29403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95516" y="2696528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Cambria Math"/>
                  <a:ea typeface="Microsoft YaHei"/>
                  <a:cs typeface="Cambria Math"/>
                </a:rPr>
                <a:t>✗ 左、右条件可以随意混搭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94373" y="2929414"/>
              <a:ext cx="31667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✓ 左壹 + 左逆 ⇒ 群；左壹 + 右逆 不一定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95516" y="3220402"/>
              <a:ext cx="20319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ambria Math"/>
                  <a:ea typeface="Microsoft YaHei"/>
                  <a:cs typeface="Cambria Math"/>
                </a:rPr>
                <a:t>例：习题6.2-3 的 2×2 矩阵反例</a:t>
              </a:r>
            </a:p>
          </p:txBody>
        </p:sp>
      </p:grpSp>
      <p:grpSp>
        <p:nvGrpSpPr>
          <p:cNvPr id="62" name="pitfall-7"/>
          <p:cNvGrpSpPr/>
          <p:nvPr/>
        </p:nvGrpSpPr>
        <p:grpSpPr>
          <a:xfrm>
            <a:off x="6172200" y="3581400"/>
            <a:ext cx="5486400" cy="971550"/>
            <a:chOff x="6172200" y="3581400"/>
            <a:chExt cx="5486400" cy="971550"/>
          </a:xfrm>
        </p:grpSpPr>
        <p:sp>
          <p:nvSpPr>
            <p:cNvPr id="55" name="Rectangle 55"/>
            <p:cNvSpPr/>
            <p:nvPr/>
          </p:nvSpPr>
          <p:spPr>
            <a:xfrm>
              <a:off x="6172200" y="3581400"/>
              <a:ext cx="5486400" cy="971550"/>
            </a:xfrm>
            <a:prstGeom prst="roundRect">
              <a:avLst>
                <a:gd name="adj" fmla="val 1372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172200" y="3581400"/>
              <a:ext cx="57150" cy="9715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6353175" y="3905250"/>
              <a:ext cx="323850" cy="323850"/>
            </a:xfrm>
            <a:prstGeom prst="ellipse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55765" y="39881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95516" y="3744278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Cambria Math"/>
                  <a:ea typeface="Microsoft YaHei"/>
                  <a:cs typeface="Cambria Math"/>
                </a:rPr>
                <a:t>✗ 满足消去律的半群就是群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94373" y="3977164"/>
              <a:ext cx="25864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✓ 只有“有限”半群 + 消去律 ⇒ 群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95516" y="4268152"/>
              <a:ext cx="228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ambria Math"/>
                  <a:ea typeface="Microsoft YaHei"/>
                  <a:cs typeface="Cambria Math"/>
                </a:rPr>
                <a:t>例：(Z⁺, ·) 满足消去律，却不是群</a:t>
              </a:r>
            </a:p>
          </p:txBody>
        </p:sp>
      </p:grpSp>
      <p:grpSp>
        <p:nvGrpSpPr>
          <p:cNvPr id="70" name="pitfall-8"/>
          <p:cNvGrpSpPr/>
          <p:nvPr/>
        </p:nvGrpSpPr>
        <p:grpSpPr>
          <a:xfrm>
            <a:off x="6172200" y="4629150"/>
            <a:ext cx="5486400" cy="971550"/>
            <a:chOff x="6172200" y="4629150"/>
            <a:chExt cx="5486400" cy="971550"/>
          </a:xfrm>
        </p:grpSpPr>
        <p:sp>
          <p:nvSpPr>
            <p:cNvPr id="63" name="Rectangle 63"/>
            <p:cNvSpPr/>
            <p:nvPr/>
          </p:nvSpPr>
          <p:spPr>
            <a:xfrm>
              <a:off x="6172200" y="4629150"/>
              <a:ext cx="5486400" cy="971550"/>
            </a:xfrm>
            <a:prstGeom prst="roundRect">
              <a:avLst>
                <a:gd name="adj" fmla="val 1372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172200" y="4629150"/>
              <a:ext cx="57150" cy="9715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6353175" y="4953000"/>
              <a:ext cx="323850" cy="323850"/>
            </a:xfrm>
            <a:prstGeom prst="ellipse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455765" y="50358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95516" y="4792028"/>
              <a:ext cx="1480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Cambria Math"/>
                  <a:ea typeface="Microsoft YaHei"/>
                  <a:cs typeface="Cambria Math"/>
                </a:rPr>
                <a:t>✗ στ 是先做 σ、再做 τ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794373" y="5024914"/>
              <a:ext cx="21875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✓ στ 先做右边的 τ，再做 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95516" y="531590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ambria Math"/>
                  <a:ea typeface="Microsoft YaHei"/>
                  <a:cs typeface="Cambria Math"/>
                </a:rPr>
                <a:t>例：相杂轮换一般不可交换；对换分解不唯一，但奇偶唯一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1" name="Rectangle 71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48219" y="5987006"/>
              <a:ext cx="256151" cy="220068"/>
              <a:chOff x="748219" y="5987006"/>
              <a:chExt cx="256151" cy="220068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76300" y="6067425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rgbClr val="B4231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48219" y="5987006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rgbClr val="B42318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76300" y="615632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B42318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134618" y="6003608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判群看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五关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；群内计算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保持左右顺序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；置换乘法</a:t>
              </a:r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从右往左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8" name="TextBox 78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94134" y="361950"/>
            <a:ext cx="4853565" cy="960501"/>
            <a:chOff x="494134" y="361950"/>
            <a:chExt cx="4853565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4287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94134" y="432435"/>
              <a:ext cx="150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 群的定义 · 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82801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本册小结：一张图 + 五道自测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oncept-map"/>
          <p:cNvGrpSpPr/>
          <p:nvPr/>
        </p:nvGrpSpPr>
        <p:grpSpPr>
          <a:xfrm>
            <a:off x="533400" y="1576864"/>
            <a:ext cx="5562600" cy="4138136"/>
            <a:chOff x="533400" y="1576864"/>
            <a:chExt cx="5562600" cy="4138136"/>
          </a:xfrm>
        </p:grpSpPr>
        <p:sp>
          <p:nvSpPr>
            <p:cNvPr id="7" name="TextBox 7"/>
            <p:cNvSpPr txBox="1"/>
            <p:nvPr/>
          </p:nvSpPr>
          <p:spPr>
            <a:xfrm>
              <a:off x="565023" y="15768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主干：一级一级加条件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1885950" y="2609850"/>
              <a:ext cx="2533650" cy="1238250"/>
            </a:xfrm>
            <a:custGeom>
              <a:avLst/>
              <a:gdLst/>
              <a:ahLst/>
              <a:cxnLst/>
              <a:rect l="l" t="t" r="r" b="b"/>
              <a:pathLst>
                <a:path w="2533650" h="1238250">
                  <a:moveTo>
                    <a:pt x="2533650" y="0"/>
                  </a:moveTo>
                  <a:lnTo>
                    <a:pt x="2533650" y="1066800"/>
                  </a:lnTo>
                  <a:lnTo>
                    <a:pt x="0" y="1066800"/>
                  </a:lnTo>
                  <a:lnTo>
                    <a:pt x="0" y="12382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419600" y="3676650"/>
              <a:ext cx="304800" cy="171450"/>
            </a:xfrm>
            <a:custGeom>
              <a:avLst/>
              <a:gdLst/>
              <a:ahLst/>
              <a:cxnLst/>
              <a:rect l="l" t="t" r="r" b="b"/>
              <a:pathLst>
                <a:path w="304800" h="171450">
                  <a:moveTo>
                    <a:pt x="0" y="0"/>
                  </a:moveTo>
                  <a:lnTo>
                    <a:pt x="304800" y="0"/>
                  </a:lnTo>
                  <a:lnTo>
                    <a:pt x="304800" y="1714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3028950"/>
              <a:ext cx="99060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7616" y="31851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代数系统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0056" y="357949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非空 + 封闭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676400" y="2743200"/>
              <a:ext cx="990600" cy="457200"/>
            </a:xfrm>
            <a:prstGeom prst="roundRect">
              <a:avLst>
                <a:gd name="adj" fmla="val 25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992909" y="28913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半群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09983" y="3285649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 结合律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781300" y="2457450"/>
              <a:ext cx="990600" cy="457200"/>
            </a:xfrm>
            <a:prstGeom prst="roundRect">
              <a:avLst>
                <a:gd name="adj" fmla="val 25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11653" y="260556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独异点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14883" y="2999899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 单位元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924300" y="2152650"/>
              <a:ext cx="9906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316781" y="229409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09897" y="2714149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 逆元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067300" y="1866900"/>
              <a:ext cx="990600" cy="457200"/>
            </a:xfrm>
            <a:prstGeom prst="roundRect">
              <a:avLst>
                <a:gd name="adj" fmla="val 25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3540" y="2015014"/>
              <a:ext cx="5981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Abel 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00883" y="2409349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+ 交换律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848100"/>
              <a:ext cx="2705100" cy="1866900"/>
            </a:xfrm>
            <a:prstGeom prst="roundRect">
              <a:avLst>
                <a:gd name="adj" fmla="val 81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7423" y="3996214"/>
              <a:ext cx="19441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分支一 · 群的性质与判定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8566" y="4306252"/>
              <a:ext cx="2224278" cy="1253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单位元、逆元唯一</a:t>
              </a:r>
            </a:p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(ab)⁻¹ = b⁻¹a⁻¹；消去律、解方程</a:t>
              </a:r>
            </a:p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左壹 + 左逆 ⇒ 群</a:t>
              </a:r>
            </a:p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可除条件 ⇔ 群</a:t>
              </a:r>
            </a:p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有限半群 + 消去律 ⇒ 群</a:t>
              </a:r>
            </a:p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指数律（第三条要交换律）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352800" y="3848100"/>
              <a:ext cx="2743200" cy="1866900"/>
            </a:xfrm>
            <a:prstGeom prst="roundRect">
              <a:avLst>
                <a:gd name="adj" fmla="val 8163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536823" y="3996214"/>
              <a:ext cx="1254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分支二 · 置换群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37966" y="4306252"/>
              <a:ext cx="2150936" cy="10435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Sₙ 有 n! 个元素，n ≥ 3 不交换</a:t>
              </a:r>
            </a:p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στ：先 τ 后 σ，从右往左</a:t>
              </a:r>
            </a:p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分解成不相杂轮换（唯一）</a:t>
              </a:r>
            </a:p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轮换 = 对换之积；奇偶看 n − k</a:t>
              </a:r>
            </a:p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Aₙ（偶置换）、D₄（正方形对称）</a:t>
              </a:r>
            </a:p>
          </p:txBody>
        </p:sp>
      </p:grpSp>
      <p:grpSp>
        <p:nvGrpSpPr>
          <p:cNvPr id="64" name="self-test"/>
          <p:cNvGrpSpPr/>
          <p:nvPr/>
        </p:nvGrpSpPr>
        <p:grpSpPr>
          <a:xfrm>
            <a:off x="6324600" y="1485900"/>
            <a:ext cx="5334000" cy="4229100"/>
            <a:chOff x="6324600" y="1485900"/>
            <a:chExt cx="5334000" cy="4229100"/>
          </a:xfrm>
        </p:grpSpPr>
        <p:sp>
          <p:nvSpPr>
            <p:cNvPr id="32" name="Rectangle 32"/>
            <p:cNvSpPr/>
            <p:nvPr/>
          </p:nvSpPr>
          <p:spPr>
            <a:xfrm>
              <a:off x="6324600" y="1485900"/>
              <a:ext cx="53340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586538" y="1690688"/>
              <a:ext cx="200026" cy="200026"/>
              <a:chOff x="6586538" y="1690688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586538" y="16906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686550" y="18351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69882" y="1755122"/>
                <a:ext cx="40756" cy="46721"/>
              </a:xfrm>
              <a:custGeom>
                <a:avLst/>
                <a:gdLst/>
                <a:ahLst/>
                <a:cxnLst/>
                <a:rect l="l" t="t" r="r" b="b"/>
                <a:pathLst>
                  <a:path w="40756" h="46721">
                    <a:moveTo>
                      <a:pt x="16669" y="46690"/>
                    </a:moveTo>
                    <a:cubicBezTo>
                      <a:pt x="26957" y="46721"/>
                      <a:pt x="35922" y="39687"/>
                      <a:pt x="38339" y="29686"/>
                    </a:cubicBezTo>
                    <a:cubicBezTo>
                      <a:pt x="40756" y="19686"/>
                      <a:pt x="35993" y="9334"/>
                      <a:pt x="26826" y="4663"/>
                    </a:cubicBezTo>
                    <a:cubicBezTo>
                      <a:pt x="17723" y="0"/>
                      <a:pt x="6608" y="2224"/>
                      <a:pt x="0" y="1003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907530" y="1704975"/>
              <a:ext cx="864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自测 5 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293858" y="1744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先遮住答案再作答</a:t>
              </a:r>
            </a:p>
          </p:txBody>
        </p:sp>
        <p:grpSp>
          <p:nvGrpSpPr>
            <p:cNvPr id="43" name="q-1"/>
            <p:cNvGrpSpPr/>
            <p:nvPr/>
          </p:nvGrpSpPr>
          <p:grpSpPr>
            <a:xfrm>
              <a:off x="6534150" y="2133600"/>
              <a:ext cx="3460816" cy="555784"/>
              <a:chOff x="6534150" y="2133600"/>
              <a:chExt cx="3460816" cy="555784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6534150" y="21336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614758" y="21945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889623" y="2186464"/>
                <a:ext cx="182907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(Z, ·) 为什么不是群？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890385" y="2469356"/>
                <a:ext cx="310458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答：单位元 1 存在，但 2 在 Z 中没有乘法逆元</a:t>
                </a:r>
              </a:p>
            </p:txBody>
          </p:sp>
        </p:grpSp>
        <p:grpSp>
          <p:nvGrpSpPr>
            <p:cNvPr id="48" name="q-2"/>
            <p:cNvGrpSpPr/>
            <p:nvPr/>
          </p:nvGrpSpPr>
          <p:grpSpPr>
            <a:xfrm>
              <a:off x="6534150" y="2857500"/>
              <a:ext cx="4475709" cy="555784"/>
              <a:chOff x="6534150" y="2857500"/>
              <a:chExt cx="4475709" cy="555784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6534150" y="28575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14758" y="29184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889623" y="2910364"/>
                <a:ext cx="412023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{1, 3, 4, 5, 9} 对模 11 乘法是群吗？是 Abel 群吗？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890385" y="3193256"/>
                <a:ext cx="356216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答：是；单位元 1，3⁻¹ = 4，5⁻¹ = 9，封闭且可交换</a:t>
                </a:r>
              </a:p>
            </p:txBody>
          </p:sp>
        </p:grpSp>
        <p:grpSp>
          <p:nvGrpSpPr>
            <p:cNvPr id="53" name="q-3"/>
            <p:cNvGrpSpPr/>
            <p:nvPr/>
          </p:nvGrpSpPr>
          <p:grpSpPr>
            <a:xfrm>
              <a:off x="6534150" y="3581400"/>
              <a:ext cx="2455890" cy="555784"/>
              <a:chOff x="6534150" y="3581400"/>
              <a:chExt cx="2455890" cy="555784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6534150" y="35814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614758" y="36423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889623" y="3634264"/>
                <a:ext cx="158962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(a·b)⁻¹ 等于什么？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890385" y="3917156"/>
                <a:ext cx="209965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答：b⁻¹·a⁻¹（顺序要反过来）</a:t>
                </a:r>
              </a:p>
            </p:txBody>
          </p:sp>
        </p:grpSp>
        <p:grpSp>
          <p:nvGrpSpPr>
            <p:cNvPr id="58" name="q-4"/>
            <p:cNvGrpSpPr/>
            <p:nvPr/>
          </p:nvGrpSpPr>
          <p:grpSpPr>
            <a:xfrm>
              <a:off x="6534150" y="4305300"/>
              <a:ext cx="3307766" cy="555784"/>
              <a:chOff x="6534150" y="4305300"/>
              <a:chExt cx="3307766" cy="555784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6534150" y="43053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614758" y="43662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889623" y="4358164"/>
                <a:ext cx="28302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σ = (1 2 3)，τ = (1 2)，求 στ 与 τσ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890385" y="4641056"/>
                <a:ext cx="295153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答：στ = (1 3)，τσ = (2 3)（从右往左算）</a:t>
                </a:r>
              </a:p>
            </p:txBody>
          </p:sp>
        </p:grpSp>
        <p:grpSp>
          <p:nvGrpSpPr>
            <p:cNvPr id="63" name="q-5"/>
            <p:cNvGrpSpPr/>
            <p:nvPr/>
          </p:nvGrpSpPr>
          <p:grpSpPr>
            <a:xfrm>
              <a:off x="6534150" y="5029200"/>
              <a:ext cx="3297758" cy="555784"/>
              <a:chOff x="6534150" y="5029200"/>
              <a:chExt cx="3297758" cy="555784"/>
            </a:xfrm>
          </p:grpSpPr>
          <p:sp>
            <p:nvSpPr>
              <p:cNvPr id="59" name="Ellipse 59"/>
              <p:cNvSpPr/>
              <p:nvPr/>
            </p:nvSpPr>
            <p:spPr>
              <a:xfrm>
                <a:off x="6534150" y="50292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6614758" y="50901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889623" y="5082064"/>
                <a:ext cx="29422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(1 3 5 2)(6 8) 是奇置换还是偶置换？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890385" y="5364956"/>
                <a:ext cx="20091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答：3 + 1 = 4 个对换，偶置换</a:t>
                </a:r>
              </a:p>
            </p:txBody>
          </p:sp>
        </p:grpSp>
      </p:grpSp>
      <p:grpSp>
        <p:nvGrpSpPr>
          <p:cNvPr id="7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5" name="Rectangle 6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134999" y="6011704"/>
              <a:ext cx="94066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否定群：指出失败的那一关；肯定群：五步走完。</a:t>
              </a:r>
              <a:r>
                <a:rPr lang="zh-CN" sz="15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下一站 6.3：子群及其陪集——群里还藏着“小群”。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1" name="TextBox 71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6.2 群的定义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m2_6-2_group">
  <a:themeElements>
    <a:clrScheme name="dm2_6-2_group">
      <a:dk1>
        <a:srgbClr val="1F2937"/>
      </a:dk1>
      <a:lt1>
        <a:srgbClr val="FFFFFF"/>
      </a:lt1>
      <a:dk2>
        <a:srgbClr val="1F497D"/>
      </a:dk2>
      <a:lt2>
        <a:srgbClr val="F4F6FB"/>
      </a:lt2>
      <a:accent1>
        <a:srgbClr val="2F4B9A"/>
      </a:accent1>
      <a:accent2>
        <a:srgbClr val="F26B3A"/>
      </a:accent2>
      <a:accent3>
        <a:srgbClr val="14A38B"/>
      </a:accent3>
      <a:accent4>
        <a:srgbClr val="2F4B9A"/>
      </a:accent4>
      <a:accent5>
        <a:srgbClr val="5B6475"/>
      </a:accent5>
      <a:accent6>
        <a:srgbClr val="D9DFEA"/>
      </a:accent6>
      <a:hlink>
        <a:srgbClr val="F26B3A"/>
      </a:hlink>
      <a:folHlink>
        <a:srgbClr val="14A38B"/>
      </a:folHlink>
    </a:clrScheme>
    <a:fontScheme name="dm2_6-2_group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2_6-2_grou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2026-09-16T12:06:06Z</dcterms:created>
  <dcterms:modified xsi:type="dcterms:W3CDTF">2026-09-16T12:06:06Z</dcterms:modified>
  <cp:category/>
  <cp:contentStatus/>
</cp:coreProperties>
</file>