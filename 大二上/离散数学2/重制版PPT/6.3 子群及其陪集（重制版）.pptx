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2_6-3_subgroup_cose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2_6-3_subgroup_cose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cff40b7b5cfa501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5470c990e8b599b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3983907412df6e6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6ac3de5c7de3923.png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858f87dec2aee9.png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239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82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0" name="cover-title"/>
          <p:cNvGrpSpPr/>
          <p:nvPr/>
        </p:nvGrpSpPr>
        <p:grpSpPr>
          <a:xfrm>
            <a:off x="666750" y="1695450"/>
            <a:ext cx="5238201" cy="3318701"/>
            <a:chOff x="666750" y="1695450"/>
            <a:chExt cx="5238201" cy="3318701"/>
          </a:xfrm>
        </p:grpSpPr>
        <p:sp>
          <p:nvSpPr>
            <p:cNvPr id="4" name="Rectangle 4"/>
            <p:cNvSpPr/>
            <p:nvPr/>
          </p:nvSpPr>
          <p:spPr>
            <a:xfrm>
              <a:off x="685800" y="1695450"/>
              <a:ext cx="2971800" cy="3619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70204" y="1813560"/>
              <a:ext cx="2315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离散数学II · 第六章 群、环、域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396490"/>
              <a:ext cx="523820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</a:t>
              </a:r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子群及其陪集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8135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894" y="3599498"/>
              <a:ext cx="3486912" cy="800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大群里藏着小群，</a:t>
              </a:r>
              <a:br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小群把大群</a:t>
              </a:r>
              <a:r>
                <a:rPr lang="zh-CN" sz="19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切成大小相同的块</a:t>
              </a:r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942" y="4750118"/>
              <a:ext cx="3003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子群 → 循环群 → 陪集 → 拉格朗日定理</a:t>
              </a:r>
            </a:p>
          </p:txBody>
        </p:sp>
      </p:grpSp>
      <p:grpSp>
        <p:nvGrpSpPr>
          <p:cNvPr id="12" name="cover-credit"/>
          <p:cNvGrpSpPr/>
          <p:nvPr/>
        </p:nvGrpSpPr>
        <p:grpSpPr>
          <a:xfrm>
            <a:off x="680466" y="6192202"/>
            <a:ext cx="5294928" cy="205359"/>
            <a:chOff x="680466" y="6192202"/>
            <a:chExt cx="5294928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680466" y="6192202"/>
              <a:ext cx="5294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重制讲义 · 自学复习版 ｜ 据吉林大学计算机科学与技术学院《离散数学II》课件整理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592219" cy="960501"/>
            <a:chOff x="519684" y="361950"/>
            <a:chExt cx="559221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开篇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5922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学习地图：从“群”走进“群的内部”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route"/>
          <p:cNvGrpSpPr/>
          <p:nvPr/>
        </p:nvGrpSpPr>
        <p:grpSpPr>
          <a:xfrm>
            <a:off x="533400" y="1866900"/>
            <a:ext cx="11125200" cy="1333881"/>
            <a:chOff x="533400" y="1866900"/>
            <a:chExt cx="11125200" cy="1333881"/>
          </a:xfrm>
        </p:grpSpPr>
        <p:sp>
          <p:nvSpPr>
            <p:cNvPr id="7" name="Freeform 7"/>
            <p:cNvSpPr/>
            <p:nvPr/>
          </p:nvSpPr>
          <p:spPr>
            <a:xfrm>
              <a:off x="533400" y="1866900"/>
              <a:ext cx="2514600" cy="914400"/>
            </a:xfrm>
            <a:prstGeom prst="homePlate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6860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38700" y="1866900"/>
              <a:ext cx="2514600" cy="914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99135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144000" y="1866900"/>
              <a:ext cx="2514600" cy="914400"/>
            </a:xfrm>
            <a:prstGeom prst="chevron">
              <a:avLst/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306068" y="2088832"/>
              <a:ext cx="9374695" cy="582169"/>
              <a:chOff x="1306068" y="2088832"/>
              <a:chExt cx="9374695" cy="582169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4756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0606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代数系统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7425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73018" y="24069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群的定义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952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6.3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543931" y="24069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子群及其陪集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4785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6.4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05712" y="2406968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群的同态与同构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0504" y="2088832"/>
                <a:ext cx="4015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6.5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21836" y="24069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环与域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5562600" y="289560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4727" y="29660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▲ 你在这里</a:t>
              </a:r>
            </a:p>
          </p:txBody>
        </p:sp>
      </p:grpSp>
      <p:grpSp>
        <p:nvGrpSpPr>
          <p:cNvPr id="29" name="chapter-note"/>
          <p:cNvGrpSpPr/>
          <p:nvPr/>
        </p:nvGrpSpPr>
        <p:grpSpPr>
          <a:xfrm>
            <a:off x="526542" y="3352800"/>
            <a:ext cx="11132058" cy="381000"/>
            <a:chOff x="526542" y="3352800"/>
            <a:chExt cx="11132058" cy="381000"/>
          </a:xfrm>
        </p:grpSpPr>
        <p:sp>
          <p:nvSpPr>
            <p:cNvPr id="26" name="TextBox 26"/>
            <p:cNvSpPr txBox="1"/>
            <p:nvPr/>
          </p:nvSpPr>
          <p:spPr>
            <a:xfrm>
              <a:off x="526542" y="345471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6.2 研究“什么是群”，6.3 深入群的内部：哪些子集自己也是群，它们怎样把群分块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86700" y="3352800"/>
              <a:ext cx="3771900" cy="3810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12533" y="3454718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另一条主线：第7章 格与布尔代数</a:t>
              </a:r>
            </a:p>
          </p:txBody>
        </p:sp>
      </p:grpSp>
      <p:grpSp>
        <p:nvGrpSpPr>
          <p:cNvPr id="59" name="goals"/>
          <p:cNvGrpSpPr/>
          <p:nvPr/>
        </p:nvGrpSpPr>
        <p:grpSpPr>
          <a:xfrm>
            <a:off x="525018" y="3936682"/>
            <a:ext cx="11133582" cy="1778318"/>
            <a:chOff x="525018" y="3936682"/>
            <a:chExt cx="11133582" cy="1778318"/>
          </a:xfrm>
        </p:grpSpPr>
        <p:sp>
          <p:nvSpPr>
            <p:cNvPr id="30" name="TextBox 30"/>
            <p:cNvSpPr txBox="1"/>
            <p:nvPr/>
          </p:nvSpPr>
          <p:spPr>
            <a:xfrm>
              <a:off x="525018" y="3936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本册四个目标</a:t>
              </a:r>
            </a:p>
          </p:txBody>
        </p:sp>
        <p:grpSp>
          <p:nvGrpSpPr>
            <p:cNvPr id="37" name="goal-1"/>
            <p:cNvGrpSpPr/>
            <p:nvPr/>
          </p:nvGrpSpPr>
          <p:grpSpPr>
            <a:xfrm>
              <a:off x="533400" y="4267200"/>
              <a:ext cx="2667000" cy="1447800"/>
              <a:chOff x="533400" y="4267200"/>
              <a:chExt cx="2667000" cy="14478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267200"/>
                <a:ext cx="2667000" cy="144780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6666" y="4420552"/>
                <a:ext cx="9506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6.3.1 – 6.3.2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62000" y="46672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74115" y="4750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92530" y="47434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子群与判别条件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55904" y="5128260"/>
                <a:ext cx="12313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会用三个判别条件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证明或否定子群</a:t>
                </a:r>
              </a:p>
            </p:txBody>
          </p:sp>
        </p:grpSp>
        <p:grpSp>
          <p:nvGrpSpPr>
            <p:cNvPr id="44" name="goal-2"/>
            <p:cNvGrpSpPr/>
            <p:nvPr/>
          </p:nvGrpSpPr>
          <p:grpSpPr>
            <a:xfrm>
              <a:off x="3352800" y="4267200"/>
              <a:ext cx="2667000" cy="1447800"/>
              <a:chOff x="3352800" y="4267200"/>
              <a:chExt cx="2667000" cy="14478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3352800" y="4267200"/>
                <a:ext cx="2667000" cy="144780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3576066" y="44205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6.3.3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3581400" y="46672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693515" y="4750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011930" y="47434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循环群与周期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575304" y="5128260"/>
                <a:ext cx="16885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会求元素的周期、生成元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和循环群的全部子群</a:t>
                </a:r>
              </a:p>
            </p:txBody>
          </p:sp>
        </p:grpSp>
        <p:grpSp>
          <p:nvGrpSpPr>
            <p:cNvPr id="51" name="goal-3"/>
            <p:cNvGrpSpPr/>
            <p:nvPr/>
          </p:nvGrpSpPr>
          <p:grpSpPr>
            <a:xfrm>
              <a:off x="6172200" y="4267200"/>
              <a:ext cx="2667000" cy="1447800"/>
              <a:chOff x="6172200" y="4267200"/>
              <a:chExt cx="2667000" cy="14478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172200" y="4267200"/>
                <a:ext cx="2667000" cy="1447800"/>
              </a:xfrm>
              <a:prstGeom prst="roundRect">
                <a:avLst>
                  <a:gd name="adj" fmla="val 1052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395466" y="44205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6.3.4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6400800" y="4667250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512915" y="4750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831330" y="47434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陪集与正规子群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394704" y="5128260"/>
                <a:ext cx="18409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会求有限群的左、右陪集，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会判断正规子群</a:t>
                </a:r>
              </a:p>
            </p:txBody>
          </p:sp>
        </p:grpSp>
        <p:grpSp>
          <p:nvGrpSpPr>
            <p:cNvPr id="58" name="goal-4"/>
            <p:cNvGrpSpPr/>
            <p:nvPr/>
          </p:nvGrpSpPr>
          <p:grpSpPr>
            <a:xfrm>
              <a:off x="8991600" y="4267200"/>
              <a:ext cx="2667000" cy="1447800"/>
              <a:chOff x="8991600" y="4267200"/>
              <a:chExt cx="2667000" cy="14478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8991600" y="4267200"/>
                <a:ext cx="2667000" cy="1447800"/>
              </a:xfrm>
              <a:prstGeom prst="roundRect">
                <a:avLst>
                  <a:gd name="adj" fmla="val 10526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214866" y="4420552"/>
                <a:ext cx="11273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6.3.4 · 本册核心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9220200" y="4667250"/>
                <a:ext cx="342900" cy="342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332315" y="4750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650730" y="47434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拉格朗日定理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214104" y="5128260"/>
                <a:ext cx="18409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会复述证明，并推出周期、</a:t>
                </a:r>
                <a:br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子群元数的整除结论</a:t>
                </a:r>
              </a:p>
            </p:txBody>
          </p:sp>
        </p:grpSp>
      </p:grpSp>
      <p:grpSp>
        <p:nvGrpSpPr>
          <p:cNvPr id="65" name="study-tip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62635" y="5989451"/>
              <a:ext cx="234340" cy="239721"/>
              <a:chOff x="762635" y="5989451"/>
              <a:chExt cx="234340" cy="239721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76300" y="6054725"/>
                <a:ext cx="25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200">
                    <a:moveTo>
                      <a:pt x="0" y="0"/>
                    </a:moveTo>
                    <a:lnTo>
                      <a:pt x="0" y="50800"/>
                    </a:lnTo>
                    <a:lnTo>
                      <a:pt x="254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62635" y="5989451"/>
                <a:ext cx="234340" cy="239721"/>
              </a:xfrm>
              <a:custGeom>
                <a:avLst/>
                <a:gdLst/>
                <a:ahLst/>
                <a:cxnLst/>
                <a:rect l="l" t="t" r="r" b="b"/>
                <a:pathLst>
                  <a:path w="234340" h="239721">
                    <a:moveTo>
                      <a:pt x="0" y="103373"/>
                    </a:moveTo>
                    <a:cubicBezTo>
                      <a:pt x="5892" y="45531"/>
                      <a:pt x="54268" y="1328"/>
                      <a:pt x="112406" y="664"/>
                    </a:cubicBezTo>
                    <a:cubicBezTo>
                      <a:pt x="170544" y="0"/>
                      <a:pt x="219917" y="43086"/>
                      <a:pt x="227128" y="100779"/>
                    </a:cubicBezTo>
                    <a:cubicBezTo>
                      <a:pt x="234340" y="158472"/>
                      <a:pt x="197092" y="212386"/>
                      <a:pt x="140580" y="226053"/>
                    </a:cubicBezTo>
                    <a:cubicBezTo>
                      <a:pt x="84067" y="239721"/>
                      <a:pt x="26299" y="208786"/>
                      <a:pt x="6350" y="154173"/>
                    </a:cubicBezTo>
                    <a:moveTo>
                      <a:pt x="0" y="217673"/>
                    </a:moveTo>
                    <a:lnTo>
                      <a:pt x="0" y="154173"/>
                    </a:lnTo>
                    <a:lnTo>
                      <a:pt x="63500" y="154173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135380" y="6019800"/>
              <a:ext cx="85164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前置知识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复习 6.2 的单位元、逆元与置换；本册置换乘积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从右往左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算：(στ)(x) = σ(τ(x))。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6" name="TextBox 66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2942044" cy="1885379"/>
            <a:chOff x="743712" y="1866900"/>
            <a:chExt cx="2942044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71" y="195643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第一部分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2933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大群里自成一体的“小群”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3804285" cy="1747647"/>
            <a:chOff x="755142" y="4102418"/>
            <a:chExt cx="3804285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3778377" cy="363665"/>
              <a:chOff x="781050" y="4457700"/>
              <a:chExt cx="3778377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什么是子群、真子群、平凡子群？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3778377" cy="363665"/>
              <a:chOff x="781050" y="4972050"/>
              <a:chExt cx="3778377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怎样用最少的条件判定一个子群？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3334131" cy="363665"/>
              <a:chOff x="781050" y="5486400"/>
              <a:chExt cx="3334131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290436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判别条件在证明题里怎么用？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9767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6.3 子群及其陪集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72406" cy="960501"/>
            <a:chOff x="519684" y="361950"/>
            <a:chExt cx="517240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7240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子群：大群里自成一体的“小群”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definition"/>
          <p:cNvGrpSpPr/>
          <p:nvPr/>
        </p:nvGrpSpPr>
        <p:grpSpPr>
          <a:xfrm>
            <a:off x="533400" y="1485900"/>
            <a:ext cx="7315200" cy="1657350"/>
            <a:chOff x="533400" y="1485900"/>
            <a:chExt cx="7315200" cy="165735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7315200" cy="1657350"/>
            </a:xfrm>
            <a:prstGeom prst="roundRect">
              <a:avLst>
                <a:gd name="adj" fmla="val 919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352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 · 真子群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85975"/>
              <a:ext cx="545401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是一个群，H ⊆ G。如果按照 G 中的乘法运算 ·，</a:t>
              </a:r>
              <a:br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(H, ·) 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仍是一个群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，则称 (H, ·) 是 (G, ·) 的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子群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G 的子群 H ≠ G，即 H ⊂ G，则称 (H, ·) 是 (G, ·) 的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真子群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note-operation"/>
          <p:cNvGrpSpPr/>
          <p:nvPr/>
        </p:nvGrpSpPr>
        <p:grpSpPr>
          <a:xfrm>
            <a:off x="533400" y="3257550"/>
            <a:ext cx="7315200" cy="971550"/>
            <a:chOff x="533400" y="3257550"/>
            <a:chExt cx="7315200" cy="971550"/>
          </a:xfrm>
        </p:grpSpPr>
        <p:sp>
          <p:nvSpPr>
            <p:cNvPr id="14" name="Rectangle 14"/>
            <p:cNvSpPr/>
            <p:nvPr/>
          </p:nvSpPr>
          <p:spPr>
            <a:xfrm>
              <a:off x="533400" y="3257550"/>
              <a:ext cx="7315200" cy="971550"/>
            </a:xfrm>
            <a:prstGeom prst="roundRect">
              <a:avLst>
                <a:gd name="adj" fmla="val 1568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5800" y="3409950"/>
              <a:ext cx="47625" cy="6667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4400" y="33909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1560" y="34518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31442" y="3445192"/>
              <a:ext cx="2608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子群的运算必须与 G 的运算一样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542" y="3854768"/>
              <a:ext cx="5348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C* ⊆ C，但 (C*, ·) 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(C, +) 的子群——运算换了，不能混用。</a:t>
              </a:r>
            </a:p>
          </p:txBody>
        </p:sp>
      </p:grpSp>
      <p:grpSp>
        <p:nvGrpSpPr>
          <p:cNvPr id="23" name="analogy"/>
          <p:cNvGrpSpPr/>
          <p:nvPr/>
        </p:nvGrpSpPr>
        <p:grpSpPr>
          <a:xfrm>
            <a:off x="8077200" y="1485900"/>
            <a:ext cx="3581400" cy="2772156"/>
            <a:chOff x="8077200" y="1485900"/>
            <a:chExt cx="3581400" cy="2772156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0" t="5319" r="0" b="5319"/>
            <a:stretch>
              <a:fillRect/>
            </a:stretch>
          </p:blipFill>
          <p:spPr>
            <a:xfrm>
              <a:off x="8077200" y="1485900"/>
              <a:ext cx="3581400" cy="2400300"/>
            </a:xfrm>
            <a:prstGeom prst="roundRect">
              <a:avLst>
                <a:gd name="adj" fmla="val 6349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407908" y="40233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小跑道自成一圈：沿着跑，永远不离开它</a:t>
              </a:r>
            </a:p>
          </p:txBody>
        </p:sp>
      </p:grpSp>
      <p:grpSp>
        <p:nvGrpSpPr>
          <p:cNvPr id="33" name="examples"/>
          <p:cNvGrpSpPr/>
          <p:nvPr/>
        </p:nvGrpSpPr>
        <p:grpSpPr>
          <a:xfrm>
            <a:off x="533400" y="4343400"/>
            <a:ext cx="11125200" cy="1371600"/>
            <a:chOff x="533400" y="4343400"/>
            <a:chExt cx="11125200" cy="1371600"/>
          </a:xfrm>
        </p:grpSpPr>
        <p:sp>
          <p:nvSpPr>
            <p:cNvPr id="24" name="Rectangle 24"/>
            <p:cNvSpPr/>
            <p:nvPr/>
          </p:nvSpPr>
          <p:spPr>
            <a:xfrm>
              <a:off x="533400" y="4343400"/>
              <a:ext cx="111252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44577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3732" y="45186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6642" y="45119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常见的子群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5142" y="4864418"/>
              <a:ext cx="4068508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(mZ, +) 是整数加法群 (Z, +) 的子群（m 为整数）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(C, +) 以 (R, +)、(Q, +)、(Z, +) 为真子群</a:t>
              </a:r>
            </a:p>
            <a:p>
              <a:pPr algn="l" marL="145732" indent="-145732">
                <a:lnSpc>
                  <a:spcPts val="22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(C*, ·) 以 (R*, ·)、(Q*, ·) 为真子群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5943600" y="48768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65342" y="4864418"/>
              <a:ext cx="3666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行列式等于 1 的全体 n 阶矩阵，是实数域上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7742" y="515016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全体 n 阶非奇异矩阵乘法群的真子群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5342" y="5435918"/>
              <a:ext cx="4310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次交代群 Aₙ 是 n 次对称群 Sₙ 的真子群（n &gt; 1）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34" name="Rectangle 3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55650" y="5991225"/>
              <a:ext cx="241300" cy="228600"/>
              <a:chOff x="755650" y="5991225"/>
              <a:chExt cx="241300" cy="228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255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56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953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134618" y="6003608"/>
              <a:ext cx="59335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判断子群看两件事：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 ⊆ G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；按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的运算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，H 自己也构成群。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662172" cy="960501"/>
            <a:chOff x="519684" y="361950"/>
            <a:chExt cx="366217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平凡子群与四个小问题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definition"/>
          <p:cNvGrpSpPr/>
          <p:nvPr/>
        </p:nvGrpSpPr>
        <p:grpSpPr>
          <a:xfrm>
            <a:off x="533400" y="1485900"/>
            <a:ext cx="11125200" cy="838200"/>
            <a:chOff x="533400" y="1485900"/>
            <a:chExt cx="11125200" cy="8382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838200"/>
            </a:xfrm>
            <a:prstGeom prst="roundRect">
              <a:avLst>
                <a:gd name="adj" fmla="val 1818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7716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832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8780" y="1809750"/>
              <a:ext cx="26837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任一群 G 都有两个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平凡子群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24400" y="1733550"/>
              <a:ext cx="1676400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06215" y="1816418"/>
              <a:ext cx="111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单位子群 {1}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545580" y="1809750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0" y="17335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155214" y="1816418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本身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3880" y="18097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；其余子群称为</a:t>
              </a: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非平凡子群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6" name="q-1"/>
          <p:cNvGrpSpPr/>
          <p:nvPr/>
        </p:nvGrpSpPr>
        <p:grpSpPr>
          <a:xfrm>
            <a:off x="533400" y="2514600"/>
            <a:ext cx="5486400" cy="1543050"/>
            <a:chOff x="533400" y="2514600"/>
            <a:chExt cx="5486400" cy="1543050"/>
          </a:xfrm>
        </p:grpSpPr>
        <p:sp>
          <p:nvSpPr>
            <p:cNvPr id="19" name="Rectangle 19"/>
            <p:cNvSpPr/>
            <p:nvPr/>
          </p:nvSpPr>
          <p:spPr>
            <a:xfrm>
              <a:off x="533400" y="2514600"/>
              <a:ext cx="5486400" cy="1543050"/>
            </a:xfrm>
            <a:prstGeom prst="roundRect">
              <a:avLst>
                <a:gd name="adj" fmla="val 98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26479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743" y="27089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02842" y="2702242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偶数加法群是整数加法群的非平凡子群吗？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09625" y="31146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180" y="3076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是非平凡子群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3451860"/>
              <a:ext cx="421081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(2Z, +) 是 (Z, +) 的子群：偶数之差仍是偶数（判别条件二）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并且 2Z ≠ {0}，2Z ≠ Z，所以是非平凡的</a:t>
              </a:r>
            </a:p>
          </p:txBody>
        </p:sp>
      </p:grpSp>
      <p:grpSp>
        <p:nvGrpSpPr>
          <p:cNvPr id="36" name="q-2"/>
          <p:cNvGrpSpPr/>
          <p:nvPr/>
        </p:nvGrpSpPr>
        <p:grpSpPr>
          <a:xfrm>
            <a:off x="6172200" y="2514600"/>
            <a:ext cx="5486400" cy="1543050"/>
            <a:chOff x="6172200" y="2514600"/>
            <a:chExt cx="5486400" cy="1543050"/>
          </a:xfrm>
        </p:grpSpPr>
        <p:sp>
          <p:nvSpPr>
            <p:cNvPr id="27" name="Rectangle 27"/>
            <p:cNvSpPr/>
            <p:nvPr/>
          </p:nvSpPr>
          <p:spPr>
            <a:xfrm>
              <a:off x="6172200" y="2514600"/>
              <a:ext cx="5486400" cy="1543050"/>
            </a:xfrm>
            <a:prstGeom prst="roundRect">
              <a:avLst>
                <a:gd name="adj" fmla="val 98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00800" y="26479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08543" y="27089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41642" y="2702242"/>
              <a:ext cx="3335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是否任意群 G 都有两个不同的平凡子群？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6457950" y="3105150"/>
              <a:ext cx="114300" cy="114300"/>
              <a:chOff x="6457950" y="3105150"/>
              <a:chExt cx="114300" cy="1143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7950" y="3105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457950" y="31051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697980" y="3076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不一定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94704" y="3451860"/>
              <a:ext cx="37383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= {1}（只含单位元的群）时，{1} 与 G 是同一个子群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只有 |G| ≥ 2 时，两个平凡子群才互不相同</a:t>
              </a:r>
            </a:p>
          </p:txBody>
        </p:sp>
      </p:grpSp>
      <p:grpSp>
        <p:nvGrpSpPr>
          <p:cNvPr id="60" name="q-3"/>
          <p:cNvGrpSpPr/>
          <p:nvPr/>
        </p:nvGrpSpPr>
        <p:grpSpPr>
          <a:xfrm>
            <a:off x="533400" y="4171950"/>
            <a:ext cx="5486400" cy="1543050"/>
            <a:chOff x="533400" y="4171950"/>
            <a:chExt cx="5486400" cy="1543050"/>
          </a:xfrm>
        </p:grpSpPr>
        <p:sp>
          <p:nvSpPr>
            <p:cNvPr id="37" name="Rectangle 37"/>
            <p:cNvSpPr/>
            <p:nvPr/>
          </p:nvSpPr>
          <p:spPr>
            <a:xfrm>
              <a:off x="533400" y="4171950"/>
              <a:ext cx="5486400" cy="1543050"/>
            </a:xfrm>
            <a:prstGeom prst="roundRect">
              <a:avLst>
                <a:gd name="adj" fmla="val 98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4305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9743" y="4366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 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02842" y="4359592"/>
              <a:ext cx="367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{0, 1, 2, 3, 4, 5}，⊕₆ 为模 6 加法；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5142" y="4607242"/>
              <a:ext cx="3181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= {0, 2, 4} 是 S 的非平凡子群吗？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09625" y="49434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rgbClr val="0F7A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9180" y="4905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5904" y="5223510"/>
              <a:ext cx="266395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封闭：2⊕₆2 = 4，2⊕₆4 = 0，4⊕₆4 = 2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有逆：0 ↔ 0，2 ↔ 4；且 A ≠ {0}，A ≠ S</a:t>
              </a:r>
            </a:p>
          </p:txBody>
        </p:sp>
        <p:grpSp>
          <p:nvGrpSpPr>
            <p:cNvPr id="59" name="ring-6"/>
            <p:cNvGrpSpPr/>
            <p:nvPr/>
          </p:nvGrpSpPr>
          <p:grpSpPr>
            <a:xfrm>
              <a:off x="4868751" y="4382452"/>
              <a:ext cx="1044798" cy="1310259"/>
              <a:chOff x="4868751" y="4382452"/>
              <a:chExt cx="1044798" cy="1310259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5010150" y="4619625"/>
                <a:ext cx="762000" cy="762000"/>
              </a:xfrm>
              <a:prstGeom prst="ellipse">
                <a:avLst/>
              </a:prstGeom>
              <a:noFill/>
              <a:ln w="28575">
                <a:solidFill>
                  <a:schemeClr val="accent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5061585" y="4619625"/>
                <a:ext cx="65913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659130" h="571500">
                    <a:moveTo>
                      <a:pt x="329565" y="0"/>
                    </a:moveTo>
                    <a:lnTo>
                      <a:pt x="659130" y="571500"/>
                    </a:lnTo>
                    <a:lnTo>
                      <a:pt x="0" y="571500"/>
                    </a:lnTo>
                    <a:close/>
                  </a:path>
                </a:pathLst>
              </a:cu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5324475" y="4552950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5663565" y="4752975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rgbClr val="5B6475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5654040" y="5124450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5334000" y="5324475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rgbClr val="5B6475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4994910" y="5124450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5004435" y="4752975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rgbClr val="5B6475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5345001" y="43824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5823194" y="46586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821251" y="52111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346944" y="5487352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868751" y="52111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870694" y="46586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</p:grpSp>
      </p:grpSp>
      <p:grpSp>
        <p:nvGrpSpPr>
          <p:cNvPr id="84" name="q-4"/>
          <p:cNvGrpSpPr/>
          <p:nvPr/>
        </p:nvGrpSpPr>
        <p:grpSpPr>
          <a:xfrm>
            <a:off x="6172200" y="4171950"/>
            <a:ext cx="5486400" cy="1543050"/>
            <a:chOff x="6172200" y="4171950"/>
            <a:chExt cx="5486400" cy="1543050"/>
          </a:xfrm>
        </p:grpSpPr>
        <p:sp>
          <p:nvSpPr>
            <p:cNvPr id="61" name="Rectangle 61"/>
            <p:cNvSpPr/>
            <p:nvPr/>
          </p:nvSpPr>
          <p:spPr>
            <a:xfrm>
              <a:off x="6172200" y="4171950"/>
              <a:ext cx="5486400" cy="1543050"/>
            </a:xfrm>
            <a:prstGeom prst="roundRect">
              <a:avLst>
                <a:gd name="adj" fmla="val 98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00800" y="43053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08543" y="43662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 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41642" y="4359592"/>
              <a:ext cx="3395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{0, 1, 2, 3, 4}，⊕₅ 为模 5 加法；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93942" y="4607242"/>
              <a:ext cx="2636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= {0, 2, 4} 是 S 的子群吗？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6457950" y="4933950"/>
              <a:ext cx="114300" cy="114300"/>
              <a:chOff x="6457950" y="4933950"/>
              <a:chExt cx="114300" cy="11430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457950" y="49339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457950" y="49339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1143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6697980" y="4905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94704" y="5223510"/>
              <a:ext cx="24048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不封闭：2 ⊕₅ 4 = 1 ∉ A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学完拉格朗日定理更快：3 不整除 5</a:t>
              </a:r>
            </a:p>
          </p:txBody>
        </p:sp>
        <p:grpSp>
          <p:nvGrpSpPr>
            <p:cNvPr id="83" name="ring-5"/>
            <p:cNvGrpSpPr/>
            <p:nvPr/>
          </p:nvGrpSpPr>
          <p:grpSpPr>
            <a:xfrm>
              <a:off x="10383726" y="4382452"/>
              <a:ext cx="1140048" cy="1205485"/>
              <a:chOff x="10383726" y="4382452"/>
              <a:chExt cx="1140048" cy="1205485"/>
            </a:xfrm>
          </p:grpSpPr>
          <p:sp>
            <p:nvSpPr>
              <p:cNvPr id="71" name="Ellipse 71"/>
              <p:cNvSpPr/>
              <p:nvPr/>
            </p:nvSpPr>
            <p:spPr>
              <a:xfrm>
                <a:off x="10572750" y="4619625"/>
                <a:ext cx="762000" cy="762000"/>
              </a:xfrm>
              <a:prstGeom prst="ellipse">
                <a:avLst/>
              </a:prstGeom>
              <a:noFill/>
              <a:ln w="28575">
                <a:solidFill>
                  <a:schemeClr val="accent6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10591800" y="4619625"/>
                <a:ext cx="585788" cy="689610"/>
              </a:xfrm>
              <a:custGeom>
                <a:avLst/>
                <a:gdLst/>
                <a:ahLst/>
                <a:cxnLst/>
                <a:rect l="l" t="t" r="r" b="b"/>
                <a:pathLst>
                  <a:path w="585788" h="689610">
                    <a:moveTo>
                      <a:pt x="361950" y="0"/>
                    </a:moveTo>
                    <a:lnTo>
                      <a:pt x="585788" y="689610"/>
                    </a:lnTo>
                    <a:lnTo>
                      <a:pt x="0" y="262890"/>
                    </a:lnTo>
                    <a:close/>
                  </a:path>
                </a:pathLst>
              </a:custGeom>
              <a:solidFill>
                <a:srgbClr val="E8EDF8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0887075" y="455295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1239500" y="4806315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11110912" y="524256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6" name="Ellipse 76"/>
              <p:cNvSpPr/>
              <p:nvPr/>
            </p:nvSpPr>
            <p:spPr>
              <a:xfrm>
                <a:off x="10672762" y="5252085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 w="14288">
                <a:solidFill>
                  <a:srgbClr val="5B6475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10525125" y="4815840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10907601" y="43824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1431476" y="47634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1231451" y="53825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0585694" y="5382578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10383726" y="476345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9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5" name="Rectangle 8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62000" y="5991225"/>
              <a:ext cx="228599" cy="228599"/>
              <a:chOff x="762000" y="5991225"/>
              <a:chExt cx="228599" cy="228599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62000" y="5991225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57250" y="6064864"/>
                <a:ext cx="46578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46578" h="53396">
                    <a:moveTo>
                      <a:pt x="19050" y="53360"/>
                    </a:moveTo>
                    <a:cubicBezTo>
                      <a:pt x="30808" y="53396"/>
                      <a:pt x="41053" y="45356"/>
                      <a:pt x="43815" y="33927"/>
                    </a:cubicBezTo>
                    <a:cubicBezTo>
                      <a:pt x="46578" y="22498"/>
                      <a:pt x="41134" y="10667"/>
                      <a:pt x="30658" y="5329"/>
                    </a:cubicBezTo>
                    <a:cubicBezTo>
                      <a:pt x="20255" y="0"/>
                      <a:pt x="7552" y="2542"/>
                      <a:pt x="0" y="11463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134618" y="6003608"/>
              <a:ext cx="75689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判断具体子集：先验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封闭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、再验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逆元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；找到一个跑出集合的结果，就能否定。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2" name="TextBox 92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933438" cy="960501"/>
            <a:chOff x="519684" y="361950"/>
            <a:chExt cx="693343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判别条件一：非空、封闭、有逆，三条就够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theorem"/>
          <p:cNvGrpSpPr/>
          <p:nvPr/>
        </p:nvGrpSpPr>
        <p:grpSpPr>
          <a:xfrm>
            <a:off x="533400" y="1485900"/>
            <a:ext cx="11125200" cy="1143000"/>
            <a:chOff x="533400" y="1485900"/>
            <a:chExt cx="11125200" cy="1143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11430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838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5071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判别条件一：群 G 的一个子集 H 是 G 的子群的充分必要条件是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2019300"/>
              <a:ext cx="33909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9180" y="2152650"/>
              <a:ext cx="2867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(1)</a:t>
              </a:r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 若 a ∈ H，b ∈ H，则 ab ∈ H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57700" y="2019300"/>
              <a:ext cx="28575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02480" y="2152650"/>
              <a:ext cx="2318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(2)</a:t>
              </a:r>
              <a:r>
                <a:rPr lang="zh-CN" sz="15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 xml:space="preserve"> 若 a ∈ H，则 a⁻¹ ∈ 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67600" y="2019300"/>
              <a:ext cx="1676400" cy="438150"/>
            </a:xfrm>
            <a:prstGeom prst="roundRect">
              <a:avLst>
                <a:gd name="adj" fmla="val 2608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12380" y="2152650"/>
              <a:ext cx="1014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(3)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H 非空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28404" y="21850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结合律、单位元无需另验</a:t>
              </a:r>
            </a:p>
          </p:txBody>
        </p:sp>
      </p:grpSp>
      <p:grpSp>
        <p:nvGrpSpPr>
          <p:cNvPr id="38" name="necessity"/>
          <p:cNvGrpSpPr/>
          <p:nvPr/>
        </p:nvGrpSpPr>
        <p:grpSpPr>
          <a:xfrm>
            <a:off x="533400" y="2781300"/>
            <a:ext cx="5524500" cy="2933700"/>
            <a:chOff x="533400" y="2781300"/>
            <a:chExt cx="5524500" cy="2933700"/>
          </a:xfrm>
        </p:grpSpPr>
        <p:sp>
          <p:nvSpPr>
            <p:cNvPr id="20" name="Rectangle 20"/>
            <p:cNvSpPr/>
            <p:nvPr/>
          </p:nvSpPr>
          <p:spPr>
            <a:xfrm>
              <a:off x="533400" y="2781300"/>
              <a:ext cx="5524500" cy="2933700"/>
            </a:xfrm>
            <a:prstGeom prst="roundRect">
              <a:avLst>
                <a:gd name="adj" fmla="val 51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29146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4588" y="2975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必要性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31442" y="2968942"/>
              <a:ext cx="1894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是子群 ⇒ (1)(2)(3)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904" y="3280410"/>
              <a:ext cx="3331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(1)、(3) 由子群的定义显然成立，只需证 (2)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952500" y="3714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31" name="nec-step-1"/>
            <p:cNvGrpSpPr/>
            <p:nvPr/>
          </p:nvGrpSpPr>
          <p:grpSpPr>
            <a:xfrm>
              <a:off x="809625" y="3571875"/>
              <a:ext cx="4621330" cy="937508"/>
              <a:chOff x="809625" y="3571875"/>
              <a:chExt cx="4621330" cy="937508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809625" y="35718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99758" y="3642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212342" y="3626168"/>
                <a:ext cx="27795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先证：H 的单位元就是 G 的单位元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Box 29"/>
                  <p:cNvSpPr txBox="1"/>
                  <p:nvPr/>
                </p:nvSpPr>
                <p:spPr>
                  <a:xfrm>
                    <a:off x="1212342" y="3930968"/>
                    <a:ext cx="4218613" cy="292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任取 a ∈ H：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，此式在 G 中也成立；右乘 a⁻¹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Box 30"/>
                  <p:cNvSpPr txBox="1"/>
                  <p:nvPr/>
                </p:nvSpPr>
                <p:spPr>
                  <a:xfrm>
                    <a:off x="1212342" y="4169226"/>
                    <a:ext cx="3706157" cy="34015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chemeClr val="dk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，即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b>
                        </m:sSub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，故 </a:t>
                    </a:r>
                    <a14:m>
                      <m:oMath xmlns:a="http://schemas.openxmlformats.org/drawingml/2006/main" xmlns:m="http://schemas.openxmlformats.org/officeDocument/2006/math">
                        <m:sSub>
                          <m:e>
                            <m:r>
                              <a:rPr lang="zh-CN" sz="1350" dirty="0">
                                <a:solidFill>
                                  <a:schemeClr val="accent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accent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accent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chemeClr val="accent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accent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</m:oMath>
                    </a14:m>
                  </a:p>
                </p:txBody>
              </p:sp>
            </mc:Choice>
          </mc:AlternateContent>
        </p:grpSp>
        <p:grpSp>
          <p:nvGrpSpPr>
            <p:cNvPr id="37" name="nec-step-2"/>
            <p:cNvGrpSpPr/>
            <p:nvPr/>
          </p:nvGrpSpPr>
          <p:grpSpPr>
            <a:xfrm>
              <a:off x="809625" y="4543425"/>
              <a:ext cx="4045185" cy="937507"/>
              <a:chOff x="809625" y="4543425"/>
              <a:chExt cx="4045185" cy="937507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809625" y="454342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99758" y="46139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12342" y="4597718"/>
                <a:ext cx="12162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再证：a⁻¹ ∈ H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Box 35"/>
                  <p:cNvSpPr txBox="1"/>
                  <p:nvPr/>
                </p:nvSpPr>
                <p:spPr>
                  <a:xfrm>
                    <a:off x="1212342" y="4902518"/>
                    <a:ext cx="3590077" cy="292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H 是群，有 b ∈ H 使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；左乘 a⁻¹</a:t>
                    </a:r>
                  </a:p>
                </p:txBody>
              </p:sp>
            </mc:Choice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Box 36"/>
                  <p:cNvSpPr txBox="1"/>
                  <p:nvPr/>
                </p:nvSpPr>
                <p:spPr>
                  <a:xfrm>
                    <a:off x="1212342" y="5149348"/>
                    <a:ext cx="3642468" cy="33158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 xmlns:a="http://schemas.openxmlformats.org/drawingml/2006/main" xmlns:m="http://schemas.openxmlformats.org/officeDocument/2006/math"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，所以 </a:t>
                    </a:r>
                    <a:r>
                      <a:rPr lang="en-US" sz="1350" b="1" dirty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rPr>
                      <a:t>a⁻¹ ∈ H</a:t>
                    </a:r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>，(2) 成立 ∎</a:t>
                    </a:r>
                  </a:p>
                </p:txBody>
              </p:sp>
            </mc:Choice>
          </mc:AlternateContent>
        </p:grpSp>
      </p:grpSp>
      <p:grpSp>
        <p:nvGrpSpPr>
          <p:cNvPr id="61" name="sufficiency"/>
          <p:cNvGrpSpPr/>
          <p:nvPr/>
        </p:nvGrpSpPr>
        <p:grpSpPr>
          <a:xfrm>
            <a:off x="6172200" y="2781300"/>
            <a:ext cx="5486400" cy="2933700"/>
            <a:chOff x="6172200" y="2781300"/>
            <a:chExt cx="5486400" cy="2933700"/>
          </a:xfrm>
        </p:grpSpPr>
        <p:sp>
          <p:nvSpPr>
            <p:cNvPr id="39" name="Rectangle 39"/>
            <p:cNvSpPr/>
            <p:nvPr/>
          </p:nvSpPr>
          <p:spPr>
            <a:xfrm>
              <a:off x="6172200" y="2781300"/>
              <a:ext cx="5486400" cy="2933700"/>
            </a:xfrm>
            <a:prstGeom prst="roundRect">
              <a:avLst>
                <a:gd name="adj" fmla="val 51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00800" y="2914650"/>
              <a:ext cx="7620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33388" y="29756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充分性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70242" y="2968942"/>
              <a:ext cx="2373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(1)(2)(3) ⇒ H 是 G 的子群</a:t>
              </a:r>
            </a:p>
          </p:txBody>
        </p:sp>
        <p:grpSp>
          <p:nvGrpSpPr>
            <p:cNvPr id="58" name="suf-steps"/>
            <p:cNvGrpSpPr/>
            <p:nvPr/>
          </p:nvGrpSpPr>
          <p:grpSpPr>
            <a:xfrm>
              <a:off x="6429375" y="3362325"/>
              <a:ext cx="4233624" cy="1747076"/>
              <a:chOff x="6429375" y="3362325"/>
              <a:chExt cx="4233624" cy="1747076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6429375" y="336232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507051" y="3420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74942" y="3397568"/>
                <a:ext cx="109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非空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：由 (3)</a:t>
                </a:r>
              </a:p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6429375" y="37242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507051" y="37823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774942" y="3759518"/>
                <a:ext cx="109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封闭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：由 (1)</a:t>
                </a:r>
              </a:p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429375" y="408622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507051" y="41443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774942" y="4121468"/>
                <a:ext cx="31238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结合律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：G 中成立，子集 H 中自然成立</a:t>
                </a:r>
              </a:p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6429375" y="44481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507051" y="45062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774942" y="4483418"/>
                <a:ext cx="32536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单位元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：a ∈ H ⇒ a⁻¹ ∈ H ⇒ aa⁻¹ = 1 ∈ H</a:t>
                </a:r>
              </a:p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6429375" y="481012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507051" y="48682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774942" y="4845368"/>
                <a:ext cx="38880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逆元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：a⁻¹ ∈ H 且 a⁻¹a = 1，就是 a 在 H 中的逆</a:t>
                </a:r>
              </a:p>
            </p:txBody>
          </p:sp>
        </p:grpSp>
        <p:sp>
          <p:nvSpPr>
            <p:cNvPr id="59" name="Freeform 59"/>
            <p:cNvSpPr/>
            <p:nvPr/>
          </p:nvSpPr>
          <p:spPr>
            <a:xfrm>
              <a:off x="6452394" y="5310981"/>
              <a:ext cx="154781" cy="103187"/>
            </a:xfrm>
            <a:custGeom>
              <a:avLst/>
              <a:gdLst/>
              <a:ahLst/>
              <a:cxnLst/>
              <a:rect l="l" t="t" r="r" b="b"/>
              <a:pathLst>
                <a:path w="154781" h="103187">
                  <a:moveTo>
                    <a:pt x="0" y="51594"/>
                  </a:moveTo>
                  <a:lnTo>
                    <a:pt x="51594" y="103187"/>
                  </a:lnTo>
                  <a:lnTo>
                    <a:pt x="154781" y="0"/>
                  </a:lnTo>
                </a:path>
              </a:pathLst>
            </a:custGeom>
            <a:noFill/>
            <a:ln w="20637">
              <a:solidFill>
                <a:srgbClr val="0F7A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36842" y="5283518"/>
              <a:ext cx="3415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所以 H 在 G 的运算下是群，即 G 的子群 ∎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34618" y="6003608"/>
              <a:ext cx="79758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推论：子群 H 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单位元就是 G 的单位元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；a 在 H 中的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逆元就是它在 G 中的逆元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8" name="TextBox 68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662172" cy="960501"/>
            <a:chOff x="519684" y="361950"/>
            <a:chExt cx="366217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判别条件一的两个应用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example-union"/>
          <p:cNvGrpSpPr/>
          <p:nvPr/>
        </p:nvGrpSpPr>
        <p:grpSpPr>
          <a:xfrm>
            <a:off x="533400" y="1485900"/>
            <a:ext cx="5486400" cy="4229100"/>
            <a:chOff x="533400" y="1485900"/>
            <a:chExt cx="54864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7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2842" y="167354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两个互不包含的子群，拼不出整个群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25968"/>
              <a:ext cx="454856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(H₁, ·)、(H₂, ·) 是群 (G, ·) 的两个互不包含的子群，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证明：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H₁ ∪ H₂ ≠ G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grpSp>
          <p:nvGrpSpPr>
            <p:cNvPr id="26" name="venn"/>
            <p:cNvGrpSpPr/>
            <p:nvPr/>
          </p:nvGrpSpPr>
          <p:grpSpPr>
            <a:xfrm>
              <a:off x="762000" y="2571750"/>
              <a:ext cx="5029200" cy="1254061"/>
              <a:chOff x="762000" y="2571750"/>
              <a:chExt cx="5029200" cy="1254061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2571750"/>
                <a:ext cx="5029200" cy="1238250"/>
              </a:xfrm>
              <a:prstGeom prst="roundRect">
                <a:avLst>
                  <a:gd name="adj" fmla="val 9231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08304" y="26898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885950" y="2686050"/>
                <a:ext cx="1028700" cy="1028700"/>
              </a:xfrm>
              <a:prstGeom prst="ellipse">
                <a:avLst/>
              </a:prstGeom>
              <a:solidFill>
                <a:srgbClr val="E8EDF8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705100" y="2686050"/>
                <a:ext cx="1028700" cy="1028700"/>
              </a:xfrm>
              <a:prstGeom prst="ellipse">
                <a:avLst/>
              </a:prstGeom>
              <a:solidFill>
                <a:srgbClr val="E3F5F1">
                  <a:alpha val="70000"/>
                </a:srgbClr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670304" y="2689860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H₁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803904" y="3223260"/>
                <a:ext cx="2093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H₂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2085975" y="3171825"/>
                <a:ext cx="133350" cy="1333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099908" y="3394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x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3400425" y="31718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414358" y="3394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y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209800" y="2698750"/>
                <a:ext cx="2609850" cy="444500"/>
              </a:xfrm>
              <a:custGeom>
                <a:avLst/>
                <a:gdLst/>
                <a:ahLst/>
                <a:cxnLst/>
                <a:rect l="l" t="t" r="r" b="b"/>
                <a:pathLst>
                  <a:path w="2609850" h="444500">
                    <a:moveTo>
                      <a:pt x="0" y="444500"/>
                    </a:moveTo>
                    <a:cubicBezTo>
                      <a:pt x="939800" y="12700"/>
                      <a:pt x="1809750" y="0"/>
                      <a:pt x="2609850" y="4064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300000" sp="250000"/>
                </a:custDash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791075" y="311467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77412" y="3394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xy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47413" y="362045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在两个圆之外</a:t>
                </a:r>
              </a:p>
            </p:txBody>
          </p:sp>
        </p:grpSp>
        <p:grpSp>
          <p:nvGrpSpPr>
            <p:cNvPr id="39" name="union-steps"/>
            <p:cNvGrpSpPr/>
            <p:nvPr/>
          </p:nvGrpSpPr>
          <p:grpSpPr>
            <a:xfrm>
              <a:off x="781050" y="3924300"/>
              <a:ext cx="4521460" cy="1375601"/>
              <a:chOff x="781050" y="3924300"/>
              <a:chExt cx="4521460" cy="1375601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1050" y="39243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49201" y="39728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98042" y="3950018"/>
                <a:ext cx="42044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取 x ∈ H₁ 且 x ∉ H₂，y ∈ H₂ 且 y ∉ H₁（互不包含）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81050" y="4286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49201" y="43348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98042" y="4311968"/>
                <a:ext cx="39713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 xy ∈ H₁：x⁻¹ ∈ H₁ ⇒ y = x⁻¹(xy) ∈ H₁，</a:t>
                </a:r>
                <a:r>
                  <a:rPr lang="zh-CN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矛盾</a:t>
                </a:r>
              </a:p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781050" y="46482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9201" y="46967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98042" y="4673918"/>
                <a:ext cx="39713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 xy ∈ H₂：y⁻¹ ∈ H₂ ⇒ x = (xy)y⁻¹ ∈ H₂，</a:t>
                </a:r>
                <a:r>
                  <a:rPr lang="zh-CN" sz="13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矛盾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781050" y="5010150"/>
                <a:ext cx="228600" cy="2286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49201" y="50587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98042" y="5035868"/>
                <a:ext cx="34627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xy ∈ G 但 xy ∉ H₁ ∪ H₂，故 </a:t>
                </a:r>
                <a:r>
                  <a:rPr lang="en-US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H₁ ∪ H₂ ≠ G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∎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755904" y="5414010"/>
              <a:ext cx="4180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关键一步：子群对求逆封闭，能把 xy “乘回去”变成 y 或 x</a:t>
              </a:r>
            </a:p>
          </p:txBody>
        </p:sp>
      </p:grpSp>
      <p:grpSp>
        <p:nvGrpSpPr>
          <p:cNvPr id="63" name="example-conjugate"/>
          <p:cNvGrpSpPr/>
          <p:nvPr/>
        </p:nvGrpSpPr>
        <p:grpSpPr>
          <a:xfrm>
            <a:off x="6172200" y="1485900"/>
            <a:ext cx="5486400" cy="4244911"/>
            <a:chOff x="6172200" y="1485900"/>
            <a:chExt cx="5486400" cy="4244911"/>
          </a:xfrm>
        </p:grpSpPr>
        <p:sp>
          <p:nvSpPr>
            <p:cNvPr id="42" name="Rectangle 42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008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085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1642" y="1673542"/>
              <a:ext cx="2118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共轭集合 gHg⁻¹ 也是子群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3942" y="2025968"/>
              <a:ext cx="347614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H 是群 G 的子群，证明：对任意 g ∈ G，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集合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gHg⁻¹ = {ghg⁻¹ | h ∈ H}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是 G 的子群。</a:t>
              </a:r>
            </a:p>
          </p:txBody>
        </p:sp>
        <p:grpSp>
          <p:nvGrpSpPr>
            <p:cNvPr id="51" name="conj-closed"/>
            <p:cNvGrpSpPr/>
            <p:nvPr/>
          </p:nvGrpSpPr>
          <p:grpSpPr>
            <a:xfrm>
              <a:off x="6400800" y="2590800"/>
              <a:ext cx="5029200" cy="933450"/>
              <a:chOff x="6400800" y="2590800"/>
              <a:chExt cx="5029200" cy="9334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400800" y="2590800"/>
                <a:ext cx="5029200" cy="933450"/>
              </a:xfrm>
              <a:prstGeom prst="roundRect">
                <a:avLst>
                  <a:gd name="adj" fmla="val 1224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547104" y="2708910"/>
                <a:ext cx="666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(1) 封闭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6546342" y="2978468"/>
                <a:ext cx="36738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a = gh₁g⁻¹，b = gh₂g⁻¹（h₁, h₂ ∈ H）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546342" y="3245168"/>
                <a:ext cx="35833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ab = gh₁</a:t>
                </a:r>
                <a:r>
                  <a:rPr lang="en-US" sz="135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(g⁻¹g)</a:t>
                </a:r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h₂g⁻¹ = gh₁h₂g⁻¹ ∈ gHg⁻¹</a:t>
                </a:r>
              </a:p>
            </p:txBody>
          </p:sp>
        </p:grpSp>
        <p:grpSp>
          <p:nvGrpSpPr>
            <p:cNvPr id="55" name="conj-inverse"/>
            <p:cNvGrpSpPr/>
            <p:nvPr/>
          </p:nvGrpSpPr>
          <p:grpSpPr>
            <a:xfrm>
              <a:off x="6400800" y="3619500"/>
              <a:ext cx="5029200" cy="666750"/>
              <a:chOff x="6400800" y="3619500"/>
              <a:chExt cx="5029200" cy="666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400800" y="3619500"/>
                <a:ext cx="50292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547104" y="3737610"/>
                <a:ext cx="666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(2) 有逆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546342" y="4007168"/>
                <a:ext cx="32578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a⁻¹ = (gh₁g⁻¹)⁻¹ = gh₁⁻¹g⁻¹ ∈ gHg⁻¹</a:t>
                </a:r>
              </a:p>
            </p:txBody>
          </p:sp>
        </p:grpSp>
        <p:grpSp>
          <p:nvGrpSpPr>
            <p:cNvPr id="59" name="conj-nonempty"/>
            <p:cNvGrpSpPr/>
            <p:nvPr/>
          </p:nvGrpSpPr>
          <p:grpSpPr>
            <a:xfrm>
              <a:off x="6400800" y="4381500"/>
              <a:ext cx="5029200" cy="666750"/>
              <a:chOff x="6400800" y="4381500"/>
              <a:chExt cx="5029200" cy="66675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400800" y="4381500"/>
                <a:ext cx="5029200" cy="666750"/>
              </a:xfrm>
              <a:prstGeom prst="roundRect">
                <a:avLst>
                  <a:gd name="adj" fmla="val 17143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547104" y="4499610"/>
                <a:ext cx="666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(3) 非空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546342" y="4769168"/>
                <a:ext cx="2189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1 ∈ H ⇒ g1g⁻¹ = 1 ∈ gHg⁻¹</a:t>
                </a:r>
              </a:p>
            </p:txBody>
          </p:sp>
        </p:grpSp>
        <p:sp>
          <p:nvSpPr>
            <p:cNvPr id="60" name="Freeform 60"/>
            <p:cNvSpPr/>
            <p:nvPr/>
          </p:nvSpPr>
          <p:spPr>
            <a:xfrm>
              <a:off x="6452394" y="5291931"/>
              <a:ext cx="154781" cy="103187"/>
            </a:xfrm>
            <a:custGeom>
              <a:avLst/>
              <a:gdLst/>
              <a:ahLst/>
              <a:cxnLst/>
              <a:rect l="l" t="t" r="r" b="b"/>
              <a:pathLst>
                <a:path w="154781" h="103187">
                  <a:moveTo>
                    <a:pt x="0" y="51594"/>
                  </a:moveTo>
                  <a:lnTo>
                    <a:pt x="51594" y="103187"/>
                  </a:lnTo>
                  <a:lnTo>
                    <a:pt x="154781" y="0"/>
                  </a:lnTo>
                </a:path>
              </a:pathLst>
            </a:custGeom>
            <a:noFill/>
            <a:ln w="20637">
              <a:solidFill>
                <a:srgbClr val="0F7A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6842" y="5264468"/>
              <a:ext cx="2999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由判别条件一，gHg⁻¹ 是 G 的子群 ∎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95466" y="5525452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(gh₁g⁻¹)⁻¹：逆序求逆，(xyz)⁻¹ = z⁻¹y⁻¹x⁻¹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34618" y="6003608"/>
              <a:ext cx="7835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证明题的抓手：子群对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乘法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求逆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都封闭——可以乘上逆元，把元素“拉回”子群。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775465" cy="960501"/>
            <a:chOff x="519684" y="361950"/>
            <a:chExt cx="577546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77546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判别条件二：一条 ab⁻¹ ∈ H 顶两条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theorem"/>
          <p:cNvGrpSpPr/>
          <p:nvPr/>
        </p:nvGrpSpPr>
        <p:grpSpPr>
          <a:xfrm>
            <a:off x="533400" y="1485900"/>
            <a:ext cx="6134100" cy="1371600"/>
            <a:chOff x="533400" y="1485900"/>
            <a:chExt cx="6134100" cy="13716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134100" cy="13716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066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4710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6.3.1 中的条件 (1)、(2) 可以换成一个条件：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43150"/>
              <a:ext cx="5600700" cy="400050"/>
            </a:xfrm>
            <a:prstGeom prst="roundRect">
              <a:avLst>
                <a:gd name="adj" fmla="val 2857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60109" y="2441258"/>
              <a:ext cx="35092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(*) 若 a ∈ H，b ∈ H，则 ab⁻¹ ∈ H</a:t>
              </a:r>
            </a:p>
          </p:txBody>
        </p:sp>
      </p:grpSp>
      <p:grpSp>
        <p:nvGrpSpPr>
          <p:cNvPr id="35" name="proof"/>
          <p:cNvGrpSpPr/>
          <p:nvPr/>
        </p:nvGrpSpPr>
        <p:grpSpPr>
          <a:xfrm>
            <a:off x="533400" y="2971800"/>
            <a:ext cx="6134100" cy="2743200"/>
            <a:chOff x="533400" y="2971800"/>
            <a:chExt cx="6134100" cy="2743200"/>
          </a:xfrm>
        </p:grpSpPr>
        <p:sp>
          <p:nvSpPr>
            <p:cNvPr id="16" name="Rectangle 16"/>
            <p:cNvSpPr/>
            <p:nvPr/>
          </p:nvSpPr>
          <p:spPr>
            <a:xfrm>
              <a:off x="533400" y="2971800"/>
              <a:ext cx="6134100" cy="27432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1051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9160" y="3166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9042" y="3159442"/>
              <a:ext cx="2631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(1)(2) ⇔ (*)，三个方向各一步</a:t>
              </a:r>
            </a:p>
          </p:txBody>
        </p:sp>
        <p:grpSp>
          <p:nvGrpSpPr>
            <p:cNvPr id="24" name="dir-a"/>
            <p:cNvGrpSpPr/>
            <p:nvPr/>
          </p:nvGrpSpPr>
          <p:grpSpPr>
            <a:xfrm>
              <a:off x="685800" y="3467100"/>
              <a:ext cx="5829300" cy="685800"/>
              <a:chOff x="685800" y="3467100"/>
              <a:chExt cx="5829300" cy="685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85800" y="3467100"/>
                <a:ext cx="5829300" cy="6858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38200" y="3676650"/>
                <a:ext cx="1143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6259" y="3747135"/>
                <a:ext cx="10468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(1)(2) ⇒ (*)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126742" y="3607118"/>
                <a:ext cx="2559748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 a, b ∈ H，由 (2) 得 b⁻¹ ∈ H，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再由 (1) 得 </a:t>
                </a:r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ab⁻¹ ∈ H</a:t>
                </a:r>
              </a:p>
            </p:txBody>
          </p:sp>
        </p:grpSp>
        <p:grpSp>
          <p:nvGrpSpPr>
            <p:cNvPr id="29" name="dir-b"/>
            <p:cNvGrpSpPr/>
            <p:nvPr/>
          </p:nvGrpSpPr>
          <p:grpSpPr>
            <a:xfrm>
              <a:off x="685800" y="4229100"/>
              <a:ext cx="5829300" cy="685800"/>
              <a:chOff x="685800" y="4229100"/>
              <a:chExt cx="5829300" cy="6858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85800" y="4229100"/>
                <a:ext cx="5829300" cy="6858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38200" y="4438650"/>
                <a:ext cx="1143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26197" y="4509135"/>
                <a:ext cx="7670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(*) ⇒ (2)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126742" y="4369118"/>
                <a:ext cx="2185559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取 a, a：a·a⁻¹ = </a:t>
                </a:r>
                <a:r>
                  <a:rPr lang="en-US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1 ∈ H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；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再取 1, a：1·a⁻¹ = </a:t>
                </a:r>
                <a:r>
                  <a:rPr lang="en-US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a⁻¹ ∈ H</a:t>
                </a:r>
              </a:p>
            </p:txBody>
          </p:sp>
        </p:grpSp>
        <p:grpSp>
          <p:nvGrpSpPr>
            <p:cNvPr id="34" name="dir-c"/>
            <p:cNvGrpSpPr/>
            <p:nvPr/>
          </p:nvGrpSpPr>
          <p:grpSpPr>
            <a:xfrm>
              <a:off x="685800" y="4991100"/>
              <a:ext cx="5829300" cy="685800"/>
              <a:chOff x="685800" y="4991100"/>
              <a:chExt cx="5829300" cy="6858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85800" y="4991100"/>
                <a:ext cx="5829300" cy="6858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38200" y="5200650"/>
                <a:ext cx="11430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1026197" y="5271135"/>
                <a:ext cx="7670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(*) ⇒ (1)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126742" y="5131118"/>
                <a:ext cx="2748344" cy="5307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(2) 已证，故 b⁻¹ ∈ H；取 a, b⁻¹：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a·(b⁻¹)⁻¹ = </a:t>
                </a:r>
                <a:r>
                  <a:rPr lang="en-US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ab ∈ H</a:t>
                </a:r>
              </a:p>
            </p:txBody>
          </p:sp>
        </p:grpSp>
      </p:grpSp>
      <p:grpSp>
        <p:nvGrpSpPr>
          <p:cNvPr id="56" name="example"/>
          <p:cNvGrpSpPr/>
          <p:nvPr/>
        </p:nvGrpSpPr>
        <p:grpSpPr>
          <a:xfrm>
            <a:off x="6819900" y="1485900"/>
            <a:ext cx="4838700" cy="4229100"/>
            <a:chOff x="6819900" y="1485900"/>
            <a:chExt cx="4838700" cy="4229100"/>
          </a:xfrm>
        </p:grpSpPr>
        <p:sp>
          <p:nvSpPr>
            <p:cNvPr id="36" name="Rectangle 36"/>
            <p:cNvSpPr/>
            <p:nvPr/>
          </p:nvSpPr>
          <p:spPr>
            <a:xfrm>
              <a:off x="6819900" y="1485900"/>
              <a:ext cx="48387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485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902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13142" y="1673542"/>
              <a:ext cx="30765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给定整数 m，证明 (mZ, +) 是一个群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42404" y="2042160"/>
              <a:ext cx="230581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思路：(Z, +) 是群，mZ ⊆ Z，</a:t>
              </a:r>
              <a:br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只需证 (mZ, +) 是 (Z, +) 的子群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41642" y="2635568"/>
              <a:ext cx="2833640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(1) 非空：</a:t>
              </a:r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= 0·m ∈ mZ</a:t>
              </a:r>
            </a:p>
            <a:p>
              <a:pPr algn="l">
                <a:lnSpc>
                  <a:spcPts val="2100"/>
                </a:lnSpc>
                <a:spcBef>
                  <a:spcPts val="300"/>
                </a:spcBef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(2) 任取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x, y ∈ mZ，存在 k, l ∈ Z，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 x = km，y = lm，于是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48500" y="3467100"/>
              <a:ext cx="4381500" cy="438150"/>
            </a:xfrm>
            <a:prstGeom prst="roundRect">
              <a:avLst>
                <a:gd name="adj" fmla="val 2608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26690" y="3590925"/>
              <a:ext cx="3425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7A68"/>
                  </a:solidFill>
                  <a:latin typeface="Cambria Math"/>
                  <a:ea typeface="Cambria Math"/>
                  <a:cs typeface="Cambria Math"/>
                </a:rPr>
                <a:t>x + (−y) = km − lm = (k − l)m ∈ mZ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41642" y="4045268"/>
              <a:ext cx="405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 (mZ, +) 是 (Z, +) 的子群，当然本身是群 ∎</a:t>
              </a:r>
            </a:p>
          </p:txBody>
        </p:sp>
        <p:grpSp>
          <p:nvGrpSpPr>
            <p:cNvPr id="55" name="translate-table"/>
            <p:cNvGrpSpPr/>
            <p:nvPr/>
          </p:nvGrpSpPr>
          <p:grpSpPr>
            <a:xfrm>
              <a:off x="7048500" y="4362450"/>
              <a:ext cx="4381500" cy="1242251"/>
              <a:chOff x="7048500" y="4362450"/>
              <a:chExt cx="4381500" cy="1242251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048500" y="4362450"/>
                <a:ext cx="4381500" cy="1219200"/>
              </a:xfrm>
              <a:prstGeom prst="roundRect">
                <a:avLst>
                  <a:gd name="adj" fmla="val 937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232904" y="44805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乘法写法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328404" y="448056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加法群中的写法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7200900" y="4705350"/>
                <a:ext cx="407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076700" h="9525">
                    <a:moveTo>
                      <a:pt x="0" y="0"/>
                    </a:moveTo>
                    <a:lnTo>
                      <a:pt x="40767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232142" y="4807268"/>
                <a:ext cx="7358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ab⁻¹ ∈ H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327642" y="4807268"/>
                <a:ext cx="16678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 + (−b) = a − b ∈ H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232142" y="507396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单位元 1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327642" y="5073968"/>
                <a:ext cx="5316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零元 0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232142" y="5340668"/>
                <a:ext cx="7315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逆元 a⁻¹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327642" y="5340668"/>
                <a:ext cx="63162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负元 −a</a:t>
                </a:r>
              </a:p>
            </p:txBody>
          </p:sp>
        </p:grpSp>
      </p:grpSp>
      <p:grpSp>
        <p:nvGrpSpPr>
          <p:cNvPr id="6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7" name="Rectangle 5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134618" y="6003608"/>
              <a:ext cx="68633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证子群的首选：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先证非空，再证 ab⁻¹ ∈ H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（加法群写作 a − b ∈ H）。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3" name="TextBox 63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375986" cy="960501"/>
            <a:chOff x="519684" y="361950"/>
            <a:chExt cx="537598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3759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例题：H ∩ K 与 HK 是不是子群？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intersection"/>
          <p:cNvGrpSpPr/>
          <p:nvPr/>
        </p:nvGrpSpPr>
        <p:grpSpPr>
          <a:xfrm>
            <a:off x="533400" y="1485900"/>
            <a:ext cx="3810000" cy="4229100"/>
            <a:chOff x="533400" y="1485900"/>
            <a:chExt cx="3810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810000" cy="42291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73542"/>
              <a:ext cx="1436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∩ K 一定是子群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25968"/>
              <a:ext cx="20711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H、K 是 G 的子群，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求证 H ∩ K 也是 G 的子群。</a:t>
              </a:r>
            </a:p>
          </p:txBody>
        </p:sp>
        <p:grpSp>
          <p:nvGrpSpPr>
            <p:cNvPr id="25" name="int-steps"/>
            <p:cNvGrpSpPr/>
            <p:nvPr/>
          </p:nvGrpSpPr>
          <p:grpSpPr>
            <a:xfrm>
              <a:off x="781050" y="2647950"/>
              <a:ext cx="2036978" cy="2156651"/>
              <a:chOff x="781050" y="2647950"/>
              <a:chExt cx="2036978" cy="2156651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81050" y="26479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9201" y="2696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98042" y="2673668"/>
                <a:ext cx="17199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非空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：1 ∈ H 且 1 ∈ K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98042" y="2940368"/>
                <a:ext cx="9354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⇒ 1 ∈ H ∩ K</a:t>
                </a:r>
              </a:p>
            </p:txBody>
          </p:sp>
          <p:sp>
            <p:nvSpPr>
              <p:cNvPr id="16" name="Ellipse 16"/>
              <p:cNvSpPr/>
              <p:nvPr/>
            </p:nvSpPr>
            <p:spPr>
              <a:xfrm>
                <a:off x="781050" y="33147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9201" y="33632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8042" y="3340418"/>
                <a:ext cx="16148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任取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a, b ∈ H ∩ K：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98042" y="3607118"/>
                <a:ext cx="16246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a, b ∈ H ⇒ ab⁻¹ ∈ H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98042" y="3873818"/>
                <a:ext cx="16246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a, b ∈ K ⇒ ab⁻¹ ∈ 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98042" y="4140518"/>
                <a:ext cx="121909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⇒ ab⁻¹ ∈ H ∩ K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781050" y="4514850"/>
                <a:ext cx="228600" cy="22860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49201" y="4563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8042" y="4540568"/>
                <a:ext cx="16298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由判别条件二得证 ∎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685800" y="4895850"/>
              <a:ext cx="3505200" cy="685800"/>
            </a:xfrm>
            <a:prstGeom prst="roundRect">
              <a:avLst>
                <a:gd name="adj" fmla="val 1666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2104" y="50330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2104" y="5299710"/>
              <a:ext cx="2827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G 的任意多个子群的交仍是 G 的子群</a:t>
              </a:r>
            </a:p>
          </p:txBody>
        </p:sp>
      </p:grpSp>
      <p:grpSp>
        <p:nvGrpSpPr>
          <p:cNvPr id="54" name="product"/>
          <p:cNvGrpSpPr/>
          <p:nvPr/>
        </p:nvGrpSpPr>
        <p:grpSpPr>
          <a:xfrm>
            <a:off x="4495800" y="1485900"/>
            <a:ext cx="7162800" cy="4229100"/>
            <a:chOff x="4495800" y="1485900"/>
            <a:chExt cx="7162800" cy="4229100"/>
          </a:xfrm>
        </p:grpSpPr>
        <p:sp>
          <p:nvSpPr>
            <p:cNvPr id="30" name="Rectangle 30"/>
            <p:cNvSpPr/>
            <p:nvPr/>
          </p:nvSpPr>
          <p:spPr>
            <a:xfrm>
              <a:off x="4495800" y="1485900"/>
              <a:ext cx="71628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72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6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41442" y="1673542"/>
              <a:ext cx="1748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HK 是子群 ⇔ HK = KH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17542" y="2025968"/>
              <a:ext cx="427424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H、K 都是群 G 的子群，令 HK = {xy | x ∈ H, y ∈ K}，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证明：HK 是 G 的子群当且仅当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HK = KH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grpSp>
          <p:nvGrpSpPr>
            <p:cNvPr id="40" name="necessity"/>
            <p:cNvGrpSpPr/>
            <p:nvPr/>
          </p:nvGrpSpPr>
          <p:grpSpPr>
            <a:xfrm>
              <a:off x="4724400" y="2590800"/>
              <a:ext cx="3276600" cy="2171700"/>
              <a:chOff x="4724400" y="2590800"/>
              <a:chExt cx="3276600" cy="21717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724400" y="2590800"/>
                <a:ext cx="3276600" cy="21717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876800" y="2705100"/>
                <a:ext cx="762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009388" y="276606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必要性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747004" y="2775585"/>
                <a:ext cx="11100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已知 HK 是子群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69942" y="3073718"/>
                <a:ext cx="2191131" cy="15975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任取 x ∈ HK，则 x⁻¹ ∈ HK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设 x⁻¹ = hk（h ∈ H，k ∈ K）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x = (hk)⁻¹ = k⁻¹h⁻¹ ∈ KH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⇒ HK ⊆ KH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同理 KH ⊆ HK</a:t>
                </a:r>
                <a:br/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⇒ HK = KH ∎</a:t>
                </a:r>
              </a:p>
            </p:txBody>
          </p:sp>
        </p:grpSp>
        <p:grpSp>
          <p:nvGrpSpPr>
            <p:cNvPr id="46" name="sufficiency"/>
            <p:cNvGrpSpPr/>
            <p:nvPr/>
          </p:nvGrpSpPr>
          <p:grpSpPr>
            <a:xfrm>
              <a:off x="8153400" y="2590800"/>
              <a:ext cx="3352800" cy="2171700"/>
              <a:chOff x="8153400" y="2590800"/>
              <a:chExt cx="3352800" cy="21717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153400" y="2590800"/>
                <a:ext cx="3352800" cy="2171700"/>
              </a:xfrm>
              <a:prstGeom prst="roundRect">
                <a:avLst>
                  <a:gd name="adj" fmla="val 5263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305800" y="2705100"/>
                <a:ext cx="7620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438388" y="276606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充分性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176004" y="2775585"/>
                <a:ext cx="9582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已知 HK = KH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298942" y="3073718"/>
                <a:ext cx="2765489" cy="15975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非空：1 = 1·1 ∈ HK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任取 x = h₁k₁，y = h₂k₂ ∈ HK</a:t>
                </a:r>
                <a:br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xy⁻¹ = h₁k₁k₂⁻¹h₂⁻¹ = h₁(kh₂⁻¹)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k = k₁k₂⁻¹ ∈ K，kh₂⁻¹ ∈ KH = HK</a:t>
                </a:r>
                <a:br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故 kh₂⁻¹ = h′k′（h′ ∈ H，k′ ∈ K）</a:t>
                </a:r>
                <a:br/>
                <a:r>
                  <a:rPr lang="en-US" sz="1350" b="1" dirty="0">
                    <a:solidFill>
                      <a:srgbClr val="C2410C"/>
                    </a:solidFill>
                    <a:latin typeface="Cambria Math"/>
                    <a:ea typeface="Cambria Math"/>
                    <a:cs typeface="Cambria Math"/>
                  </a:rPr>
                  <a:t>xy⁻¹ = (h₁h′)k′ ∈ HK ∎</a:t>
                </a:r>
              </a:p>
            </p:txBody>
          </p:sp>
        </p:grpSp>
        <p:sp>
          <p:nvSpPr>
            <p:cNvPr id="47" name="Rectangle 47"/>
            <p:cNvSpPr/>
            <p:nvPr/>
          </p:nvSpPr>
          <p:spPr>
            <a:xfrm>
              <a:off x="4724400" y="4876800"/>
              <a:ext cx="6781800" cy="704850"/>
            </a:xfrm>
            <a:prstGeom prst="roundRect">
              <a:avLst>
                <a:gd name="adj" fmla="val 162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4907756" y="5022056"/>
              <a:ext cx="185737" cy="185737"/>
              <a:chOff x="4907756" y="5022056"/>
              <a:chExt cx="185737" cy="18573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907756" y="50220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944656" y="50633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976892" y="51665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5212842" y="50263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870704" y="5337810"/>
              <a:ext cx="5486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HK = KH 让 k 与 h₂⁻¹ 能“换位”：kh₂⁻¹ 仍可写成 H 的元素乘 K 的元素 h′k′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55650" y="5991225"/>
              <a:ext cx="241300" cy="228600"/>
              <a:chOff x="755650" y="5991225"/>
              <a:chExt cx="241300" cy="2286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25500" y="5991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556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95350" y="6118225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134618" y="6003608"/>
              <a:ext cx="7282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两个子群的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总是子群；两个子群的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乘积 HK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是子群，当且仅当 HK = KH。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2" name="TextBox 62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79542" cy="960501"/>
            <a:chOff x="519684" y="361950"/>
            <a:chExt cx="547954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判别条件三：有限子集，只看封闭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theorem"/>
          <p:cNvGrpSpPr/>
          <p:nvPr/>
        </p:nvGrpSpPr>
        <p:grpSpPr>
          <a:xfrm>
            <a:off x="533400" y="1485900"/>
            <a:ext cx="6134100" cy="1638300"/>
            <a:chOff x="533400" y="1485900"/>
            <a:chExt cx="6134100" cy="16383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134100" cy="1638300"/>
            </a:xfrm>
            <a:prstGeom prst="roundRect">
              <a:avLst>
                <a:gd name="adj" fmla="val 930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判别条件三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47875"/>
              <a:ext cx="33394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G 的一个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有限非空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子集 H 是 G 的子群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⇔ H 对 G 的运算封闭：a, b ∈ H ⇒ ab ∈ H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667000"/>
              <a:ext cx="5600700" cy="34290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60704" y="2766060"/>
              <a:ext cx="473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推论：若 G 是有限群，G 的任一非空子集只要运算封闭，就是子群</a:t>
              </a:r>
            </a:p>
          </p:txBody>
        </p:sp>
      </p:grpSp>
      <p:grpSp>
        <p:nvGrpSpPr>
          <p:cNvPr id="35" name="proof"/>
          <p:cNvGrpSpPr/>
          <p:nvPr/>
        </p:nvGrpSpPr>
        <p:grpSpPr>
          <a:xfrm>
            <a:off x="533400" y="3238500"/>
            <a:ext cx="6134100" cy="2476500"/>
            <a:chOff x="533400" y="3238500"/>
            <a:chExt cx="6134100" cy="2476500"/>
          </a:xfrm>
        </p:grpSpPr>
        <p:sp>
          <p:nvSpPr>
            <p:cNvPr id="16" name="Rectangle 16"/>
            <p:cNvSpPr/>
            <p:nvPr/>
          </p:nvSpPr>
          <p:spPr>
            <a:xfrm>
              <a:off x="533400" y="3238500"/>
              <a:ext cx="6134100" cy="247650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33718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9160" y="34328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79042" y="3426142"/>
              <a:ext cx="3577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必要性显然；充分性只需证 a ∈ H ⇒ a⁻¹ ∈ H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14400" y="390525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33" name="proof-steps"/>
            <p:cNvGrpSpPr/>
            <p:nvPr/>
          </p:nvGrpSpPr>
          <p:grpSpPr>
            <a:xfrm>
              <a:off x="790575" y="3781425"/>
              <a:ext cx="4720114" cy="1556576"/>
              <a:chOff x="790575" y="3781425"/>
              <a:chExt cx="4720114" cy="1556576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90575" y="37814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68251" y="3839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36142" y="3816668"/>
                <a:ext cx="37006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a ∈ H，由封闭性 a, a², a³, … 都在 H 中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790575" y="42005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8251" y="42586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36142" y="4235768"/>
                <a:ext cx="35926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H 有限，必有 aⁱ = aʲ（j &gt; i），故 </a:t>
                </a:r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aʲ⁻ⁱ = 1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90575" y="4619625"/>
                <a:ext cx="247650" cy="2476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68251" y="46777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36142" y="4654868"/>
                <a:ext cx="41018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即 a·aʲ⁻ⁱ⁻¹ = 1；若 j − i &gt; 1：</a:t>
                </a:r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a⁻¹ = aʲ⁻ⁱ⁻¹ ∈ H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90575" y="5038725"/>
                <a:ext cx="247650" cy="247650"/>
              </a:xfrm>
              <a:prstGeom prst="ellipse">
                <a:avLst/>
              </a:prstGeom>
              <a:solidFill>
                <a:srgbClr val="0F7A6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68251" y="50968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36142" y="5073968"/>
                <a:ext cx="43745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 j − i = 1：a = 1，a⁻¹ = a ∈ H；由判别条件一得证 ∎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756666" y="5449252"/>
              <a:ext cx="2604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注：充分性也可用习题 6.2-2 的结论证明</a:t>
              </a:r>
            </a:p>
          </p:txBody>
        </p:sp>
      </p:grpSp>
      <p:grpSp>
        <p:nvGrpSpPr>
          <p:cNvPr id="64" name="examples"/>
          <p:cNvGrpSpPr/>
          <p:nvPr/>
        </p:nvGrpSpPr>
        <p:grpSpPr>
          <a:xfrm>
            <a:off x="6819900" y="1485900"/>
            <a:ext cx="4838700" cy="3009900"/>
            <a:chOff x="6819900" y="1485900"/>
            <a:chExt cx="4838700" cy="3009900"/>
          </a:xfrm>
        </p:grpSpPr>
        <p:sp>
          <p:nvSpPr>
            <p:cNvPr id="36" name="Rectangle 36"/>
            <p:cNvSpPr/>
            <p:nvPr/>
          </p:nvSpPr>
          <p:spPr>
            <a:xfrm>
              <a:off x="6819900" y="1485900"/>
              <a:ext cx="4838700" cy="3009900"/>
            </a:xfrm>
            <a:prstGeom prst="roundRect">
              <a:avLst>
                <a:gd name="adj" fmla="val 50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485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902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13142" y="1673542"/>
              <a:ext cx="27202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次对称群的子集：只需验证封闭</a:t>
              </a:r>
            </a:p>
          </p:txBody>
        </p:sp>
        <p:grpSp>
          <p:nvGrpSpPr>
            <p:cNvPr id="44" name="ex-row-1"/>
            <p:cNvGrpSpPr/>
            <p:nvPr/>
          </p:nvGrpSpPr>
          <p:grpSpPr>
            <a:xfrm>
              <a:off x="6972300" y="1981200"/>
              <a:ext cx="4533900" cy="562356"/>
              <a:chOff x="6972300" y="1981200"/>
              <a:chExt cx="4533900" cy="562356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972300" y="1981200"/>
                <a:ext cx="453390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117842" y="2073592"/>
                <a:ext cx="18397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(1) 所有偶置换的集合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118604" y="2308860"/>
                <a:ext cx="29085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偶 · 偶 = 偶，封闭 ⇒ 是群（交代群 Aₙ）</a:t>
                </a: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11176794" y="2205831"/>
                <a:ext cx="15478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03187">
                    <a:moveTo>
                      <a:pt x="0" y="51594"/>
                    </a:moveTo>
                    <a:lnTo>
                      <a:pt x="51594" y="103187"/>
                    </a:lnTo>
                    <a:lnTo>
                      <a:pt x="154781" y="0"/>
                    </a:lnTo>
                  </a:path>
                </a:pathLst>
              </a:custGeom>
              <a:noFill/>
              <a:ln w="20637">
                <a:solidFill>
                  <a:srgbClr val="0F7A68"/>
                </a:solidFill>
              </a:ln>
            </p:spPr>
          </p:sp>
        </p:grpSp>
        <p:grpSp>
          <p:nvGrpSpPr>
            <p:cNvPr id="51" name="ex-row-2"/>
            <p:cNvGrpSpPr/>
            <p:nvPr/>
          </p:nvGrpSpPr>
          <p:grpSpPr>
            <a:xfrm>
              <a:off x="6972300" y="2609850"/>
              <a:ext cx="4533900" cy="562356"/>
              <a:chOff x="6972300" y="2609850"/>
              <a:chExt cx="4533900" cy="562356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972300" y="2609850"/>
                <a:ext cx="453390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7117842" y="2702242"/>
                <a:ext cx="18397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(2) 所有奇置换的集合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118604" y="2937510"/>
                <a:ext cx="31270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(1 2)(1 2) = I 是偶置换，不封闭 ⇒ 不是群</a:t>
                </a: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11187112" y="2824162"/>
                <a:ext cx="123825" cy="123825"/>
                <a:chOff x="11187112" y="2824162"/>
                <a:chExt cx="123825" cy="1238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1187112" y="2824162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123825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20637">
                  <a:solidFill>
                    <a:srgbClr val="B42318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187112" y="2824162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0"/>
                      </a:moveTo>
                      <a:lnTo>
                        <a:pt x="123825" y="123825"/>
                      </a:lnTo>
                    </a:path>
                  </a:pathLst>
                </a:custGeom>
                <a:noFill/>
                <a:ln w="20637">
                  <a:solidFill>
                    <a:srgbClr val="B42318"/>
                  </a:solidFill>
                </a:ln>
              </p:spPr>
            </p:sp>
          </p:grpSp>
        </p:grpSp>
        <p:grpSp>
          <p:nvGrpSpPr>
            <p:cNvPr id="56" name="ex-row-3"/>
            <p:cNvGrpSpPr/>
            <p:nvPr/>
          </p:nvGrpSpPr>
          <p:grpSpPr>
            <a:xfrm>
              <a:off x="6972300" y="3238500"/>
              <a:ext cx="4533900" cy="562356"/>
              <a:chOff x="6972300" y="3238500"/>
              <a:chExt cx="4533900" cy="562356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972300" y="3238500"/>
                <a:ext cx="453390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117842" y="3330892"/>
                <a:ext cx="13646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(3) {I, (1 2)}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118604" y="3566160"/>
                <a:ext cx="21066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(1 2)(1 2) = I，封闭 ⇒ 是群</a:t>
                </a:r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11176794" y="3463131"/>
                <a:ext cx="154781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03187">
                    <a:moveTo>
                      <a:pt x="0" y="51594"/>
                    </a:moveTo>
                    <a:lnTo>
                      <a:pt x="51594" y="103187"/>
                    </a:lnTo>
                    <a:lnTo>
                      <a:pt x="154781" y="0"/>
                    </a:lnTo>
                  </a:path>
                </a:pathLst>
              </a:custGeom>
              <a:noFill/>
              <a:ln w="20637">
                <a:solidFill>
                  <a:srgbClr val="0F7A68"/>
                </a:solidFill>
              </a:ln>
            </p:spPr>
          </p:sp>
        </p:grpSp>
        <p:grpSp>
          <p:nvGrpSpPr>
            <p:cNvPr id="63" name="ex-row-4"/>
            <p:cNvGrpSpPr/>
            <p:nvPr/>
          </p:nvGrpSpPr>
          <p:grpSpPr>
            <a:xfrm>
              <a:off x="6972300" y="3867150"/>
              <a:ext cx="4533900" cy="562356"/>
              <a:chOff x="6972300" y="3867150"/>
              <a:chExt cx="4533900" cy="562356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6972300" y="3867150"/>
                <a:ext cx="4533900" cy="552450"/>
              </a:xfrm>
              <a:prstGeom prst="roundRect">
                <a:avLst>
                  <a:gd name="adj" fmla="val 2069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7117842" y="3959542"/>
                <a:ext cx="2040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(4) {I, (1 2), (1 3)}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118604" y="4194810"/>
                <a:ext cx="30734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(1 2)(1 3) = (1 3 2) 不在集合中 ⇒ 不是群</a:t>
                </a:r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11187112" y="4081462"/>
                <a:ext cx="123825" cy="123825"/>
                <a:chOff x="11187112" y="4081462"/>
                <a:chExt cx="123825" cy="123825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1187112" y="4081462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123825" y="0"/>
                      </a:moveTo>
                      <a:lnTo>
                        <a:pt x="0" y="123825"/>
                      </a:lnTo>
                    </a:path>
                  </a:pathLst>
                </a:custGeom>
                <a:noFill/>
                <a:ln w="20637">
                  <a:solidFill>
                    <a:srgbClr val="B42318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1187112" y="4081462"/>
                  <a:ext cx="1238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25" h="123825">
                      <a:moveTo>
                        <a:pt x="0" y="0"/>
                      </a:moveTo>
                      <a:lnTo>
                        <a:pt x="123825" y="123825"/>
                      </a:lnTo>
                    </a:path>
                  </a:pathLst>
                </a:custGeom>
                <a:noFill/>
                <a:ln w="20637">
                  <a:solidFill>
                    <a:srgbClr val="B42318"/>
                  </a:solidFill>
                </a:ln>
              </p:spPr>
            </p:sp>
          </p:grpSp>
        </p:grpSp>
      </p:grpSp>
      <p:grpSp>
        <p:nvGrpSpPr>
          <p:cNvPr id="71" name="pitfall"/>
          <p:cNvGrpSpPr/>
          <p:nvPr/>
        </p:nvGrpSpPr>
        <p:grpSpPr>
          <a:xfrm>
            <a:off x="6819900" y="4610100"/>
            <a:ext cx="4838700" cy="1104900"/>
            <a:chOff x="6819900" y="4610100"/>
            <a:chExt cx="4838700" cy="1104900"/>
          </a:xfrm>
        </p:grpSpPr>
        <p:sp>
          <p:nvSpPr>
            <p:cNvPr id="65" name="Rectangle 65"/>
            <p:cNvSpPr/>
            <p:nvPr/>
          </p:nvSpPr>
          <p:spPr>
            <a:xfrm>
              <a:off x="6819900" y="4610100"/>
              <a:ext cx="4838700" cy="1104900"/>
            </a:xfrm>
            <a:prstGeom prst="roundRect">
              <a:avLst>
                <a:gd name="adj" fmla="val 1379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972300" y="4762500"/>
              <a:ext cx="47625" cy="8001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200900" y="47434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338060" y="4804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917942" y="4797742"/>
              <a:ext cx="149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“有限”二字不能省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94042" y="5150168"/>
              <a:ext cx="2799778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(N, +) 在 (Z, +) 中对加法封闭，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 1 的逆元 −1 ∉ N，所以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不是子群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134618" y="6003608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有限子集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只看封闭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；无限子集还要验证逆元（或直接用判别条件二）。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2" name="TextBox 82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389120" cy="960501"/>
            <a:chOff x="519684" y="361950"/>
            <a:chExt cx="438912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子群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子群判别：三把钥匙怎么选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ompare-table"/>
          <p:cNvGrpSpPr/>
          <p:nvPr/>
        </p:nvGrpSpPr>
        <p:grpSpPr>
          <a:xfrm>
            <a:off x="527304" y="1485900"/>
            <a:ext cx="6864096" cy="2715006"/>
            <a:chOff x="527304" y="1485900"/>
            <a:chExt cx="6864096" cy="2715006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858000" cy="4191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2552700"/>
              <a:ext cx="6858000" cy="6477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533400" y="19050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33400" y="25527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3400" y="32004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33400" y="38481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7804" y="1623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判别条件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32304" y="1623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要验证什么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7304" y="1623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适用范围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80304" y="1623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加法群中写作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042" y="20450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566" y="230600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定理 6.3.1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32304" y="2165985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 + 封闭 + 有逆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73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任意子集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0304" y="2165985"/>
              <a:ext cx="1288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 + b ∈ H，−a ∈ 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7042" y="269271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条件二 · 首选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566" y="295370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定理 6.3.2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32304" y="2813685"/>
              <a:ext cx="1208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 + ab⁻¹ ∈ 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37304" y="2813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任意子集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80304" y="2813685"/>
              <a:ext cx="694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− b ∈ 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7042" y="33404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8566" y="360140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定理 6.3.3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32304" y="3461385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 + 封闭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337304" y="34613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仅有限子集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80304" y="3461385"/>
              <a:ext cx="662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+ b ∈ 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7304" y="3966210"/>
              <a:ext cx="290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三个条件都默认 H ⊆ G，且沿用 G 的运算</a:t>
              </a:r>
            </a:p>
          </p:txBody>
        </p:sp>
      </p:grpSp>
      <p:grpSp>
        <p:nvGrpSpPr>
          <p:cNvPr id="51" name="flow"/>
          <p:cNvGrpSpPr/>
          <p:nvPr/>
        </p:nvGrpSpPr>
        <p:grpSpPr>
          <a:xfrm>
            <a:off x="7543800" y="1485900"/>
            <a:ext cx="4114800" cy="2590800"/>
            <a:chOff x="7543800" y="1485900"/>
            <a:chExt cx="4114800" cy="2590800"/>
          </a:xfrm>
        </p:grpSpPr>
        <p:sp>
          <p:nvSpPr>
            <p:cNvPr id="34" name="Rectangle 34"/>
            <p:cNvSpPr/>
            <p:nvPr/>
          </p:nvSpPr>
          <p:spPr>
            <a:xfrm>
              <a:off x="7543800" y="1485900"/>
              <a:ext cx="4114800" cy="495300"/>
            </a:xfrm>
            <a:prstGeom prst="roundRect">
              <a:avLst>
                <a:gd name="adj" fmla="val 2307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47485" y="1654492"/>
              <a:ext cx="2507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先证非空（通常验证 1 ∈ H）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9601200" y="19812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534525" y="21717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0" y="0"/>
                  </a:moveTo>
                  <a:lnTo>
                    <a:pt x="133350" y="0"/>
                  </a:lnTo>
                  <a:lnTo>
                    <a:pt x="66675" y="952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05800" y="2286000"/>
              <a:ext cx="2590800" cy="4762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877750" y="2445068"/>
              <a:ext cx="1446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H 是有限集吗？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534400" y="2762250"/>
              <a:ext cx="2133600" cy="304800"/>
            </a:xfrm>
            <a:custGeom>
              <a:avLst/>
              <a:gdLst/>
              <a:ahLst/>
              <a:cxnLst/>
              <a:rect l="l" t="t" r="r" b="b"/>
              <a:pathLst>
                <a:path w="2133600" h="304800">
                  <a:moveTo>
                    <a:pt x="1066800" y="0"/>
                  </a:moveTo>
                  <a:lnTo>
                    <a:pt x="1066800" y="133350"/>
                  </a:lnTo>
                  <a:moveTo>
                    <a:pt x="0" y="133350"/>
                  </a:moveTo>
                  <a:lnTo>
                    <a:pt x="2133600" y="133350"/>
                  </a:lnTo>
                  <a:moveTo>
                    <a:pt x="0" y="133350"/>
                  </a:moveTo>
                  <a:lnTo>
                    <a:pt x="0" y="304800"/>
                  </a:lnTo>
                  <a:moveTo>
                    <a:pt x="2133600" y="133350"/>
                  </a:moveTo>
                  <a:lnTo>
                    <a:pt x="2133600" y="30480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80704" y="29184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14304" y="29184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43800" y="3124200"/>
              <a:ext cx="1981200" cy="952500"/>
            </a:xfrm>
            <a:prstGeom prst="roundRect">
              <a:avLst>
                <a:gd name="adj" fmla="val 14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223885" y="32670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条件三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05216" y="3566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只验封闭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81798" y="3830002"/>
              <a:ext cx="11052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a, b ∈ H ⇒ ab ∈ H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677400" y="3124200"/>
              <a:ext cx="1981200" cy="952500"/>
            </a:xfrm>
            <a:prstGeom prst="roundRect">
              <a:avLst>
                <a:gd name="adj" fmla="val 14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57485" y="32670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154717" y="3566160"/>
              <a:ext cx="1026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 ab⁻¹ ∈ 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95528" y="3830002"/>
              <a:ext cx="1144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加法群：a − b ∈ H</a:t>
              </a:r>
            </a:p>
          </p:txBody>
        </p:sp>
      </p:grpSp>
      <p:grpSp>
        <p:nvGrpSpPr>
          <p:cNvPr id="77" name="pitfalls"/>
          <p:cNvGrpSpPr/>
          <p:nvPr/>
        </p:nvGrpSpPr>
        <p:grpSpPr>
          <a:xfrm>
            <a:off x="533400" y="4273561"/>
            <a:ext cx="11125200" cy="1365239"/>
            <a:chOff x="533400" y="4273561"/>
            <a:chExt cx="11125200" cy="1365239"/>
          </a:xfrm>
        </p:grpSpPr>
        <p:grpSp>
          <p:nvGrpSpPr>
            <p:cNvPr id="55" name="Group 55"/>
            <p:cNvGrpSpPr/>
            <p:nvPr/>
          </p:nvGrpSpPr>
          <p:grpSpPr>
            <a:xfrm>
              <a:off x="551639" y="4273561"/>
              <a:ext cx="192114" cy="165051"/>
              <a:chOff x="551639" y="4273561"/>
              <a:chExt cx="192114" cy="16505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7700" y="43338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551639" y="42735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47700" y="4400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831342" y="4283392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子群部分 4 个易错点</a:t>
              </a:r>
            </a:p>
          </p:txBody>
        </p:sp>
        <p:grpSp>
          <p:nvGrpSpPr>
            <p:cNvPr id="61" name="pit-1"/>
            <p:cNvGrpSpPr/>
            <p:nvPr/>
          </p:nvGrpSpPr>
          <p:grpSpPr>
            <a:xfrm>
              <a:off x="533400" y="4552950"/>
              <a:ext cx="5486400" cy="495300"/>
              <a:chOff x="533400" y="4552950"/>
              <a:chExt cx="5486400" cy="49530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533400" y="4552950"/>
                <a:ext cx="54864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666750" y="466725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47358" y="4728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1021842" y="4712018"/>
                <a:ext cx="37746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空集不是子群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：第一步先证非空（常用 1 ∈ H）</a:t>
                </a:r>
              </a:p>
            </p:txBody>
          </p:sp>
        </p:grpSp>
        <p:grpSp>
          <p:nvGrpSpPr>
            <p:cNvPr id="66" name="pit-2"/>
            <p:cNvGrpSpPr/>
            <p:nvPr/>
          </p:nvGrpSpPr>
          <p:grpSpPr>
            <a:xfrm>
              <a:off x="6172200" y="4552950"/>
              <a:ext cx="5486400" cy="495300"/>
              <a:chOff x="6172200" y="4552950"/>
              <a:chExt cx="5486400" cy="4953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172200" y="4552950"/>
                <a:ext cx="54864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6305550" y="466725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386158" y="47282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660642" y="4712018"/>
                <a:ext cx="38762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运算要沿用 G 的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：(C*, ·) 不是 (C, +) 的子群</a:t>
                </a:r>
              </a:p>
            </p:txBody>
          </p:sp>
        </p:grpSp>
        <p:grpSp>
          <p:nvGrpSpPr>
            <p:cNvPr id="71" name="pit-3"/>
            <p:cNvGrpSpPr/>
            <p:nvPr/>
          </p:nvGrpSpPr>
          <p:grpSpPr>
            <a:xfrm>
              <a:off x="533400" y="5143500"/>
              <a:ext cx="5486400" cy="495300"/>
              <a:chOff x="533400" y="5143500"/>
              <a:chExt cx="5486400" cy="4953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533400" y="5143500"/>
                <a:ext cx="54864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666750" y="525780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747358" y="53187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021842" y="5302568"/>
                <a:ext cx="444741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条件三要求有限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：(N, +) 封闭，却不是 (Z, +) 的子群</a:t>
                </a:r>
              </a:p>
            </p:txBody>
          </p:sp>
        </p:grpSp>
        <p:grpSp>
          <p:nvGrpSpPr>
            <p:cNvPr id="76" name="pit-4"/>
            <p:cNvGrpSpPr/>
            <p:nvPr/>
          </p:nvGrpSpPr>
          <p:grpSpPr>
            <a:xfrm>
              <a:off x="6172200" y="5143500"/>
              <a:ext cx="5486400" cy="495300"/>
              <a:chOff x="6172200" y="5143500"/>
              <a:chExt cx="5486400" cy="495300"/>
            </a:xfrm>
          </p:grpSpPr>
          <p:sp>
            <p:nvSpPr>
              <p:cNvPr id="72" name="Rectangle 72"/>
              <p:cNvSpPr/>
              <p:nvPr/>
            </p:nvSpPr>
            <p:spPr>
              <a:xfrm>
                <a:off x="6172200" y="5143500"/>
                <a:ext cx="5486400" cy="495300"/>
              </a:xfrm>
              <a:prstGeom prst="roundRect">
                <a:avLst>
                  <a:gd name="adj" fmla="val 26923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6305550" y="525780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6386158" y="53187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660642" y="5302568"/>
                <a:ext cx="38692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否定只需一个反例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：一个乘积或逆元跑出 H 即可</a:t>
                </a:r>
              </a:p>
            </p:txBody>
          </p:sp>
        </p:grpSp>
      </p:grpSp>
      <p:grpSp>
        <p:nvGrpSpPr>
          <p:cNvPr id="8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8" name="Rectangle 7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134618" y="6003608"/>
              <a:ext cx="71464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通用首选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判别条件二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；H 有限时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只验封闭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；别忘了“非空”和“运算一致”。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4" name="TextBox 84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panel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panel-disc"/>
          <p:cNvSpPr/>
          <p:nvPr/>
        </p:nvSpPr>
        <p:spPr>
          <a:xfrm>
            <a:off x="2286000" y="5810250"/>
            <a:ext cx="1714500" cy="1714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panel-dot"/>
          <p:cNvSpPr/>
          <p:nvPr/>
        </p:nvSpPr>
        <p:spPr>
          <a:xfrm>
            <a:off x="3295650" y="781050"/>
            <a:ext cx="266700" cy="266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section-title"/>
          <p:cNvGrpSpPr/>
          <p:nvPr/>
        </p:nvGrpSpPr>
        <p:grpSpPr>
          <a:xfrm>
            <a:off x="438150" y="1581150"/>
            <a:ext cx="2794102" cy="3834384"/>
            <a:chOff x="438150" y="1581150"/>
            <a:chExt cx="2794102" cy="3834384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3F5DB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1571" y="167068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6.3 子群及其陪集 · 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38150" y="2133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5112" y="3726180"/>
              <a:ext cx="14904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684" y="4299585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与元素的周期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4800600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4256" y="5063490"/>
              <a:ext cx="27079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一个元素，“转”出一个群</a:t>
              </a:r>
            </a:p>
          </p:txBody>
        </p:sp>
      </p:grpSp>
      <p:grpSp>
        <p:nvGrpSpPr>
          <p:cNvPr id="40" name="three-things"/>
          <p:cNvGrpSpPr/>
          <p:nvPr/>
        </p:nvGrpSpPr>
        <p:grpSpPr>
          <a:xfrm>
            <a:off x="4381500" y="800100"/>
            <a:ext cx="7277100" cy="4076700"/>
            <a:chOff x="4381500" y="800100"/>
            <a:chExt cx="7277100" cy="4076700"/>
          </a:xfrm>
        </p:grpSpPr>
        <p:sp>
          <p:nvSpPr>
            <p:cNvPr id="13" name="Rectangle 13"/>
            <p:cNvSpPr/>
            <p:nvPr/>
          </p:nvSpPr>
          <p:spPr>
            <a:xfrm>
              <a:off x="4381500" y="800100"/>
              <a:ext cx="57150" cy="2095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45330" y="8191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本部分三件事</a:t>
              </a:r>
            </a:p>
          </p:txBody>
        </p:sp>
        <p:grpSp>
          <p:nvGrpSpPr>
            <p:cNvPr id="21" name="badge-generated"/>
            <p:cNvGrpSpPr/>
            <p:nvPr/>
          </p:nvGrpSpPr>
          <p:grpSpPr>
            <a:xfrm>
              <a:off x="4381500" y="1143000"/>
              <a:ext cx="7277100" cy="1143000"/>
              <a:chOff x="4381500" y="1143000"/>
              <a:chExt cx="7277100" cy="1143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381500" y="1143000"/>
                <a:ext cx="72771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4629150" y="1428750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801314" y="1600596"/>
                <a:ext cx="233882" cy="239494"/>
              </a:xfrm>
              <a:custGeom>
                <a:avLst/>
                <a:gdLst/>
                <a:ahLst/>
                <a:cxnLst/>
                <a:rect l="l" t="t" r="r" b="b"/>
                <a:pathLst>
                  <a:path w="233882" h="239494">
                    <a:moveTo>
                      <a:pt x="0" y="99616"/>
                    </a:moveTo>
                    <a:cubicBezTo>
                      <a:pt x="7475" y="42590"/>
                      <a:pt x="56159" y="0"/>
                      <a:pt x="113672" y="172"/>
                    </a:cubicBezTo>
                    <a:cubicBezTo>
                      <a:pt x="171186" y="344"/>
                      <a:pt x="219614" y="43224"/>
                      <a:pt x="226748" y="100294"/>
                    </a:cubicBezTo>
                    <a:cubicBezTo>
                      <a:pt x="233882" y="157364"/>
                      <a:pt x="197499" y="210846"/>
                      <a:pt x="141797" y="225170"/>
                    </a:cubicBezTo>
                    <a:cubicBezTo>
                      <a:pt x="86095" y="239494"/>
                      <a:pt x="28426" y="210198"/>
                      <a:pt x="7144" y="156766"/>
                    </a:cubicBezTo>
                    <a:moveTo>
                      <a:pt x="0" y="228204"/>
                    </a:moveTo>
                    <a:lnTo>
                      <a:pt x="0" y="156766"/>
                    </a:lnTo>
                    <a:lnTo>
                      <a:pt x="71438" y="15676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401818" y="1403032"/>
                <a:ext cx="16177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由 a 生成的子群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402580" y="1762125"/>
                <a:ext cx="168425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(a) = {aⁿ | n ∈ Z}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404104" y="2042160"/>
                <a:ext cx="51199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的所有幂（正幂、负幂、a⁰ = 1）组成的子群；G = (a) 时 G 叫循环群</a:t>
                </a:r>
              </a:p>
            </p:txBody>
          </p:sp>
        </p:grpSp>
        <p:grpSp>
          <p:nvGrpSpPr>
            <p:cNvPr id="30" name="badge-period"/>
            <p:cNvGrpSpPr/>
            <p:nvPr/>
          </p:nvGrpSpPr>
          <p:grpSpPr>
            <a:xfrm>
              <a:off x="4381500" y="2438400"/>
              <a:ext cx="7277100" cy="1143000"/>
              <a:chOff x="4381500" y="2438400"/>
              <a:chExt cx="7277100" cy="1143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381500" y="2438400"/>
                <a:ext cx="72771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4629150" y="2724150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4800600" y="2881312"/>
                <a:ext cx="228600" cy="257176"/>
                <a:chOff x="4800600" y="2881312"/>
                <a:chExt cx="228600" cy="257176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4800600" y="2881312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0" y="128588"/>
                      </a:moveTo>
                      <a:lnTo>
                        <a:pt x="0" y="85725"/>
                      </a:lnTo>
                      <a:cubicBezTo>
                        <a:pt x="0" y="62053"/>
                        <a:pt x="19190" y="42862"/>
                        <a:pt x="42862" y="42862"/>
                      </a:cubicBezTo>
                      <a:lnTo>
                        <a:pt x="228600" y="42862"/>
                      </a:lnTo>
                      <a:moveTo>
                        <a:pt x="185738" y="0"/>
                      </a:moveTo>
                      <a:lnTo>
                        <a:pt x="228600" y="42862"/>
                      </a:lnTo>
                      <a:lnTo>
                        <a:pt x="185738" y="85725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4800600" y="3009900"/>
                  <a:ext cx="228600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128588">
                      <a:moveTo>
                        <a:pt x="228600" y="0"/>
                      </a:moveTo>
                      <a:lnTo>
                        <a:pt x="228600" y="42862"/>
                      </a:lnTo>
                      <a:cubicBezTo>
                        <a:pt x="228600" y="66535"/>
                        <a:pt x="209410" y="85725"/>
                        <a:pt x="185738" y="85725"/>
                      </a:cubicBezTo>
                      <a:lnTo>
                        <a:pt x="0" y="85725"/>
                      </a:lnTo>
                      <a:moveTo>
                        <a:pt x="42862" y="128588"/>
                      </a:moveTo>
                      <a:lnTo>
                        <a:pt x="0" y="85725"/>
                      </a:lnTo>
                      <a:lnTo>
                        <a:pt x="42862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5401818" y="2698432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元素的周期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402580" y="3057525"/>
                <a:ext cx="2286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使 aⁿ = 1 的最小正整数 n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5404104" y="3337560"/>
                <a:ext cx="37680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从 a 出发“转几步”回到 1；核心工具：aᵐ = 1 ⇔ n | m</a:t>
                </a:r>
              </a:p>
            </p:txBody>
          </p:sp>
        </p:grpSp>
        <p:grpSp>
          <p:nvGrpSpPr>
            <p:cNvPr id="39" name="badge-generator"/>
            <p:cNvGrpSpPr/>
            <p:nvPr/>
          </p:nvGrpSpPr>
          <p:grpSpPr>
            <a:xfrm>
              <a:off x="4381500" y="3733800"/>
              <a:ext cx="7277100" cy="1143000"/>
              <a:chOff x="4381500" y="3733800"/>
              <a:chExt cx="7277100" cy="1143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381500" y="3733800"/>
                <a:ext cx="72771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4629150" y="4019550"/>
                <a:ext cx="571500" cy="57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4786312" y="4176715"/>
                <a:ext cx="257172" cy="257172"/>
                <a:chOff x="4786312" y="4176715"/>
                <a:chExt cx="257172" cy="257172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4786312" y="4176715"/>
                  <a:ext cx="257172" cy="257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172" h="257172">
                      <a:moveTo>
                        <a:pt x="193667" y="12042"/>
                      </a:moveTo>
                      <a:lnTo>
                        <a:pt x="245131" y="63505"/>
                      </a:lnTo>
                      <a:cubicBezTo>
                        <a:pt x="252841" y="71214"/>
                        <a:pt x="257172" y="81670"/>
                        <a:pt x="257172" y="92573"/>
                      </a:cubicBezTo>
                      <a:cubicBezTo>
                        <a:pt x="257172" y="103476"/>
                        <a:pt x="252841" y="113932"/>
                        <a:pt x="245131" y="121641"/>
                      </a:cubicBezTo>
                      <a:lnTo>
                        <a:pt x="207369" y="159403"/>
                      </a:lnTo>
                      <a:cubicBezTo>
                        <a:pt x="199660" y="167113"/>
                        <a:pt x="189204" y="171445"/>
                        <a:pt x="178301" y="171445"/>
                      </a:cubicBezTo>
                      <a:cubicBezTo>
                        <a:pt x="167398" y="171445"/>
                        <a:pt x="156942" y="167113"/>
                        <a:pt x="149233" y="159403"/>
                      </a:cubicBezTo>
                      <a:lnTo>
                        <a:pt x="144932" y="155102"/>
                      </a:lnTo>
                      <a:lnTo>
                        <a:pt x="51235" y="248800"/>
                      </a:lnTo>
                      <a:cubicBezTo>
                        <a:pt x="46488" y="253547"/>
                        <a:pt x="40220" y="256470"/>
                        <a:pt x="33533" y="257058"/>
                      </a:cubicBezTo>
                      <a:lnTo>
                        <a:pt x="31032" y="257172"/>
                      </a:lnTo>
                      <a:lnTo>
                        <a:pt x="14288" y="257172"/>
                      </a:lnTo>
                      <a:cubicBezTo>
                        <a:pt x="7044" y="257171"/>
                        <a:pt x="947" y="251750"/>
                        <a:pt x="100" y="244556"/>
                      </a:cubicBezTo>
                      <a:lnTo>
                        <a:pt x="0" y="242885"/>
                      </a:lnTo>
                      <a:lnTo>
                        <a:pt x="0" y="226140"/>
                      </a:lnTo>
                      <a:cubicBezTo>
                        <a:pt x="2" y="219431"/>
                        <a:pt x="2364" y="212937"/>
                        <a:pt x="6672" y="207795"/>
                      </a:cubicBezTo>
                      <a:lnTo>
                        <a:pt x="8372" y="205937"/>
                      </a:lnTo>
                      <a:lnTo>
                        <a:pt x="14288" y="200022"/>
                      </a:lnTo>
                      <a:lnTo>
                        <a:pt x="42862" y="200022"/>
                      </a:lnTo>
                      <a:lnTo>
                        <a:pt x="42862" y="171447"/>
                      </a:lnTo>
                      <a:lnTo>
                        <a:pt x="71438" y="171447"/>
                      </a:lnTo>
                      <a:lnTo>
                        <a:pt x="71438" y="142872"/>
                      </a:lnTo>
                      <a:lnTo>
                        <a:pt x="102070" y="112240"/>
                      </a:lnTo>
                      <a:lnTo>
                        <a:pt x="97769" y="107939"/>
                      </a:lnTo>
                      <a:cubicBezTo>
                        <a:pt x="90059" y="100230"/>
                        <a:pt x="85728" y="89774"/>
                        <a:pt x="85728" y="78871"/>
                      </a:cubicBezTo>
                      <a:cubicBezTo>
                        <a:pt x="85728" y="67969"/>
                        <a:pt x="90059" y="57512"/>
                        <a:pt x="97769" y="49803"/>
                      </a:cubicBezTo>
                      <a:lnTo>
                        <a:pt x="135531" y="12042"/>
                      </a:lnTo>
                      <a:cubicBezTo>
                        <a:pt x="143240" y="4332"/>
                        <a:pt x="153696" y="0"/>
                        <a:pt x="164599" y="0"/>
                      </a:cubicBezTo>
                      <a:cubicBezTo>
                        <a:pt x="175502" y="0"/>
                        <a:pt x="185958" y="4332"/>
                        <a:pt x="193667" y="12042"/>
                      </a:cubicBezTo>
                    </a:path>
                  </a:pathLst>
                </a:custGeom>
                <a:noFill/>
                <a:ln w="28575">
                  <a:solidFill>
                    <a:srgbClr val="C2410C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957762" y="4262438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43" y="0"/>
                      </a:lnTo>
                    </a:path>
                  </a:pathLst>
                </a:custGeom>
                <a:noFill/>
                <a:ln w="28575">
                  <a:solidFill>
                    <a:srgbClr val="C2410C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5401818" y="399383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生成元与子群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402580" y="4352925"/>
                <a:ext cx="41850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元循环群有 φ(n) 个生成元，子群仍是循环群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404104" y="4632960"/>
                <a:ext cx="46404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aᵏ 是生成元 ⇔ (n, k) = 1；全部子群 = {(aᵈ) | d 为 n 的正因子}</a:t>
                </a:r>
              </a:p>
            </p:txBody>
          </p:sp>
        </p:grpSp>
      </p:grpSp>
      <p:grpSp>
        <p:nvGrpSpPr>
          <p:cNvPr id="47" name="method-tip"/>
          <p:cNvGrpSpPr/>
          <p:nvPr/>
        </p:nvGrpSpPr>
        <p:grpSpPr>
          <a:xfrm>
            <a:off x="4381500" y="5181600"/>
            <a:ext cx="7277100" cy="647700"/>
            <a:chOff x="4381500" y="5181600"/>
            <a:chExt cx="7277100" cy="647700"/>
          </a:xfrm>
        </p:grpSpPr>
        <p:sp>
          <p:nvSpPr>
            <p:cNvPr id="41" name="Rectangle 41"/>
            <p:cNvSpPr/>
            <p:nvPr/>
          </p:nvSpPr>
          <p:spPr>
            <a:xfrm>
              <a:off x="4381500" y="5181600"/>
              <a:ext cx="7277100" cy="64770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4610100" y="5391150"/>
              <a:ext cx="228599" cy="228600"/>
              <a:chOff x="4610100" y="5391150"/>
              <a:chExt cx="228599" cy="228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4610100" y="5391150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4655515" y="5441950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695190" y="5568949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002530" y="5410200"/>
              <a:ext cx="65844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后面拉格朗日定理的推论（周期整除 |G|、质数阶群必循环）都要用到这里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528066" y="6573202"/>
            <a:ext cx="19767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EDF8"/>
                </a:solidFill>
                <a:latin typeface="+mn-lt"/>
                <a:ea typeface="+mn-ea"/>
                <a:cs typeface="+mn-cs"/>
              </a:rPr>
              <a:t>离散数学II · 6.3 子群及其陪集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701723" cy="960501"/>
            <a:chOff x="519684" y="361950"/>
            <a:chExt cx="670172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7017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a 生成的子群：一个元素“转”出一个群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theorem"/>
          <p:cNvGrpSpPr/>
          <p:nvPr/>
        </p:nvGrpSpPr>
        <p:grpSpPr>
          <a:xfrm>
            <a:off x="533400" y="1485900"/>
            <a:ext cx="6705600" cy="1676400"/>
            <a:chOff x="533400" y="1485900"/>
            <a:chExt cx="6705600" cy="1676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7056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371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a 生成的子群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28825"/>
              <a:ext cx="41578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 是群 G 的一个元素，则 a 的所有幂的集合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324100"/>
              <a:ext cx="6172200" cy="400050"/>
            </a:xfrm>
            <a:prstGeom prst="roundRect">
              <a:avLst>
                <a:gd name="adj" fmla="val 2857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23652" y="2422208"/>
              <a:ext cx="31536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(a) = {aⁿ | n = 0, ±1, ±2, …}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6780" y="2847975"/>
              <a:ext cx="49367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做成 G 的一个子群，记为 (a)，称为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 a 生成的子群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proof"/>
          <p:cNvGrpSpPr/>
          <p:nvPr/>
        </p:nvGrpSpPr>
        <p:grpSpPr>
          <a:xfrm>
            <a:off x="533400" y="3276600"/>
            <a:ext cx="6705600" cy="914400"/>
            <a:chOff x="533400" y="3276600"/>
            <a:chExt cx="6705600" cy="914400"/>
          </a:xfrm>
        </p:grpSpPr>
        <p:sp>
          <p:nvSpPr>
            <p:cNvPr id="17" name="Rectangle 17"/>
            <p:cNvSpPr/>
            <p:nvPr/>
          </p:nvSpPr>
          <p:spPr>
            <a:xfrm>
              <a:off x="533400" y="3276600"/>
              <a:ext cx="67056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34099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160" y="3470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79042" y="3464242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非空：a⁰ = 1 ∈ (a)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35754" y="3480435"/>
              <a:ext cx="25807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由判别条件二（定理 6.3.2）得证 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142" y="3854768"/>
              <a:ext cx="4788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任取 aᵐ, aⁿ ∈ (a)：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aᵐ(aⁿ)⁻¹ = aᵐa⁻ⁿ = aᵐ⁻ⁿ ∈ (a)</a:t>
              </a:r>
            </a:p>
          </p:txBody>
        </p:sp>
      </p:grpSp>
      <p:grpSp>
        <p:nvGrpSpPr>
          <p:cNvPr id="30" name="definition"/>
          <p:cNvGrpSpPr/>
          <p:nvPr/>
        </p:nvGrpSpPr>
        <p:grpSpPr>
          <a:xfrm>
            <a:off x="533400" y="4305300"/>
            <a:ext cx="6705600" cy="1409700"/>
            <a:chOff x="533400" y="4305300"/>
            <a:chExt cx="6705600" cy="1409700"/>
          </a:xfrm>
        </p:grpSpPr>
        <p:sp>
          <p:nvSpPr>
            <p:cNvPr id="24" name="Rectangle 24"/>
            <p:cNvSpPr/>
            <p:nvPr/>
          </p:nvSpPr>
          <p:spPr>
            <a:xfrm>
              <a:off x="533400" y="4305300"/>
              <a:ext cx="6705600" cy="1409700"/>
            </a:xfrm>
            <a:prstGeom prst="roundRect">
              <a:avLst>
                <a:gd name="adj" fmla="val 1081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5800" y="4457700"/>
              <a:ext cx="47625" cy="1104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4400" y="44386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1560" y="4499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1442" y="44929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循环群（巡回群）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7542" y="4864418"/>
              <a:ext cx="4514278" cy="797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如果 G 可以由它的某元素 a 生成，即有 a ∈ G 使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 = (a)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则群 G 叫做一个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；(a) 也称为由 a 生成的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循环子群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加法群中 (a) 写作 a 的全部倍数 {na | n ∈ Z}</a:t>
              </a:r>
            </a:p>
          </p:txBody>
        </p:sp>
      </p:grpSp>
      <p:grpSp>
        <p:nvGrpSpPr>
          <p:cNvPr id="32" name="analogy"/>
          <p:cNvGrpSpPr/>
          <p:nvPr/>
        </p:nvGrpSpPr>
        <p:grpSpPr>
          <a:xfrm>
            <a:off x="7391400" y="1485900"/>
            <a:ext cx="4267200" cy="2476500"/>
            <a:chOff x="7391400" y="1485900"/>
            <a:chExt cx="4267200" cy="247650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rcRect l="0" t="11310" r="0" b="11309"/>
            <a:stretch>
              <a:fillRect/>
            </a:stretch>
          </p:blipFill>
          <p:spPr>
            <a:xfrm>
              <a:off x="7391400" y="1485900"/>
              <a:ext cx="4267200" cy="2476500"/>
            </a:xfrm>
            <a:prstGeom prst="roundRect">
              <a:avLst>
                <a:gd name="adj" fmla="val 6153"/>
              </a:avLst>
            </a:prstGeom>
          </p:spPr>
        </p:pic>
      </p:grpSp>
      <p:grpSp>
        <p:nvGrpSpPr>
          <p:cNvPr id="38" name="examples"/>
          <p:cNvGrpSpPr/>
          <p:nvPr/>
        </p:nvGrpSpPr>
        <p:grpSpPr>
          <a:xfrm>
            <a:off x="7391400" y="4076700"/>
            <a:ext cx="4267200" cy="1638300"/>
            <a:chOff x="7391400" y="4076700"/>
            <a:chExt cx="4267200" cy="1638300"/>
          </a:xfrm>
        </p:grpSpPr>
        <p:sp>
          <p:nvSpPr>
            <p:cNvPr id="33" name="Rectangle 33"/>
            <p:cNvSpPr/>
            <p:nvPr/>
          </p:nvSpPr>
          <p:spPr>
            <a:xfrm>
              <a:off x="7391400" y="4076700"/>
              <a:ext cx="4267200" cy="163830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620000" y="41910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61732" y="4251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4642" y="4245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常见的循环（子）群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13904" y="4575810"/>
              <a:ext cx="3624072" cy="9776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 由 1 生成；(nZ, +) 由 n 生成</a:t>
              </a:r>
            </a:p>
            <a:p>
              <a:pPr algn="l" marL="129540" indent="-129540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S₄ 不是循环群；((1 2)) = {I, (1 2)}</a:t>
              </a:r>
            </a:p>
            <a:p>
              <a:pPr algn="l" marL="129540" indent="-129540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(C*, ·) 中：(i) = {1, −1, i, −i}，(−1) = {1, −1}</a:t>
              </a:r>
            </a:p>
            <a:p>
              <a:pPr algn="l" marL="129540" indent="-129540">
                <a:lnSpc>
                  <a:spcPts val="19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= {…, 2⁻², 2⁻¹, 2⁰, 2, 2², …}（无限）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75335" y="6004277"/>
              <a:ext cx="207894" cy="212883"/>
            </a:xfrm>
            <a:custGeom>
              <a:avLst/>
              <a:gdLst/>
              <a:ahLst/>
              <a:cxnLst/>
              <a:rect l="l" t="t" r="r" b="b"/>
              <a:pathLst>
                <a:path w="207894" h="212883">
                  <a:moveTo>
                    <a:pt x="0" y="88548"/>
                  </a:moveTo>
                  <a:cubicBezTo>
                    <a:pt x="6644" y="37858"/>
                    <a:pt x="49919" y="0"/>
                    <a:pt x="101042" y="153"/>
                  </a:cubicBezTo>
                  <a:cubicBezTo>
                    <a:pt x="152165" y="306"/>
                    <a:pt x="195212" y="38422"/>
                    <a:pt x="201553" y="89150"/>
                  </a:cubicBezTo>
                  <a:cubicBezTo>
                    <a:pt x="207894" y="139879"/>
                    <a:pt x="175554" y="187418"/>
                    <a:pt x="126042" y="200151"/>
                  </a:cubicBezTo>
                  <a:cubicBezTo>
                    <a:pt x="76529" y="212883"/>
                    <a:pt x="25267" y="186842"/>
                    <a:pt x="6350" y="139347"/>
                  </a:cubicBezTo>
                  <a:moveTo>
                    <a:pt x="0" y="202847"/>
                  </a:moveTo>
                  <a:lnTo>
                    <a:pt x="0" y="139347"/>
                  </a:lnTo>
                  <a:lnTo>
                    <a:pt x="63500" y="13934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34618" y="6003608"/>
              <a:ext cx="64822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包含 a 的最小子群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：a 的正幂、负幂和 a⁰ = 1，一个不少。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933438" cy="960501"/>
            <a:chOff x="519684" y="361950"/>
            <a:chExt cx="693343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9334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循环群一定可交换：两个幂相乘，指数相加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onclusion"/>
          <p:cNvGrpSpPr/>
          <p:nvPr/>
        </p:nvGrpSpPr>
        <p:grpSpPr>
          <a:xfrm>
            <a:off x="533400" y="1485900"/>
            <a:ext cx="5486400" cy="1866900"/>
            <a:chOff x="533400" y="1485900"/>
            <a:chExt cx="54864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961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每个循环群都是 Abel 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45018"/>
              <a:ext cx="387134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证明：设 (G, *) 是循环群，g 是生成元，则对任意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a, b ∈ G，有 a = gʳ，b = gˢ，于是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14400" y="2571750"/>
              <a:ext cx="4953000" cy="400050"/>
            </a:xfrm>
            <a:prstGeom prst="roundRect">
              <a:avLst>
                <a:gd name="adj" fmla="val 2857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83456" y="266033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 * b = gʳ * gˢ = gʳ⁺ˢ = gˢ * gʳ = b *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7542" y="3073718"/>
              <a:ext cx="1585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因此 G 是 Abel 群 ∎</a:t>
              </a:r>
            </a:p>
          </p:txBody>
        </p:sp>
      </p:grpSp>
      <p:grpSp>
        <p:nvGrpSpPr>
          <p:cNvPr id="21" name="converse-note"/>
          <p:cNvGrpSpPr/>
          <p:nvPr/>
        </p:nvGrpSpPr>
        <p:grpSpPr>
          <a:xfrm>
            <a:off x="533400" y="3467100"/>
            <a:ext cx="5486400" cy="685800"/>
            <a:chOff x="533400" y="3467100"/>
            <a:chExt cx="5486400" cy="685800"/>
          </a:xfrm>
        </p:grpSpPr>
        <p:sp>
          <p:nvSpPr>
            <p:cNvPr id="17" name="Rectangle 17"/>
            <p:cNvSpPr/>
            <p:nvPr/>
          </p:nvSpPr>
          <p:spPr>
            <a:xfrm>
              <a:off x="533400" y="3467100"/>
              <a:ext cx="5486400" cy="685800"/>
            </a:xfrm>
            <a:prstGeom prst="roundRect">
              <a:avLst>
                <a:gd name="adj" fmla="val 22222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36766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160" y="3737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79042" y="3730942"/>
              <a:ext cx="4117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反过来</a:t>
              </a:r>
              <a:r>
                <a:rPr lang="zh-CN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不成立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：Klein 四元群可交换，却不是循环群</a:t>
              </a:r>
            </a:p>
          </p:txBody>
        </p:sp>
      </p:grpSp>
      <p:grpSp>
        <p:nvGrpSpPr>
          <p:cNvPr id="32" name="s3-cyclic"/>
          <p:cNvGrpSpPr/>
          <p:nvPr/>
        </p:nvGrpSpPr>
        <p:grpSpPr>
          <a:xfrm>
            <a:off x="533400" y="4267200"/>
            <a:ext cx="5486400" cy="1447800"/>
            <a:chOff x="533400" y="4267200"/>
            <a:chExt cx="5486400" cy="1447800"/>
          </a:xfrm>
        </p:grpSpPr>
        <p:sp>
          <p:nvSpPr>
            <p:cNvPr id="22" name="Rectangle 22"/>
            <p:cNvSpPr/>
            <p:nvPr/>
          </p:nvSpPr>
          <p:spPr>
            <a:xfrm>
              <a:off x="533400" y="4267200"/>
              <a:ext cx="5486400" cy="1447800"/>
            </a:xfrm>
            <a:prstGeom prst="roundRect">
              <a:avLst>
                <a:gd name="adj" fmla="val 1052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2000" y="43815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03732" y="44424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6642" y="4435792"/>
              <a:ext cx="3442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写出 3 次对称群 (S₃, ·) 的所有循环子群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142" y="4750118"/>
              <a:ext cx="772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(I) = {I}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1642" y="475011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((1 2)) = {I, (1 2)}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5142" y="499776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((1 3)) = {I, (1 3)}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31642" y="4997768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((2 3)) = {I, (2 3)}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142" y="5245418"/>
              <a:ext cx="40462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((1 2 3)) = ((1 3 2)) = {I, (1 2 3), (1 3 2)}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5487352"/>
              <a:ext cx="41251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S₃ 中没有周期为 6 的元素，S₃ 本身不是循环群（它也不可交换）</a:t>
              </a:r>
            </a:p>
          </p:txBody>
        </p:sp>
      </p:grpSp>
      <p:grpSp>
        <p:nvGrpSpPr>
          <p:cNvPr id="81" name="table-card"/>
          <p:cNvGrpSpPr/>
          <p:nvPr/>
        </p:nvGrpSpPr>
        <p:grpSpPr>
          <a:xfrm>
            <a:off x="6172200" y="1485900"/>
            <a:ext cx="5486400" cy="4229100"/>
            <a:chOff x="6172200" y="1485900"/>
            <a:chExt cx="5486400" cy="4229100"/>
          </a:xfrm>
        </p:grpSpPr>
        <p:sp>
          <p:nvSpPr>
            <p:cNvPr id="33" name="Rectangle 33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008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25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65442" y="1673542"/>
              <a:ext cx="36048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元循环群 (a) = {1, a, a², a³} 的乘法表</a:t>
              </a:r>
            </a:p>
          </p:txBody>
        </p:sp>
        <p:grpSp>
          <p:nvGrpSpPr>
            <p:cNvPr id="79" name="table-c4"/>
            <p:cNvGrpSpPr/>
            <p:nvPr/>
          </p:nvGrpSpPr>
          <p:grpSpPr>
            <a:xfrm>
              <a:off x="7200900" y="2057400"/>
              <a:ext cx="3429000" cy="2667000"/>
              <a:chOff x="7200900" y="2057400"/>
              <a:chExt cx="3429000" cy="2667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7200900" y="2057400"/>
                <a:ext cx="3429000" cy="5334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7200900" y="2590800"/>
                <a:ext cx="685800" cy="21336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7886700" y="2590800"/>
                <a:ext cx="2743200" cy="2133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886700" y="2590800"/>
                <a:ext cx="685800" cy="5334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9944100" y="3124200"/>
                <a:ext cx="685800" cy="5334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9258300" y="3657600"/>
                <a:ext cx="685800" cy="5334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3" name="Rectangle 43"/>
              <p:cNvSpPr/>
              <p:nvPr/>
            </p:nvSpPr>
            <p:spPr>
              <a:xfrm>
                <a:off x="8572500" y="4191000"/>
                <a:ext cx="685800" cy="5334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7200900" y="25908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7200900" y="31242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7200900" y="36576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7200900" y="4191000"/>
                <a:ext cx="342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9525">
                    <a:moveTo>
                      <a:pt x="0" y="0"/>
                    </a:moveTo>
                    <a:lnTo>
                      <a:pt x="34290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48" name="Line 48"/>
              <p:cNvSpPr/>
              <p:nvPr/>
            </p:nvSpPr>
            <p:spPr>
              <a:xfrm>
                <a:off x="78867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9" name="Line 49"/>
              <p:cNvSpPr/>
              <p:nvPr/>
            </p:nvSpPr>
            <p:spPr>
              <a:xfrm>
                <a:off x="85725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92583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9944100" y="2057400"/>
                <a:ext cx="9525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0">
                    <a:moveTo>
                      <a:pt x="0" y="0"/>
                    </a:moveTo>
                    <a:lnTo>
                      <a:pt x="0" y="266700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7200900" y="2057400"/>
                <a:ext cx="3429000" cy="26670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grpSp>
            <p:nvGrpSpPr>
              <p:cNvPr id="78" name="Group 78"/>
              <p:cNvGrpSpPr/>
              <p:nvPr/>
            </p:nvGrpSpPr>
            <p:grpSpPr>
              <a:xfrm>
                <a:off x="7407142" y="2222182"/>
                <a:ext cx="3016516" cy="2456307"/>
                <a:chOff x="7407142" y="2222182"/>
                <a:chExt cx="3016516" cy="245630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7471280" y="22221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·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8157080" y="22221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8842880" y="22221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9464542" y="22221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a²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10150342" y="22221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a³</a:t>
                  </a: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7471280" y="27555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8157080" y="27555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8845934" y="2755582"/>
                  <a:ext cx="13893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9470650" y="27555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a²</a:t>
                  </a:r>
                </a:p>
              </p:txBody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10156450" y="27555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a³</a:t>
                  </a:r>
                </a:p>
              </p:txBody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7471280" y="32889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8160134" y="3288982"/>
                  <a:ext cx="13893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8784850" y="32889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a²</a:t>
                  </a:r>
                </a:p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9470650" y="32889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a³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0214480" y="32889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7407142" y="38223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a²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8099050" y="38223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a²</a:t>
                  </a:r>
                </a:p>
              </p:txBody>
            </p:sp>
            <p:sp>
              <p:nvSpPr>
                <p:cNvPr id="70" name="TextBox 70"/>
                <p:cNvSpPr txBox="1"/>
                <p:nvPr/>
              </p:nvSpPr>
              <p:spPr>
                <a:xfrm>
                  <a:off x="8784850" y="38223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a³</a:t>
                  </a:r>
                </a:p>
              </p:txBody>
            </p:sp>
            <p:sp>
              <p:nvSpPr>
                <p:cNvPr id="71" name="TextBox 71"/>
                <p:cNvSpPr txBox="1"/>
                <p:nvPr/>
              </p:nvSpPr>
              <p:spPr>
                <a:xfrm>
                  <a:off x="9528680" y="38223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10217534" y="3822382"/>
                  <a:ext cx="13893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7407142" y="4355782"/>
                  <a:ext cx="273316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a³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8099050" y="43557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a³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8842880" y="4355782"/>
                  <a:ext cx="145040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65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1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9531734" y="4355782"/>
                  <a:ext cx="138932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10156450" y="4355782"/>
                  <a:ext cx="261099" cy="3227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65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a²</a:t>
                  </a:r>
                </a:p>
              </p:txBody>
            </p:sp>
          </p:grpSp>
        </p:grpSp>
        <p:sp>
          <p:nvSpPr>
            <p:cNvPr id="80" name="TextBox 80"/>
            <p:cNvSpPr txBox="1"/>
            <p:nvPr/>
          </p:nvSpPr>
          <p:spPr>
            <a:xfrm>
              <a:off x="6394704" y="4937760"/>
              <a:ext cx="414223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读表：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aⁱ · aʲ = aⁱ⁺ʲ，指数满 4 就减去 4（a⁴ = 1）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每一行都是上一行“转一格”；表关于主对角线对称（可交换）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绿格为 1：a 与 a³ 互逆，a² 的逆是它自己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2" name="Rectangle 8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62000" y="6029325"/>
              <a:ext cx="228600" cy="152400"/>
              <a:chOff x="762000" y="6029325"/>
              <a:chExt cx="228600" cy="1524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12800" y="60293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0" y="50800"/>
                    </a:moveTo>
                    <a:lnTo>
                      <a:pt x="177800" y="50800"/>
                    </a:lnTo>
                    <a:lnTo>
                      <a:pt x="1270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62000" y="6130925"/>
                <a:ext cx="177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50800">
                    <a:moveTo>
                      <a:pt x="177800" y="0"/>
                    </a:moveTo>
                    <a:lnTo>
                      <a:pt x="0" y="0"/>
                    </a:ln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134618" y="6003608"/>
              <a:ext cx="78254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循环群里的乘法就是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“指数相加”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，所以一定可交换；但可交换群未必是循环群。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8" name="TextBox 88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350047" cy="960501"/>
            <a:chOff x="519684" y="361950"/>
            <a:chExt cx="4350047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5004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元素的周期：转几步回到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power-strip"/>
          <p:cNvGrpSpPr/>
          <p:nvPr/>
        </p:nvGrpSpPr>
        <p:grpSpPr>
          <a:xfrm>
            <a:off x="533400" y="1485900"/>
            <a:ext cx="11125200" cy="723900"/>
            <a:chOff x="533400" y="1485900"/>
            <a:chExt cx="11125200" cy="723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75335" y="1746602"/>
              <a:ext cx="207894" cy="212883"/>
            </a:xfrm>
            <a:custGeom>
              <a:avLst/>
              <a:gdLst/>
              <a:ahLst/>
              <a:cxnLst/>
              <a:rect l="l" t="t" r="r" b="b"/>
              <a:pathLst>
                <a:path w="207894" h="212883">
                  <a:moveTo>
                    <a:pt x="0" y="88548"/>
                  </a:moveTo>
                  <a:cubicBezTo>
                    <a:pt x="6644" y="37858"/>
                    <a:pt x="49919" y="0"/>
                    <a:pt x="101042" y="153"/>
                  </a:cubicBezTo>
                  <a:cubicBezTo>
                    <a:pt x="152165" y="306"/>
                    <a:pt x="195212" y="38422"/>
                    <a:pt x="201553" y="89150"/>
                  </a:cubicBezTo>
                  <a:cubicBezTo>
                    <a:pt x="207894" y="139879"/>
                    <a:pt x="175554" y="187418"/>
                    <a:pt x="126042" y="200151"/>
                  </a:cubicBezTo>
                  <a:cubicBezTo>
                    <a:pt x="76529" y="212883"/>
                    <a:pt x="25267" y="186842"/>
                    <a:pt x="6350" y="139347"/>
                  </a:cubicBezTo>
                  <a:moveTo>
                    <a:pt x="0" y="202847"/>
                  </a:moveTo>
                  <a:lnTo>
                    <a:pt x="0" y="139347"/>
                  </a:lnTo>
                  <a:lnTo>
                    <a:pt x="63500" y="139347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6142" y="1768792"/>
              <a:ext cx="1695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看由 a 生成的 (a)：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69034" y="173640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67100" y="1657350"/>
              <a:ext cx="6858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53209" y="176879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a⁻²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05300" y="1657350"/>
              <a:ext cx="6858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91409" y="1768792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a⁻¹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143500" y="1657350"/>
              <a:ext cx="9906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64789" y="1768792"/>
              <a:ext cx="548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a⁰ = 1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657350"/>
              <a:ext cx="6858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72564" y="176879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24700" y="1657350"/>
              <a:ext cx="6858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60787" y="176879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962900" y="1657350"/>
              <a:ext cx="685800" cy="3810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8987" y="1768792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07834" y="173640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85377" y="1784985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这串幂记为 (1)，问：会不会重复？</a:t>
              </a:r>
            </a:p>
          </p:txBody>
        </p:sp>
      </p:grpSp>
      <p:grpSp>
        <p:nvGrpSpPr>
          <p:cNvPr id="32" name="case-infinite"/>
          <p:cNvGrpSpPr/>
          <p:nvPr/>
        </p:nvGrpSpPr>
        <p:grpSpPr>
          <a:xfrm>
            <a:off x="533400" y="2362200"/>
            <a:ext cx="5486400" cy="1066800"/>
            <a:chOff x="533400" y="2362200"/>
            <a:chExt cx="5486400" cy="1066800"/>
          </a:xfrm>
        </p:grpSpPr>
        <p:sp>
          <p:nvSpPr>
            <p:cNvPr id="26" name="Rectangle 26"/>
            <p:cNvSpPr/>
            <p:nvPr/>
          </p:nvSpPr>
          <p:spPr>
            <a:xfrm>
              <a:off x="533400" y="2362200"/>
              <a:ext cx="5486400" cy="10668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5800" y="25146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4400" y="24955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17571" y="25565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07642" y="2549842"/>
              <a:ext cx="2232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幂两两不同 → 周期为无穷大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542" y="2883218"/>
              <a:ext cx="4298680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中所有元素彼此不同，称 a 的周期为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无穷大（或 0）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此时对任意两个不同的整数 s 与 t，都有 aˢ ≠ aᵗ</a:t>
              </a:r>
            </a:p>
          </p:txBody>
        </p:sp>
      </p:grpSp>
      <p:grpSp>
        <p:nvGrpSpPr>
          <p:cNvPr id="42" name="case-finite"/>
          <p:cNvGrpSpPr/>
          <p:nvPr/>
        </p:nvGrpSpPr>
        <p:grpSpPr>
          <a:xfrm>
            <a:off x="533400" y="3543300"/>
            <a:ext cx="5486400" cy="2171700"/>
            <a:chOff x="533400" y="3543300"/>
            <a:chExt cx="5486400" cy="2171700"/>
          </a:xfrm>
        </p:grpSpPr>
        <p:sp>
          <p:nvSpPr>
            <p:cNvPr id="33" name="Rectangle 33"/>
            <p:cNvSpPr/>
            <p:nvPr/>
          </p:nvSpPr>
          <p:spPr>
            <a:xfrm>
              <a:off x="533400" y="3543300"/>
              <a:ext cx="5486400" cy="2171700"/>
            </a:xfrm>
            <a:prstGeom prst="roundRect">
              <a:avLst>
                <a:gd name="adj" fmla="val 701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85800" y="369570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4400" y="36766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17571" y="37376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07642" y="3730942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出现重复 → 周期为 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542" y="4064318"/>
              <a:ext cx="429996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中出现重复：有整数 s ≠ t 使 aˢ = aᵗ，不妨设 s &gt; t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于是 s − t &gt; 0 且 aˢ⁻ᵗ = 1，即有正整数 m 使 aᵐ =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14400" y="4648200"/>
              <a:ext cx="4953000" cy="495300"/>
            </a:xfrm>
            <a:prstGeom prst="roundRect">
              <a:avLst>
                <a:gd name="adj" fmla="val 23077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97298" y="4800600"/>
              <a:ext cx="3987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适合 aⁿ = 1 的最小正整数 n，叫做 a 的周期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304" y="5318760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直观：1, a, a², …, aⁿ⁻¹ 绕成一圈，走到 aⁿ 恰好回到 1</a:t>
              </a:r>
            </a:p>
          </p:txBody>
        </p:sp>
      </p:grpSp>
      <p:grpSp>
        <p:nvGrpSpPr>
          <p:cNvPr id="63" name="facts"/>
          <p:cNvGrpSpPr/>
          <p:nvPr/>
        </p:nvGrpSpPr>
        <p:grpSpPr>
          <a:xfrm>
            <a:off x="6172200" y="2362200"/>
            <a:ext cx="5486400" cy="3352800"/>
            <a:chOff x="6172200" y="2362200"/>
            <a:chExt cx="5486400" cy="3352800"/>
          </a:xfrm>
        </p:grpSpPr>
        <p:grpSp>
          <p:nvGrpSpPr>
            <p:cNvPr id="47" name="fact-1"/>
            <p:cNvGrpSpPr/>
            <p:nvPr/>
          </p:nvGrpSpPr>
          <p:grpSpPr>
            <a:xfrm>
              <a:off x="6172200" y="2362200"/>
              <a:ext cx="5486400" cy="533400"/>
              <a:chOff x="6172200" y="2362200"/>
              <a:chExt cx="5486400" cy="5334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172200" y="2362200"/>
                <a:ext cx="5486400" cy="533400"/>
              </a:xfrm>
              <a:prstGeom prst="roundRect">
                <a:avLst>
                  <a:gd name="adj" fmla="val 28571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400800" y="2495550"/>
                <a:ext cx="6858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6503971" y="2556510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结论 1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232142" y="2549842"/>
                <a:ext cx="24712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单位元的周期为 1，</a:t>
                </a:r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(1) = {1}</a:t>
                </a:r>
              </a:p>
            </p:txBody>
          </p:sp>
        </p:grpSp>
        <p:grpSp>
          <p:nvGrpSpPr>
            <p:cNvPr id="55" name="fact-2"/>
            <p:cNvGrpSpPr/>
            <p:nvPr/>
          </p:nvGrpSpPr>
          <p:grpSpPr>
            <a:xfrm>
              <a:off x="6172200" y="3009900"/>
              <a:ext cx="5486400" cy="1333500"/>
              <a:chOff x="6172200" y="3009900"/>
              <a:chExt cx="5486400" cy="13335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6172200" y="3009900"/>
                <a:ext cx="5486400" cy="1333500"/>
              </a:xfrm>
              <a:prstGeom prst="roundRect">
                <a:avLst>
                  <a:gd name="adj" fmla="val 11429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324600" y="3162300"/>
                <a:ext cx="47625" cy="1028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6553200" y="3143250"/>
                <a:ext cx="685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656371" y="3204210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结论 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46442" y="3197542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任一元素与它的逆元周期相同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547104" y="3509010"/>
                <a:ext cx="469087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29540" indent="-129540">
                  <a:lnSpc>
                    <a:spcPts val="19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周期无穷大时，a⁻¹ 的周期显然也是无穷大</a:t>
                </a:r>
              </a:p>
              <a:p>
                <a:pPr algn="l" marL="129540" indent="-129540">
                  <a:lnSpc>
                    <a:spcPts val="19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 a 周期为 n，a⁻¹ 周期为 m：</a:t>
                </a:r>
                <a:r>
                  <a:rPr lang="en-US" sz="1200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(a⁻¹)ⁿ = (aⁿ)⁻¹ = 1⁻¹ = 1</a:t>
                </a: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⇒ m ≤ n</a:t>
                </a:r>
              </a:p>
              <a:p>
                <a:pPr algn="l" marL="129540" indent="-129540">
                  <a:lnSpc>
                    <a:spcPts val="1950"/>
                  </a:lnSpc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aᵐ = ((aᵐ)⁻¹)⁻¹ = ((a⁻¹)ᵐ)⁻¹ = 1⁻¹ = 1</a:t>
                </a:r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⇒ n ≤ m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592539" y="3988118"/>
                <a:ext cx="8824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3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故 m = n ∎</a:t>
                </a:r>
              </a:p>
            </p:txBody>
          </p:sp>
        </p:grpSp>
        <p:grpSp>
          <p:nvGrpSpPr>
            <p:cNvPr id="62" name="fact-3"/>
            <p:cNvGrpSpPr/>
            <p:nvPr/>
          </p:nvGrpSpPr>
          <p:grpSpPr>
            <a:xfrm>
              <a:off x="6172200" y="4457700"/>
              <a:ext cx="5486400" cy="1257300"/>
              <a:chOff x="6172200" y="4457700"/>
              <a:chExt cx="5486400" cy="1257300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172200" y="4457700"/>
                <a:ext cx="5486400" cy="1257300"/>
              </a:xfrm>
              <a:prstGeom prst="roundRect">
                <a:avLst>
                  <a:gd name="adj" fmla="val 12121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324600" y="4610100"/>
                <a:ext cx="47625" cy="9525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6553200" y="4591050"/>
                <a:ext cx="6858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656371" y="4652010"/>
                <a:ext cx="4794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结论 3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346442" y="4645342"/>
                <a:ext cx="32263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 元有限群中，每个元素周期有限且 ≤ n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47104" y="4937760"/>
                <a:ext cx="4363212" cy="72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a，序列 a, a², …, aⁿ⁺¹ 共 n + 1 项，而 G 只有 n 个元素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⇒ 必有 aʳ = aˢ（1 ≤ s &lt; r ≤ n + 1），</a:t>
                </a:r>
                <a:r>
                  <a:rPr lang="en-US" sz="1200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aʳ⁻ˢ = aʳa⁻ˢ = aˢa⁻ˢ = 1</a:t>
                </a:r>
                <a:br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所以 a 的周期 ≤ r − s ≤ n（抽屉原理）</a:t>
                </a:r>
              </a:p>
            </p:txBody>
          </p:sp>
        </p:grpSp>
      </p:grpSp>
      <p:grpSp>
        <p:nvGrpSpPr>
          <p:cNvPr id="6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134618" y="6003608"/>
              <a:ext cx="70153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周期 = 从 a 出发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第一次回到 1 的步数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；幂永不重复，周期就是无穷大。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40469" cy="960501"/>
            <a:chOff x="519684" y="361950"/>
            <a:chExt cx="544046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404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周期的例：一步步乘，直到回到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examples"/>
          <p:cNvGrpSpPr/>
          <p:nvPr/>
        </p:nvGrpSpPr>
        <p:grpSpPr>
          <a:xfrm>
            <a:off x="533400" y="1485900"/>
            <a:ext cx="5486400" cy="4229100"/>
            <a:chOff x="533400" y="1485900"/>
            <a:chExt cx="54864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四个群里的周期</a:t>
              </a:r>
            </a:p>
          </p:txBody>
        </p:sp>
        <p:grpSp>
          <p:nvGrpSpPr>
            <p:cNvPr id="14" name="ex-s4"/>
            <p:cNvGrpSpPr/>
            <p:nvPr/>
          </p:nvGrpSpPr>
          <p:grpSpPr>
            <a:xfrm>
              <a:off x="755142" y="2025968"/>
              <a:ext cx="5112258" cy="641032"/>
              <a:chOff x="755142" y="2025968"/>
              <a:chExt cx="5112258" cy="64103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55142" y="2025968"/>
                <a:ext cx="24542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① S₄ 中 (1 2 3 4) 的周期是 </a:t>
                </a:r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762000" y="2286000"/>
                <a:ext cx="5105400" cy="381000"/>
              </a:xfrm>
              <a:prstGeom prst="roundRect">
                <a:avLst>
                  <a:gd name="adj" fmla="val 3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908304" y="2404110"/>
                <a:ext cx="46861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 xml:space="preserve">(1 2 3 4)²= (1 3)(2 4)，(1 2 3 4)³ = (1 4 3 2)，(1 2 3 4)⁴ = </a:t>
                </a:r>
                <a:r>
                  <a:rPr lang="en-US" sz="1200" b="1" dirty="0">
                    <a:solidFill>
                      <a:srgbClr val="0F7A68"/>
                    </a:solidFill>
                    <a:latin typeface="Cambria Math"/>
                    <a:ea typeface="Cambria Math"/>
                    <a:cs typeface="Cambria Math"/>
                  </a:rPr>
                  <a:t>I</a:t>
                </a:r>
              </a:p>
            </p:txBody>
          </p:sp>
        </p:grpSp>
        <p:grpSp>
          <p:nvGrpSpPr>
            <p:cNvPr id="18" name="ex-complex"/>
            <p:cNvGrpSpPr/>
            <p:nvPr/>
          </p:nvGrpSpPr>
          <p:grpSpPr>
            <a:xfrm>
              <a:off x="755142" y="2826068"/>
              <a:ext cx="4301090" cy="530732"/>
              <a:chOff x="755142" y="2826068"/>
              <a:chExt cx="4301090" cy="53073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55142" y="2826068"/>
                <a:ext cx="10926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② (C*, ·)：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7642" y="2826068"/>
                <a:ext cx="30941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的周期 1，−1 的周期 2，±i 的周期 4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1707642" y="3053848"/>
                    <a:ext cx="3348590" cy="3029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模 r ≠ 1 的复数 z = </a:t>
                    </a:r>
                    <a14:m>
                      <m:oMath xmlns:a="http://schemas.openxmlformats.org/drawingml/2006/main" xmlns:m="http://schemas.openxmlformats.org/officeDocument/2006/math">
                        <m:r>
                          <a:rPr lang="zh-CN" sz="1350" dirty="0">
                            <a:solidFill>
                              <a:schemeClr val="dk1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chemeClr val="dk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iθ</m:t>
                            </m:r>
                          </m:sup>
                        </m:sSup>
                      </m:oMath>
                    </a14:m>
                    <a:r>
                      <a:rPr lang="zh-CN" sz="135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rPr>
                      <a:t xml:space="preserve"> 的周期为无穷大</a:t>
                    </a:r>
                  </a:p>
                </p:txBody>
              </p:sp>
            </mc:Choice>
          </mc:AlternateContent>
        </p:grpSp>
        <p:grpSp>
          <p:nvGrpSpPr>
            <p:cNvPr id="22" name="ex-integer"/>
            <p:cNvGrpSpPr/>
            <p:nvPr/>
          </p:nvGrpSpPr>
          <p:grpSpPr>
            <a:xfrm>
              <a:off x="755142" y="3454718"/>
              <a:ext cx="3610489" cy="485393"/>
              <a:chOff x="755142" y="3454718"/>
              <a:chExt cx="3610489" cy="48539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55142" y="3454718"/>
                <a:ext cx="9817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(Z, +)：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07642" y="3454718"/>
                <a:ext cx="26579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 的周期为 1；3 的周期为无穷大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9166" y="3734752"/>
                <a:ext cx="21026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加法群里“aⁿ = 1”要读作“na = 0”</a:t>
                </a:r>
              </a:p>
            </p:txBody>
          </p:sp>
        </p:grpSp>
        <p:grpSp>
          <p:nvGrpSpPr>
            <p:cNvPr id="27" name="ex-matrix"/>
            <p:cNvGrpSpPr/>
            <p:nvPr/>
          </p:nvGrpSpPr>
          <p:grpSpPr>
            <a:xfrm>
              <a:off x="755142" y="4064318"/>
              <a:ext cx="5112258" cy="1552193"/>
              <a:chOff x="755142" y="4064318"/>
              <a:chExt cx="5112258" cy="155219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55142" y="4064318"/>
                <a:ext cx="35794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④ 2 阶非奇异实矩阵乘法群中，A 的周期为 </a:t>
                </a:r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762000" y="4324350"/>
                <a:ext cx="5105400" cy="9144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matrix-powers"/>
                  <p:cNvSpPr txBox="1">
                    <a:spLocks noGrp="1"/>
                  </p:cNvSpPr>
                  <p:nvPr/>
                </p:nvSpPr>
                <p:spPr>
                  <a:xfrm>
                    <a:off x="914400" y="4400550"/>
                    <a:ext cx="4800600" cy="76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lIns="0" tIns="0" rIns="0" bIns="0" wrap="none" anchor="ctr">
                    <a:normAutofit/>
                  </a:bodyPr>
                  <a:lstStyle/>
                  <a:p>
                    <a:pPr algn="ctr"/>
                    <a14:m>
                      <m:oMathPara xmlns:a="http://schemas.openxmlformats.org/drawingml/2006/main"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baseJc m:val="center"/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</m:mcPr>
                                    </m:mc>
                                    <m:mc>
                                      <m:mcPr>
                                        <m:count m:val="1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</m:t>
                          </m:r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m>
                                <m:mPr>
                                  <m:baseJc m:val="center"/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</m:mcPr>
                                    </m:mc>
                                    <m:mc>
                                      <m:mcPr>
                                        <m:count m:val="1"/>
                                      </m:mcPr>
                                    </m:mc>
                                  </m:mcs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 </m:t>
                          </m:r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oMath>
                      </m:oMathPara>
                    </a14:m>
                  </a:p>
                </p:txBody>
              </p:sp>
            </mc:Choice>
          </mc:AlternateContent>
          <p:sp>
            <p:nvSpPr>
              <p:cNvPr id="26" name="TextBox 26"/>
              <p:cNvSpPr txBox="1"/>
              <p:nvPr/>
            </p:nvSpPr>
            <p:spPr>
              <a:xfrm>
                <a:off x="756666" y="5411152"/>
                <a:ext cx="37129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E 为 2 阶单位矩阵；A ≠ E，A² ≠ E，A³ = E，所以周期为 3</a:t>
                </a:r>
              </a:p>
            </p:txBody>
          </p:sp>
        </p:grpSp>
      </p:grpSp>
      <p:grpSp>
        <p:nvGrpSpPr>
          <p:cNvPr id="72" name="practice"/>
          <p:cNvGrpSpPr/>
          <p:nvPr/>
        </p:nvGrpSpPr>
        <p:grpSpPr>
          <a:xfrm>
            <a:off x="6172200" y="1485900"/>
            <a:ext cx="5486400" cy="4229100"/>
            <a:chOff x="6172200" y="1485900"/>
            <a:chExt cx="5486400" cy="4229100"/>
          </a:xfrm>
        </p:grpSpPr>
        <p:sp>
          <p:nvSpPr>
            <p:cNvPr id="29" name="Rectangle 29"/>
            <p:cNvSpPr/>
            <p:nvPr/>
          </p:nvSpPr>
          <p:spPr>
            <a:xfrm>
              <a:off x="6172200" y="1485900"/>
              <a:ext cx="54864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008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79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17842" y="16735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先自己算，再看右边的答案</a:t>
              </a:r>
            </a:p>
          </p:txBody>
        </p:sp>
        <p:grpSp>
          <p:nvGrpSpPr>
            <p:cNvPr id="48" name="quick-answers"/>
            <p:cNvGrpSpPr/>
            <p:nvPr/>
          </p:nvGrpSpPr>
          <p:grpSpPr>
            <a:xfrm>
              <a:off x="6393942" y="2057400"/>
              <a:ext cx="5036058" cy="1528001"/>
              <a:chOff x="6393942" y="2057400"/>
              <a:chExt cx="5036058" cy="1528001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6400800" y="240030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6400800" y="280035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6400800" y="320040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393942" y="2121218"/>
                <a:ext cx="17273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S₄ 中 (1 2 3) 的周期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10744200" y="2057400"/>
                <a:ext cx="6858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027765" y="21116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393942" y="2521268"/>
                <a:ext cx="1881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S₄ 中 (1 3 2 4) 的周期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10744200" y="2457450"/>
                <a:ext cx="6858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1027765" y="25117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393942" y="2921318"/>
                <a:ext cx="1698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(C*, ·) 中 2 的周期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0744200" y="2857500"/>
                <a:ext cx="6858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1027765" y="291179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∞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393942" y="3321368"/>
                <a:ext cx="15929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(Z, +) 中 1 的周期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10744200" y="3257550"/>
                <a:ext cx="685800" cy="285750"/>
              </a:xfrm>
              <a:prstGeom prst="roundRect">
                <a:avLst>
                  <a:gd name="adj" fmla="val 5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11027765" y="3311842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∞</a:t>
                </a:r>
              </a:p>
            </p:txBody>
          </p:sp>
        </p:grpSp>
        <p:grpSp>
          <p:nvGrpSpPr>
            <p:cNvPr id="71" name="mod11"/>
            <p:cNvGrpSpPr/>
            <p:nvPr/>
          </p:nvGrpSpPr>
          <p:grpSpPr>
            <a:xfrm>
              <a:off x="6400800" y="3657600"/>
              <a:ext cx="5029200" cy="1920811"/>
              <a:chOff x="6400800" y="3657600"/>
              <a:chExt cx="5029200" cy="1920811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6400800" y="3657600"/>
                <a:ext cx="5029200" cy="1905000"/>
              </a:xfrm>
              <a:prstGeom prst="roundRect">
                <a:avLst>
                  <a:gd name="adj" fmla="val 6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6546342" y="3759518"/>
                <a:ext cx="38387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 = {1, 3, 4, 5, 9} 在模 11 乘法下是群吗？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546342" y="4007168"/>
                <a:ext cx="16870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若是，求 5 的周期。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547104" y="430911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有限非空，验证乘法封闭即可：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547104" y="4537710"/>
                <a:ext cx="27988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3·4 ≡ 1，4·5 ≡ 9，5·9 ≡ 1，4·9 ≡ 3 …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547104" y="4766310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1 为单位元，3 与 4 互逆，5 与 9 互逆 ⇒ </a:t>
                </a:r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是群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547104" y="5052060"/>
                <a:ext cx="2459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5, 5² ≡ 3, 5³ ≡ 4, 5⁴ ≡ 9, 5⁵ ≡ 1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547104" y="5299710"/>
                <a:ext cx="109090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5 的周期为 5</a:t>
                </a:r>
              </a:p>
            </p:txBody>
          </p:sp>
          <p:grpSp>
            <p:nvGrpSpPr>
              <p:cNvPr id="70" name="ring-5"/>
              <p:cNvGrpSpPr/>
              <p:nvPr/>
            </p:nvGrpSpPr>
            <p:grpSpPr>
              <a:xfrm>
                <a:off x="10115550" y="4048125"/>
                <a:ext cx="1257300" cy="1530286"/>
                <a:chOff x="10115550" y="4048125"/>
                <a:chExt cx="1257300" cy="1530286"/>
              </a:xfrm>
            </p:grpSpPr>
            <p:sp>
              <p:nvSpPr>
                <p:cNvPr id="57" name="Ellipse 57"/>
                <p:cNvSpPr/>
                <p:nvPr/>
              </p:nvSpPr>
              <p:spPr>
                <a:xfrm>
                  <a:off x="10229850" y="4191000"/>
                  <a:ext cx="1028700" cy="1028700"/>
                </a:xfrm>
                <a:prstGeom prst="ellipse">
                  <a:avLst/>
                </a:prstGeom>
                <a:noFill/>
                <a:ln w="19050">
                  <a:solidFill>
                    <a:schemeClr val="accent3"/>
                  </a:solidFill>
                  <a:custDash>
                    <a:ds d="250000" sp="250000"/>
                  </a:custDash>
                </a:ln>
              </p:spPr>
            </p:sp>
            <p:sp>
              <p:nvSpPr>
                <p:cNvPr id="58" name="Ellipse 58"/>
                <p:cNvSpPr/>
                <p:nvPr/>
              </p:nvSpPr>
              <p:spPr>
                <a:xfrm>
                  <a:off x="10601325" y="404812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9" name="TextBox 59"/>
                <p:cNvSpPr txBox="1"/>
                <p:nvPr/>
              </p:nvSpPr>
              <p:spPr>
                <a:xfrm>
                  <a:off x="10698051" y="412527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5</a:t>
                  </a:r>
                </a:p>
              </p:txBody>
            </p:sp>
            <p:sp>
              <p:nvSpPr>
                <p:cNvPr id="60" name="Ellipse 60"/>
                <p:cNvSpPr/>
                <p:nvPr/>
              </p:nvSpPr>
              <p:spPr>
                <a:xfrm>
                  <a:off x="11087100" y="4400550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1183826" y="447770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3</a:t>
                  </a:r>
                </a:p>
              </p:txBody>
            </p:sp>
            <p:sp>
              <p:nvSpPr>
                <p:cNvPr id="62" name="Ellipse 62"/>
                <p:cNvSpPr/>
                <p:nvPr/>
              </p:nvSpPr>
              <p:spPr>
                <a:xfrm>
                  <a:off x="10906125" y="49815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11002851" y="505872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4</a:t>
                  </a:r>
                </a:p>
              </p:txBody>
            </p:sp>
            <p:sp>
              <p:nvSpPr>
                <p:cNvPr id="64" name="Ellipse 64"/>
                <p:cNvSpPr/>
                <p:nvPr/>
              </p:nvSpPr>
              <p:spPr>
                <a:xfrm>
                  <a:off x="10296525" y="49815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65" name="TextBox 65"/>
                <p:cNvSpPr txBox="1"/>
                <p:nvPr/>
              </p:nvSpPr>
              <p:spPr>
                <a:xfrm>
                  <a:off x="10393251" y="5058728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9</a:t>
                  </a:r>
                </a:p>
              </p:txBody>
            </p:sp>
            <p:sp>
              <p:nvSpPr>
                <p:cNvPr id="66" name="Ellipse 66"/>
                <p:cNvSpPr/>
                <p:nvPr/>
              </p:nvSpPr>
              <p:spPr>
                <a:xfrm>
                  <a:off x="10115550" y="4400550"/>
                  <a:ext cx="285750" cy="28575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0212276" y="4477702"/>
                  <a:ext cx="922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0661123" y="4639628"/>
                  <a:ext cx="16615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rgbClr val="0F7A68"/>
                      </a:solidFill>
                      <a:latin typeface="+mn-lt"/>
                      <a:ea typeface="+mn-ea"/>
                      <a:cs typeface="+mn-cs"/>
                    </a:rPr>
                    <a:t>×5</a:t>
                  </a:r>
                </a:p>
              </p:txBody>
            </p:sp>
            <p:sp>
              <p:nvSpPr>
                <p:cNvPr id="69" name="TextBox 69"/>
                <p:cNvSpPr txBox="1"/>
                <p:nvPr/>
              </p:nvSpPr>
              <p:spPr>
                <a:xfrm>
                  <a:off x="10169928" y="5373052"/>
                  <a:ext cx="114854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每步 ×5 (mod 11)</a:t>
                  </a:r>
                </a:p>
              </p:txBody>
            </p:sp>
          </p:grpSp>
        </p:grpSp>
      </p:grpSp>
      <p:grpSp>
        <p:nvGrpSpPr>
          <p:cNvPr id="7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3" name="Rectangle 7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74700" y="5991225"/>
              <a:ext cx="203199" cy="228600"/>
              <a:chOff x="774700" y="5991225"/>
              <a:chExt cx="203199" cy="22860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74700" y="59912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55158"/>
                      <a:pt x="17058" y="38100"/>
                      <a:pt x="38100" y="38100"/>
                    </a:cubicBezTo>
                    <a:lnTo>
                      <a:pt x="203199" y="38100"/>
                    </a:lnTo>
                    <a:moveTo>
                      <a:pt x="165100" y="0"/>
                    </a:moveTo>
                    <a:lnTo>
                      <a:pt x="203199" y="38100"/>
                    </a:lnTo>
                    <a:lnTo>
                      <a:pt x="165100" y="762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774700" y="6105525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203199" y="0"/>
                    </a:moveTo>
                    <a:lnTo>
                      <a:pt x="203199" y="38100"/>
                    </a:lnTo>
                    <a:cubicBezTo>
                      <a:pt x="203199" y="59142"/>
                      <a:pt x="186142" y="76200"/>
                      <a:pt x="165100" y="76200"/>
                    </a:cubicBezTo>
                    <a:lnTo>
                      <a:pt x="0" y="76200"/>
                    </a:lnTo>
                    <a:moveTo>
                      <a:pt x="38100" y="114300"/>
                    </a:moveTo>
                    <a:lnTo>
                      <a:pt x="0" y="76200"/>
                    </a:lnTo>
                    <a:lnTo>
                      <a:pt x="381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134618" y="6003608"/>
              <a:ext cx="98234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求周期：依次算 a, a², a³, …，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第一次等于单位元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时的指数就是周期；永不回到单位元则为无穷大。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6238294" cy="960501"/>
            <a:chOff x="519684" y="361950"/>
            <a:chExt cx="623829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382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例题精讲：由 yxy⁻¹ = x² 求 x 的周期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problem"/>
          <p:cNvGrpSpPr/>
          <p:nvPr/>
        </p:nvGrpSpPr>
        <p:grpSpPr>
          <a:xfrm>
            <a:off x="533400" y="1485900"/>
            <a:ext cx="3733800" cy="4229100"/>
            <a:chOff x="533400" y="1485900"/>
            <a:chExt cx="37338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733800" cy="4229100"/>
            </a:xfrm>
            <a:prstGeom prst="roundRect">
              <a:avLst>
                <a:gd name="adj" fmla="val 40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735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45018"/>
              <a:ext cx="24808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(G, ·) 是群，x, y ∈ G，且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324100"/>
              <a:ext cx="3276600" cy="4572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62480" y="2434590"/>
              <a:ext cx="1875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y · x · y⁻¹ = x²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2921318"/>
              <a:ext cx="2147840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其中 </a:t>
              </a:r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≠ 1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 的周期是 2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试求 x 的周期。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3562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92956" y="3726656"/>
              <a:ext cx="185737" cy="185737"/>
              <a:chOff x="792956" y="3726656"/>
              <a:chExt cx="185737" cy="18573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92956" y="372665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0" y="92868"/>
                    </a:moveTo>
                    <a:lnTo>
                      <a:pt x="10319" y="92868"/>
                    </a:lnTo>
                    <a:moveTo>
                      <a:pt x="92868" y="0"/>
                    </a:moveTo>
                    <a:lnTo>
                      <a:pt x="92868" y="10319"/>
                    </a:lnTo>
                    <a:moveTo>
                      <a:pt x="175418" y="92868"/>
                    </a:moveTo>
                    <a:lnTo>
                      <a:pt x="185737" y="92868"/>
                    </a:lnTo>
                    <a:moveTo>
                      <a:pt x="26829" y="26829"/>
                    </a:moveTo>
                    <a:lnTo>
                      <a:pt x="34052" y="34052"/>
                    </a:lnTo>
                    <a:moveTo>
                      <a:pt x="158908" y="26829"/>
                    </a:moveTo>
                    <a:lnTo>
                      <a:pt x="151685" y="34052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9856" y="3767931"/>
                <a:ext cx="111937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11937" h="144462">
                    <a:moveTo>
                      <a:pt x="25012" y="92868"/>
                    </a:moveTo>
                    <a:cubicBezTo>
                      <a:pt x="7246" y="79544"/>
                      <a:pt x="0" y="56346"/>
                      <a:pt x="7023" y="35278"/>
                    </a:cubicBezTo>
                    <a:cubicBezTo>
                      <a:pt x="14045" y="14210"/>
                      <a:pt x="33761" y="0"/>
                      <a:pt x="55969" y="0"/>
                    </a:cubicBezTo>
                    <a:cubicBezTo>
                      <a:pt x="78176" y="0"/>
                      <a:pt x="97892" y="14210"/>
                      <a:pt x="104915" y="35278"/>
                    </a:cubicBezTo>
                    <a:cubicBezTo>
                      <a:pt x="111937" y="56346"/>
                      <a:pt x="104691" y="79544"/>
                      <a:pt x="86925" y="92868"/>
                    </a:cubicBezTo>
                    <a:cubicBezTo>
                      <a:pt x="78754" y="100957"/>
                      <a:pt x="74922" y="112452"/>
                      <a:pt x="76606" y="123825"/>
                    </a:cubicBezTo>
                    <a:cubicBezTo>
                      <a:pt x="76606" y="135222"/>
                      <a:pt x="67366" y="144462"/>
                      <a:pt x="55969" y="144462"/>
                    </a:cubicBezTo>
                    <a:cubicBezTo>
                      <a:pt x="44571" y="144462"/>
                      <a:pt x="35331" y="135222"/>
                      <a:pt x="35331" y="123825"/>
                    </a:cubicBezTo>
                    <a:cubicBezTo>
                      <a:pt x="37015" y="112452"/>
                      <a:pt x="33183" y="100957"/>
                      <a:pt x="25012" y="92868"/>
                    </a:cubicBez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62092" y="3871118"/>
                <a:ext cx="4746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466" h="9525">
                    <a:moveTo>
                      <a:pt x="0" y="0"/>
                    </a:moveTo>
                    <a:lnTo>
                      <a:pt x="47466" y="0"/>
                    </a:lnTo>
                  </a:path>
                </a:pathLst>
              </a:custGeom>
              <a:noFill/>
              <a:ln w="20637">
                <a:solidFill>
                  <a:srgbClr val="C2410C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78992" y="3740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解题思路</a:t>
              </a:r>
            </a:p>
          </p:txBody>
        </p:sp>
        <p:grpSp>
          <p:nvGrpSpPr>
            <p:cNvPr id="33" name="hint-list"/>
            <p:cNvGrpSpPr/>
            <p:nvPr/>
          </p:nvGrpSpPr>
          <p:grpSpPr>
            <a:xfrm>
              <a:off x="771525" y="4086225"/>
              <a:ext cx="2425675" cy="1295781"/>
              <a:chOff x="771525" y="4086225"/>
              <a:chExt cx="2425675" cy="1295781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71525" y="408622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0151" y="41252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60704" y="4118610"/>
                <a:ext cx="21284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周期要“最小”：先排除 1 和 2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771525" y="442912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0151" y="44681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60704" y="4461510"/>
                <a:ext cx="16922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把已知式平方，得到 x⁴</a:t>
                </a:r>
              </a:p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71525" y="477202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30151" y="48110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60704" y="4804410"/>
                <a:ext cx="21364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 x² 再换回 yxy⁻¹，出现 y²</a:t>
                </a:r>
              </a:p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71525" y="511492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30151" y="51539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60704" y="5147310"/>
                <a:ext cx="20072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 y² = 1 消去 y，得 x⁴ = x</a:t>
                </a:r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756666" y="5468302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口诀：平方 → 代入 → 用已知周期化简</a:t>
              </a:r>
            </a:p>
          </p:txBody>
        </p:sp>
      </p:grpSp>
      <p:grpSp>
        <p:nvGrpSpPr>
          <p:cNvPr id="71" name="steps"/>
          <p:cNvGrpSpPr/>
          <p:nvPr/>
        </p:nvGrpSpPr>
        <p:grpSpPr>
          <a:xfrm>
            <a:off x="4419600" y="1485900"/>
            <a:ext cx="7239000" cy="4229100"/>
            <a:chOff x="4419600" y="1485900"/>
            <a:chExt cx="7239000" cy="4229100"/>
          </a:xfrm>
        </p:grpSpPr>
        <p:sp>
          <p:nvSpPr>
            <p:cNvPr id="36" name="Line 36"/>
            <p:cNvSpPr/>
            <p:nvPr/>
          </p:nvSpPr>
          <p:spPr>
            <a:xfrm>
              <a:off x="4686300" y="1866900"/>
              <a:ext cx="9525" cy="3352800"/>
            </a:xfrm>
            <a:custGeom>
              <a:avLst/>
              <a:gdLst/>
              <a:ahLst/>
              <a:cxnLst/>
              <a:rect l="l" t="t" r="r" b="b"/>
              <a:pathLst>
                <a:path w="9525" h="3352800">
                  <a:moveTo>
                    <a:pt x="0" y="0"/>
                  </a:moveTo>
                  <a:lnTo>
                    <a:pt x="0" y="33528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43" name="step-1"/>
            <p:cNvGrpSpPr/>
            <p:nvPr/>
          </p:nvGrpSpPr>
          <p:grpSpPr>
            <a:xfrm>
              <a:off x="4419600" y="1485900"/>
              <a:ext cx="7239000" cy="762000"/>
              <a:chOff x="4419600" y="1485900"/>
              <a:chExt cx="723900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4419600" y="1485900"/>
                <a:ext cx="7239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4533900" y="17145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633558" y="1794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984242" y="1625918"/>
                <a:ext cx="169569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先证 x² ≠ 1（反证）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395566" y="1658302"/>
                <a:ext cx="10778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依据：已知 x ≠ 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984242" y="1949768"/>
                <a:ext cx="50387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若 x² = 1：y(xy⁻¹) = 1 ⇒ y⁻¹ = xy⁻¹ ⇒ 右乘 y 得 x = 1，</a:t>
                </a:r>
                <a:r>
                  <a:rPr lang="zh-CN" sz="1350" b="1" dirty="0">
                    <a:solidFill>
                      <a:srgbClr val="B42318"/>
                    </a:solidFill>
                    <a:latin typeface="Cambria Math"/>
                    <a:ea typeface="Microsoft YaHei"/>
                    <a:cs typeface="Cambria Math"/>
                  </a:rPr>
                  <a:t>矛盾</a:t>
                </a:r>
              </a:p>
            </p:txBody>
          </p:sp>
        </p:grpSp>
        <p:grpSp>
          <p:nvGrpSpPr>
            <p:cNvPr id="50" name="step-2"/>
            <p:cNvGrpSpPr/>
            <p:nvPr/>
          </p:nvGrpSpPr>
          <p:grpSpPr>
            <a:xfrm>
              <a:off x="4419600" y="2362200"/>
              <a:ext cx="7239000" cy="762000"/>
              <a:chOff x="4419600" y="2362200"/>
              <a:chExt cx="7239000" cy="7620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419600" y="2362200"/>
                <a:ext cx="7239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4533900" y="25908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633558" y="26708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984242" y="250221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把已知式平方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922040" y="2534602"/>
                <a:ext cx="15513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依据：结合律，y⁻¹y = 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984242" y="2826068"/>
                <a:ext cx="4468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 xml:space="preserve">x⁴ = (yxy⁻¹)(yxy⁻¹) = (yx)(y⁻¹y)(xy⁻¹) = </a:t>
                </a:r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yx²y⁻¹</a:t>
                </a:r>
              </a:p>
            </p:txBody>
          </p:sp>
        </p:grpSp>
        <p:grpSp>
          <p:nvGrpSpPr>
            <p:cNvPr id="57" name="step-3"/>
            <p:cNvGrpSpPr/>
            <p:nvPr/>
          </p:nvGrpSpPr>
          <p:grpSpPr>
            <a:xfrm>
              <a:off x="4419600" y="3238500"/>
              <a:ext cx="7239000" cy="762000"/>
              <a:chOff x="4419600" y="3238500"/>
              <a:chExt cx="7239000" cy="762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4419600" y="3238500"/>
                <a:ext cx="7239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4533900" y="34671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633558" y="35471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4984242" y="3378518"/>
                <a:ext cx="1465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 x² 换回 yxy⁻¹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006851" y="3410902"/>
                <a:ext cx="14665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依据：已知 x² = yxy⁻¹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4984242" y="3702368"/>
                <a:ext cx="2760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 xml:space="preserve">yx²y⁻¹ = y(yxy⁻¹)y⁻¹ = </a:t>
                </a:r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y²xy⁻²</a:t>
                </a:r>
              </a:p>
            </p:txBody>
          </p:sp>
        </p:grpSp>
        <p:grpSp>
          <p:nvGrpSpPr>
            <p:cNvPr id="64" name="step-4"/>
            <p:cNvGrpSpPr/>
            <p:nvPr/>
          </p:nvGrpSpPr>
          <p:grpSpPr>
            <a:xfrm>
              <a:off x="4419600" y="4114800"/>
              <a:ext cx="7239000" cy="762000"/>
              <a:chOff x="4419600" y="4114800"/>
              <a:chExt cx="7239000" cy="7620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4419600" y="4114800"/>
                <a:ext cx="7239000" cy="762000"/>
              </a:xfrm>
              <a:prstGeom prst="roundRect">
                <a:avLst>
                  <a:gd name="adj" fmla="val 17500"/>
                </a:avLst>
              </a:prstGeom>
              <a:solidFill>
                <a:schemeClr val="lt1"/>
              </a:solidFill>
              <a:ln w="14288">
                <a:solidFill>
                  <a:schemeClr val="accent6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533900" y="4343400"/>
                <a:ext cx="304800" cy="304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4633558" y="4423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4984242" y="4254818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 y 的周期化简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0233012" y="4287202"/>
                <a:ext cx="12404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依据：y 的周期为 2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4984242" y="4578668"/>
                <a:ext cx="3701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 xml:space="preserve">y² = 1，y⁻² = 1 ⇒ x⁴ = 1 · x · 1 = x ⇒ </a:t>
                </a:r>
                <a:r>
                  <a:rPr lang="en-US" sz="135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x³ = 1</a:t>
                </a:r>
              </a:p>
            </p:txBody>
          </p:sp>
        </p:grpSp>
        <p:grpSp>
          <p:nvGrpSpPr>
            <p:cNvPr id="70" name="step-5"/>
            <p:cNvGrpSpPr/>
            <p:nvPr/>
          </p:nvGrpSpPr>
          <p:grpSpPr>
            <a:xfrm>
              <a:off x="4419600" y="4991100"/>
              <a:ext cx="7239000" cy="723900"/>
              <a:chOff x="4419600" y="4991100"/>
              <a:chExt cx="7239000" cy="7239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4419600" y="4991100"/>
                <a:ext cx="7239000" cy="723900"/>
              </a:xfrm>
              <a:prstGeom prst="roundRect">
                <a:avLst>
                  <a:gd name="adj" fmla="val 18421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4533900" y="5200650"/>
                <a:ext cx="304800" cy="3048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4630737" y="5313362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15875">
                <a:solidFill>
                  <a:srgbClr val="FFFFFF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4984242" y="5131118"/>
                <a:ext cx="16102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结论：x 的周期是 3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985004" y="5433060"/>
                <a:ext cx="44869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x³ = 1，而 x ≠ 1、x² ≠ 1，所以 3 是满足 xⁿ = 1 的最小正整数</a:t>
                </a:r>
              </a:p>
            </p:txBody>
          </p:sp>
        </p:grpSp>
      </p:grpSp>
      <p:grpSp>
        <p:nvGrpSpPr>
          <p:cNvPr id="78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2" name="Rectangle 7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62000" y="5991225"/>
              <a:ext cx="228599" cy="228600"/>
              <a:chOff x="762000" y="5991225"/>
              <a:chExt cx="228599" cy="2286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62000" y="5991225"/>
                <a:ext cx="2285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114300">
                    <a:moveTo>
                      <a:pt x="0" y="114300"/>
                    </a:moveTo>
                    <a:lnTo>
                      <a:pt x="12700" y="114300"/>
                    </a:lnTo>
                    <a:moveTo>
                      <a:pt x="114300" y="0"/>
                    </a:moveTo>
                    <a:lnTo>
                      <a:pt x="114300" y="12700"/>
                    </a:lnTo>
                    <a:moveTo>
                      <a:pt x="215899" y="114300"/>
                    </a:moveTo>
                    <a:lnTo>
                      <a:pt x="228599" y="114300"/>
                    </a:lnTo>
                    <a:moveTo>
                      <a:pt x="33020" y="33020"/>
                    </a:moveTo>
                    <a:lnTo>
                      <a:pt x="41910" y="41910"/>
                    </a:lnTo>
                    <a:moveTo>
                      <a:pt x="195580" y="33020"/>
                    </a:moveTo>
                    <a:lnTo>
                      <a:pt x="186690" y="4191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07415" y="6042025"/>
                <a:ext cx="137769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37769" h="177800">
                    <a:moveTo>
                      <a:pt x="30785" y="114300"/>
                    </a:moveTo>
                    <a:cubicBezTo>
                      <a:pt x="8919" y="97900"/>
                      <a:pt x="0" y="69349"/>
                      <a:pt x="8643" y="43419"/>
                    </a:cubicBezTo>
                    <a:cubicBezTo>
                      <a:pt x="17286" y="17490"/>
                      <a:pt x="41552" y="0"/>
                      <a:pt x="68884" y="0"/>
                    </a:cubicBezTo>
                    <a:cubicBezTo>
                      <a:pt x="96217" y="0"/>
                      <a:pt x="120482" y="17490"/>
                      <a:pt x="129126" y="43419"/>
                    </a:cubicBezTo>
                    <a:cubicBezTo>
                      <a:pt x="137769" y="69349"/>
                      <a:pt x="128850" y="97900"/>
                      <a:pt x="106984" y="114300"/>
                    </a:cubicBezTo>
                    <a:cubicBezTo>
                      <a:pt x="96928" y="124254"/>
                      <a:pt x="92212" y="138402"/>
                      <a:pt x="94284" y="152400"/>
                    </a:cubicBezTo>
                    <a:cubicBezTo>
                      <a:pt x="94284" y="166428"/>
                      <a:pt x="82912" y="177800"/>
                      <a:pt x="68884" y="177800"/>
                    </a:cubicBezTo>
                    <a:cubicBezTo>
                      <a:pt x="54856" y="177800"/>
                      <a:pt x="43485" y="166428"/>
                      <a:pt x="43485" y="152400"/>
                    </a:cubicBezTo>
                    <a:cubicBezTo>
                      <a:pt x="45557" y="138402"/>
                      <a:pt x="40841" y="124254"/>
                      <a:pt x="30785" y="1143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47090" y="6169024"/>
                <a:ext cx="5842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8420" h="9525">
                    <a:moveTo>
                      <a:pt x="0" y="0"/>
                    </a:moveTo>
                    <a:lnTo>
                      <a:pt x="5842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134618" y="6003608"/>
              <a:ext cx="69575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求抽象元素的周期：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先找出 xᵏ = 1，再排除更小的 k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——两步缺一不可。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873003" cy="960501"/>
            <a:chOff x="519684" y="361950"/>
            <a:chExt cx="587300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730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6.3.5：aᵐ = 1 当且仅当 n | 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theorem"/>
          <p:cNvGrpSpPr/>
          <p:nvPr/>
        </p:nvGrpSpPr>
        <p:grpSpPr>
          <a:xfrm>
            <a:off x="533400" y="1485900"/>
            <a:ext cx="6705600" cy="1699451"/>
            <a:chOff x="533400" y="1485900"/>
            <a:chExt cx="6705600" cy="1699451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705600" cy="167640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371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周期的三条性质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06918"/>
              <a:ext cx="2597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若群 G 中元素 a 的周期为 n，则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2292668"/>
              <a:ext cx="32395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1, a, a², …, aⁿ⁻¹ 为 n 个不同元素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2552700"/>
              <a:ext cx="624840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2619375"/>
              <a:ext cx="2423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(2) aᵐ = 1 当且仅当 n | 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7542" y="292131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(3) aˢ = aᵗ 当且仅当 n | (s − t)</a:t>
              </a:r>
            </a:p>
          </p:txBody>
        </p:sp>
      </p:grpSp>
      <p:grpSp>
        <p:nvGrpSpPr>
          <p:cNvPr id="35" name="proof"/>
          <p:cNvGrpSpPr/>
          <p:nvPr/>
        </p:nvGrpSpPr>
        <p:grpSpPr>
          <a:xfrm>
            <a:off x="533400" y="3276600"/>
            <a:ext cx="6705600" cy="2438400"/>
            <a:chOff x="533400" y="3276600"/>
            <a:chExt cx="6705600" cy="2438400"/>
          </a:xfrm>
        </p:grpSpPr>
        <p:sp>
          <p:nvSpPr>
            <p:cNvPr id="18" name="Rectangle 18"/>
            <p:cNvSpPr/>
            <p:nvPr/>
          </p:nvSpPr>
          <p:spPr>
            <a:xfrm>
              <a:off x="533400" y="3276600"/>
              <a:ext cx="6705600" cy="24384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33909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9160" y="34518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79042" y="3445192"/>
              <a:ext cx="24603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带余除法，一步化到 0 ≤ r &lt; n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14400" y="39243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81050" y="37909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8251" y="3858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4242" y="3835718"/>
              <a:ext cx="424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任意整数 m 可唯一写成 m = nq + r，0 ≤ r &lt; n，于是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6"/>
                <p:cNvSpPr txBox="1"/>
                <p:nvPr/>
              </p:nvSpPr>
              <p:spPr>
                <a:xfrm>
                  <a:off x="1174242" y="4054926"/>
                  <a:ext cx="2990568" cy="3200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p>
                        <m:e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nq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chemeClr val="accent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sup>
                      </m:sSup>
                      <m:sSup>
                        <m:e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sup>
                      </m:sSup>
                      <m:sSup>
                        <m:e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</m:oMath>
                  </a14:m>
                </a:p>
              </p:txBody>
            </p:sp>
          </mc:Choice>
        </mc:AlternateContent>
        <p:sp>
          <p:nvSpPr>
            <p:cNvPr id="27" name="Ellipse 27"/>
            <p:cNvSpPr/>
            <p:nvPr/>
          </p:nvSpPr>
          <p:spPr>
            <a:xfrm>
              <a:off x="781050" y="44196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8251" y="44872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4242" y="4464368"/>
              <a:ext cx="4120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≤ r &lt; n，按周期的最小性：aʳ = 1 当且仅当 r = 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4242" y="4712018"/>
              <a:ext cx="3153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所以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aᵐ = 1 ⇔ r = 0 ⇔ n | m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，(2) 得证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1050" y="50482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8251" y="51158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74242" y="5093018"/>
              <a:ext cx="35212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aˢ = aᵗ ⇔ aˢ⁻ᵗ = 1 ⇔ n | (s − t)，(3) 得证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75004" y="5375910"/>
              <a:ext cx="5197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≤ t &lt; s ≤ n − 1 时 0 &lt; s − t &lt; n，n ∤ (s − t)，故 aˢ ≠ aᵗ，(1) 得证 ∎</a:t>
              </a:r>
            </a:p>
          </p:txBody>
        </p:sp>
      </p:grpSp>
      <p:grpSp>
        <p:nvGrpSpPr>
          <p:cNvPr id="68" name="two-shapes"/>
          <p:cNvGrpSpPr/>
          <p:nvPr/>
        </p:nvGrpSpPr>
        <p:grpSpPr>
          <a:xfrm>
            <a:off x="7391400" y="1485900"/>
            <a:ext cx="4267200" cy="2400300"/>
            <a:chOff x="7391400" y="1485900"/>
            <a:chExt cx="4267200" cy="2400300"/>
          </a:xfrm>
        </p:grpSpPr>
        <p:sp>
          <p:nvSpPr>
            <p:cNvPr id="36" name="Rectangle 36"/>
            <p:cNvSpPr/>
            <p:nvPr/>
          </p:nvSpPr>
          <p:spPr>
            <a:xfrm>
              <a:off x="7391400" y="1485900"/>
              <a:ext cx="4267200" cy="2400300"/>
            </a:xfrm>
            <a:prstGeom prst="roundRect">
              <a:avLst>
                <a:gd name="adj" fmla="val 634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6200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571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37042" y="1673542"/>
              <a:ext cx="1476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只有两种形状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13904" y="2042160"/>
              <a:ext cx="1125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的周期无穷大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00926" y="2058352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(a) 是无限循环群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810500" y="24003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6629" y="23183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22329" y="23183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943850" y="23431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705850" y="23431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448800" y="2324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0229850" y="23431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0991850" y="23431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79051" y="25536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a⁻²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41051" y="255365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a⁻¹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78851" y="25536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42794" y="2553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65923" y="2553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a²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7620000" y="28384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13904" y="2975610"/>
              <a:ext cx="946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的周期为 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13904" y="3261360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是 n 元循环群：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13904" y="352806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(a) = {1, a, a², …, aⁿ⁻¹}</a:t>
              </a:r>
            </a:p>
          </p:txBody>
        </p:sp>
        <p:grpSp>
          <p:nvGrpSpPr>
            <p:cNvPr id="67" name="ring-n"/>
            <p:cNvGrpSpPr/>
            <p:nvPr/>
          </p:nvGrpSpPr>
          <p:grpSpPr>
            <a:xfrm>
              <a:off x="10467975" y="2943225"/>
              <a:ext cx="704850" cy="809625"/>
              <a:chOff x="10467975" y="2943225"/>
              <a:chExt cx="704850" cy="809625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477500" y="3009900"/>
                <a:ext cx="685800" cy="685800"/>
              </a:xfrm>
              <a:prstGeom prst="ellipse">
                <a:avLst/>
              </a:prstGeom>
              <a:noFill/>
              <a:ln w="19050">
                <a:solidFill>
                  <a:schemeClr val="accent3"/>
                </a:solidFill>
                <a:custDash>
                  <a:ds d="250000" sp="200000"/>
                </a:custDash>
              </a:ln>
            </p:spPr>
          </p:sp>
          <p:sp>
            <p:nvSpPr>
              <p:cNvPr id="60" name="Ellipse 60"/>
              <p:cNvSpPr/>
              <p:nvPr/>
            </p:nvSpPr>
            <p:spPr>
              <a:xfrm>
                <a:off x="10753725" y="2943225"/>
                <a:ext cx="133350" cy="1333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11058525" y="31242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11058525" y="34671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10763250" y="36385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10467975" y="34671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10467975" y="312420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0681313" y="3287078"/>
                <a:ext cx="278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n 个</a:t>
                </a:r>
              </a:p>
            </p:txBody>
          </p:sp>
        </p:grpSp>
      </p:grpSp>
      <p:grpSp>
        <p:nvGrpSpPr>
          <p:cNvPr id="80" name="additive"/>
          <p:cNvGrpSpPr/>
          <p:nvPr/>
        </p:nvGrpSpPr>
        <p:grpSpPr>
          <a:xfrm>
            <a:off x="7391400" y="4000500"/>
            <a:ext cx="4267200" cy="1714500"/>
            <a:chOff x="7391400" y="4000500"/>
            <a:chExt cx="4267200" cy="1714500"/>
          </a:xfrm>
        </p:grpSpPr>
        <p:sp>
          <p:nvSpPr>
            <p:cNvPr id="69" name="Rectangle 69"/>
            <p:cNvSpPr/>
            <p:nvPr/>
          </p:nvSpPr>
          <p:spPr>
            <a:xfrm>
              <a:off x="7391400" y="4000500"/>
              <a:ext cx="42672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543800" y="4152900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734300" y="413385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832842" y="4194810"/>
              <a:ext cx="94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6.3.5′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84742" y="4188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加法群的写法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28204" y="4499610"/>
              <a:ext cx="379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周期：使 </a:t>
              </a:r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 = 0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的最小正整数 n（全不同则无穷大）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28204" y="474726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(1′) 0, a, 2a, …, (n − 1)a 为 n 个不同元素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28204" y="4994910"/>
              <a:ext cx="1493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(2′) </a:t>
              </a:r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 = 0 ⇔ n | m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18904" y="4994910"/>
              <a:ext cx="19184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(3′) sa = ta ⇔ n | (s − t)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28966" y="5277802"/>
              <a:ext cx="3056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(a) 换成 a 的所有倍数 …, −2a, −a, 0, a, 2a, …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28966" y="5487352"/>
              <a:ext cx="3359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例：(Z, +) 中除 0 以外，其余元素的周期都是无穷大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1" name="Rectangle 81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87400" y="6016625"/>
              <a:ext cx="177800" cy="177799"/>
              <a:chOff x="787400" y="6016625"/>
              <a:chExt cx="177800" cy="177799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63600" y="60166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63600" y="616902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87400" y="6105525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134618" y="6003608"/>
              <a:ext cx="7315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核心工具：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aᵐ = 1 ⇔ 周期 n 整除 m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；并且 a 的周期恰好等于 (a) 的元数。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8" name="TextBox 88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916619" cy="960501"/>
            <a:chOff x="519684" y="361950"/>
            <a:chExt cx="591661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91661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定理 6.3.6：谁能生成整个循环群？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theorem"/>
          <p:cNvGrpSpPr/>
          <p:nvPr/>
        </p:nvGrpSpPr>
        <p:grpSpPr>
          <a:xfrm>
            <a:off x="533400" y="1485900"/>
            <a:ext cx="11125200" cy="1333500"/>
            <a:chOff x="533400" y="1485900"/>
            <a:chExt cx="11125200" cy="1333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1333500"/>
            </a:xfrm>
            <a:prstGeom prst="roundRect">
              <a:avLst>
                <a:gd name="adj" fmla="val 1142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循环群的生成元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780" y="2028825"/>
              <a:ext cx="4485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无限循环群 (a) 一共有两个生成元：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及 a⁻¹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324100"/>
              <a:ext cx="1066800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6780" y="2419350"/>
              <a:ext cx="9248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n 元循环群 (a) 中，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aᵏ 是生成元 ⇔ (n, k) = 1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，所以 (a) 一共有 </a:t>
              </a:r>
              <a:r>
                <a:rPr lang="el-GR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φ(n)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个生成元（φ 为欧拉函数）</a:t>
              </a:r>
            </a:p>
          </p:txBody>
        </p:sp>
      </p:grpSp>
      <p:grpSp>
        <p:nvGrpSpPr>
          <p:cNvPr id="22" name="key-idea"/>
          <p:cNvGrpSpPr/>
          <p:nvPr/>
        </p:nvGrpSpPr>
        <p:grpSpPr>
          <a:xfrm>
            <a:off x="533400" y="2933700"/>
            <a:ext cx="11125200" cy="419100"/>
            <a:chOff x="533400" y="2933700"/>
            <a:chExt cx="11125200" cy="419100"/>
          </a:xfrm>
        </p:grpSpPr>
        <p:sp>
          <p:nvSpPr>
            <p:cNvPr id="16" name="Rectangle 16"/>
            <p:cNvSpPr/>
            <p:nvPr/>
          </p:nvSpPr>
          <p:spPr>
            <a:xfrm>
              <a:off x="533400" y="2933700"/>
              <a:ext cx="111252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19138" y="3043238"/>
              <a:ext cx="200026" cy="200025"/>
              <a:chOff x="719138" y="3043238"/>
              <a:chExt cx="200026" cy="2000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19138" y="30432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58876" y="30876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93592" y="31988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59942" y="3064192"/>
              <a:ext cx="7390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三段证明的关键一步都一样：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 a 写成 aᵏ 的幂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——a 能被 aᵏ 生成，整个 (a) 就能被 aᵏ 生成</a:t>
              </a:r>
            </a:p>
          </p:txBody>
        </p:sp>
      </p:grpSp>
      <p:grpSp>
        <p:nvGrpSpPr>
          <p:cNvPr id="37" name="proof-infinite"/>
          <p:cNvGrpSpPr/>
          <p:nvPr/>
        </p:nvGrpSpPr>
        <p:grpSpPr>
          <a:xfrm>
            <a:off x="533400" y="3467100"/>
            <a:ext cx="3581400" cy="2247900"/>
            <a:chOff x="533400" y="3467100"/>
            <a:chExt cx="3581400" cy="2247900"/>
          </a:xfrm>
        </p:grpSpPr>
        <p:sp>
          <p:nvSpPr>
            <p:cNvPr id="23" name="Rectangle 23"/>
            <p:cNvSpPr/>
            <p:nvPr/>
          </p:nvSpPr>
          <p:spPr>
            <a:xfrm>
              <a:off x="533400" y="3467100"/>
              <a:ext cx="3581400" cy="224790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042" y="3626168"/>
              <a:ext cx="1294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无限循环群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23900" y="3943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2051" y="3991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2604" y="3985260"/>
              <a:ext cx="263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aᵏ 是生成元，则 a = (aᵏ)ᵐ = aᵏᵐ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3366" y="4211002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本身也必须能写成 aᵏ 的幂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23900" y="4495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2051" y="4544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2604" y="453771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无限，幂两两不同 ⇒ km = 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3366" y="4763452"/>
              <a:ext cx="1855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周期无穷大时 aˢ = aᵗ ⇔ s = t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23900" y="50482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2051" y="5096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2604" y="5090160"/>
              <a:ext cx="2143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k = ±1：生成元恰为 a 与 a⁻¹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3366" y="5315902"/>
              <a:ext cx="20022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例：(Z, +) 的生成元是 1 和 −1</a:t>
              </a:r>
            </a:p>
          </p:txBody>
        </p:sp>
      </p:grpSp>
      <p:grpSp>
        <p:nvGrpSpPr>
          <p:cNvPr id="52" name="proof-necessity"/>
          <p:cNvGrpSpPr/>
          <p:nvPr/>
        </p:nvGrpSpPr>
        <p:grpSpPr>
          <a:xfrm>
            <a:off x="4305300" y="3467100"/>
            <a:ext cx="3581400" cy="2247900"/>
            <a:chOff x="4305300" y="3467100"/>
            <a:chExt cx="3581400" cy="2247900"/>
          </a:xfrm>
        </p:grpSpPr>
        <p:sp>
          <p:nvSpPr>
            <p:cNvPr id="38" name="Rectangle 38"/>
            <p:cNvSpPr/>
            <p:nvPr/>
          </p:nvSpPr>
          <p:spPr>
            <a:xfrm>
              <a:off x="4305300" y="3467100"/>
              <a:ext cx="3581400" cy="224790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488942" y="3626168"/>
              <a:ext cx="2240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必要性：生成元 ⇒ 互质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4495800" y="3943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3951" y="3991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94504" y="3985260"/>
              <a:ext cx="2427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aᵏ 是生成元，a = (aᵏ)ᵐ = aᵏᵐ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95266" y="4211002"/>
              <a:ext cx="8234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即 aᵏᵐ⁻¹ = 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4495800" y="4495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63951" y="4544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94504" y="453771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的周期为 n ⇒ n | km − 1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95266" y="4763452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定理 6.3.5：aᵐ = 1 ⇔ n | m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4495800" y="50482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63951" y="5096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94504" y="5090160"/>
              <a:ext cx="1903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mk − qn = 1 ⇒ (n, k) = 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95266" y="53159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 km − 1 = qn 移项；能组合出 1 即互质</a:t>
              </a:r>
            </a:p>
          </p:txBody>
        </p:sp>
      </p:grpSp>
      <p:grpSp>
        <p:nvGrpSpPr>
          <p:cNvPr id="67" name="proof-sufficiency"/>
          <p:cNvGrpSpPr/>
          <p:nvPr/>
        </p:nvGrpSpPr>
        <p:grpSpPr>
          <a:xfrm>
            <a:off x="8077200" y="3467100"/>
            <a:ext cx="3581400" cy="2247900"/>
            <a:chOff x="8077200" y="3467100"/>
            <a:chExt cx="3581400" cy="2247900"/>
          </a:xfrm>
        </p:grpSpPr>
        <p:sp>
          <p:nvSpPr>
            <p:cNvPr id="53" name="Rectangle 53"/>
            <p:cNvSpPr/>
            <p:nvPr/>
          </p:nvSpPr>
          <p:spPr>
            <a:xfrm>
              <a:off x="8077200" y="3467100"/>
              <a:ext cx="3581400" cy="224790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60842" y="3626168"/>
              <a:ext cx="22409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充分性：互质 ⇒ 生成元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267700" y="3943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35851" y="3991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66404" y="3985260"/>
              <a:ext cx="2887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(n, k) = 1 ⇒ 有整数 s, t 使 sk + tn = 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67166" y="42110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最大公因数的线性表示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267700" y="4495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35851" y="4544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6404" y="4537710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= aˢᵏ⁺ᵗⁿ = (aᵏ)ˢ(aⁿ)ᵗ = (aᵏ)ˢ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67166" y="4763452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因为 aⁿ = 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267700" y="50482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335851" y="5096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66404" y="5090160"/>
              <a:ext cx="201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是 aᵏ 的幂 ⇒ aᵏ 生成 (a)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567166" y="5315902"/>
              <a:ext cx="23217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 ≤ k &lt; n 中与 n 互质的 k 共 φ(n) 个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8" name="Rectangle 68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134618" y="6003608"/>
              <a:ext cx="80964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 aᵏ 是不是 n 元循环群的生成元：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只看 (n, k) 是否为 1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；生成元共 φ(n) 个。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4" name="TextBox 74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7372333" cy="960501"/>
            <a:chOff x="519684" y="361950"/>
            <a:chExt cx="737233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3723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生成元的例：周期等于 n 的元素才能生成全群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basic-examples"/>
          <p:cNvGrpSpPr/>
          <p:nvPr/>
        </p:nvGrpSpPr>
        <p:grpSpPr>
          <a:xfrm>
            <a:off x="533400" y="1485900"/>
            <a:ext cx="5486400" cy="2247900"/>
            <a:chOff x="533400" y="1485900"/>
            <a:chExt cx="5486400" cy="2247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73542"/>
              <a:ext cx="1709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Z、nZ 与 4 元循环群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2006918"/>
              <a:ext cx="4378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 的生成元：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1，−1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；(nZ, +) 的生成元：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n，−n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2292668"/>
              <a:ext cx="4135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(a) = {1, a, a², a³}：φ(4) = 2，生成元为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a、a³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552700"/>
              <a:ext cx="5105400" cy="1028700"/>
            </a:xfrm>
            <a:prstGeom prst="roundRect">
              <a:avLst>
                <a:gd name="adj" fmla="val 11111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8304" y="267081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904" y="2670810"/>
              <a:ext cx="4228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(a³) = {(a³)⁰, (a³)¹, (a³)², (a³)³} = {1, a³, a², a}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293751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6904" y="2937510"/>
              <a:ext cx="349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(a²) = {(a²)⁰, (a²)¹} = {1, a²}，不是生成元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8304" y="320421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6904" y="320421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(1) = {1}，不是生成元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40982" y="3220402"/>
              <a:ext cx="2279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 = 1, 3 与 4 互质；k = 0, 2 不互质</a:t>
              </a:r>
            </a:p>
          </p:txBody>
        </p:sp>
      </p:grpSp>
      <p:grpSp>
        <p:nvGrpSpPr>
          <p:cNvPr id="58" name="period-table"/>
          <p:cNvGrpSpPr/>
          <p:nvPr/>
        </p:nvGrpSpPr>
        <p:grpSpPr>
          <a:xfrm>
            <a:off x="6172200" y="1485900"/>
            <a:ext cx="5486400" cy="2247900"/>
            <a:chOff x="6172200" y="1485900"/>
            <a:chExt cx="5486400" cy="2247900"/>
          </a:xfrm>
        </p:grpSpPr>
        <p:sp>
          <p:nvSpPr>
            <p:cNvPr id="22" name="Rectangle 22"/>
            <p:cNvSpPr/>
            <p:nvPr/>
          </p:nvSpPr>
          <p:spPr>
            <a:xfrm>
              <a:off x="6172200" y="1485900"/>
              <a:ext cx="5486400" cy="2247900"/>
            </a:xfrm>
            <a:prstGeom prst="roundRect">
              <a:avLst>
                <a:gd name="adj" fmla="val 678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008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425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5442" y="1673542"/>
              <a:ext cx="2939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6、模 5 加法群：每个元素的周期</a:t>
              </a:r>
            </a:p>
          </p:txBody>
        </p:sp>
        <p:grpSp>
          <p:nvGrpSpPr>
            <p:cNvPr id="55" name="table-grid"/>
            <p:cNvGrpSpPr/>
            <p:nvPr/>
          </p:nvGrpSpPr>
          <p:grpSpPr>
            <a:xfrm>
              <a:off x="6400800" y="2000250"/>
              <a:ext cx="5029200" cy="1038225"/>
              <a:chOff x="6400800" y="2000250"/>
              <a:chExt cx="5029200" cy="1038225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400800" y="2000250"/>
                <a:ext cx="5029200" cy="3429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343900" y="2343150"/>
                <a:ext cx="609600" cy="3429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0782300" y="2343150"/>
                <a:ext cx="647700" cy="3429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8343900" y="2686050"/>
                <a:ext cx="2438400" cy="3429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6400800" y="234315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6400800" y="268605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6400800" y="302895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734300" y="2000250"/>
                <a:ext cx="9525" cy="1028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28700">
                    <a:moveTo>
                      <a:pt x="0" y="0"/>
                    </a:moveTo>
                    <a:lnTo>
                      <a:pt x="0" y="102870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547104" y="2099310"/>
                <a:ext cx="3352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元素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979765" y="2083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589365" y="2083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198965" y="2083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808565" y="2083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418165" y="2083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046815" y="20831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47104" y="2442210"/>
                <a:ext cx="5727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⊕₆ 周期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982264" y="24260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589365" y="24260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201464" y="24260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811064" y="24260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420664" y="24260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1046815" y="24260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547104" y="2785110"/>
                <a:ext cx="5727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⊕₅ 周期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982264" y="27689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589365" y="27689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198965" y="27689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808565" y="27689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418165" y="2768918"/>
                <a:ext cx="1186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1049314" y="276891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—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6394704" y="3166110"/>
              <a:ext cx="520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模 6：生成元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1, 5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（φ(6) = 2）；模 5：生成元 </a:t>
              </a:r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1, 2, 3, 4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（φ(5) = 4）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94704" y="3432810"/>
              <a:ext cx="4489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绿格 = 周期等于群元数的元素 = 生成元；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 m 加法群是循环群</a:t>
              </a:r>
            </a:p>
          </p:txBody>
        </p:sp>
      </p:grpSp>
      <p:grpSp>
        <p:nvGrpSpPr>
          <p:cNvPr id="94" name="prime-cyclic"/>
          <p:cNvGrpSpPr/>
          <p:nvPr/>
        </p:nvGrpSpPr>
        <p:grpSpPr>
          <a:xfrm>
            <a:off x="533400" y="3848100"/>
            <a:ext cx="11125200" cy="1866900"/>
            <a:chOff x="533400" y="3848100"/>
            <a:chExt cx="11125200" cy="1866900"/>
          </a:xfrm>
        </p:grpSpPr>
        <p:sp>
          <p:nvSpPr>
            <p:cNvPr id="59" name="Rectangle 59"/>
            <p:cNvSpPr/>
            <p:nvPr/>
          </p:nvSpPr>
          <p:spPr>
            <a:xfrm>
              <a:off x="533400" y="3848100"/>
              <a:ext cx="111252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2000" y="39814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99160" y="40424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79042" y="4035742"/>
              <a:ext cx="5641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是元数为质数 p 的循环群，证明 G 中任一非单位元 a 都是生成元</a:t>
              </a:r>
            </a:p>
          </p:txBody>
        </p:sp>
        <p:grpSp>
          <p:nvGrpSpPr>
            <p:cNvPr id="69" name="prime-step-1"/>
            <p:cNvGrpSpPr/>
            <p:nvPr/>
          </p:nvGrpSpPr>
          <p:grpSpPr>
            <a:xfrm>
              <a:off x="762000" y="4381500"/>
              <a:ext cx="2438400" cy="1181100"/>
              <a:chOff x="762000" y="4381500"/>
              <a:chExt cx="2438400" cy="11811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762000" y="4381500"/>
                <a:ext cx="2438400" cy="1181100"/>
              </a:xfrm>
              <a:prstGeom prst="roundRect">
                <a:avLst>
                  <a:gd name="adj" fmla="val 112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876300" y="44958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44451" y="45443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175004" y="4537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写成生成元的幂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08304" y="4842510"/>
                <a:ext cx="13050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 G = (u)，a ≠ 1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908304" y="5109210"/>
                <a:ext cx="12237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a = uˡ，0 &lt; l &lt; p</a:t>
                </a:r>
              </a:p>
            </p:txBody>
          </p:sp>
        </p:grpSp>
        <p:sp>
          <p:nvSpPr>
            <p:cNvPr id="70" name="Freeform 70"/>
            <p:cNvSpPr/>
            <p:nvPr/>
          </p:nvSpPr>
          <p:spPr>
            <a:xfrm>
              <a:off x="3257550" y="4914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77" name="prime-step-2"/>
            <p:cNvGrpSpPr/>
            <p:nvPr/>
          </p:nvGrpSpPr>
          <p:grpSpPr>
            <a:xfrm>
              <a:off x="3429000" y="4381500"/>
              <a:ext cx="2514600" cy="1181100"/>
              <a:chOff x="3429000" y="4381500"/>
              <a:chExt cx="2514600" cy="118110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3429000" y="4381500"/>
                <a:ext cx="2514600" cy="1181100"/>
              </a:xfrm>
              <a:prstGeom prst="roundRect">
                <a:avLst>
                  <a:gd name="adj" fmla="val 112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2" name="Ellipse 72"/>
              <p:cNvSpPr/>
              <p:nvPr/>
            </p:nvSpPr>
            <p:spPr>
              <a:xfrm>
                <a:off x="3543300" y="44958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3611451" y="45443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3842004" y="4537710"/>
                <a:ext cx="14398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用质数：l 与 p 互质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575304" y="4842510"/>
                <a:ext cx="126415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存在整数 m, n 使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3575304" y="51092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nl + mp = 1</a:t>
                </a:r>
              </a:p>
            </p:txBody>
          </p:sp>
        </p:grpSp>
        <p:sp>
          <p:nvSpPr>
            <p:cNvPr id="78" name="Freeform 78"/>
            <p:cNvSpPr/>
            <p:nvPr/>
          </p:nvSpPr>
          <p:spPr>
            <a:xfrm>
              <a:off x="6000750" y="4914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85" name="prime-step-3"/>
            <p:cNvGrpSpPr/>
            <p:nvPr/>
          </p:nvGrpSpPr>
          <p:grpSpPr>
            <a:xfrm>
              <a:off x="6172200" y="4381500"/>
              <a:ext cx="2590800" cy="1181100"/>
              <a:chOff x="6172200" y="4381500"/>
              <a:chExt cx="2590800" cy="118110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6172200" y="4381500"/>
                <a:ext cx="2590800" cy="1181100"/>
              </a:xfrm>
              <a:prstGeom prst="roundRect">
                <a:avLst>
                  <a:gd name="adj" fmla="val 1129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6286500" y="44958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6354651" y="45443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6585204" y="4537710"/>
                <a:ext cx="1210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把 u 写成 a 的幂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318504" y="4842510"/>
                <a:ext cx="22576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u = uⁿˡ⁺ᵐᵖ = (uˡ)ⁿ(uᵖ)ᵐ = aⁿ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6319266" y="5125402"/>
                <a:ext cx="7315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因为 uᵖ = 1</a:t>
                </a:r>
              </a:p>
            </p:txBody>
          </p:sp>
        </p:grpSp>
        <p:sp>
          <p:nvSpPr>
            <p:cNvPr id="86" name="Freeform 86"/>
            <p:cNvSpPr/>
            <p:nvPr/>
          </p:nvSpPr>
          <p:spPr>
            <a:xfrm>
              <a:off x="8820150" y="49149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93" name="prime-step-4"/>
            <p:cNvGrpSpPr/>
            <p:nvPr/>
          </p:nvGrpSpPr>
          <p:grpSpPr>
            <a:xfrm>
              <a:off x="8991600" y="4381500"/>
              <a:ext cx="2438400" cy="1181100"/>
              <a:chOff x="8991600" y="4381500"/>
              <a:chExt cx="2438400" cy="1181100"/>
            </a:xfrm>
          </p:grpSpPr>
          <p:sp>
            <p:nvSpPr>
              <p:cNvPr id="87" name="Rectangle 87"/>
              <p:cNvSpPr/>
              <p:nvPr/>
            </p:nvSpPr>
            <p:spPr>
              <a:xfrm>
                <a:off x="8991600" y="4381500"/>
                <a:ext cx="2438400" cy="1181100"/>
              </a:xfrm>
              <a:prstGeom prst="roundRect">
                <a:avLst>
                  <a:gd name="adj" fmla="val 1129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9105900" y="4495800"/>
                <a:ext cx="228600" cy="228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9174051" y="45443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9404604" y="4537710"/>
                <a:ext cx="8025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a 是生成元</a:t>
                </a:r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9137904" y="4842510"/>
                <a:ext cx="12883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任一 x = uᵗ = aᵗⁿ</a:t>
                </a:r>
              </a:p>
            </p:txBody>
          </p:sp>
          <p:sp>
            <p:nvSpPr>
              <p:cNvPr id="92" name="TextBox 92"/>
              <p:cNvSpPr txBox="1"/>
              <p:nvPr/>
            </p:nvSpPr>
            <p:spPr>
              <a:xfrm>
                <a:off x="9138666" y="5125402"/>
                <a:ext cx="1523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tn ∈ Z，x 都是 a 的幂 ∎</a:t>
                </a:r>
              </a:p>
            </p:txBody>
          </p:sp>
        </p:grpSp>
      </p:grpSp>
      <p:grpSp>
        <p:nvGrpSpPr>
          <p:cNvPr id="10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5" name="Rectangle 9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134618" y="6003608"/>
              <a:ext cx="82908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元循环群中：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周期为 n ⇔ 生成元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；元数为质数 p 时，除 1 以外的元素全是生成元。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1" name="TextBox 101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389120" cy="960501"/>
            <a:chOff x="519684" y="361950"/>
            <a:chExt cx="438912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循环群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循环群的子群，仍是循环群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proof-chain"/>
          <p:cNvGrpSpPr/>
          <p:nvPr/>
        </p:nvGrpSpPr>
        <p:grpSpPr>
          <a:xfrm>
            <a:off x="533400" y="1485900"/>
            <a:ext cx="5334000" cy="4229100"/>
            <a:chOff x="533400" y="1485900"/>
            <a:chExt cx="5334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36242" y="167354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求证：循环群的子群仍是循环群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22098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2076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151" y="2144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2121218"/>
              <a:ext cx="3961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= (a)，H 是 G 的子群；H = {1} 时显然成立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666" y="2363152"/>
              <a:ext cx="979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下面设 H ≠ {1}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2950" y="2686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0151" y="2753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2730818"/>
              <a:ext cx="32882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中有正幂 aᵏ（k &gt; 0），取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最小正幂 aᵐ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666" y="2972752"/>
              <a:ext cx="3678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 含某个 aʲ（j ≠ 0），aʲ 与它的逆 a⁻ʲ 中必有一个是正幂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2950" y="32956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151" y="3363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6142" y="3340418"/>
              <a:ext cx="38370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aˢ ∈ H，带余除法：s = qm + r，0 ≤ r &lt;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7666" y="3582352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目标：证明 aˢ 是 aᵐ 的幂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42950" y="39052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0151" y="39728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6"/>
                <p:cNvSpPr txBox="1"/>
                <p:nvPr/>
              </p:nvSpPr>
              <p:spPr>
                <a:xfrm>
                  <a:off x="1136142" y="3902526"/>
                  <a:ext cx="2577648" cy="3200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p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qm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qm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  <m:r>
                        <a:rPr lang="zh-CN" sz="135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</m:oMath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1137666" y="4191952"/>
              <a:ext cx="31902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aˢ ∈ H，aᵐ 的幂也在 H 中；子群对乘法、求逆封闭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2950" y="45148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0151" y="45824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6142" y="4559618"/>
              <a:ext cx="2378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0 ≤ r &lt; m，而 m 最小 ⇒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 =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37666" y="4801552"/>
              <a:ext cx="26419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否则 aʳ 就是 H 中比 aᵐ 更小的正幂，矛盾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5800" y="5067300"/>
              <a:ext cx="5029200" cy="533400"/>
            </a:xfrm>
            <a:prstGeom prst="roundRect">
              <a:avLst>
                <a:gd name="adj" fmla="val 2142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42950" y="51244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0151" y="5192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5"/>
                <p:cNvSpPr txBox="1"/>
                <p:nvPr/>
              </p:nvSpPr>
              <p:spPr>
                <a:xfrm>
                  <a:off x="1136142" y="5121726"/>
                  <a:ext cx="3441092" cy="3200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p>
                        <m:e>
                          <m:r>
                            <a:rPr lang="zh-CN" sz="1350" dirty="0">
                              <a:solidFill>
                                <a:srgbClr val="0F7A6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0F7A6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0F7A6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0F7A6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0F7A6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qm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0F7A6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0F7A68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a:rPr lang="zh-CN" sz="1350" dirty="0">
                                      <a:solidFill>
                                        <a:srgbClr val="0F7A68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0F7A68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sup>
                      </m:sSup>
                    </m:oMath>
                  </a14:m>
                  <a:r>
                    <a:rPr lang="zh-CN" sz="1350" b="1" dirty="0">
                      <a:solidFill>
                        <a:srgbClr val="0F7A68"/>
                      </a:solidFill>
                      <a:latin typeface="+mn-lt"/>
                      <a:ea typeface="+mn-ea"/>
                      <a:cs typeface="+mn-cs"/>
                    </a:rPr>
                    <a:t xml:space="preserve"> ⇒ H = (aᵐ) 是循环群 ∎</a:t>
                  </a:r>
                </a:p>
              </p:txBody>
            </p:sp>
          </mc:Choice>
        </mc:AlternateContent>
        <p:sp>
          <p:nvSpPr>
            <p:cNvPr id="36" name="TextBox 36"/>
            <p:cNvSpPr txBox="1"/>
            <p:nvPr/>
          </p:nvSpPr>
          <p:spPr>
            <a:xfrm>
              <a:off x="1137666" y="54111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非单位子群由它的最小正幂生成</a:t>
              </a:r>
            </a:p>
          </p:txBody>
        </p:sp>
      </p:grpSp>
      <p:grpSp>
        <p:nvGrpSpPr>
          <p:cNvPr id="66" name="six-cyclic"/>
          <p:cNvGrpSpPr/>
          <p:nvPr/>
        </p:nvGrpSpPr>
        <p:grpSpPr>
          <a:xfrm>
            <a:off x="6019800" y="1485900"/>
            <a:ext cx="5638800" cy="2590800"/>
            <a:chOff x="6019800" y="1485900"/>
            <a:chExt cx="5638800" cy="2590800"/>
          </a:xfrm>
        </p:grpSpPr>
        <p:sp>
          <p:nvSpPr>
            <p:cNvPr id="38" name="Rectangle 38"/>
            <p:cNvSpPr/>
            <p:nvPr/>
          </p:nvSpPr>
          <p:spPr>
            <a:xfrm>
              <a:off x="6019800" y="1485900"/>
              <a:ext cx="5638800" cy="2590800"/>
            </a:xfrm>
            <a:prstGeom prst="roundRect">
              <a:avLst>
                <a:gd name="adj" fmla="val 5882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55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22642" y="1673542"/>
              <a:ext cx="2538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元循环群的生成元与全部子群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41542" y="2045018"/>
              <a:ext cx="2316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G = {1, a, a², a³, a⁴, a⁵}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41542" y="2330768"/>
              <a:ext cx="2242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φ(6) = 2，生成元：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与 a⁵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42304" y="26517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子群 ↔ 6 的正因子 d = 1, 2, 3, 6：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2304" y="2918460"/>
              <a:ext cx="11149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(a) = (a⁵) = 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42304" y="316611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(a²) = (a⁴) = {1, a², a⁴}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42304" y="3413760"/>
              <a:ext cx="1134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(a³) = {1, a³}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42304" y="3661410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(a⁶) = (1) = {1}</a:t>
              </a:r>
            </a:p>
          </p:txBody>
        </p:sp>
        <p:grpSp>
          <p:nvGrpSpPr>
            <p:cNvPr id="65" name="lattice"/>
            <p:cNvGrpSpPr/>
            <p:nvPr/>
          </p:nvGrpSpPr>
          <p:grpSpPr>
            <a:xfrm>
              <a:off x="9296400" y="2019300"/>
              <a:ext cx="2209800" cy="1905000"/>
              <a:chOff x="9296400" y="2019300"/>
              <a:chExt cx="2209800" cy="1905000"/>
            </a:xfrm>
          </p:grpSpPr>
          <p:sp>
            <p:nvSpPr>
              <p:cNvPr id="49" name="Line 49"/>
              <p:cNvSpPr/>
              <p:nvPr/>
            </p:nvSpPr>
            <p:spPr>
              <a:xfrm>
                <a:off x="9791700" y="2400300"/>
                <a:ext cx="6096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81000">
                    <a:moveTo>
                      <a:pt x="60960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5B6475"/>
                </a:solidFill>
              </a:ln>
            </p:spPr>
          </p:sp>
          <p:sp>
            <p:nvSpPr>
              <p:cNvPr id="50" name="Line 50"/>
              <p:cNvSpPr/>
              <p:nvPr/>
            </p:nvSpPr>
            <p:spPr>
              <a:xfrm>
                <a:off x="10401300" y="2400300"/>
                <a:ext cx="6096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81000">
                    <a:moveTo>
                      <a:pt x="0" y="0"/>
                    </a:moveTo>
                    <a:lnTo>
                      <a:pt x="609600" y="381000"/>
                    </a:lnTo>
                  </a:path>
                </a:pathLst>
              </a:custGeom>
              <a:noFill/>
              <a:ln w="19050">
                <a:solidFill>
                  <a:srgbClr val="5B6475"/>
                </a:solidFill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9791700" y="3162300"/>
                <a:ext cx="6096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81000">
                    <a:moveTo>
                      <a:pt x="0" y="0"/>
                    </a:moveTo>
                    <a:lnTo>
                      <a:pt x="609600" y="381000"/>
                    </a:lnTo>
                  </a:path>
                </a:pathLst>
              </a:custGeom>
              <a:noFill/>
              <a:ln w="19050">
                <a:solidFill>
                  <a:srgbClr val="5B6475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10401300" y="3162300"/>
                <a:ext cx="6096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381000">
                    <a:moveTo>
                      <a:pt x="60960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19050">
                <a:solidFill>
                  <a:srgbClr val="5B6475"/>
                </a:solidFill>
              </a:ln>
            </p:spPr>
          </p:sp>
          <p:sp>
            <p:nvSpPr>
              <p:cNvPr id="53" name="Rectangle 53"/>
              <p:cNvSpPr/>
              <p:nvPr/>
            </p:nvSpPr>
            <p:spPr>
              <a:xfrm>
                <a:off x="9944100" y="2019300"/>
                <a:ext cx="914400" cy="381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10338995" y="2121218"/>
                <a:ext cx="1246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0967466" y="215360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元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9296400" y="2781300"/>
                <a:ext cx="9906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574936" y="288321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(a²)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655616" y="32394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元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0515600" y="2781300"/>
                <a:ext cx="9906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8EDF8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0794136" y="2883218"/>
                <a:ext cx="43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(a³)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0874816" y="323945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元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944100" y="3543300"/>
                <a:ext cx="914400" cy="3810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14288">
                <a:solidFill>
                  <a:srgbClr val="5B6475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0237012" y="3645218"/>
                <a:ext cx="3285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{1}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0967466" y="3677602"/>
                <a:ext cx="2721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元</a:t>
                </a:r>
              </a:p>
            </p:txBody>
          </p:sp>
        </p:grpSp>
      </p:grpSp>
      <p:grpSp>
        <p:nvGrpSpPr>
          <p:cNvPr id="76" name="power-gcd"/>
          <p:cNvGrpSpPr/>
          <p:nvPr/>
        </p:nvGrpSpPr>
        <p:grpSpPr>
          <a:xfrm>
            <a:off x="6019800" y="4191000"/>
            <a:ext cx="2743200" cy="1524000"/>
            <a:chOff x="6019800" y="4191000"/>
            <a:chExt cx="2743200" cy="1524000"/>
          </a:xfrm>
        </p:grpSpPr>
        <p:sp>
          <p:nvSpPr>
            <p:cNvPr id="67" name="Rectangle 67"/>
            <p:cNvSpPr/>
            <p:nvPr/>
          </p:nvSpPr>
          <p:spPr>
            <a:xfrm>
              <a:off x="6019800" y="4191000"/>
              <a:ext cx="2743200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172200" y="43053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13932" y="43662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36842" y="4359592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(aᵐ) = (aᵈ)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166866" y="4649152"/>
              <a:ext cx="2251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= (a) 为 n 元循环群，d = (m, n)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166866" y="4858702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⊆：d | m ⇒ aᵐ ∈ (aᵈ)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66866" y="50682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⊇：有 k, l 使 d = km + ln，于是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166866" y="5277802"/>
              <a:ext cx="2342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aᵈ = aᵏᵐaˡⁿ = aᵏᵐ ∈ (aᵐ)（aⁿ = 1）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166866" y="54873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 6 元群中 (a⁴) = (a²)</a:t>
              </a:r>
            </a:p>
          </p:txBody>
        </p:sp>
      </p:grpSp>
      <p:grpSp>
        <p:nvGrpSpPr>
          <p:cNvPr id="86" name="infinite-cyclic"/>
          <p:cNvGrpSpPr/>
          <p:nvPr/>
        </p:nvGrpSpPr>
        <p:grpSpPr>
          <a:xfrm>
            <a:off x="8915400" y="4191000"/>
            <a:ext cx="2743200" cy="1524000"/>
            <a:chOff x="8915400" y="4191000"/>
            <a:chExt cx="2743200" cy="1524000"/>
          </a:xfrm>
        </p:grpSpPr>
        <p:sp>
          <p:nvSpPr>
            <p:cNvPr id="77" name="Rectangle 77"/>
            <p:cNvSpPr/>
            <p:nvPr/>
          </p:nvSpPr>
          <p:spPr>
            <a:xfrm>
              <a:off x="8915400" y="4191000"/>
              <a:ext cx="2743200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9067800" y="4305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20496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84842" y="435959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无限循环群的子群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062466" y="4649152"/>
              <a:ext cx="1883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除 {1} 外，都是无限循环群。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062466" y="4858702"/>
              <a:ext cx="1897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取非单位元 x = aᵏ（k ≠ 0），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62466" y="5068252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x 周期为 m：xᵐ = aᵏᵐ = 1，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062466" y="52778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 km ≠ 0，与 a 周期无穷大矛盾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062466" y="54873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故子群是无限循环群</a:t>
              </a:r>
            </a:p>
          </p:txBody>
        </p:sp>
      </p:grpSp>
      <p:grpSp>
        <p:nvGrpSpPr>
          <p:cNvPr id="9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7" name="Rectangle 8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62000" y="5991225"/>
              <a:ext cx="228600" cy="228600"/>
              <a:chOff x="762000" y="5991225"/>
              <a:chExt cx="228600" cy="2286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62000" y="614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50800"/>
                    </a:lnTo>
                    <a:cubicBezTo>
                      <a:pt x="76200" y="64828"/>
                      <a:pt x="64828" y="76200"/>
                      <a:pt x="50800" y="76200"/>
                    </a:cubicBezTo>
                    <a:lnTo>
                      <a:pt x="25400" y="76200"/>
                    </a:lnTo>
                    <a:cubicBezTo>
                      <a:pt x="11372" y="76200"/>
                      <a:pt x="0" y="64828"/>
                      <a:pt x="0" y="50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914400" y="614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50800"/>
                    </a:lnTo>
                    <a:cubicBezTo>
                      <a:pt x="76200" y="64828"/>
                      <a:pt x="64828" y="76200"/>
                      <a:pt x="50800" y="76200"/>
                    </a:cubicBezTo>
                    <a:lnTo>
                      <a:pt x="25400" y="76200"/>
                    </a:lnTo>
                    <a:cubicBezTo>
                      <a:pt x="11372" y="76200"/>
                      <a:pt x="0" y="64828"/>
                      <a:pt x="0" y="50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38200" y="59912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50800"/>
                    </a:lnTo>
                    <a:cubicBezTo>
                      <a:pt x="76200" y="64828"/>
                      <a:pt x="64828" y="76200"/>
                      <a:pt x="50800" y="76200"/>
                    </a:cubicBezTo>
                    <a:lnTo>
                      <a:pt x="25400" y="76200"/>
                    </a:lnTo>
                    <a:cubicBezTo>
                      <a:pt x="11372" y="76200"/>
                      <a:pt x="0" y="64828"/>
                      <a:pt x="0" y="50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00100" y="6105525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381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76300" y="60674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134618" y="6003608"/>
              <a:ext cx="8137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n 元循环群的全部子群 = 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{(aᵈ) | d 为 n 的正因子}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，其中 (aᵈ) 恰有 n/d 个元素。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6" name="TextBox 96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298698" cy="960501"/>
            <a:chOff x="519684" y="361950"/>
            <a:chExt cx="329869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3471" y="43243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习题精讲：周期三连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ex-conjugate"/>
          <p:cNvGrpSpPr/>
          <p:nvPr/>
        </p:nvGrpSpPr>
        <p:grpSpPr>
          <a:xfrm>
            <a:off x="533400" y="1485900"/>
            <a:ext cx="3581400" cy="3695700"/>
            <a:chOff x="533400" y="1485900"/>
            <a:chExt cx="3581400" cy="36957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581400" cy="36957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0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7042" y="2006918"/>
              <a:ext cx="2613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的周期为 k，求 b⁻¹ab 的周期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566" y="23060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关键一步：共轭的幂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2514600"/>
              <a:ext cx="3200400" cy="4572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83679" y="2641282"/>
              <a:ext cx="2080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(b⁻¹ab)ᵐ = b⁻¹aᵐb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7804" y="308991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(b⁻¹ab)² = b⁻¹a(bb⁻¹)ab = b⁻¹a²b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8566" y="3334702"/>
              <a:ext cx="2102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依此类推，中间的 bb⁻¹ 全部抵消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7804" y="3642360"/>
              <a:ext cx="2394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① </a:t>
              </a: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(b⁻¹ab)ᵏ = b⁻¹aᵏb = b⁻¹b =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804" y="3928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若有 0 &lt; m &lt; k 使 (b⁻¹ab)ᵐ = 1，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417576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b⁻¹aᵐb = 1 ⇒ aᵐ = 1，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矛盾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4420552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两端左乘 b、右乘 b⁻¹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23900" y="4686300"/>
              <a:ext cx="3200400" cy="381000"/>
            </a:xfrm>
            <a:prstGeom prst="roundRect">
              <a:avLst>
                <a:gd name="adj" fmla="val 3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81661" y="4788218"/>
              <a:ext cx="1484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b⁻¹ab 的周期为 k</a:t>
              </a:r>
            </a:p>
          </p:txBody>
        </p:sp>
      </p:grpSp>
      <p:grpSp>
        <p:nvGrpSpPr>
          <p:cNvPr id="38" name="ex-ab-ba"/>
          <p:cNvGrpSpPr/>
          <p:nvPr/>
        </p:nvGrpSpPr>
        <p:grpSpPr>
          <a:xfrm>
            <a:off x="4305300" y="1485900"/>
            <a:ext cx="3581400" cy="3695700"/>
            <a:chOff x="4305300" y="1485900"/>
            <a:chExt cx="3581400" cy="3695700"/>
          </a:xfrm>
        </p:grpSpPr>
        <p:sp>
          <p:nvSpPr>
            <p:cNvPr id="23" name="Rectangle 23"/>
            <p:cNvSpPr/>
            <p:nvPr/>
          </p:nvSpPr>
          <p:spPr>
            <a:xfrm>
              <a:off x="4305300" y="1485900"/>
              <a:ext cx="3581400" cy="36957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958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989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88942" y="2006918"/>
              <a:ext cx="2116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证明 ab 与 ba 的周期相同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90466" y="23060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最快的另解：看出共轭关系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95800" y="2514600"/>
              <a:ext cx="3200400" cy="4572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12131" y="2641282"/>
              <a:ext cx="15677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ba = a⁻¹(ab)a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89704" y="3089910"/>
              <a:ext cx="2314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 是 ab 的共轭，由练习 1 立得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9704" y="3413760"/>
              <a:ext cx="247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直接证：设 ab 周期 m，ba 周期 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89704" y="3680460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① </a:t>
              </a: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(ba)ᵐ⁺¹ = b(ab)ᵐa = ba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18304" y="390906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⇒ (ba)ᵐ = 1 ⇒ n | 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89704" y="4175760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② </a:t>
              </a:r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(ba)ⁿ = b(ab)ⁿ⁻¹a =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18304" y="4404360"/>
              <a:ext cx="27503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⇒ (ab)ⁿ⁻¹ = b⁻¹a⁻¹ = (ab)⁻¹ ⇒ m | 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95800" y="4686300"/>
              <a:ext cx="3200400" cy="381000"/>
            </a:xfrm>
            <a:prstGeom prst="roundRect">
              <a:avLst>
                <a:gd name="adj" fmla="val 3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51310" y="4804410"/>
              <a:ext cx="2689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m = n；一个无穷大时另一个也无穷大</a:t>
              </a:r>
            </a:p>
          </p:txBody>
        </p:sp>
      </p:grpSp>
      <p:grpSp>
        <p:nvGrpSpPr>
          <p:cNvPr id="54" name="ex-order-two"/>
          <p:cNvGrpSpPr/>
          <p:nvPr/>
        </p:nvGrpSpPr>
        <p:grpSpPr>
          <a:xfrm>
            <a:off x="8077200" y="1485900"/>
            <a:ext cx="3581400" cy="3695700"/>
            <a:chOff x="8077200" y="1485900"/>
            <a:chExt cx="3581400" cy="3695700"/>
          </a:xfrm>
        </p:grpSpPr>
        <p:sp>
          <p:nvSpPr>
            <p:cNvPr id="39" name="Rectangle 39"/>
            <p:cNvSpPr/>
            <p:nvPr/>
          </p:nvSpPr>
          <p:spPr>
            <a:xfrm>
              <a:off x="8077200" y="1485900"/>
              <a:ext cx="3581400" cy="36957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677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747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60842" y="2006918"/>
              <a:ext cx="1323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周期为 2 的元素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61604" y="2346960"/>
              <a:ext cx="2040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a 的周期为 2 ⇒ a⁻¹ = 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1604" y="2594610"/>
              <a:ext cx="2527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a² = 1，两端右乘 a⁻¹，得 </a:t>
              </a:r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= a⁻¹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267700" y="2914650"/>
              <a:ext cx="3200400" cy="9525"/>
            </a:xfrm>
            <a:custGeom>
              <a:avLst/>
              <a:gdLst/>
              <a:ahLst/>
              <a:cxnLst/>
              <a:rect l="l" t="t" r="r" b="b"/>
              <a:pathLst>
                <a:path w="3200400" h="9525">
                  <a:moveTo>
                    <a:pt x="0" y="0"/>
                  </a:moveTo>
                  <a:lnTo>
                    <a:pt x="3200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61604" y="3070860"/>
              <a:ext cx="274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除单位元外，每个元素周期都是 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1604" y="3299460"/>
              <a:ext cx="1078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⇒ G 是 Abel 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61604" y="3604260"/>
              <a:ext cx="2790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 (1)，G 中每个元素都自逆：x⁻¹ = x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61604" y="3851910"/>
              <a:ext cx="2303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a, b ∈ G，ab ∈ G 也自逆：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67700" y="4095750"/>
              <a:ext cx="3200400" cy="4572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61618" y="4229100"/>
              <a:ext cx="26125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ab = (ab)⁻¹ = b⁻¹a⁻¹ = ba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267700" y="4686300"/>
              <a:ext cx="3200400" cy="381000"/>
            </a:xfrm>
            <a:prstGeom prst="roundRect">
              <a:avLst>
                <a:gd name="adj" fmla="val 3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21646" y="4788218"/>
              <a:ext cx="892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 可交换 ∎</a:t>
              </a:r>
            </a:p>
          </p:txBody>
        </p:sp>
      </p:grpSp>
      <p:grpSp>
        <p:nvGrpSpPr>
          <p:cNvPr id="61" name="pattern"/>
          <p:cNvGrpSpPr/>
          <p:nvPr/>
        </p:nvGrpSpPr>
        <p:grpSpPr>
          <a:xfrm>
            <a:off x="533400" y="5295900"/>
            <a:ext cx="11125200" cy="419100"/>
            <a:chOff x="533400" y="5295900"/>
            <a:chExt cx="11125200" cy="419100"/>
          </a:xfrm>
        </p:grpSpPr>
        <p:sp>
          <p:nvSpPr>
            <p:cNvPr id="55" name="Rectangle 55"/>
            <p:cNvSpPr/>
            <p:nvPr/>
          </p:nvSpPr>
          <p:spPr>
            <a:xfrm>
              <a:off x="533400" y="5295900"/>
              <a:ext cx="111252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19138" y="5405438"/>
              <a:ext cx="200026" cy="200025"/>
              <a:chOff x="719138" y="540543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9138" y="54054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58876" y="54498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93592" y="55610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59942" y="5426392"/>
              <a:ext cx="7401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共同套路：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把目标元素的幂化成已知元素的幂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——插入 bb⁻¹ 让它抵消，或利用“自逆” x⁻¹ = x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2" name="Rectangle 62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134618" y="6003608"/>
              <a:ext cx="85129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记住三件事：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共轭不改变周期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；ab 与 ba 周期相同；非单位元周期全为 2 的群可交换。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8" name="TextBox 68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6477000" y="-381000"/>
            <a:ext cx="7620000" cy="762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section-disc-inner"/>
          <p:cNvSpPr/>
          <p:nvPr/>
        </p:nvSpPr>
        <p:spPr>
          <a:xfrm>
            <a:off x="9620250" y="3714750"/>
            <a:ext cx="3238500" cy="3238500"/>
          </a:xfrm>
          <a:prstGeom prst="ellipse">
            <a:avLst/>
          </a:prstGeom>
          <a:solidFill>
            <a:srgbClr val="3F5DB0"/>
          </a:solidFill>
          <a:ln>
            <a:noFill/>
          </a:ln>
        </p:spPr>
      </p:sp>
      <p:sp>
        <p:nvSpPr>
          <p:cNvPr id="4" name="section-dot"/>
          <p:cNvSpPr/>
          <p:nvPr/>
        </p:nvSpPr>
        <p:spPr>
          <a:xfrm>
            <a:off x="7067550" y="116205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6" name="section-number"/>
          <p:cNvGrpSpPr/>
          <p:nvPr/>
        </p:nvGrpSpPr>
        <p:grpSpPr>
          <a:xfrm>
            <a:off x="8763533" y="2514600"/>
            <a:ext cx="1903933" cy="2305050"/>
            <a:chOff x="8763533" y="2514600"/>
            <a:chExt cx="1903933" cy="2305050"/>
          </a:xfrm>
        </p:grpSpPr>
        <p:sp>
          <p:nvSpPr>
            <p:cNvPr id="5" name="TextBox 5"/>
            <p:cNvSpPr txBox="1"/>
            <p:nvPr/>
          </p:nvSpPr>
          <p:spPr>
            <a:xfrm>
              <a:off x="8763533" y="25146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2" name="section-title"/>
          <p:cNvGrpSpPr/>
          <p:nvPr/>
        </p:nvGrpSpPr>
        <p:grpSpPr>
          <a:xfrm>
            <a:off x="743712" y="1866900"/>
            <a:ext cx="4398264" cy="1885379"/>
            <a:chOff x="743712" y="1866900"/>
            <a:chExt cx="4398264" cy="1885379"/>
          </a:xfrm>
        </p:grpSpPr>
        <p:sp>
          <p:nvSpPr>
            <p:cNvPr id="7" name="Rectangle 7"/>
            <p:cNvSpPr/>
            <p:nvPr/>
          </p:nvSpPr>
          <p:spPr>
            <a:xfrm>
              <a:off x="762000" y="18669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71" y="195643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第三部分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52603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陪集与拉格朗日定理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3143250"/>
              <a:ext cx="762000" cy="4762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2094" y="337089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子群把整个群切成大小相同的块</a:t>
              </a:r>
            </a:p>
          </p:txBody>
        </p:sp>
      </p:grpSp>
      <p:grpSp>
        <p:nvGrpSpPr>
          <p:cNvPr id="26" name="section-questions"/>
          <p:cNvGrpSpPr/>
          <p:nvPr/>
        </p:nvGrpSpPr>
        <p:grpSpPr>
          <a:xfrm>
            <a:off x="755142" y="4102418"/>
            <a:ext cx="4692777" cy="1747647"/>
            <a:chOff x="755142" y="4102418"/>
            <a:chExt cx="4692777" cy="1747647"/>
          </a:xfrm>
        </p:grpSpPr>
        <p:sp>
          <p:nvSpPr>
            <p:cNvPr id="13" name="TextBox 13"/>
            <p:cNvSpPr txBox="1"/>
            <p:nvPr/>
          </p:nvSpPr>
          <p:spPr>
            <a:xfrm>
              <a:off x="755142" y="41024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本节要回答</a:t>
              </a:r>
            </a:p>
          </p:txBody>
        </p:sp>
        <p:grpSp>
          <p:nvGrpSpPr>
            <p:cNvPr id="17" name="q-1"/>
            <p:cNvGrpSpPr/>
            <p:nvPr/>
          </p:nvGrpSpPr>
          <p:grpSpPr>
            <a:xfrm>
              <a:off x="781050" y="4457700"/>
              <a:ext cx="3778377" cy="363665"/>
              <a:chOff x="781050" y="4457700"/>
              <a:chExt cx="3778377" cy="36366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781050" y="44577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80708" y="45377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10818" y="4498658"/>
                <a:ext cx="334860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陪集从哪个等价关系来？怎么求？</a:t>
                </a:r>
              </a:p>
            </p:txBody>
          </p:sp>
        </p:grpSp>
        <p:grpSp>
          <p:nvGrpSpPr>
            <p:cNvPr id="21" name="q-2"/>
            <p:cNvGrpSpPr/>
            <p:nvPr/>
          </p:nvGrpSpPr>
          <p:grpSpPr>
            <a:xfrm>
              <a:off x="781050" y="4972050"/>
              <a:ext cx="4666869" cy="363665"/>
              <a:chOff x="781050" y="4972050"/>
              <a:chExt cx="4666869" cy="36366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1050" y="497205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80708" y="5052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10818" y="5013008"/>
                <a:ext cx="42371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什么样的子群左右陪集一样（正规子群）？</a:t>
                </a:r>
              </a:p>
            </p:txBody>
          </p:sp>
        </p:grpSp>
        <p:grpSp>
          <p:nvGrpSpPr>
            <p:cNvPr id="25" name="q-3"/>
            <p:cNvGrpSpPr/>
            <p:nvPr/>
          </p:nvGrpSpPr>
          <p:grpSpPr>
            <a:xfrm>
              <a:off x="781050" y="5486400"/>
              <a:ext cx="4222623" cy="363665"/>
              <a:chOff x="781050" y="5486400"/>
              <a:chExt cx="4222623" cy="363665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781050" y="5486400"/>
                <a:ext cx="304800" cy="304800"/>
              </a:xfrm>
              <a:prstGeom prst="ellipse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80708" y="55664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0818" y="5527358"/>
                <a:ext cx="37928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为什么子群的元数一定整除群的元数？</a:t>
                </a:r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528066" y="6573202"/>
            <a:ext cx="19767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离散数学II · 6.3 子群及其陪集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7090040" cy="960501"/>
            <a:chOff x="519684" y="361950"/>
            <a:chExt cx="709004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陪集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0900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合同关系：差一个 H 中的元素，就算“同组”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definition"/>
          <p:cNvGrpSpPr/>
          <p:nvPr/>
        </p:nvGrpSpPr>
        <p:grpSpPr>
          <a:xfrm>
            <a:off x="533400" y="1485900"/>
            <a:ext cx="6324600" cy="1866900"/>
            <a:chOff x="533400" y="1485900"/>
            <a:chExt cx="6324600" cy="18669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3246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562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638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合同关系（右模 H）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06918"/>
              <a:ext cx="4960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G 是群，H 是 G 的子群，a, b ∈ G。若有 h ∈ H 使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= bh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2273618"/>
              <a:ext cx="44092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a 合同于 b（右模 H），记为 a ≡ b（右mod H）。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2533650"/>
              <a:ext cx="5791200" cy="457200"/>
            </a:xfrm>
            <a:prstGeom prst="roundRect">
              <a:avLst>
                <a:gd name="adj" fmla="val 25000"/>
              </a:avLst>
            </a:prstGeom>
            <a:solidFill>
              <a:srgbClr val="E8EDF8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congruence-formula"/>
                <p:cNvSpPr txBox="1">
                  <a:spLocks noGrp="1"/>
                </p:cNvSpPr>
                <p:nvPr/>
              </p:nvSpPr>
              <p:spPr>
                <a:xfrm>
                  <a:off x="990600" y="2552700"/>
                  <a:ext cx="563880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≡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右mod</m:t>
                            </m:r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 </m:t>
                            </m:r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⟺∃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bh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∈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909066" y="3106102"/>
              <a:ext cx="5534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同样可定义左模 H：a ≡ b（左mod H）⇔ 存在 h ∈ H 使 a = hb。“右”指 H 的元素乘在右边</a:t>
              </a:r>
            </a:p>
          </p:txBody>
        </p:sp>
      </p:grpSp>
      <p:grpSp>
        <p:nvGrpSpPr>
          <p:cNvPr id="28" name="s3-example"/>
          <p:cNvGrpSpPr/>
          <p:nvPr/>
        </p:nvGrpSpPr>
        <p:grpSpPr>
          <a:xfrm>
            <a:off x="533400" y="3467100"/>
            <a:ext cx="6324600" cy="2247900"/>
            <a:chOff x="533400" y="3467100"/>
            <a:chExt cx="6324600" cy="2247900"/>
          </a:xfrm>
        </p:grpSpPr>
        <p:sp>
          <p:nvSpPr>
            <p:cNvPr id="18" name="Rectangle 18"/>
            <p:cNvSpPr/>
            <p:nvPr/>
          </p:nvSpPr>
          <p:spPr>
            <a:xfrm>
              <a:off x="533400" y="3467100"/>
              <a:ext cx="63246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35814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3732" y="36423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26642" y="3635692"/>
              <a:ext cx="410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S₃ 中，H = ((1 2 3)) = {I, (1 2 3), (1 3 2)}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142" y="3969068"/>
              <a:ext cx="4360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(1 2) = (1 2)·I，I ∈ H ⇒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 2) ≡ (1 2)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（右mod H）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142" y="4235768"/>
              <a:ext cx="5328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(2 3) = (1 2)(1 2 3)，(1 2 3) ∈ H ⇒ 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 3) ≡ (1 2)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（右mod H）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514850"/>
              <a:ext cx="5867400" cy="3810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8304" y="4632960"/>
              <a:ext cx="4987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从右往左算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(1 2)(1 2 3)：1 → 2 → 1，2 → 3 → 3，3 → 1 → 2，得 (2 3)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5033010"/>
              <a:ext cx="4925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同理 (1 2)、(1 3)、(2 3) 两两合同；I、(1 2 3)、(1 3 2) 两两合同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904" y="5337810"/>
              <a:ext cx="51543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 S₃ 被分成两组：{I, (1 2 3), (1 3 2)} 与 {(1 2), (1 3), (2 3)}</a:t>
              </a:r>
            </a:p>
          </p:txBody>
        </p:sp>
      </p:grpSp>
      <p:grpSp>
        <p:nvGrpSpPr>
          <p:cNvPr id="63" name="equivalence"/>
          <p:cNvGrpSpPr/>
          <p:nvPr/>
        </p:nvGrpSpPr>
        <p:grpSpPr>
          <a:xfrm>
            <a:off x="7010400" y="1485900"/>
            <a:ext cx="4648200" cy="4229100"/>
            <a:chOff x="7010400" y="1485900"/>
            <a:chExt cx="4648200" cy="4229100"/>
          </a:xfrm>
        </p:grpSpPr>
        <p:sp>
          <p:nvSpPr>
            <p:cNvPr id="29" name="Rectangle 29"/>
            <p:cNvSpPr/>
            <p:nvPr/>
          </p:nvSpPr>
          <p:spPr>
            <a:xfrm>
              <a:off x="7010400" y="1485900"/>
              <a:ext cx="46482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761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6042" y="1673542"/>
              <a:ext cx="2547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合同关系（右模 H）是等价关系</a:t>
              </a:r>
            </a:p>
          </p:txBody>
        </p:sp>
        <p:grpSp>
          <p:nvGrpSpPr>
            <p:cNvPr id="39" name="reflexive"/>
            <p:cNvGrpSpPr/>
            <p:nvPr/>
          </p:nvGrpSpPr>
          <p:grpSpPr>
            <a:xfrm>
              <a:off x="7239000" y="2019300"/>
              <a:ext cx="4191000" cy="800100"/>
              <a:chOff x="7239000" y="2019300"/>
              <a:chExt cx="4191000" cy="8001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239000" y="2019300"/>
                <a:ext cx="4191000" cy="800100"/>
              </a:xfrm>
              <a:prstGeom prst="roundRect">
                <a:avLst>
                  <a:gd name="adj" fmla="val 14286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391400" y="215265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516940" y="22107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反身性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223504" y="2204085"/>
                <a:ext cx="221993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任意 a ∈ G：a = a·1，而 1 ∈ 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0679188" y="2540318"/>
                <a:ext cx="605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a ≡ 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386066" y="25727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子群含单位元</a:t>
                </a:r>
              </a:p>
            </p:txBody>
          </p:sp>
        </p:grpSp>
        <p:grpSp>
          <p:nvGrpSpPr>
            <p:cNvPr id="47" name="symmetric"/>
            <p:cNvGrpSpPr/>
            <p:nvPr/>
          </p:nvGrpSpPr>
          <p:grpSpPr>
            <a:xfrm>
              <a:off x="7239000" y="2933700"/>
              <a:ext cx="4191000" cy="952500"/>
              <a:chOff x="7239000" y="2933700"/>
              <a:chExt cx="4191000" cy="952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239000" y="2933700"/>
                <a:ext cx="419100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391400" y="306705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516940" y="31251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对称性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223504" y="3118485"/>
                <a:ext cx="1686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≡ b：a = bh（h ∈ H）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385304" y="3394710"/>
                <a:ext cx="24681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右乘 h⁻¹ 得 b = ah⁻¹，且 h⁻¹ ∈ H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86066" y="36395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子群对求逆封闭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679188" y="3607118"/>
                <a:ext cx="605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b ≡ a</a:t>
                </a:r>
              </a:p>
            </p:txBody>
          </p:sp>
        </p:grpSp>
        <p:grpSp>
          <p:nvGrpSpPr>
            <p:cNvPr id="55" name="transitive"/>
            <p:cNvGrpSpPr/>
            <p:nvPr/>
          </p:nvGrpSpPr>
          <p:grpSpPr>
            <a:xfrm>
              <a:off x="7239000" y="4000500"/>
              <a:ext cx="4191000" cy="952500"/>
              <a:chOff x="7239000" y="4000500"/>
              <a:chExt cx="4191000" cy="9525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7239000" y="4000500"/>
                <a:ext cx="4191000" cy="952500"/>
              </a:xfrm>
              <a:prstGeom prst="roundRect">
                <a:avLst>
                  <a:gd name="adj" fmla="val 12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7391400" y="4133850"/>
                <a:ext cx="6858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516940" y="4191952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传递性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223504" y="4185285"/>
                <a:ext cx="21284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≡ b，b ≡ c：a = bh，b = ck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85304" y="4461510"/>
                <a:ext cx="25498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代入得 a = ckh = c(kh)，且 kh ∈ H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386066" y="4706302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子群对乘法封闭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679188" y="4673918"/>
                <a:ext cx="605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a ≡ c</a:t>
                </a:r>
              </a:p>
            </p:txBody>
          </p:sp>
        </p:grpSp>
        <p:sp>
          <p:nvSpPr>
            <p:cNvPr id="56" name="Rectangle 56"/>
            <p:cNvSpPr/>
            <p:nvPr/>
          </p:nvSpPr>
          <p:spPr>
            <a:xfrm>
              <a:off x="7239000" y="5067300"/>
              <a:ext cx="4191000" cy="495300"/>
            </a:xfrm>
            <a:prstGeom prst="roundRect">
              <a:avLst>
                <a:gd name="adj" fmla="val 23077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435850" y="5226050"/>
              <a:ext cx="177800" cy="177800"/>
              <a:chOff x="7435850" y="5226050"/>
              <a:chExt cx="177800" cy="177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435850" y="52260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3" y="66675"/>
                    </a:cubicBezTo>
                    <a:lnTo>
                      <a:pt x="11113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546975" y="52260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3" y="66675"/>
                    </a:cubicBezTo>
                    <a:lnTo>
                      <a:pt x="11113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435850" y="53371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3" y="66675"/>
                    </a:cubicBezTo>
                    <a:lnTo>
                      <a:pt x="11113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546975" y="53371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11113"/>
                    </a:moveTo>
                    <a:cubicBezTo>
                      <a:pt x="0" y="4975"/>
                      <a:pt x="4975" y="0"/>
                      <a:pt x="11113" y="0"/>
                    </a:cubicBezTo>
                    <a:lnTo>
                      <a:pt x="55563" y="0"/>
                    </a:lnTo>
                    <a:cubicBezTo>
                      <a:pt x="61700" y="0"/>
                      <a:pt x="66675" y="4975"/>
                      <a:pt x="66675" y="11113"/>
                    </a:cubicBezTo>
                    <a:lnTo>
                      <a:pt x="66675" y="55563"/>
                    </a:lnTo>
                    <a:cubicBezTo>
                      <a:pt x="66675" y="61700"/>
                      <a:pt x="61700" y="66675"/>
                      <a:pt x="55563" y="66675"/>
                    </a:cubicBezTo>
                    <a:lnTo>
                      <a:pt x="11113" y="66675"/>
                    </a:lnTo>
                    <a:cubicBezTo>
                      <a:pt x="4975" y="66675"/>
                      <a:pt x="0" y="61700"/>
                      <a:pt x="0" y="55563"/>
                    </a:cubicBez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766304" y="5242560"/>
              <a:ext cx="2776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等价关系 ⇒ G 被分成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互不相交的等价类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4" name="Rectangle 6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134618" y="6003608"/>
              <a:ext cx="72453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≡ b（右mod H）：a 与 b 只差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右边一个 H 中的元素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，等价于 b⁻¹a ∈ H。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3818774" cy="960501"/>
            <a:chOff x="519684" y="361950"/>
            <a:chExt cx="381877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陪集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381877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陪集：用 H 把群“切块”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definition"/>
          <p:cNvGrpSpPr/>
          <p:nvPr/>
        </p:nvGrpSpPr>
        <p:grpSpPr>
          <a:xfrm>
            <a:off x="533400" y="1485900"/>
            <a:ext cx="6705600" cy="1524000"/>
            <a:chOff x="533400" y="1485900"/>
            <a:chExt cx="6705600" cy="15240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6705600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4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 6.3.4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86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右陪集与左陪集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06918"/>
              <a:ext cx="552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群 G 在合同关系（右模 H）下的一个等价类，叫做 H 的一个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右陪集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2273618"/>
              <a:ext cx="42142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合同关系（左模 H）下的等价类，叫做 H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左陪集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2533650"/>
              <a:ext cx="6248400" cy="361950"/>
            </a:xfrm>
            <a:prstGeom prst="roundRect">
              <a:avLst>
                <a:gd name="adj" fmla="val 2631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9805" y="2626042"/>
              <a:ext cx="5065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Cambria Math"/>
                  <a:ea typeface="Microsoft YaHei"/>
                  <a:cs typeface="Cambria Math"/>
                </a:rPr>
                <a:t>a 所在的右陪集 aH = {ah | h ∈ H}，左陪集 Ha = {ha | h ∈ H}</a:t>
              </a:r>
            </a:p>
          </p:txBody>
        </p:sp>
      </p:grpSp>
      <p:grpSp>
        <p:nvGrpSpPr>
          <p:cNvPr id="36" name="proof"/>
          <p:cNvGrpSpPr/>
          <p:nvPr/>
        </p:nvGrpSpPr>
        <p:grpSpPr>
          <a:xfrm>
            <a:off x="533400" y="3124200"/>
            <a:ext cx="6705600" cy="2590800"/>
            <a:chOff x="533400" y="3124200"/>
            <a:chExt cx="6705600" cy="2590800"/>
          </a:xfrm>
        </p:grpSpPr>
        <p:sp>
          <p:nvSpPr>
            <p:cNvPr id="17" name="Rectangle 17"/>
            <p:cNvSpPr/>
            <p:nvPr/>
          </p:nvSpPr>
          <p:spPr>
            <a:xfrm>
              <a:off x="533400" y="3124200"/>
              <a:ext cx="6705600" cy="25908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32385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160" y="3299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79042" y="3292792"/>
              <a:ext cx="3779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 a 所在的等价类恰好是 aH？要证两件事</a:t>
              </a:r>
            </a:p>
          </p:txBody>
        </p:sp>
        <p:grpSp>
          <p:nvGrpSpPr>
            <p:cNvPr id="27" name="proof-part-1"/>
            <p:cNvGrpSpPr/>
            <p:nvPr/>
          </p:nvGrpSpPr>
          <p:grpSpPr>
            <a:xfrm>
              <a:off x="762000" y="3619500"/>
              <a:ext cx="3086100" cy="1562100"/>
              <a:chOff x="762000" y="3619500"/>
              <a:chExt cx="3086100" cy="15621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3619500"/>
                <a:ext cx="3086100" cy="1562100"/>
              </a:xfrm>
              <a:prstGeom prst="roundRect">
                <a:avLst>
                  <a:gd name="adj" fmla="val 731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08304" y="3756660"/>
                <a:ext cx="15657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(1) aH 内部互相合同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8304" y="4042410"/>
                <a:ext cx="20013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任取 x = ah₁，y = ah₂ ∈ aH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08304" y="4309110"/>
                <a:ext cx="22495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x = a(h₂h₂⁻¹)h₁ = y(h₂⁻¹h₁)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08304" y="4575810"/>
                <a:ext cx="10460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而 h₂⁻¹h₁ ∈ 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08304" y="4880610"/>
                <a:ext cx="14871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x ≡ y（右mod H）</a:t>
                </a:r>
              </a:p>
            </p:txBody>
          </p:sp>
        </p:grpSp>
        <p:grpSp>
          <p:nvGrpSpPr>
            <p:cNvPr id="34" name="proof-part-2"/>
            <p:cNvGrpSpPr/>
            <p:nvPr/>
          </p:nvGrpSpPr>
          <p:grpSpPr>
            <a:xfrm>
              <a:off x="4000500" y="3619500"/>
              <a:ext cx="3086100" cy="1562100"/>
              <a:chOff x="4000500" y="3619500"/>
              <a:chExt cx="3086100" cy="15621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000500" y="3619500"/>
                <a:ext cx="3086100" cy="1562100"/>
              </a:xfrm>
              <a:prstGeom prst="roundRect">
                <a:avLst>
                  <a:gd name="adj" fmla="val 731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146804" y="3756660"/>
                <a:ext cx="20667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(2) 和 aH 合同的都在 aH 里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146804" y="4042410"/>
                <a:ext cx="21359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设 c ∈ aH，b ≡ c（右mod H）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146804" y="4309110"/>
                <a:ext cx="236098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 = ch₁，c = ah₂（h₁, h₂ ∈ H）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46804" y="4575810"/>
                <a:ext cx="23422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Microsoft YaHei"/>
                    <a:cs typeface="Cambria Math"/>
                  </a:rPr>
                  <a:t>b = ah₂h₁ = a(h₂h₁)，h₂h₁ ∈ H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46804" y="4880610"/>
                <a:ext cx="64299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⇒ b ∈ aH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755904" y="5356860"/>
              <a:ext cx="4214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(1)(2) ⇒ aH 恰是一个完整的等价类，即 a 所在的右陪集 ∎</a:t>
              </a:r>
            </a:p>
          </p:txBody>
        </p:sp>
      </p:grpSp>
      <p:grpSp>
        <p:nvGrpSpPr>
          <p:cNvPr id="38" name="analogy"/>
          <p:cNvGrpSpPr/>
          <p:nvPr/>
        </p:nvGrpSpPr>
        <p:grpSpPr>
          <a:xfrm>
            <a:off x="7391400" y="1485900"/>
            <a:ext cx="4267200" cy="2209800"/>
            <a:chOff x="7391400" y="1485900"/>
            <a:chExt cx="4267200" cy="2209800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15476" r="0" b="15476"/>
            <a:stretch>
              <a:fillRect/>
            </a:stretch>
          </p:blipFill>
          <p:spPr>
            <a:xfrm>
              <a:off x="7391400" y="1485900"/>
              <a:ext cx="4267200" cy="2209800"/>
            </a:xfrm>
            <a:prstGeom prst="roundRect">
              <a:avLst>
                <a:gd name="adj" fmla="val 6896"/>
              </a:avLst>
            </a:prstGeom>
          </p:spPr>
        </p:pic>
      </p:grpSp>
      <p:grpSp>
        <p:nvGrpSpPr>
          <p:cNvPr id="48" name="naming-pitfall"/>
          <p:cNvGrpSpPr/>
          <p:nvPr/>
        </p:nvGrpSpPr>
        <p:grpSpPr>
          <a:xfrm>
            <a:off x="7391400" y="3810000"/>
            <a:ext cx="4267200" cy="1905000"/>
            <a:chOff x="7391400" y="3810000"/>
            <a:chExt cx="42672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7391400" y="3810000"/>
              <a:ext cx="4267200" cy="1905000"/>
            </a:xfrm>
            <a:prstGeom prst="roundRect">
              <a:avLst>
                <a:gd name="adj" fmla="val 8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20000" y="39433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757160" y="4004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7042" y="3997642"/>
              <a:ext cx="1342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“左”“右”的叫法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13904" y="4347210"/>
              <a:ext cx="25384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本课程：a ≡ b（右mod H）⇔ a = bh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13904" y="4594860"/>
              <a:ext cx="2931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H 乘在右边 ⇒ </a:t>
              </a:r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aH 叫右陪集，Ha 叫左陪集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13904" y="4842510"/>
              <a:ext cx="2556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不少教材恰好相反，把 aH 叫左陪集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13904" y="51473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做题以本课程约定为准：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13904" y="5394960"/>
              <a:ext cx="17057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先看清 H 在 a 的哪一边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74700" y="6003925"/>
              <a:ext cx="203200" cy="203200"/>
              <a:chOff x="774700" y="6003925"/>
              <a:chExt cx="203200" cy="2032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74700" y="6003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01700" y="6003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74700" y="6130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1700" y="6130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134618" y="6003608"/>
              <a:ext cx="83342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右陪集 aH：把 H 的每个元素都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左乘 a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；陪集是等价类，所以互不相交、铺满整个 G。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226723" cy="960501"/>
            <a:chOff x="519684" y="361950"/>
            <a:chExt cx="422672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陪集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2267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陪集的例：S₃ 的两种切法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method"/>
          <p:cNvGrpSpPr/>
          <p:nvPr/>
        </p:nvGrpSpPr>
        <p:grpSpPr>
          <a:xfrm>
            <a:off x="533400" y="1485900"/>
            <a:ext cx="3810000" cy="4229100"/>
            <a:chOff x="533400" y="1485900"/>
            <a:chExt cx="3810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810000" cy="42291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91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79042" y="1673542"/>
              <a:ext cx="2062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求有限群 H 的全部右陪集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22098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20764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151" y="2144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7092" y="2121218"/>
              <a:ext cx="1630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本身是一个右陪集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2950" y="25336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151" y="2601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092" y="2578418"/>
              <a:ext cx="16605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a ∉ H，求出 aH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2950" y="29908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151" y="30584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7092" y="3035618"/>
              <a:ext cx="2081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b ∉ H ∪ aH，求出 bH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42950" y="34480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01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7092" y="3492818"/>
              <a:ext cx="2357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如此继续，G 有限，必被穷尽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3810000"/>
              <a:ext cx="3352800" cy="381000"/>
            </a:xfrm>
            <a:prstGeom prst="roundRect">
              <a:avLst>
                <a:gd name="adj" fmla="val 3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501164" y="3905250"/>
              <a:ext cx="1874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 = H ∪ aH ∪ bH ∪ …</a:t>
              </a:r>
            </a:p>
          </p:txBody>
        </p:sp>
        <p:grpSp>
          <p:nvGrpSpPr>
            <p:cNvPr id="35" name="quiz"/>
            <p:cNvGrpSpPr/>
            <p:nvPr/>
          </p:nvGrpSpPr>
          <p:grpSpPr>
            <a:xfrm>
              <a:off x="762000" y="4343400"/>
              <a:ext cx="3352800" cy="1219200"/>
              <a:chOff x="762000" y="4343400"/>
              <a:chExt cx="3352800" cy="12192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62000" y="4343400"/>
                <a:ext cx="3352800" cy="1219200"/>
              </a:xfrm>
              <a:prstGeom prst="roundRect">
                <a:avLst>
                  <a:gd name="adj" fmla="val 937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942975" y="4467225"/>
                <a:ext cx="171450" cy="171450"/>
                <a:chOff x="942975" y="4467225"/>
                <a:chExt cx="171450" cy="17145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942975" y="44672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C2410C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028700" y="45910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95"/>
                      </a:lnTo>
                    </a:path>
                  </a:pathLst>
                </a:custGeom>
                <a:noFill/>
                <a:ln w="19050">
                  <a:solidFill>
                    <a:srgbClr val="C2410C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14412" y="4522455"/>
                  <a:ext cx="34933" cy="40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33" h="40047">
                      <a:moveTo>
                        <a:pt x="14288" y="40020"/>
                      </a:moveTo>
                      <a:cubicBezTo>
                        <a:pt x="23106" y="40047"/>
                        <a:pt x="30790" y="34017"/>
                        <a:pt x="32862" y="25445"/>
                      </a:cubicBezTo>
                      <a:cubicBezTo>
                        <a:pt x="34933" y="16874"/>
                        <a:pt x="30851" y="8000"/>
                        <a:pt x="22993" y="3997"/>
                      </a:cubicBezTo>
                      <a:cubicBezTo>
                        <a:pt x="15191" y="0"/>
                        <a:pt x="5664" y="1906"/>
                        <a:pt x="0" y="8597"/>
                      </a:cubicBezTo>
                    </a:path>
                  </a:pathLst>
                </a:custGeom>
                <a:noFill/>
                <a:ln w="19050">
                  <a:solidFill>
                    <a:srgbClr val="C2410C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213104" y="4490085"/>
                <a:ext cx="242614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问：H 的右陪集里有几个是子群？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08304" y="4766310"/>
                <a:ext cx="1349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答：只有 H 本身。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08304" y="5033010"/>
                <a:ext cx="1764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其余陪集不含单位元 1：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08304" y="5280660"/>
                <a:ext cx="19127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若 1 ∈ aH，则 aH = 1H = H</a:t>
                </a:r>
              </a:p>
            </p:txBody>
          </p:sp>
        </p:grpSp>
      </p:grpSp>
      <p:grpSp>
        <p:nvGrpSpPr>
          <p:cNvPr id="67" name="s3-partition"/>
          <p:cNvGrpSpPr/>
          <p:nvPr/>
        </p:nvGrpSpPr>
        <p:grpSpPr>
          <a:xfrm>
            <a:off x="4495800" y="1485900"/>
            <a:ext cx="7162800" cy="2705100"/>
            <a:chOff x="4495800" y="1485900"/>
            <a:chExt cx="7162800" cy="2705100"/>
          </a:xfrm>
        </p:grpSpPr>
        <p:sp>
          <p:nvSpPr>
            <p:cNvPr id="37" name="Rectangle 37"/>
            <p:cNvSpPr/>
            <p:nvPr/>
          </p:nvSpPr>
          <p:spPr>
            <a:xfrm>
              <a:off x="4495800" y="1485900"/>
              <a:ext cx="7162800" cy="2705100"/>
            </a:xfrm>
            <a:prstGeom prst="roundRect">
              <a:avLst>
                <a:gd name="adj" fmla="val 563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7244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8661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9042" y="1673542"/>
              <a:ext cx="54388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S₃ = {I, (1 2), (1 3), (2 3), (1 2 3), (1 3 2)} 的两种切法</a:t>
              </a:r>
            </a:p>
          </p:txBody>
        </p:sp>
        <p:grpSp>
          <p:nvGrpSpPr>
            <p:cNvPr id="49" name="row-h1-right"/>
            <p:cNvGrpSpPr/>
            <p:nvPr/>
          </p:nvGrpSpPr>
          <p:grpSpPr>
            <a:xfrm>
              <a:off x="4718304" y="2019300"/>
              <a:ext cx="6787896" cy="492061"/>
              <a:chOff x="4718304" y="2019300"/>
              <a:chExt cx="6787896" cy="492061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4718304" y="2080260"/>
                <a:ext cx="12667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H₁ = {I, (1 2)}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719066" y="2306002"/>
                <a:ext cx="11824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右陪集 aH（3 块）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477000" y="2019300"/>
                <a:ext cx="1600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8EDF8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943923" y="2175510"/>
                <a:ext cx="6663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I, (1 2)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8191500" y="2019300"/>
                <a:ext cx="1600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8444332" y="2175510"/>
                <a:ext cx="10945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(1 3), (1 2 3)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9906000" y="2019300"/>
                <a:ext cx="1600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158832" y="2175510"/>
                <a:ext cx="10945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(2 3), (1 3 2)</a:t>
                </a:r>
              </a:p>
            </p:txBody>
          </p:sp>
        </p:grpSp>
        <p:grpSp>
          <p:nvGrpSpPr>
            <p:cNvPr id="58" name="row-h1-left"/>
            <p:cNvGrpSpPr/>
            <p:nvPr/>
          </p:nvGrpSpPr>
          <p:grpSpPr>
            <a:xfrm>
              <a:off x="4718304" y="2628900"/>
              <a:ext cx="6787896" cy="492061"/>
              <a:chOff x="4718304" y="2628900"/>
              <a:chExt cx="6787896" cy="492061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4718304" y="2689860"/>
                <a:ext cx="126674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H₁ = {I, (1 2)}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719066" y="2915602"/>
                <a:ext cx="124795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左陪集 Ha ≠ 右陪集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6477000" y="2628900"/>
                <a:ext cx="1600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8EDF8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943923" y="2785110"/>
                <a:ext cx="6663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I, (1 2)</a:t>
                </a:r>
              </a:p>
            </p:txBody>
          </p:sp>
          <p:sp>
            <p:nvSpPr>
              <p:cNvPr id="54" name="Rectangle 54"/>
              <p:cNvSpPr/>
              <p:nvPr/>
            </p:nvSpPr>
            <p:spPr>
              <a:xfrm>
                <a:off x="8191500" y="2628900"/>
                <a:ext cx="1600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430802" y="2785110"/>
                <a:ext cx="11215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(1 3), </a:t>
                </a:r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(1 3 2)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9906000" y="2628900"/>
                <a:ext cx="1600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0145302" y="2785110"/>
                <a:ext cx="112159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(2 3), </a:t>
                </a:r>
                <a:r>
                  <a:rPr lang="zh-CN" sz="120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(1 2 3)</a:t>
                </a:r>
              </a:p>
            </p:txBody>
          </p:sp>
        </p:grpSp>
        <p:grpSp>
          <p:nvGrpSpPr>
            <p:cNvPr id="65" name="row-h2"/>
            <p:cNvGrpSpPr/>
            <p:nvPr/>
          </p:nvGrpSpPr>
          <p:grpSpPr>
            <a:xfrm>
              <a:off x="4718304" y="3238500"/>
              <a:ext cx="6787896" cy="492061"/>
              <a:chOff x="4718304" y="3238500"/>
              <a:chExt cx="6787896" cy="492061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4718304" y="3299460"/>
                <a:ext cx="21718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H₂ = {I, (1 2 3), (1 3 2)}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719066" y="3525202"/>
                <a:ext cx="15796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左陪集 = 右陪集（2 块）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6781800" y="3238500"/>
                <a:ext cx="22860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8EDF8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139087" y="3394710"/>
                <a:ext cx="15714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I, (1 2 3), (1 3 2)</a:t>
                </a:r>
              </a:p>
            </p:txBody>
          </p:sp>
          <p:sp>
            <p:nvSpPr>
              <p:cNvPr id="63" name="Rectangle 63"/>
              <p:cNvSpPr/>
              <p:nvPr/>
            </p:nvSpPr>
            <p:spPr>
              <a:xfrm>
                <a:off x="9220200" y="3238500"/>
                <a:ext cx="22860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614002" y="3394710"/>
                <a:ext cx="14983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(1 2), (1 3), (2 3)</a:t>
                </a:r>
              </a:p>
            </p:txBody>
          </p:sp>
        </p:grpSp>
        <p:sp>
          <p:nvSpPr>
            <p:cNvPr id="66" name="TextBox 66"/>
            <p:cNvSpPr txBox="1"/>
            <p:nvPr/>
          </p:nvSpPr>
          <p:spPr>
            <a:xfrm>
              <a:off x="4719066" y="3906202"/>
              <a:ext cx="58561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如 (1 3)H₁ = {(1 3), (1 3)(1 2)} = {(1 3), (1 2 3)}，而 H₁(1 3) = {(1 3), (1 3 2)}</a:t>
              </a:r>
            </a:p>
          </p:txBody>
        </p:sp>
      </p:grpSp>
      <p:grpSp>
        <p:nvGrpSpPr>
          <p:cNvPr id="82" name="integer-examples"/>
          <p:cNvGrpSpPr/>
          <p:nvPr/>
        </p:nvGrpSpPr>
        <p:grpSpPr>
          <a:xfrm>
            <a:off x="4495800" y="4305300"/>
            <a:ext cx="7162800" cy="1409700"/>
            <a:chOff x="4495800" y="4305300"/>
            <a:chExt cx="7162800" cy="1409700"/>
          </a:xfrm>
        </p:grpSpPr>
        <p:sp>
          <p:nvSpPr>
            <p:cNvPr id="68" name="Rectangle 68"/>
            <p:cNvSpPr/>
            <p:nvPr/>
          </p:nvSpPr>
          <p:spPr>
            <a:xfrm>
              <a:off x="4495800" y="4305300"/>
              <a:ext cx="7162800" cy="1409700"/>
            </a:xfrm>
            <a:prstGeom prst="roundRect">
              <a:avLst>
                <a:gd name="adj" fmla="val 108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4724400" y="44196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4866132" y="4480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89042" y="4473892"/>
              <a:ext cx="1524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(Z, +) 中 H = mZ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718304" y="48044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加法可交换，左右陪集不必区分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718304" y="5052060"/>
              <a:ext cx="2810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a ≡ b (mod H) ⇔ a = b + km ⇔ m | a − b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718304" y="5337810"/>
              <a:ext cx="1880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H 的陪集 = 模 m 的剩余类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153400" y="4495800"/>
              <a:ext cx="9525" cy="1028700"/>
            </a:xfrm>
            <a:custGeom>
              <a:avLst/>
              <a:gdLst/>
              <a:ahLst/>
              <a:cxnLst/>
              <a:rect l="l" t="t" r="r" b="b"/>
              <a:pathLst>
                <a:path w="9525"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8382000" y="44196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23732" y="4480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946642" y="4473892"/>
              <a:ext cx="191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4 加法：H = {0, 2}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75904" y="4804410"/>
              <a:ext cx="2520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 = {0, 1, 2, 3}，⊕₄ 为模 4 加法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75904" y="5052060"/>
              <a:ext cx="1881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1 ⊕₄ H = {1, 3} = H ⊕₄ 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75904" y="5337810"/>
              <a:ext cx="2713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陪集只有 {0, 2}、{1, 3}，左右相同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3" name="Rectangle 83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74700" y="6003925"/>
              <a:ext cx="203200" cy="203200"/>
              <a:chOff x="774700" y="6003925"/>
              <a:chExt cx="203200" cy="2032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774700" y="6003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901700" y="6003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774700" y="6130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901700" y="61309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63500"/>
                    </a:lnTo>
                    <a:cubicBezTo>
                      <a:pt x="76200" y="70514"/>
                      <a:pt x="70514" y="76200"/>
                      <a:pt x="63500" y="76200"/>
                    </a:cubicBezTo>
                    <a:lnTo>
                      <a:pt x="12700" y="76200"/>
                    </a:lnTo>
                    <a:cubicBezTo>
                      <a:pt x="5686" y="76200"/>
                      <a:pt x="0" y="70514"/>
                      <a:pt x="0" y="63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134618" y="6003608"/>
              <a:ext cx="7946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求陪集：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 → 取 H 外的 a 算 aH → 再取剩下的…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直到分完；左、右陪集可能不同。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1" name="TextBox 91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571750" cy="960501"/>
            <a:chOff x="519684" y="361950"/>
            <a:chExt cx="257175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陪集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陪集的七条性质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property-list"/>
          <p:cNvGrpSpPr/>
          <p:nvPr/>
        </p:nvGrpSpPr>
        <p:grpSpPr>
          <a:xfrm>
            <a:off x="533400" y="1485900"/>
            <a:ext cx="7239000" cy="4076700"/>
            <a:chOff x="533400" y="1485900"/>
            <a:chExt cx="7239000" cy="4076700"/>
          </a:xfrm>
        </p:grpSpPr>
        <p:grpSp>
          <p:nvGrpSpPr>
            <p:cNvPr id="14" name="prop-1"/>
            <p:cNvGrpSpPr/>
            <p:nvPr/>
          </p:nvGrpSpPr>
          <p:grpSpPr>
            <a:xfrm>
              <a:off x="533400" y="1485900"/>
              <a:ext cx="7239000" cy="533400"/>
              <a:chOff x="533400" y="1485900"/>
              <a:chExt cx="7239000" cy="533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48590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66750" y="161925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53951" y="16868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028700" y="162877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39215" y="168687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等大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088642" y="1568768"/>
                <a:ext cx="2494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|aH| = |H|</a:t>
                </a:r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（H 有限；即定理 6.3.7）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090166" y="1810702"/>
                <a:ext cx="507716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aH = {ah | h ∈ H}；消去律：ah₁ = ah₂ ⇒ h₁ = h₂，左乘 a 不会让不同元素变相同</a:t>
                </a:r>
              </a:p>
            </p:txBody>
          </p:sp>
        </p:grpSp>
        <p:grpSp>
          <p:nvGrpSpPr>
            <p:cNvPr id="22" name="prop-2"/>
            <p:cNvGrpSpPr/>
            <p:nvPr/>
          </p:nvGrpSpPr>
          <p:grpSpPr>
            <a:xfrm>
              <a:off x="533400" y="2076450"/>
              <a:ext cx="7239000" cy="533400"/>
              <a:chOff x="533400" y="2076450"/>
              <a:chExt cx="7239000" cy="533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207645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6750" y="22098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53951" y="2277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028700" y="221932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2567" y="2277428"/>
                <a:ext cx="42666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 自己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088642" y="2159318"/>
                <a:ext cx="227438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 = 1H 本身也是一个右陪集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090166" y="2401252"/>
                <a:ext cx="18550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H 就是单位元 1 所在的右陪集</a:t>
                </a:r>
              </a:p>
            </p:txBody>
          </p:sp>
        </p:grpSp>
        <p:grpSp>
          <p:nvGrpSpPr>
            <p:cNvPr id="30" name="prop-3"/>
            <p:cNvGrpSpPr/>
            <p:nvPr/>
          </p:nvGrpSpPr>
          <p:grpSpPr>
            <a:xfrm>
              <a:off x="533400" y="2667000"/>
              <a:ext cx="7239000" cy="533400"/>
              <a:chOff x="533400" y="2667000"/>
              <a:chExt cx="7239000" cy="5334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3400" y="266700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666750" y="280035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53951" y="28679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1028700" y="280987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78368" y="2867978"/>
                <a:ext cx="61506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谁在 H 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088642" y="2749868"/>
                <a:ext cx="12370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aH = H ⇔ a ∈ H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090166" y="2991802"/>
                <a:ext cx="4962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⇒：a = a1 ∈ aH = H；⇐：ah ∈ H 得 aH ⊆ H，x = a(a⁻¹x) 且 a⁻¹x ∈ H 得 H ⊆ aH</a:t>
                </a:r>
              </a:p>
            </p:txBody>
          </p:sp>
        </p:grpSp>
        <p:grpSp>
          <p:nvGrpSpPr>
            <p:cNvPr id="38" name="prop-4"/>
            <p:cNvGrpSpPr/>
            <p:nvPr/>
          </p:nvGrpSpPr>
          <p:grpSpPr>
            <a:xfrm>
              <a:off x="533400" y="3257550"/>
              <a:ext cx="7239000" cy="533400"/>
              <a:chOff x="533400" y="3257550"/>
              <a:chExt cx="7239000" cy="5334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325755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66750" y="33909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53951" y="34585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028700" y="340042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39215" y="345852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088642" y="3340418"/>
                <a:ext cx="5581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 ∈ aH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090166" y="3582352"/>
                <a:ext cx="34058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= a1 ∈ aH，所以把 a 叫做右陪集 aH 的一个陪集代表</a:t>
                </a:r>
              </a:p>
            </p:txBody>
          </p:sp>
        </p:grpSp>
        <p:grpSp>
          <p:nvGrpSpPr>
            <p:cNvPr id="46" name="prop-5"/>
            <p:cNvGrpSpPr/>
            <p:nvPr/>
          </p:nvGrpSpPr>
          <p:grpSpPr>
            <a:xfrm>
              <a:off x="533400" y="3848100"/>
              <a:ext cx="7239000" cy="533400"/>
              <a:chOff x="533400" y="3848100"/>
              <a:chExt cx="7239000" cy="5334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533400" y="384810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666750" y="398145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53951" y="40490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028700" y="399097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268540" y="40490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换代表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088642" y="3930968"/>
                <a:ext cx="1440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 ∈ aH ⇒ aH = bH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2090166" y="4172902"/>
                <a:ext cx="38822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 = ah ⇒ bH = a(hH) = aH：陪集中任一元素都可以做陪集代表</a:t>
                </a:r>
              </a:p>
            </p:txBody>
          </p:sp>
        </p:grpSp>
        <p:grpSp>
          <p:nvGrpSpPr>
            <p:cNvPr id="54" name="prop-6"/>
            <p:cNvGrpSpPr/>
            <p:nvPr/>
          </p:nvGrpSpPr>
          <p:grpSpPr>
            <a:xfrm>
              <a:off x="533400" y="4438650"/>
              <a:ext cx="7239000" cy="533400"/>
              <a:chOff x="533400" y="4438650"/>
              <a:chExt cx="7239000" cy="5334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533400" y="443865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666750" y="457200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53951" y="46396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1028700" y="458152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268540" y="463962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判相等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2088642" y="4521518"/>
                <a:ext cx="16555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aH = bH ⇔ a⁻¹b ∈ H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2090166" y="4763452"/>
                <a:ext cx="46140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⇒：b ∈ bH = aH，b = ah，a⁻¹b = h ∈ H；⇐：b = a(a⁻¹b) ∈ aH，再用 (5)</a:t>
                </a:r>
              </a:p>
            </p:txBody>
          </p:sp>
        </p:grpSp>
        <p:grpSp>
          <p:nvGrpSpPr>
            <p:cNvPr id="62" name="prop-7"/>
            <p:cNvGrpSpPr/>
            <p:nvPr/>
          </p:nvGrpSpPr>
          <p:grpSpPr>
            <a:xfrm>
              <a:off x="533400" y="5029200"/>
              <a:ext cx="7239000" cy="533400"/>
              <a:chOff x="533400" y="5029200"/>
              <a:chExt cx="7239000" cy="5334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533400" y="5029200"/>
                <a:ext cx="7239000" cy="533400"/>
              </a:xfrm>
              <a:prstGeom prst="roundRect">
                <a:avLst>
                  <a:gd name="adj" fmla="val 21429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666750" y="516255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53951" y="52301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1028700" y="5172075"/>
                <a:ext cx="9144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268540" y="523017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不相交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088642" y="5112068"/>
                <a:ext cx="39572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任意两个右陪集 aH、bH，要么相等，要么不相交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2090166" y="5354002"/>
                <a:ext cx="369426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若有公共元素 c：由 (5)，aH = cH 且 bH = cH，故 aH = bH</a:t>
                </a:r>
              </a:p>
            </p:txBody>
          </p:sp>
        </p:grpSp>
      </p:grpSp>
      <p:grpSp>
        <p:nvGrpSpPr>
          <p:cNvPr id="87" name="relation-diagram"/>
          <p:cNvGrpSpPr/>
          <p:nvPr/>
        </p:nvGrpSpPr>
        <p:grpSpPr>
          <a:xfrm>
            <a:off x="7924800" y="1485900"/>
            <a:ext cx="3733800" cy="2857500"/>
            <a:chOff x="7924800" y="1485900"/>
            <a:chExt cx="3733800" cy="2857500"/>
          </a:xfrm>
        </p:grpSpPr>
        <p:sp>
          <p:nvSpPr>
            <p:cNvPr id="64" name="Rectangle 64"/>
            <p:cNvSpPr/>
            <p:nvPr/>
          </p:nvSpPr>
          <p:spPr>
            <a:xfrm>
              <a:off x="7924800" y="1485900"/>
              <a:ext cx="3733800" cy="285750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146542" y="16735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两个陪集只有两种关系</a:t>
              </a:r>
            </a:p>
          </p:txBody>
        </p:sp>
        <p:grpSp>
          <p:nvGrpSpPr>
            <p:cNvPr id="72" name="panel-disjoint"/>
            <p:cNvGrpSpPr/>
            <p:nvPr/>
          </p:nvGrpSpPr>
          <p:grpSpPr>
            <a:xfrm>
              <a:off x="8077200" y="2019300"/>
              <a:ext cx="1066800" cy="1524000"/>
              <a:chOff x="8077200" y="2019300"/>
              <a:chExt cx="1066800" cy="152400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077200" y="2019300"/>
                <a:ext cx="1066800" cy="1524000"/>
              </a:xfrm>
              <a:prstGeom prst="roundRect">
                <a:avLst>
                  <a:gd name="adj" fmla="val 1071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153400" y="2324100"/>
                <a:ext cx="457200" cy="457200"/>
              </a:xfrm>
              <a:prstGeom prst="ellipse">
                <a:avLst/>
              </a:prstGeom>
              <a:solidFill>
                <a:srgbClr val="E8EDF8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68" name="Ellipse 68"/>
              <p:cNvSpPr/>
              <p:nvPr/>
            </p:nvSpPr>
            <p:spPr>
              <a:xfrm>
                <a:off x="8610600" y="2781300"/>
                <a:ext cx="457200" cy="457200"/>
              </a:xfrm>
              <a:prstGeom prst="ellipse">
                <a:avLst/>
              </a:prstGeom>
              <a:solidFill>
                <a:srgbClr val="E3F5F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8292726" y="2486978"/>
                <a:ext cx="1785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aH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8749926" y="2944178"/>
                <a:ext cx="17854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bH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296767" y="3334702"/>
                <a:ext cx="62766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不相交 ✓</a:t>
                </a:r>
              </a:p>
            </p:txBody>
          </p:sp>
        </p:grpSp>
        <p:grpSp>
          <p:nvGrpSpPr>
            <p:cNvPr id="78" name="panel-equal"/>
            <p:cNvGrpSpPr/>
            <p:nvPr/>
          </p:nvGrpSpPr>
          <p:grpSpPr>
            <a:xfrm>
              <a:off x="9296400" y="2019300"/>
              <a:ext cx="1066800" cy="1524000"/>
              <a:chOff x="9296400" y="2019300"/>
              <a:chExt cx="1066800" cy="15240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296400" y="2019300"/>
                <a:ext cx="1066800" cy="1524000"/>
              </a:xfrm>
              <a:prstGeom prst="roundRect">
                <a:avLst>
                  <a:gd name="adj" fmla="val 10714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9486900" y="2419350"/>
                <a:ext cx="685800" cy="685800"/>
              </a:xfrm>
              <a:prstGeom prst="ellipse">
                <a:avLst/>
              </a:prstGeom>
              <a:solidFill>
                <a:srgbClr val="E8EDF8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9544050" y="2476500"/>
                <a:ext cx="571500" cy="571500"/>
              </a:xfrm>
              <a:prstGeom prst="ellipse">
                <a:avLst/>
              </a:prstGeom>
              <a:noFill/>
              <a:ln w="19050">
                <a:solidFill>
                  <a:schemeClr val="accent3"/>
                </a:solidFill>
                <a:custDash>
                  <a:ds d="250000" sp="200000"/>
                </a:custDash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9614615" y="2696528"/>
                <a:ext cx="430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aH=bH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9586643" y="3334702"/>
                <a:ext cx="486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相等 ✓</a:t>
                </a:r>
              </a:p>
            </p:txBody>
          </p:sp>
        </p:grpSp>
        <p:grpSp>
          <p:nvGrpSpPr>
            <p:cNvPr id="84" name="panel-overlap"/>
            <p:cNvGrpSpPr/>
            <p:nvPr/>
          </p:nvGrpSpPr>
          <p:grpSpPr>
            <a:xfrm>
              <a:off x="10515600" y="2019300"/>
              <a:ext cx="1066800" cy="1524000"/>
              <a:chOff x="10515600" y="2019300"/>
              <a:chExt cx="1066800" cy="1524000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10515600" y="2019300"/>
                <a:ext cx="1066800" cy="1524000"/>
              </a:xfrm>
              <a:prstGeom prst="roundRect">
                <a:avLst>
                  <a:gd name="adj" fmla="val 1071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80" name="Ellipse 80"/>
              <p:cNvSpPr/>
              <p:nvPr/>
            </p:nvSpPr>
            <p:spPr>
              <a:xfrm>
                <a:off x="10648950" y="2514600"/>
                <a:ext cx="495300" cy="495300"/>
              </a:xfrm>
              <a:prstGeom prst="ellipse">
                <a:avLst/>
              </a:prstGeom>
              <a:solidFill>
                <a:srgbClr val="E8EDF8">
                  <a:alpha val="80000"/>
                </a:srgb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10953750" y="2514600"/>
                <a:ext cx="495300" cy="495300"/>
              </a:xfrm>
              <a:prstGeom prst="ellipse">
                <a:avLst/>
              </a:prstGeom>
              <a:solidFill>
                <a:srgbClr val="E3F5F1">
                  <a:alpha val="80000"/>
                </a:srgbClr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0858500" y="257175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0"/>
                    </a:moveTo>
                    <a:lnTo>
                      <a:pt x="381000" y="381000"/>
                    </a:lnTo>
                    <a:moveTo>
                      <a:pt x="38100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38100" cap="rnd">
                <a:solidFill>
                  <a:srgbClr val="B42318"/>
                </a:solidFill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10664492" y="3334702"/>
                <a:ext cx="7690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42318"/>
                    </a:solidFill>
                    <a:latin typeface="+mn-lt"/>
                    <a:ea typeface="+mn-ea"/>
                    <a:cs typeface="+mn-cs"/>
                  </a:rPr>
                  <a:t>部分重叠 ✗</a:t>
                </a:r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8147304" y="3737610"/>
              <a:ext cx="1958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有公共元 c ⇒ </a:t>
              </a:r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aH = cH = bH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148066" y="4020502"/>
              <a:ext cx="26256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所以“部分重叠”不可能发生（性质 5、7）</a:t>
              </a:r>
            </a:p>
          </p:txBody>
        </p:sp>
      </p:grpSp>
      <p:grpSp>
        <p:nvGrpSpPr>
          <p:cNvPr id="95" name="cornerstones"/>
          <p:cNvGrpSpPr/>
          <p:nvPr/>
        </p:nvGrpSpPr>
        <p:grpSpPr>
          <a:xfrm>
            <a:off x="7924800" y="4457700"/>
            <a:ext cx="3733800" cy="1257300"/>
            <a:chOff x="7924800" y="4457700"/>
            <a:chExt cx="3733800" cy="1257300"/>
          </a:xfrm>
        </p:grpSpPr>
        <p:sp>
          <p:nvSpPr>
            <p:cNvPr id="88" name="Rectangle 88"/>
            <p:cNvSpPr/>
            <p:nvPr/>
          </p:nvSpPr>
          <p:spPr>
            <a:xfrm>
              <a:off x="7924800" y="4457700"/>
              <a:ext cx="3733800" cy="1257300"/>
            </a:xfrm>
            <a:prstGeom prst="roundRect">
              <a:avLst>
                <a:gd name="adj" fmla="val 1212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153400" y="4572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290560" y="4632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70442" y="462629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拉格朗日定理的基石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147304" y="4956810"/>
              <a:ext cx="2241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等大：每块恰有 |H| 个元素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147304" y="5204460"/>
              <a:ext cx="2838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(4)(7) 铺满且不交：每个 a 都在 aH 中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147304" y="5452110"/>
              <a:ext cx="22553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⇒ G 被切成若干个同样大小的块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6" name="Rectangle 9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134618" y="6003608"/>
              <a:ext cx="7771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陪集三件事：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等大、不相交、铺满全群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；判断同一陪集用 aH = bH ⇔ a⁻¹b ∈ H。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6" name="TextBox 106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464541" cy="960501"/>
            <a:chOff x="519684" y="361950"/>
            <a:chExt cx="446454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陪集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4645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正规子群：左陪集 = 右陪集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definition"/>
          <p:cNvGrpSpPr/>
          <p:nvPr/>
        </p:nvGrpSpPr>
        <p:grpSpPr>
          <a:xfrm>
            <a:off x="533400" y="1485900"/>
            <a:ext cx="5562600" cy="1066800"/>
            <a:chOff x="533400" y="1485900"/>
            <a:chExt cx="5562600" cy="10668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562600" cy="10668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7542" y="2006918"/>
              <a:ext cx="4686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设 H 是群 G 的子群，若对 G 中任意元素 g 都有 </a:t>
              </a:r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gH = Hg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7542" y="2273618"/>
              <a:ext cx="2091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则称 H 是 G 的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正规子群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6" name="pitfall"/>
          <p:cNvGrpSpPr/>
          <p:nvPr/>
        </p:nvGrpSpPr>
        <p:grpSpPr>
          <a:xfrm>
            <a:off x="533400" y="2667000"/>
            <a:ext cx="5562600" cy="1866900"/>
            <a:chOff x="533400" y="2667000"/>
            <a:chExt cx="5562600" cy="1866900"/>
          </a:xfrm>
        </p:grpSpPr>
        <p:sp>
          <p:nvSpPr>
            <p:cNvPr id="15" name="Rectangle 15"/>
            <p:cNvSpPr/>
            <p:nvPr/>
          </p:nvSpPr>
          <p:spPr>
            <a:xfrm>
              <a:off x="533400" y="2667000"/>
              <a:ext cx="5562600" cy="1866900"/>
            </a:xfrm>
            <a:prstGeom prst="roundRect">
              <a:avLst>
                <a:gd name="adj" fmla="val 8163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2000" y="27813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9160" y="2842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9042" y="2835592"/>
              <a:ext cx="2957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gH = Hg 是“g 和每个 h 都交换”吗？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904" y="3166110"/>
              <a:ext cx="4172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不是！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gH = Hg 只要求两个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集合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相等，元素可以错位对应。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3432810"/>
              <a:ext cx="27499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例：S₃ 中 H = {I, (1 2 3), (1 3 2)}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3699510"/>
              <a:ext cx="3204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2)H = H(1 2) = {(1 2), (2 3), (1 3)}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94620" y="3699510"/>
              <a:ext cx="878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集合相等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96621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但 (1 2)(1 2 3) = (2 3) ≠ (1 3) = (1 2 3)(1 2)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56164" y="3966210"/>
              <a:ext cx="7173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不交换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4251960"/>
              <a:ext cx="24688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集合层面相等 ≠ 元素层面逐个交换</a:t>
              </a:r>
            </a:p>
          </p:txBody>
        </p:sp>
      </p:grpSp>
      <p:grpSp>
        <p:nvGrpSpPr>
          <p:cNvPr id="33" name="conclusion-trivial"/>
          <p:cNvGrpSpPr/>
          <p:nvPr/>
        </p:nvGrpSpPr>
        <p:grpSpPr>
          <a:xfrm>
            <a:off x="533400" y="4648200"/>
            <a:ext cx="2705100" cy="1066800"/>
            <a:chOff x="533400" y="4648200"/>
            <a:chExt cx="2705100" cy="1066800"/>
          </a:xfrm>
        </p:grpSpPr>
        <p:sp>
          <p:nvSpPr>
            <p:cNvPr id="27" name="Rectangle 27"/>
            <p:cNvSpPr/>
            <p:nvPr/>
          </p:nvSpPr>
          <p:spPr>
            <a:xfrm>
              <a:off x="533400" y="4648200"/>
              <a:ext cx="2705100" cy="10668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85800" y="48006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76300" y="47625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9471" y="48234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204" y="5166360"/>
              <a:ext cx="1506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“平凡”子群 {1} 和 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0204" y="5414010"/>
              <a:ext cx="1339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都是 G 的正规子群</a:t>
              </a:r>
            </a:p>
          </p:txBody>
        </p:sp>
      </p:grpSp>
      <p:grpSp>
        <p:nvGrpSpPr>
          <p:cNvPr id="40" name="conclusion-abel"/>
          <p:cNvGrpSpPr/>
          <p:nvPr/>
        </p:nvGrpSpPr>
        <p:grpSpPr>
          <a:xfrm>
            <a:off x="3390900" y="4648200"/>
            <a:ext cx="2705100" cy="1066800"/>
            <a:chOff x="3390900" y="4648200"/>
            <a:chExt cx="2705100" cy="1066800"/>
          </a:xfrm>
        </p:grpSpPr>
        <p:sp>
          <p:nvSpPr>
            <p:cNvPr id="34" name="Rectangle 34"/>
            <p:cNvSpPr/>
            <p:nvPr/>
          </p:nvSpPr>
          <p:spPr>
            <a:xfrm>
              <a:off x="3390900" y="4648200"/>
              <a:ext cx="2705100" cy="1066800"/>
            </a:xfrm>
            <a:prstGeom prst="roundRect">
              <a:avLst>
                <a:gd name="adj" fmla="val 14286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543300" y="4800600"/>
              <a:ext cx="47625" cy="76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733800" y="47625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36971" y="48234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27704" y="5166360"/>
              <a:ext cx="1350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Abel 群的任意子群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27704" y="5414010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都是正规子群（gh = hg）</a:t>
              </a:r>
            </a:p>
          </p:txBody>
        </p:sp>
      </p:grpSp>
      <p:grpSp>
        <p:nvGrpSpPr>
          <p:cNvPr id="50" name="criterion"/>
          <p:cNvGrpSpPr/>
          <p:nvPr/>
        </p:nvGrpSpPr>
        <p:grpSpPr>
          <a:xfrm>
            <a:off x="6248400" y="1485900"/>
            <a:ext cx="5410200" cy="1524000"/>
            <a:chOff x="6248400" y="1485900"/>
            <a:chExt cx="5410200" cy="1524000"/>
          </a:xfrm>
        </p:grpSpPr>
        <p:sp>
          <p:nvSpPr>
            <p:cNvPr id="41" name="Rectangle 41"/>
            <p:cNvSpPr/>
            <p:nvPr/>
          </p:nvSpPr>
          <p:spPr>
            <a:xfrm>
              <a:off x="6248400" y="1485900"/>
              <a:ext cx="5410200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00800" y="163830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29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66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46442" y="16735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正规子群的判定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2542" y="2006918"/>
              <a:ext cx="27603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是 G 的正规子群，必要而且只要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553200" y="2266950"/>
              <a:ext cx="4953000" cy="419100"/>
            </a:xfrm>
            <a:prstGeom prst="roundRect">
              <a:avLst>
                <a:gd name="adj" fmla="val 2727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737667" y="2374582"/>
              <a:ext cx="25840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C2410C"/>
                  </a:solidFill>
                  <a:latin typeface="Cambria Math"/>
                  <a:ea typeface="Microsoft YaHei"/>
                  <a:cs typeface="Cambria Math"/>
                </a:rPr>
                <a:t>对任意 g ∈ G，gHg⁻¹ ⊆ 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24066" y="2782252"/>
              <a:ext cx="18989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 gHg⁻¹ = {ghg⁻¹ | h ∈ H}</a:t>
              </a:r>
            </a:p>
          </p:txBody>
        </p:sp>
      </p:grpSp>
      <p:grpSp>
        <p:nvGrpSpPr>
          <p:cNvPr id="73" name="criterion-proof"/>
          <p:cNvGrpSpPr/>
          <p:nvPr/>
        </p:nvGrpSpPr>
        <p:grpSpPr>
          <a:xfrm>
            <a:off x="6248400" y="3124200"/>
            <a:ext cx="5410200" cy="2590800"/>
            <a:chOff x="6248400" y="3124200"/>
            <a:chExt cx="5410200" cy="2590800"/>
          </a:xfrm>
        </p:grpSpPr>
        <p:sp>
          <p:nvSpPr>
            <p:cNvPr id="51" name="Rectangle 51"/>
            <p:cNvSpPr/>
            <p:nvPr/>
          </p:nvSpPr>
          <p:spPr>
            <a:xfrm>
              <a:off x="6248400" y="3124200"/>
              <a:ext cx="5410200" cy="2590800"/>
            </a:xfrm>
            <a:prstGeom prst="roundRect">
              <a:avLst>
                <a:gd name="adj" fmla="val 58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7000" y="32385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14160" y="3299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77000" y="361950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02540" y="36776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必要性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71004" y="3670935"/>
              <a:ext cx="2429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gH = Hg ⇒ gHg⁻¹ = H ⇒ gHg⁻¹ ⊆ H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77000" y="39814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02540" y="40395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充分性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71004" y="4032885"/>
              <a:ext cx="2243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设对任意 g ∈ G 都有 gHg⁻¹ ⊆ H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667500" y="44577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553200" y="43434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1351" y="4391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90004" y="4385310"/>
              <a:ext cx="3623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g⁻¹ 代替 g：</a:t>
              </a:r>
              <a:r>
                <a:rPr lang="en-US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g⁻¹H(g⁻¹)⁻¹ ⊆ H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，即 g⁻¹Hg ⊆ H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553200" y="4648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21351" y="46967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90004" y="4690110"/>
              <a:ext cx="2533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两边左乘 g、右乘 g⁻¹：</a:t>
              </a:r>
              <a:r>
                <a:rPr lang="en-US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H ⊆ gHg⁻¹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553200" y="49530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21351" y="5001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90004" y="4994910"/>
              <a:ext cx="24349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gHg⁻¹ ⊆ H 合起来：</a:t>
              </a:r>
              <a:r>
                <a:rPr lang="en-US" sz="12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gHg⁻¹ = H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553200" y="5257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21351" y="5306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0004" y="5299710"/>
              <a:ext cx="2917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两边右乘 g 得 gH = Hg，H 是正规子群 ∎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4" name="Rectangle 7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134618" y="6003608"/>
              <a:ext cx="88941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判正规：对每个 g 检查 </a:t>
              </a:r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gHg⁻¹ ⊆ H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（共轭后仍落在 H 里），比逐个比较 gH 与 Hg 更好用。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0" name="TextBox 80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605712" cy="960501"/>
            <a:chOff x="519684" y="361950"/>
            <a:chExt cx="560571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陪集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6057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正规子群的例：逐个比较 gH 与 Hg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z4-example"/>
          <p:cNvGrpSpPr/>
          <p:nvPr/>
        </p:nvGrpSpPr>
        <p:grpSpPr>
          <a:xfrm>
            <a:off x="533400" y="1485900"/>
            <a:ext cx="5334000" cy="1943100"/>
            <a:chOff x="533400" y="1485900"/>
            <a:chExt cx="5334000" cy="1943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1943100"/>
            </a:xfrm>
            <a:prstGeom prst="roundRect">
              <a:avLst>
                <a:gd name="adj" fmla="val 78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002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611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54492"/>
              <a:ext cx="191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 4 加法：H = {0, 2}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73328" y="1686878"/>
              <a:ext cx="11708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可交换 ⇒ 自动正规</a:t>
              </a:r>
            </a:p>
          </p:txBody>
        </p:sp>
        <p:grpSp>
          <p:nvGrpSpPr>
            <p:cNvPr id="35" name="z4-table"/>
            <p:cNvGrpSpPr/>
            <p:nvPr/>
          </p:nvGrpSpPr>
          <p:grpSpPr>
            <a:xfrm>
              <a:off x="762000" y="1962150"/>
              <a:ext cx="4876800" cy="1400556"/>
              <a:chOff x="762000" y="1962150"/>
              <a:chExt cx="4876800" cy="140055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1962150"/>
                <a:ext cx="4876800" cy="3048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2266950"/>
                <a:ext cx="4876800" cy="1066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762000" y="2266950"/>
                <a:ext cx="487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9525">
                    <a:moveTo>
                      <a:pt x="0" y="0"/>
                    </a:moveTo>
                    <a:lnTo>
                      <a:pt x="48768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762000" y="2533650"/>
                <a:ext cx="487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9525">
                    <a:moveTo>
                      <a:pt x="0" y="0"/>
                    </a:moveTo>
                    <a:lnTo>
                      <a:pt x="487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762000" y="2800350"/>
                <a:ext cx="487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9525">
                    <a:moveTo>
                      <a:pt x="0" y="0"/>
                    </a:moveTo>
                    <a:lnTo>
                      <a:pt x="487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762000" y="3067050"/>
                <a:ext cx="4876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76800" h="9525">
                    <a:moveTo>
                      <a:pt x="0" y="0"/>
                    </a:moveTo>
                    <a:lnTo>
                      <a:pt x="48768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676400" y="1962150"/>
                <a:ext cx="9525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71600">
                    <a:moveTo>
                      <a:pt x="0" y="0"/>
                    </a:moveTo>
                    <a:lnTo>
                      <a:pt x="0" y="13716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657600" y="1962150"/>
                <a:ext cx="9525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71600">
                    <a:moveTo>
                      <a:pt x="0" y="0"/>
                    </a:moveTo>
                    <a:lnTo>
                      <a:pt x="0" y="13716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166458" y="2042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416713" y="2042160"/>
                <a:ext cx="5005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 ⊕₄ 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97913" y="2042160"/>
                <a:ext cx="50057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H ⊕₄ g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68679" y="23279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14549" y="23279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{0, 2}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395749" y="23279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{0, 2}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68679" y="25946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414549" y="25946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{1, 3}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95749" y="25946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{1, 3}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68679" y="28613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414549" y="28613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{0, 2}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395749" y="28613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{0, 2}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68679" y="31280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414549" y="31280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{3, 1}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395749" y="3128010"/>
                <a:ext cx="50490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{3, 1}</a:t>
                </a:r>
              </a:p>
            </p:txBody>
          </p:sp>
        </p:grpSp>
      </p:grpSp>
      <p:grpSp>
        <p:nvGrpSpPr>
          <p:cNvPr id="50" name="s3-example"/>
          <p:cNvGrpSpPr/>
          <p:nvPr/>
        </p:nvGrpSpPr>
        <p:grpSpPr>
          <a:xfrm>
            <a:off x="533400" y="3543300"/>
            <a:ext cx="5334000" cy="2171700"/>
            <a:chOff x="533400" y="3543300"/>
            <a:chExt cx="5334000" cy="2171700"/>
          </a:xfrm>
        </p:grpSpPr>
        <p:sp>
          <p:nvSpPr>
            <p:cNvPr id="37" name="Rectangle 37"/>
            <p:cNvSpPr/>
            <p:nvPr/>
          </p:nvSpPr>
          <p:spPr>
            <a:xfrm>
              <a:off x="533400" y="35433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6576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3732" y="37185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26642" y="3711892"/>
              <a:ext cx="1204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S₃ 的两个子群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5800" y="4000500"/>
              <a:ext cx="5029200" cy="685800"/>
            </a:xfrm>
            <a:prstGeom prst="roundRect">
              <a:avLst>
                <a:gd name="adj" fmla="val 16667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2104" y="4118610"/>
              <a:ext cx="1266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H₁ = {I, (1 2)}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66732" y="4118610"/>
              <a:ext cx="12019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不是正规子群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104" y="4385310"/>
              <a:ext cx="4492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3)H₁ = {(1 3), (1 2 3)} ≠ H₁(1 3) = {(1 3), (1 3 2)}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5800" y="4762500"/>
              <a:ext cx="5029200" cy="876300"/>
            </a:xfrm>
            <a:prstGeom prst="roundRect">
              <a:avLst>
                <a:gd name="adj" fmla="val 13043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2104" y="4861560"/>
              <a:ext cx="2171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H₂ = {I, (1 2 3), (1 3 2)}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689820" y="4861560"/>
              <a:ext cx="8788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正规子群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2104" y="5109210"/>
              <a:ext cx="19693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σ ∈ H₂ 时：σH₂ = H₂σ = H₂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2104" y="5356860"/>
              <a:ext cx="4894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(1 2)H₂ = H₂(1 2) = {(1 2), (1 3), (2 3)}，(1 3)、(2 3) 同理</a:t>
              </a:r>
            </a:p>
          </p:txBody>
        </p:sp>
      </p:grpSp>
      <p:grpSp>
        <p:nvGrpSpPr>
          <p:cNvPr id="105" name="klein"/>
          <p:cNvGrpSpPr/>
          <p:nvPr/>
        </p:nvGrpSpPr>
        <p:grpSpPr>
          <a:xfrm>
            <a:off x="6019800" y="1485900"/>
            <a:ext cx="5638800" cy="4229100"/>
            <a:chOff x="6019800" y="1485900"/>
            <a:chExt cx="5638800" cy="4229100"/>
          </a:xfrm>
        </p:grpSpPr>
        <p:sp>
          <p:nvSpPr>
            <p:cNvPr id="51" name="Rectangle 51"/>
            <p:cNvSpPr/>
            <p:nvPr/>
          </p:nvSpPr>
          <p:spPr>
            <a:xfrm>
              <a:off x="6019800" y="1485900"/>
              <a:ext cx="56388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48400" y="160020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90132" y="16611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3042" y="1654492"/>
              <a:ext cx="27160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Klein 四元群 K 是 S₄ 的正规子群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2304" y="1985010"/>
              <a:ext cx="3536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K = {I, (1 2)(3 4), (1 3)(2 4), (1 4)(2 3)}</a:t>
              </a:r>
            </a:p>
          </p:txBody>
        </p:sp>
        <p:grpSp>
          <p:nvGrpSpPr>
            <p:cNvPr id="97" name="klein-table"/>
            <p:cNvGrpSpPr/>
            <p:nvPr/>
          </p:nvGrpSpPr>
          <p:grpSpPr>
            <a:xfrm>
              <a:off x="6248400" y="2228850"/>
              <a:ext cx="5181600" cy="1533906"/>
              <a:chOff x="6248400" y="2228850"/>
              <a:chExt cx="5181600" cy="1533906"/>
            </a:xfrm>
          </p:grpSpPr>
          <p:sp>
            <p:nvSpPr>
              <p:cNvPr id="56" name="Rectangle 56"/>
              <p:cNvSpPr/>
              <p:nvPr/>
            </p:nvSpPr>
            <p:spPr>
              <a:xfrm>
                <a:off x="6248400" y="2228850"/>
                <a:ext cx="5181600" cy="3048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6248400" y="2533650"/>
                <a:ext cx="1066800" cy="1219200"/>
              </a:xfrm>
              <a:prstGeom prst="rect">
                <a:avLst/>
              </a:prstGeom>
              <a:solidFill>
                <a:srgbClr val="E8EDF8"/>
              </a:solidFill>
              <a:ln>
                <a:noFill/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7315200" y="2533650"/>
                <a:ext cx="1028700" cy="3048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343900" y="2838450"/>
                <a:ext cx="1028700" cy="3048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372600" y="3143250"/>
                <a:ext cx="1028700" cy="3048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10401300" y="3448050"/>
                <a:ext cx="1028700" cy="304800"/>
              </a:xfrm>
              <a:prstGeom prst="rect">
                <a:avLst/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6248400" y="2533650"/>
                <a:ext cx="518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81600" h="9525">
                    <a:moveTo>
                      <a:pt x="0" y="0"/>
                    </a:moveTo>
                    <a:lnTo>
                      <a:pt x="5181600" y="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6248400" y="2838450"/>
                <a:ext cx="518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81600" h="9525">
                    <a:moveTo>
                      <a:pt x="0" y="0"/>
                    </a:moveTo>
                    <a:lnTo>
                      <a:pt x="51816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6248400" y="3143250"/>
                <a:ext cx="518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81600" h="9525">
                    <a:moveTo>
                      <a:pt x="0" y="0"/>
                    </a:moveTo>
                    <a:lnTo>
                      <a:pt x="51816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6248400" y="3448050"/>
                <a:ext cx="518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81600" h="9525">
                    <a:moveTo>
                      <a:pt x="0" y="0"/>
                    </a:moveTo>
                    <a:lnTo>
                      <a:pt x="5181600" y="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7315200" y="22288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8343900" y="22288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9372600" y="22288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10401300" y="2228850"/>
                <a:ext cx="9525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0">
                    <a:moveTo>
                      <a:pt x="0" y="0"/>
                    </a:moveTo>
                    <a:lnTo>
                      <a:pt x="0" y="1524000"/>
                    </a:lnTo>
                  </a:path>
                </a:pathLst>
              </a:custGeom>
              <a:noFill/>
              <a:ln w="9525">
                <a:solidFill>
                  <a:schemeClr val="accent6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6248400" y="2228850"/>
                <a:ext cx="5181600" cy="1524000"/>
              </a:xfrm>
              <a:prstGeom prst="rect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grpSp>
            <p:nvGrpSpPr>
              <p:cNvPr id="96" name="Group 96"/>
              <p:cNvGrpSpPr/>
              <p:nvPr/>
            </p:nvGrpSpPr>
            <p:grpSpPr>
              <a:xfrm>
                <a:off x="6402537" y="2308860"/>
                <a:ext cx="4892375" cy="1453896"/>
                <a:chOff x="6402537" y="2308860"/>
                <a:chExt cx="4892375" cy="1453896"/>
              </a:xfrm>
            </p:grpSpPr>
            <p:sp>
              <p:nvSpPr>
                <p:cNvPr id="71" name="TextBox 71"/>
                <p:cNvSpPr txBox="1"/>
                <p:nvPr/>
              </p:nvSpPr>
              <p:spPr>
                <a:xfrm>
                  <a:off x="6729058" y="2308860"/>
                  <a:ext cx="10548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·</a:t>
                  </a:r>
                </a:p>
              </p:txBody>
            </p:sp>
            <p:sp>
              <p:nvSpPr>
                <p:cNvPr id="72" name="TextBox 72"/>
                <p:cNvSpPr txBox="1"/>
                <p:nvPr/>
              </p:nvSpPr>
              <p:spPr>
                <a:xfrm>
                  <a:off x="7796571" y="2308860"/>
                  <a:ext cx="659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73" name="TextBox 73"/>
                <p:cNvSpPr txBox="1"/>
                <p:nvPr/>
              </p:nvSpPr>
              <p:spPr>
                <a:xfrm>
                  <a:off x="8478987" y="2308860"/>
                  <a:ext cx="75852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(12)(34)</a:t>
                  </a:r>
                </a:p>
              </p:txBody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9507687" y="2308860"/>
                  <a:ext cx="75852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(13)(24)</a:t>
                  </a:r>
                </a:p>
              </p:txBody>
            </p:sp>
            <p:sp>
              <p:nvSpPr>
                <p:cNvPr id="75" name="TextBox 75"/>
                <p:cNvSpPr txBox="1"/>
                <p:nvPr/>
              </p:nvSpPr>
              <p:spPr>
                <a:xfrm>
                  <a:off x="10536387" y="2308860"/>
                  <a:ext cx="75852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(14)(23)</a:t>
                  </a:r>
                </a:p>
              </p:txBody>
            </p:sp>
            <p:sp>
              <p:nvSpPr>
                <p:cNvPr id="76" name="TextBox 76"/>
                <p:cNvSpPr txBox="1"/>
                <p:nvPr/>
              </p:nvSpPr>
              <p:spPr>
                <a:xfrm>
                  <a:off x="6748821" y="2613660"/>
                  <a:ext cx="659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77" name="TextBox 77"/>
                <p:cNvSpPr txBox="1"/>
                <p:nvPr/>
              </p:nvSpPr>
              <p:spPr>
                <a:xfrm>
                  <a:off x="7796571" y="2613660"/>
                  <a:ext cx="659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78" name="TextBox 78"/>
                <p:cNvSpPr txBox="1"/>
                <p:nvPr/>
              </p:nvSpPr>
              <p:spPr>
                <a:xfrm>
                  <a:off x="8496757" y="26136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(12)(34)</a:t>
                  </a:r>
                </a:p>
              </p:txBody>
            </p:sp>
            <p:sp>
              <p:nvSpPr>
                <p:cNvPr id="79" name="TextBox 79"/>
                <p:cNvSpPr txBox="1"/>
                <p:nvPr/>
              </p:nvSpPr>
              <p:spPr>
                <a:xfrm>
                  <a:off x="9525457" y="26136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(13)(24)</a:t>
                  </a:r>
                </a:p>
              </p:txBody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10554157" y="26136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(14)(23)</a:t>
                  </a:r>
                </a:p>
              </p:txBody>
            </p:sp>
            <p:sp>
              <p:nvSpPr>
                <p:cNvPr id="81" name="TextBox 81"/>
                <p:cNvSpPr txBox="1"/>
                <p:nvPr/>
              </p:nvSpPr>
              <p:spPr>
                <a:xfrm>
                  <a:off x="6402537" y="2918460"/>
                  <a:ext cx="75852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(12)(34)</a:t>
                  </a:r>
                </a:p>
              </p:txBody>
            </p:sp>
            <p:sp>
              <p:nvSpPr>
                <p:cNvPr id="82" name="TextBox 82"/>
                <p:cNvSpPr txBox="1"/>
                <p:nvPr/>
              </p:nvSpPr>
              <p:spPr>
                <a:xfrm>
                  <a:off x="7468057" y="29184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(12)(34)</a:t>
                  </a:r>
                </a:p>
              </p:txBody>
            </p:sp>
            <p:sp>
              <p:nvSpPr>
                <p:cNvPr id="83" name="TextBox 83"/>
                <p:cNvSpPr txBox="1"/>
                <p:nvPr/>
              </p:nvSpPr>
              <p:spPr>
                <a:xfrm>
                  <a:off x="8825271" y="2918460"/>
                  <a:ext cx="659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84" name="TextBox 84"/>
                <p:cNvSpPr txBox="1"/>
                <p:nvPr/>
              </p:nvSpPr>
              <p:spPr>
                <a:xfrm>
                  <a:off x="9525457" y="29184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(14)(23)</a:t>
                  </a:r>
                </a:p>
              </p:txBody>
            </p:sp>
            <p:sp>
              <p:nvSpPr>
                <p:cNvPr id="85" name="TextBox 85"/>
                <p:cNvSpPr txBox="1"/>
                <p:nvPr/>
              </p:nvSpPr>
              <p:spPr>
                <a:xfrm>
                  <a:off x="10554157" y="29184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(13)(24)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6402537" y="3223260"/>
                  <a:ext cx="75852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(13)(24)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7468057" y="32232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(13)(24)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8496757" y="32232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(14)(23)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9853971" y="3223260"/>
                  <a:ext cx="659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I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10554157" y="32232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(12)(34)</a:t>
                  </a:r>
                </a:p>
              </p:txBody>
            </p:sp>
            <p:sp>
              <p:nvSpPr>
                <p:cNvPr id="91" name="TextBox 91"/>
                <p:cNvSpPr txBox="1"/>
                <p:nvPr/>
              </p:nvSpPr>
              <p:spPr>
                <a:xfrm>
                  <a:off x="6402537" y="3528060"/>
                  <a:ext cx="75852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accent1"/>
                      </a:solidFill>
                      <a:latin typeface="Cambria Math"/>
                      <a:ea typeface="Cambria Math"/>
                      <a:cs typeface="Cambria Math"/>
                    </a:rPr>
                    <a:t>(14)(23)</a:t>
                  </a:r>
                </a:p>
              </p:txBody>
            </p:sp>
            <p:sp>
              <p:nvSpPr>
                <p:cNvPr id="92" name="TextBox 92"/>
                <p:cNvSpPr txBox="1"/>
                <p:nvPr/>
              </p:nvSpPr>
              <p:spPr>
                <a:xfrm>
                  <a:off x="7468057" y="35280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(14)(23)</a:t>
                  </a:r>
                </a:p>
              </p:txBody>
            </p:sp>
            <p:sp>
              <p:nvSpPr>
                <p:cNvPr id="93" name="TextBox 93"/>
                <p:cNvSpPr txBox="1"/>
                <p:nvPr/>
              </p:nvSpPr>
              <p:spPr>
                <a:xfrm>
                  <a:off x="8496757" y="35280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(13)(24)</a:t>
                  </a:r>
                </a:p>
              </p:txBody>
            </p:sp>
            <p:sp>
              <p:nvSpPr>
                <p:cNvPr id="94" name="TextBox 94"/>
                <p:cNvSpPr txBox="1"/>
                <p:nvPr/>
              </p:nvSpPr>
              <p:spPr>
                <a:xfrm>
                  <a:off x="9525457" y="3528060"/>
                  <a:ext cx="72298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Cambria Math"/>
                      <a:ea typeface="Cambria Math"/>
                      <a:cs typeface="Cambria Math"/>
                    </a:rPr>
                    <a:t>(12)(34)</a:t>
                  </a:r>
                </a:p>
              </p:txBody>
            </p:sp>
            <p:sp>
              <p:nvSpPr>
                <p:cNvPr id="95" name="TextBox 95"/>
                <p:cNvSpPr txBox="1"/>
                <p:nvPr/>
              </p:nvSpPr>
              <p:spPr>
                <a:xfrm>
                  <a:off x="10882671" y="3528060"/>
                  <a:ext cx="6595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0F7A68"/>
                      </a:solidFill>
                      <a:latin typeface="Cambria Math"/>
                      <a:ea typeface="Cambria Math"/>
                      <a:cs typeface="Cambria Math"/>
                    </a:rPr>
                    <a:t>I</a:t>
                  </a:r>
                </a:p>
              </p:txBody>
            </p:sp>
          </p:grpSp>
        </p:grpSp>
        <p:sp>
          <p:nvSpPr>
            <p:cNvPr id="98" name="TextBox 98"/>
            <p:cNvSpPr txBox="1"/>
            <p:nvPr/>
          </p:nvSpPr>
          <p:spPr>
            <a:xfrm>
              <a:off x="6242304" y="3890010"/>
              <a:ext cx="44945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是群：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 ∈ K；封闭（见表）；结合律；单位元 I；每个元素自逆</a:t>
              </a:r>
            </a:p>
          </p:txBody>
        </p:sp>
        <p:sp>
          <p:nvSpPr>
            <p:cNvPr id="99" name="Line 99"/>
            <p:cNvSpPr/>
            <p:nvPr/>
          </p:nvSpPr>
          <p:spPr>
            <a:xfrm>
              <a:off x="6248400" y="417195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242304" y="4290060"/>
              <a:ext cx="2461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 K 在 S₄ 中正规？（习题）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242304" y="4537710"/>
              <a:ext cx="3294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要证：对任意 σ ∈ S₄、τ ∈ K，都有 στσ⁻¹ ∈ K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242304" y="4785360"/>
              <a:ext cx="3784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στσ⁻¹ 只是把 τ 中的数字 i 换成 σ(i)，轮换长度不变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242304" y="5033010"/>
              <a:ext cx="40184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例：σ = (1 2 3)，τ = (1 2)(3 4) ⇒ στσ⁻¹ = (2 3)(1 4)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242304" y="5337810"/>
              <a:ext cx="39918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(ab)(cd) 型共轭后仍是 (ab)(cd) 型 ⇒ σKσ⁻¹ ⊆ K ✓</a:t>
              </a:r>
            </a:p>
          </p:txBody>
        </p:sp>
      </p:grpSp>
      <p:grpSp>
        <p:nvGrpSpPr>
          <p:cNvPr id="11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06" name="Rectangle 106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13" name="Group 113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14" name="TextBox 114"/>
            <p:cNvSpPr txBox="1"/>
            <p:nvPr/>
          </p:nvSpPr>
          <p:spPr>
            <a:xfrm>
              <a:off x="1134618" y="6003608"/>
              <a:ext cx="8975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判正规三招：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逐个比 gH 与 Hg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；证 gHg⁻¹ ⊆ H；可交换群或“共轭不改轮换结构”直接得出。</a:t>
              </a:r>
            </a:p>
          </p:txBody>
        </p:sp>
      </p:grpSp>
      <p:grpSp>
        <p:nvGrpSpPr>
          <p:cNvPr id="11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16" name="TextBox 116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4327" y="361950"/>
            <a:ext cx="4757951" cy="960501"/>
            <a:chOff x="514327" y="361950"/>
            <a:chExt cx="4757951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438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4327" y="432435"/>
              <a:ext cx="247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拉格朗日定理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拉格朗日定理：陪集把群等分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theorem"/>
          <p:cNvGrpSpPr/>
          <p:nvPr/>
        </p:nvGrpSpPr>
        <p:grpSpPr>
          <a:xfrm>
            <a:off x="533400" y="1485900"/>
            <a:ext cx="11125200" cy="811339"/>
            <a:chOff x="533400" y="1485900"/>
            <a:chExt cx="11125200" cy="811339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11125200" cy="800100"/>
            </a:xfrm>
            <a:prstGeom prst="roundRect">
              <a:avLst>
                <a:gd name="adj" fmla="val 1904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495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2313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拉格朗日（Lagrange）定理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6018" y="1974532"/>
              <a:ext cx="69198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为有限群，则 G 的任意子群 H 的元数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整除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G 的元数：</a:t>
              </a:r>
              <a:r>
                <a:rPr lang="zh-CN" sz="16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|H| 整除 |G|</a:t>
              </a:r>
            </a:p>
          </p:txBody>
        </p:sp>
      </p:grpSp>
      <p:grpSp>
        <p:nvGrpSpPr>
          <p:cNvPr id="54" name="proof-steps"/>
          <p:cNvGrpSpPr/>
          <p:nvPr/>
        </p:nvGrpSpPr>
        <p:grpSpPr>
          <a:xfrm>
            <a:off x="533400" y="2400300"/>
            <a:ext cx="6705600" cy="3162681"/>
            <a:chOff x="533400" y="2400300"/>
            <a:chExt cx="6705600" cy="3162681"/>
          </a:xfrm>
        </p:grpSpPr>
        <p:grpSp>
          <p:nvGrpSpPr>
            <p:cNvPr id="21" name="step-1"/>
            <p:cNvGrpSpPr/>
            <p:nvPr/>
          </p:nvGrpSpPr>
          <p:grpSpPr>
            <a:xfrm>
              <a:off x="533400" y="2400300"/>
              <a:ext cx="6705600" cy="571500"/>
              <a:chOff x="533400" y="2400300"/>
              <a:chExt cx="6705600" cy="571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33400" y="2400300"/>
                <a:ext cx="67056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695325" y="25431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85458" y="26136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98042" y="2502218"/>
                <a:ext cx="15501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设 </a:t>
                </a:r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|G| = n</a:t>
                </a:r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</a:t>
                </a:r>
                <a:r>
                  <a:rPr lang="en-US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|H| = r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99566" y="2744152"/>
                <a:ext cx="14257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 有限，H 是 G 的子群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0" y="2562225"/>
                <a:ext cx="1371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183440" y="262032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设元数</a:t>
                </a:r>
              </a:p>
            </p:txBody>
          </p:sp>
        </p:grpSp>
        <p:grpSp>
          <p:nvGrpSpPr>
            <p:cNvPr id="29" name="step-2"/>
            <p:cNvGrpSpPr/>
            <p:nvPr/>
          </p:nvGrpSpPr>
          <p:grpSpPr>
            <a:xfrm>
              <a:off x="533400" y="3048000"/>
              <a:ext cx="6705600" cy="571500"/>
              <a:chOff x="533400" y="3048000"/>
              <a:chExt cx="6705600" cy="571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048000"/>
                <a:ext cx="67056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695325" y="31908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85458" y="3261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98042" y="3149918"/>
                <a:ext cx="32838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设 H 共有 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 个右陪集</a:t>
                </a:r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 g₁H, g₂H, …, gₛH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99566" y="3391852"/>
                <a:ext cx="16924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 有限，陪集的个数也有限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5715000" y="3209925"/>
                <a:ext cx="1371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183440" y="326802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设块数</a:t>
                </a:r>
              </a:p>
            </p:txBody>
          </p:sp>
        </p:grpSp>
        <p:grpSp>
          <p:nvGrpSpPr>
            <p:cNvPr id="37" name="step-3"/>
            <p:cNvGrpSpPr/>
            <p:nvPr/>
          </p:nvGrpSpPr>
          <p:grpSpPr>
            <a:xfrm>
              <a:off x="533400" y="3695700"/>
              <a:ext cx="6705600" cy="571500"/>
              <a:chOff x="533400" y="3695700"/>
              <a:chExt cx="67056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" y="3695700"/>
                <a:ext cx="67056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95325" y="38385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85458" y="39090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98042" y="3797618"/>
                <a:ext cx="2232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每个右陪集都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恰有 r 个元素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99566" y="4039552"/>
                <a:ext cx="1593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|aH| = |H|（定理 6.3.7）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5715000" y="3857625"/>
                <a:ext cx="1371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897380" y="3915728"/>
                <a:ext cx="10068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依据：性质 (1)</a:t>
                </a:r>
              </a:p>
            </p:txBody>
          </p:sp>
        </p:grpSp>
        <p:grpSp>
          <p:nvGrpSpPr>
            <p:cNvPr id="45" name="step-4"/>
            <p:cNvGrpSpPr/>
            <p:nvPr/>
          </p:nvGrpSpPr>
          <p:grpSpPr>
            <a:xfrm>
              <a:off x="533400" y="4343400"/>
              <a:ext cx="6705600" cy="571500"/>
              <a:chOff x="533400" y="4343400"/>
              <a:chExt cx="6705600" cy="571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33400" y="4343400"/>
                <a:ext cx="6705600" cy="571500"/>
              </a:xfrm>
              <a:prstGeom prst="roundRect">
                <a:avLst>
                  <a:gd name="adj" fmla="val 2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695325" y="4486275"/>
                <a:ext cx="285750" cy="2857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85458" y="45567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98042" y="4445318"/>
                <a:ext cx="38156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不同右陪集两两不交 ⇒ 它们的并共有 </a:t>
                </a:r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rs 个元素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99566" y="4687252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两个右陪集要么相等，要么不相交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5715000" y="4505325"/>
                <a:ext cx="13716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5897380" y="4563428"/>
                <a:ext cx="10068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2410C"/>
                    </a:solidFill>
                    <a:latin typeface="+mn-lt"/>
                    <a:ea typeface="+mn-ea"/>
                    <a:cs typeface="+mn-cs"/>
                  </a:rPr>
                  <a:t>依据：性质 (7)</a:t>
                </a:r>
              </a:p>
            </p:txBody>
          </p:sp>
        </p:grpSp>
        <p:grpSp>
          <p:nvGrpSpPr>
            <p:cNvPr id="53" name="step-5"/>
            <p:cNvGrpSpPr/>
            <p:nvPr/>
          </p:nvGrpSpPr>
          <p:grpSpPr>
            <a:xfrm>
              <a:off x="533400" y="4991100"/>
              <a:ext cx="6705600" cy="571881"/>
              <a:chOff x="533400" y="4991100"/>
              <a:chExt cx="6705600" cy="571881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33400" y="4991100"/>
                <a:ext cx="6705600" cy="571500"/>
              </a:xfrm>
              <a:prstGeom prst="roundRect">
                <a:avLst>
                  <a:gd name="adj" fmla="val 20000"/>
                </a:avLst>
              </a:prstGeom>
              <a:solidFill>
                <a:srgbClr val="E3F5F1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695325" y="5133975"/>
                <a:ext cx="285750" cy="2857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5458" y="5204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98042" y="5093018"/>
                <a:ext cx="2962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每个 a ∈ aH ⇒ 所有右陪集的并就是 G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98804" y="5328285"/>
                <a:ext cx="2899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故 n = rs，即 |G| = |H| · s，r 整除 n ∎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5715000" y="5153025"/>
                <a:ext cx="1371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5897380" y="5211128"/>
                <a:ext cx="10068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依据：性质 (4)</a:t>
                </a:r>
              </a:p>
            </p:txBody>
          </p:sp>
        </p:grpSp>
      </p:grpSp>
      <p:grpSp>
        <p:nvGrpSpPr>
          <p:cNvPr id="57" name="analogy"/>
          <p:cNvGrpSpPr/>
          <p:nvPr/>
        </p:nvGrpSpPr>
        <p:grpSpPr>
          <a:xfrm>
            <a:off x="7391400" y="2400300"/>
            <a:ext cx="4267200" cy="2149411"/>
            <a:chOff x="7391400" y="2400300"/>
            <a:chExt cx="4267200" cy="2149411"/>
          </a:xfrm>
        </p:grpSpPr>
        <p:pic>
          <p:nvPicPr>
            <p:cNvPr id="55" name="Image 55"/>
            <p:cNvPicPr>
              <a:picLocks noChangeAspect="1"/>
            </p:cNvPicPr>
            <p:nvPr/>
          </p:nvPicPr>
          <p:blipFill>
            <a:blip r:embed="rId2"/>
            <a:srcRect l="0" t="20834" r="0" b="20833"/>
            <a:stretch>
              <a:fillRect/>
            </a:stretch>
          </p:blipFill>
          <p:spPr>
            <a:xfrm>
              <a:off x="7391400" y="2400300"/>
              <a:ext cx="4267200" cy="1866900"/>
            </a:xfrm>
            <a:prstGeom prst="roundRect">
              <a:avLst>
                <a:gd name="adj" fmla="val 8163"/>
              </a:avLst>
            </a:prstGeom>
          </p:spPr>
        </p:pic>
        <p:sp>
          <p:nvSpPr>
            <p:cNvPr id="56" name="TextBox 56"/>
            <p:cNvSpPr txBox="1"/>
            <p:nvPr/>
          </p:nvSpPr>
          <p:spPr>
            <a:xfrm>
              <a:off x="7795184" y="4344352"/>
              <a:ext cx="3459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类比：蛋糕切成同样大小的块——总量 = 每块的量 × 块数</a:t>
              </a:r>
            </a:p>
          </p:txBody>
        </p:sp>
      </p:grpSp>
      <p:grpSp>
        <p:nvGrpSpPr>
          <p:cNvPr id="64" name="index"/>
          <p:cNvGrpSpPr/>
          <p:nvPr/>
        </p:nvGrpSpPr>
        <p:grpSpPr>
          <a:xfrm>
            <a:off x="7391400" y="4552950"/>
            <a:ext cx="4267200" cy="1162050"/>
            <a:chOff x="7391400" y="4552950"/>
            <a:chExt cx="4267200" cy="1162050"/>
          </a:xfrm>
        </p:grpSpPr>
        <p:sp>
          <p:nvSpPr>
            <p:cNvPr id="58" name="Rectangle 58"/>
            <p:cNvSpPr/>
            <p:nvPr/>
          </p:nvSpPr>
          <p:spPr>
            <a:xfrm>
              <a:off x="7391400" y="4552950"/>
              <a:ext cx="4267200" cy="1162050"/>
            </a:xfrm>
            <a:prstGeom prst="roundRect">
              <a:avLst>
                <a:gd name="adj" fmla="val 1311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43800" y="462915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0960" y="4680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0842" y="4673918"/>
              <a:ext cx="19406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在 G 中的指数 (G:H)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index-formula"/>
                <p:cNvSpPr txBox="1">
                  <a:spLocks noGrp="1"/>
                </p:cNvSpPr>
                <p:nvPr/>
              </p:nvSpPr>
              <p:spPr>
                <a:xfrm>
                  <a:off x="7543800" y="4895850"/>
                  <a:ext cx="39624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:</m:t>
                            </m:r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G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:</m:t>
                            </m:r>
                            <m: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G</m:t>
                                </m:r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H</m:t>
                                </m:r>
                              </m:e>
                            </m: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63" name="TextBox 63"/>
            <p:cNvSpPr txBox="1"/>
            <p:nvPr/>
          </p:nvSpPr>
          <p:spPr>
            <a:xfrm>
              <a:off x="7538466" y="5487352"/>
              <a:ext cx="3079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指数 = |G| 除以 |H| 的商 = H 的右（左）陪集个数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5" name="Rectangle 6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58460" y="5993409"/>
              <a:ext cx="229599" cy="229956"/>
              <a:chOff x="758460" y="5993409"/>
              <a:chExt cx="229599" cy="22995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58460" y="5993409"/>
                <a:ext cx="229599" cy="229956"/>
              </a:xfrm>
              <a:custGeom>
                <a:avLst/>
                <a:gdLst/>
                <a:ahLst/>
                <a:cxnLst/>
                <a:rect l="l" t="t" r="r" b="b"/>
                <a:pathLst>
                  <a:path w="229599" h="229956">
                    <a:moveTo>
                      <a:pt x="92440" y="356"/>
                    </a:moveTo>
                    <a:cubicBezTo>
                      <a:pt x="37449" y="13104"/>
                      <a:pt x="0" y="64088"/>
                      <a:pt x="4282" y="120374"/>
                    </a:cubicBezTo>
                    <a:cubicBezTo>
                      <a:pt x="8564" y="176660"/>
                      <a:pt x="53295" y="221391"/>
                      <a:pt x="109582" y="225673"/>
                    </a:cubicBezTo>
                    <a:cubicBezTo>
                      <a:pt x="165868" y="229956"/>
                      <a:pt x="216851" y="192507"/>
                      <a:pt x="229599" y="137516"/>
                    </a:cubicBezTo>
                    <a:cubicBezTo>
                      <a:pt x="229599" y="130502"/>
                      <a:pt x="223913" y="124816"/>
                      <a:pt x="216899" y="124816"/>
                    </a:cubicBezTo>
                    <a:lnTo>
                      <a:pt x="130540" y="124816"/>
                    </a:lnTo>
                    <a:cubicBezTo>
                      <a:pt x="116512" y="124816"/>
                      <a:pt x="105140" y="113444"/>
                      <a:pt x="105140" y="99416"/>
                    </a:cubicBezTo>
                    <a:lnTo>
                      <a:pt x="105140" y="10516"/>
                    </a:lnTo>
                    <a:cubicBezTo>
                      <a:pt x="104821" y="7477"/>
                      <a:pt x="103299" y="4692"/>
                      <a:pt x="100912" y="2783"/>
                    </a:cubicBezTo>
                    <a:cubicBezTo>
                      <a:pt x="98526" y="874"/>
                      <a:pt x="95475" y="0"/>
                      <a:pt x="92440" y="356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14400" y="59975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cubicBezTo>
                      <a:pt x="32662" y="11501"/>
                      <a:pt x="58349" y="37188"/>
                      <a:pt x="69850" y="69850"/>
                    </a:cubicBezTo>
                    <a:lnTo>
                      <a:pt x="12700" y="69850"/>
                    </a:lnTo>
                    <a:cubicBezTo>
                      <a:pt x="5686" y="69850"/>
                      <a:pt x="0" y="64164"/>
                      <a:pt x="0" y="5715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134618" y="6003608"/>
              <a:ext cx="7157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陪集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等大且互不相交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、铺满全群，所以 |H| 整除 |G|：|G| = |H| · (G:H)。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1" name="TextBox 71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4327" y="361950"/>
            <a:ext cx="6877913" cy="960501"/>
            <a:chOff x="514327" y="361950"/>
            <a:chExt cx="6877913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438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4327" y="432435"/>
              <a:ext cx="247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拉格朗日定理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87255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拉格朗日定理的推论：周期整除 n，aⁿ =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representatives"/>
          <p:cNvGrpSpPr/>
          <p:nvPr/>
        </p:nvGrpSpPr>
        <p:grpSpPr>
          <a:xfrm>
            <a:off x="533400" y="1485900"/>
            <a:ext cx="5334000" cy="1714500"/>
            <a:chOff x="533400" y="1485900"/>
            <a:chExt cx="5334000" cy="1714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3340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638300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515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31442" y="16735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右代表系（右代表团）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202311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从每个右陪集中选出一个元素作代表，全体代表的集合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270760"/>
              <a:ext cx="4045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叫做一个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右代表系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。若 G 有限，g₁, …, gₛ 是右代表系，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304" y="2518410"/>
              <a:ext cx="3007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则 g₁H, …, gₛH 便是 H 的所有右陪集，而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8200" y="2762250"/>
              <a:ext cx="4876800" cy="342900"/>
            </a:xfrm>
            <a:prstGeom prst="roundRect">
              <a:avLst>
                <a:gd name="adj" fmla="val 27778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03420" y="2838450"/>
              <a:ext cx="2346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 = g₁H ∪ g₂H ∪ … ∪ gₛH</a:t>
              </a:r>
            </a:p>
          </p:txBody>
        </p:sp>
      </p:grpSp>
      <p:grpSp>
        <p:nvGrpSpPr>
          <p:cNvPr id="36" name="theorem-638"/>
          <p:cNvGrpSpPr/>
          <p:nvPr/>
        </p:nvGrpSpPr>
        <p:grpSpPr>
          <a:xfrm>
            <a:off x="533400" y="3314700"/>
            <a:ext cx="5334000" cy="2400300"/>
            <a:chOff x="533400" y="3314700"/>
            <a:chExt cx="5334000" cy="2400300"/>
          </a:xfrm>
        </p:grpSpPr>
        <p:sp>
          <p:nvSpPr>
            <p:cNvPr id="18" name="Rectangle 18"/>
            <p:cNvSpPr/>
            <p:nvPr/>
          </p:nvSpPr>
          <p:spPr>
            <a:xfrm>
              <a:off x="533400" y="3314700"/>
              <a:ext cx="5334000" cy="2400300"/>
            </a:xfrm>
            <a:prstGeom prst="roundRect">
              <a:avLst>
                <a:gd name="adj" fmla="val 634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85800" y="3467100"/>
              <a:ext cx="47625" cy="209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14400" y="34480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1488" y="35090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6.3.8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8642" y="3502342"/>
              <a:ext cx="1332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有限群中 aⁿ =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8200" y="3810000"/>
              <a:ext cx="4876800" cy="3810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66426" y="3921442"/>
              <a:ext cx="4020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设 G 为有限群，|G| = n，则对任意 a ∈ G，aⁿ = 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914400" y="43243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2551" y="43729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32154" y="4366260"/>
              <a:ext cx="1611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 有限 ⇒ a 的周期有限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32916" y="4592002"/>
              <a:ext cx="2717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否则 (a) 是无限子群，G 将有无穷多个元素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914400" y="4876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2551" y="49253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2154" y="4918710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 的周期为 m ⇒ (a) 是 m 元循环子群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14400" y="52387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2551" y="5287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32154" y="528066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拉格朗日定理：m | n ⇒ aⁿ = 1 ∎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32916" y="5506402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由定理 6.3.5：aᵏ = 1 ⇔ m | k</a:t>
              </a:r>
            </a:p>
          </p:txBody>
        </p:sp>
      </p:grpSp>
      <p:grpSp>
        <p:nvGrpSpPr>
          <p:cNvPr id="42" name="corollary-1"/>
          <p:cNvGrpSpPr/>
          <p:nvPr/>
        </p:nvGrpSpPr>
        <p:grpSpPr>
          <a:xfrm>
            <a:off x="6019800" y="1485900"/>
            <a:ext cx="5638800" cy="876300"/>
            <a:chOff x="6019800" y="1485900"/>
            <a:chExt cx="56388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019800" y="1485900"/>
              <a:ext cx="5638800" cy="876300"/>
            </a:xfrm>
            <a:prstGeom prst="roundRect">
              <a:avLst>
                <a:gd name="adj" fmla="val 17391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172200" y="16192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5337" y="167735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65442" y="1654492"/>
              <a:ext cx="37628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有限群 |G| = n ⇒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任意子群的元数都是 n 的因子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66866" y="2039302"/>
              <a:ext cx="4565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但反过来不成立：对 n 的因子 m，G 未必有 m 元子群（反例见下页 A₄）</a:t>
              </a:r>
            </a:p>
          </p:txBody>
        </p:sp>
      </p:grpSp>
      <p:grpSp>
        <p:nvGrpSpPr>
          <p:cNvPr id="48" name="corollary-2"/>
          <p:cNvGrpSpPr/>
          <p:nvPr/>
        </p:nvGrpSpPr>
        <p:grpSpPr>
          <a:xfrm>
            <a:off x="6019800" y="2419350"/>
            <a:ext cx="5638800" cy="609600"/>
            <a:chOff x="6019800" y="2419350"/>
            <a:chExt cx="5638800" cy="609600"/>
          </a:xfrm>
        </p:grpSpPr>
        <p:sp>
          <p:nvSpPr>
            <p:cNvPr id="43" name="Rectangle 43"/>
            <p:cNvSpPr/>
            <p:nvPr/>
          </p:nvSpPr>
          <p:spPr>
            <a:xfrm>
              <a:off x="6019800" y="2419350"/>
              <a:ext cx="5638800" cy="6096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72200" y="25336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337" y="259175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65442" y="2568892"/>
              <a:ext cx="4211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元循环群：n 的每个正因子 m，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恰有一个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m 元子群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66966" y="282035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就是 (aᵈ)，d = n / m</a:t>
              </a:r>
            </a:p>
          </p:txBody>
        </p:sp>
      </p:grpSp>
      <p:grpSp>
        <p:nvGrpSpPr>
          <p:cNvPr id="54" name="corollary-3"/>
          <p:cNvGrpSpPr/>
          <p:nvPr/>
        </p:nvGrpSpPr>
        <p:grpSpPr>
          <a:xfrm>
            <a:off x="6019800" y="3086100"/>
            <a:ext cx="5638800" cy="609600"/>
            <a:chOff x="6019800" y="3086100"/>
            <a:chExt cx="5638800" cy="609600"/>
          </a:xfrm>
        </p:grpSpPr>
        <p:sp>
          <p:nvSpPr>
            <p:cNvPr id="49" name="Rectangle 49"/>
            <p:cNvSpPr/>
            <p:nvPr/>
          </p:nvSpPr>
          <p:spPr>
            <a:xfrm>
              <a:off x="6019800" y="3086100"/>
              <a:ext cx="5638800" cy="6096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172200" y="320040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5337" y="325850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65442" y="323564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元数是质数的群，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一定没有非平凡子群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66966" y="3487102"/>
              <a:ext cx="2434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子群元数只能是 1 或 p，只有 {1} 和 G</a:t>
              </a:r>
            </a:p>
          </p:txBody>
        </p:sp>
      </p:grpSp>
      <p:grpSp>
        <p:nvGrpSpPr>
          <p:cNvPr id="60" name="corollary-4"/>
          <p:cNvGrpSpPr/>
          <p:nvPr/>
        </p:nvGrpSpPr>
        <p:grpSpPr>
          <a:xfrm>
            <a:off x="6019800" y="3752850"/>
            <a:ext cx="5638800" cy="609600"/>
            <a:chOff x="6019800" y="3752850"/>
            <a:chExt cx="5638800" cy="609600"/>
          </a:xfrm>
        </p:grpSpPr>
        <p:sp>
          <p:nvSpPr>
            <p:cNvPr id="55" name="Rectangle 55"/>
            <p:cNvSpPr/>
            <p:nvPr/>
          </p:nvSpPr>
          <p:spPr>
            <a:xfrm>
              <a:off x="6019800" y="3752850"/>
              <a:ext cx="5638800" cy="609600"/>
            </a:xfrm>
            <a:prstGeom prst="roundRect">
              <a:avLst>
                <a:gd name="adj" fmla="val 25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72200" y="3867150"/>
              <a:ext cx="685800" cy="2476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05337" y="392525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 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65442" y="3902392"/>
              <a:ext cx="37628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有限群 |G| = n ⇒ </a:t>
              </a: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任意元素的周期都是 n 的因子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66966" y="4153852"/>
              <a:ext cx="23733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的周期 = |(a)|，而 (a) 是 G 的子群</a:t>
              </a:r>
            </a:p>
          </p:txBody>
        </p:sp>
      </p:grpSp>
      <p:grpSp>
        <p:nvGrpSpPr>
          <p:cNvPr id="68" name="exercise-635"/>
          <p:cNvGrpSpPr/>
          <p:nvPr/>
        </p:nvGrpSpPr>
        <p:grpSpPr>
          <a:xfrm>
            <a:off x="6019800" y="4419600"/>
            <a:ext cx="5638800" cy="1295400"/>
            <a:chOff x="6019800" y="4419600"/>
            <a:chExt cx="5638800" cy="1295400"/>
          </a:xfrm>
        </p:grpSpPr>
        <p:sp>
          <p:nvSpPr>
            <p:cNvPr id="61" name="Rectangle 61"/>
            <p:cNvSpPr/>
            <p:nvPr/>
          </p:nvSpPr>
          <p:spPr>
            <a:xfrm>
              <a:off x="6019800" y="4419600"/>
              <a:ext cx="5638800" cy="1295400"/>
            </a:xfrm>
            <a:prstGeom prst="roundRect">
              <a:avLst>
                <a:gd name="adj" fmla="val 1176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172200" y="453390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79288" y="459486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46442" y="45881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元数为质数的群，必是循环群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166104" y="4918710"/>
              <a:ext cx="40894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|G| = p（质数，p &gt; 1），任取 a ≠ 1，设 a 的周期为 m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166104" y="5166360"/>
              <a:ext cx="38343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(a) 是 m 元循环子群且 m &gt; 1；由拉格朗日定理 </a:t>
              </a:r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 | p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66104" y="5433060"/>
              <a:ext cx="2876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 为质数 ⇒ m = p ⇒ G = (a) 是循环群 ∎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87400" y="6016625"/>
              <a:ext cx="177800" cy="177799"/>
              <a:chOff x="787400" y="6016625"/>
              <a:chExt cx="177800" cy="177799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63600" y="60166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3600" y="6169024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87400" y="6105525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4618" y="6003608"/>
              <a:ext cx="7121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有限群里：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子群元数 | n，元素周期 | n，aⁿ = 1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；质数阶群必是循环群。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6" name="TextBox 76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4327" y="361950"/>
            <a:ext cx="6256630" cy="960501"/>
            <a:chOff x="514327" y="361950"/>
            <a:chExt cx="6256630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438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4327" y="432435"/>
              <a:ext cx="247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拉格朗日定理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62512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反例：6 整除 12，A₄ 却没有 6 元子群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a4-elements"/>
          <p:cNvGrpSpPr/>
          <p:nvPr/>
        </p:nvGrpSpPr>
        <p:grpSpPr>
          <a:xfrm>
            <a:off x="533400" y="1485900"/>
            <a:ext cx="4572000" cy="4229100"/>
            <a:chOff x="533400" y="1485900"/>
            <a:chExt cx="4572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572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37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642" y="1673542"/>
              <a:ext cx="26194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A₄ 的 12 个元素（全是偶置换）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206121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单位元 · 1 个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305050"/>
              <a:ext cx="685800" cy="3238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71921" y="2394585"/>
              <a:ext cx="65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2823210"/>
              <a:ext cx="2134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(ab)(cd) 型 · 3 个 · 周期 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3067050"/>
              <a:ext cx="1295400" cy="3238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99744" y="3156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2)(3 4)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133600" y="3067050"/>
              <a:ext cx="1295400" cy="3238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71344" y="3156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3)(2 4)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3067050"/>
              <a:ext cx="1295400" cy="3238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42944" y="3156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(1 4)(2 3)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3585210"/>
              <a:ext cx="1854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(abc) 型 · 8 个 · 周期 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40658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上下两个互为逆元</a:t>
              </a:r>
            </a:p>
          </p:txBody>
        </p:sp>
        <p:grpSp>
          <p:nvGrpSpPr>
            <p:cNvPr id="39" name="three-cycles"/>
            <p:cNvGrpSpPr/>
            <p:nvPr/>
          </p:nvGrpSpPr>
          <p:grpSpPr>
            <a:xfrm>
              <a:off x="762000" y="3829050"/>
              <a:ext cx="4038600" cy="724281"/>
              <a:chOff x="762000" y="3829050"/>
              <a:chExt cx="4038600" cy="724281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382905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61568" y="391858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(1 2 3)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1790700" y="382905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990268" y="391858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(1 2 4)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819400" y="382905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018968" y="391858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(1 3 4)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3848100" y="382905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047668" y="391858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(2 3 4)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762000" y="422910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1568" y="431863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(1 3 2)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1790700" y="422910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990268" y="431863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(1 4 2)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2819400" y="422910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018968" y="431863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(1 4 3)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3848100" y="4229100"/>
                <a:ext cx="95250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047668" y="4318635"/>
                <a:ext cx="5533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(2 4 3)</a:t>
                </a: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762000" y="4724400"/>
              <a:ext cx="4114800" cy="838200"/>
            </a:xfrm>
            <a:prstGeom prst="roundRect">
              <a:avLst>
                <a:gd name="adj" fmla="val 1363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4845368"/>
              <a:ext cx="2104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+ 3 + 8 = 12，而 6 | 12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8304" y="5109210"/>
              <a:ext cx="35167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假设 A₄ 有 6 元子群 H，按元素类型分三种情形 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9066" y="5354002"/>
              <a:ext cx="2950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（事实上 A₄ 的子群元数只有 1, 2, 3, 4, 12）</a:t>
              </a:r>
            </a:p>
          </p:txBody>
        </p:sp>
      </p:grpSp>
      <p:grpSp>
        <p:nvGrpSpPr>
          <p:cNvPr id="53" name="case-1"/>
          <p:cNvGrpSpPr/>
          <p:nvPr/>
        </p:nvGrpSpPr>
        <p:grpSpPr>
          <a:xfrm>
            <a:off x="5257800" y="1485900"/>
            <a:ext cx="6400800" cy="1257300"/>
            <a:chOff x="5257800" y="1485900"/>
            <a:chExt cx="6400800" cy="1257300"/>
          </a:xfrm>
        </p:grpSpPr>
        <p:sp>
          <p:nvSpPr>
            <p:cNvPr id="45" name="Rectangle 45"/>
            <p:cNvSpPr/>
            <p:nvPr/>
          </p:nvSpPr>
          <p:spPr>
            <a:xfrm>
              <a:off x="5257800" y="1485900"/>
              <a:ext cx="6400800" cy="1257300"/>
            </a:xfrm>
            <a:prstGeom prst="roundRect">
              <a:avLst>
                <a:gd name="adj" fmla="val 12121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864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895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79642" y="1673542"/>
              <a:ext cx="227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的非单位元全是 (abc) 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80304" y="2042160"/>
              <a:ext cx="4417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(abc) ∈ H ⇒ (abc)⁻¹ = (cba) ∈ H：3 元置换在 H 中成对出现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80304" y="2327910"/>
              <a:ext cx="2471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|H| = 1 + 偶数 = 奇数，不可能是 6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591800" y="2286000"/>
              <a:ext cx="838200" cy="2857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733006" y="2356485"/>
              <a:ext cx="55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矛盾</a:t>
              </a:r>
            </a:p>
          </p:txBody>
        </p:sp>
      </p:grpSp>
      <p:grpSp>
        <p:nvGrpSpPr>
          <p:cNvPr id="61" name="case-2"/>
          <p:cNvGrpSpPr/>
          <p:nvPr/>
        </p:nvGrpSpPr>
        <p:grpSpPr>
          <a:xfrm>
            <a:off x="5257800" y="2857500"/>
            <a:ext cx="6400800" cy="1028700"/>
            <a:chOff x="5257800" y="2857500"/>
            <a:chExt cx="6400800" cy="1028700"/>
          </a:xfrm>
        </p:grpSpPr>
        <p:sp>
          <p:nvSpPr>
            <p:cNvPr id="54" name="Rectangle 54"/>
            <p:cNvSpPr/>
            <p:nvPr/>
          </p:nvSpPr>
          <p:spPr>
            <a:xfrm>
              <a:off x="5257800" y="2857500"/>
              <a:ext cx="6400800" cy="1028700"/>
            </a:xfrm>
            <a:prstGeom prst="roundRect">
              <a:avLst>
                <a:gd name="adj" fmla="val 1481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486400" y="29908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589571" y="30518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79642" y="3045142"/>
              <a:ext cx="2593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的非单位元全是 (ab)(cd) 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480304" y="3432810"/>
              <a:ext cx="2882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这种元素只有 3 个 ⇒ |H| ≤ 1 + 3 = 4 &lt; 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0591800" y="3390900"/>
              <a:ext cx="838200" cy="2857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733006" y="3461385"/>
              <a:ext cx="55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矛盾</a:t>
              </a:r>
            </a:p>
          </p:txBody>
        </p:sp>
      </p:grpSp>
      <p:grpSp>
        <p:nvGrpSpPr>
          <p:cNvPr id="73" name="case-3"/>
          <p:cNvGrpSpPr/>
          <p:nvPr/>
        </p:nvGrpSpPr>
        <p:grpSpPr>
          <a:xfrm>
            <a:off x="5257800" y="4000500"/>
            <a:ext cx="6400800" cy="1714500"/>
            <a:chOff x="5257800" y="4000500"/>
            <a:chExt cx="6400800" cy="1714500"/>
          </a:xfrm>
        </p:grpSpPr>
        <p:sp>
          <p:nvSpPr>
            <p:cNvPr id="62" name="Rectangle 62"/>
            <p:cNvSpPr/>
            <p:nvPr/>
          </p:nvSpPr>
          <p:spPr>
            <a:xfrm>
              <a:off x="5257800" y="4000500"/>
              <a:ext cx="64008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486400" y="41338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589571" y="41948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79642" y="4188142"/>
              <a:ext cx="3382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两种都有：设 (abc) ∈ H，(ab)(cd) ∈ 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80304" y="449961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(abc)⁻¹ = (cba)，(abc)(ab)(cd) = (acd)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480304" y="4728210"/>
              <a:ext cx="4053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ambria Math"/>
                  <a:ea typeface="Microsoft YaHei"/>
                  <a:cs typeface="Cambria Math"/>
                </a:rPr>
                <a:t>(ab)(cd)(abc) = (bdc)，(acd)⁻¹ = (dca)，都在 H 中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480304" y="4975860"/>
              <a:ext cx="29277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连同 1、(abc)、(ab)(cd)，</a:t>
              </a:r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|H| ≥ 7 &gt; 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591800" y="4895850"/>
              <a:ext cx="838200" cy="2857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733006" y="4966335"/>
              <a:ext cx="55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矛盾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81066" y="5277802"/>
              <a:ext cx="36787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验算（取 a, b, c, d = 1, 2, 3, 4，置换乘积从右往左）：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481066" y="5487352"/>
              <a:ext cx="37847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mbria Math"/>
                  <a:ea typeface="Microsoft YaHei"/>
                  <a:cs typeface="Cambria Math"/>
                </a:rPr>
                <a:t>(1 2 3)(1 2)(3 4) = (1 3 4)，(1 2)(3 4)(1 2 3) = (2 4 3)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74" name="Rectangle 7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762000" y="5991225"/>
              <a:ext cx="228599" cy="228599"/>
            </a:xfrm>
            <a:custGeom>
              <a:avLst/>
              <a:gdLst/>
              <a:ahLst/>
              <a:cxnLst/>
              <a:rect l="l" t="t" r="r" b="b"/>
              <a:pathLst>
                <a:path w="228599" h="228599">
                  <a:moveTo>
                    <a:pt x="12700" y="50800"/>
                  </a:moveTo>
                  <a:lnTo>
                    <a:pt x="50800" y="50800"/>
                  </a:lnTo>
                  <a:cubicBezTo>
                    <a:pt x="57814" y="50800"/>
                    <a:pt x="63500" y="45114"/>
                    <a:pt x="63500" y="38100"/>
                  </a:cubicBezTo>
                  <a:lnTo>
                    <a:pt x="63500" y="25400"/>
                  </a:lnTo>
                  <a:cubicBezTo>
                    <a:pt x="63500" y="11372"/>
                    <a:pt x="74872" y="0"/>
                    <a:pt x="88900" y="0"/>
                  </a:cubicBezTo>
                  <a:cubicBezTo>
                    <a:pt x="102928" y="0"/>
                    <a:pt x="114300" y="11372"/>
                    <a:pt x="114300" y="25400"/>
                  </a:cubicBezTo>
                  <a:lnTo>
                    <a:pt x="114300" y="38100"/>
                  </a:lnTo>
                  <a:cubicBezTo>
                    <a:pt x="114300" y="45114"/>
                    <a:pt x="119986" y="50800"/>
                    <a:pt x="127000" y="50800"/>
                  </a:cubicBezTo>
                  <a:lnTo>
                    <a:pt x="165100" y="50800"/>
                  </a:lnTo>
                  <a:cubicBezTo>
                    <a:pt x="172114" y="50800"/>
                    <a:pt x="177800" y="56486"/>
                    <a:pt x="177800" y="63500"/>
                  </a:cubicBezTo>
                  <a:lnTo>
                    <a:pt x="177800" y="101600"/>
                  </a:lnTo>
                  <a:cubicBezTo>
                    <a:pt x="177800" y="108614"/>
                    <a:pt x="183486" y="114300"/>
                    <a:pt x="190500" y="114300"/>
                  </a:cubicBezTo>
                  <a:lnTo>
                    <a:pt x="203199" y="114300"/>
                  </a:lnTo>
                  <a:cubicBezTo>
                    <a:pt x="217227" y="114300"/>
                    <a:pt x="228599" y="125672"/>
                    <a:pt x="228599" y="139700"/>
                  </a:cubicBezTo>
                  <a:cubicBezTo>
                    <a:pt x="228599" y="153728"/>
                    <a:pt x="217227" y="165100"/>
                    <a:pt x="203199" y="165100"/>
                  </a:cubicBezTo>
                  <a:lnTo>
                    <a:pt x="190500" y="165100"/>
                  </a:lnTo>
                  <a:cubicBezTo>
                    <a:pt x="183486" y="165100"/>
                    <a:pt x="177800" y="170786"/>
                    <a:pt x="177800" y="177800"/>
                  </a:cubicBezTo>
                  <a:lnTo>
                    <a:pt x="177800" y="215899"/>
                  </a:lnTo>
                  <a:cubicBezTo>
                    <a:pt x="177800" y="222913"/>
                    <a:pt x="172114" y="228599"/>
                    <a:pt x="165100" y="228599"/>
                  </a:cubicBezTo>
                  <a:lnTo>
                    <a:pt x="127000" y="228599"/>
                  </a:lnTo>
                  <a:cubicBezTo>
                    <a:pt x="119986" y="228599"/>
                    <a:pt x="114300" y="222913"/>
                    <a:pt x="114300" y="215899"/>
                  </a:cubicBezTo>
                  <a:lnTo>
                    <a:pt x="114300" y="203199"/>
                  </a:lnTo>
                  <a:cubicBezTo>
                    <a:pt x="114300" y="189171"/>
                    <a:pt x="102928" y="177800"/>
                    <a:pt x="88900" y="177800"/>
                  </a:cubicBezTo>
                  <a:cubicBezTo>
                    <a:pt x="74872" y="177800"/>
                    <a:pt x="63500" y="189171"/>
                    <a:pt x="63500" y="203199"/>
                  </a:cubicBezTo>
                  <a:lnTo>
                    <a:pt x="63500" y="215899"/>
                  </a:lnTo>
                  <a:cubicBezTo>
                    <a:pt x="63500" y="222913"/>
                    <a:pt x="57814" y="228599"/>
                    <a:pt x="50800" y="228599"/>
                  </a:cubicBezTo>
                  <a:lnTo>
                    <a:pt x="12700" y="228599"/>
                  </a:lnTo>
                  <a:cubicBezTo>
                    <a:pt x="5686" y="228599"/>
                    <a:pt x="0" y="222913"/>
                    <a:pt x="0" y="215899"/>
                  </a:cubicBezTo>
                  <a:lnTo>
                    <a:pt x="0" y="177800"/>
                  </a:lnTo>
                  <a:cubicBezTo>
                    <a:pt x="0" y="170786"/>
                    <a:pt x="5686" y="165100"/>
                    <a:pt x="12700" y="165100"/>
                  </a:cubicBezTo>
                  <a:lnTo>
                    <a:pt x="25400" y="165100"/>
                  </a:lnTo>
                  <a:cubicBezTo>
                    <a:pt x="39428" y="165100"/>
                    <a:pt x="50800" y="153728"/>
                    <a:pt x="50800" y="139700"/>
                  </a:cubicBezTo>
                  <a:cubicBezTo>
                    <a:pt x="50800" y="125672"/>
                    <a:pt x="39428" y="114300"/>
                    <a:pt x="25400" y="114300"/>
                  </a:cubicBezTo>
                  <a:lnTo>
                    <a:pt x="12700" y="114300"/>
                  </a:lnTo>
                  <a:cubicBezTo>
                    <a:pt x="5686" y="114300"/>
                    <a:pt x="0" y="108614"/>
                    <a:pt x="0" y="101600"/>
                  </a:cubicBezTo>
                  <a:lnTo>
                    <a:pt x="0" y="63500"/>
                  </a:lnTo>
                  <a:cubicBezTo>
                    <a:pt x="0" y="56486"/>
                    <a:pt x="5686" y="50800"/>
                    <a:pt x="12700" y="50800"/>
                  </a:cubicBezTo>
                </a:path>
              </a:pathLst>
            </a:custGeom>
            <a:noFill/>
            <a:ln w="25400">
              <a:solidFill>
                <a:srgbClr val="B4231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34618" y="6003608"/>
              <a:ext cx="78530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拉格朗日定理</a:t>
              </a:r>
              <a:r>
                <a:rPr lang="zh-CN" sz="16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不能倒过来用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：6 | 12，A₄ 却没有 6 元子群——整除只是必要条件。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8" name="TextBox 78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4327" y="361950"/>
            <a:ext cx="7302269" cy="960501"/>
            <a:chOff x="514327" y="361950"/>
            <a:chExt cx="7302269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4384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14327" y="432435"/>
              <a:ext cx="247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拉格朗日定理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729691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用拉格朗日定理找子群：先定元数，再去构造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s3-subgroups"/>
          <p:cNvGrpSpPr/>
          <p:nvPr/>
        </p:nvGrpSpPr>
        <p:grpSpPr>
          <a:xfrm>
            <a:off x="533400" y="1485900"/>
            <a:ext cx="4953000" cy="4229100"/>
            <a:chOff x="533400" y="1485900"/>
            <a:chExt cx="4953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4953000" cy="4229100"/>
            </a:xfrm>
            <a:prstGeom prst="roundRect">
              <a:avLst>
                <a:gd name="adj" fmla="val 3604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36242" y="1673542"/>
              <a:ext cx="1628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写出 S₃ 的所有子群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000250"/>
              <a:ext cx="4495800" cy="361950"/>
            </a:xfrm>
            <a:prstGeom prst="roundRect">
              <a:avLst>
                <a:gd name="adj" fmla="val 26316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6435" y="2102168"/>
              <a:ext cx="3166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|S₃| = 6 ⇒ 子群元数只能是 1, 2, 3, 6</a:t>
              </a:r>
            </a:p>
          </p:txBody>
        </p:sp>
        <p:grpSp>
          <p:nvGrpSpPr>
            <p:cNvPr id="17" name="level-6"/>
            <p:cNvGrpSpPr/>
            <p:nvPr/>
          </p:nvGrpSpPr>
          <p:grpSpPr>
            <a:xfrm>
              <a:off x="762000" y="2476500"/>
              <a:ext cx="4495800" cy="495300"/>
              <a:chOff x="762000" y="2476500"/>
              <a:chExt cx="4495800" cy="4953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476500"/>
                <a:ext cx="4495800" cy="495300"/>
              </a:xfrm>
              <a:prstGeom prst="roundRect">
                <a:avLst>
                  <a:gd name="adj" fmla="val 2307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914400" y="2600325"/>
                <a:ext cx="609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80113" y="2658428"/>
                <a:ext cx="278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 元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669542" y="2635568"/>
                <a:ext cx="64602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S₃ 本身</a:t>
                </a:r>
              </a:p>
            </p:txBody>
          </p:sp>
        </p:grpSp>
        <p:grpSp>
          <p:nvGrpSpPr>
            <p:cNvPr id="24" name="level-3"/>
            <p:cNvGrpSpPr/>
            <p:nvPr/>
          </p:nvGrpSpPr>
          <p:grpSpPr>
            <a:xfrm>
              <a:off x="762000" y="3048000"/>
              <a:ext cx="4495800" cy="762000"/>
              <a:chOff x="762000" y="3048000"/>
              <a:chExt cx="44958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3048000"/>
                <a:ext cx="449580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14400" y="3171825"/>
                <a:ext cx="609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80113" y="3229928"/>
                <a:ext cx="278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 元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71066" y="3229928"/>
                <a:ext cx="226521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3 是质数 ⇒ 循环群，由 (1 2 3) 生成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676400" y="3429000"/>
                <a:ext cx="19050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786433" y="3499485"/>
                <a:ext cx="16849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{I, (1 2 3), (1 3 2)}</a:t>
                </a:r>
              </a:p>
            </p:txBody>
          </p:sp>
        </p:grpSp>
        <p:grpSp>
          <p:nvGrpSpPr>
            <p:cNvPr id="35" name="level-2"/>
            <p:cNvGrpSpPr/>
            <p:nvPr/>
          </p:nvGrpSpPr>
          <p:grpSpPr>
            <a:xfrm>
              <a:off x="762000" y="3886200"/>
              <a:ext cx="4495800" cy="762000"/>
              <a:chOff x="762000" y="3886200"/>
              <a:chExt cx="4495800" cy="7620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62000" y="3886200"/>
                <a:ext cx="449580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914400" y="4010025"/>
                <a:ext cx="609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80113" y="4068128"/>
                <a:ext cx="278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 元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671066" y="4068128"/>
                <a:ext cx="22722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是质数 ⇒ 循环群，由各个对换生成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676400" y="4267200"/>
                <a:ext cx="10668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798320" y="4337685"/>
                <a:ext cx="8229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{I, (1 2)}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2819400" y="4267200"/>
                <a:ext cx="10668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941320" y="4337685"/>
                <a:ext cx="8229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{I, (1 3)}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962400" y="4267200"/>
                <a:ext cx="1066800" cy="28575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084320" y="4337685"/>
                <a:ext cx="8229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{I, (2 3)}</a:t>
                </a:r>
              </a:p>
            </p:txBody>
          </p:sp>
        </p:grpSp>
        <p:grpSp>
          <p:nvGrpSpPr>
            <p:cNvPr id="40" name="level-1"/>
            <p:cNvGrpSpPr/>
            <p:nvPr/>
          </p:nvGrpSpPr>
          <p:grpSpPr>
            <a:xfrm>
              <a:off x="762000" y="4724400"/>
              <a:ext cx="4495800" cy="495300"/>
              <a:chOff x="762000" y="4724400"/>
              <a:chExt cx="4495800" cy="4953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62000" y="4724400"/>
                <a:ext cx="4495800" cy="495300"/>
              </a:xfrm>
              <a:prstGeom prst="roundRect">
                <a:avLst>
                  <a:gd name="adj" fmla="val 2307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14400" y="4848225"/>
                <a:ext cx="6096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80113" y="4906328"/>
                <a:ext cx="2781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 元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669542" y="4883468"/>
                <a:ext cx="282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{I}</a:t>
                </a: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755904" y="5394960"/>
              <a:ext cx="4245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 6 个子群：质数元数的子群，用单个元素去生成即可找全</a:t>
              </a:r>
            </a:p>
          </p:txBody>
        </p:sp>
      </p:grpSp>
      <p:grpSp>
        <p:nvGrpSpPr>
          <p:cNvPr id="47" name="order-four-intro"/>
          <p:cNvGrpSpPr/>
          <p:nvPr/>
        </p:nvGrpSpPr>
        <p:grpSpPr>
          <a:xfrm>
            <a:off x="5638800" y="1485900"/>
            <a:ext cx="6019800" cy="609600"/>
            <a:chOff x="5638800" y="1485900"/>
            <a:chExt cx="6019800" cy="609600"/>
          </a:xfrm>
        </p:grpSpPr>
        <p:sp>
          <p:nvSpPr>
            <p:cNvPr id="43" name="Rectangle 43"/>
            <p:cNvSpPr/>
            <p:nvPr/>
          </p:nvSpPr>
          <p:spPr>
            <a:xfrm>
              <a:off x="5638800" y="1485900"/>
              <a:ext cx="60198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791200" y="16573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32932" y="17183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55842" y="1711642"/>
              <a:ext cx="4749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构造 4 元群：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非单位元的周期整除 4 且 ≠ 1，只能是 2 或 4</a:t>
              </a:r>
            </a:p>
          </p:txBody>
        </p:sp>
      </p:grpSp>
      <p:grpSp>
        <p:nvGrpSpPr>
          <p:cNvPr id="87" name="cyclic-four"/>
          <p:cNvGrpSpPr/>
          <p:nvPr/>
        </p:nvGrpSpPr>
        <p:grpSpPr>
          <a:xfrm>
            <a:off x="5638800" y="2209800"/>
            <a:ext cx="2933700" cy="2819400"/>
            <a:chOff x="5638800" y="2209800"/>
            <a:chExt cx="2933700" cy="2819400"/>
          </a:xfrm>
        </p:grpSpPr>
        <p:sp>
          <p:nvSpPr>
            <p:cNvPr id="48" name="Rectangle 48"/>
            <p:cNvSpPr/>
            <p:nvPr/>
          </p:nvSpPr>
          <p:spPr>
            <a:xfrm>
              <a:off x="5638800" y="2209800"/>
              <a:ext cx="2933700" cy="2819400"/>
            </a:xfrm>
            <a:prstGeom prst="roundRect">
              <a:avLst>
                <a:gd name="adj" fmla="val 540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23204" y="2346960"/>
              <a:ext cx="1813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(1) 有周期为 4 的元素 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23966" y="2572702"/>
              <a:ext cx="8283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 4 元循环群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67400" y="2819400"/>
              <a:ext cx="2476500" cy="381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67400" y="3200400"/>
              <a:ext cx="495300" cy="1524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62700" y="3200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48600" y="3581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353300" y="3962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58000" y="4343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5867400" y="32004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362700" y="28194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867400" y="2819400"/>
              <a:ext cx="2476500" cy="1905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6015662" y="2937510"/>
              <a:ext cx="2179975" cy="1758696"/>
              <a:chOff x="6015662" y="2937510"/>
              <a:chExt cx="2179975" cy="1758696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60623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·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5576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0529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501562" y="29375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a²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7996862" y="29375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a³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062308" y="3318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559829" y="3318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055129" y="3318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506005" y="3318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a²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8001305" y="3318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a³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062308" y="3699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559829" y="3699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010705" y="3699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a²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506005" y="3699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a³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045729" y="3699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6015662" y="40805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a²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6515405" y="4080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a²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010705" y="4080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a³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755042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804572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015662" y="44615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a³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515405" y="4461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a³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055129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7550429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8001305" y="446151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a²</a:t>
                </a:r>
              </a:p>
            </p:txBody>
          </p:sp>
        </p:grpSp>
        <p:sp>
          <p:nvSpPr>
            <p:cNvPr id="86" name="TextBox 86"/>
            <p:cNvSpPr txBox="1"/>
            <p:nvPr/>
          </p:nvSpPr>
          <p:spPr>
            <a:xfrm>
              <a:off x="5823966" y="4801552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aⁱaʲ = aⁱ⁺ʲ，指数满 4 减 4</a:t>
              </a:r>
            </a:p>
          </p:txBody>
        </p:sp>
      </p:grpSp>
      <p:grpSp>
        <p:nvGrpSpPr>
          <p:cNvPr id="127" name="klein-four"/>
          <p:cNvGrpSpPr/>
          <p:nvPr/>
        </p:nvGrpSpPr>
        <p:grpSpPr>
          <a:xfrm>
            <a:off x="8724900" y="2209800"/>
            <a:ext cx="2933700" cy="2819400"/>
            <a:chOff x="8724900" y="2209800"/>
            <a:chExt cx="2933700" cy="2819400"/>
          </a:xfrm>
        </p:grpSpPr>
        <p:sp>
          <p:nvSpPr>
            <p:cNvPr id="88" name="Rectangle 88"/>
            <p:cNvSpPr/>
            <p:nvPr/>
          </p:nvSpPr>
          <p:spPr>
            <a:xfrm>
              <a:off x="8724900" y="2209800"/>
              <a:ext cx="2933700" cy="2819400"/>
            </a:xfrm>
            <a:prstGeom prst="roundRect">
              <a:avLst>
                <a:gd name="adj" fmla="val 540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909304" y="2346960"/>
              <a:ext cx="20852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(2) 3 个非单位元周期都为 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910066" y="2572702"/>
              <a:ext cx="945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⇒ Klein 四元群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953500" y="2819400"/>
              <a:ext cx="2476500" cy="381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8953500" y="3200400"/>
              <a:ext cx="495300" cy="1524000"/>
            </a:xfrm>
            <a:prstGeom prst="rect">
              <a:avLst/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9448800" y="3200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944100" y="3581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439400" y="3962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934700" y="4343400"/>
              <a:ext cx="49530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7" name="Line 97"/>
            <p:cNvSpPr/>
            <p:nvPr/>
          </p:nvSpPr>
          <p:spPr>
            <a:xfrm>
              <a:off x="8953500" y="32004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9448800" y="281940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0"/>
                  </a:moveTo>
                  <a:lnTo>
                    <a:pt x="0" y="19050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8953500" y="2819400"/>
              <a:ext cx="2476500" cy="190500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9148408" y="2937510"/>
              <a:ext cx="2086684" cy="1758696"/>
              <a:chOff x="9148408" y="2937510"/>
              <a:chExt cx="2086684" cy="1758696"/>
            </a:xfrm>
          </p:grpSpPr>
          <p:sp>
            <p:nvSpPr>
              <p:cNvPr id="100" name="TextBox 100"/>
              <p:cNvSpPr txBox="1"/>
              <p:nvPr/>
            </p:nvSpPr>
            <p:spPr>
              <a:xfrm>
                <a:off x="91484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·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96437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102" name="TextBox 102"/>
              <p:cNvSpPr txBox="1"/>
              <p:nvPr/>
            </p:nvSpPr>
            <p:spPr>
              <a:xfrm>
                <a:off x="101390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106343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11129608" y="2937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05" name="TextBox 105"/>
              <p:cNvSpPr txBox="1"/>
              <p:nvPr/>
            </p:nvSpPr>
            <p:spPr>
              <a:xfrm>
                <a:off x="9148408" y="3318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106" name="TextBox 106"/>
              <p:cNvSpPr txBox="1"/>
              <p:nvPr/>
            </p:nvSpPr>
            <p:spPr>
              <a:xfrm>
                <a:off x="9645929" y="3318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10141229" y="3318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108" name="TextBox 108"/>
              <p:cNvSpPr txBox="1"/>
              <p:nvPr/>
            </p:nvSpPr>
            <p:spPr>
              <a:xfrm>
                <a:off x="10636529" y="3318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11131829" y="3318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10" name="TextBox 110"/>
              <p:cNvSpPr txBox="1"/>
              <p:nvPr/>
            </p:nvSpPr>
            <p:spPr>
              <a:xfrm>
                <a:off x="9148408" y="3699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111" name="TextBox 111"/>
              <p:cNvSpPr txBox="1"/>
              <p:nvPr/>
            </p:nvSpPr>
            <p:spPr>
              <a:xfrm>
                <a:off x="9645929" y="3699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112" name="TextBox 112"/>
              <p:cNvSpPr txBox="1"/>
              <p:nvPr/>
            </p:nvSpPr>
            <p:spPr>
              <a:xfrm>
                <a:off x="10141229" y="3699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0636529" y="3699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11131829" y="3699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115" name="TextBox 115"/>
              <p:cNvSpPr txBox="1"/>
              <p:nvPr/>
            </p:nvSpPr>
            <p:spPr>
              <a:xfrm>
                <a:off x="9148408" y="4080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116" name="TextBox 116"/>
              <p:cNvSpPr txBox="1"/>
              <p:nvPr/>
            </p:nvSpPr>
            <p:spPr>
              <a:xfrm>
                <a:off x="964592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1014122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1063652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11131829" y="4080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120" name="TextBox 120"/>
              <p:cNvSpPr txBox="1"/>
              <p:nvPr/>
            </p:nvSpPr>
            <p:spPr>
              <a:xfrm>
                <a:off x="9148408" y="44615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21" name="TextBox 121"/>
              <p:cNvSpPr txBox="1"/>
              <p:nvPr/>
            </p:nvSpPr>
            <p:spPr>
              <a:xfrm>
                <a:off x="9645929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c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10141229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b</a:t>
                </a: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10636529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a</a:t>
                </a:r>
              </a:p>
            </p:txBody>
          </p:sp>
          <p:sp>
            <p:nvSpPr>
              <p:cNvPr id="124" name="TextBox 124"/>
              <p:cNvSpPr txBox="1"/>
              <p:nvPr/>
            </p:nvSpPr>
            <p:spPr>
              <a:xfrm>
                <a:off x="11131829" y="446151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dk1"/>
                    </a:solidFill>
                    <a:latin typeface="Cambria Math"/>
                    <a:ea typeface="Cambria Math"/>
                    <a:cs typeface="Cambria Math"/>
                  </a:rPr>
                  <a:t>e</a:t>
                </a:r>
              </a:p>
            </p:txBody>
          </p:sp>
        </p:grpSp>
        <p:sp>
          <p:nvSpPr>
            <p:cNvPr id="126" name="TextBox 126"/>
            <p:cNvSpPr txBox="1"/>
            <p:nvPr/>
          </p:nvSpPr>
          <p:spPr>
            <a:xfrm>
              <a:off x="8910066" y="4801552"/>
              <a:ext cx="2470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每个元素自逆；ab = c，bc = a，ca = b</a:t>
              </a:r>
            </a:p>
          </p:txBody>
        </p:sp>
      </p:grpSp>
      <p:grpSp>
        <p:nvGrpSpPr>
          <p:cNvPr id="133" name="small-groups"/>
          <p:cNvGrpSpPr/>
          <p:nvPr/>
        </p:nvGrpSpPr>
        <p:grpSpPr>
          <a:xfrm>
            <a:off x="5638800" y="5143500"/>
            <a:ext cx="6019800" cy="571500"/>
            <a:chOff x="5638800" y="5143500"/>
            <a:chExt cx="6019800" cy="571500"/>
          </a:xfrm>
        </p:grpSpPr>
        <p:sp>
          <p:nvSpPr>
            <p:cNvPr id="128" name="Rectangle 128"/>
            <p:cNvSpPr/>
            <p:nvPr/>
          </p:nvSpPr>
          <p:spPr>
            <a:xfrm>
              <a:off x="5638800" y="5143500"/>
              <a:ext cx="6019800" cy="571500"/>
            </a:xfrm>
            <a:prstGeom prst="roundRect">
              <a:avLst>
                <a:gd name="adj" fmla="val 2333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1" name="Group 131"/>
            <p:cNvGrpSpPr/>
            <p:nvPr/>
          </p:nvGrpSpPr>
          <p:grpSpPr>
            <a:xfrm>
              <a:off x="5829300" y="5314952"/>
              <a:ext cx="228597" cy="228597"/>
              <a:chOff x="5829300" y="5314952"/>
              <a:chExt cx="228597" cy="228597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5829300" y="5314952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5981700" y="5391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C2410C"/>
                </a:solidFill>
              </a:ln>
            </p:spPr>
          </p:sp>
        </p:grpSp>
        <p:sp>
          <p:nvSpPr>
            <p:cNvPr id="132" name="TextBox 132"/>
            <p:cNvSpPr txBox="1"/>
            <p:nvPr/>
          </p:nvSpPr>
          <p:spPr>
            <a:xfrm>
              <a:off x="6203442" y="5350192"/>
              <a:ext cx="498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结论：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 n &lt; 6 时，n 元群都是交换群（6 元的 S₃ 不可交换）</a:t>
              </a:r>
            </a:p>
          </p:txBody>
        </p:sp>
      </p:grpSp>
      <p:grpSp>
        <p:nvGrpSpPr>
          <p:cNvPr id="142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134" name="Rectangle 13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140" name="Group 140"/>
            <p:cNvGrpSpPr/>
            <p:nvPr/>
          </p:nvGrpSpPr>
          <p:grpSpPr>
            <a:xfrm>
              <a:off x="762000" y="5991225"/>
              <a:ext cx="228600" cy="228600"/>
              <a:chOff x="762000" y="5991225"/>
              <a:chExt cx="228600" cy="228600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762000" y="614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50800"/>
                    </a:lnTo>
                    <a:cubicBezTo>
                      <a:pt x="76200" y="64828"/>
                      <a:pt x="64828" y="76200"/>
                      <a:pt x="50800" y="76200"/>
                    </a:cubicBezTo>
                    <a:lnTo>
                      <a:pt x="25400" y="76200"/>
                    </a:lnTo>
                    <a:cubicBezTo>
                      <a:pt x="11372" y="76200"/>
                      <a:pt x="0" y="64828"/>
                      <a:pt x="0" y="50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914400" y="61436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50800"/>
                    </a:lnTo>
                    <a:cubicBezTo>
                      <a:pt x="76200" y="64828"/>
                      <a:pt x="64828" y="76200"/>
                      <a:pt x="50800" y="76200"/>
                    </a:cubicBezTo>
                    <a:lnTo>
                      <a:pt x="25400" y="76200"/>
                    </a:lnTo>
                    <a:cubicBezTo>
                      <a:pt x="11372" y="76200"/>
                      <a:pt x="0" y="64828"/>
                      <a:pt x="0" y="50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838200" y="59912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lnTo>
                      <a:pt x="76200" y="50800"/>
                    </a:lnTo>
                    <a:cubicBezTo>
                      <a:pt x="76200" y="64828"/>
                      <a:pt x="64828" y="76200"/>
                      <a:pt x="50800" y="76200"/>
                    </a:cubicBezTo>
                    <a:lnTo>
                      <a:pt x="25400" y="76200"/>
                    </a:lnTo>
                    <a:cubicBezTo>
                      <a:pt x="11372" y="76200"/>
                      <a:pt x="0" y="64828"/>
                      <a:pt x="0" y="508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800100" y="6105525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381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39" name="Freeform 139"/>
              <p:cNvSpPr/>
              <p:nvPr/>
            </p:nvSpPr>
            <p:spPr>
              <a:xfrm>
                <a:off x="876300" y="60674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141" name="TextBox 141"/>
            <p:cNvSpPr txBox="1"/>
            <p:nvPr/>
          </p:nvSpPr>
          <p:spPr>
            <a:xfrm>
              <a:off x="1134618" y="6003608"/>
              <a:ext cx="89016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找子群：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先用拉格朗日定理列出可能的元数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，再逐个构造（质数元数的子群必是循环群）。</a:t>
              </a:r>
            </a:p>
          </p:txBody>
        </p:sp>
      </p:grpSp>
      <p:grpSp>
        <p:nvGrpSpPr>
          <p:cNvPr id="145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43" name="TextBox 143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843016" cy="960501"/>
            <a:chOff x="519684" y="361950"/>
            <a:chExt cx="5843016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3471" y="43243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习题精讲：拉格朗日定理的三种用法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ex-637"/>
          <p:cNvGrpSpPr/>
          <p:nvPr/>
        </p:nvGrpSpPr>
        <p:grpSpPr>
          <a:xfrm>
            <a:off x="533400" y="1485900"/>
            <a:ext cx="3581400" cy="4229100"/>
            <a:chOff x="533400" y="1485900"/>
            <a:chExt cx="35814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3581400" cy="42291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99666" y="17059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用法一：限制周期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7042" y="2025968"/>
              <a:ext cx="2374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元数为 pᵐ 的群必含 p 元子群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566" y="2286952"/>
              <a:ext cx="1042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 为质数，m ≥ 1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3425" y="25812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2051" y="26203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2604" y="2613660"/>
              <a:ext cx="2039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a ≠ 1，设 a 的周期为 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2838450"/>
              <a:ext cx="2971800" cy="28575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34366" y="2908935"/>
              <a:ext cx="200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拉格朗日：n | pᵐ，且 n ≠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2604" y="32042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n = pᵏ，1 ≤ k ≤ m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33425" y="34766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20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604" y="3509010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= 1：(a) 就是 p 元子群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3425" y="380047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2051" y="3839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4"/>
                <p:cNvSpPr txBox="1"/>
                <p:nvPr/>
              </p:nvSpPr>
              <p:spPr>
                <a:xfrm>
                  <a:off x="1022604" y="3776816"/>
                  <a:ext cx="1781907" cy="290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k &gt; 1：取 </a:t>
                  </a:r>
                  <a14:m>
                    <m:oMath xmlns:a="http://schemas.openxmlformats.org/drawingml/2006/main" xmlns:m="http://schemas.openxmlformats.org/officeDocument/2006/math">
                      <m:r>
                        <a:rPr lang="zh-CN" sz="1200" dirty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200" dirty="0">
                              <a:solidFill>
                                <a:schemeClr val="accen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sSup>
                            <m:e>
                              <m:r>
                                <a:rPr lang="zh-CN" sz="1200" dirty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chemeClr val="accent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sup>
                      </m:sSup>
                    </m:oMath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5"/>
                <p:cNvSpPr txBox="1"/>
                <p:nvPr/>
              </p:nvSpPr>
              <p:spPr>
                <a:xfrm>
                  <a:off x="1022604" y="4024466"/>
                  <a:ext cx="1918411" cy="290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14:m>
                    <m:oMath xmlns:a="http://schemas.openxmlformats.org/drawingml/2006/main" xmlns:m="http://schemas.openxmlformats.org/officeDocument/2006/math">
                      <m:sSup>
                        <m:e>
                          <m: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20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2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sSup>
                            <m:e>
                              <m:r>
                                <a:rPr lang="zh-CN" sz="12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a:rPr lang="zh-CN" sz="120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chemeClr val="dk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a14:m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，且 b ≠ 1</a:t>
                  </a:r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1023366" y="43062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因为 0 &lt; pᵏ⁻¹ &lt; pᵏ = n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3425" y="45815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2051" y="4620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604" y="461391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的周期整除 p 且 ≠ 1 ⇒ 周期为 p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23900" y="4914900"/>
              <a:ext cx="3200400" cy="647700"/>
            </a:xfrm>
            <a:prstGeom prst="roundRect">
              <a:avLst>
                <a:gd name="adj" fmla="val 17647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04285" y="5035868"/>
              <a:ext cx="2039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(b) 是元数为 p 的子群 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68181" y="5315902"/>
              <a:ext cx="191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定理 6.3.5：bᵖ = 1 ⇒ 周期 | p</a:t>
              </a:r>
            </a:p>
          </p:txBody>
        </p:sp>
      </p:grpSp>
      <p:grpSp>
        <p:nvGrpSpPr>
          <p:cNvPr id="54" name="ex-fourteen"/>
          <p:cNvGrpSpPr/>
          <p:nvPr/>
        </p:nvGrpSpPr>
        <p:grpSpPr>
          <a:xfrm>
            <a:off x="4305300" y="1485900"/>
            <a:ext cx="3581400" cy="4229100"/>
            <a:chOff x="4305300" y="1485900"/>
            <a:chExt cx="3581400" cy="4229100"/>
          </a:xfrm>
        </p:grpSpPr>
        <p:sp>
          <p:nvSpPr>
            <p:cNvPr id="34" name="Rectangle 34"/>
            <p:cNvSpPr/>
            <p:nvPr/>
          </p:nvSpPr>
          <p:spPr>
            <a:xfrm>
              <a:off x="4305300" y="1485900"/>
              <a:ext cx="3581400" cy="42291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495800" y="16192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32960" y="1680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4366" y="17059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用法二：排除子群元数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88942" y="2025968"/>
              <a:ext cx="1772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 元群必有 7 元子群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90466" y="228695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分“循环 / 不循环”两种情形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495800" y="2533650"/>
              <a:ext cx="3200400" cy="57150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642104" y="2632710"/>
              <a:ext cx="1923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1：G = (a) 是循环群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42104" y="28613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(a²) 的元数为 14 / 2 = 7 ✓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495800" y="3200400"/>
              <a:ext cx="3200400" cy="2362200"/>
            </a:xfrm>
            <a:prstGeom prst="roundRect">
              <a:avLst>
                <a:gd name="adj" fmla="val 483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642104" y="3299460"/>
              <a:ext cx="16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情形 2：G 不是循环群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42104" y="354711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没有周期为 14 的元素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642104" y="3794760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反证：若无 7 元子群，就无周期 7 的元素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610100" y="4019550"/>
              <a:ext cx="2971800" cy="28575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942942" y="4090035"/>
              <a:ext cx="2306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拉格朗日：周期 | 14 ⇒ 只能是 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42104" y="4404360"/>
              <a:ext cx="1925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⇒ G 可交换（习题 6.3-4）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42104" y="465201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取不同的非单位元 a, b，则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42104" y="4880610"/>
              <a:ext cx="19264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{1, a, b, ab} 是 4 元子群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610100" y="5124450"/>
              <a:ext cx="2971800" cy="323850"/>
            </a:xfrm>
            <a:prstGeom prst="roundRect">
              <a:avLst>
                <a:gd name="adj" fmla="val 29412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913662" y="5213985"/>
              <a:ext cx="2364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但 4 ∤ 14，矛盾 ⇒ 有 7 元子群 ∎</a:t>
              </a:r>
            </a:p>
          </p:txBody>
        </p:sp>
      </p:grpSp>
      <p:grpSp>
        <p:nvGrpSpPr>
          <p:cNvPr id="79" name="ex-product"/>
          <p:cNvGrpSpPr/>
          <p:nvPr/>
        </p:nvGrpSpPr>
        <p:grpSpPr>
          <a:xfrm>
            <a:off x="8077200" y="1485900"/>
            <a:ext cx="3581400" cy="4229100"/>
            <a:chOff x="8077200" y="1485900"/>
            <a:chExt cx="3581400" cy="4229100"/>
          </a:xfrm>
        </p:grpSpPr>
        <p:sp>
          <p:nvSpPr>
            <p:cNvPr id="55" name="Rectangle 55"/>
            <p:cNvSpPr/>
            <p:nvPr/>
          </p:nvSpPr>
          <p:spPr>
            <a:xfrm>
              <a:off x="8077200" y="1485900"/>
              <a:ext cx="3581400" cy="4229100"/>
            </a:xfrm>
            <a:prstGeom prst="roundRect">
              <a:avLst>
                <a:gd name="adj" fmla="val 4255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267700" y="1619250"/>
              <a:ext cx="4572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09432" y="168021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33866" y="170592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用法三：构造小子群推矛盾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260842" y="2025968"/>
              <a:ext cx="2011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元素之积 ≠ 1 ⇒ 偶数元群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62366" y="2286952"/>
              <a:ext cx="2519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 是有限交换群，所有元素之积不等于 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1604" y="2575560"/>
              <a:ext cx="2486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反证：设 G 有奇数个元素 2n + 1，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61604" y="2804160"/>
              <a:ext cx="18388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ambria Math"/>
                  <a:ea typeface="Cambria Math"/>
                  <a:cs typeface="Cambria Math"/>
                </a:rPr>
                <a:t>G = {1, a₁, a₂, …, a₂ₙ}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8277225" y="30956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335851" y="3134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66404" y="3128010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非单位元 a 都满足 a ≠ a⁻¹：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496300" y="3352800"/>
              <a:ext cx="297180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42604" y="343281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若 a = a⁻¹，{1, a} 是 2 元子群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42604" y="3661410"/>
              <a:ext cx="2025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拉格朗日：2 | 2n + 1，矛盾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8277225" y="39719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35851" y="4010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566404" y="400431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逆元唯一 ⇒ a₁, …, a₂ₙ 两两配对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567166" y="4230052"/>
              <a:ext cx="2470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每对是“一个元素 + 它的逆元”，共 n 对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8277225" y="4467225"/>
              <a:ext cx="209550" cy="209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335851" y="45062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566404" y="44996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交换群可以随意重排乘积：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product-formula"/>
                <p:cNvSpPr txBox="1">
                  <a:spLocks noGrp="1"/>
                </p:cNvSpPr>
                <p:nvPr/>
              </p:nvSpPr>
              <p:spPr>
                <a:xfrm>
                  <a:off x="8267700" y="4705350"/>
                  <a:ext cx="3200400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∏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2F4B9A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2F4B9A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sub>
                            </m:sSub>
                            <m:sSub>
                              <m:e>
                                <m:r>
                                  <a:rPr lang="zh-CN" sz="1500" dirty="0">
                                    <a:solidFill>
                                      <a:srgbClr val="2F4B9A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2F4B9A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2F4B9A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sub>
                                </m:sSub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2F4B9A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2F4B9A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7" name="Rectangle 77"/>
            <p:cNvSpPr/>
            <p:nvPr/>
          </p:nvSpPr>
          <p:spPr>
            <a:xfrm>
              <a:off x="8267700" y="5295900"/>
              <a:ext cx="3200400" cy="304800"/>
            </a:xfrm>
            <a:prstGeom prst="roundRect">
              <a:avLst>
                <a:gd name="adj" fmla="val 3125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646075" y="5375910"/>
              <a:ext cx="2443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与“积 ≠ 1”矛盾 ⇒ G 为偶数元群 ∎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0" name="Rectangle 80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58460" y="5993409"/>
              <a:ext cx="229599" cy="229956"/>
              <a:chOff x="758460" y="5993409"/>
              <a:chExt cx="229599" cy="22995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58460" y="5993409"/>
                <a:ext cx="229599" cy="229956"/>
              </a:xfrm>
              <a:custGeom>
                <a:avLst/>
                <a:gdLst/>
                <a:ahLst/>
                <a:cxnLst/>
                <a:rect l="l" t="t" r="r" b="b"/>
                <a:pathLst>
                  <a:path w="229599" h="229956">
                    <a:moveTo>
                      <a:pt x="92440" y="356"/>
                    </a:moveTo>
                    <a:cubicBezTo>
                      <a:pt x="37449" y="13104"/>
                      <a:pt x="0" y="64088"/>
                      <a:pt x="4282" y="120374"/>
                    </a:cubicBezTo>
                    <a:cubicBezTo>
                      <a:pt x="8564" y="176660"/>
                      <a:pt x="53295" y="221391"/>
                      <a:pt x="109582" y="225673"/>
                    </a:cubicBezTo>
                    <a:cubicBezTo>
                      <a:pt x="165868" y="229956"/>
                      <a:pt x="216851" y="192507"/>
                      <a:pt x="229599" y="137516"/>
                    </a:cubicBezTo>
                    <a:cubicBezTo>
                      <a:pt x="229599" y="130502"/>
                      <a:pt x="223913" y="124816"/>
                      <a:pt x="216899" y="124816"/>
                    </a:cubicBezTo>
                    <a:lnTo>
                      <a:pt x="130540" y="124816"/>
                    </a:lnTo>
                    <a:cubicBezTo>
                      <a:pt x="116512" y="124816"/>
                      <a:pt x="105140" y="113444"/>
                      <a:pt x="105140" y="99416"/>
                    </a:cubicBezTo>
                    <a:lnTo>
                      <a:pt x="105140" y="10516"/>
                    </a:lnTo>
                    <a:cubicBezTo>
                      <a:pt x="104821" y="7477"/>
                      <a:pt x="103299" y="4692"/>
                      <a:pt x="100912" y="2783"/>
                    </a:cubicBezTo>
                    <a:cubicBezTo>
                      <a:pt x="98526" y="874"/>
                      <a:pt x="95475" y="0"/>
                      <a:pt x="92440" y="356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914400" y="59975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cubicBezTo>
                      <a:pt x="32662" y="11501"/>
                      <a:pt x="58349" y="37188"/>
                      <a:pt x="69850" y="69850"/>
                    </a:cubicBezTo>
                    <a:lnTo>
                      <a:pt x="12700" y="69850"/>
                    </a:lnTo>
                    <a:cubicBezTo>
                      <a:pt x="5686" y="69850"/>
                      <a:pt x="0" y="64164"/>
                      <a:pt x="0" y="5715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134618" y="6003608"/>
              <a:ext cx="84444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拉格朗日定理把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周期、子群元数都限制在 |G| 的因子里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，再配合分情况讨论或反证法。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116068" cy="960501"/>
            <a:chOff x="519684" y="361950"/>
            <a:chExt cx="5116068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3471" y="43243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习题精讲：正规子群的四种证法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ex-6310"/>
          <p:cNvGrpSpPr/>
          <p:nvPr/>
        </p:nvGrpSpPr>
        <p:grpSpPr>
          <a:xfrm>
            <a:off x="533400" y="1485900"/>
            <a:ext cx="5486400" cy="2057400"/>
            <a:chOff x="533400" y="1485900"/>
            <a:chExt cx="5486400" cy="20574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2057400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2442" y="1680210"/>
              <a:ext cx="94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6.3-10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74342" y="1673542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指数为 2 的子群必是正规子群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23900" y="2000250"/>
              <a:ext cx="1905000" cy="323850"/>
            </a:xfrm>
            <a:prstGeom prst="roundRect">
              <a:avLst>
                <a:gd name="adj" fmla="val 29412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21018" y="20897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2000250"/>
              <a:ext cx="3162300" cy="323850"/>
            </a:xfrm>
            <a:prstGeom prst="roundRect">
              <a:avLst>
                <a:gd name="adj" fmla="val 29412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90211" y="2089785"/>
              <a:ext cx="19158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 − H = aH = Ha（a ∉ H）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804" y="2461260"/>
              <a:ext cx="42887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指数 2：右陪集只有 H 与 aH，左陪集只有 H 与 Ha（a ∉ H）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7804" y="2708910"/>
              <a:ext cx="1520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∈ H：aH = Ha = 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804" y="2956560"/>
              <a:ext cx="3473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∉ H：aH 与 Ha 都是 G 去掉 H 后剩下的 G − H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181350"/>
              <a:ext cx="5105400" cy="28575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727892" y="3251835"/>
              <a:ext cx="3097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⇒ 对任意 a ∈ G，aH = Ha，H 是正规子群 ∎</a:t>
              </a:r>
            </a:p>
          </p:txBody>
        </p:sp>
      </p:grpSp>
      <p:grpSp>
        <p:nvGrpSpPr>
          <p:cNvPr id="31" name="ex-638"/>
          <p:cNvGrpSpPr/>
          <p:nvPr/>
        </p:nvGrpSpPr>
        <p:grpSpPr>
          <a:xfrm>
            <a:off x="6172200" y="1485900"/>
            <a:ext cx="5486400" cy="2057400"/>
            <a:chOff x="6172200" y="1485900"/>
            <a:chExt cx="5486400" cy="2057400"/>
          </a:xfrm>
        </p:grpSpPr>
        <p:sp>
          <p:nvSpPr>
            <p:cNvPr id="21" name="Rectangle 21"/>
            <p:cNvSpPr/>
            <p:nvPr/>
          </p:nvSpPr>
          <p:spPr>
            <a:xfrm>
              <a:off x="6172200" y="1485900"/>
              <a:ext cx="5486400" cy="2057400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362700" y="16192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69788" y="16802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36942" y="16735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子群、正规子群的交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6604" y="2042160"/>
              <a:ext cx="2487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(1) 任意多个子群的交 H 仍是子群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6604" y="2289810"/>
              <a:ext cx="3925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∈ H 非空；a, b ∈ H ⇒ ab⁻¹ 属于每个子群 ⇒ ab⁻¹ ∈ 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6604" y="2632710"/>
              <a:ext cx="3133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(2) 任意多个正规子群的交 N 仍是正规子群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56604" y="2880360"/>
              <a:ext cx="288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g ∈ G，n ∈ N：n 属于每个正规子群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362700" y="3181350"/>
              <a:ext cx="5105400" cy="285750"/>
            </a:xfrm>
            <a:prstGeom prst="roundRect">
              <a:avLst>
                <a:gd name="adj" fmla="val 33333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717" y="3251835"/>
              <a:ext cx="40153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⇒ gng⁻¹ 属于每个正规子群 ⇒ gng⁻¹ ∈ N，gNg⁻¹ ⊆ N ∎</a:t>
              </a:r>
            </a:p>
          </p:txBody>
        </p:sp>
      </p:grpSp>
      <p:grpSp>
        <p:nvGrpSpPr>
          <p:cNvPr id="42" name="ex-639"/>
          <p:cNvGrpSpPr/>
          <p:nvPr/>
        </p:nvGrpSpPr>
        <p:grpSpPr>
          <a:xfrm>
            <a:off x="533400" y="3657600"/>
            <a:ext cx="5486400" cy="2057400"/>
            <a:chOff x="533400" y="3657600"/>
            <a:chExt cx="5486400" cy="2057400"/>
          </a:xfrm>
        </p:grpSpPr>
        <p:sp>
          <p:nvSpPr>
            <p:cNvPr id="32" name="Rectangle 32"/>
            <p:cNvSpPr/>
            <p:nvPr/>
          </p:nvSpPr>
          <p:spPr>
            <a:xfrm>
              <a:off x="533400" y="3657600"/>
              <a:ext cx="5486400" cy="2057400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23900" y="3790950"/>
              <a:ext cx="10668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30988" y="38519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6.3-9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98142" y="3845242"/>
              <a:ext cx="1607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 正规 ⇒ HN 是子群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7804" y="4194810"/>
              <a:ext cx="37155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 是子群，N 是正规子群，HN = {hn | h ∈ H，n ∈ N}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7804" y="4442460"/>
              <a:ext cx="3308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= 1·1 ∈ HN；任取 a = h₁n₁，b = h₂n₂ ∈ HN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4686300"/>
              <a:ext cx="5105400" cy="342900"/>
            </a:xfrm>
            <a:prstGeom prst="roundRect">
              <a:avLst>
                <a:gd name="adj" fmla="val 27778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08844" y="4778692"/>
              <a:ext cx="4135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2410C"/>
                  </a:solidFill>
                  <a:latin typeface="Cambria Math"/>
                  <a:ea typeface="Cambria Math"/>
                  <a:cs typeface="Cambria Math"/>
                </a:rPr>
                <a:t>ab⁻¹ = h₁n₁n₂⁻¹h₂⁻¹ = h₁(nh₂⁻¹) = h₁h₂⁻¹n′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7804" y="5147310"/>
              <a:ext cx="4037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其中 n = n₁n₂⁻¹ ∈ N；N 正规 ⇒ nh₂⁻¹ ∈ Nh₂⁻¹ = h₂⁻¹N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804" y="5414010"/>
              <a:ext cx="3424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故 nh₂⁻¹ = h₂⁻¹n′，ab⁻¹ ∈ HN，HN 是子群 ∎</a:t>
              </a:r>
            </a:p>
          </p:txBody>
        </p:sp>
      </p:grpSp>
      <p:grpSp>
        <p:nvGrpSpPr>
          <p:cNvPr id="53" name="ex-coset-product"/>
          <p:cNvGrpSpPr/>
          <p:nvPr/>
        </p:nvGrpSpPr>
        <p:grpSpPr>
          <a:xfrm>
            <a:off x="6172200" y="3657600"/>
            <a:ext cx="5486400" cy="2057400"/>
            <a:chOff x="6172200" y="3657600"/>
            <a:chExt cx="5486400" cy="2057400"/>
          </a:xfrm>
        </p:grpSpPr>
        <p:sp>
          <p:nvSpPr>
            <p:cNvPr id="43" name="Rectangle 43"/>
            <p:cNvSpPr/>
            <p:nvPr/>
          </p:nvSpPr>
          <p:spPr>
            <a:xfrm>
              <a:off x="6172200" y="3657600"/>
              <a:ext cx="5486400" cy="2057400"/>
            </a:xfrm>
            <a:prstGeom prst="roundRect">
              <a:avLst>
                <a:gd name="adj" fmla="val 740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62700" y="379095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99860" y="38519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79742" y="3845242"/>
              <a:ext cx="2597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右陪集之积仍是右陪集 ⇒ H 正规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56604" y="4194810"/>
              <a:ext cx="1600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先证 aH · bH = abH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56604" y="4442460"/>
              <a:ext cx="3444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aH · bH = cH；ab ∈ aH · bH = cH ⇒ cH = abH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56604" y="4766310"/>
              <a:ext cx="1307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再证 gHg⁻¹ ⊆ 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56604" y="5013960"/>
              <a:ext cx="2989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任取 g ∈ G，h ∈ H：gh ∈ gH，g⁻¹ ∈ g⁻¹H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362700" y="5257800"/>
              <a:ext cx="5105400" cy="323850"/>
            </a:xfrm>
            <a:prstGeom prst="roundRect">
              <a:avLst>
                <a:gd name="adj" fmla="val 29412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39995" y="5347335"/>
              <a:ext cx="3550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ghg⁻¹ ∈ gH · g⁻¹H = gg⁻¹H = H ⇒ gHg⁻¹ ⊆ H ∎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54" name="Rectangle 54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34618" y="6003608"/>
              <a:ext cx="80508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证正规子群：要么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直接证 gH = Hg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，要么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证 gHg⁻¹ ⊆ H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——四道题都落在这两条上。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5479542" cy="960501"/>
            <a:chOff x="519684" y="361950"/>
            <a:chExt cx="5479542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21336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3471" y="432435"/>
              <a:ext cx="215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习题精讲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选择题精讲：每个选项都要有依据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mc-1"/>
          <p:cNvGrpSpPr/>
          <p:nvPr/>
        </p:nvGrpSpPr>
        <p:grpSpPr>
          <a:xfrm>
            <a:off x="533400" y="1485900"/>
            <a:ext cx="5486400" cy="1714500"/>
            <a:chOff x="533400" y="1485900"/>
            <a:chExt cx="5486400" cy="1714500"/>
          </a:xfrm>
        </p:grpSpPr>
        <p:sp>
          <p:nvSpPr>
            <p:cNvPr id="7" name="Rectangle 7"/>
            <p:cNvSpPr/>
            <p:nvPr/>
          </p:nvSpPr>
          <p:spPr>
            <a:xfrm>
              <a:off x="533400" y="1485900"/>
              <a:ext cx="5486400" cy="1714500"/>
            </a:xfrm>
            <a:prstGeom prst="roundRect">
              <a:avLst>
                <a:gd name="adj" fmla="val 8889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6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66266" y="16868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考点：质数阶群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7414" y="16868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600700" y="16002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90795" y="16640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7804" y="2023110"/>
              <a:ext cx="4203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 元群 G（p 为质数），H 是 G 的子群，下列说法错误的是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804" y="2270760"/>
              <a:ext cx="1620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H 一定是正规子群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70504" y="2270760"/>
              <a:ext cx="22671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(B) G 一定存在周期 &lt; p 的元素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804" y="2499360"/>
              <a:ext cx="1978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(C) H 一定是 G 的平凡子群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7804" y="2727960"/>
              <a:ext cx="329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(D) 若 a ∈ H，则 a 在 H 中的周期一定等于 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566" y="2972752"/>
              <a:ext cx="4689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子群只能是 {1} 或 G（平凡且正规）；单位元周期 1 &lt; p；a = 1 时周期为 1</a:t>
              </a:r>
            </a:p>
          </p:txBody>
        </p:sp>
      </p:grpSp>
      <p:grpSp>
        <p:nvGrpSpPr>
          <p:cNvPr id="34" name="mc-2"/>
          <p:cNvGrpSpPr/>
          <p:nvPr/>
        </p:nvGrpSpPr>
        <p:grpSpPr>
          <a:xfrm>
            <a:off x="533400" y="3257550"/>
            <a:ext cx="5486400" cy="1200150"/>
            <a:chOff x="533400" y="3257550"/>
            <a:chExt cx="5486400" cy="1200150"/>
          </a:xfrm>
        </p:grpSpPr>
        <p:sp>
          <p:nvSpPr>
            <p:cNvPr id="21" name="Rectangle 21"/>
            <p:cNvSpPr/>
            <p:nvPr/>
          </p:nvSpPr>
          <p:spPr>
            <a:xfrm>
              <a:off x="533400" y="3257550"/>
              <a:ext cx="5486400" cy="1200150"/>
            </a:xfrm>
            <a:prstGeom prst="roundRect">
              <a:avLst>
                <a:gd name="adj" fmla="val 1269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3900" y="33909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643" y="34518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66266" y="34585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考点：拉格朗日定理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7414" y="3458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600700" y="33718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6907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7804" y="3775710"/>
              <a:ext cx="3255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是 5 元群，则 G 中有（ ）个非平凡子群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7804" y="402336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(A) 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0804" y="40233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(B)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03804" y="40233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(C) 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46804" y="40233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(D) 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566" y="42491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是质数 ⇒ 子群元数只能是 1 或 5，只有平凡子群</a:t>
              </a:r>
            </a:p>
          </p:txBody>
        </p:sp>
      </p:grpSp>
      <p:grpSp>
        <p:nvGrpSpPr>
          <p:cNvPr id="48" name="mc-3"/>
          <p:cNvGrpSpPr/>
          <p:nvPr/>
        </p:nvGrpSpPr>
        <p:grpSpPr>
          <a:xfrm>
            <a:off x="533400" y="4514850"/>
            <a:ext cx="5486400" cy="1200150"/>
            <a:chOff x="533400" y="4514850"/>
            <a:chExt cx="5486400" cy="1200150"/>
          </a:xfrm>
        </p:grpSpPr>
        <p:sp>
          <p:nvSpPr>
            <p:cNvPr id="35" name="Rectangle 35"/>
            <p:cNvSpPr/>
            <p:nvPr/>
          </p:nvSpPr>
          <p:spPr>
            <a:xfrm>
              <a:off x="533400" y="4514850"/>
              <a:ext cx="5486400" cy="1200150"/>
            </a:xfrm>
            <a:prstGeom prst="roundRect">
              <a:avLst>
                <a:gd name="adj" fmla="val 12698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3900" y="464820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1643" y="470916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 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6266" y="47158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考点：小阶群可交换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17414" y="47158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600700" y="462915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90795" y="46929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7804" y="5033010"/>
              <a:ext cx="3006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 G 不是交换群，G 的元素数可能是（ 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7804" y="52806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60804" y="52806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(B) 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03804" y="52806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(C) 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146804" y="528066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(D) 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8566" y="5506402"/>
              <a:ext cx="25803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 &lt; 6 的群都可交换；S₃ 是 6 元非交换群</a:t>
              </a:r>
            </a:p>
          </p:txBody>
        </p:sp>
      </p:grpSp>
      <p:grpSp>
        <p:nvGrpSpPr>
          <p:cNvPr id="71" name="mc-4"/>
          <p:cNvGrpSpPr/>
          <p:nvPr/>
        </p:nvGrpSpPr>
        <p:grpSpPr>
          <a:xfrm>
            <a:off x="6172200" y="1485900"/>
            <a:ext cx="5486400" cy="2644711"/>
            <a:chOff x="6172200" y="1485900"/>
            <a:chExt cx="5486400" cy="2644711"/>
          </a:xfrm>
        </p:grpSpPr>
        <p:sp>
          <p:nvSpPr>
            <p:cNvPr id="49" name="Rectangle 49"/>
            <p:cNvSpPr/>
            <p:nvPr/>
          </p:nvSpPr>
          <p:spPr>
            <a:xfrm>
              <a:off x="6172200" y="1485900"/>
              <a:ext cx="5486400" cy="2628900"/>
            </a:xfrm>
            <a:prstGeom prst="roundRect">
              <a:avLst>
                <a:gd name="adj" fmla="val 5797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362700" y="16192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70443" y="16802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 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05066" y="168687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考点：合同的判定、奇偶置换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56214" y="16868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1239500" y="16002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329595" y="16640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56604" y="2023110"/>
              <a:ext cx="4381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S₄ 中 H 为全体偶置换构成的子群（A₄），下列说法正确的是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362700" y="2286000"/>
              <a:ext cx="51054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70904" y="2375535"/>
              <a:ext cx="30271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(A) (1 2 3 4) 与 (2 4 3) 合同（左模 H）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87185" y="2391728"/>
              <a:ext cx="15100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ab⁻¹ = (1 2 4 3) 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362700" y="2647950"/>
              <a:ext cx="51054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70904" y="2737485"/>
              <a:ext cx="2619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(B) σ = (1 2 3)(4 1 3 2)，则 σ ∈ 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384387" y="2753678"/>
              <a:ext cx="1012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σ = (2 4) 奇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362700" y="3009900"/>
              <a:ext cx="5105400" cy="323850"/>
            </a:xfrm>
            <a:prstGeom prst="roundRect">
              <a:avLst>
                <a:gd name="adj" fmla="val 23529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70904" y="3099435"/>
              <a:ext cx="32488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(C) (4 2 3) 与 (2 4)(1 3) 合同（右模 H）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013341" y="3115628"/>
              <a:ext cx="13838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 b⁻¹a = (1 3 2) 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362700" y="3371850"/>
              <a:ext cx="5105400" cy="323850"/>
            </a:xfrm>
            <a:prstGeom prst="roundRect">
              <a:avLst>
                <a:gd name="adj" fmla="val 235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70904" y="3461385"/>
              <a:ext cx="2062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(D) 对任意 σ ∈ S₄，σH ≠ Hσ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953057" y="3477578"/>
              <a:ext cx="1444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 指数为 2 ⇒ σH = Hσ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57366" y="3772852"/>
              <a:ext cx="30872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左模：a ≡ b ⇔ ab⁻¹ ∈ H；右模：a ≡ b ⇔ b⁻¹a ∈ H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57366" y="3925252"/>
              <a:ext cx="4167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(C) 中 b⁻¹ = b，b⁻¹a = (2 4)(1 3)(4 2 3)，置换乘积从右往左算</a:t>
              </a:r>
            </a:p>
          </p:txBody>
        </p:sp>
      </p:grpSp>
      <p:grpSp>
        <p:nvGrpSpPr>
          <p:cNvPr id="86" name="mc-5"/>
          <p:cNvGrpSpPr/>
          <p:nvPr/>
        </p:nvGrpSpPr>
        <p:grpSpPr>
          <a:xfrm>
            <a:off x="6172200" y="4191000"/>
            <a:ext cx="5486400" cy="1524000"/>
            <a:chOff x="6172200" y="4191000"/>
            <a:chExt cx="5486400" cy="1524000"/>
          </a:xfrm>
        </p:grpSpPr>
        <p:sp>
          <p:nvSpPr>
            <p:cNvPr id="72" name="Rectangle 72"/>
            <p:cNvSpPr/>
            <p:nvPr/>
          </p:nvSpPr>
          <p:spPr>
            <a:xfrm>
              <a:off x="6172200" y="4191000"/>
              <a:ext cx="5486400" cy="1524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14288">
              <a:solidFill>
                <a:schemeClr val="accent6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362700" y="4324350"/>
              <a:ext cx="533400" cy="26670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70443" y="438531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 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05066" y="43919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考点：拉格朗日定理用两次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856214" y="43919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11239500" y="4305300"/>
              <a:ext cx="304800" cy="304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329595" y="43691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56604" y="4728210"/>
              <a:ext cx="4993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H、K 是 G 的子群，|H| = r，|K| = s，r 与 s 互质，则 |H ∩ K| =（ 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356604" y="4994910"/>
              <a:ext cx="460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(A) 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499604" y="4994910"/>
              <a:ext cx="4274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(B) r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642604" y="4994910"/>
              <a:ext cx="4274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(C) s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785604" y="4994910"/>
              <a:ext cx="514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(D) rs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357366" y="5258752"/>
              <a:ext cx="2148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 ∩ K 是 H 的子群，也是 K 的子群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57366" y="5468302"/>
              <a:ext cx="3230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⇒ |H ∩ K| 同时整除 r 与 s，而 r、s 互质，只能是 1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87" name="Rectangle 87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68350" y="6010275"/>
              <a:ext cx="209550" cy="184149"/>
              <a:chOff x="768350" y="6010275"/>
              <a:chExt cx="209550" cy="184149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68350" y="60102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768350" y="6086475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768350" y="6162674"/>
                <a:ext cx="508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31750">
                    <a:moveTo>
                      <a:pt x="0" y="12700"/>
                    </a:moveTo>
                    <a:lnTo>
                      <a:pt x="19050" y="31750"/>
                    </a:ln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63600" y="60293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63600" y="6105525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63600" y="6181724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134618" y="6003608"/>
              <a:ext cx="79830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选择题依据几乎都是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拉格朗日定理及推论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；合同判定化为 ab⁻¹ ∈ H 或 b⁻¹a ∈ H。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97" name="TextBox 97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2935224" cy="960501"/>
            <a:chOff x="519684" y="361950"/>
            <a:chExt cx="2935224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9812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28043" y="432435"/>
              <a:ext cx="199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易错点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易错点与解题模板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pitfalls"/>
          <p:cNvGrpSpPr/>
          <p:nvPr/>
        </p:nvGrpSpPr>
        <p:grpSpPr>
          <a:xfrm>
            <a:off x="533400" y="1485900"/>
            <a:ext cx="5486400" cy="4171950"/>
            <a:chOff x="533400" y="1485900"/>
            <a:chExt cx="5486400" cy="4171950"/>
          </a:xfrm>
        </p:grpSpPr>
        <p:grpSp>
          <p:nvGrpSpPr>
            <p:cNvPr id="12" name="pit-1"/>
            <p:cNvGrpSpPr/>
            <p:nvPr/>
          </p:nvGrpSpPr>
          <p:grpSpPr>
            <a:xfrm>
              <a:off x="533400" y="1485900"/>
              <a:ext cx="5486400" cy="647700"/>
              <a:chOff x="533400" y="1485900"/>
              <a:chExt cx="5486400" cy="647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485900"/>
                <a:ext cx="5486400" cy="647700"/>
              </a:xfrm>
              <a:prstGeom prst="roundRect">
                <a:avLst>
                  <a:gd name="adj" fmla="val 20588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666750" y="167640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53951" y="17440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22604" y="1623060"/>
                <a:ext cx="16721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子群必须沿用 G 的运算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23366" y="1867852"/>
                <a:ext cx="18450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(C*, ·) 不是 (C, +) 的子群</a:t>
                </a:r>
              </a:p>
            </p:txBody>
          </p:sp>
        </p:grpSp>
        <p:grpSp>
          <p:nvGrpSpPr>
            <p:cNvPr id="18" name="pit-2"/>
            <p:cNvGrpSpPr/>
            <p:nvPr/>
          </p:nvGrpSpPr>
          <p:grpSpPr>
            <a:xfrm>
              <a:off x="533400" y="2190750"/>
              <a:ext cx="5486400" cy="647700"/>
              <a:chOff x="533400" y="2190750"/>
              <a:chExt cx="5486400" cy="6477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190750"/>
                <a:ext cx="5486400" cy="647700"/>
              </a:xfrm>
              <a:prstGeom prst="roundRect">
                <a:avLst>
                  <a:gd name="adj" fmla="val 20588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666750" y="238125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53951" y="24488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2604" y="232791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判别条件三只对有限子集成立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3366" y="2572702"/>
                <a:ext cx="390088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(N, +) 对加法封闭，却不是 (Z, +) 的子群（1 的逆 −1 ∉ N）</a:t>
                </a:r>
              </a:p>
            </p:txBody>
          </p:sp>
        </p:grpSp>
        <p:grpSp>
          <p:nvGrpSpPr>
            <p:cNvPr id="24" name="pit-3"/>
            <p:cNvGrpSpPr/>
            <p:nvPr/>
          </p:nvGrpSpPr>
          <p:grpSpPr>
            <a:xfrm>
              <a:off x="533400" y="2895600"/>
              <a:ext cx="5486400" cy="647700"/>
              <a:chOff x="533400" y="2895600"/>
              <a:chExt cx="5486400" cy="6477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2895600"/>
                <a:ext cx="5486400" cy="647700"/>
              </a:xfrm>
              <a:prstGeom prst="roundRect">
                <a:avLst>
                  <a:gd name="adj" fmla="val 20588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666750" y="308610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53951" y="31537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22604" y="3032760"/>
                <a:ext cx="160106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本课程把 aH 叫右陪集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23366" y="3277552"/>
                <a:ext cx="34933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≡ b（右mod H）⇔ a = bh；与部分教材的叫法恰好相反</a:t>
                </a:r>
              </a:p>
            </p:txBody>
          </p:sp>
        </p:grpSp>
        <p:grpSp>
          <p:nvGrpSpPr>
            <p:cNvPr id="30" name="pit-4"/>
            <p:cNvGrpSpPr/>
            <p:nvPr/>
          </p:nvGrpSpPr>
          <p:grpSpPr>
            <a:xfrm>
              <a:off x="533400" y="3600450"/>
              <a:ext cx="5486400" cy="647700"/>
              <a:chOff x="533400" y="3600450"/>
              <a:chExt cx="5486400" cy="6477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33400" y="3600450"/>
                <a:ext cx="5486400" cy="647700"/>
              </a:xfrm>
              <a:prstGeom prst="roundRect">
                <a:avLst>
                  <a:gd name="adj" fmla="val 20588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666750" y="379095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53951" y="38585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22604" y="3737610"/>
                <a:ext cx="17796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gH = Hg 是两个集合相等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23366" y="3982402"/>
                <a:ext cx="45717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不要求每个 h 都有 gh = hg（S₃ 中的 {I, (1 2 3), (1 3 2)} 就是例子）</a:t>
                </a:r>
              </a:p>
            </p:txBody>
          </p:sp>
        </p:grpSp>
        <p:grpSp>
          <p:nvGrpSpPr>
            <p:cNvPr id="36" name="pit-5"/>
            <p:cNvGrpSpPr/>
            <p:nvPr/>
          </p:nvGrpSpPr>
          <p:grpSpPr>
            <a:xfrm>
              <a:off x="533400" y="4305300"/>
              <a:ext cx="5486400" cy="647700"/>
              <a:chOff x="533400" y="4305300"/>
              <a:chExt cx="5486400" cy="6477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305300"/>
                <a:ext cx="5486400" cy="647700"/>
              </a:xfrm>
              <a:prstGeom prst="roundRect">
                <a:avLst>
                  <a:gd name="adj" fmla="val 20588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666750" y="449580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53951" y="456342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22604" y="4442460"/>
                <a:ext cx="195072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拉格朗日定理不能倒过来用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23366" y="4687252"/>
                <a:ext cx="17770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| 12，但 A₄ 没有 6 元子群</a:t>
                </a:r>
              </a:p>
            </p:txBody>
          </p:sp>
        </p:grpSp>
        <p:grpSp>
          <p:nvGrpSpPr>
            <p:cNvPr id="42" name="pit-6"/>
            <p:cNvGrpSpPr/>
            <p:nvPr/>
          </p:nvGrpSpPr>
          <p:grpSpPr>
            <a:xfrm>
              <a:off x="533400" y="5010150"/>
              <a:ext cx="5486400" cy="647700"/>
              <a:chOff x="533400" y="5010150"/>
              <a:chExt cx="5486400" cy="6477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33400" y="5010150"/>
                <a:ext cx="5486400" cy="647700"/>
              </a:xfrm>
              <a:prstGeom prst="roundRect">
                <a:avLst>
                  <a:gd name="adj" fmla="val 20588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666750" y="5200650"/>
                <a:ext cx="266700" cy="266700"/>
              </a:xfrm>
              <a:prstGeom prst="ellipse">
                <a:avLst/>
              </a:prstGeom>
              <a:solidFill>
                <a:srgbClr val="B42318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53951" y="5268278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022604" y="5147310"/>
                <a:ext cx="20335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aᵐ = 1 推不出“周期就是 m”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23366" y="5392102"/>
                <a:ext cx="296490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只能得到 n | m；周期是使 aⁿ = 1 的最小正整数</a:t>
                </a:r>
              </a:p>
            </p:txBody>
          </p:sp>
        </p:grpSp>
      </p:grpSp>
      <p:grpSp>
        <p:nvGrpSpPr>
          <p:cNvPr id="60" name="template-subgroup"/>
          <p:cNvGrpSpPr/>
          <p:nvPr/>
        </p:nvGrpSpPr>
        <p:grpSpPr>
          <a:xfrm>
            <a:off x="6172200" y="1485900"/>
            <a:ext cx="5486400" cy="1371600"/>
            <a:chOff x="6172200" y="1485900"/>
            <a:chExt cx="5486400" cy="1371600"/>
          </a:xfrm>
        </p:grpSpPr>
        <p:sp>
          <p:nvSpPr>
            <p:cNvPr id="44" name="Rectangle 44"/>
            <p:cNvSpPr/>
            <p:nvPr/>
          </p:nvSpPr>
          <p:spPr>
            <a:xfrm>
              <a:off x="6172200" y="1485900"/>
              <a:ext cx="54864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362700" y="16192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65871" y="16802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模板 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55942" y="16735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证子群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62700" y="200025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82362" y="2134552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证非空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55016" y="2344102"/>
              <a:ext cx="815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常验证 1 ∈ H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001000" y="22288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15300" y="200025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06980" y="2134552"/>
              <a:ext cx="1016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任取 a, b ∈ H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58785" y="2344102"/>
              <a:ext cx="1313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 H 的定义写出形式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9753600" y="22288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867900" y="200025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11353" y="2134552"/>
              <a:ext cx="913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证 ab⁻¹ ∈ H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95528" y="2344102"/>
              <a:ext cx="11449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加法群：a − b ∈ H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57366" y="2648902"/>
              <a:ext cx="2823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 有限时：只需验证运算封闭（判别条件三）</a:t>
              </a:r>
            </a:p>
          </p:txBody>
        </p:sp>
      </p:grpSp>
      <p:grpSp>
        <p:nvGrpSpPr>
          <p:cNvPr id="77" name="template-period"/>
          <p:cNvGrpSpPr/>
          <p:nvPr/>
        </p:nvGrpSpPr>
        <p:grpSpPr>
          <a:xfrm>
            <a:off x="6172200" y="2914650"/>
            <a:ext cx="5486400" cy="1371600"/>
            <a:chOff x="6172200" y="2914650"/>
            <a:chExt cx="5486400" cy="1371600"/>
          </a:xfrm>
        </p:grpSpPr>
        <p:sp>
          <p:nvSpPr>
            <p:cNvPr id="61" name="Rectangle 61"/>
            <p:cNvSpPr/>
            <p:nvPr/>
          </p:nvSpPr>
          <p:spPr>
            <a:xfrm>
              <a:off x="6172200" y="2914650"/>
              <a:ext cx="54864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362700" y="304800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65871" y="31089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模板 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55942" y="31022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求周期与生成元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62700" y="342900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70683" y="3563302"/>
              <a:ext cx="1184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依次算 a, a², 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10785" y="37728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第一次等于 1 即周期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8001000" y="36576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115300" y="342900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390601" y="35633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aᵐ = 1 ⇔ n | m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86013" y="3772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化简抽象的幂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9753600" y="36576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867900" y="342900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050263" y="3563302"/>
              <a:ext cx="1235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(k, n) = 1 的 aᵏ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970046" y="3772852"/>
              <a:ext cx="13959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是生成元，共 φ(n) 个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57366" y="4077652"/>
              <a:ext cx="31274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 元循环群的全部子群：{(aᵈ) | d 为 n 的正因子}</a:t>
              </a:r>
            </a:p>
          </p:txBody>
        </p:sp>
      </p:grpSp>
      <p:grpSp>
        <p:nvGrpSpPr>
          <p:cNvPr id="94" name="template-coset"/>
          <p:cNvGrpSpPr/>
          <p:nvPr/>
        </p:nvGrpSpPr>
        <p:grpSpPr>
          <a:xfrm>
            <a:off x="6172200" y="4343400"/>
            <a:ext cx="5486400" cy="1371600"/>
            <a:chOff x="6172200" y="4343400"/>
            <a:chExt cx="5486400" cy="1371600"/>
          </a:xfrm>
        </p:grpSpPr>
        <p:sp>
          <p:nvSpPr>
            <p:cNvPr id="78" name="Rectangle 78"/>
            <p:cNvSpPr/>
            <p:nvPr/>
          </p:nvSpPr>
          <p:spPr>
            <a:xfrm>
              <a:off x="6172200" y="4343400"/>
              <a:ext cx="5486400" cy="13716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362700" y="4476750"/>
              <a:ext cx="6858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465871" y="453771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模板 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155942" y="45310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求陪集与判正规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362700" y="485775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86389" y="4992052"/>
              <a:ext cx="5528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写出 H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658370" y="5201602"/>
              <a:ext cx="1008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 a ∉ H，求 aH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8001000" y="5086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115300" y="485775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52260" y="4992052"/>
              <a:ext cx="1126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取剩余元素继续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563889" y="5201602"/>
              <a:ext cx="7030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直到铺满 G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9753600" y="5086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867900" y="4857750"/>
              <a:ext cx="1600200" cy="5715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151002" y="4992052"/>
              <a:ext cx="10339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比较 gH 与 Hg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05430" y="5201602"/>
              <a:ext cx="1125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或验证 gHg⁻¹ ⊆ H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357366" y="5506402"/>
              <a:ext cx="3424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指数为 2 的子群直接判为正规；可交换群的子群都正规</a:t>
              </a:r>
            </a:p>
          </p:txBody>
        </p:sp>
      </p:grpSp>
      <p:grpSp>
        <p:nvGrpSpPr>
          <p:cNvPr id="101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95" name="Rectangle 95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rgbClr val="E8EDF8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48219" y="5987006"/>
              <a:ext cx="256151" cy="220068"/>
              <a:chOff x="748219" y="5987006"/>
              <a:chExt cx="256151" cy="220068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876300" y="6067425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748219" y="5987006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76300" y="615632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B42318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134618" y="6003608"/>
              <a:ext cx="8251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口诀：子群</a:t>
              </a:r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先证非空再验 ab⁻¹</a:t>
              </a: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；周期用 aᵐ = 1 ⇔ n | m；拉格朗日定理只能单向用。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102" name="TextBox 102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19684" y="361950"/>
            <a:ext cx="4828015" cy="960501"/>
            <a:chOff x="519684" y="361950"/>
            <a:chExt cx="4828015" cy="960501"/>
          </a:xfrm>
        </p:grpSpPr>
        <p:sp>
          <p:nvSpPr>
            <p:cNvPr id="2" name="Rectangle 2"/>
            <p:cNvSpPr/>
            <p:nvPr/>
          </p:nvSpPr>
          <p:spPr>
            <a:xfrm>
              <a:off x="533400" y="361950"/>
              <a:ext cx="1828800" cy="2857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32615" y="432435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6.3 子群及其陪集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794385"/>
              <a:ext cx="482801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本册小结：一张图 + 五道自测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2192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oncept-map"/>
          <p:cNvGrpSpPr/>
          <p:nvPr/>
        </p:nvGrpSpPr>
        <p:grpSpPr>
          <a:xfrm>
            <a:off x="533400" y="1524000"/>
            <a:ext cx="5638800" cy="4152900"/>
            <a:chOff x="533400" y="1524000"/>
            <a:chExt cx="5638800" cy="4152900"/>
          </a:xfrm>
        </p:grpSpPr>
        <p:sp>
          <p:nvSpPr>
            <p:cNvPr id="7" name="Freeform 7"/>
            <p:cNvSpPr/>
            <p:nvPr/>
          </p:nvSpPr>
          <p:spPr>
            <a:xfrm>
              <a:off x="1866900" y="2324100"/>
              <a:ext cx="1485900" cy="419100"/>
            </a:xfrm>
            <a:custGeom>
              <a:avLst/>
              <a:gdLst/>
              <a:ahLst/>
              <a:cxnLst/>
              <a:rect l="l" t="t" r="r" b="b"/>
              <a:pathLst>
                <a:path w="1485900" h="419100">
                  <a:moveTo>
                    <a:pt x="1485900" y="0"/>
                  </a:moveTo>
                  <a:lnTo>
                    <a:pt x="1485900" y="209550"/>
                  </a:lnTo>
                  <a:lnTo>
                    <a:pt x="0" y="209550"/>
                  </a:ln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52800" y="2533650"/>
              <a:ext cx="1485900" cy="209550"/>
            </a:xfrm>
            <a:custGeom>
              <a:avLst/>
              <a:gdLst/>
              <a:ahLst/>
              <a:cxnLst/>
              <a:rect l="l" t="t" r="r" b="b"/>
              <a:pathLst>
                <a:path w="1485900" h="209550">
                  <a:moveTo>
                    <a:pt x="0" y="0"/>
                  </a:moveTo>
                  <a:lnTo>
                    <a:pt x="1485900" y="0"/>
                  </a:lnTo>
                  <a:lnTo>
                    <a:pt x="1485900" y="20955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66900" y="4171950"/>
              <a:ext cx="2971800" cy="152400"/>
            </a:xfrm>
            <a:custGeom>
              <a:avLst/>
              <a:gdLst/>
              <a:ahLst/>
              <a:cxnLst/>
              <a:rect l="l" t="t" r="r" b="b"/>
              <a:pathLst>
                <a:path w="2971800" h="152400">
                  <a:moveTo>
                    <a:pt x="0" y="0"/>
                  </a:moveTo>
                  <a:lnTo>
                    <a:pt x="0" y="152400"/>
                  </a:lnTo>
                  <a:lnTo>
                    <a:pt x="2971800" y="152400"/>
                  </a:lnTo>
                  <a:lnTo>
                    <a:pt x="29718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52800" y="43243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914400" y="1524000"/>
              <a:ext cx="4876800" cy="800100"/>
            </a:xfrm>
            <a:prstGeom prst="roundRect">
              <a:avLst>
                <a:gd name="adj" fmla="val 19048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380" y="16859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子群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904" y="2023110"/>
              <a:ext cx="46166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沿用原运算的“小群”；判别：</a:t>
              </a:r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非空 + ab⁻¹ ∈ H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，有限时只看封闭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43200"/>
              <a:ext cx="266700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7042" y="2883218"/>
              <a:ext cx="931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循环群 (a)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7804" y="316611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周期 = |(a)|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7804" y="339471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aᵐ = 1 ⇔ n | m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7804" y="362331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(k, n) = 1 ⇔ aᵏ 是生成元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804" y="3851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子群仍是循环群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05200" y="2743200"/>
              <a:ext cx="2667000" cy="1428750"/>
            </a:xfrm>
            <a:prstGeom prst="roundRect">
              <a:avLst>
                <a:gd name="adj" fmla="val 10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88842" y="2883218"/>
              <a:ext cx="6519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陪集 aH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89604" y="3166110"/>
              <a:ext cx="1177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右模 H 的等价类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89604" y="3394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等大；要么相等要么不交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89604" y="3623310"/>
              <a:ext cx="1376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正规子群：gH = Hg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89604" y="3851910"/>
              <a:ext cx="15106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⇔ 任意 g，gHg⁻¹ ⊆ H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14400" y="4476750"/>
              <a:ext cx="4876800" cy="6858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15122" y="4600575"/>
              <a:ext cx="3075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拉格朗日定理：|G| = |H| · (G:H)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39415" y="4915852"/>
              <a:ext cx="4026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DF8"/>
                  </a:solidFill>
                  <a:latin typeface="+mn-lt"/>
                  <a:ea typeface="+mn-ea"/>
                  <a:cs typeface="+mn-cs"/>
                </a:rPr>
                <a:t>推论：周期 | n，aⁿ = 1，质数阶群必循环；逆命题不成立（A₄）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14400" y="5257800"/>
              <a:ext cx="4876800" cy="419100"/>
            </a:xfrm>
            <a:prstGeom prst="roundRect">
              <a:avLst>
                <a:gd name="adj" fmla="val 2727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1089025" y="5367338"/>
              <a:ext cx="222251" cy="200025"/>
              <a:chOff x="1089025" y="5367338"/>
              <a:chExt cx="222251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89025" y="5400675"/>
                <a:ext cx="222251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222251" h="166688">
                    <a:moveTo>
                      <a:pt x="222251" y="0"/>
                    </a:moveTo>
                    <a:lnTo>
                      <a:pt x="166688" y="0"/>
                    </a:lnTo>
                    <a:lnTo>
                      <a:pt x="166688" y="55563"/>
                    </a:lnTo>
                    <a:lnTo>
                      <a:pt x="111125" y="55563"/>
                    </a:lnTo>
                    <a:lnTo>
                      <a:pt x="111125" y="111125"/>
                    </a:lnTo>
                    <a:lnTo>
                      <a:pt x="55563" y="111125"/>
                    </a:lnTo>
                    <a:lnTo>
                      <a:pt x="55563" y="166688"/>
                    </a:lnTo>
                    <a:lnTo>
                      <a:pt x="0" y="166688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33475" y="5367338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77788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00138" y="53673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422654" y="5394960"/>
              <a:ext cx="3921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下一站 6.4：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正规子群的陪集可以相乘 → 商群、同态核</a:t>
              </a:r>
            </a:p>
          </p:txBody>
        </p:sp>
      </p:grpSp>
      <p:grpSp>
        <p:nvGrpSpPr>
          <p:cNvPr id="68" name="self-test"/>
          <p:cNvGrpSpPr/>
          <p:nvPr/>
        </p:nvGrpSpPr>
        <p:grpSpPr>
          <a:xfrm>
            <a:off x="6324600" y="1485900"/>
            <a:ext cx="5334000" cy="4229100"/>
            <a:chOff x="6324600" y="1485900"/>
            <a:chExt cx="5334000" cy="4229100"/>
          </a:xfrm>
        </p:grpSpPr>
        <p:sp>
          <p:nvSpPr>
            <p:cNvPr id="36" name="Rectangle 36"/>
            <p:cNvSpPr/>
            <p:nvPr/>
          </p:nvSpPr>
          <p:spPr>
            <a:xfrm>
              <a:off x="6324600" y="1485900"/>
              <a:ext cx="5334000" cy="4229100"/>
            </a:xfrm>
            <a:prstGeom prst="roundRect">
              <a:avLst>
                <a:gd name="adj" fmla="val 3604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586538" y="1690688"/>
              <a:ext cx="200026" cy="200026"/>
              <a:chOff x="6586538" y="169068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86538" y="1690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86550" y="18351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69882" y="1755122"/>
                <a:ext cx="40756" cy="46721"/>
              </a:xfrm>
              <a:custGeom>
                <a:avLst/>
                <a:gdLst/>
                <a:ahLst/>
                <a:cxnLst/>
                <a:rect l="l" t="t" r="r" b="b"/>
                <a:pathLst>
                  <a:path w="40756" h="46721">
                    <a:moveTo>
                      <a:pt x="16669" y="46690"/>
                    </a:moveTo>
                    <a:cubicBezTo>
                      <a:pt x="26957" y="46721"/>
                      <a:pt x="35922" y="39687"/>
                      <a:pt x="38339" y="29686"/>
                    </a:cubicBezTo>
                    <a:cubicBezTo>
                      <a:pt x="40756" y="19686"/>
                      <a:pt x="35993" y="9334"/>
                      <a:pt x="26826" y="4663"/>
                    </a:cubicBezTo>
                    <a:cubicBezTo>
                      <a:pt x="17723" y="0"/>
                      <a:pt x="6608" y="2224"/>
                      <a:pt x="0" y="1003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07530" y="1704975"/>
              <a:ext cx="864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自测 5 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93858" y="1744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先遮住答案再作答</a:t>
              </a:r>
            </a:p>
          </p:txBody>
        </p:sp>
        <p:grpSp>
          <p:nvGrpSpPr>
            <p:cNvPr id="47" name="q-1"/>
            <p:cNvGrpSpPr/>
            <p:nvPr/>
          </p:nvGrpSpPr>
          <p:grpSpPr>
            <a:xfrm>
              <a:off x="6534150" y="2133600"/>
              <a:ext cx="3922014" cy="562356"/>
              <a:chOff x="6534150" y="2133600"/>
              <a:chExt cx="3922014" cy="562356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6534150" y="21336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614758" y="21945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89242" y="2178368"/>
                <a:ext cx="28306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 6 加法群中，{0, 3} 是子群吗？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90004" y="2461260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答：是。有限非空，0 ⊕₆ 3 = 3，3 ⊕₆ 3 = 0，封闭</a:t>
                </a:r>
              </a:p>
            </p:txBody>
          </p:sp>
        </p:grpSp>
        <p:grpSp>
          <p:nvGrpSpPr>
            <p:cNvPr id="52" name="q-2"/>
            <p:cNvGrpSpPr/>
            <p:nvPr/>
          </p:nvGrpSpPr>
          <p:grpSpPr>
            <a:xfrm>
              <a:off x="6534150" y="2857500"/>
              <a:ext cx="2931300" cy="562356"/>
              <a:chOff x="6534150" y="2857500"/>
              <a:chExt cx="2931300" cy="562356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6534150" y="28575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614758" y="29184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889242" y="2902268"/>
                <a:ext cx="25762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8 元循环群 (a) 有几个生成元？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90004" y="3185160"/>
                <a:ext cx="23707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答：φ(8) = 4 个：a, a³, a⁵, a⁷</a:t>
                </a:r>
              </a:p>
            </p:txBody>
          </p:sp>
        </p:grpSp>
        <p:grpSp>
          <p:nvGrpSpPr>
            <p:cNvPr id="57" name="q-3"/>
            <p:cNvGrpSpPr/>
            <p:nvPr/>
          </p:nvGrpSpPr>
          <p:grpSpPr>
            <a:xfrm>
              <a:off x="6534150" y="3581400"/>
              <a:ext cx="3167558" cy="562356"/>
              <a:chOff x="6534150" y="3581400"/>
              <a:chExt cx="3167558" cy="562356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6534150" y="35814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6614758" y="3642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889242" y="3626168"/>
                <a:ext cx="28124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 元群中元素的周期可能是多少？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90004" y="3909060"/>
                <a:ext cx="21122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答：15 的正因子 1, 3, 5, 15</a:t>
                </a:r>
              </a:p>
            </p:txBody>
          </p:sp>
        </p:grpSp>
        <p:grpSp>
          <p:nvGrpSpPr>
            <p:cNvPr id="62" name="q-4"/>
            <p:cNvGrpSpPr/>
            <p:nvPr/>
          </p:nvGrpSpPr>
          <p:grpSpPr>
            <a:xfrm>
              <a:off x="6534150" y="4305300"/>
              <a:ext cx="4172255" cy="562356"/>
              <a:chOff x="6534150" y="4305300"/>
              <a:chExt cx="4172255" cy="562356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6534150" y="43053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614758" y="43662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889242" y="4350068"/>
                <a:ext cx="38171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S₃ 中 H = {I, (1 2)} 有几个右陪集？正规吗？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890004" y="4632960"/>
                <a:ext cx="26793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答：3 个；不正规，(1 3)H ≠ H(1 3)</a:t>
                </a:r>
              </a:p>
            </p:txBody>
          </p:sp>
        </p:grpSp>
        <p:grpSp>
          <p:nvGrpSpPr>
            <p:cNvPr id="67" name="q-5"/>
            <p:cNvGrpSpPr/>
            <p:nvPr/>
          </p:nvGrpSpPr>
          <p:grpSpPr>
            <a:xfrm>
              <a:off x="6534150" y="5029200"/>
              <a:ext cx="4220032" cy="562356"/>
              <a:chOff x="6534150" y="5029200"/>
              <a:chExt cx="4220032" cy="562356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6534150" y="5029200"/>
                <a:ext cx="266700" cy="26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614758" y="50901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889242" y="5073968"/>
                <a:ext cx="24035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为什么 7 元群一定是循环群？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890004" y="5356860"/>
                <a:ext cx="38641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F7A68"/>
                    </a:solidFill>
                    <a:latin typeface="+mn-lt"/>
                    <a:ea typeface="+mn-ea"/>
                    <a:cs typeface="+mn-cs"/>
                  </a:rPr>
                  <a:t>答：a ≠ 1 的周期整除 7 且大于 1，只能是 7，G = (a)</a:t>
                </a:r>
              </a:p>
            </p:txBody>
          </p:sp>
        </p:grpSp>
      </p:grpSp>
      <p:grpSp>
        <p:nvGrpSpPr>
          <p:cNvPr id="74" name="takeaway"/>
          <p:cNvGrpSpPr/>
          <p:nvPr/>
        </p:nvGrpSpPr>
        <p:grpSpPr>
          <a:xfrm>
            <a:off x="533400" y="5848350"/>
            <a:ext cx="11125200" cy="514350"/>
            <a:chOff x="533400" y="5848350"/>
            <a:chExt cx="11125200" cy="51435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8350"/>
              <a:ext cx="11125200" cy="514350"/>
            </a:xfrm>
            <a:prstGeom prst="roundRect">
              <a:avLst>
                <a:gd name="adj" fmla="val 25926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62000" y="5991227"/>
              <a:ext cx="228597" cy="228597"/>
              <a:chOff x="762000" y="5991227"/>
              <a:chExt cx="228597" cy="228597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62000" y="5991227"/>
                <a:ext cx="228597" cy="228597"/>
              </a:xfrm>
              <a:custGeom>
                <a:avLst/>
                <a:gdLst/>
                <a:ahLst/>
                <a:cxnLst/>
                <a:rect l="l" t="t" r="r" b="b"/>
                <a:pathLst>
                  <a:path w="228597" h="228597">
                    <a:moveTo>
                      <a:pt x="172148" y="10704"/>
                    </a:moveTo>
                    <a:lnTo>
                      <a:pt x="217893" y="56449"/>
                    </a:lnTo>
                    <a:cubicBezTo>
                      <a:pt x="224747" y="63301"/>
                      <a:pt x="228597" y="72596"/>
                      <a:pt x="228597" y="82287"/>
                    </a:cubicBezTo>
                    <a:cubicBezTo>
                      <a:pt x="228597" y="91978"/>
                      <a:pt x="224747" y="101273"/>
                      <a:pt x="217893" y="108125"/>
                    </a:cubicBezTo>
                    <a:lnTo>
                      <a:pt x="184327" y="141691"/>
                    </a:lnTo>
                    <a:cubicBezTo>
                      <a:pt x="177475" y="148544"/>
                      <a:pt x="168181" y="152395"/>
                      <a:pt x="158489" y="152395"/>
                    </a:cubicBezTo>
                    <a:cubicBezTo>
                      <a:pt x="148798" y="152395"/>
                      <a:pt x="139503" y="148544"/>
                      <a:pt x="132651" y="141691"/>
                    </a:cubicBezTo>
                    <a:lnTo>
                      <a:pt x="128828" y="137868"/>
                    </a:lnTo>
                    <a:lnTo>
                      <a:pt x="45542" y="221155"/>
                    </a:lnTo>
                    <a:cubicBezTo>
                      <a:pt x="41322" y="225374"/>
                      <a:pt x="35751" y="227973"/>
                      <a:pt x="29807" y="228495"/>
                    </a:cubicBezTo>
                    <a:lnTo>
                      <a:pt x="27584" y="228597"/>
                    </a:lnTo>
                    <a:lnTo>
                      <a:pt x="12700" y="228597"/>
                    </a:lnTo>
                    <a:cubicBezTo>
                      <a:pt x="6261" y="228596"/>
                      <a:pt x="842" y="223777"/>
                      <a:pt x="89" y="217383"/>
                    </a:cubicBezTo>
                    <a:lnTo>
                      <a:pt x="0" y="215897"/>
                    </a:lnTo>
                    <a:lnTo>
                      <a:pt x="0" y="201013"/>
                    </a:lnTo>
                    <a:cubicBezTo>
                      <a:pt x="1" y="195049"/>
                      <a:pt x="2101" y="189277"/>
                      <a:pt x="5931" y="184706"/>
                    </a:cubicBezTo>
                    <a:lnTo>
                      <a:pt x="7442" y="183055"/>
                    </a:lnTo>
                    <a:lnTo>
                      <a:pt x="12700" y="177797"/>
                    </a:lnTo>
                    <a:lnTo>
                      <a:pt x="38100" y="177797"/>
                    </a:lnTo>
                    <a:lnTo>
                      <a:pt x="38100" y="152397"/>
                    </a:lnTo>
                    <a:lnTo>
                      <a:pt x="63500" y="152397"/>
                    </a:lnTo>
                    <a:lnTo>
                      <a:pt x="63500" y="126997"/>
                    </a:lnTo>
                    <a:lnTo>
                      <a:pt x="90729" y="99769"/>
                    </a:lnTo>
                    <a:lnTo>
                      <a:pt x="86906" y="95946"/>
                    </a:lnTo>
                    <a:cubicBezTo>
                      <a:pt x="80053" y="89093"/>
                      <a:pt x="76202" y="79799"/>
                      <a:pt x="76202" y="70108"/>
                    </a:cubicBezTo>
                    <a:cubicBezTo>
                      <a:pt x="76202" y="60416"/>
                      <a:pt x="80053" y="51122"/>
                      <a:pt x="86906" y="44270"/>
                    </a:cubicBezTo>
                    <a:lnTo>
                      <a:pt x="120472" y="10704"/>
                    </a:lnTo>
                    <a:cubicBezTo>
                      <a:pt x="127324" y="3850"/>
                      <a:pt x="136619" y="0"/>
                      <a:pt x="146310" y="0"/>
                    </a:cubicBezTo>
                    <a:cubicBezTo>
                      <a:pt x="156001" y="0"/>
                      <a:pt x="165296" y="3850"/>
                      <a:pt x="172148" y="10704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914400" y="6067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134618" y="6003608"/>
              <a:ext cx="74314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陪集等大且互不相交，所以 |H| 整除 |G|；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周期与子群元数都整除群的元数。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066" y="6573202"/>
            <a:ext cx="11135868" cy="205359"/>
            <a:chOff x="528066" y="6573202"/>
            <a:chExt cx="11135868" cy="205359"/>
          </a:xfrm>
        </p:grpSpPr>
        <p:sp>
          <p:nvSpPr>
            <p:cNvPr id="75" name="TextBox 75"/>
            <p:cNvSpPr txBox="1"/>
            <p:nvPr/>
          </p:nvSpPr>
          <p:spPr>
            <a:xfrm>
              <a:off x="528066" y="657320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离散数学II · 6.3 子群及其陪集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497780" y="65732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2_6-3_subgroup_coset">
  <a:themeElements>
    <a:clrScheme name="dm2_6-3_subgroup_coset">
      <a:dk1>
        <a:srgbClr val="1F2937"/>
      </a:dk1>
      <a:lt1>
        <a:srgbClr val="FFFFFF"/>
      </a:lt1>
      <a:dk2>
        <a:srgbClr val="1F497D"/>
      </a:dk2>
      <a:lt2>
        <a:srgbClr val="F4F6FB"/>
      </a:lt2>
      <a:accent1>
        <a:srgbClr val="2F4B9A"/>
      </a:accent1>
      <a:accent2>
        <a:srgbClr val="F26B3A"/>
      </a:accent2>
      <a:accent3>
        <a:srgbClr val="14A38B"/>
      </a:accent3>
      <a:accent4>
        <a:srgbClr val="2F4B9A"/>
      </a:accent4>
      <a:accent5>
        <a:srgbClr val="5B6475"/>
      </a:accent5>
      <a:accent6>
        <a:srgbClr val="D9DFEA"/>
      </a:accent6>
      <a:hlink>
        <a:srgbClr val="F26B3A"/>
      </a:hlink>
      <a:folHlink>
        <a:srgbClr val="14A38B"/>
      </a:folHlink>
    </a:clrScheme>
    <a:fontScheme name="dm2_6-3_subgroup_coset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2_6-3_subgroup_cos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2026-09-16T11:53:44Z</dcterms:created>
  <dcterms:modified xsi:type="dcterms:W3CDTF">2026-09-16T11:53:44Z</dcterms:modified>
  <cp:category/>
  <cp:contentStatus/>
</cp:coreProperties>
</file>