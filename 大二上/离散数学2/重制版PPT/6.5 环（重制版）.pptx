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6-5_ring_fie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6-5_ring_fie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97ecf70fbfed20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355851b88f52f89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e0685058de0ef66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d79f835a8de4d00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5917f6fb8b5ff1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1" name="cover-title"/>
          <p:cNvGrpSpPr/>
          <p:nvPr/>
        </p:nvGrpSpPr>
        <p:grpSpPr>
          <a:xfrm>
            <a:off x="666750" y="1695450"/>
            <a:ext cx="5229606" cy="3352800"/>
            <a:chOff x="666750" y="1695450"/>
            <a:chExt cx="5229606" cy="3352800"/>
          </a:xfrm>
        </p:grpSpPr>
        <p:sp>
          <p:nvSpPr>
            <p:cNvPr id="4" name="Rectangle 4"/>
            <p:cNvSpPr/>
            <p:nvPr/>
          </p:nvSpPr>
          <p:spPr>
            <a:xfrm>
              <a:off x="685800" y="1695450"/>
              <a:ext cx="29718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0204" y="1813560"/>
              <a:ext cx="231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第六章 群、环、域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96490"/>
              <a:ext cx="200732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813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99498"/>
              <a:ext cx="5220462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两种运算同台：加法成交换群，乘法守结合律，</a:t>
              </a:r>
              <a:br/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分配律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把它们连在一起。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629150"/>
              <a:ext cx="45339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542" y="4759642"/>
              <a:ext cx="394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整区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→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域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：从“能加减乘”到“能做除法”</a:t>
              </a:r>
            </a:p>
          </p:txBody>
        </p:sp>
      </p:grpSp>
      <p:grpSp>
        <p:nvGrpSpPr>
          <p:cNvPr id="13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43016" cy="960501"/>
            <a:chOff x="519684" y="361950"/>
            <a:chExt cx="584301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250" y="432435"/>
              <a:ext cx="102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学习地图：最后一站，两种运算同台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route"/>
          <p:cNvGrpSpPr/>
          <p:nvPr/>
        </p:nvGrpSpPr>
        <p:grpSpPr>
          <a:xfrm>
            <a:off x="527304" y="1866900"/>
            <a:ext cx="11131296" cy="1333881"/>
            <a:chOff x="527304" y="1866900"/>
            <a:chExt cx="11131296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306068" y="2088832"/>
              <a:ext cx="9374695" cy="582169"/>
              <a:chOff x="1306068" y="2088832"/>
              <a:chExt cx="9374695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756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060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93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子群及其陪集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05712" y="24069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群的同态与同构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21836" y="2406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环与域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986790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00027" y="29660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你在这里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304" y="2966085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6.1–6.4：一个运算的结构（群）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3086" y="2966085"/>
              <a:ext cx="1771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本册：两个运算的结构 →</a:t>
              </a:r>
            </a:p>
          </p:txBody>
        </p:sp>
      </p:grpSp>
      <p:grpSp>
        <p:nvGrpSpPr>
          <p:cNvPr id="31" name="chapter-note"/>
          <p:cNvGrpSpPr/>
          <p:nvPr/>
        </p:nvGrpSpPr>
        <p:grpSpPr>
          <a:xfrm>
            <a:off x="533400" y="3352800"/>
            <a:ext cx="11125200" cy="381000"/>
            <a:chOff x="533400" y="3352800"/>
            <a:chExt cx="11125200" cy="381000"/>
          </a:xfrm>
        </p:grpSpPr>
        <p:sp>
          <p:nvSpPr>
            <p:cNvPr id="28" name="Rectangle 28"/>
            <p:cNvSpPr/>
            <p:nvPr/>
          </p:nvSpPr>
          <p:spPr>
            <a:xfrm>
              <a:off x="533400" y="3352800"/>
              <a:ext cx="111252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3454718"/>
              <a:ext cx="693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本节分两小节：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6.5.1 环的定义及性质（本册全部内容）；6.5.2 环同态（课程不讲）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2325" y="347091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主线：环 → 整区 → 体 → 域</a:t>
              </a:r>
            </a:p>
          </p:txBody>
        </p:sp>
      </p:grpSp>
      <p:grpSp>
        <p:nvGrpSpPr>
          <p:cNvPr id="51" name="goals"/>
          <p:cNvGrpSpPr/>
          <p:nvPr/>
        </p:nvGrpSpPr>
        <p:grpSpPr>
          <a:xfrm>
            <a:off x="525018" y="3974782"/>
            <a:ext cx="11133582" cy="1721168"/>
            <a:chOff x="525018" y="3974782"/>
            <a:chExt cx="11133582" cy="1721168"/>
          </a:xfrm>
        </p:grpSpPr>
        <p:sp>
          <p:nvSpPr>
            <p:cNvPr id="32" name="TextBox 32"/>
            <p:cNvSpPr txBox="1"/>
            <p:nvPr/>
          </p:nvSpPr>
          <p:spPr>
            <a:xfrm>
              <a:off x="525018" y="3974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本册三个目标</a:t>
              </a:r>
            </a:p>
          </p:txBody>
        </p:sp>
        <p:grpSp>
          <p:nvGrpSpPr>
            <p:cNvPr id="38" name="goal-1"/>
            <p:cNvGrpSpPr/>
            <p:nvPr/>
          </p:nvGrpSpPr>
          <p:grpSpPr>
            <a:xfrm>
              <a:off x="533400" y="4324350"/>
              <a:ext cx="3505200" cy="1371600"/>
              <a:chOff x="533400" y="4324350"/>
              <a:chExt cx="3505200" cy="13716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3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4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7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87018" y="4622482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证明环，用好运算性质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5142" y="5073968"/>
                <a:ext cx="2765488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会用两种清单证明 (R, +, ·) 是环，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会推“乘 0 得 0”“负负得正”</a:t>
                </a:r>
              </a:p>
            </p:txBody>
          </p:sp>
        </p:grpSp>
        <p:grpSp>
          <p:nvGrpSpPr>
            <p:cNvPr id="44" name="goal-2"/>
            <p:cNvGrpSpPr/>
            <p:nvPr/>
          </p:nvGrpSpPr>
          <p:grpSpPr>
            <a:xfrm>
              <a:off x="4343400" y="4324350"/>
              <a:ext cx="3505200" cy="1371600"/>
              <a:chOff x="4343400" y="4324350"/>
              <a:chExt cx="3505200" cy="13716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34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55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68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097018" y="4622482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零因子、消去环与整区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565142" y="5073968"/>
                <a:ext cx="241401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会在剩余类环里找零因子，判断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消去环、整区，掌握周期性质</a:t>
                </a:r>
              </a:p>
            </p:txBody>
          </p:sp>
        </p:grpSp>
        <p:grpSp>
          <p:nvGrpSpPr>
            <p:cNvPr id="50" name="goal-3"/>
            <p:cNvGrpSpPr/>
            <p:nvPr/>
          </p:nvGrpSpPr>
          <p:grpSpPr>
            <a:xfrm>
              <a:off x="8153400" y="4324350"/>
              <a:ext cx="3505200" cy="1371600"/>
              <a:chOff x="8153400" y="4324350"/>
              <a:chExt cx="3505200" cy="13716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153400" y="4324350"/>
                <a:ext cx="3505200" cy="137160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8362950" y="45148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499980" y="46224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07018" y="462248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分清体与域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75142" y="5073968"/>
                <a:ext cx="1453896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有限整区是域；</a:t>
                </a:r>
                <a:br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Zₚ 是域 ⇔ p 是质数</a:t>
                </a:r>
              </a:p>
            </p:txBody>
          </p:sp>
        </p:grpSp>
      </p:grpSp>
      <p:grpSp>
        <p:nvGrpSpPr>
          <p:cNvPr id="58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5380" y="6019800"/>
              <a:ext cx="8536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学习提示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把整数环当作“原型”：每学一种新结构，就问一句——整数的哪条规律在这里还成立？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762750" y="-285750"/>
            <a:ext cx="7429500" cy="74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715500" y="381000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162800" y="10668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954033" y="2514600"/>
            <a:ext cx="1903933" cy="2305050"/>
            <a:chOff x="89540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9540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4753356" cy="1885379"/>
            <a:chOff x="743712" y="1866900"/>
            <a:chExt cx="4753356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9231" y="1956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环的定义与基本性质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先弄清环要满足哪几条，再看能推出什么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959325" cy="1747647"/>
            <a:chOff x="755142" y="4102418"/>
            <a:chExt cx="4959325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556254" cy="363665"/>
              <a:chOff x="781050" y="4457700"/>
              <a:chExt cx="3556254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31264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什么是环？它和群有什么关系？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334131" cy="363665"/>
              <a:chOff x="781050" y="4972050"/>
              <a:chExt cx="3334131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怎样证明一个代数系统是环？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4933417" cy="363665"/>
              <a:chOff x="781050" y="5486400"/>
              <a:chExt cx="4933417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4503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“乘 0 得 0”“负负得正”在任意环里还成立吗？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2700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6.5 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7296912" cy="960501"/>
            <a:chOff x="519684" y="361950"/>
            <a:chExt cx="729691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296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环的定义：加法成群，乘法结合，分配律相连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definition-card"/>
          <p:cNvGrpSpPr/>
          <p:nvPr/>
        </p:nvGrpSpPr>
        <p:grpSpPr>
          <a:xfrm>
            <a:off x="533400" y="1485900"/>
            <a:ext cx="6667500" cy="4229100"/>
            <a:chOff x="533400" y="1485900"/>
            <a:chExt cx="66675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6675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384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38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99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92592"/>
              <a:ext cx="115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 (R, +, ·)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556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R 是一个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非空集合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，其中有加“+”、乘“·”两种二元代数运算，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若对任意 a、b、c ∈ R 满足下面 6 条，则称 (R, +, ·) 为一个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grpSp>
          <p:nvGrpSpPr>
            <p:cNvPr id="19" name="band-add"/>
            <p:cNvGrpSpPr/>
            <p:nvPr/>
          </p:nvGrpSpPr>
          <p:grpSpPr>
            <a:xfrm>
              <a:off x="914400" y="2667000"/>
              <a:ext cx="6096000" cy="1238250"/>
              <a:chOff x="914400" y="2667000"/>
              <a:chExt cx="6096000" cy="1238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14400" y="2667000"/>
                <a:ext cx="609600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98042" y="2787968"/>
                <a:ext cx="21235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① 加法：(R, +) 是交换群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7280" y="3133725"/>
                <a:ext cx="14388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1) a + b = b + 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802380" y="3133725"/>
                <a:ext cx="25696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2) a + (b + c) = (a + b) + c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97280" y="3514725"/>
                <a:ext cx="20749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3) 有零元 0：a + 0 = 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02380" y="3514725"/>
                <a:ext cx="25191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4) 有负元 −a：a + (−a) = 0</a:t>
                </a:r>
              </a:p>
            </p:txBody>
          </p:sp>
        </p:grpSp>
        <p:grpSp>
          <p:nvGrpSpPr>
            <p:cNvPr id="23" name="band-mul"/>
            <p:cNvGrpSpPr/>
            <p:nvPr/>
          </p:nvGrpSpPr>
          <p:grpSpPr>
            <a:xfrm>
              <a:off x="914400" y="4000500"/>
              <a:ext cx="6096000" cy="609600"/>
              <a:chOff x="914400" y="4000500"/>
              <a:chExt cx="6096000" cy="6096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14400" y="4000500"/>
                <a:ext cx="60960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98042" y="4226242"/>
                <a:ext cx="19417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② 乘法：(R, ·) 是半群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802380" y="4219575"/>
                <a:ext cx="25696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5) a · (b · c) = (a · b) · c</a:t>
                </a:r>
              </a:p>
            </p:txBody>
          </p:sp>
        </p:grpSp>
        <p:grpSp>
          <p:nvGrpSpPr>
            <p:cNvPr id="27" name="band-dist"/>
            <p:cNvGrpSpPr/>
            <p:nvPr/>
          </p:nvGrpSpPr>
          <p:grpSpPr>
            <a:xfrm>
              <a:off x="914400" y="4705350"/>
              <a:ext cx="6096000" cy="857250"/>
              <a:chOff x="914400" y="4705350"/>
              <a:chExt cx="6096000" cy="857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14400" y="4705350"/>
                <a:ext cx="6096000" cy="857250"/>
              </a:xfrm>
              <a:prstGeom prst="roundRect">
                <a:avLst>
                  <a:gd name="adj" fmla="val 13333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98042" y="4826318"/>
                <a:ext cx="35226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③ 分配律：把 + 与 · 连起来（左、右都要）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97280" y="5191125"/>
                <a:ext cx="5346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6) a · (b + c) = a · b + a · c， (a + b) · c = a · c + b · c</a:t>
                </a:r>
              </a:p>
            </p:txBody>
          </p:sp>
        </p:grpSp>
      </p:grpSp>
      <p:grpSp>
        <p:nvGrpSpPr>
          <p:cNvPr id="31" name="gears-figure"/>
          <p:cNvGrpSpPr/>
          <p:nvPr/>
        </p:nvGrpSpPr>
        <p:grpSpPr>
          <a:xfrm>
            <a:off x="7429500" y="1485900"/>
            <a:ext cx="4229100" cy="3419856"/>
            <a:chOff x="7429500" y="1485900"/>
            <a:chExt cx="4229100" cy="3419856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1352" r="0" b="1351"/>
            <a:stretch>
              <a:fillRect/>
            </a:stretch>
          </p:blipFill>
          <p:spPr>
            <a:xfrm>
              <a:off x="7429500" y="1485900"/>
              <a:ext cx="4229100" cy="3086100"/>
            </a:xfrm>
            <a:prstGeom prst="roundRect">
              <a:avLst>
                <a:gd name="adj" fmla="val 4938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752893" y="4671060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加法、乘法两台“机器”，由分配律咬合成一个系统</a:t>
              </a:r>
            </a:p>
          </p:txBody>
        </p:sp>
      </p:grpSp>
      <p:grpSp>
        <p:nvGrpSpPr>
          <p:cNvPr id="35" name="note-card"/>
          <p:cNvGrpSpPr/>
          <p:nvPr/>
        </p:nvGrpSpPr>
        <p:grpSpPr>
          <a:xfrm>
            <a:off x="7429500" y="4914900"/>
            <a:ext cx="4229100" cy="800100"/>
            <a:chOff x="7429500" y="4914900"/>
            <a:chExt cx="4229100" cy="800100"/>
          </a:xfrm>
        </p:grpSpPr>
        <p:sp>
          <p:nvSpPr>
            <p:cNvPr id="32" name="Rectangle 32"/>
            <p:cNvSpPr/>
            <p:nvPr/>
          </p:nvSpPr>
          <p:spPr>
            <a:xfrm>
              <a:off x="7429500" y="4914900"/>
              <a:ext cx="4229100" cy="800100"/>
            </a:xfrm>
            <a:prstGeom prst="roundRect">
              <a:avLst>
                <a:gd name="adj" fmla="val 1666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13142" y="5073968"/>
              <a:ext cx="2978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注意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乘法不要求交换、单位元、逆元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3904" y="5394960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记号：a · b 简写 ab；a + (−b) 记作 a − b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36" name="Rectangle 3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134618" y="6003608"/>
              <a:ext cx="81723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环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(R, +) 交换群 + (R, ·) 半群 + 左右分配律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；乘法不必交换，也不必有“1”。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2" name="TextBox 42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怎样证明它是环？常见的环有哪些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method-one"/>
          <p:cNvGrpSpPr/>
          <p:nvPr/>
        </p:nvGrpSpPr>
        <p:grpSpPr>
          <a:xfrm>
            <a:off x="533400" y="1485900"/>
            <a:ext cx="2590800" cy="4229100"/>
            <a:chOff x="533400" y="1485900"/>
            <a:chExt cx="25908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2590800" cy="42291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383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8388" y="16992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8092" y="169259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逐条验证 9 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095500"/>
              <a:ext cx="228600" cy="228600"/>
            </a:xfrm>
            <a:prstGeom prst="ellipse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2051" y="2144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21218"/>
              <a:ext cx="540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非空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24574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2051" y="2506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48316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满足封闭性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3900" y="28194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2051" y="2867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0892" y="2845118"/>
              <a:ext cx="1068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满足封闭性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3181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2051" y="3229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320706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满足交换律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23900" y="35433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2051" y="35918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0892" y="35690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满足结合律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3900" y="39052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2051" y="3953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0892" y="3930968"/>
              <a:ext cx="1449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 中有加法单位元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23900" y="4267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2051" y="4315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2929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 a 存在加法逆元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23900" y="46291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2051" y="4677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654868"/>
              <a:ext cx="1068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满足结合律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23900" y="49911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2051" y="5039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0892" y="5016818"/>
              <a:ext cx="1640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+ 左、右分配律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54111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圆点颜色 = 属于方法二的哪一步</a:t>
              </a:r>
            </a:p>
          </p:txBody>
        </p:sp>
      </p:grpSp>
      <p:grpSp>
        <p:nvGrpSpPr>
          <p:cNvPr id="60" name="method-two"/>
          <p:cNvGrpSpPr/>
          <p:nvPr/>
        </p:nvGrpSpPr>
        <p:grpSpPr>
          <a:xfrm>
            <a:off x="3276600" y="1683068"/>
            <a:ext cx="2819400" cy="3965638"/>
            <a:chOff x="3276600" y="1683068"/>
            <a:chExt cx="2819400" cy="3965638"/>
          </a:xfrm>
        </p:grpSpPr>
        <p:sp>
          <p:nvSpPr>
            <p:cNvPr id="40" name="TextBox 40"/>
            <p:cNvSpPr txBox="1"/>
            <p:nvPr/>
          </p:nvSpPr>
          <p:spPr>
            <a:xfrm>
              <a:off x="3307842" y="16830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方法二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：按结构打包 3 步</a:t>
              </a:r>
            </a:p>
          </p:txBody>
        </p:sp>
        <p:grpSp>
          <p:nvGrpSpPr>
            <p:cNvPr id="46" name="m2-step-1"/>
            <p:cNvGrpSpPr/>
            <p:nvPr/>
          </p:nvGrpSpPr>
          <p:grpSpPr>
            <a:xfrm>
              <a:off x="3276600" y="2019300"/>
              <a:ext cx="2819400" cy="990600"/>
              <a:chOff x="3276600" y="2019300"/>
              <a:chExt cx="28194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3276600" y="2019300"/>
                <a:ext cx="28194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3448050" y="2209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528658" y="2270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803142" y="2254568"/>
                <a:ext cx="14161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(R, +) 是交换群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461004" y="2651760"/>
                <a:ext cx="23707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对应方法一的 1、2、4、5、6、7</a:t>
                </a:r>
              </a:p>
            </p:txBody>
          </p:sp>
        </p:grpSp>
        <p:grpSp>
          <p:nvGrpSpPr>
            <p:cNvPr id="52" name="m2-step-2"/>
            <p:cNvGrpSpPr/>
            <p:nvPr/>
          </p:nvGrpSpPr>
          <p:grpSpPr>
            <a:xfrm>
              <a:off x="3276600" y="3124200"/>
              <a:ext cx="2819400" cy="990600"/>
              <a:chOff x="3276600" y="3124200"/>
              <a:chExt cx="2819400" cy="9906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276600" y="3124200"/>
                <a:ext cx="28194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3448050" y="331470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528658" y="33756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803142" y="3359468"/>
                <a:ext cx="12343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(R, ·) 是半群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461004" y="3756660"/>
                <a:ext cx="16195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对应方法一的 1、3、8</a:t>
                </a:r>
              </a:p>
            </p:txBody>
          </p:sp>
        </p:grpSp>
        <p:grpSp>
          <p:nvGrpSpPr>
            <p:cNvPr id="58" name="m2-step-3"/>
            <p:cNvGrpSpPr/>
            <p:nvPr/>
          </p:nvGrpSpPr>
          <p:grpSpPr>
            <a:xfrm>
              <a:off x="3276600" y="4229100"/>
              <a:ext cx="2819400" cy="990600"/>
              <a:chOff x="3276600" y="4229100"/>
              <a:chExt cx="2819400" cy="9906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276600" y="4229100"/>
                <a:ext cx="28194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3448050" y="44196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528658" y="4480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803142" y="44643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左、右分配律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461004" y="4861560"/>
                <a:ext cx="20802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9540" indent="-129540">
                  <a:buClr>
                    <a:schemeClr val="accent5"/>
                  </a:buClr>
                  <a:buSzTx/>
                  <a:buFontTx/>
                  <a:buChar char="•"/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对 + 满足；对应方法一的 9</a:t>
                </a: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3308604" y="54140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借用群的结论，写起来更短</a:t>
              </a:r>
            </a:p>
          </p:txBody>
        </p:sp>
      </p:grpSp>
      <p:grpSp>
        <p:nvGrpSpPr>
          <p:cNvPr id="81" name="ring-examples"/>
          <p:cNvGrpSpPr/>
          <p:nvPr/>
        </p:nvGrpSpPr>
        <p:grpSpPr>
          <a:xfrm>
            <a:off x="6324600" y="1664605"/>
            <a:ext cx="5334000" cy="3021695"/>
            <a:chOff x="6324600" y="1664605"/>
            <a:chExt cx="5334000" cy="3021695"/>
          </a:xfrm>
        </p:grpSpPr>
        <p:grpSp>
          <p:nvGrpSpPr>
            <p:cNvPr id="63" name="Group 63"/>
            <p:cNvGrpSpPr/>
            <p:nvPr/>
          </p:nvGrpSpPr>
          <p:grpSpPr>
            <a:xfrm>
              <a:off x="6365875" y="1664605"/>
              <a:ext cx="161019" cy="161019"/>
              <a:chOff x="6365875" y="1664605"/>
              <a:chExt cx="161019" cy="161019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365875" y="1664605"/>
                <a:ext cx="161019" cy="161019"/>
              </a:xfrm>
              <a:custGeom>
                <a:avLst/>
                <a:gdLst/>
                <a:ahLst/>
                <a:cxnLst/>
                <a:rect l="l" t="t" r="r" b="b"/>
                <a:pathLst>
                  <a:path w="161019" h="161019">
                    <a:moveTo>
                      <a:pt x="0" y="161019"/>
                    </a:moveTo>
                    <a:lnTo>
                      <a:pt x="41275" y="161019"/>
                    </a:lnTo>
                    <a:lnTo>
                      <a:pt x="149621" y="52673"/>
                    </a:lnTo>
                    <a:cubicBezTo>
                      <a:pt x="161019" y="41275"/>
                      <a:pt x="161019" y="22795"/>
                      <a:pt x="149621" y="11398"/>
                    </a:cubicBezTo>
                    <a:cubicBezTo>
                      <a:pt x="138224" y="0"/>
                      <a:pt x="119744" y="0"/>
                      <a:pt x="108347" y="11398"/>
                    </a:cubicBezTo>
                    <a:lnTo>
                      <a:pt x="0" y="119744"/>
                    </a:lnTo>
                    <a:lnTo>
                      <a:pt x="0" y="161019"/>
                    </a:lnTo>
                  </a:path>
                </a:pathLst>
              </a:custGeom>
              <a:noFill/>
              <a:ln w="20637">
                <a:solidFill>
                  <a:srgbClr val="0F7A6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63903" y="1686322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</a:path>
                </a:pathLst>
              </a:custGeom>
              <a:noFill/>
              <a:ln w="20637">
                <a:solidFill>
                  <a:srgbClr val="0F7A6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640830" y="1666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常见的环</a:t>
              </a:r>
            </a:p>
          </p:txBody>
        </p:sp>
        <p:grpSp>
          <p:nvGrpSpPr>
            <p:cNvPr id="68" name="ex-z"/>
            <p:cNvGrpSpPr/>
            <p:nvPr/>
          </p:nvGrpSpPr>
          <p:grpSpPr>
            <a:xfrm>
              <a:off x="6324600" y="1981200"/>
              <a:ext cx="2590800" cy="1295400"/>
              <a:chOff x="6324600" y="1981200"/>
              <a:chExt cx="2590800" cy="12954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6324600" y="1981200"/>
                <a:ext cx="25908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507480" y="2143125"/>
                <a:ext cx="16851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整数环 (Z, +, ×)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509004" y="2499360"/>
                <a:ext cx="155143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所有整数在整数的加法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与乘法下作成环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本章所有结构的“原型”</a:t>
                </a:r>
              </a:p>
            </p:txBody>
          </p:sp>
        </p:grpSp>
        <p:grpSp>
          <p:nvGrpSpPr>
            <p:cNvPr id="72" name="ex-matrix"/>
            <p:cNvGrpSpPr/>
            <p:nvPr/>
          </p:nvGrpSpPr>
          <p:grpSpPr>
            <a:xfrm>
              <a:off x="9067800" y="1981200"/>
              <a:ext cx="2590800" cy="1295400"/>
              <a:chOff x="9067800" y="1981200"/>
              <a:chExt cx="2590800" cy="12954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9067800" y="1981200"/>
                <a:ext cx="25908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250680" y="2143125"/>
                <a:ext cx="10031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n 阶矩阵环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252204" y="2499360"/>
                <a:ext cx="171145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所有 n 阶矩阵在矩阵加法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与乘法下作成环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乘法一般不交换</a:t>
                </a:r>
              </a:p>
            </p:txBody>
          </p:sp>
        </p:grpSp>
        <p:grpSp>
          <p:nvGrpSpPr>
            <p:cNvPr id="76" name="ex-zn"/>
            <p:cNvGrpSpPr/>
            <p:nvPr/>
          </p:nvGrpSpPr>
          <p:grpSpPr>
            <a:xfrm>
              <a:off x="6324600" y="3390900"/>
              <a:ext cx="2590800" cy="1295400"/>
              <a:chOff x="6324600" y="3390900"/>
              <a:chExt cx="2590800" cy="12954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6324600" y="3390900"/>
                <a:ext cx="25908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507480" y="3552825"/>
                <a:ext cx="15823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模 n 剩余类环 Zₙ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509004" y="3909060"/>
                <a:ext cx="186385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整数模 n 的所有剩余类，在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剩余类加法与乘法下作成环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本册的“实验室”</a:t>
                </a:r>
              </a:p>
            </p:txBody>
          </p:sp>
        </p:grpSp>
        <p:grpSp>
          <p:nvGrpSpPr>
            <p:cNvPr id="80" name="ex-qrc"/>
            <p:cNvGrpSpPr/>
            <p:nvPr/>
          </p:nvGrpSpPr>
          <p:grpSpPr>
            <a:xfrm>
              <a:off x="9067800" y="3390900"/>
              <a:ext cx="2590800" cy="1295400"/>
              <a:chOff x="9067800" y="3390900"/>
              <a:chExt cx="2590800" cy="129540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9067800" y="3390900"/>
                <a:ext cx="25908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9250680" y="3552825"/>
                <a:ext cx="8335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Q、R、C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252204" y="3909060"/>
                <a:ext cx="214579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有理数、实数、复数在数的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加法与乘法下分别作成环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常称有理数域、实数域、复数域</a:t>
                </a:r>
              </a:p>
            </p:txBody>
          </p:sp>
        </p:grpSp>
      </p:grpSp>
      <p:grpSp>
        <p:nvGrpSpPr>
          <p:cNvPr id="90" name="counter-example"/>
          <p:cNvGrpSpPr/>
          <p:nvPr/>
        </p:nvGrpSpPr>
        <p:grpSpPr>
          <a:xfrm>
            <a:off x="6324600" y="4838700"/>
            <a:ext cx="5334000" cy="876300"/>
            <a:chOff x="6324600" y="4838700"/>
            <a:chExt cx="5334000" cy="876300"/>
          </a:xfrm>
        </p:grpSpPr>
        <p:sp>
          <p:nvSpPr>
            <p:cNvPr id="82" name="Rectangle 82"/>
            <p:cNvSpPr/>
            <p:nvPr/>
          </p:nvSpPr>
          <p:spPr>
            <a:xfrm>
              <a:off x="6324600" y="4838700"/>
              <a:ext cx="5334000" cy="876300"/>
            </a:xfrm>
            <a:prstGeom prst="roundRect">
              <a:avLst>
                <a:gd name="adj" fmla="val 1521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515100" y="49720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652260" y="5033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231380" y="5010150"/>
              <a:ext cx="1685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(N, +, ×) 不是环</a:t>
              </a:r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11372850" y="5048250"/>
              <a:ext cx="114300" cy="114300"/>
              <a:chOff x="11372850" y="5048250"/>
              <a:chExt cx="114300" cy="1143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1372850" y="5048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1372850" y="5048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508242" y="5397818"/>
              <a:ext cx="4341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的负元 −1 ∉ N：(N, +) 连群都不是（第 7 项失败）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1" name="Rectangle 9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67877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证明是环 = 证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(R, +) 交换群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+ 证 </a:t>
              </a:r>
              <a:r>
                <a:rPr lang="zh-CN" sz="16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(R, ·) 半群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+ 证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左、右分配律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167417" cy="960501"/>
            <a:chOff x="519684" y="361950"/>
            <a:chExt cx="616741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1674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环的运算性质（一）：0 与负号的规则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property-1"/>
          <p:cNvGrpSpPr/>
          <p:nvPr/>
        </p:nvGrpSpPr>
        <p:grpSpPr>
          <a:xfrm>
            <a:off x="533400" y="1485900"/>
            <a:ext cx="3848100" cy="4229100"/>
            <a:chOff x="533400" y="1485900"/>
            <a:chExt cx="38481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848100" cy="4229100"/>
            </a:xfrm>
            <a:prstGeom prst="roundRect">
              <a:avLst>
                <a:gd name="adj" fmla="val 396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76400"/>
              <a:ext cx="47625" cy="384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383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914" y="169926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9542" y="16925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分配律的推广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20802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用数学归纳法，分配律可以推广：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" y="2343150"/>
              <a:ext cx="3314700" cy="8001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1080" y="2505075"/>
              <a:ext cx="2682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a(b₁ + … + bₙ) = ab₁ + … + abₙ</a:t>
              </a:r>
              <a:br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(a₁ + … + aₘ)b = a₁b + … + aₘb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331851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于是两个“和”相乘 = 每项乘每项再相加：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sum-formula"/>
                <p:cNvSpPr txBox="1">
                  <a:spLocks noGrp="1"/>
                </p:cNvSpPr>
                <p:nvPr/>
              </p:nvSpPr>
              <p:spPr>
                <a:xfrm>
                  <a:off x="876300" y="3562350"/>
                  <a:ext cx="33147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Rectangle 17"/>
            <p:cNvSpPr/>
            <p:nvPr/>
          </p:nvSpPr>
          <p:spPr>
            <a:xfrm>
              <a:off x="876300" y="4514850"/>
              <a:ext cx="3314700" cy="1047750"/>
            </a:xfrm>
            <a:prstGeom prst="roundRect">
              <a:avLst>
                <a:gd name="adj" fmla="val 1090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8225" y="4676775"/>
              <a:ext cx="171450" cy="171450"/>
              <a:chOff x="1038225" y="4676775"/>
              <a:chExt cx="171450" cy="1714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8225" y="46767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72287" y="47148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02042" y="48101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308354" y="4699635"/>
              <a:ext cx="24603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直观：就像中学里的“多项式展开”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1842" y="5016818"/>
              <a:ext cx="150533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(x + y)(u + v)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= xu + xv + yu + yv</a:t>
              </a:r>
            </a:p>
          </p:txBody>
        </p:sp>
      </p:grpSp>
      <p:grpSp>
        <p:nvGrpSpPr>
          <p:cNvPr id="55" name="proof-chain"/>
          <p:cNvGrpSpPr/>
          <p:nvPr/>
        </p:nvGrpSpPr>
        <p:grpSpPr>
          <a:xfrm>
            <a:off x="4743450" y="1600200"/>
            <a:ext cx="6800850" cy="4076700"/>
            <a:chOff x="4743450" y="1600200"/>
            <a:chExt cx="6800850" cy="4076700"/>
          </a:xfrm>
        </p:grpSpPr>
        <p:sp>
          <p:nvSpPr>
            <p:cNvPr id="25" name="Line 25"/>
            <p:cNvSpPr/>
            <p:nvPr/>
          </p:nvSpPr>
          <p:spPr>
            <a:xfrm>
              <a:off x="4914900" y="1771650"/>
              <a:ext cx="9525" cy="2705100"/>
            </a:xfrm>
            <a:custGeom>
              <a:avLst/>
              <a:gdLst/>
              <a:ahLst/>
              <a:cxnLst/>
              <a:rect l="l" t="t" r="r" b="b"/>
              <a:pathLst>
                <a:path w="9525" h="2705100">
                  <a:moveTo>
                    <a:pt x="0" y="0"/>
                  </a:moveTo>
                  <a:lnTo>
                    <a:pt x="0" y="27051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4" name="step-p2"/>
            <p:cNvGrpSpPr/>
            <p:nvPr/>
          </p:nvGrpSpPr>
          <p:grpSpPr>
            <a:xfrm>
              <a:off x="4743450" y="1600200"/>
              <a:ext cx="6800850" cy="1181100"/>
              <a:chOff x="4743450" y="1600200"/>
              <a:chExt cx="6800850" cy="11811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4743450" y="16002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855565" y="16830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12842" y="1692592"/>
                <a:ext cx="392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性质2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zh-CN" sz="1350" b="1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a(c − b) = ac − ab，(c − b)a = ca − ba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219700" y="1962150"/>
                <a:ext cx="6324600" cy="819150"/>
              </a:xfrm>
              <a:prstGeom prst="roundRect">
                <a:avLst>
                  <a:gd name="adj" fmla="val 1395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03342" y="2121218"/>
                <a:ext cx="2966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a(c − b) + ab = a((c − b) + b) = ac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962513" y="215360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分配律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403342" y="2464118"/>
                <a:ext cx="39842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⇒ a(c − b) = ac − ab；同理 (c − b)a = ca − ba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390041" y="2496502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两边加上 −(ab)</a:t>
                </a:r>
              </a:p>
            </p:txBody>
          </p:sp>
        </p:grpSp>
        <p:grpSp>
          <p:nvGrpSpPr>
            <p:cNvPr id="43" name="step-p3"/>
            <p:cNvGrpSpPr/>
            <p:nvPr/>
          </p:nvGrpSpPr>
          <p:grpSpPr>
            <a:xfrm>
              <a:off x="4743450" y="2876550"/>
              <a:ext cx="6800850" cy="1181100"/>
              <a:chOff x="4743450" y="2876550"/>
              <a:chExt cx="6800850" cy="118110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4743450" y="28765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855565" y="29594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212842" y="2968942"/>
                <a:ext cx="17897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性质3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zh-CN" sz="1350" b="1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a0 = 0，0a = 0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219700" y="3238500"/>
                <a:ext cx="6324600" cy="819150"/>
              </a:xfrm>
              <a:prstGeom prst="roundRect">
                <a:avLst>
                  <a:gd name="adj" fmla="val 1395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403342" y="3397568"/>
                <a:ext cx="29851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令 b = c = 0：a(0 − 0) = a0 − a0 = 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884770" y="3429952"/>
                <a:ext cx="5124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由性质2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403342" y="3740468"/>
                <a:ext cx="41950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⇒ a0 = 0；同理 (0 − 0)a = 0a − 0a = 0，即 0a = 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828230" y="3772852"/>
                <a:ext cx="5690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0 − 0 = 0</a:t>
                </a:r>
              </a:p>
            </p:txBody>
          </p:sp>
        </p:grpSp>
        <p:grpSp>
          <p:nvGrpSpPr>
            <p:cNvPr id="54" name="step-p4"/>
            <p:cNvGrpSpPr/>
            <p:nvPr/>
          </p:nvGrpSpPr>
          <p:grpSpPr>
            <a:xfrm>
              <a:off x="4743450" y="4152900"/>
              <a:ext cx="6800850" cy="1524000"/>
              <a:chOff x="4743450" y="4152900"/>
              <a:chExt cx="6800850" cy="152400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4743450" y="41529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855565" y="4235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12842" y="4245292"/>
                <a:ext cx="47098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性质4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zh-CN" sz="1350" b="1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a(−b) = −(ab)，(−a)b = −(ab)，(−a)(−b) = ab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5219700" y="4514850"/>
                <a:ext cx="6324600" cy="1162050"/>
              </a:xfrm>
              <a:prstGeom prst="roundRect">
                <a:avLst>
                  <a:gd name="adj" fmla="val 98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403342" y="4673918"/>
                <a:ext cx="29578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a(−b) = a(0 − b) = a0 − ab = −(ab)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665676" y="4706302"/>
                <a:ext cx="7315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由性质2、3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03342" y="5016818"/>
                <a:ext cx="29578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(−a)b = (0 − a)b = 0b − ab = −(ab)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665676" y="5049202"/>
                <a:ext cx="7315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由性质2、3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03342" y="5359718"/>
                <a:ext cx="34008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(−a)(−b) = −((−a)b) = −(−(ab)) = ab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36664" y="5392102"/>
                <a:ext cx="1360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第一式中把 a 换成 −a</a:t>
                </a:r>
              </a:p>
            </p:txBody>
          </p:sp>
        </p:grpSp>
      </p:grpSp>
      <p:grpSp>
        <p:nvGrpSpPr>
          <p:cNvPr id="6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62000" y="6105525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6300" y="5991225"/>
                <a:ext cx="9525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599">
                    <a:moveTo>
                      <a:pt x="0" y="0"/>
                    </a:moveTo>
                    <a:lnTo>
                      <a:pt x="0" y="2285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33449" y="60102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33449" y="60102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3810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00100" y="60039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4700" y="602932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52499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2499" y="62071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4700" y="6181724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134618" y="6003608"/>
              <a:ext cx="69692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“乘 0 得 0”“负负得正”在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任意环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里都成立——它们是由公理推出的定理。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环的运算性质（二）：倍数、乘方与交换环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property-5"/>
          <p:cNvGrpSpPr/>
          <p:nvPr/>
        </p:nvGrpSpPr>
        <p:grpSpPr>
          <a:xfrm>
            <a:off x="533400" y="1485900"/>
            <a:ext cx="4991100" cy="1143000"/>
            <a:chOff x="533400" y="1485900"/>
            <a:chExt cx="4991100" cy="1143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991100" cy="11430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914" y="16802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9542" y="1673542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对任意整数 m，都有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20316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a(mb) = (ma)b = m(ab)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966" y="2382202"/>
              <a:ext cx="3982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 表示 m 个 a 相加；m &lt; 0 时为 |m| 个 −a 相加；m = 0 时为 0</a:t>
              </a:r>
            </a:p>
          </p:txBody>
        </p:sp>
      </p:grpSp>
      <p:grpSp>
        <p:nvGrpSpPr>
          <p:cNvPr id="21" name="property-6"/>
          <p:cNvGrpSpPr/>
          <p:nvPr/>
        </p:nvGrpSpPr>
        <p:grpSpPr>
          <a:xfrm>
            <a:off x="533400" y="2743200"/>
            <a:ext cx="4991100" cy="952500"/>
            <a:chOff x="533400" y="2743200"/>
            <a:chExt cx="4991100" cy="952500"/>
          </a:xfrm>
        </p:grpSpPr>
        <p:sp>
          <p:nvSpPr>
            <p:cNvPr id="15" name="Rectangle 15"/>
            <p:cNvSpPr/>
            <p:nvPr/>
          </p:nvSpPr>
          <p:spPr>
            <a:xfrm>
              <a:off x="533400" y="2743200"/>
              <a:ext cx="4991100" cy="952500"/>
            </a:xfrm>
            <a:prstGeom prst="roundRect">
              <a:avLst>
                <a:gd name="adj" fmla="val 16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2895600"/>
              <a:ext cx="47625" cy="64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76300" y="28765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4914" y="29375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8018" y="29079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aᵐ⁺ⁿ = aᵐaⁿ，(aᵐ)ⁿ = aᵐⁿ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3372802"/>
              <a:ext cx="4102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m、n 为正整数，aⁿ 表示 n 个 a 相乘（环里不一定有 a⁰ 和 a⁻¹）</a:t>
              </a:r>
            </a:p>
          </p:txBody>
        </p:sp>
      </p:grpSp>
      <p:grpSp>
        <p:nvGrpSpPr>
          <p:cNvPr id="31" name="pitfall"/>
          <p:cNvGrpSpPr/>
          <p:nvPr/>
        </p:nvGrpSpPr>
        <p:grpSpPr>
          <a:xfrm>
            <a:off x="533400" y="3810000"/>
            <a:ext cx="4991100" cy="1905000"/>
            <a:chOff x="533400" y="3810000"/>
            <a:chExt cx="49911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533400" y="3810000"/>
              <a:ext cx="4991100" cy="1905000"/>
            </a:xfrm>
            <a:prstGeom prst="roundRect">
              <a:avLst>
                <a:gd name="adj" fmla="val 8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96240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6300" y="3943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3460" y="4004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93342" y="39976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非交换环里，别套中学公式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8680" y="437197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+ b)² = a² + ab + ba + b²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442" y="465486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一般 ≠ a² + 2ab + b²（除非 ab = ba）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680" y="5000625"/>
              <a:ext cx="252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(ab)² = abab，</a:t>
              </a:r>
              <a:r>
                <a:rPr lang="zh-CN" sz="1500" dirty="0">
                  <a:solidFill>
                    <a:srgbClr val="B42318"/>
                  </a:solidFill>
                  <a:latin typeface="Cambria Math"/>
                  <a:ea typeface="Microsoft YaHei"/>
                  <a:cs typeface="Cambria Math"/>
                </a:rPr>
                <a:t>一般 ≠ a²b²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204" y="5375910"/>
              <a:ext cx="38822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例：n 阶矩阵环（n ≥ 2）中取 AB ≠ BA，两式都不成立</a:t>
              </a:r>
            </a:p>
          </p:txBody>
        </p:sp>
      </p:grpSp>
      <p:grpSp>
        <p:nvGrpSpPr>
          <p:cNvPr id="42" name="commutative-ring"/>
          <p:cNvGrpSpPr/>
          <p:nvPr/>
        </p:nvGrpSpPr>
        <p:grpSpPr>
          <a:xfrm>
            <a:off x="5753100" y="1485900"/>
            <a:ext cx="5905500" cy="1143000"/>
            <a:chOff x="5753100" y="1485900"/>
            <a:chExt cx="5905500" cy="1143000"/>
          </a:xfrm>
        </p:grpSpPr>
        <p:sp>
          <p:nvSpPr>
            <p:cNvPr id="32" name="Rectangle 32"/>
            <p:cNvSpPr/>
            <p:nvPr/>
          </p:nvSpPr>
          <p:spPr>
            <a:xfrm>
              <a:off x="5753100" y="1485900"/>
              <a:ext cx="5905500" cy="11430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905500" y="163830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33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30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交换环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1272838" y="1685925"/>
              <a:ext cx="200025" cy="133350"/>
              <a:chOff x="11272838" y="1685925"/>
              <a:chExt cx="200025" cy="1333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317288" y="168592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272838" y="177482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089142" y="2064068"/>
              <a:ext cx="4381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如果乘法适合交换律 </a:t>
              </a:r>
              <a:r>
                <a:rPr lang="en-US" sz="13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ab = ba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 R 是一个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89904" y="2366010"/>
              <a:ext cx="4783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例：整数环、Zₙ、Q、R、C 都是交换环；n 阶矩阵环（n ≥ 2）不是</a:t>
              </a:r>
            </a:p>
          </p:txBody>
        </p:sp>
      </p:grpSp>
      <p:grpSp>
        <p:nvGrpSpPr>
          <p:cNvPr id="50" name="property-7"/>
          <p:cNvGrpSpPr/>
          <p:nvPr/>
        </p:nvGrpSpPr>
        <p:grpSpPr>
          <a:xfrm>
            <a:off x="5753100" y="2743200"/>
            <a:ext cx="5905500" cy="952500"/>
            <a:chOff x="5753100" y="2743200"/>
            <a:chExt cx="5905500" cy="952500"/>
          </a:xfrm>
        </p:grpSpPr>
        <p:sp>
          <p:nvSpPr>
            <p:cNvPr id="43" name="Rectangle 43"/>
            <p:cNvSpPr/>
            <p:nvPr/>
          </p:nvSpPr>
          <p:spPr>
            <a:xfrm>
              <a:off x="5753100" y="2743200"/>
              <a:ext cx="5905500" cy="952500"/>
            </a:xfrm>
            <a:prstGeom prst="roundRect">
              <a:avLst>
                <a:gd name="adj" fmla="val 16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0" y="2895600"/>
              <a:ext cx="47625" cy="64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0" y="28765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24614" y="29375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89242" y="29308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在交换环中，有第三指数律：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86094" y="3294698"/>
              <a:ext cx="17011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(ab)ⁿ = aⁿbⁿ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24461" y="3372802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交换律把 ab·ab·…·ab 重排成 a…a·b…b</a:t>
              </a:r>
            </a:p>
          </p:txBody>
        </p:sp>
      </p:grpSp>
      <p:grpSp>
        <p:nvGrpSpPr>
          <p:cNvPr id="59" name="property-8"/>
          <p:cNvGrpSpPr/>
          <p:nvPr/>
        </p:nvGrpSpPr>
        <p:grpSpPr>
          <a:xfrm>
            <a:off x="5753100" y="3810000"/>
            <a:ext cx="5905500" cy="1905000"/>
            <a:chOff x="5753100" y="3810000"/>
            <a:chExt cx="59055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5753100" y="3810000"/>
              <a:ext cx="5905500" cy="1905000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05500" y="396240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6000" y="39433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24614" y="40043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9242" y="39976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在交换环中，二项式定理成立：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binomial-formula"/>
                <p:cNvSpPr txBox="1">
                  <a:spLocks noGrp="1"/>
                </p:cNvSpPr>
                <p:nvPr/>
              </p:nvSpPr>
              <p:spPr>
                <a:xfrm>
                  <a:off x="6019800" y="4305300"/>
                  <a:ext cx="54864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7" name="TextBox 57"/>
            <p:cNvSpPr txBox="1"/>
            <p:nvPr/>
          </p:nvSpPr>
          <p:spPr>
            <a:xfrm>
              <a:off x="6089904" y="5147310"/>
              <a:ext cx="4801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思路：用性质1 展开 (a + b)ⁿ，交换律让每一项都能整理成 aᵏbⁿ⁻ᵏ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89904" y="5414010"/>
              <a:ext cx="3768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系数 n、n(n − 1)/2 等是“倍数”（性质5 中的 m·a）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62000" y="6029325"/>
              <a:ext cx="228600" cy="152400"/>
              <a:chOff x="762000" y="6029325"/>
              <a:chExt cx="228600" cy="1524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12800" y="60293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62000" y="61309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134618" y="6003608"/>
              <a:ext cx="72135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倍数律、指数律在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任意环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成立；(ab)ⁿ = aⁿbⁿ 与二项式定理要求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交换环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291891" cy="960501"/>
            <a:chOff x="519684" y="361950"/>
            <a:chExt cx="429189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2918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含单位元环：多了一个“1”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definition"/>
          <p:cNvGrpSpPr/>
          <p:nvPr/>
        </p:nvGrpSpPr>
        <p:grpSpPr>
          <a:xfrm>
            <a:off x="533400" y="1485900"/>
            <a:ext cx="11125200" cy="1143000"/>
            <a:chOff x="533400" y="1485900"/>
            <a:chExt cx="11125200" cy="1143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1430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含单位元环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09775"/>
              <a:ext cx="44538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如果环 R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不只有一个元素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，而且有一个元素 1 适合：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对任意 a ∈ R，</a:t>
              </a:r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1a = a1 = a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 R 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含单位元环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0" y="1619250"/>
              <a:ext cx="4267200" cy="400050"/>
            </a:xfrm>
            <a:prstGeom prst="roundRect">
              <a:avLst>
                <a:gd name="adj" fmla="val 2857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419975" y="1771650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90104" y="174688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整数环是含单位元环（1 就是整数 1）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0" y="2095500"/>
              <a:ext cx="4267200" cy="400050"/>
            </a:xfrm>
            <a:prstGeom prst="roundRect">
              <a:avLst>
                <a:gd name="adj" fmla="val 2857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429500" y="2238375"/>
              <a:ext cx="114300" cy="114300"/>
              <a:chOff x="7429500" y="2238375"/>
              <a:chExt cx="114300" cy="1143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429500" y="22383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429500" y="22383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690104" y="2223135"/>
              <a:ext cx="3485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偶数环不是：若 e·2 = 2，则 e = 1，不是偶数</a:t>
              </a:r>
            </a:p>
          </p:txBody>
        </p:sp>
      </p:grpSp>
      <p:grpSp>
        <p:nvGrpSpPr>
          <p:cNvPr id="31" name="property-9"/>
          <p:cNvGrpSpPr/>
          <p:nvPr/>
        </p:nvGrpSpPr>
        <p:grpSpPr>
          <a:xfrm>
            <a:off x="533400" y="2743200"/>
            <a:ext cx="4419600" cy="1447800"/>
            <a:chOff x="533400" y="2743200"/>
            <a:chExt cx="4419600" cy="1447800"/>
          </a:xfrm>
        </p:grpSpPr>
        <p:sp>
          <p:nvSpPr>
            <p:cNvPr id="22" name="Rectangle 22"/>
            <p:cNvSpPr/>
            <p:nvPr/>
          </p:nvSpPr>
          <p:spPr>
            <a:xfrm>
              <a:off x="533400" y="2743200"/>
              <a:ext cx="4419600" cy="14478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2895600"/>
              <a:ext cx="47625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6300" y="28765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4914" y="29375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9542" y="29308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单位元唯一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442" y="3283268"/>
              <a:ext cx="3142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含单位元环 R 的单位元是唯一确定的。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204" y="3661410"/>
              <a:ext cx="231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证：若 1、1′ 为两个单位元，则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3918" y="3622358"/>
              <a:ext cx="14511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1′ = 1·1′ =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966" y="3944302"/>
              <a:ext cx="319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第一个“=”：1 是单位元；第二个“=”：1′ 是单位元</a:t>
              </a:r>
            </a:p>
          </p:txBody>
        </p:sp>
      </p:grpSp>
      <p:grpSp>
        <p:nvGrpSpPr>
          <p:cNvPr id="39" name="property-10"/>
          <p:cNvGrpSpPr/>
          <p:nvPr/>
        </p:nvGrpSpPr>
        <p:grpSpPr>
          <a:xfrm>
            <a:off x="533400" y="4305300"/>
            <a:ext cx="4419600" cy="1409700"/>
            <a:chOff x="533400" y="4305300"/>
            <a:chExt cx="4419600" cy="1409700"/>
          </a:xfrm>
        </p:grpSpPr>
        <p:sp>
          <p:nvSpPr>
            <p:cNvPr id="32" name="Rectangle 32"/>
            <p:cNvSpPr/>
            <p:nvPr/>
          </p:nvSpPr>
          <p:spPr>
            <a:xfrm>
              <a:off x="533400" y="4305300"/>
              <a:ext cx="4419600" cy="140970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" y="4457700"/>
              <a:ext cx="47625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76300" y="44386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6368" y="449961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45742" y="4492942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≠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442" y="4845368"/>
              <a:ext cx="1942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设环 R 有 1，则 1 ≠ 0。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0204" y="5166360"/>
              <a:ext cx="35554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证：取 a ∈ R 且 a ≠ 0（R 不只一个元素，故存在），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a0 = 0（性质3），而 a1 = a ≠ 0，故 1 ≠ 0</a:t>
              </a:r>
            </a:p>
          </p:txBody>
        </p:sp>
      </p:grpSp>
      <p:grpSp>
        <p:nvGrpSpPr>
          <p:cNvPr id="54" name="property-11"/>
          <p:cNvGrpSpPr/>
          <p:nvPr/>
        </p:nvGrpSpPr>
        <p:grpSpPr>
          <a:xfrm>
            <a:off x="5181600" y="2743200"/>
            <a:ext cx="6477000" cy="2971800"/>
            <a:chOff x="5181600" y="2743200"/>
            <a:chExt cx="6477000" cy="2971800"/>
          </a:xfrm>
        </p:grpSpPr>
        <p:sp>
          <p:nvSpPr>
            <p:cNvPr id="40" name="Rectangle 40"/>
            <p:cNvSpPr/>
            <p:nvPr/>
          </p:nvSpPr>
          <p:spPr>
            <a:xfrm>
              <a:off x="5181600" y="2743200"/>
              <a:ext cx="6477000" cy="2971800"/>
            </a:xfrm>
            <a:prstGeom prst="roundRect">
              <a:avLst>
                <a:gd name="adj" fmla="val 512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0" y="2895600"/>
              <a:ext cx="47625" cy="266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524500" y="28765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44568" y="293751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3942" y="2930842"/>
              <a:ext cx="325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任意环 R 均可扩充成一个含单位元环 R⁺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16880" y="3286125"/>
              <a:ext cx="3042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构造 </a:t>
              </a:r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R⁺ = {a + m | a ∈ R，m ∈ Z}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46406" y="3325178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+ m 是“有序对”的形式写法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0" y="3581400"/>
              <a:ext cx="5981700" cy="723900"/>
            </a:xfrm>
            <a:prstGeom prst="roundRect">
              <a:avLst>
                <a:gd name="adj" fmla="val 157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8142" y="3711892"/>
              <a:ext cx="2996946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+ m) + (b + n) = (a + b) + (m + n)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 + m)(b + n) = (ab + na + mb) + mn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76966" y="3744278"/>
              <a:ext cx="544068" cy="510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规定加法</a:t>
              </a:r>
              <a:br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规定乘法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8404" y="4423410"/>
              <a:ext cx="4054983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R⁺ 为环，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单位元为 0 + 1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；R⁺ ⊇ {a + 0 | a ∈ R} = R + 0，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R⁺ 的加法和乘法是 R 的运算的扩充——R 被“装进”了 R⁺。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24500" y="4914900"/>
              <a:ext cx="5981700" cy="704850"/>
            </a:xfrm>
            <a:prstGeom prst="roundRect">
              <a:avLst>
                <a:gd name="adj" fmla="val 1621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70804" y="5071110"/>
              <a:ext cx="67894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验证单位元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642" y="5054918"/>
              <a:ext cx="357130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(0 + 1)(b + n) = (0b + n0 + 1b) + 1·n = b + n</a:t>
              </a:r>
              <a:br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 + n)(0 + 1) = (b0 + 1b + n0) + n·1 = b + n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34618" y="6003608"/>
              <a:ext cx="7269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单位元是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额外条件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：有则唯一且 1 ≠ 0；没有也不要紧——总能扩充出一个。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935224" cy="960501"/>
            <a:chOff x="519684" y="361950"/>
            <a:chExt cx="293522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环的性质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子环：环里面的环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definition"/>
          <p:cNvGrpSpPr/>
          <p:nvPr/>
        </p:nvGrpSpPr>
        <p:grpSpPr>
          <a:xfrm>
            <a:off x="533400" y="1485900"/>
            <a:ext cx="5600700" cy="1371600"/>
            <a:chOff x="533400" y="1485900"/>
            <a:chExt cx="5600700" cy="1371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600700" cy="13716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288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R 是环，S 是 R 的非空子集，若 S 在 R 的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加法和乘法下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仍是环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 S 是 R 的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子环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575560"/>
              <a:ext cx="33017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结论：R 本身以及 {0} 是 R 的两个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平凡子环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theorem"/>
          <p:cNvGrpSpPr/>
          <p:nvPr/>
        </p:nvGrpSpPr>
        <p:grpSpPr>
          <a:xfrm>
            <a:off x="533400" y="2971800"/>
            <a:ext cx="5600700" cy="2743200"/>
            <a:chOff x="533400" y="2971800"/>
            <a:chExt cx="5600700" cy="2743200"/>
          </a:xfrm>
        </p:grpSpPr>
        <p:sp>
          <p:nvSpPr>
            <p:cNvPr id="15" name="Rectangle 15"/>
            <p:cNvSpPr/>
            <p:nvPr/>
          </p:nvSpPr>
          <p:spPr>
            <a:xfrm>
              <a:off x="533400" y="2971800"/>
              <a:ext cx="5600700" cy="2743200"/>
            </a:xfrm>
            <a:prstGeom prst="roundRect">
              <a:avLst>
                <a:gd name="adj" fmla="val 5556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5800" y="3124200"/>
              <a:ext cx="47625" cy="2438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" y="310515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3388" y="31661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6.5.1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2442" y="31594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子环判定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3549968"/>
              <a:ext cx="318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 R 的子集 S 作成子环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必要而且只要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3848100"/>
              <a:ext cx="50292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7280" y="4000500"/>
              <a:ext cx="1115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（1）S 非空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" y="4438650"/>
              <a:ext cx="50292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7280" y="4591050"/>
              <a:ext cx="2717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（2）a ∈ S，b ∈ S ⇒ a − b ∈ 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79111" y="4630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对减法封闭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4400" y="5029200"/>
              <a:ext cx="5029200" cy="495300"/>
            </a:xfrm>
            <a:prstGeom prst="roundRect">
              <a:avLst>
                <a:gd name="adj" fmla="val 2307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7280" y="5181600"/>
              <a:ext cx="2479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（3）a ∈ S，b ∈ S ⇒ ab ∈ 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79111" y="52206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对乘法封闭</a:t>
              </a:r>
            </a:p>
          </p:txBody>
        </p:sp>
      </p:grpSp>
      <p:grpSp>
        <p:nvGrpSpPr>
          <p:cNvPr id="37" name="why"/>
          <p:cNvGrpSpPr/>
          <p:nvPr/>
        </p:nvGrpSpPr>
        <p:grpSpPr>
          <a:xfrm>
            <a:off x="6324600" y="1485900"/>
            <a:ext cx="5334000" cy="1371600"/>
            <a:chOff x="6324600" y="1485900"/>
            <a:chExt cx="5334000" cy="1371600"/>
          </a:xfrm>
        </p:grpSpPr>
        <p:sp>
          <p:nvSpPr>
            <p:cNvPr id="30" name="Rectangle 30"/>
            <p:cNvSpPr/>
            <p:nvPr/>
          </p:nvSpPr>
          <p:spPr>
            <a:xfrm>
              <a:off x="6324600" y="1485900"/>
              <a:ext cx="5334000" cy="1371600"/>
            </a:xfrm>
            <a:prstGeom prst="roundRect">
              <a:avLst>
                <a:gd name="adj" fmla="val 11111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46056" y="1669256"/>
              <a:ext cx="185737" cy="185737"/>
              <a:chOff x="6546056" y="1669256"/>
              <a:chExt cx="185737" cy="1857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46056" y="16692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82956" y="17105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15192" y="18137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851142" y="1683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为什么三条就够？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7104" y="2042160"/>
              <a:ext cx="35554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（1）（2）⇒ (S, +) 是加法子群（6.3 的子群判定）</a:t>
              </a:r>
            </a:p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（3）⇒ 乘法在 S 上封闭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结合律、分配律对 R 的所有元素成立，S 自动继承</a:t>
              </a:r>
            </a:p>
          </p:txBody>
        </p:sp>
      </p:grpSp>
      <p:grpSp>
        <p:nvGrpSpPr>
          <p:cNvPr id="45" name="example"/>
          <p:cNvGrpSpPr/>
          <p:nvPr/>
        </p:nvGrpSpPr>
        <p:grpSpPr>
          <a:xfrm>
            <a:off x="6324600" y="2971800"/>
            <a:ext cx="5334000" cy="1066800"/>
            <a:chOff x="6324600" y="2971800"/>
            <a:chExt cx="5334000" cy="1066800"/>
          </a:xfrm>
        </p:grpSpPr>
        <p:sp>
          <p:nvSpPr>
            <p:cNvPr id="38" name="Rectangle 38"/>
            <p:cNvSpPr/>
            <p:nvPr/>
          </p:nvSpPr>
          <p:spPr>
            <a:xfrm>
              <a:off x="6324600" y="2971800"/>
              <a:ext cx="5334000" cy="1066800"/>
            </a:xfrm>
            <a:prstGeom prst="roundRect">
              <a:avLst>
                <a:gd name="adj" fmla="val 1428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15100" y="31051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6832" y="31661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79742" y="3159442"/>
              <a:ext cx="2173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偶数环 2Z 是整数环的子环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46342" y="3511868"/>
              <a:ext cx="1971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2s − 2t = 2(s − t) ∈ 2Z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2842" y="3511868"/>
              <a:ext cx="2053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(2s)(2t) = 2(2st) ∈ 2Z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7866" y="3791902"/>
              <a:ext cx="2452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再加上 0 ∈ 2Z（非空），三条全部满足</a:t>
              </a:r>
            </a:p>
          </p:txBody>
        </p:sp>
      </p:grpSp>
      <p:grpSp>
        <p:nvGrpSpPr>
          <p:cNvPr id="58" name="identity-relation"/>
          <p:cNvGrpSpPr/>
          <p:nvPr/>
        </p:nvGrpSpPr>
        <p:grpSpPr>
          <a:xfrm>
            <a:off x="6324600" y="4195243"/>
            <a:ext cx="5369376" cy="1519757"/>
            <a:chOff x="6324600" y="4195243"/>
            <a:chExt cx="5369376" cy="1519757"/>
          </a:xfrm>
        </p:grpSpPr>
        <p:grpSp>
          <p:nvGrpSpPr>
            <p:cNvPr id="49" name="Group 49"/>
            <p:cNvGrpSpPr/>
            <p:nvPr/>
          </p:nvGrpSpPr>
          <p:grpSpPr>
            <a:xfrm>
              <a:off x="6341319" y="4195243"/>
              <a:ext cx="176105" cy="151297"/>
              <a:chOff x="6341319" y="4195243"/>
              <a:chExt cx="176105" cy="15129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29375" y="42505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41319" y="41952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29375" y="431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603492" y="4197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子环与大环的单位元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24600" y="4457700"/>
              <a:ext cx="2286000" cy="1257300"/>
            </a:xfrm>
            <a:prstGeom prst="roundRect">
              <a:avLst>
                <a:gd name="adj" fmla="val 1060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08242" y="4597718"/>
              <a:ext cx="181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大环有 1，子环未必有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09004" y="4937760"/>
              <a:ext cx="12313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整数环含单位元，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其子环偶数环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不含单位元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63000" y="4457700"/>
              <a:ext cx="2895600" cy="1257300"/>
            </a:xfrm>
            <a:prstGeom prst="roundRect">
              <a:avLst>
                <a:gd name="adj" fmla="val 1060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46642" y="459771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子环的 1 未必是大环的 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47404" y="4937760"/>
              <a:ext cx="25572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Z₆ 的单位元是 [1]；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子环 {[0],[2],[4]} 的单位元是 [4]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48166" y="5468302"/>
              <a:ext cx="2745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[4][2] = [8] = [2]，[4][4] = [16] = [4]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134618" y="6003608"/>
              <a:ext cx="7146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判定子环三件事：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非空、对减法封闭、对乘法封闭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；单位元不必“遗传”。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381250" y="54292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section-title"/>
          <p:cNvGrpSpPr/>
          <p:nvPr/>
        </p:nvGrpSpPr>
        <p:grpSpPr>
          <a:xfrm>
            <a:off x="438150" y="1390650"/>
            <a:ext cx="3278734" cy="3910584"/>
            <a:chOff x="438150" y="1390650"/>
            <a:chExt cx="3278734" cy="3910584"/>
          </a:xfrm>
        </p:grpSpPr>
        <p:sp>
          <p:nvSpPr>
            <p:cNvPr id="5" name="Rectangle 5"/>
            <p:cNvSpPr/>
            <p:nvPr/>
          </p:nvSpPr>
          <p:spPr>
            <a:xfrm>
              <a:off x="533400" y="139065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631" y="148018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6.5 环 · 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19050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516630"/>
              <a:ext cx="27797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零因子、</a:t>
              </a:r>
              <a:br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消去环与整区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46863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4256" y="4949190"/>
              <a:ext cx="3192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整数的“好性质”哪些能保留？</a:t>
              </a:r>
            </a:p>
          </p:txBody>
        </p:sp>
      </p:grpSp>
      <p:grpSp>
        <p:nvGrpSpPr>
          <p:cNvPr id="42" name="storyline"/>
          <p:cNvGrpSpPr/>
          <p:nvPr/>
        </p:nvGrpSpPr>
        <p:grpSpPr>
          <a:xfrm>
            <a:off x="4381500" y="800100"/>
            <a:ext cx="7277100" cy="2933700"/>
            <a:chOff x="4381500" y="800100"/>
            <a:chExt cx="7277100" cy="2933700"/>
          </a:xfrm>
        </p:grpSpPr>
        <p:sp>
          <p:nvSpPr>
            <p:cNvPr id="12" name="Rectangle 12"/>
            <p:cNvSpPr/>
            <p:nvPr/>
          </p:nvSpPr>
          <p:spPr>
            <a:xfrm>
              <a:off x="4381500" y="8001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5330" y="8191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一条主线：从零因子走到整区</a:t>
              </a:r>
            </a:p>
          </p:txBody>
        </p:sp>
        <p:grpSp>
          <p:nvGrpSpPr>
            <p:cNvPr id="20" name="badge-zero-divisor"/>
            <p:cNvGrpSpPr/>
            <p:nvPr/>
          </p:nvGrpSpPr>
          <p:grpSpPr>
            <a:xfrm>
              <a:off x="4381500" y="1143000"/>
              <a:ext cx="3524250" cy="1219200"/>
              <a:chOff x="4381500" y="1143000"/>
              <a:chExt cx="3524250" cy="1219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81500" y="1143000"/>
                <a:ext cx="35242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4572000" y="13335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728080" y="1460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73218" y="13649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零因子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73980" y="1724025"/>
                <a:ext cx="2155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≠ 0，b ≠ 0，但 ab = 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175504" y="2042160"/>
                <a:ext cx="16034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两个非零元，乘出了 0</a:t>
                </a:r>
              </a:p>
            </p:txBody>
          </p:sp>
        </p:grpSp>
        <p:grpSp>
          <p:nvGrpSpPr>
            <p:cNvPr id="27" name="badge-cancellation-ring"/>
            <p:cNvGrpSpPr/>
            <p:nvPr/>
          </p:nvGrpSpPr>
          <p:grpSpPr>
            <a:xfrm>
              <a:off x="8134350" y="1143000"/>
              <a:ext cx="3524250" cy="1219200"/>
              <a:chOff x="8134350" y="1143000"/>
              <a:chExt cx="3524250" cy="12192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134350" y="1143000"/>
                <a:ext cx="35242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8324850" y="13335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480930" y="14601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26068" y="136493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消去环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26830" y="1724025"/>
                <a:ext cx="20648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无零因子 ⇔ 消去律成立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928354" y="2042160"/>
                <a:ext cx="21284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性质12：能放心约掉非零因子</a:t>
                </a:r>
              </a:p>
            </p:txBody>
          </p:sp>
        </p:grpSp>
        <p:grpSp>
          <p:nvGrpSpPr>
            <p:cNvPr id="34" name="badge-period"/>
            <p:cNvGrpSpPr/>
            <p:nvPr/>
          </p:nvGrpSpPr>
          <p:grpSpPr>
            <a:xfrm>
              <a:off x="4381500" y="2514600"/>
              <a:ext cx="3524250" cy="1219200"/>
              <a:chOff x="4381500" y="2514600"/>
              <a:chExt cx="3524250" cy="12192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81500" y="2514600"/>
                <a:ext cx="35242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572000" y="27051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728080" y="2831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73218" y="27365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加法周期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74742" y="3111818"/>
                <a:ext cx="2585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非零元周期相同，且为 0 或质数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75504" y="3413760"/>
                <a:ext cx="8522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性质13、14</a:t>
                </a:r>
              </a:p>
            </p:txBody>
          </p:sp>
        </p:grpSp>
        <p:grpSp>
          <p:nvGrpSpPr>
            <p:cNvPr id="41" name="badge-domain"/>
            <p:cNvGrpSpPr/>
            <p:nvPr/>
          </p:nvGrpSpPr>
          <p:grpSpPr>
            <a:xfrm>
              <a:off x="8134350" y="2514600"/>
              <a:ext cx="3524250" cy="1219200"/>
              <a:chOff x="8134350" y="2514600"/>
              <a:chExt cx="3524250" cy="12192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134350" y="2514600"/>
                <a:ext cx="3524250" cy="1219200"/>
              </a:xfrm>
              <a:prstGeom prst="roundRect">
                <a:avLst>
                  <a:gd name="adj" fmla="val 125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8324850" y="27051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80930" y="283178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926068" y="27365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整区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927592" y="3111818"/>
                <a:ext cx="22490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交换 + 有单位元 + 无零因子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28354" y="3413760"/>
                <a:ext cx="16437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像整数一样“好算”的环</a:t>
                </a:r>
              </a:p>
            </p:txBody>
          </p:sp>
        </p:grpSp>
      </p:grpSp>
      <p:grpSp>
        <p:nvGrpSpPr>
          <p:cNvPr id="51" name="contrast"/>
          <p:cNvGrpSpPr/>
          <p:nvPr/>
        </p:nvGrpSpPr>
        <p:grpSpPr>
          <a:xfrm>
            <a:off x="4381500" y="4000500"/>
            <a:ext cx="7277100" cy="1485900"/>
            <a:chOff x="4381500" y="4000500"/>
            <a:chExt cx="7277100" cy="1485900"/>
          </a:xfrm>
        </p:grpSpPr>
        <p:sp>
          <p:nvSpPr>
            <p:cNvPr id="43" name="Rectangle 43"/>
            <p:cNvSpPr/>
            <p:nvPr/>
          </p:nvSpPr>
          <p:spPr>
            <a:xfrm>
              <a:off x="4381500" y="4000500"/>
              <a:ext cx="3524250" cy="1485900"/>
            </a:xfrm>
            <a:prstGeom prst="roundRect">
              <a:avLst>
                <a:gd name="adj" fmla="val 1025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03242" y="4197668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整数环 Z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00194" y="4571048"/>
              <a:ext cx="15029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2 × 3 = 6 ≠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4004" y="5071110"/>
              <a:ext cx="1635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 = 0 ⇒ a = 0 或 b = 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134350" y="4000500"/>
              <a:ext cx="3524250" cy="1485900"/>
            </a:xfrm>
            <a:prstGeom prst="roundRect">
              <a:avLst>
                <a:gd name="adj" fmla="val 1025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56092" y="4197668"/>
              <a:ext cx="1424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模 6 剩余类环 Z₆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53044" y="45710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[2]·[3] = [6] = [0]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5071110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[2] ≠ [0]，[3] ≠ [0]，乘积却是 [0]</a:t>
              </a:r>
            </a:p>
          </p:txBody>
        </p:sp>
      </p:grpSp>
      <p:grpSp>
        <p:nvGrpSpPr>
          <p:cNvPr id="57" name="method-tip"/>
          <p:cNvGrpSpPr/>
          <p:nvPr/>
        </p:nvGrpSpPr>
        <p:grpSpPr>
          <a:xfrm>
            <a:off x="4381500" y="5715000"/>
            <a:ext cx="7277100" cy="609600"/>
            <a:chOff x="4381500" y="5715000"/>
            <a:chExt cx="7277100" cy="609600"/>
          </a:xfrm>
        </p:grpSpPr>
        <p:sp>
          <p:nvSpPr>
            <p:cNvPr id="52" name="Rectangle 52"/>
            <p:cNvSpPr/>
            <p:nvPr/>
          </p:nvSpPr>
          <p:spPr>
            <a:xfrm>
              <a:off x="4381500" y="5715000"/>
              <a:ext cx="7277100" cy="609600"/>
            </a:xfrm>
            <a:prstGeom prst="roundRect">
              <a:avLst>
                <a:gd name="adj" fmla="val 2187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4610100" y="5905500"/>
              <a:ext cx="228599" cy="228599"/>
              <a:chOff x="4610100" y="5905500"/>
              <a:chExt cx="228599" cy="22859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610100" y="5905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724400" y="59563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002530" y="5934075"/>
              <a:ext cx="5316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Zₙ 是本节的“实验室”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：Z₄、Z₆、Z₉、Z₁₂ 里都藏着零因子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28066" y="6573202"/>
            <a:ext cx="12700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6.5 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076995" cy="960501"/>
            <a:chOff x="519684" y="361950"/>
            <a:chExt cx="507699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240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10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消去环与整区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0769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零因子：两个非零元，乘出了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definition"/>
          <p:cNvGrpSpPr/>
          <p:nvPr/>
        </p:nvGrpSpPr>
        <p:grpSpPr>
          <a:xfrm>
            <a:off x="533400" y="1485900"/>
            <a:ext cx="8191500" cy="2133600"/>
            <a:chOff x="533400" y="1485900"/>
            <a:chExt cx="8191500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8191500" cy="21336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零因子与消去环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64065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R 是环，a、b ∈ R，如果 a ≠ 0，b ≠ 0，但 ab = 0，则称 a、b 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零因子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如果 R 没有这样的元素，则说 R 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无零因子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。无零因子的环称为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消去环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762250"/>
              <a:ext cx="3619500" cy="704850"/>
            </a:xfrm>
            <a:prstGeom prst="roundRect">
              <a:avLst>
                <a:gd name="adj" fmla="val 1621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28775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零因子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6518" y="3136582"/>
              <a:ext cx="208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≠ 0，b ≠ 0，ab =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86300" y="2762250"/>
              <a:ext cx="3848100" cy="704850"/>
            </a:xfrm>
            <a:prstGeom prst="roundRect">
              <a:avLst>
                <a:gd name="adj" fmla="val 1621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71466" y="28775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消去环（无零因子）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8418" y="31365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ab = 0 ⇒ a = 0 或 b = 0</a:t>
              </a:r>
            </a:p>
          </p:txBody>
        </p:sp>
      </p:grpSp>
      <p:grpSp>
        <p:nvGrpSpPr>
          <p:cNvPr id="22" name="analogy"/>
          <p:cNvGrpSpPr/>
          <p:nvPr/>
        </p:nvGrpSpPr>
        <p:grpSpPr>
          <a:xfrm>
            <a:off x="8953500" y="1485900"/>
            <a:ext cx="2705100" cy="2314956"/>
            <a:chOff x="8953500" y="1485900"/>
            <a:chExt cx="2705100" cy="2314956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rcRect l="0" t="704" r="0" b="704"/>
            <a:stretch>
              <a:fillRect/>
            </a:stretch>
          </p:blipFill>
          <p:spPr>
            <a:xfrm>
              <a:off x="8953500" y="1485900"/>
              <a:ext cx="2705100" cy="2000250"/>
            </a:xfrm>
            <a:prstGeom prst="roundRect">
              <a:avLst>
                <a:gd name="adj" fmla="val 7619"/>
              </a:avLst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9249918" y="3566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单独都透光，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叠在一起却全黑</a:t>
              </a:r>
            </a:p>
          </p:txBody>
        </p:sp>
      </p:grpSp>
      <p:grpSp>
        <p:nvGrpSpPr>
          <p:cNvPr id="35" name="example-matrix"/>
          <p:cNvGrpSpPr/>
          <p:nvPr/>
        </p:nvGrpSpPr>
        <p:grpSpPr>
          <a:xfrm>
            <a:off x="533400" y="3848100"/>
            <a:ext cx="5181600" cy="1866900"/>
            <a:chOff x="533400" y="3848100"/>
            <a:chExt cx="5181600" cy="1866900"/>
          </a:xfrm>
        </p:grpSpPr>
        <p:sp>
          <p:nvSpPr>
            <p:cNvPr id="23" name="Rectangle 23"/>
            <p:cNvSpPr/>
            <p:nvPr/>
          </p:nvSpPr>
          <p:spPr>
            <a:xfrm>
              <a:off x="533400" y="3848100"/>
              <a:ext cx="51816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39814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732" y="4042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642" y="4035742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 vs 矩阵环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01687" y="4332287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rgbClr val="0F7A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2604" y="4309110"/>
              <a:ext cx="2928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整数环是消去环：ab = 0 ⇒ a = 0 或 b = 0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09625" y="4572000"/>
              <a:ext cx="95250" cy="95250"/>
              <a:chOff x="809625" y="4572000"/>
              <a:chExt cx="95250" cy="952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9625" y="45720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9625" y="45720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22604" y="4556760"/>
              <a:ext cx="3380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矩阵环不是消去环，有零因子。比如 n = 2 时：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800600"/>
              <a:ext cx="4724400" cy="8001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ero-divisor-matrix"/>
                <p:cNvSpPr txBox="1">
                  <a:spLocks noGrp="1"/>
                </p:cNvSpPr>
                <p:nvPr/>
              </p:nvSpPr>
              <p:spPr>
                <a:xfrm>
                  <a:off x="800100" y="4819650"/>
                  <a:ext cx="46482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72" name="example-z12"/>
          <p:cNvGrpSpPr/>
          <p:nvPr/>
        </p:nvGrpSpPr>
        <p:grpSpPr>
          <a:xfrm>
            <a:off x="5905500" y="3848100"/>
            <a:ext cx="5753100" cy="1866900"/>
            <a:chOff x="5905500" y="3848100"/>
            <a:chExt cx="5753100" cy="1866900"/>
          </a:xfrm>
        </p:grpSpPr>
        <p:sp>
          <p:nvSpPr>
            <p:cNvPr id="36" name="Rectangle 36"/>
            <p:cNvSpPr/>
            <p:nvPr/>
          </p:nvSpPr>
          <p:spPr>
            <a:xfrm>
              <a:off x="5905500" y="3848100"/>
              <a:ext cx="57531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34100" y="39814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5832" y="40424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98742" y="4035742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12 剩余类环是消去环吗？</a:t>
              </a:r>
            </a:p>
          </p:txBody>
        </p:sp>
        <p:grpSp>
          <p:nvGrpSpPr>
            <p:cNvPr id="66" name="z12-dial"/>
            <p:cNvGrpSpPr/>
            <p:nvPr/>
          </p:nvGrpSpPr>
          <p:grpSpPr>
            <a:xfrm>
              <a:off x="6248400" y="4305300"/>
              <a:ext cx="1333500" cy="1358837"/>
              <a:chOff x="6248400" y="4305300"/>
              <a:chExt cx="1333500" cy="1358837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362700" y="4419600"/>
                <a:ext cx="1104900" cy="1104900"/>
              </a:xfrm>
              <a:prstGeom prst="ellipse">
                <a:avLst/>
              </a:pr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61196" y="4899660"/>
                <a:ext cx="3079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Z₁₂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6800850" y="4305300"/>
                <a:ext cx="228600" cy="228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870944" y="43538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077075" y="43815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147169" y="44300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7277100" y="458152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347194" y="4630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7353300" y="48577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423394" y="49063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7277100" y="513397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347194" y="51825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077075" y="53340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147169" y="53825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6800850" y="5410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70944" y="54587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6524625" y="53340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594719" y="53825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6324600" y="513397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394694" y="51825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248400" y="485775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318494" y="49063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6324600" y="4581525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355823" y="4630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6524625" y="43815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555848" y="443007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11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7728204" y="4385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解：不是消去环。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28204" y="4632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所有零因子（橙色）：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27442" y="4883468"/>
              <a:ext cx="341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[2]、[3]、[4]、[6]、[8]、[9]、[10]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28966" y="5163502"/>
              <a:ext cx="346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[2][6] = [3][4] = [3][8] = [4][9] = [6][10] = [0]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28966" y="5449252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规律：gcd(k, 12) &gt; 1 ⇒ 零因子；青绿 = 有乘法逆元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134618" y="6003608"/>
              <a:ext cx="6713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零因子一定是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非零元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；“ab = 0 ⇒ a = 0 或 b = 0”只在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消去环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里成立。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974775" cy="960501"/>
            <a:chOff x="519684" y="361950"/>
            <a:chExt cx="597477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240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10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消去环与整区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9747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性质12：无零因子 ⇔ 能约掉非零因子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theorem"/>
          <p:cNvGrpSpPr/>
          <p:nvPr/>
        </p:nvGrpSpPr>
        <p:grpSpPr>
          <a:xfrm>
            <a:off x="533400" y="1485900"/>
            <a:ext cx="11125200" cy="952500"/>
            <a:chOff x="533400" y="1485900"/>
            <a:chExt cx="11125200" cy="952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952500"/>
            </a:xfrm>
            <a:prstGeom prst="roundRect">
              <a:avLst>
                <a:gd name="adj" fmla="val 16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64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4468" y="168021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6018" y="2069782"/>
              <a:ext cx="3902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 R 是消去环 ⇔ R 中非零元消去律成立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934200" y="1676400"/>
              <a:ext cx="45339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70147" y="1876425"/>
              <a:ext cx="3862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≠ 0 时：ab = ac ⇒ b = c，ba = ca ⇒ b = c</a:t>
              </a:r>
            </a:p>
          </p:txBody>
        </p:sp>
      </p:grpSp>
      <p:grpSp>
        <p:nvGrpSpPr>
          <p:cNvPr id="43" name="necessity"/>
          <p:cNvGrpSpPr/>
          <p:nvPr/>
        </p:nvGrpSpPr>
        <p:grpSpPr>
          <a:xfrm>
            <a:off x="533400" y="2590800"/>
            <a:ext cx="5486400" cy="3124200"/>
            <a:chOff x="533400" y="2590800"/>
            <a:chExt cx="5486400" cy="3124200"/>
          </a:xfrm>
        </p:grpSpPr>
        <p:sp>
          <p:nvSpPr>
            <p:cNvPr id="15" name="Rectangle 15"/>
            <p:cNvSpPr/>
            <p:nvPr/>
          </p:nvSpPr>
          <p:spPr>
            <a:xfrm>
              <a:off x="533400" y="2590800"/>
              <a:ext cx="5486400" cy="312420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3900" y="27241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4399" y="278511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必要性 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3342" y="2778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已知无零因子，证消去律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14400" y="33528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25" name="nec-1"/>
            <p:cNvGrpSpPr/>
            <p:nvPr/>
          </p:nvGrpSpPr>
          <p:grpSpPr>
            <a:xfrm>
              <a:off x="762000" y="3143250"/>
              <a:ext cx="5105400" cy="419100"/>
              <a:chOff x="762000" y="3143250"/>
              <a:chExt cx="5105400" cy="4191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62000" y="32004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61658" y="3280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181100" y="314325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26642" y="3264218"/>
                <a:ext cx="16856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设 a ≠ 0，且 ab = ac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285613" y="32870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出发点</a:t>
                </a:r>
              </a:p>
            </p:txBody>
          </p:sp>
        </p:grpSp>
        <p:grpSp>
          <p:nvGrpSpPr>
            <p:cNvPr id="31" name="nec-2"/>
            <p:cNvGrpSpPr/>
            <p:nvPr/>
          </p:nvGrpSpPr>
          <p:grpSpPr>
            <a:xfrm>
              <a:off x="762000" y="3810000"/>
              <a:ext cx="5105400" cy="419100"/>
              <a:chOff x="762000" y="3810000"/>
              <a:chExt cx="5105400" cy="41910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62000" y="3867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61658" y="3947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181100" y="381000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26642" y="3930968"/>
                <a:ext cx="23672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ab − ac = 0，即 a(b − c) = 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42466" y="3953828"/>
                <a:ext cx="10778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性质2（分配律）</a:t>
                </a:r>
              </a:p>
            </p:txBody>
          </p:sp>
        </p:grpSp>
        <p:grpSp>
          <p:nvGrpSpPr>
            <p:cNvPr id="37" name="nec-3"/>
            <p:cNvGrpSpPr/>
            <p:nvPr/>
          </p:nvGrpSpPr>
          <p:grpSpPr>
            <a:xfrm>
              <a:off x="762000" y="4476750"/>
              <a:ext cx="5105400" cy="419100"/>
              <a:chOff x="762000" y="4476750"/>
              <a:chExt cx="5105400" cy="4191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62000" y="45339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61658" y="4613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181100" y="447675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26642" y="4597718"/>
                <a:ext cx="3248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R 无零因子，a ≠ 0 ⇒ b − c = 0，即 b = c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002911" y="46205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零因子定义</a:t>
                </a:r>
              </a:p>
            </p:txBody>
          </p:sp>
        </p:grpSp>
        <p:grpSp>
          <p:nvGrpSpPr>
            <p:cNvPr id="42" name="nec-4"/>
            <p:cNvGrpSpPr/>
            <p:nvPr/>
          </p:nvGrpSpPr>
          <p:grpSpPr>
            <a:xfrm>
              <a:off x="762000" y="5143500"/>
              <a:ext cx="5105400" cy="419100"/>
              <a:chOff x="762000" y="5143500"/>
              <a:chExt cx="5105400" cy="4191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62000" y="5200650"/>
                <a:ext cx="304800" cy="3048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64394" y="5317331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181100" y="514350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326642" y="52644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左消去律成立；同理可证右消去律</a:t>
                </a:r>
              </a:p>
            </p:txBody>
          </p:sp>
        </p:grpSp>
      </p:grpSp>
      <p:grpSp>
        <p:nvGrpSpPr>
          <p:cNvPr id="72" name="sufficiency"/>
          <p:cNvGrpSpPr/>
          <p:nvPr/>
        </p:nvGrpSpPr>
        <p:grpSpPr>
          <a:xfrm>
            <a:off x="6172200" y="2590800"/>
            <a:ext cx="5486400" cy="3124200"/>
            <a:chOff x="6172200" y="2590800"/>
            <a:chExt cx="5486400" cy="3124200"/>
          </a:xfrm>
        </p:grpSpPr>
        <p:sp>
          <p:nvSpPr>
            <p:cNvPr id="44" name="Rectangle 44"/>
            <p:cNvSpPr/>
            <p:nvPr/>
          </p:nvSpPr>
          <p:spPr>
            <a:xfrm>
              <a:off x="6172200" y="2590800"/>
              <a:ext cx="5486400" cy="312420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362700" y="27241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23199" y="278511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充分性 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2142" y="2778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已知消去律，证无零因子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53200" y="33528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54" name="suf-1"/>
            <p:cNvGrpSpPr/>
            <p:nvPr/>
          </p:nvGrpSpPr>
          <p:grpSpPr>
            <a:xfrm>
              <a:off x="6400800" y="3143250"/>
              <a:ext cx="5105400" cy="419100"/>
              <a:chOff x="6400800" y="3143250"/>
              <a:chExt cx="5105400" cy="4191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400800" y="3200400"/>
                <a:ext cx="304800" cy="3048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500458" y="3280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819900" y="314325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965442" y="3264218"/>
                <a:ext cx="285790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设消去律成立；若 ab = 0，而 a ≠ 0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924413" y="32870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出发点</a:t>
                </a:r>
              </a:p>
            </p:txBody>
          </p:sp>
        </p:grpSp>
        <p:grpSp>
          <p:nvGrpSpPr>
            <p:cNvPr id="60" name="suf-2"/>
            <p:cNvGrpSpPr/>
            <p:nvPr/>
          </p:nvGrpSpPr>
          <p:grpSpPr>
            <a:xfrm>
              <a:off x="6400800" y="3810000"/>
              <a:ext cx="5105400" cy="419100"/>
              <a:chOff x="6400800" y="3810000"/>
              <a:chExt cx="5105400" cy="4191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6400800" y="3867150"/>
                <a:ext cx="304800" cy="3048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500458" y="3947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6819900" y="381000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965442" y="3930968"/>
                <a:ext cx="11677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则 ab = 0 = a0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450887" y="3953828"/>
                <a:ext cx="9082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性质3：a0 = 0</a:t>
                </a:r>
              </a:p>
            </p:txBody>
          </p:sp>
        </p:grpSp>
        <p:grpSp>
          <p:nvGrpSpPr>
            <p:cNvPr id="66" name="suf-3"/>
            <p:cNvGrpSpPr/>
            <p:nvPr/>
          </p:nvGrpSpPr>
          <p:grpSpPr>
            <a:xfrm>
              <a:off x="6400800" y="4476750"/>
              <a:ext cx="5105400" cy="419100"/>
              <a:chOff x="6400800" y="4476750"/>
              <a:chExt cx="5105400" cy="419100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6400800" y="4533900"/>
                <a:ext cx="304800" cy="304800"/>
              </a:xfrm>
              <a:prstGeom prst="ellipse">
                <a:avLst/>
              </a:prstGeom>
              <a:solidFill>
                <a:srgbClr val="C2410C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500458" y="4613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6819900" y="447675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965442" y="4597718"/>
                <a:ext cx="29578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由 ab = a0 且 a ≠ 0，消去 a 得 b = 0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24413" y="46205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消去律</a:t>
                </a:r>
              </a:p>
            </p:txBody>
          </p:sp>
        </p:grpSp>
        <p:grpSp>
          <p:nvGrpSpPr>
            <p:cNvPr id="71" name="suf-4"/>
            <p:cNvGrpSpPr/>
            <p:nvPr/>
          </p:nvGrpSpPr>
          <p:grpSpPr>
            <a:xfrm>
              <a:off x="6400800" y="5143500"/>
              <a:ext cx="5105400" cy="419100"/>
              <a:chOff x="6400800" y="5143500"/>
              <a:chExt cx="5105400" cy="4191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6400800" y="5200650"/>
                <a:ext cx="304800" cy="3048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03194" y="5317331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6819900" y="5143500"/>
                <a:ext cx="46863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965442" y="5264468"/>
                <a:ext cx="22343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故 R 无零因子，R 是消去环</a:t>
                </a:r>
              </a:p>
            </p:txBody>
          </p:sp>
        </p:grpSp>
      </p:grpSp>
      <p:grpSp>
        <p:nvGrpSpPr>
          <p:cNvPr id="8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62000" y="5991225"/>
              <a:ext cx="228600" cy="225424"/>
              <a:chOff x="762000" y="5991225"/>
              <a:chExt cx="228600" cy="225424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12800" y="6207124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0100" y="6016625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6300" y="5991225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620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4400" y="6029325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134618" y="6003608"/>
              <a:ext cx="7737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对照：Z₁₂ 中 [3][4] = [3][8] = [0]，但 [4] ≠ [8]——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有零因子就不能约分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2" name="TextBox 82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529073" cy="960501"/>
            <a:chOff x="519684" y="361950"/>
            <a:chExt cx="652907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240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10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消去环与整区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5290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性质13–14：消去环里非零元的加法周期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recap"/>
          <p:cNvGrpSpPr/>
          <p:nvPr/>
        </p:nvGrpSpPr>
        <p:grpSpPr>
          <a:xfrm>
            <a:off x="533400" y="1466850"/>
            <a:ext cx="11125200" cy="419100"/>
            <a:chOff x="533400" y="1466850"/>
            <a:chExt cx="11125200" cy="41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66850"/>
              <a:ext cx="11125200" cy="419100"/>
            </a:xfrm>
            <a:prstGeom prst="roundRect">
              <a:avLst>
                <a:gd name="adj" fmla="val 27273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27075" y="1583531"/>
              <a:ext cx="165099" cy="185737"/>
              <a:chOff x="727075" y="1583531"/>
              <a:chExt cx="165099" cy="1857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27075" y="1583531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92868"/>
                    </a:moveTo>
                    <a:lnTo>
                      <a:pt x="0" y="61912"/>
                    </a:lnTo>
                    <a:cubicBezTo>
                      <a:pt x="0" y="44816"/>
                      <a:pt x="13860" y="30956"/>
                      <a:pt x="30956" y="30956"/>
                    </a:cubicBezTo>
                    <a:lnTo>
                      <a:pt x="165099" y="30956"/>
                    </a:lnTo>
                    <a:moveTo>
                      <a:pt x="134143" y="0"/>
                    </a:moveTo>
                    <a:lnTo>
                      <a:pt x="165099" y="30956"/>
                    </a:lnTo>
                    <a:lnTo>
                      <a:pt x="134143" y="61912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27075" y="1676400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165099" y="0"/>
                    </a:moveTo>
                    <a:lnTo>
                      <a:pt x="165099" y="30956"/>
                    </a:lnTo>
                    <a:cubicBezTo>
                      <a:pt x="165099" y="48053"/>
                      <a:pt x="151240" y="61912"/>
                      <a:pt x="134143" y="61912"/>
                    </a:cubicBezTo>
                    <a:lnTo>
                      <a:pt x="0" y="61912"/>
                    </a:lnTo>
                    <a:moveTo>
                      <a:pt x="30956" y="92868"/>
                    </a:moveTo>
                    <a:lnTo>
                      <a:pt x="0" y="61912"/>
                    </a:lnTo>
                    <a:lnTo>
                      <a:pt x="30956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22604" y="1604010"/>
              <a:ext cx="65187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回顾：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 的加法周期 = 使 na = 0 的最小正整数 n；若这样的 n 不存在，周期记为 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0（无限）</a:t>
              </a:r>
            </a:p>
          </p:txBody>
        </p:sp>
      </p:grpSp>
      <p:grpSp>
        <p:nvGrpSpPr>
          <p:cNvPr id="47" name="property-13"/>
          <p:cNvGrpSpPr/>
          <p:nvPr/>
        </p:nvGrpSpPr>
        <p:grpSpPr>
          <a:xfrm>
            <a:off x="533400" y="2000250"/>
            <a:ext cx="5486400" cy="3714750"/>
            <a:chOff x="533400" y="2000250"/>
            <a:chExt cx="5486400" cy="3714750"/>
          </a:xfrm>
        </p:grpSpPr>
        <p:sp>
          <p:nvSpPr>
            <p:cNvPr id="13" name="Rectangle 13"/>
            <p:cNvSpPr/>
            <p:nvPr/>
          </p:nvSpPr>
          <p:spPr>
            <a:xfrm>
              <a:off x="533400" y="2000250"/>
              <a:ext cx="5486400" cy="3714750"/>
            </a:xfrm>
            <a:prstGeom prst="roundRect">
              <a:avLst>
                <a:gd name="adj" fmla="val 41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3900" y="21336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3968" y="219456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3342" y="218789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消去环中，非零元的加法周期都相同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76300" y="2724150"/>
              <a:ext cx="9525" cy="2533650"/>
            </a:xfrm>
            <a:custGeom>
              <a:avLst/>
              <a:gdLst/>
              <a:ahLst/>
              <a:cxnLst/>
              <a:rect l="l" t="t" r="r" b="b"/>
              <a:pathLst>
                <a:path w="9525" h="2533650">
                  <a:moveTo>
                    <a:pt x="0" y="0"/>
                  </a:moveTo>
                  <a:lnTo>
                    <a:pt x="0" y="25336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23" name="p13-s1"/>
            <p:cNvGrpSpPr/>
            <p:nvPr/>
          </p:nvGrpSpPr>
          <p:grpSpPr>
            <a:xfrm>
              <a:off x="742950" y="2533650"/>
              <a:ext cx="5124450" cy="381000"/>
              <a:chOff x="742950" y="2533650"/>
              <a:chExt cx="5124450" cy="3810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42950" y="2590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30151" y="2658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104900" y="25336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51204" y="2651760"/>
                <a:ext cx="20880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若非零元的周期都是 0，得证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89430" y="2658428"/>
                <a:ext cx="5690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情形 (1)</a:t>
                </a:r>
              </a:p>
            </p:txBody>
          </p:sp>
        </p:grpSp>
        <p:grpSp>
          <p:nvGrpSpPr>
            <p:cNvPr id="29" name="p13-s2"/>
            <p:cNvGrpSpPr/>
            <p:nvPr/>
          </p:nvGrpSpPr>
          <p:grpSpPr>
            <a:xfrm>
              <a:off x="742950" y="3009900"/>
              <a:ext cx="5124450" cy="609600"/>
              <a:chOff x="742950" y="3009900"/>
              <a:chExt cx="5124450" cy="6096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42950" y="3162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0151" y="32299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104900" y="3009900"/>
                <a:ext cx="47625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51204" y="3118485"/>
                <a:ext cx="34945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否则取 a ≠ 0，周期 m ≠ 0（ma = 0）；任取 b ≠ 0：</a:t>
                </a:r>
                <a:br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a(mb) = (ma)b = 0b = 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85525" y="3382328"/>
                <a:ext cx="8729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性质5、性质3</a:t>
                </a:r>
              </a:p>
            </p:txBody>
          </p:sp>
        </p:grpSp>
        <p:grpSp>
          <p:nvGrpSpPr>
            <p:cNvPr id="34" name="p13-s3"/>
            <p:cNvGrpSpPr/>
            <p:nvPr/>
          </p:nvGrpSpPr>
          <p:grpSpPr>
            <a:xfrm>
              <a:off x="742950" y="3714750"/>
              <a:ext cx="5124450" cy="381000"/>
              <a:chOff x="742950" y="3714750"/>
              <a:chExt cx="5124450" cy="3810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742950" y="37719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0151" y="3839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1104900" y="37147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51204" y="3832860"/>
                <a:ext cx="3638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≠ 0 且无零因子 ⇒ mb = 0 ⇒ b 的周期 n ≠ 0，n | m</a:t>
                </a:r>
              </a:p>
            </p:txBody>
          </p:sp>
        </p:grpSp>
        <p:grpSp>
          <p:nvGrpSpPr>
            <p:cNvPr id="40" name="p13-s4"/>
            <p:cNvGrpSpPr/>
            <p:nvPr/>
          </p:nvGrpSpPr>
          <p:grpSpPr>
            <a:xfrm>
              <a:off x="742950" y="4191000"/>
              <a:ext cx="5124450" cy="571500"/>
              <a:chOff x="742950" y="4191000"/>
              <a:chExt cx="5124450" cy="57150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742950" y="4343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30151" y="44110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1104900" y="4191000"/>
                <a:ext cx="4762500" cy="571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51204" y="4290060"/>
                <a:ext cx="243535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另一方面 (na)b = a(nb) = a0 = 0，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b ≠ 0 且无零因子 ⇒ na = 0 ⇒ m | 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39215" y="4525328"/>
                <a:ext cx="1219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性质5、周期的性质</a:t>
                </a:r>
              </a:p>
            </p:txBody>
          </p:sp>
        </p:grpSp>
        <p:grpSp>
          <p:nvGrpSpPr>
            <p:cNvPr id="45" name="p13-s5"/>
            <p:cNvGrpSpPr/>
            <p:nvPr/>
          </p:nvGrpSpPr>
          <p:grpSpPr>
            <a:xfrm>
              <a:off x="742950" y="4857750"/>
              <a:ext cx="5124450" cy="381000"/>
              <a:chOff x="742950" y="4857750"/>
              <a:chExt cx="5124450" cy="38100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742950" y="4914900"/>
                <a:ext cx="266700" cy="2667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1850" y="50165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1104900" y="48577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51204" y="4975860"/>
                <a:ext cx="29179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所以 m = n；b 任意 ⇒ 非零元周期全相同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718566" y="5449252"/>
              <a:ext cx="4081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“n | m”：若 mb = 0，则 b 的周期整除 m（群中元素周期的性质）</a:t>
              </a:r>
            </a:p>
          </p:txBody>
        </p:sp>
      </p:grpSp>
      <p:grpSp>
        <p:nvGrpSpPr>
          <p:cNvPr id="82" name="property-14"/>
          <p:cNvGrpSpPr/>
          <p:nvPr/>
        </p:nvGrpSpPr>
        <p:grpSpPr>
          <a:xfrm>
            <a:off x="6172200" y="2000250"/>
            <a:ext cx="5486400" cy="3714750"/>
            <a:chOff x="6172200" y="2000250"/>
            <a:chExt cx="5486400" cy="3714750"/>
          </a:xfrm>
        </p:grpSpPr>
        <p:sp>
          <p:nvSpPr>
            <p:cNvPr id="48" name="Rectangle 48"/>
            <p:cNvSpPr/>
            <p:nvPr/>
          </p:nvSpPr>
          <p:spPr>
            <a:xfrm>
              <a:off x="6172200" y="2000250"/>
              <a:ext cx="5486400" cy="3714750"/>
            </a:xfrm>
            <a:prstGeom prst="roundRect">
              <a:avLst>
                <a:gd name="adj" fmla="val 41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62700" y="21336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2768" y="219456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性质14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32142" y="2187892"/>
              <a:ext cx="2175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这个周期或为 0，或为质数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515100" y="2724150"/>
              <a:ext cx="9525" cy="2533650"/>
            </a:xfrm>
            <a:custGeom>
              <a:avLst/>
              <a:gdLst/>
              <a:ahLst/>
              <a:cxnLst/>
              <a:rect l="l" t="t" r="r" b="b"/>
              <a:pathLst>
                <a:path w="9525" h="2533650">
                  <a:moveTo>
                    <a:pt x="0" y="0"/>
                  </a:moveTo>
                  <a:lnTo>
                    <a:pt x="0" y="25336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57" name="p14-s1"/>
            <p:cNvGrpSpPr/>
            <p:nvPr/>
          </p:nvGrpSpPr>
          <p:grpSpPr>
            <a:xfrm>
              <a:off x="6381750" y="2533650"/>
              <a:ext cx="5124450" cy="381000"/>
              <a:chOff x="6381750" y="2533650"/>
              <a:chExt cx="5124450" cy="38100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6381750" y="2590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468951" y="2658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743700" y="25336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890004" y="2651760"/>
                <a:ext cx="36873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任取 a ≠ 0，设周期为 n（na = 0）；若 n = 0，得证</a:t>
                </a:r>
              </a:p>
            </p:txBody>
          </p:sp>
        </p:grpSp>
        <p:grpSp>
          <p:nvGrpSpPr>
            <p:cNvPr id="63" name="p14-s2"/>
            <p:cNvGrpSpPr/>
            <p:nvPr/>
          </p:nvGrpSpPr>
          <p:grpSpPr>
            <a:xfrm>
              <a:off x="6381750" y="3009900"/>
              <a:ext cx="5124450" cy="609600"/>
              <a:chOff x="6381750" y="3009900"/>
              <a:chExt cx="5124450" cy="6096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6381750" y="3162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468951" y="32299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6743700" y="3009900"/>
                <a:ext cx="47625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890004" y="3118485"/>
                <a:ext cx="28011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否则只需证 n 是质数。反设 n 不是质数：</a:t>
                </a:r>
                <a:br/>
                <a:r>
                  <a:rPr lang="zh-CN" sz="1200" b="1" dirty="0">
                    <a:solidFill>
                      <a:schemeClr val="accent1"/>
                    </a:solidFill>
                    <a:latin typeface="Cambria Math"/>
                    <a:ea typeface="Microsoft YaHei"/>
                    <a:cs typeface="Cambria Math"/>
                  </a:rPr>
                  <a:t>n = n₁n₂，1 &lt; n₁ &lt; n，1 &lt; n₂ &lt; 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962513" y="338232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反证法</a:t>
                </a:r>
              </a:p>
            </p:txBody>
          </p:sp>
        </p:grpSp>
        <p:grpSp>
          <p:nvGrpSpPr>
            <p:cNvPr id="69" name="p14-s3"/>
            <p:cNvGrpSpPr/>
            <p:nvPr/>
          </p:nvGrpSpPr>
          <p:grpSpPr>
            <a:xfrm>
              <a:off x="6381750" y="3714750"/>
              <a:ext cx="5124450" cy="381000"/>
              <a:chOff x="6381750" y="3714750"/>
              <a:chExt cx="5124450" cy="3810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6381750" y="37719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468951" y="3839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6743700" y="37147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890004" y="3832860"/>
                <a:ext cx="23626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的周期是 n ⇒ n₁a ≠ 0，n₂a ≠ 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38460" y="38395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周期的最小性</a:t>
                </a:r>
              </a:p>
            </p:txBody>
          </p:sp>
        </p:grpSp>
        <p:grpSp>
          <p:nvGrpSpPr>
            <p:cNvPr id="75" name="p14-s4"/>
            <p:cNvGrpSpPr/>
            <p:nvPr/>
          </p:nvGrpSpPr>
          <p:grpSpPr>
            <a:xfrm>
              <a:off x="6381750" y="4191000"/>
              <a:ext cx="5124450" cy="571500"/>
              <a:chOff x="6381750" y="4191000"/>
              <a:chExt cx="5124450" cy="5715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6381750" y="4343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468951" y="44110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6743700" y="4191000"/>
                <a:ext cx="4762500" cy="571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6890004" y="4290060"/>
                <a:ext cx="2061972" cy="4632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而 (n₁a)(n₂a) = (n₁n₂)(aa)</a:t>
                </a:r>
                <a:br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= (na)a = 0a = 0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0524325" y="4525328"/>
                <a:ext cx="8729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性质5、性质3</a:t>
                </a:r>
              </a:p>
            </p:txBody>
          </p:sp>
        </p:grpSp>
        <p:grpSp>
          <p:nvGrpSpPr>
            <p:cNvPr id="80" name="p14-s5"/>
            <p:cNvGrpSpPr/>
            <p:nvPr/>
          </p:nvGrpSpPr>
          <p:grpSpPr>
            <a:xfrm>
              <a:off x="6381750" y="4857750"/>
              <a:ext cx="5124450" cy="381000"/>
              <a:chOff x="6381750" y="4857750"/>
              <a:chExt cx="5124450" cy="381000"/>
            </a:xfrm>
          </p:grpSpPr>
          <p:sp>
            <p:nvSpPr>
              <p:cNvPr id="76" name="Ellipse 76"/>
              <p:cNvSpPr/>
              <p:nvPr/>
            </p:nvSpPr>
            <p:spPr>
              <a:xfrm>
                <a:off x="6381750" y="4914900"/>
                <a:ext cx="266700" cy="2667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470650" y="50165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6743700" y="4857750"/>
                <a:ext cx="4762500" cy="381000"/>
              </a:xfrm>
              <a:prstGeom prst="roundRect">
                <a:avLst>
                  <a:gd name="adj" fmla="val 25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890004" y="4975860"/>
                <a:ext cx="3546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n₁a、n₂a 是零因子，与无零因子矛盾 ⇒ n 是质数</a:t>
                </a:r>
              </a:p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6357366" y="5449252"/>
              <a:ext cx="4187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注：a ≠ 0 时周期不可能是 1，所以 n 不是质数就能拆成两个真因子</a:t>
              </a:r>
            </a:p>
          </p:txBody>
        </p:sp>
      </p:grpSp>
      <p:grpSp>
        <p:nvGrpSpPr>
          <p:cNvPr id="8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3" name="Rectangle 8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34618" y="6003608"/>
              <a:ext cx="87434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例：Z 中非零元周期都是 0；Z₅ 中都是 5；Z₁₂ 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消去环，[1] 周期 12、[6] 周期 2。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0" name="TextBox 90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808932" cy="960501"/>
            <a:chOff x="519684" y="361950"/>
            <a:chExt cx="480893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240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1012" y="432435"/>
              <a:ext cx="166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消去环与整区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089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整区：像整数一样“好算”的环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definition"/>
          <p:cNvGrpSpPr/>
          <p:nvPr/>
        </p:nvGrpSpPr>
        <p:grpSpPr>
          <a:xfrm>
            <a:off x="533400" y="1485900"/>
            <a:ext cx="5600700" cy="1028700"/>
            <a:chOff x="533400" y="1485900"/>
            <a:chExt cx="5600700" cy="10287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600700" cy="1028700"/>
            </a:xfrm>
            <a:prstGeom prst="roundRect">
              <a:avLst>
                <a:gd name="adj" fmla="val 1481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72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19745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有单位元、无零因子的交换环叫做整区。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2707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理解：是含单位元环（至少两个元素）、消去环、交换环</a:t>
              </a:r>
            </a:p>
          </p:txBody>
        </p:sp>
      </p:grpSp>
      <p:grpSp>
        <p:nvGrpSpPr>
          <p:cNvPr id="29" name="venn"/>
          <p:cNvGrpSpPr/>
          <p:nvPr/>
        </p:nvGrpSpPr>
        <p:grpSpPr>
          <a:xfrm>
            <a:off x="533400" y="2628900"/>
            <a:ext cx="5600700" cy="3086100"/>
            <a:chOff x="533400" y="2628900"/>
            <a:chExt cx="5600700" cy="3086100"/>
          </a:xfrm>
        </p:grpSpPr>
        <p:sp>
          <p:nvSpPr>
            <p:cNvPr id="15" name="Rectangle 15"/>
            <p:cNvSpPr/>
            <p:nvPr/>
          </p:nvSpPr>
          <p:spPr>
            <a:xfrm>
              <a:off x="533400" y="2628900"/>
              <a:ext cx="5600700" cy="3086100"/>
            </a:xfrm>
            <a:prstGeom prst="roundRect">
              <a:avLst>
                <a:gd name="adj" fmla="val 49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695450" y="2724150"/>
              <a:ext cx="2133600" cy="213360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00350" y="2724150"/>
              <a:ext cx="2133600" cy="2133600"/>
            </a:xfrm>
            <a:prstGeom prst="ellipse">
              <a:avLst/>
            </a:prstGeom>
            <a:solidFill>
              <a:schemeClr val="accent3">
                <a:alpha val="10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247900" y="3543300"/>
              <a:ext cx="2133600" cy="21336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7804" y="2766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含单位元环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52872" y="27660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交换环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3608" y="5471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消去环（无零因子）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9938" y="36042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矩阵环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14726" y="31470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04288" y="45377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四元数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6726" y="453771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2Z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6105" y="3892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18117" y="4134802"/>
              <a:ext cx="793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Z、Q、R、C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66" y="5487352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矩阵环指 n ≥ 2 的实矩阵环</a:t>
              </a:r>
            </a:p>
          </p:txBody>
        </p:sp>
      </p:grpSp>
      <p:grpSp>
        <p:nvGrpSpPr>
          <p:cNvPr id="48" name="to-prove"/>
          <p:cNvGrpSpPr/>
          <p:nvPr/>
        </p:nvGrpSpPr>
        <p:grpSpPr>
          <a:xfrm>
            <a:off x="6324600" y="1485900"/>
            <a:ext cx="5334000" cy="1790700"/>
            <a:chOff x="6324600" y="1485900"/>
            <a:chExt cx="5334000" cy="1790700"/>
          </a:xfrm>
        </p:grpSpPr>
        <p:sp>
          <p:nvSpPr>
            <p:cNvPr id="30" name="Rectangle 30"/>
            <p:cNvSpPr/>
            <p:nvPr/>
          </p:nvSpPr>
          <p:spPr>
            <a:xfrm>
              <a:off x="6324600" y="1485900"/>
              <a:ext cx="5334000" cy="1790700"/>
            </a:xfrm>
            <a:prstGeom prst="roundRect">
              <a:avLst>
                <a:gd name="adj" fmla="val 8511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51216" y="1684734"/>
              <a:ext cx="170258" cy="149622"/>
              <a:chOff x="6551216" y="1684734"/>
              <a:chExt cx="170258" cy="14962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51216" y="168473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51216" y="174664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51216" y="180855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28606" y="1700212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28606" y="1762125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28606" y="1824037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51142" y="1683068"/>
              <a:ext cx="3212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想证明 (R, +, ·) 是整区，需要证明：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15100" y="2038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3251" y="2086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1142" y="2064068"/>
              <a:ext cx="1490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(R, +) 是 Abel 群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15100" y="24003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3251" y="24488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1142" y="2426018"/>
              <a:ext cx="27569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(R, ·) 是半群，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有单位元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交换律、消去律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成立（无零因子）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15100" y="2971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83251" y="3020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51142" y="2997518"/>
              <a:ext cx="1277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 + 有分配律</a:t>
              </a:r>
            </a:p>
          </p:txBody>
        </p:sp>
      </p:grpSp>
      <p:grpSp>
        <p:nvGrpSpPr>
          <p:cNvPr id="63" name="examples"/>
          <p:cNvGrpSpPr/>
          <p:nvPr/>
        </p:nvGrpSpPr>
        <p:grpSpPr>
          <a:xfrm>
            <a:off x="6324600" y="3390900"/>
            <a:ext cx="5334000" cy="2324100"/>
            <a:chOff x="6324600" y="3390900"/>
            <a:chExt cx="5334000" cy="2324100"/>
          </a:xfrm>
        </p:grpSpPr>
        <p:sp>
          <p:nvSpPr>
            <p:cNvPr id="49" name="Rectangle 49"/>
            <p:cNvSpPr/>
            <p:nvPr/>
          </p:nvSpPr>
          <p:spPr>
            <a:xfrm>
              <a:off x="6324600" y="3390900"/>
              <a:ext cx="5334000" cy="2324100"/>
            </a:xfrm>
            <a:prstGeom prst="roundRect">
              <a:avLst>
                <a:gd name="adj" fmla="val 655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515100" y="3524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6832" y="3585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9742" y="3578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是不是整区？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558756" y="40044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13042" y="39690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整数环、有理数环、实数环、复数环都是整区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67488" y="4395788"/>
              <a:ext cx="104775" cy="104775"/>
              <a:chOff x="6567488" y="4395788"/>
              <a:chExt cx="104775" cy="1047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67488" y="43957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67488" y="43957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813042" y="4369118"/>
              <a:ext cx="33398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实数域上的 n 阶矩阵环（n ≥ 2）不是整区：</a:t>
              </a:r>
            </a:p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不是交换环，也不是消去环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67488" y="5043488"/>
              <a:ext cx="104775" cy="104775"/>
              <a:chOff x="6567488" y="5043488"/>
              <a:chExt cx="104775" cy="10477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67488" y="50434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67488" y="50434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813042" y="5016818"/>
              <a:ext cx="29969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Z₄ 是有单位元的交换环，但不是整区：</a:t>
              </a:r>
            </a:p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[2][2] = [4] = [0]，不是消去环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4618" y="6003608"/>
              <a:ext cx="7670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整区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 + 有 1 + 无零因子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：保留了整数最常用的运算规律（可以约分）。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101067" cy="960501"/>
            <a:chOff x="519684" y="361950"/>
            <a:chExt cx="410106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631" y="432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例题精讲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1010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例题精讲：模 9 剩余类环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problem"/>
          <p:cNvGrpSpPr/>
          <p:nvPr/>
        </p:nvGrpSpPr>
        <p:grpSpPr>
          <a:xfrm>
            <a:off x="533400" y="1485900"/>
            <a:ext cx="3810000" cy="4229100"/>
            <a:chOff x="533400" y="1485900"/>
            <a:chExt cx="3810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810000" cy="42291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160" y="1699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9042" y="1692592"/>
              <a:ext cx="1568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Z₉ 的零因子与周期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102168"/>
              <a:ext cx="241401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R = {0, 1, 2, …, 8}，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⊕ 是模 9 加法，⊗ 是模 9 乘法，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(R, ⊕, ⊗) 是环。请问：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028950"/>
              <a:ext cx="3505200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342" y="3168968"/>
              <a:ext cx="2431161" cy="1159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环 R 是消去环吗？若不是，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请找出其中的零因子</a:t>
              </a:r>
            </a:p>
            <a:p>
              <a:pPr algn="l">
                <a:lnSpc>
                  <a:spcPts val="1950"/>
                </a:lnSpc>
                <a:spcBef>
                  <a:spcPts val="600"/>
                </a:spcBef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环 R 是整区吗？</a:t>
              </a:r>
            </a:p>
            <a:p>
              <a:pPr algn="l">
                <a:lnSpc>
                  <a:spcPts val="1950"/>
                </a:lnSpc>
                <a:spcBef>
                  <a:spcPts val="600"/>
                </a:spcBef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求出加法周期为 3 的元素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419600"/>
              <a:ext cx="3505200" cy="1143000"/>
            </a:xfrm>
            <a:prstGeom prst="roundRect">
              <a:avLst>
                <a:gd name="adj" fmla="val 100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66775" y="4581525"/>
              <a:ext cx="171450" cy="171450"/>
              <a:chOff x="866775" y="4581525"/>
              <a:chExt cx="171450" cy="1714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66775" y="45815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00837" y="46196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0592" y="47148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36904" y="4604385"/>
              <a:ext cx="2255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Zₙ 中的两个小工具（补充）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4956810"/>
              <a:ext cx="261061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与 n 不互质（k ≠ 0）⇒ [k] 是零因子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[k] 的加法周期 = n ÷ gcd(k, n)</a:t>
              </a:r>
            </a:p>
          </p:txBody>
        </p:sp>
      </p:grpSp>
      <p:grpSp>
        <p:nvGrpSpPr>
          <p:cNvPr id="124" name="solution"/>
          <p:cNvGrpSpPr/>
          <p:nvPr/>
        </p:nvGrpSpPr>
        <p:grpSpPr>
          <a:xfrm>
            <a:off x="4705350" y="1543050"/>
            <a:ext cx="6800850" cy="4038600"/>
            <a:chOff x="4705350" y="1543050"/>
            <a:chExt cx="6800850" cy="4038600"/>
          </a:xfrm>
        </p:grpSpPr>
        <p:sp>
          <p:nvSpPr>
            <p:cNvPr id="22" name="Line 22"/>
            <p:cNvSpPr/>
            <p:nvPr/>
          </p:nvSpPr>
          <p:spPr>
            <a:xfrm>
              <a:off x="48768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77" name="step-1"/>
            <p:cNvGrpSpPr/>
            <p:nvPr/>
          </p:nvGrpSpPr>
          <p:grpSpPr>
            <a:xfrm>
              <a:off x="4705350" y="1543050"/>
              <a:ext cx="6038850" cy="1705356"/>
              <a:chOff x="4705350" y="1543050"/>
              <a:chExt cx="6038850" cy="1705356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4705350" y="15430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817465" y="1625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212842" y="1635442"/>
                <a:ext cx="27665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(1) 不是消去环：</a:t>
                </a: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3 和 6 是零因子</a:t>
                </a:r>
              </a:p>
            </p:txBody>
          </p:sp>
          <p:grpSp>
            <p:nvGrpSpPr>
              <p:cNvPr id="75" name="z9-mul-table"/>
              <p:cNvGrpSpPr/>
              <p:nvPr/>
            </p:nvGrpSpPr>
            <p:grpSpPr>
              <a:xfrm>
                <a:off x="5219700" y="1943100"/>
                <a:ext cx="5524500" cy="924306"/>
                <a:chOff x="5219700" y="1943100"/>
                <a:chExt cx="5524500" cy="924306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5219700" y="1943100"/>
                  <a:ext cx="5524500" cy="304800"/>
                </a:xfrm>
                <a:prstGeom prst="rect">
                  <a:avLst/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5219700" y="2247900"/>
                  <a:ext cx="723900" cy="609600"/>
                </a:xfrm>
                <a:prstGeom prst="rect">
                  <a:avLst/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5943600" y="2247900"/>
                  <a:ext cx="4800600" cy="609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9" name="Rectangle 29"/>
                <p:cNvSpPr/>
                <p:nvPr/>
              </p:nvSpPr>
              <p:spPr>
                <a:xfrm>
                  <a:off x="7562850" y="2266950"/>
                  <a:ext cx="495300" cy="266700"/>
                </a:xfrm>
                <a:prstGeom prst="rect">
                  <a:avLst/>
                </a:prstGeom>
                <a:solidFill>
                  <a:srgbClr val="FDEEE7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9163050" y="2266950"/>
                  <a:ext cx="495300" cy="266700"/>
                </a:xfrm>
                <a:prstGeom prst="rect">
                  <a:avLst/>
                </a:prstGeom>
                <a:solidFill>
                  <a:srgbClr val="FDEEE7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7562850" y="2571750"/>
                  <a:ext cx="495300" cy="266700"/>
                </a:xfrm>
                <a:prstGeom prst="rect">
                  <a:avLst/>
                </a:prstGeom>
                <a:solidFill>
                  <a:srgbClr val="FDEEE7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2" name="Rectangle 32"/>
                <p:cNvSpPr/>
                <p:nvPr/>
              </p:nvSpPr>
              <p:spPr>
                <a:xfrm>
                  <a:off x="9163050" y="2571750"/>
                  <a:ext cx="495300" cy="266700"/>
                </a:xfrm>
                <a:prstGeom prst="rect">
                  <a:avLst/>
                </a:prstGeom>
                <a:solidFill>
                  <a:srgbClr val="FDEEE7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3" name="Line 33"/>
                <p:cNvSpPr/>
                <p:nvPr/>
              </p:nvSpPr>
              <p:spPr>
                <a:xfrm>
                  <a:off x="5219700" y="2247900"/>
                  <a:ext cx="5524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500" h="9525">
                      <a:moveTo>
                        <a:pt x="0" y="0"/>
                      </a:moveTo>
                      <a:lnTo>
                        <a:pt x="5524500" y="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5219700" y="2552700"/>
                  <a:ext cx="5524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4500" h="9525">
                      <a:moveTo>
                        <a:pt x="0" y="0"/>
                      </a:moveTo>
                      <a:lnTo>
                        <a:pt x="5524500" y="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59436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6" name="Line 36"/>
                <p:cNvSpPr/>
                <p:nvPr/>
              </p:nvSpPr>
              <p:spPr>
                <a:xfrm>
                  <a:off x="64770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7" name="Line 37"/>
                <p:cNvSpPr/>
                <p:nvPr/>
              </p:nvSpPr>
              <p:spPr>
                <a:xfrm>
                  <a:off x="70104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75438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39" name="Line 39"/>
                <p:cNvSpPr/>
                <p:nvPr/>
              </p:nvSpPr>
              <p:spPr>
                <a:xfrm>
                  <a:off x="80772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40" name="Line 40"/>
                <p:cNvSpPr/>
                <p:nvPr/>
              </p:nvSpPr>
              <p:spPr>
                <a:xfrm>
                  <a:off x="86106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41" name="Line 41"/>
                <p:cNvSpPr/>
                <p:nvPr/>
              </p:nvSpPr>
              <p:spPr>
                <a:xfrm>
                  <a:off x="91440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42" name="Line 42"/>
                <p:cNvSpPr/>
                <p:nvPr/>
              </p:nvSpPr>
              <p:spPr>
                <a:xfrm>
                  <a:off x="96774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43" name="Line 43"/>
                <p:cNvSpPr/>
                <p:nvPr/>
              </p:nvSpPr>
              <p:spPr>
                <a:xfrm>
                  <a:off x="10210800" y="1943100"/>
                  <a:ext cx="9525" cy="91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14400">
                      <a:moveTo>
                        <a:pt x="0" y="0"/>
                      </a:moveTo>
                      <a:lnTo>
                        <a:pt x="0" y="914400"/>
                      </a:lnTo>
                    </a:path>
                  </a:pathLst>
                </a:custGeom>
                <a:noFill/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5219700" y="1943100"/>
                  <a:ext cx="5524500" cy="914400"/>
                </a:xfrm>
                <a:prstGeom prst="rect">
                  <a:avLst/>
                </a:pr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552890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k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1575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6909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2243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7577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2911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8245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93579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98913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10424758" y="20231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384730" y="2327910"/>
                  <a:ext cx="3938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3 ⊗ k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1597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6931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2265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7757758" y="23279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2933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8267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357958" y="23279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98935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10426979" y="23279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5384730" y="2632710"/>
                  <a:ext cx="3938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6 ⊗ k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61597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66931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72265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757758" y="26327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2933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8267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9357958" y="263271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98935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0426979" y="26327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5213604" y="3013710"/>
                <a:ext cx="48181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其余非零元都有乘法逆元：</a:t>
                </a:r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1⊗1 = 2⊗5 = 4⊗7 = 8⊗8 = 1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，不是零因子</a:t>
                </a:r>
              </a:p>
            </p:txBody>
          </p:sp>
        </p:grpSp>
        <p:grpSp>
          <p:nvGrpSpPr>
            <p:cNvPr id="81" name="step-2"/>
            <p:cNvGrpSpPr/>
            <p:nvPr/>
          </p:nvGrpSpPr>
          <p:grpSpPr>
            <a:xfrm>
              <a:off x="4705350" y="3352800"/>
              <a:ext cx="3619370" cy="356425"/>
              <a:chOff x="4705350" y="3352800"/>
              <a:chExt cx="3619370" cy="356425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4705350" y="33528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4817465" y="34356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5212842" y="3445192"/>
                <a:ext cx="31118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(2) 不是整区：有零因子，不是消去环</a:t>
                </a:r>
              </a:p>
            </p:txBody>
          </p:sp>
        </p:grpSp>
        <p:grpSp>
          <p:nvGrpSpPr>
            <p:cNvPr id="118" name="step-3"/>
            <p:cNvGrpSpPr/>
            <p:nvPr/>
          </p:nvGrpSpPr>
          <p:grpSpPr>
            <a:xfrm>
              <a:off x="4705350" y="3733800"/>
              <a:ext cx="6038850" cy="1286256"/>
              <a:chOff x="4705350" y="3733800"/>
              <a:chExt cx="6038850" cy="1286256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4705350" y="37338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817465" y="38166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5212842" y="3826192"/>
                <a:ext cx="2814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(3) 加法周期为 3 的元素是：</a:t>
                </a: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3、6</a:t>
                </a:r>
              </a:p>
            </p:txBody>
          </p:sp>
          <p:grpSp>
            <p:nvGrpSpPr>
              <p:cNvPr id="116" name="z9-period-strip"/>
              <p:cNvGrpSpPr/>
              <p:nvPr/>
            </p:nvGrpSpPr>
            <p:grpSpPr>
              <a:xfrm>
                <a:off x="5219700" y="4057650"/>
                <a:ext cx="5524500" cy="619506"/>
                <a:chOff x="5219700" y="4057650"/>
                <a:chExt cx="5524500" cy="619506"/>
              </a:xfrm>
            </p:grpSpPr>
            <p:sp>
              <p:nvSpPr>
                <p:cNvPr id="85" name="Rectangle 85"/>
                <p:cNvSpPr/>
                <p:nvPr/>
              </p:nvSpPr>
              <p:spPr>
                <a:xfrm>
                  <a:off x="5219700" y="4057650"/>
                  <a:ext cx="5524500" cy="609600"/>
                </a:xfrm>
                <a:prstGeom prst="rect">
                  <a:avLst/>
                </a:prstGeom>
                <a:solidFill>
                  <a:schemeClr val="lt1"/>
                </a:solidFill>
                <a:ln w="14288">
                  <a:solidFill>
                    <a:schemeClr val="accent6"/>
                  </a:solidFill>
                </a:ln>
              </p:spPr>
            </p:sp>
            <p:sp>
              <p:nvSpPr>
                <p:cNvPr id="86" name="Rectangle 86"/>
                <p:cNvSpPr/>
                <p:nvPr/>
              </p:nvSpPr>
              <p:spPr>
                <a:xfrm>
                  <a:off x="5219700" y="4057650"/>
                  <a:ext cx="723900" cy="609600"/>
                </a:xfrm>
                <a:prstGeom prst="rect">
                  <a:avLst/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87" name="Rectangle 87"/>
                <p:cNvSpPr/>
                <p:nvPr/>
              </p:nvSpPr>
              <p:spPr>
                <a:xfrm>
                  <a:off x="59626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88" name="Rectangle 88"/>
                <p:cNvSpPr/>
                <p:nvPr/>
              </p:nvSpPr>
              <p:spPr>
                <a:xfrm>
                  <a:off x="64960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89" name="Rectangle 89"/>
                <p:cNvSpPr/>
                <p:nvPr/>
              </p:nvSpPr>
              <p:spPr>
                <a:xfrm>
                  <a:off x="70294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90" name="Rectangle 90"/>
                <p:cNvSpPr/>
                <p:nvPr/>
              </p:nvSpPr>
              <p:spPr>
                <a:xfrm>
                  <a:off x="75628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FDEEE7"/>
                </a:solidFill>
                <a:ln>
                  <a:noFill/>
                </a:ln>
              </p:spPr>
            </p:sp>
            <p:sp>
              <p:nvSpPr>
                <p:cNvPr id="91" name="Rectangle 91"/>
                <p:cNvSpPr/>
                <p:nvPr/>
              </p:nvSpPr>
              <p:spPr>
                <a:xfrm>
                  <a:off x="80962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92" name="Rectangle 92"/>
                <p:cNvSpPr/>
                <p:nvPr/>
              </p:nvSpPr>
              <p:spPr>
                <a:xfrm>
                  <a:off x="86296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93" name="Rectangle 93"/>
                <p:cNvSpPr/>
                <p:nvPr/>
              </p:nvSpPr>
              <p:spPr>
                <a:xfrm>
                  <a:off x="91630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FDEEE7"/>
                </a:solidFill>
                <a:ln>
                  <a:noFill/>
                </a:ln>
              </p:spPr>
            </p:sp>
            <p:sp>
              <p:nvSpPr>
                <p:cNvPr id="94" name="Rectangle 94"/>
                <p:cNvSpPr/>
                <p:nvPr/>
              </p:nvSpPr>
              <p:spPr>
                <a:xfrm>
                  <a:off x="96964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95" name="Rectangle 95"/>
                <p:cNvSpPr/>
                <p:nvPr/>
              </p:nvSpPr>
              <p:spPr>
                <a:xfrm>
                  <a:off x="10229850" y="4076700"/>
                  <a:ext cx="495300" cy="571500"/>
                </a:xfrm>
                <a:prstGeom prst="roundRect">
                  <a:avLst>
                    <a:gd name="adj" fmla="val 11538"/>
                  </a:avLst>
                </a:prstGeom>
                <a:solidFill>
                  <a:srgbClr val="E8EDF8"/>
                </a:solidFill>
                <a:ln>
                  <a:noFill/>
                </a:ln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5414010" y="413766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元素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5414010" y="444246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周期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61597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61597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66931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66931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72265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72265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7757758" y="413766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7757758" y="444246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82933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82933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88267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88267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9357958" y="413766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111" name="TextBox 111"/>
                <p:cNvSpPr txBox="1"/>
                <p:nvPr/>
              </p:nvSpPr>
              <p:spPr>
                <a:xfrm>
                  <a:off x="9357958" y="444246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98935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13" name="TextBox 113"/>
                <p:cNvSpPr txBox="1"/>
                <p:nvPr/>
              </p:nvSpPr>
              <p:spPr>
                <a:xfrm>
                  <a:off x="98935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10426979" y="41376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8</a:t>
                  </a:r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10426979" y="444246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5213604" y="4785360"/>
                <a:ext cx="49715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3 ⊕ 3 ⊕ 3 = 9 = 0，6 ⊕ 6 ⊕ 6 = 18 = 0；1、2、4、5、7、8 的周期是 9</a:t>
                </a:r>
              </a:p>
            </p:txBody>
          </p:sp>
        </p:grpSp>
        <p:grpSp>
          <p:nvGrpSpPr>
            <p:cNvPr id="123" name="step-4"/>
            <p:cNvGrpSpPr/>
            <p:nvPr/>
          </p:nvGrpSpPr>
          <p:grpSpPr>
            <a:xfrm>
              <a:off x="4705350" y="5105400"/>
              <a:ext cx="6800850" cy="476250"/>
              <a:chOff x="4705350" y="5105400"/>
              <a:chExt cx="6800850" cy="476250"/>
            </a:xfrm>
          </p:grpSpPr>
          <p:sp>
            <p:nvSpPr>
              <p:cNvPr id="119" name="Ellipse 119"/>
              <p:cNvSpPr/>
              <p:nvPr/>
            </p:nvSpPr>
            <p:spPr>
              <a:xfrm>
                <a:off x="4705350" y="5162550"/>
                <a:ext cx="342900" cy="3429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4821237" y="529431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121" name="Rectangle 121"/>
              <p:cNvSpPr/>
              <p:nvPr/>
            </p:nvSpPr>
            <p:spPr>
              <a:xfrm>
                <a:off x="5219700" y="5105400"/>
                <a:ext cx="628650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5385054" y="5271135"/>
                <a:ext cx="58271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自检：</a:t>
                </a: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非零元的周期有 9 也有 3，不全相同——恰好说明 Z₉ 不是消去环（性质13）</a:t>
                </a:r>
              </a:p>
            </p:txBody>
          </p:sp>
        </p:grpSp>
      </p:grpSp>
      <p:grpSp>
        <p:nvGrpSpPr>
          <p:cNvPr id="13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25" name="Rectangle 12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774700" y="6008947"/>
              <a:ext cx="198178" cy="198178"/>
              <a:chOff x="774700" y="6008947"/>
              <a:chExt cx="198178" cy="198178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774700" y="6008947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895350" y="6035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1134618" y="6003608"/>
              <a:ext cx="66812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Zₙ 中找零因子：看哪些非零元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 n 不互质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；再用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周期定理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31" name="TextBox 131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762750" y="-5715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715500" y="-285750"/>
            <a:ext cx="2857500" cy="2857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5734050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4517098" cy="1885379"/>
            <a:chOff x="743712" y="1866900"/>
            <a:chExt cx="4517098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16002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9231" y="1956435"/>
              <a:ext cx="134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第三部分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体与域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45087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能做“除法”的环：非零元都有乘法逆元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026408" cy="1747647"/>
            <a:chOff x="755142" y="4102418"/>
            <a:chExt cx="4026408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4000500" cy="363665"/>
              <a:chOff x="781050" y="4457700"/>
              <a:chExt cx="4000500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35707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整区和体有什么区别？域又是什么？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578466" cy="363665"/>
              <a:chOff x="781050" y="4972050"/>
              <a:chExt cx="3578466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31486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为什么“有限”能把整区变成域？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3766433" cy="363665"/>
              <a:chOff x="781050" y="5486400"/>
              <a:chExt cx="3766433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3366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 n 剩余类环 Zₙ 什么时候是域？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2700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6.5 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081984" cy="960501"/>
            <a:chOff x="519684" y="361950"/>
            <a:chExt cx="408198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47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5203" y="43243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体与域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0819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体：每个非零元都能“除”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definition"/>
          <p:cNvGrpSpPr/>
          <p:nvPr/>
        </p:nvGrpSpPr>
        <p:grpSpPr>
          <a:xfrm>
            <a:off x="533400" y="1485900"/>
            <a:ext cx="8077200" cy="2286000"/>
            <a:chOff x="533400" y="1485900"/>
            <a:chExt cx="8077200" cy="2286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8077200" cy="2286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981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5401" y="1680210"/>
              <a:ext cx="1180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记 R* = R ∖ {0}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018" y="2031682"/>
              <a:ext cx="52481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如果环 R 的非零元素作成一个乘法群，称环 R 为体。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542" y="2406968"/>
              <a:ext cx="60144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理解：是含单位元环（至少两个元素）、消去环，任意非零元素在乘法下有逆；</a:t>
              </a:r>
              <a:br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未必是交换环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，因此体未必是整区。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3032760"/>
              <a:ext cx="2694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想证明 (R, +, ·) 是体，需要证明：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27660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1932" y="3375660"/>
              <a:ext cx="1469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(R, +) 是 Abel 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33700" y="327660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70301" y="3375660"/>
              <a:ext cx="1146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(R*, ·) 是群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27660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13300" y="3375660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· 对 + 有左右分配律</a:t>
              </a:r>
            </a:p>
          </p:txBody>
        </p:sp>
      </p:grpSp>
      <p:grpSp>
        <p:nvGrpSpPr>
          <p:cNvPr id="25" name="analogy"/>
          <p:cNvGrpSpPr/>
          <p:nvPr/>
        </p:nvGrpSpPr>
        <p:grpSpPr>
          <a:xfrm>
            <a:off x="8839200" y="1485900"/>
            <a:ext cx="2819400" cy="2353056"/>
            <a:chOff x="8839200" y="1485900"/>
            <a:chExt cx="2819400" cy="2353056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1802" r="0" b="1802"/>
            <a:stretch>
              <a:fillRect/>
            </a:stretch>
          </p:blipFill>
          <p:spPr>
            <a:xfrm>
              <a:off x="8839200" y="1485900"/>
              <a:ext cx="2819400" cy="2038350"/>
            </a:xfrm>
            <a:prstGeom prst="roundRect">
              <a:avLst>
                <a:gd name="adj" fmla="val 7476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9095236" y="3604260"/>
              <a:ext cx="230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每把锁都配有钥匙，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 0 没有</a:t>
              </a:r>
            </a:p>
          </p:txBody>
        </p:sp>
      </p:grpSp>
      <p:grpSp>
        <p:nvGrpSpPr>
          <p:cNvPr id="38" name="examples"/>
          <p:cNvGrpSpPr/>
          <p:nvPr/>
        </p:nvGrpSpPr>
        <p:grpSpPr>
          <a:xfrm>
            <a:off x="533400" y="3924300"/>
            <a:ext cx="4800600" cy="1790700"/>
            <a:chOff x="533400" y="3924300"/>
            <a:chExt cx="4800600" cy="1790700"/>
          </a:xfrm>
        </p:grpSpPr>
        <p:sp>
          <p:nvSpPr>
            <p:cNvPr id="26" name="Rectangle 26"/>
            <p:cNvSpPr/>
            <p:nvPr/>
          </p:nvSpPr>
          <p:spPr>
            <a:xfrm>
              <a:off x="533400" y="3924300"/>
              <a:ext cx="4800600" cy="1790700"/>
            </a:xfrm>
            <a:prstGeom prst="roundRect">
              <a:avLst>
                <a:gd name="adj" fmla="val 8511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" y="40386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5632" y="4099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88542" y="40928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哪些环是体？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76288" y="4452938"/>
              <a:ext cx="104775" cy="104775"/>
              <a:chOff x="776288" y="4452938"/>
              <a:chExt cx="104775" cy="1047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76288" y="44529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6288" y="44529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lnTo>
                      <a:pt x="104775" y="104775"/>
                    </a:lnTo>
                  </a:path>
                </a:pathLst>
              </a:custGeom>
              <a:noFill/>
              <a:ln w="17463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21842" y="4426268"/>
              <a:ext cx="23882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整数环不是体：2 没有乘法逆元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（2x = 1 没有整数解）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767556" y="503316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1842" y="49977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有理数环、实数环、复数环都是体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3900" y="5295900"/>
              <a:ext cx="4419600" cy="323850"/>
            </a:xfrm>
            <a:prstGeom prst="roundRect">
              <a:avLst>
                <a:gd name="adj" fmla="val 29412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9442" y="5369242"/>
              <a:ext cx="181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 可见，整区未必是体</a:t>
              </a:r>
            </a:p>
          </p:txBody>
        </p:sp>
      </p:grpSp>
      <p:grpSp>
        <p:nvGrpSpPr>
          <p:cNvPr id="47" name="quaternion"/>
          <p:cNvGrpSpPr/>
          <p:nvPr/>
        </p:nvGrpSpPr>
        <p:grpSpPr>
          <a:xfrm>
            <a:off x="5486400" y="3924300"/>
            <a:ext cx="6172200" cy="1790700"/>
            <a:chOff x="5486400" y="3924300"/>
            <a:chExt cx="6172200" cy="1790700"/>
          </a:xfrm>
        </p:grpSpPr>
        <p:sp>
          <p:nvSpPr>
            <p:cNvPr id="39" name="Rectangle 39"/>
            <p:cNvSpPr/>
            <p:nvPr/>
          </p:nvSpPr>
          <p:spPr>
            <a:xfrm>
              <a:off x="5486400" y="3924300"/>
              <a:ext cx="617220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76900" y="4038600"/>
              <a:ext cx="914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04916" y="4099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四元数体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8742" y="40928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是体，但不是域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70804" y="4442460"/>
              <a:ext cx="41650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取符号 i、j、k，以实数 a、b、c、d 为系数作形式的线性组合</a:t>
              </a:r>
              <a:br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a + bi + cj + dk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；加法：对应系数相加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676900" y="4953000"/>
              <a:ext cx="5791200" cy="342900"/>
            </a:xfrm>
            <a:prstGeom prst="roundRect">
              <a:avLst>
                <a:gd name="adj" fmla="val 2777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85104" y="5052060"/>
              <a:ext cx="4801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乘法规定：</a:t>
              </a: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i² = j² = k² = −1，ij = k = −ji，jk = i = −kj，ki = j = −ik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70804" y="5433060"/>
              <a:ext cx="40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ij = k 而 ji = −k：乘法不交换；非零四元数都有乘法逆元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34618" y="6003608"/>
              <a:ext cx="71802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体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非零元作成乘法群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（能做“除法”）；整区未必是体，体也未必交换。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935224" cy="960501"/>
            <a:chOff x="519684" y="361950"/>
            <a:chExt cx="293522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47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5203" y="43243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体与域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域：可以交换的体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definition"/>
          <p:cNvGrpSpPr/>
          <p:nvPr/>
        </p:nvGrpSpPr>
        <p:grpSpPr>
          <a:xfrm>
            <a:off x="533400" y="1485900"/>
            <a:ext cx="5600700" cy="1866900"/>
            <a:chOff x="533400" y="1485900"/>
            <a:chExt cx="56007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6007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494" y="20564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域是交换体。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2166" y="21155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记号：在域中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05000"/>
              <a:ext cx="2171700" cy="5334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raction-notation"/>
                <p:cNvSpPr txBox="1">
                  <a:spLocks noGrp="1"/>
                </p:cNvSpPr>
                <p:nvPr/>
              </p:nvSpPr>
              <p:spPr>
                <a:xfrm>
                  <a:off x="3810000" y="1924050"/>
                  <a:ext cx="20955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907542" y="25212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理解：是含单位元环（至少两个元素）、消去环、交换环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2823210"/>
              <a:ext cx="2694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想证明 (R, +, ·) 是域，需要证明：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4400" y="304800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9057" y="3099435"/>
              <a:ext cx="1469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(R, +) 是 Abel 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28900" y="304800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4243" y="3099435"/>
              <a:ext cx="156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(R*, ·) 是 Abel 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38650" y="3048000"/>
              <a:ext cx="1504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0969" y="3099435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· 对 + 有分配律</a:t>
              </a:r>
            </a:p>
          </p:txBody>
        </p:sp>
      </p:grpSp>
      <p:grpSp>
        <p:nvGrpSpPr>
          <p:cNvPr id="38" name="conclusions"/>
          <p:cNvGrpSpPr/>
          <p:nvPr/>
        </p:nvGrpSpPr>
        <p:grpSpPr>
          <a:xfrm>
            <a:off x="533400" y="3467100"/>
            <a:ext cx="5600700" cy="2247900"/>
            <a:chOff x="533400" y="3467100"/>
            <a:chExt cx="5600700" cy="2247900"/>
          </a:xfrm>
        </p:grpSpPr>
        <p:sp>
          <p:nvSpPr>
            <p:cNvPr id="25" name="Rectangle 25"/>
            <p:cNvSpPr/>
            <p:nvPr/>
          </p:nvSpPr>
          <p:spPr>
            <a:xfrm>
              <a:off x="533400" y="3467100"/>
              <a:ext cx="5600700" cy="2247900"/>
            </a:xfrm>
            <a:prstGeom prst="roundRect">
              <a:avLst>
                <a:gd name="adj" fmla="val 678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" y="361950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400" y="36004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3014" y="36614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7642" y="36547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域中所有非零元素都有相同的加法周期，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542" y="3950018"/>
              <a:ext cx="263404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或为 0，或为质数</a:t>
              </a:r>
            </a:p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理由：域是消去环 ⇒ 由性质13、14 立即得到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4400" y="45148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3014" y="457581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07642" y="4569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域是整区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9066" y="4896802"/>
              <a:ext cx="5141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理由：域是交换环、有单位元；非零元作成乘法群 ⇒ 两非零元之积非零 ⇒ 无零因子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4400" y="5181600"/>
              <a:ext cx="5029200" cy="3810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72356" y="53189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rgbClr val="0F7A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27404" y="5299710"/>
              <a:ext cx="2647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例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有理数域、实数域、复数域都是域</a:t>
              </a:r>
            </a:p>
          </p:txBody>
        </p:sp>
      </p:grpSp>
      <p:grpSp>
        <p:nvGrpSpPr>
          <p:cNvPr id="56" name="venn"/>
          <p:cNvGrpSpPr/>
          <p:nvPr/>
        </p:nvGrpSpPr>
        <p:grpSpPr>
          <a:xfrm>
            <a:off x="6324600" y="1485900"/>
            <a:ext cx="5334000" cy="2895600"/>
            <a:chOff x="6324600" y="1485900"/>
            <a:chExt cx="5334000" cy="2895600"/>
          </a:xfrm>
        </p:grpSpPr>
        <p:sp>
          <p:nvSpPr>
            <p:cNvPr id="39" name="Rectangle 39"/>
            <p:cNvSpPr/>
            <p:nvPr/>
          </p:nvSpPr>
          <p:spPr>
            <a:xfrm>
              <a:off x="6324600" y="1485900"/>
              <a:ext cx="5334000" cy="28956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538912" y="1647825"/>
              <a:ext cx="180976" cy="171450"/>
              <a:chOff x="6538912" y="1647825"/>
              <a:chExt cx="180976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91300" y="16478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38912" y="17430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43688" y="17430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813042" y="16544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整区、体、域的关系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515100" y="1943100"/>
              <a:ext cx="4953000" cy="2286000"/>
            </a:xfrm>
            <a:prstGeom prst="roundRect">
              <a:avLst>
                <a:gd name="adj" fmla="val 58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62166" y="20583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含单位元的消去环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858000" y="2266950"/>
              <a:ext cx="2857500" cy="1828800"/>
            </a:xfrm>
            <a:prstGeom prst="ellipse">
              <a:avLst/>
            </a:prstGeom>
            <a:solidFill>
              <a:schemeClr val="accent3">
                <a:alpha val="12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267700" y="2266950"/>
              <a:ext cx="2857500" cy="18288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15200" y="29432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24967" y="3258502"/>
              <a:ext cx="7995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Z（整数环）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49865" y="29432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70414" y="3258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四元数体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72156" y="29079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3945" y="3239452"/>
              <a:ext cx="875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Q、R、C、Zₚ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72814" y="342995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（p 为质数）</a:t>
              </a:r>
            </a:p>
          </p:txBody>
        </p:sp>
      </p:grpSp>
      <p:grpSp>
        <p:nvGrpSpPr>
          <p:cNvPr id="63" name="subfield"/>
          <p:cNvGrpSpPr/>
          <p:nvPr/>
        </p:nvGrpSpPr>
        <p:grpSpPr>
          <a:xfrm>
            <a:off x="6324600" y="4495800"/>
            <a:ext cx="5334000" cy="1219200"/>
            <a:chOff x="6324600" y="4495800"/>
            <a:chExt cx="5334000" cy="1219200"/>
          </a:xfrm>
        </p:grpSpPr>
        <p:sp>
          <p:nvSpPr>
            <p:cNvPr id="57" name="Rectangle 57"/>
            <p:cNvSpPr/>
            <p:nvPr/>
          </p:nvSpPr>
          <p:spPr>
            <a:xfrm>
              <a:off x="6324600" y="4495800"/>
              <a:ext cx="5334000" cy="1219200"/>
            </a:xfrm>
            <a:prstGeom prst="roundRect">
              <a:avLst>
                <a:gd name="adj" fmla="val 125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7000" y="4648200"/>
              <a:ext cx="47625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67500" y="46101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25615" y="4677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85304" y="4671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子体、子域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1404" y="4956810"/>
              <a:ext cx="386791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 K 的子环若仍为体，叫子体；若又为域，叫 K 的子域。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对于域 F，也可以有 F 的子环和子域。</a:t>
              </a:r>
              <a:br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例 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整数环是实数域的子环，实数域是复数域的子域。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134618" y="6003608"/>
              <a:ext cx="59046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域 = 交换体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整区 ∩ 体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：加减乘除都能做，乘法还能交换。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43016" cy="960501"/>
            <a:chOff x="519684" y="361950"/>
            <a:chExt cx="584301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47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5203" y="43243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体与域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有限的力量：无零因子的有限环是体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laim-a"/>
          <p:cNvGrpSpPr/>
          <p:nvPr/>
        </p:nvGrpSpPr>
        <p:grpSpPr>
          <a:xfrm>
            <a:off x="527304" y="1485900"/>
            <a:ext cx="6140196" cy="4171950"/>
            <a:chOff x="527304" y="1485900"/>
            <a:chExt cx="6140196" cy="41719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8382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161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3490" y="168021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5742" y="1673542"/>
              <a:ext cx="4051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假定 R 是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无零因子的有限环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，且不只有一个元素，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2006918"/>
              <a:ext cx="1506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R 必是一个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体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304" y="2499360"/>
              <a:ext cx="2847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证明：只需证 R* = R ∖ {0} 作成乘法群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76300" y="29527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20" name="a-step-1"/>
            <p:cNvGrpSpPr/>
            <p:nvPr/>
          </p:nvGrpSpPr>
          <p:grpSpPr>
            <a:xfrm>
              <a:off x="742950" y="2762250"/>
              <a:ext cx="5924550" cy="381000"/>
              <a:chOff x="742950" y="2762250"/>
              <a:chExt cx="5924550" cy="3810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742950" y="2819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30151" y="28870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104900" y="2762250"/>
                <a:ext cx="55626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51204" y="2880360"/>
                <a:ext cx="20464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R 不只有一个元素 ⇒ R* 非空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27064" y="288702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非空</a:t>
                </a:r>
              </a:p>
            </p:txBody>
          </p:sp>
        </p:grpSp>
        <p:grpSp>
          <p:nvGrpSpPr>
            <p:cNvPr id="26" name="a-step-2"/>
            <p:cNvGrpSpPr/>
            <p:nvPr/>
          </p:nvGrpSpPr>
          <p:grpSpPr>
            <a:xfrm>
              <a:off x="742950" y="3219450"/>
              <a:ext cx="5924550" cy="381000"/>
              <a:chOff x="742950" y="3219450"/>
              <a:chExt cx="5924550" cy="3810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42950" y="3276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0151" y="3344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104900" y="3219450"/>
                <a:ext cx="55626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51204" y="3337560"/>
                <a:ext cx="31894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a、b ∈ R* ⇒ a ≠ 0，b ≠ 0 ⇒ ab ≠ 0 ⇒ ab ∈ R*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20309" y="33442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封闭：无零因子</a:t>
                </a:r>
              </a:p>
            </p:txBody>
          </p:sp>
        </p:grpSp>
        <p:grpSp>
          <p:nvGrpSpPr>
            <p:cNvPr id="32" name="a-step-3"/>
            <p:cNvGrpSpPr/>
            <p:nvPr/>
          </p:nvGrpSpPr>
          <p:grpSpPr>
            <a:xfrm>
              <a:off x="742950" y="3676650"/>
              <a:ext cx="5924550" cy="381000"/>
              <a:chOff x="742950" y="3676650"/>
              <a:chExt cx="5924550" cy="3810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42950" y="3733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30151" y="3801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104900" y="3676650"/>
                <a:ext cx="55626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51204" y="3794760"/>
                <a:ext cx="31772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R 对乘法适合结合律 ⇒ R* 对乘法适合结合律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03011" y="38014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结合：继承</a:t>
                </a:r>
              </a:p>
            </p:txBody>
          </p:sp>
        </p:grpSp>
        <p:grpSp>
          <p:nvGrpSpPr>
            <p:cNvPr id="38" name="a-step-4"/>
            <p:cNvGrpSpPr/>
            <p:nvPr/>
          </p:nvGrpSpPr>
          <p:grpSpPr>
            <a:xfrm>
              <a:off x="742950" y="4133850"/>
              <a:ext cx="5924550" cy="381000"/>
              <a:chOff x="742950" y="4133850"/>
              <a:chExt cx="5924550" cy="3810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42950" y="41910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30151" y="42586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1104900" y="4133850"/>
                <a:ext cx="55626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51204" y="4251960"/>
                <a:ext cx="22079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R 无零因子 ⇒ R* 中消去律成立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647525" y="4258628"/>
                <a:ext cx="8729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消去：性质12</a:t>
                </a:r>
              </a:p>
            </p:txBody>
          </p:sp>
        </p:grpSp>
        <p:grpSp>
          <p:nvGrpSpPr>
            <p:cNvPr id="44" name="a-step-5"/>
            <p:cNvGrpSpPr/>
            <p:nvPr/>
          </p:nvGrpSpPr>
          <p:grpSpPr>
            <a:xfrm>
              <a:off x="742950" y="4591050"/>
              <a:ext cx="5924550" cy="381000"/>
              <a:chOff x="742950" y="4591050"/>
              <a:chExt cx="5924550" cy="3810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42950" y="4648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0151" y="47158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1104900" y="4591050"/>
                <a:ext cx="5562600" cy="3810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251204" y="4709160"/>
                <a:ext cx="1238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R 有限 ⇒ R* 有限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27064" y="471582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有限</a:t>
                </a:r>
              </a:p>
            </p:txBody>
          </p:sp>
        </p:grpSp>
        <p:grpSp>
          <p:nvGrpSpPr>
            <p:cNvPr id="50" name="a-step-6"/>
            <p:cNvGrpSpPr/>
            <p:nvPr/>
          </p:nvGrpSpPr>
          <p:grpSpPr>
            <a:xfrm>
              <a:off x="742950" y="5048250"/>
              <a:ext cx="5924550" cy="609600"/>
              <a:chOff x="742950" y="5048250"/>
              <a:chExt cx="5924550" cy="60960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742950" y="5200650"/>
                <a:ext cx="266700" cy="2667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1850" y="53022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104900" y="5048250"/>
                <a:ext cx="5562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250442" y="5150168"/>
                <a:ext cx="2334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R* 是乘法群，所以 R 是体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251966" y="5430202"/>
                <a:ext cx="25055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依据（6.2）：有限半群满足消去律为群</a:t>
                </a:r>
              </a:p>
            </p:txBody>
          </p:sp>
        </p:grpSp>
      </p:grpSp>
      <p:grpSp>
        <p:nvGrpSpPr>
          <p:cNvPr id="57" name="claim-b"/>
          <p:cNvGrpSpPr/>
          <p:nvPr/>
        </p:nvGrpSpPr>
        <p:grpSpPr>
          <a:xfrm>
            <a:off x="6858000" y="1485900"/>
            <a:ext cx="4800600" cy="849439"/>
            <a:chOff x="6858000" y="1485900"/>
            <a:chExt cx="4800600" cy="849439"/>
          </a:xfrm>
        </p:grpSpPr>
        <p:sp>
          <p:nvSpPr>
            <p:cNvPr id="52" name="Rectangle 52"/>
            <p:cNvSpPr/>
            <p:nvPr/>
          </p:nvSpPr>
          <p:spPr>
            <a:xfrm>
              <a:off x="6858000" y="1485900"/>
              <a:ext cx="4800600" cy="8382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10400" y="16383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00900" y="16192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38090" y="168021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92518" y="2012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有限整区是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</p:grpSp>
      <p:grpSp>
        <p:nvGrpSpPr>
          <p:cNvPr id="63" name="proof-one"/>
          <p:cNvGrpSpPr/>
          <p:nvPr/>
        </p:nvGrpSpPr>
        <p:grpSpPr>
          <a:xfrm>
            <a:off x="6858000" y="2438400"/>
            <a:ext cx="4800600" cy="924306"/>
            <a:chOff x="6858000" y="2438400"/>
            <a:chExt cx="4800600" cy="924306"/>
          </a:xfrm>
        </p:grpSpPr>
        <p:sp>
          <p:nvSpPr>
            <p:cNvPr id="58" name="Rectangle 58"/>
            <p:cNvSpPr/>
            <p:nvPr/>
          </p:nvSpPr>
          <p:spPr>
            <a:xfrm>
              <a:off x="6858000" y="2438400"/>
              <a:ext cx="48006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48500" y="255270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4040" y="26203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证法一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42504" y="2613660"/>
              <a:ext cx="1449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用结论 A，一步到位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42404" y="2899410"/>
              <a:ext cx="3258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有限整区是无零因子、不只一个元素的有限环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⇒ 由结论 A 是体；又整区是交换环 ⇒ 交换体 =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</p:grpSp>
      <p:grpSp>
        <p:nvGrpSpPr>
          <p:cNvPr id="97" name="proof-two"/>
          <p:cNvGrpSpPr/>
          <p:nvPr/>
        </p:nvGrpSpPr>
        <p:grpSpPr>
          <a:xfrm>
            <a:off x="6858000" y="3467100"/>
            <a:ext cx="4800600" cy="2247900"/>
            <a:chOff x="6858000" y="3467100"/>
            <a:chExt cx="4800600" cy="2247900"/>
          </a:xfrm>
        </p:grpSpPr>
        <p:sp>
          <p:nvSpPr>
            <p:cNvPr id="64" name="Rectangle 64"/>
            <p:cNvSpPr/>
            <p:nvPr/>
          </p:nvSpPr>
          <p:spPr>
            <a:xfrm>
              <a:off x="6858000" y="3467100"/>
              <a:ext cx="48006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48500" y="358140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74040" y="36490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证法二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42504" y="3642360"/>
              <a:ext cx="2475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直接找逆元，关键一步：aR* = R*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42785" y="3955256"/>
              <a:ext cx="3453638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(1)–(4) R* 非空（1 ∈ R*）、封闭、结合、有单位元 1</a:t>
              </a:r>
            </a:p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(5) 取 a ∈ R*：x ↦ ax 是单射（消去律），R* 有限</a:t>
              </a:r>
              <a:br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也是满射，aR* = R* ∋ 1 ⇒ 有 aₖ 使 a·aₖ = 1</a:t>
              </a:r>
            </a:p>
          </p:txBody>
        </p:sp>
        <p:grpSp>
          <p:nvGrpSpPr>
            <p:cNvPr id="96" name="z5-map"/>
            <p:cNvGrpSpPr/>
            <p:nvPr/>
          </p:nvGrpSpPr>
          <p:grpSpPr>
            <a:xfrm>
              <a:off x="7048500" y="4705350"/>
              <a:ext cx="4419600" cy="914400"/>
              <a:chOff x="7048500" y="4705350"/>
              <a:chExt cx="4419600" cy="9144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7048500" y="4705350"/>
                <a:ext cx="441960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233666" y="48777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x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233666" y="5392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2x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233666" y="5144452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Z₅</a:t>
                </a:r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7810500" y="5048250"/>
                <a:ext cx="476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85750">
                    <a:moveTo>
                      <a:pt x="0" y="0"/>
                    </a:moveTo>
                    <a:lnTo>
                      <a:pt x="476250" y="285750"/>
                    </a:lnTo>
                  </a:path>
                </a:pathLst>
              </a:custGeom>
              <a:noFill/>
              <a:ln w="19050">
                <a:solidFill>
                  <a:srgbClr val="8A94A6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8286750" y="5048250"/>
                <a:ext cx="952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85750">
                    <a:moveTo>
                      <a:pt x="0" y="0"/>
                    </a:moveTo>
                    <a:lnTo>
                      <a:pt x="952500" y="285750"/>
                    </a:lnTo>
                  </a:path>
                </a:pathLst>
              </a:custGeom>
              <a:noFill/>
              <a:ln w="19050">
                <a:solidFill>
                  <a:srgbClr val="8A94A6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7810500" y="5048250"/>
                <a:ext cx="952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85750">
                    <a:moveTo>
                      <a:pt x="95250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76" name="Line 76"/>
              <p:cNvSpPr/>
              <p:nvPr/>
            </p:nvSpPr>
            <p:spPr>
              <a:xfrm>
                <a:off x="8763000" y="5048250"/>
                <a:ext cx="476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85750">
                    <a:moveTo>
                      <a:pt x="4762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8A94A6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7696200" y="481965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764351" y="4868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8172450" y="481965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8240601" y="4868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8648700" y="4819650"/>
                <a:ext cx="228600" cy="228600"/>
              </a:xfrm>
              <a:prstGeom prst="ellipse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716851" y="4868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3" name="Ellipse 83"/>
              <p:cNvSpPr/>
              <p:nvPr/>
            </p:nvSpPr>
            <p:spPr>
              <a:xfrm>
                <a:off x="9124950" y="481965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193101" y="4868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7696200" y="5334000"/>
                <a:ext cx="228600" cy="228600"/>
              </a:xfrm>
              <a:prstGeom prst="ellipse">
                <a:avLst/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764351" y="5382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8172450" y="533400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8240601" y="5382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8648700" y="533400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8716851" y="5382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9124950" y="5334000"/>
                <a:ext cx="228600" cy="2286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9193101" y="5382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595104" y="4918710"/>
                <a:ext cx="9717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被 3“命中”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595104" y="5166360"/>
                <a:ext cx="7246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⇒ 2⁻¹ = 3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595866" y="5411152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（2·3 = 6 = 1）</a:t>
                </a:r>
              </a:p>
            </p:txBody>
          </p:sp>
        </p:grpSp>
      </p:grpSp>
      <p:grpSp>
        <p:nvGrpSpPr>
          <p:cNvPr id="10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8" name="Rectangle 9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761989" y="6050728"/>
              <a:ext cx="228621" cy="109593"/>
            </a:xfrm>
            <a:custGeom>
              <a:avLst/>
              <a:gdLst/>
              <a:ahLst/>
              <a:cxnLst/>
              <a:rect l="l" t="t" r="r" b="b"/>
              <a:pathLst>
                <a:path w="228621" h="109593">
                  <a:moveTo>
                    <a:pt x="86726" y="18881"/>
                  </a:moveTo>
                  <a:cubicBezTo>
                    <a:pt x="72199" y="4349"/>
                    <a:pt x="50348" y="0"/>
                    <a:pt x="31363" y="7862"/>
                  </a:cubicBezTo>
                  <a:cubicBezTo>
                    <a:pt x="12379" y="15724"/>
                    <a:pt x="0" y="34248"/>
                    <a:pt x="0" y="54796"/>
                  </a:cubicBezTo>
                  <a:cubicBezTo>
                    <a:pt x="0" y="75344"/>
                    <a:pt x="12379" y="93869"/>
                    <a:pt x="31363" y="101731"/>
                  </a:cubicBezTo>
                  <a:cubicBezTo>
                    <a:pt x="50348" y="109593"/>
                    <a:pt x="72199" y="105244"/>
                    <a:pt x="86726" y="90712"/>
                  </a:cubicBezTo>
                  <a:cubicBezTo>
                    <a:pt x="97998" y="80489"/>
                    <a:pt x="107342" y="68324"/>
                    <a:pt x="114311" y="54796"/>
                  </a:cubicBezTo>
                  <a:cubicBezTo>
                    <a:pt x="121279" y="41269"/>
                    <a:pt x="130623" y="29103"/>
                    <a:pt x="141895" y="18881"/>
                  </a:cubicBezTo>
                  <a:cubicBezTo>
                    <a:pt x="156422" y="4349"/>
                    <a:pt x="178273" y="0"/>
                    <a:pt x="197258" y="7862"/>
                  </a:cubicBezTo>
                  <a:cubicBezTo>
                    <a:pt x="216242" y="15724"/>
                    <a:pt x="228621" y="34248"/>
                    <a:pt x="228621" y="54796"/>
                  </a:cubicBezTo>
                  <a:cubicBezTo>
                    <a:pt x="228621" y="75344"/>
                    <a:pt x="216242" y="93869"/>
                    <a:pt x="197258" y="101731"/>
                  </a:cubicBezTo>
                  <a:cubicBezTo>
                    <a:pt x="178273" y="109593"/>
                    <a:pt x="156422" y="105244"/>
                    <a:pt x="141895" y="90712"/>
                  </a:cubicBezTo>
                  <a:cubicBezTo>
                    <a:pt x="130623" y="80489"/>
                    <a:pt x="121279" y="68324"/>
                    <a:pt x="114311" y="54796"/>
                  </a:cubicBezTo>
                  <a:cubicBezTo>
                    <a:pt x="107342" y="41269"/>
                    <a:pt x="97998" y="29103"/>
                    <a:pt x="86726" y="18881"/>
                  </a:cubicBezTo>
                </a:path>
              </a:pathLst>
            </a:custGeom>
            <a:noFill/>
            <a:ln w="25400">
              <a:solidFill>
                <a:srgbClr val="B4231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34618" y="6003608"/>
              <a:ext cx="76140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“有限”不能去掉：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 是无零因子的无限环（整区），但 2 没有逆元，不是体。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2" name="TextBox 102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464541" cy="960501"/>
            <a:chOff x="519684" y="361950"/>
            <a:chExt cx="446454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47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5203" y="43243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体与域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4645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有限域的例：模 5 剩余类域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problem"/>
          <p:cNvGrpSpPr/>
          <p:nvPr/>
        </p:nvGrpSpPr>
        <p:grpSpPr>
          <a:xfrm>
            <a:off x="533400" y="1485900"/>
            <a:ext cx="4267200" cy="4229100"/>
            <a:chOff x="533400" y="1485900"/>
            <a:chExt cx="42672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2672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38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99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92592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有限域 Z₅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64068"/>
              <a:ext cx="2880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R = {0, 1, 2, 3, 4}，定义运算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324100"/>
              <a:ext cx="3810000" cy="666750"/>
            </a:xfrm>
            <a:prstGeom prst="roundRect">
              <a:avLst>
                <a:gd name="adj" fmla="val 1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28875"/>
              <a:ext cx="1872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⊕ b = a + b (mod 5)</a:t>
              </a:r>
              <a:br/>
              <a:r>
                <a:rPr lang="en-US" sz="15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⊙ b = ab (mod 5)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3108960"/>
              <a:ext cx="3297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则可以证明 (R, ⊕, ⊙) 是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域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（证明作为练习）</a:t>
              </a:r>
            </a:p>
          </p:txBody>
        </p:sp>
        <p:grpSp>
          <p:nvGrpSpPr>
            <p:cNvPr id="56" name="z5-table"/>
            <p:cNvGrpSpPr/>
            <p:nvPr/>
          </p:nvGrpSpPr>
          <p:grpSpPr>
            <a:xfrm>
              <a:off x="762000" y="3390900"/>
              <a:ext cx="2286000" cy="1642301"/>
              <a:chOff x="762000" y="3390900"/>
              <a:chExt cx="2286000" cy="1642301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3390900"/>
                <a:ext cx="2286000" cy="32385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3714750"/>
                <a:ext cx="457200" cy="12954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219200" y="3714750"/>
                <a:ext cx="1828800" cy="1295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238250" y="3733800"/>
                <a:ext cx="419100" cy="285750"/>
              </a:xfrm>
              <a:prstGeom prst="rect">
                <a:avLst/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152650" y="4057650"/>
                <a:ext cx="419100" cy="285750"/>
              </a:xfrm>
              <a:prstGeom prst="rect">
                <a:avLst/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695450" y="4381500"/>
                <a:ext cx="419100" cy="285750"/>
              </a:xfrm>
              <a:prstGeom prst="rect">
                <a:avLst/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609850" y="4705350"/>
                <a:ext cx="419100" cy="285750"/>
              </a:xfrm>
              <a:prstGeom prst="rect">
                <a:avLst/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762000" y="371475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1219200" y="3390900"/>
                <a:ext cx="9525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0">
                    <a:moveTo>
                      <a:pt x="0" y="0"/>
                    </a:moveTo>
                    <a:lnTo>
                      <a:pt x="0" y="161925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62000" y="40386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676400" y="3390900"/>
                <a:ext cx="9525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0">
                    <a:moveTo>
                      <a:pt x="0" y="0"/>
                    </a:moveTo>
                    <a:lnTo>
                      <a:pt x="0" y="161925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62000" y="436245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2133600" y="3390900"/>
                <a:ext cx="9525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0">
                    <a:moveTo>
                      <a:pt x="0" y="0"/>
                    </a:moveTo>
                    <a:lnTo>
                      <a:pt x="0" y="161925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62000" y="46863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2590800" y="3390900"/>
                <a:ext cx="9525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19250">
                    <a:moveTo>
                      <a:pt x="0" y="0"/>
                    </a:moveTo>
                    <a:lnTo>
                      <a:pt x="0" y="161925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762000" y="3390900"/>
                <a:ext cx="2286000" cy="16192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31265" y="3473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⊙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388465" y="3473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45665" y="3473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302865" y="3473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60065" y="34737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31265" y="37976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88465" y="37976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848164" y="37976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05364" y="37976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762564" y="37976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31265" y="41214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390964" y="41214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848164" y="41214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302865" y="41214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762564" y="41214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1265" y="44453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390964" y="44453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845665" y="44453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305364" y="44453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762564" y="44453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31265" y="47691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390964" y="4769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848164" y="4769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305364" y="4769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760065" y="476916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</p:grp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rcRect l="0" t="4955" r="0" b="4955"/>
            <a:stretch>
              <a:fillRect/>
            </a:stretch>
          </p:blipFill>
          <p:spPr>
            <a:xfrm>
              <a:off x="3238500" y="3390900"/>
              <a:ext cx="1409700" cy="952500"/>
            </a:xfrm>
            <a:prstGeom prst="roundRect">
              <a:avLst>
                <a:gd name="adj" fmla="val 12000"/>
              </a:avLst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3233166" y="4439602"/>
              <a:ext cx="1277493" cy="586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每行都是 1、2、3、4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的一个排列 ⇒ 每个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非零元都有逆元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" y="5143500"/>
              <a:ext cx="3810000" cy="419100"/>
            </a:xfrm>
            <a:prstGeom prst="roundRect">
              <a:avLst>
                <a:gd name="adj" fmla="val 2272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8304" y="5280660"/>
              <a:ext cx="3254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Cambria Math"/>
                  <a:ea typeface="Microsoft YaHei"/>
                  <a:cs typeface="Cambria Math"/>
                </a:rPr>
                <a:t>逆元：1⁻¹ = 1，2⁻¹ = 3，3⁻¹ = 2，4⁻¹ = 4</a:t>
              </a:r>
            </a:p>
          </p:txBody>
        </p:sp>
      </p:grpSp>
      <p:grpSp>
        <p:nvGrpSpPr>
          <p:cNvPr id="87" name="two-periods"/>
          <p:cNvGrpSpPr/>
          <p:nvPr/>
        </p:nvGrpSpPr>
        <p:grpSpPr>
          <a:xfrm>
            <a:off x="5029200" y="1485900"/>
            <a:ext cx="6629400" cy="2514600"/>
            <a:chOff x="5029200" y="1485900"/>
            <a:chExt cx="6629400" cy="2514600"/>
          </a:xfrm>
        </p:grpSpPr>
        <p:sp>
          <p:nvSpPr>
            <p:cNvPr id="62" name="Rectangle 62"/>
            <p:cNvSpPr/>
            <p:nvPr/>
          </p:nvSpPr>
          <p:spPr>
            <a:xfrm>
              <a:off x="5029200" y="1485900"/>
              <a:ext cx="6629400" cy="2514600"/>
            </a:xfrm>
            <a:prstGeom prst="roundRect">
              <a:avLst>
                <a:gd name="adj" fmla="val 60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219700" y="1619250"/>
              <a:ext cx="914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47716" y="1680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两个周期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6289675" y="1659731"/>
              <a:ext cx="165099" cy="185737"/>
              <a:chOff x="6289675" y="1659731"/>
              <a:chExt cx="165099" cy="185737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289675" y="1659731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92868"/>
                    </a:moveTo>
                    <a:lnTo>
                      <a:pt x="0" y="61912"/>
                    </a:lnTo>
                    <a:cubicBezTo>
                      <a:pt x="0" y="44816"/>
                      <a:pt x="13860" y="30956"/>
                      <a:pt x="30956" y="30956"/>
                    </a:cubicBezTo>
                    <a:lnTo>
                      <a:pt x="165099" y="30956"/>
                    </a:lnTo>
                    <a:moveTo>
                      <a:pt x="134143" y="0"/>
                    </a:moveTo>
                    <a:lnTo>
                      <a:pt x="165099" y="30956"/>
                    </a:lnTo>
                    <a:lnTo>
                      <a:pt x="134143" y="61912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289675" y="1752600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165099" y="0"/>
                    </a:moveTo>
                    <a:lnTo>
                      <a:pt x="165099" y="30956"/>
                    </a:lnTo>
                    <a:cubicBezTo>
                      <a:pt x="165099" y="48053"/>
                      <a:pt x="151240" y="61912"/>
                      <a:pt x="134143" y="61912"/>
                    </a:cubicBezTo>
                    <a:lnTo>
                      <a:pt x="0" y="61912"/>
                    </a:lnTo>
                    <a:moveTo>
                      <a:pt x="30956" y="92868"/>
                    </a:moveTo>
                    <a:lnTo>
                      <a:pt x="0" y="61912"/>
                    </a:lnTo>
                    <a:lnTo>
                      <a:pt x="30956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213604" y="2023110"/>
              <a:ext cx="4683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在域中，每个非零元素都有两个周期：加法群 (R, +) 中的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加法周期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和乘法群 (R*, ·) 中的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乘法周期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grpSp>
          <p:nvGrpSpPr>
            <p:cNvPr id="86" name="period-table"/>
            <p:cNvGrpSpPr/>
            <p:nvPr/>
          </p:nvGrpSpPr>
          <p:grpSpPr>
            <a:xfrm>
              <a:off x="5219700" y="2514600"/>
              <a:ext cx="6248400" cy="1419606"/>
              <a:chOff x="5219700" y="2514600"/>
              <a:chExt cx="6248400" cy="1419606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5219700" y="2514600"/>
                <a:ext cx="6248400" cy="28575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5219700" y="2800350"/>
                <a:ext cx="6248400" cy="819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5219700" y="3619500"/>
                <a:ext cx="6248400" cy="304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5219700" y="280035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5219700" y="3619500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6362700" y="2514600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09700">
                    <a:moveTo>
                      <a:pt x="0" y="0"/>
                    </a:moveTo>
                    <a:lnTo>
                      <a:pt x="0" y="14097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8077200" y="2514600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09700">
                    <a:moveTo>
                      <a:pt x="0" y="0"/>
                    </a:moveTo>
                    <a:lnTo>
                      <a:pt x="0" y="14097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5219700" y="2514600"/>
                <a:ext cx="6248400" cy="1409700"/>
              </a:xfrm>
              <a:prstGeom prst="rect">
                <a:avLst/>
              </a:pr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5704332" y="2585085"/>
                <a:ext cx="173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域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567678" y="2585085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非零元的加法周期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120378" y="2585085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非零元的乘法周期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5457779" y="3137535"/>
                <a:ext cx="6668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Q、R、C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509004" y="3137535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都是 0（无穷大）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223504" y="2899410"/>
                <a:ext cx="1939100" cy="691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→ 1，−1 → 2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Q、R 中其余非零元 → 0</a:t>
                </a:r>
              </a:p>
              <a:p>
                <a:pPr algn="l">
                  <a:lnSpc>
                    <a:spcPts val="1800"/>
                  </a:lnSpc>
                </a:pPr>
                <a:r>
                  <a:rPr lang="zh-CN" sz="1050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更正：C 中还有 i → 4 等有限周期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686532" y="369951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Z₅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509004" y="3699510"/>
                <a:ext cx="13655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1、2、3、4 都是 </a:t>
                </a:r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23504" y="369951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→ 1，2 → 4，3 → 4，4 → 2</a:t>
                </a:r>
              </a:p>
            </p:txBody>
          </p:sp>
        </p:grpSp>
      </p:grpSp>
      <p:grpSp>
        <p:nvGrpSpPr>
          <p:cNvPr id="98" name="calculations"/>
          <p:cNvGrpSpPr/>
          <p:nvPr/>
        </p:nvGrpSpPr>
        <p:grpSpPr>
          <a:xfrm>
            <a:off x="5029200" y="4114800"/>
            <a:ext cx="6629400" cy="1600200"/>
            <a:chOff x="5029200" y="4114800"/>
            <a:chExt cx="6629400" cy="1600200"/>
          </a:xfrm>
        </p:grpSpPr>
        <p:sp>
          <p:nvSpPr>
            <p:cNvPr id="88" name="Rectangle 88"/>
            <p:cNvSpPr/>
            <p:nvPr/>
          </p:nvSpPr>
          <p:spPr>
            <a:xfrm>
              <a:off x="5029200" y="4114800"/>
              <a:ext cx="6629400" cy="1600200"/>
            </a:xfrm>
            <a:prstGeom prst="roundRect">
              <a:avLst>
                <a:gd name="adj" fmla="val 9524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219700" y="42481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61432" y="43091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784342" y="4302442"/>
              <a:ext cx="2020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Z₅ 里算乘方与“除法”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212842" y="4673918"/>
              <a:ext cx="1292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(−2)⁻⁴ ⊕ 4 = </a:t>
              </a:r>
              <a:r>
                <a:rPr lang="zh-CN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13604" y="4956810"/>
              <a:ext cx="14599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−2 = 3，3⁻¹ = 2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(−2)⁻⁴ = 2⁴ = 16 = 1</a:t>
              </a:r>
              <a:br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⊕ 4 = 5 = 0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8305800" y="4667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489442" y="4673918"/>
              <a:ext cx="7674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 xml:space="preserve">3 / 4 = </a:t>
              </a:r>
              <a:r>
                <a:rPr lang="zh-CN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fraction-formula"/>
                <p:cNvSpPr txBox="1">
                  <a:spLocks noGrp="1"/>
                </p:cNvSpPr>
                <p:nvPr/>
              </p:nvSpPr>
              <p:spPr>
                <a:xfrm>
                  <a:off x="8458200" y="4895850"/>
                  <a:ext cx="30099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⊙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⊙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7" name="TextBox 97"/>
            <p:cNvSpPr txBox="1"/>
            <p:nvPr/>
          </p:nvSpPr>
          <p:spPr>
            <a:xfrm>
              <a:off x="8490204" y="541401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4⁻¹ = 4（因为 4 ⊙ 4 = 16 = 1）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9" name="Rectangle 9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76300" y="6042025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134618" y="6003608"/>
              <a:ext cx="7618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有限域里照样能加减乘除；Z₅ 的非零元加法周期都是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质数 5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，与结论1 一致。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5" name="TextBox 105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263070" cy="960501"/>
            <a:chOff x="519684" y="361950"/>
            <a:chExt cx="426307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447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5203" y="432435"/>
              <a:ext cx="11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体与域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2630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定理：Zₚ 是域 ⇔ p 是质数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theorem"/>
          <p:cNvGrpSpPr/>
          <p:nvPr/>
        </p:nvGrpSpPr>
        <p:grpSpPr>
          <a:xfrm>
            <a:off x="533400" y="1485900"/>
            <a:ext cx="11125200" cy="762000"/>
            <a:chOff x="533400" y="1485900"/>
            <a:chExt cx="11125200" cy="762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76200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7335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794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8018" y="1774508"/>
              <a:ext cx="49171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Zₚ 是模 p 的剩余类环，则 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Zₚ 是域 ⇔ p 是质数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08108" y="1813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两个方向都用反证法</a:t>
              </a:r>
            </a:p>
          </p:txBody>
        </p:sp>
      </p:grpSp>
      <p:grpSp>
        <p:nvGrpSpPr>
          <p:cNvPr id="37" name="necessity"/>
          <p:cNvGrpSpPr/>
          <p:nvPr/>
        </p:nvGrpSpPr>
        <p:grpSpPr>
          <a:xfrm>
            <a:off x="533400" y="2362200"/>
            <a:ext cx="5486400" cy="2324100"/>
            <a:chOff x="533400" y="2362200"/>
            <a:chExt cx="5486400" cy="2324100"/>
          </a:xfrm>
        </p:grpSpPr>
        <p:sp>
          <p:nvSpPr>
            <p:cNvPr id="14" name="Rectangle 14"/>
            <p:cNvSpPr/>
            <p:nvPr/>
          </p:nvSpPr>
          <p:spPr>
            <a:xfrm>
              <a:off x="533400" y="2362200"/>
              <a:ext cx="5486400" cy="2324100"/>
            </a:xfrm>
            <a:prstGeom prst="roundRect">
              <a:avLst>
                <a:gd name="adj" fmla="val 65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" y="245745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4462" y="252507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必要性 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94104" y="2518410"/>
              <a:ext cx="1410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Zₚ 是域 ⇒ p 是质数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76300" y="297180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0"/>
                  </a:moveTo>
                  <a:lnTo>
                    <a:pt x="0" y="14287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62000" y="2857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151" y="2906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04900" y="2800350"/>
              <a:ext cx="4762500" cy="342900"/>
            </a:xfrm>
            <a:prstGeom prst="roundRect">
              <a:avLst>
                <a:gd name="adj" fmla="val 2777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51204" y="2899410"/>
              <a:ext cx="3380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假设 p 不是质数：p = ab，0 &lt; a &lt; p，0 &lt; b &lt; p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33337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0151" y="3382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04900" y="3276600"/>
              <a:ext cx="4762500" cy="342900"/>
            </a:xfrm>
            <a:prstGeom prst="roundRect">
              <a:avLst>
                <a:gd name="adj" fmla="val 2777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51204" y="33756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则 [a][b] = [ab] = [p] = [0]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02911" y="33823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剩余类乘法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2000" y="3810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151" y="3858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04900" y="3752850"/>
              <a:ext cx="4762500" cy="342900"/>
            </a:xfrm>
            <a:prstGeom prst="roundRect">
              <a:avLst>
                <a:gd name="adj" fmla="val 27778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51204" y="3851910"/>
              <a:ext cx="297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但 [a] ≠ [0]，[b] ≠ [0] ⇒ 它们是零因子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3438" y="3858578"/>
              <a:ext cx="766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 &lt; a, b &lt; p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28625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37406" y="4372769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1112">
              <a:solidFill>
                <a:srgbClr val="FFFFF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104900" y="4229100"/>
              <a:ext cx="4762500" cy="342900"/>
            </a:xfrm>
            <a:prstGeom prst="roundRect">
              <a:avLst>
                <a:gd name="adj" fmla="val 2777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51204" y="4328160"/>
              <a:ext cx="296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与“域是整区、无零因子”矛盾 ⇒ p 是质数</a:t>
              </a:r>
            </a:p>
          </p:txBody>
        </p:sp>
      </p:grpSp>
      <p:grpSp>
        <p:nvGrpSpPr>
          <p:cNvPr id="63" name="sufficiency"/>
          <p:cNvGrpSpPr/>
          <p:nvPr/>
        </p:nvGrpSpPr>
        <p:grpSpPr>
          <a:xfrm>
            <a:off x="6172200" y="2362200"/>
            <a:ext cx="5486400" cy="2324100"/>
            <a:chOff x="6172200" y="2362200"/>
            <a:chExt cx="5486400" cy="2324100"/>
          </a:xfrm>
        </p:grpSpPr>
        <p:sp>
          <p:nvSpPr>
            <p:cNvPr id="38" name="Rectangle 38"/>
            <p:cNvSpPr/>
            <p:nvPr/>
          </p:nvSpPr>
          <p:spPr>
            <a:xfrm>
              <a:off x="6172200" y="2362200"/>
              <a:ext cx="5486400" cy="2324100"/>
            </a:xfrm>
            <a:prstGeom prst="roundRect">
              <a:avLst>
                <a:gd name="adj" fmla="val 65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62700" y="245745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63262" y="252507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充分性 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32904" y="2518410"/>
              <a:ext cx="28750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是质数 ⇒ Zₚ 是域（化归为有限整区）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15100" y="295275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00800" y="28384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68951" y="2887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43700" y="2800350"/>
              <a:ext cx="4762500" cy="304800"/>
            </a:xfrm>
            <a:prstGeom prst="roundRect">
              <a:avLst>
                <a:gd name="adj" fmla="val 31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0004" y="2880360"/>
              <a:ext cx="315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Zₚ 是交换环且有壹 [1]：只需证不含零因子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00800" y="32194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68951" y="3268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43700" y="3181350"/>
              <a:ext cx="4762500" cy="304800"/>
            </a:xfrm>
            <a:prstGeom prst="roundRect">
              <a:avLst>
                <a:gd name="adj" fmla="val 31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90004" y="3261360"/>
              <a:ext cx="3339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反设 [a] ≠ [0]，[b] ≠ [0]，但 [a][b] = [0]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00800" y="36004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68951" y="3649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43700" y="3562350"/>
              <a:ext cx="4762500" cy="304800"/>
            </a:xfrm>
            <a:prstGeom prst="roundRect">
              <a:avLst>
                <a:gd name="adj" fmla="val 31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90004" y="3642360"/>
              <a:ext cx="39700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[a] ≠ [0] ⇒ p ∤ a；[b] ≠ [0] ⇒ p ∤ b；p 质数 ⇒ p ∤ ab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00800" y="3981450"/>
              <a:ext cx="228600" cy="2286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68951" y="4030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43700" y="3943350"/>
              <a:ext cx="4762500" cy="304800"/>
            </a:xfrm>
            <a:prstGeom prst="roundRect">
              <a:avLst>
                <a:gd name="adj" fmla="val 3125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0004" y="4023360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而 [ab] = [a][b] = [0] ⇒ p | ab，矛盾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00800" y="4362450"/>
              <a:ext cx="228600" cy="228600"/>
            </a:xfrm>
            <a:prstGeom prst="ellipse">
              <a:avLst/>
            </a:prstGeom>
            <a:solidFill>
              <a:srgbClr val="0F7A68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476206" y="4448969"/>
              <a:ext cx="83344" cy="55562"/>
            </a:xfrm>
            <a:custGeom>
              <a:avLst/>
              <a:gdLst/>
              <a:ahLst/>
              <a:cxnLst/>
              <a:rect l="l" t="t" r="r" b="b"/>
              <a:pathLst>
                <a:path w="83344" h="55562">
                  <a:moveTo>
                    <a:pt x="0" y="27781"/>
                  </a:moveTo>
                  <a:lnTo>
                    <a:pt x="27781" y="55562"/>
                  </a:lnTo>
                  <a:lnTo>
                    <a:pt x="83344" y="0"/>
                  </a:lnTo>
                </a:path>
              </a:pathLst>
            </a:custGeom>
            <a:noFill/>
            <a:ln w="11112">
              <a:solidFill>
                <a:srgbClr val="FFFFFF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43700" y="4324350"/>
              <a:ext cx="4762500" cy="304800"/>
            </a:xfrm>
            <a:prstGeom prst="roundRect">
              <a:avLst>
                <a:gd name="adj" fmla="val 3125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90004" y="4404360"/>
              <a:ext cx="2107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Zₚ 无零因子 ⇒ 有限整区 ⇒ 域</a:t>
              </a:r>
            </a:p>
          </p:txBody>
        </p:sp>
      </p:grpSp>
      <p:grpSp>
        <p:nvGrpSpPr>
          <p:cNvPr id="69" name="example-z6"/>
          <p:cNvGrpSpPr/>
          <p:nvPr/>
        </p:nvGrpSpPr>
        <p:grpSpPr>
          <a:xfrm>
            <a:off x="533400" y="4800600"/>
            <a:ext cx="6134100" cy="914400"/>
            <a:chOff x="533400" y="4800600"/>
            <a:chExt cx="6134100" cy="914400"/>
          </a:xfrm>
        </p:grpSpPr>
        <p:sp>
          <p:nvSpPr>
            <p:cNvPr id="64" name="Rectangle 64"/>
            <p:cNvSpPr/>
            <p:nvPr/>
          </p:nvSpPr>
          <p:spPr>
            <a:xfrm>
              <a:off x="533400" y="4800600"/>
              <a:ext cx="6134100" cy="914400"/>
            </a:xfrm>
            <a:prstGeom prst="roundRect">
              <a:avLst>
                <a:gd name="adj" fmla="val 1666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5800" y="4914900"/>
              <a:ext cx="4572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390" y="49825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50442" y="4959668"/>
              <a:ext cx="3322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6 剩余类环是否为域？是否为消去环？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5904" y="5223510"/>
              <a:ext cx="5300091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不是域：6 不是质数（非零元在剩余类乘法下无法构成群）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不是消去环，所有零因子为 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[2]、[3]、[4]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（[2][3] = [0]，[3][4] = [0]）</a:t>
              </a:r>
            </a:p>
          </p:txBody>
        </p:sp>
      </p:grpSp>
      <p:grpSp>
        <p:nvGrpSpPr>
          <p:cNvPr id="72" name="facts"/>
          <p:cNvGrpSpPr/>
          <p:nvPr/>
        </p:nvGrpSpPr>
        <p:grpSpPr>
          <a:xfrm>
            <a:off x="6819900" y="4800600"/>
            <a:ext cx="4838700" cy="914400"/>
            <a:chOff x="6819900" y="4800600"/>
            <a:chExt cx="4838700" cy="914400"/>
          </a:xfrm>
        </p:grpSpPr>
        <p:sp>
          <p:nvSpPr>
            <p:cNvPr id="70" name="Rectangle 70"/>
            <p:cNvSpPr/>
            <p:nvPr/>
          </p:nvSpPr>
          <p:spPr>
            <a:xfrm>
              <a:off x="6819900" y="4800600"/>
              <a:ext cx="4838700" cy="914400"/>
            </a:xfrm>
            <a:prstGeom prst="roundRect">
              <a:avLst>
                <a:gd name="adj" fmla="val 1666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04304" y="4937760"/>
              <a:ext cx="3219069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n 剩余类环：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为质数时是消去环，并且是域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思考：Zₚ 中非零元的加法周期是？</a:t>
              </a:r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回顾：(Zₙ, +) 是循环群，共有 φ(n) 个生成元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49300" y="5991225"/>
              <a:ext cx="253999" cy="228600"/>
              <a:chOff x="749300" y="5991225"/>
              <a:chExt cx="253999" cy="2286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49300" y="6029325"/>
                <a:ext cx="253999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190500">
                    <a:moveTo>
                      <a:pt x="253999" y="0"/>
                    </a:moveTo>
                    <a:lnTo>
                      <a:pt x="190500" y="0"/>
                    </a:lnTo>
                    <a:lnTo>
                      <a:pt x="190500" y="63500"/>
                    </a:lnTo>
                    <a:lnTo>
                      <a:pt x="127000" y="63500"/>
                    </a:lnTo>
                    <a:lnTo>
                      <a:pt x="127000" y="127000"/>
                    </a:lnTo>
                    <a:lnTo>
                      <a:pt x="63500" y="127000"/>
                    </a:lnTo>
                    <a:lnTo>
                      <a:pt x="63500" y="190500"/>
                    </a:lnTo>
                    <a:lnTo>
                      <a:pt x="0" y="1905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0100" y="5991225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889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62000" y="5991225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134618" y="6003608"/>
              <a:ext cx="70580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延伸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（本套讲义之外）：6.6 域的特征·素域 → 6.7 多项式 → 6.8 有限域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571750" cy="960501"/>
            <a:chOff x="519684" y="361950"/>
            <a:chExt cx="257175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250" y="432435"/>
              <a:ext cx="102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易错点与思考题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pitfalls"/>
          <p:cNvGrpSpPr/>
          <p:nvPr/>
        </p:nvGrpSpPr>
        <p:grpSpPr>
          <a:xfrm>
            <a:off x="533400" y="1549411"/>
            <a:ext cx="5562600" cy="4127489"/>
            <a:chOff x="533400" y="1549411"/>
            <a:chExt cx="5562600" cy="4127489"/>
          </a:xfrm>
        </p:grpSpPr>
        <p:grpSp>
          <p:nvGrpSpPr>
            <p:cNvPr id="10" name="Group 10"/>
            <p:cNvGrpSpPr/>
            <p:nvPr/>
          </p:nvGrpSpPr>
          <p:grpSpPr>
            <a:xfrm>
              <a:off x="551639" y="1549411"/>
              <a:ext cx="192114" cy="165051"/>
              <a:chOff x="551639" y="1549411"/>
              <a:chExt cx="192114" cy="1650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7700" y="16097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51639" y="15494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47700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1342" y="1559242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 个易错点</a:t>
              </a:r>
            </a:p>
          </p:txBody>
        </p:sp>
        <p:grpSp>
          <p:nvGrpSpPr>
            <p:cNvPr id="17" name="pit-1"/>
            <p:cNvGrpSpPr/>
            <p:nvPr/>
          </p:nvGrpSpPr>
          <p:grpSpPr>
            <a:xfrm>
              <a:off x="533400" y="1866900"/>
              <a:ext cx="5562600" cy="571500"/>
              <a:chOff x="533400" y="1866900"/>
              <a:chExt cx="556260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8669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04850" y="20002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4508" y="2080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195929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环的乘法只要求结合律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7666" y="2220278"/>
                <a:ext cx="38059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不要求交换、单位元、逆元（偶数环没有 1，矩阵环不交换）</a:t>
                </a:r>
              </a:p>
            </p:txBody>
          </p:sp>
        </p:grpSp>
        <p:grpSp>
          <p:nvGrpSpPr>
            <p:cNvPr id="23" name="pit-2"/>
            <p:cNvGrpSpPr/>
            <p:nvPr/>
          </p:nvGrpSpPr>
          <p:grpSpPr>
            <a:xfrm>
              <a:off x="533400" y="2514600"/>
              <a:ext cx="5562600" cy="571500"/>
              <a:chOff x="533400" y="2514600"/>
              <a:chExt cx="5562600" cy="571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25146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04850" y="26479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4508" y="27279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6142" y="260699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非交换环里别套中学公式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37666" y="2867978"/>
                <a:ext cx="29224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一般 (a + b)² ≠ a² + 2ab + b²，(ab)ⁿ ≠ aⁿbⁿ</a:t>
                </a:r>
              </a:p>
            </p:txBody>
          </p:sp>
        </p:grpSp>
        <p:grpSp>
          <p:nvGrpSpPr>
            <p:cNvPr id="29" name="pit-3"/>
            <p:cNvGrpSpPr/>
            <p:nvPr/>
          </p:nvGrpSpPr>
          <p:grpSpPr>
            <a:xfrm>
              <a:off x="533400" y="3162300"/>
              <a:ext cx="5562600" cy="571500"/>
              <a:chOff x="533400" y="3162300"/>
              <a:chExt cx="5562600" cy="571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1623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704850" y="32956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4508" y="33756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36142" y="3254692"/>
                <a:ext cx="18592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子环的单位元不“遗传”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37666" y="3515678"/>
                <a:ext cx="43234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可能没有（2Z），也可能不同（{[0],[2],[4]} ⊂ Z₆ 以 [4] 为 1）</a:t>
                </a:r>
              </a:p>
            </p:txBody>
          </p:sp>
        </p:grpSp>
        <p:grpSp>
          <p:nvGrpSpPr>
            <p:cNvPr id="35" name="pit-4"/>
            <p:cNvGrpSpPr/>
            <p:nvPr/>
          </p:nvGrpSpPr>
          <p:grpSpPr>
            <a:xfrm>
              <a:off x="533400" y="3810000"/>
              <a:ext cx="5562600" cy="571500"/>
              <a:chOff x="533400" y="3810000"/>
              <a:chExt cx="55626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38100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704850" y="39433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04508" y="4023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36142" y="3902392"/>
                <a:ext cx="32227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“ab = 0 ⇒ a = 0 或 b = 0”要求无零因子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37666" y="4163378"/>
                <a:ext cx="27166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Z₁₂、矩阵环中都不成立：如 [3][4] = [0]</a:t>
                </a:r>
              </a:p>
            </p:txBody>
          </p:sp>
        </p:grpSp>
        <p:grpSp>
          <p:nvGrpSpPr>
            <p:cNvPr id="41" name="pit-5"/>
            <p:cNvGrpSpPr/>
            <p:nvPr/>
          </p:nvGrpSpPr>
          <p:grpSpPr>
            <a:xfrm>
              <a:off x="533400" y="4457700"/>
              <a:ext cx="5562600" cy="571500"/>
              <a:chOff x="533400" y="4457700"/>
              <a:chExt cx="5562600" cy="571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33400" y="44577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04850" y="45910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04508" y="4671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36142" y="4550092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整区未必是体，体未必是域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37666" y="4811078"/>
                <a:ext cx="26819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Z 是整区但不是体；四元数体是体但不是域</a:t>
                </a:r>
              </a:p>
            </p:txBody>
          </p:sp>
        </p:grpSp>
        <p:grpSp>
          <p:nvGrpSpPr>
            <p:cNvPr id="47" name="pit-6"/>
            <p:cNvGrpSpPr/>
            <p:nvPr/>
          </p:nvGrpSpPr>
          <p:grpSpPr>
            <a:xfrm>
              <a:off x="533400" y="5105400"/>
              <a:ext cx="5562600" cy="571500"/>
              <a:chOff x="533400" y="5105400"/>
              <a:chExt cx="5562600" cy="571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33400" y="5105400"/>
                <a:ext cx="55626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704850" y="5238750"/>
                <a:ext cx="304800" cy="3048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04508" y="5318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36142" y="5197792"/>
                <a:ext cx="1132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“有限”不能丢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137666" y="5458778"/>
                <a:ext cx="28910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有限整区是域，Z 却不是；Zₙ 是域 ⇔ n 是质数</a:t>
                </a:r>
              </a:p>
            </p:txBody>
          </p:sp>
        </p:grpSp>
      </p:grpSp>
      <p:grpSp>
        <p:nvGrpSpPr>
          <p:cNvPr id="82" name="quiz"/>
          <p:cNvGrpSpPr/>
          <p:nvPr/>
        </p:nvGrpSpPr>
        <p:grpSpPr>
          <a:xfrm>
            <a:off x="6324600" y="1552575"/>
            <a:ext cx="5339334" cy="4048125"/>
            <a:chOff x="6324600" y="1552575"/>
            <a:chExt cx="5339334" cy="4048125"/>
          </a:xfrm>
        </p:grpSpPr>
        <p:grpSp>
          <p:nvGrpSpPr>
            <p:cNvPr id="52" name="Group 52"/>
            <p:cNvGrpSpPr/>
            <p:nvPr/>
          </p:nvGrpSpPr>
          <p:grpSpPr>
            <a:xfrm>
              <a:off x="6353175" y="1552575"/>
              <a:ext cx="171450" cy="171450"/>
              <a:chOff x="6353175" y="1552575"/>
              <a:chExt cx="171450" cy="1714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353175" y="15525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38900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24612" y="1607805"/>
                <a:ext cx="34933" cy="40047"/>
              </a:xfrm>
              <a:custGeom>
                <a:avLst/>
                <a:gdLst/>
                <a:ahLst/>
                <a:cxnLst/>
                <a:rect l="l" t="t" r="r" b="b"/>
                <a:pathLst>
                  <a:path w="34933" h="40047">
                    <a:moveTo>
                      <a:pt x="14288" y="40020"/>
                    </a:moveTo>
                    <a:cubicBezTo>
                      <a:pt x="23106" y="40047"/>
                      <a:pt x="30790" y="34017"/>
                      <a:pt x="32862" y="25445"/>
                    </a:cubicBezTo>
                    <a:cubicBezTo>
                      <a:pt x="34933" y="16874"/>
                      <a:pt x="30851" y="8000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622542" y="15592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思考：判断对错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22458" y="15916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先遮住结论再作答</a:t>
              </a:r>
            </a:p>
          </p:txBody>
        </p:sp>
        <p:grpSp>
          <p:nvGrpSpPr>
            <p:cNvPr id="63" name="quiz-1"/>
            <p:cNvGrpSpPr/>
            <p:nvPr/>
          </p:nvGrpSpPr>
          <p:grpSpPr>
            <a:xfrm>
              <a:off x="6324600" y="1866900"/>
              <a:ext cx="5334000" cy="1181100"/>
              <a:chOff x="6324600" y="1866900"/>
              <a:chExt cx="5334000" cy="11811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324600" y="18669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6477000" y="20383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576658" y="2118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889242" y="2102168"/>
                <a:ext cx="3648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消去环中，任意非零元素都存在乘法逆元素。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6896100" y="2438400"/>
                <a:ext cx="6096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003778" y="2508885"/>
                <a:ext cx="3942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✗ 错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613904" y="2508885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整数环是消去环，但 2 没有乘法逆元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614666" y="2763202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（偶数环也是消去环，连单位元都没有）</a:t>
                </a:r>
              </a:p>
            </p:txBody>
          </p:sp>
        </p:grpSp>
        <p:grpSp>
          <p:nvGrpSpPr>
            <p:cNvPr id="72" name="quiz-2"/>
            <p:cNvGrpSpPr/>
            <p:nvPr/>
          </p:nvGrpSpPr>
          <p:grpSpPr>
            <a:xfrm>
              <a:off x="6324600" y="3143250"/>
              <a:ext cx="5334000" cy="1181100"/>
              <a:chOff x="6324600" y="3143250"/>
              <a:chExt cx="5334000" cy="11811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324600" y="314325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477000" y="33147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576658" y="3394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889242" y="3378518"/>
                <a:ext cx="445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若环 R 中非零元素都存在乘法逆元素，则 R 是消去环。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6896100" y="3714750"/>
                <a:ext cx="6096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003778" y="3785235"/>
                <a:ext cx="3942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✓ 对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13904" y="3785235"/>
                <a:ext cx="22576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ab = 0 且 a ≠ 0，左乘 a⁻¹：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613904" y="402336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 = (a⁻¹a)b = a⁻¹(ab) = a⁻¹0 = 0</a:t>
                </a:r>
              </a:p>
            </p:txBody>
          </p:sp>
        </p:grpSp>
        <p:grpSp>
          <p:nvGrpSpPr>
            <p:cNvPr id="81" name="quiz-3"/>
            <p:cNvGrpSpPr/>
            <p:nvPr/>
          </p:nvGrpSpPr>
          <p:grpSpPr>
            <a:xfrm>
              <a:off x="6324600" y="4419600"/>
              <a:ext cx="5334000" cy="1181100"/>
              <a:chOff x="6324600" y="4419600"/>
              <a:chExt cx="5334000" cy="11811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6324600" y="4419600"/>
                <a:ext cx="53340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6477000" y="45910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576658" y="4671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889242" y="46548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体恒无零因子。</a:t>
                </a: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6896100" y="4991100"/>
                <a:ext cx="6096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003778" y="5061585"/>
                <a:ext cx="3942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✓ 对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13904" y="5061585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体的非零元作成乘法群，对乘法封闭：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613904" y="529971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两个非零元之积仍非零</a:t>
                </a:r>
              </a:p>
            </p:txBody>
          </p:sp>
        </p:grpSp>
      </p:grpSp>
      <p:grpSp>
        <p:nvGrpSpPr>
          <p:cNvPr id="9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3" name="Rectangle 8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134618" y="6003608"/>
              <a:ext cx="7615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判断结构逐条问：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交换吗？有 1 吗？有零因子吗？非零元都可逆吗？有限吗？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3" name="TextBox 93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554963" cy="960501"/>
            <a:chOff x="519684" y="361950"/>
            <a:chExt cx="555496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60250" y="432435"/>
              <a:ext cx="102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6.5 环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554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本册小结：一张结构图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oncept-map"/>
          <p:cNvGrpSpPr/>
          <p:nvPr/>
        </p:nvGrpSpPr>
        <p:grpSpPr>
          <a:xfrm>
            <a:off x="533400" y="1485900"/>
            <a:ext cx="5562600" cy="4229100"/>
            <a:chOff x="533400" y="1485900"/>
            <a:chExt cx="5562600" cy="4229100"/>
          </a:xfrm>
        </p:grpSpPr>
        <p:sp>
          <p:nvSpPr>
            <p:cNvPr id="7" name="Line 7"/>
            <p:cNvSpPr/>
            <p:nvPr/>
          </p:nvSpPr>
          <p:spPr>
            <a:xfrm>
              <a:off x="3314700" y="21717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09700" y="2286000"/>
              <a:ext cx="3810000" cy="114300"/>
            </a:xfrm>
            <a:custGeom>
              <a:avLst/>
              <a:gdLst/>
              <a:ahLst/>
              <a:cxnLst/>
              <a:rect l="l" t="t" r="r" b="b"/>
              <a:pathLst>
                <a:path w="3810000" h="114300">
                  <a:moveTo>
                    <a:pt x="0" y="114300"/>
                  </a:moveTo>
                  <a:lnTo>
                    <a:pt x="0" y="0"/>
                  </a:lnTo>
                  <a:lnTo>
                    <a:pt x="3810000" y="0"/>
                  </a:lnTo>
                  <a:lnTo>
                    <a:pt x="3810000" y="114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14700" y="2286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8325" y="4076700"/>
              <a:ext cx="2952750" cy="114300"/>
            </a:xfrm>
            <a:custGeom>
              <a:avLst/>
              <a:gdLst/>
              <a:ahLst/>
              <a:cxnLst/>
              <a:rect l="l" t="t" r="r" b="b"/>
              <a:pathLst>
                <a:path w="2952750" h="114300">
                  <a:moveTo>
                    <a:pt x="0" y="0"/>
                  </a:moveTo>
                  <a:lnTo>
                    <a:pt x="0" y="114300"/>
                  </a:lnTo>
                  <a:lnTo>
                    <a:pt x="2952750" y="114300"/>
                  </a:lnTo>
                  <a:lnTo>
                    <a:pt x="29527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14700" y="41910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1485900"/>
              <a:ext cx="4800600" cy="685800"/>
            </a:xfrm>
            <a:prstGeom prst="roundRect">
              <a:avLst>
                <a:gd name="adj" fmla="val 22222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1609725"/>
              <a:ext cx="1281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 (R, +, ·)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1908810"/>
              <a:ext cx="3902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(R, +) 是交换群，(R, ·) 是半群，· 对 + 满足分配律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00300"/>
              <a:ext cx="17526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0236" y="24926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67603" y="274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ambria Math"/>
                  <a:ea typeface="Cambria Math"/>
                  <a:cs typeface="Cambria Math"/>
                </a:rPr>
                <a:t>ab = ba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38400" y="2400300"/>
              <a:ext cx="17526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53500" y="24926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含单位元环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25239" y="274415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有乘法单位元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343400" y="2400300"/>
              <a:ext cx="17526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40236" y="24926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消去环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8361" y="274415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无零因子 ⇔ 消去律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1787" y="306800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↓ 按条件组合（逐条加强） 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76600"/>
              <a:ext cx="2609850" cy="800100"/>
            </a:xfrm>
            <a:prstGeom prst="roundRect">
              <a:avLst>
                <a:gd name="adj" fmla="val 19048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6280" y="3381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804" y="3661410"/>
              <a:ext cx="16962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 ＋ 有 1 ＋ 无零因子</a:t>
              </a:r>
            </a:p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例：Z、Q、R、C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86150" y="3276600"/>
              <a:ext cx="2609850" cy="800100"/>
            </a:xfrm>
            <a:prstGeom prst="roundRect">
              <a:avLst>
                <a:gd name="adj" fmla="val 19048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69030" y="3381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70554" y="3661410"/>
              <a:ext cx="174574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非零元作成乘法群</a:t>
              </a:r>
            </a:p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例：四元数体（乘法不交换）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409700" y="4305300"/>
              <a:ext cx="381000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34579" y="4410075"/>
              <a:ext cx="2160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域 = 交换体 = 整区 ∩ 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22243" y="4687252"/>
              <a:ext cx="1984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例：Q、R、C、Zₚ（p 为质数）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029200"/>
              <a:ext cx="5562600" cy="685800"/>
            </a:xfrm>
            <a:prstGeom prst="roundRect">
              <a:avLst>
                <a:gd name="adj" fmla="val 2222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2467" y="5216703"/>
              <a:ext cx="171466" cy="82195"/>
            </a:xfrm>
            <a:custGeom>
              <a:avLst/>
              <a:gdLst/>
              <a:ahLst/>
              <a:cxnLst/>
              <a:rect l="l" t="t" r="r" b="b"/>
              <a:pathLst>
                <a:path w="171466" h="82195">
                  <a:moveTo>
                    <a:pt x="65045" y="14161"/>
                  </a:moveTo>
                  <a:cubicBezTo>
                    <a:pt x="54149" y="3262"/>
                    <a:pt x="37761" y="0"/>
                    <a:pt x="23522" y="5896"/>
                  </a:cubicBezTo>
                  <a:cubicBezTo>
                    <a:pt x="9284" y="11793"/>
                    <a:pt x="0" y="25686"/>
                    <a:pt x="0" y="41097"/>
                  </a:cubicBezTo>
                  <a:cubicBezTo>
                    <a:pt x="0" y="56508"/>
                    <a:pt x="9284" y="70402"/>
                    <a:pt x="23522" y="76298"/>
                  </a:cubicBezTo>
                  <a:cubicBezTo>
                    <a:pt x="37761" y="82195"/>
                    <a:pt x="54149" y="78933"/>
                    <a:pt x="65045" y="68034"/>
                  </a:cubicBezTo>
                  <a:cubicBezTo>
                    <a:pt x="73499" y="60367"/>
                    <a:pt x="80507" y="51243"/>
                    <a:pt x="85733" y="41097"/>
                  </a:cubicBezTo>
                  <a:cubicBezTo>
                    <a:pt x="90960" y="30952"/>
                    <a:pt x="97967" y="21828"/>
                    <a:pt x="106421" y="14161"/>
                  </a:cubicBezTo>
                  <a:cubicBezTo>
                    <a:pt x="117317" y="3262"/>
                    <a:pt x="133705" y="0"/>
                    <a:pt x="147944" y="5896"/>
                  </a:cubicBezTo>
                  <a:cubicBezTo>
                    <a:pt x="162182" y="11793"/>
                    <a:pt x="171466" y="25686"/>
                    <a:pt x="171466" y="41097"/>
                  </a:cubicBezTo>
                  <a:cubicBezTo>
                    <a:pt x="171466" y="56508"/>
                    <a:pt x="162182" y="70402"/>
                    <a:pt x="147944" y="76298"/>
                  </a:cubicBezTo>
                  <a:cubicBezTo>
                    <a:pt x="133705" y="82195"/>
                    <a:pt x="117317" y="78933"/>
                    <a:pt x="106421" y="68034"/>
                  </a:cubicBezTo>
                  <a:cubicBezTo>
                    <a:pt x="97967" y="60367"/>
                    <a:pt x="90960" y="51243"/>
                    <a:pt x="85733" y="41097"/>
                  </a:cubicBezTo>
                  <a:cubicBezTo>
                    <a:pt x="80507" y="30952"/>
                    <a:pt x="73499" y="21828"/>
                    <a:pt x="65045" y="14161"/>
                  </a:cubicBez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2604" y="5185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有限的力量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89404" y="5185410"/>
              <a:ext cx="27325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无零因子的有限环（元素多于一个）⇒ 体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有限整区 ⇒ 域；Zₙ 是域 ⇔ n 是质数</a:t>
              </a:r>
            </a:p>
          </p:txBody>
        </p:sp>
      </p:grpSp>
      <p:grpSp>
        <p:nvGrpSpPr>
          <p:cNvPr id="71" name="self-test"/>
          <p:cNvGrpSpPr/>
          <p:nvPr/>
        </p:nvGrpSpPr>
        <p:grpSpPr>
          <a:xfrm>
            <a:off x="6324600" y="1485900"/>
            <a:ext cx="5334000" cy="4229100"/>
            <a:chOff x="6324600" y="1485900"/>
            <a:chExt cx="5334000" cy="4229100"/>
          </a:xfrm>
        </p:grpSpPr>
        <p:sp>
          <p:nvSpPr>
            <p:cNvPr id="39" name="Rectangle 39"/>
            <p:cNvSpPr/>
            <p:nvPr/>
          </p:nvSpPr>
          <p:spPr>
            <a:xfrm>
              <a:off x="63246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93858" y="1744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</a:t>
              </a:r>
            </a:p>
          </p:txBody>
        </p:sp>
        <p:grpSp>
          <p:nvGrpSpPr>
            <p:cNvPr id="50" name="q-1"/>
            <p:cNvGrpSpPr/>
            <p:nvPr/>
          </p:nvGrpSpPr>
          <p:grpSpPr>
            <a:xfrm>
              <a:off x="6534150" y="2133600"/>
              <a:ext cx="3332378" cy="562356"/>
              <a:chOff x="6534150" y="2133600"/>
              <a:chExt cx="3332378" cy="562356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6534150" y="2133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14758" y="2194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89242" y="2178368"/>
                <a:ext cx="19181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Z₆ 中的零因子有哪些？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90004" y="2461260"/>
                <a:ext cx="29765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答：[2]、[3]、[4]（如 [2][3] = [0]）</a:t>
                </a:r>
              </a:p>
            </p:txBody>
          </p:sp>
        </p:grpSp>
        <p:grpSp>
          <p:nvGrpSpPr>
            <p:cNvPr id="55" name="q-2"/>
            <p:cNvGrpSpPr/>
            <p:nvPr/>
          </p:nvGrpSpPr>
          <p:grpSpPr>
            <a:xfrm>
              <a:off x="6534150" y="2857500"/>
              <a:ext cx="3090062" cy="562356"/>
              <a:chOff x="6534150" y="2857500"/>
              <a:chExt cx="3090062" cy="562356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89242" y="29022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整数环是整区吗？是体吗？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90004" y="3185160"/>
                <a:ext cx="27342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答：是整区；不是体，2 没有乘法逆元</a:t>
                </a:r>
              </a:p>
            </p:txBody>
          </p:sp>
        </p:grpSp>
        <p:grpSp>
          <p:nvGrpSpPr>
            <p:cNvPr id="60" name="q-3"/>
            <p:cNvGrpSpPr/>
            <p:nvPr/>
          </p:nvGrpSpPr>
          <p:grpSpPr>
            <a:xfrm>
              <a:off x="6534150" y="3581400"/>
              <a:ext cx="3073908" cy="562356"/>
              <a:chOff x="6534150" y="3581400"/>
              <a:chExt cx="3073908" cy="562356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6534150" y="3581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14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889242" y="36261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四元数体为什么不是域？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890004" y="3909060"/>
                <a:ext cx="27180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答：乘法不交换，如 ij = k，而 ji = −k</a:t>
                </a:r>
              </a:p>
            </p:txBody>
          </p:sp>
        </p:grpSp>
        <p:grpSp>
          <p:nvGrpSpPr>
            <p:cNvPr id="65" name="q-4"/>
            <p:cNvGrpSpPr/>
            <p:nvPr/>
          </p:nvGrpSpPr>
          <p:grpSpPr>
            <a:xfrm>
              <a:off x="6534150" y="4305300"/>
              <a:ext cx="3667335" cy="562356"/>
              <a:chOff x="6534150" y="4305300"/>
              <a:chExt cx="3667335" cy="562356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6534150" y="4305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614758" y="4366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889242" y="435006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消去环中非零元的加法周期可能是 6 吗？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890004" y="4632960"/>
                <a:ext cx="3283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答：不可能，只能是 0 或某个质数（性质14）</a:t>
                </a:r>
              </a:p>
            </p:txBody>
          </p:sp>
        </p:grpSp>
        <p:grpSp>
          <p:nvGrpSpPr>
            <p:cNvPr id="70" name="q-5"/>
            <p:cNvGrpSpPr/>
            <p:nvPr/>
          </p:nvGrpSpPr>
          <p:grpSpPr>
            <a:xfrm>
              <a:off x="6534150" y="5029200"/>
              <a:ext cx="3907231" cy="562356"/>
              <a:chOff x="6534150" y="5029200"/>
              <a:chExt cx="3907231" cy="562356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534150" y="5029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614758" y="5090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889242" y="5073968"/>
                <a:ext cx="16418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Z₇ 是域吗？Z₈ 呢？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890004" y="5356860"/>
                <a:ext cx="35513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答：Z₇ 是（7 为质数）；Z₈ 不是，[2][4] = [0]</a:t>
                </a:r>
              </a:p>
            </p:txBody>
          </p:sp>
        </p:grpSp>
      </p:grpSp>
      <p:grpSp>
        <p:nvGrpSpPr>
          <p:cNvPr id="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34618" y="6003608"/>
              <a:ext cx="71008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从环出发，逐步加上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交换、有 1、无零因子、非零元可逆</a:t>
              </a:r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，就走到了域。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528066" y="6573202"/>
              <a:ext cx="1270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6.5 环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6-5_ring_field">
  <a:themeElements>
    <a:clrScheme name="dm2_6-5_ring_field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6-5_ring_field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6-5_ring_fie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2026-09-16T11:34:46Z</dcterms:created>
  <dcterms:modified xsi:type="dcterms:W3CDTF">2026-09-16T11:34:46Z</dcterms:modified>
  <cp:category/>
  <cp:contentStatus/>
</cp:coreProperties>
</file>