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coa_arch3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coa_arch3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849e648f7aa0d21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387d112a4777033.png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6e58e500a9c0eff.png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827133" cy="3437763"/>
            <a:chOff x="666750" y="1619250"/>
            <a:chExt cx="5827133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884170" cy="3429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74714" y="1718310"/>
              <a:ext cx="27063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计算机原理与体系结构 · 体系结构 03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5827133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 性能分析与优化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50342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从平均访存时间出发，逐个学习 17 种优化技术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2081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平均访存时间与 CPU 时间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2040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降低不命中率的 8 种方法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2221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减少不命中开销的 5 种方法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2040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减少命中时间的 4 种方法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6124099" cy="205359"/>
            <a:chOff x="680466" y="6192202"/>
            <a:chExt cx="6124099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6124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自学复习版｜据吉林大学《计算机原理与体系结构》体系结构部分“缓存优化”课件整理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65830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9649" y="407194"/>
              <a:ext cx="14867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03 缓存优化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存储体系回顾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1291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存储层次、局部性、Cache 映射与写策略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6246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 性能分析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1250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平均访存时间、CPU 时间，两道性能例题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降低不命中率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5676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3C 模型与 8 种方法，伪相联和编译器预取例题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减少不命中开销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45222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两级 Cache、读优先、写缓冲合并、请求字、非阻塞 Cache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减少命中时间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8329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小而简单、虚拟 Cache、流水化访问、踪迹 Cache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总结与自测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22961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 种技术对照表，8 道自测题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82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用平均访存时间和 CPU 时间两个公式比较不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同的 Cache 设计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768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 3C 不命中的含义，以及块大小、容量、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相联度各影响哪一类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710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计算伪相联 Cache、两级 Cache 的平均访存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时间，区分局部与全局不命中率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701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统计循环程序的 Cache 失效次数，说明预取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和编译优化怎样减少失效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768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 17 种优化技术各自改进的指标和付出的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221666" cy="2997517"/>
            <a:chOff x="667512" y="1835468"/>
            <a:chExt cx="5221666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存储体系回顾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2117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本讲的公式都建立在存储层次和 Cache 基本概念之上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存储层次与局部性原理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存储器技术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455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 映射、替换与写策略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841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741" y="407194"/>
              <a:ext cx="2573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03 缓存优化 · 存储体系回顾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存储层次：缓存弥补速度，辅存弥补容量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graph-1"/>
          <p:cNvGrpSpPr/>
          <p:nvPr/>
        </p:nvGrpSpPr>
        <p:grpSpPr>
          <a:xfrm>
            <a:off x="756285" y="1724025"/>
            <a:ext cx="5613083" cy="2193132"/>
            <a:chOff x="756285" y="1724025"/>
            <a:chExt cx="5613083" cy="2193132"/>
          </a:xfrm>
        </p:grpSpPr>
        <p:sp>
          <p:nvSpPr>
            <p:cNvPr id="7" name="Freeform 7"/>
            <p:cNvSpPr/>
            <p:nvPr/>
          </p:nvSpPr>
          <p:spPr>
            <a:xfrm>
              <a:off x="1738312" y="2471738"/>
              <a:ext cx="498158" cy="9525"/>
            </a:xfrm>
            <a:custGeom>
              <a:avLst/>
              <a:gdLst/>
              <a:ahLst/>
              <a:cxnLst/>
              <a:rect l="l" t="t" r="r" b="b"/>
              <a:pathLst>
                <a:path w="498158" h="9525">
                  <a:moveTo>
                    <a:pt x="0" y="0"/>
                  </a:moveTo>
                  <a:lnTo>
                    <a:pt x="49815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236470" y="24241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643062" y="24241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3313748" y="2471738"/>
              <a:ext cx="498158" cy="9525"/>
            </a:xfrm>
            <a:custGeom>
              <a:avLst/>
              <a:gdLst/>
              <a:ahLst/>
              <a:cxnLst/>
              <a:rect l="l" t="t" r="r" b="b"/>
              <a:pathLst>
                <a:path w="498158" h="9525">
                  <a:moveTo>
                    <a:pt x="0" y="0"/>
                  </a:moveTo>
                  <a:lnTo>
                    <a:pt x="49815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811905" y="24241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3218498" y="24241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889182" y="2471738"/>
              <a:ext cx="498158" cy="9525"/>
            </a:xfrm>
            <a:custGeom>
              <a:avLst/>
              <a:gdLst/>
              <a:ahLst/>
              <a:cxnLst/>
              <a:rect l="l" t="t" r="r" b="b"/>
              <a:pathLst>
                <a:path w="498158" h="9525">
                  <a:moveTo>
                    <a:pt x="0" y="0"/>
                  </a:moveTo>
                  <a:lnTo>
                    <a:pt x="49815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387340" y="24241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793932" y="24241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1200150" y="1724025"/>
              <a:ext cx="3150870" cy="412433"/>
            </a:xfrm>
            <a:custGeom>
              <a:avLst/>
              <a:gdLst/>
              <a:ahLst/>
              <a:cxnLst/>
              <a:rect l="l" t="t" r="r" b="b"/>
              <a:pathLst>
                <a:path w="3150870" h="412433">
                  <a:moveTo>
                    <a:pt x="0" y="412433"/>
                  </a:moveTo>
                  <a:lnTo>
                    <a:pt x="0" y="0"/>
                  </a:lnTo>
                  <a:lnTo>
                    <a:pt x="3150870" y="0"/>
                  </a:lnTo>
                  <a:lnTo>
                    <a:pt x="3150870" y="412433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7" name="Freeform 17"/>
            <p:cNvSpPr/>
            <p:nvPr/>
          </p:nvSpPr>
          <p:spPr>
            <a:xfrm>
              <a:off x="4303395" y="213645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1152525" y="213645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56285" y="2241232"/>
              <a:ext cx="886778" cy="461962"/>
            </a:xfrm>
            <a:prstGeom prst="roundRect">
              <a:avLst>
                <a:gd name="adj" fmla="val 20619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331720" y="2241232"/>
              <a:ext cx="886778" cy="461962"/>
            </a:xfrm>
            <a:prstGeom prst="roundRect">
              <a:avLst>
                <a:gd name="adj" fmla="val 20619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907155" y="2241232"/>
              <a:ext cx="886778" cy="461962"/>
            </a:xfrm>
            <a:prstGeom prst="roundRect">
              <a:avLst>
                <a:gd name="adj" fmla="val 20619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82590" y="2241232"/>
              <a:ext cx="886778" cy="461962"/>
            </a:xfrm>
            <a:prstGeom prst="roundRect">
              <a:avLst>
                <a:gd name="adj" fmla="val 20619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46196" y="2397442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CPU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535" y="2740819"/>
              <a:ext cx="5112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约 10 ns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607945" y="239744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缓存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19970" y="2740819"/>
              <a:ext cx="5112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约 20 ns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183380" y="239744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主存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059124" y="2740819"/>
              <a:ext cx="5837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约 200 ns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758815" y="239744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辅存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749996" y="2740819"/>
              <a:ext cx="3529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ms 级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684792" y="3248501"/>
              <a:ext cx="17570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缓存—主存：解决速度问题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260227" y="3697129"/>
              <a:ext cx="17570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主存—辅存：解决容量问题</a:t>
              </a:r>
            </a:p>
          </p:txBody>
        </p:sp>
      </p:grpSp>
      <p:grpSp>
        <p:nvGrpSpPr>
          <p:cNvPr id="49" name="c1-table-2"/>
          <p:cNvGrpSpPr/>
          <p:nvPr/>
        </p:nvGrpSpPr>
        <p:grpSpPr>
          <a:xfrm>
            <a:off x="533400" y="4204335"/>
            <a:ext cx="6059805" cy="1503998"/>
            <a:chOff x="533400" y="4204335"/>
            <a:chExt cx="6059805" cy="1503998"/>
          </a:xfrm>
        </p:grpSpPr>
        <p:sp>
          <p:nvSpPr>
            <p:cNvPr id="34" name="Rectangle 34"/>
            <p:cNvSpPr/>
            <p:nvPr/>
          </p:nvSpPr>
          <p:spPr>
            <a:xfrm>
              <a:off x="533400" y="4204335"/>
              <a:ext cx="6059805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112901" y="433482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存储系统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850452" y="433482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解决的问题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13032" y="433482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地址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8746" y="4765358"/>
              <a:ext cx="11815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 存储系统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456116" y="4765358"/>
              <a:ext cx="11527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快、主存慢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274439" y="4765358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按主存地址访问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505968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5064442"/>
              <a:ext cx="6059805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8746" y="5302567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虚拟存储系统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456116" y="5302567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程序大、主存小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274439" y="5195888"/>
              <a:ext cx="1993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虚地址（逻辑地址）变换为实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地址（物理地址）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4204335"/>
              <a:ext cx="6059805" cy="150399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2346008" y="4204335"/>
              <a:ext cx="9525" cy="15039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4164330" y="4204335"/>
              <a:ext cx="9525" cy="15039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9" name="c2-card-1"/>
          <p:cNvGrpSpPr/>
          <p:nvPr/>
        </p:nvGrpSpPr>
        <p:grpSpPr>
          <a:xfrm>
            <a:off x="6898005" y="1524000"/>
            <a:ext cx="4760595" cy="2147888"/>
            <a:chOff x="6898005" y="1524000"/>
            <a:chExt cx="4760595" cy="2147888"/>
          </a:xfrm>
        </p:grpSpPr>
        <p:sp>
          <p:nvSpPr>
            <p:cNvPr id="50" name="Rectangle 50"/>
            <p:cNvSpPr/>
            <p:nvPr/>
          </p:nvSpPr>
          <p:spPr>
            <a:xfrm>
              <a:off x="6898005" y="1524000"/>
              <a:ext cx="4760595" cy="2147888"/>
            </a:xfrm>
            <a:prstGeom prst="roundRect">
              <a:avLst>
                <a:gd name="adj" fmla="val 62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907530" y="1657350"/>
              <a:ext cx="47625" cy="188118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7139940" y="172783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217346" y="176355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局部性原理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7147560" y="216122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304151" y="2100739"/>
              <a:ext cx="39819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时间局部性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：刚被访问过的数据，很快可能再次被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7147560" y="275272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304151" y="2692241"/>
              <a:ext cx="39819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空间局部性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：被访问地址附近的数据，很快可能被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133844" y="3280410"/>
              <a:ext cx="4050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存储层次有效的前提：绝大部分访问落在最快的那一层。</a:t>
              </a:r>
            </a:p>
          </p:txBody>
        </p:sp>
      </p:grpSp>
      <p:grpSp>
        <p:nvGrpSpPr>
          <p:cNvPr id="84" name="c2-table-2"/>
          <p:cNvGrpSpPr/>
          <p:nvPr/>
        </p:nvGrpSpPr>
        <p:grpSpPr>
          <a:xfrm>
            <a:off x="6898005" y="3856672"/>
            <a:ext cx="4760595" cy="2365058"/>
            <a:chOff x="6898005" y="3856672"/>
            <a:chExt cx="4760595" cy="2365058"/>
          </a:xfrm>
        </p:grpSpPr>
        <p:sp>
          <p:nvSpPr>
            <p:cNvPr id="60" name="Rectangle 60"/>
            <p:cNvSpPr/>
            <p:nvPr/>
          </p:nvSpPr>
          <p:spPr>
            <a:xfrm>
              <a:off x="6898005" y="3856672"/>
              <a:ext cx="4760595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348538" y="398811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器件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820722" y="398811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原理与特点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824210" y="398811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用途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003352" y="4418648"/>
              <a:ext cx="4423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SRAM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240649" y="4418648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触发器存储；快、贵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430446" y="4418648"/>
              <a:ext cx="4614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898005" y="471201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6898005" y="4716780"/>
              <a:ext cx="476059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003352" y="4848225"/>
              <a:ext cx="4423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DRAM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240649" y="4848225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电容存储；较慢、集成度高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430446" y="484822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主存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6898005" y="514254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003352" y="5278755"/>
              <a:ext cx="604266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闪存、</a:t>
              </a:r>
              <a:br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EEPROM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240649" y="5385435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可电擦写，断电不丢失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430446" y="538543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固件、固态盘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6898005" y="578643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6898005" y="5791200"/>
              <a:ext cx="476059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003352" y="592169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磁盘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240649" y="592169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容量大、慢、便宜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430446" y="592169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辅存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6898005" y="3856672"/>
              <a:ext cx="4760595" cy="23641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8130540" y="3856672"/>
              <a:ext cx="9525" cy="23641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10320338" y="3856672"/>
              <a:ext cx="9525" cy="23641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5" name="TextBox 85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86926" cy="909257"/>
            <a:chOff x="520446" y="342900"/>
            <a:chExt cx="628692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841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741" y="407194"/>
              <a:ext cx="2573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03 缓存优化 · 存储体系回顾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8692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 回顾：映射方式决定地址怎样切分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6923" y="1545431"/>
            <a:ext cx="5115503" cy="249364"/>
            <a:chOff x="526923" y="1545431"/>
            <a:chExt cx="5115503" cy="249364"/>
          </a:xfrm>
        </p:grpSpPr>
        <p:sp>
          <p:nvSpPr>
            <p:cNvPr id="7" name="TextBox 7"/>
            <p:cNvSpPr txBox="1"/>
            <p:nvPr/>
          </p:nvSpPr>
          <p:spPr>
            <a:xfrm>
              <a:off x="526923" y="1545431"/>
              <a:ext cx="51155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例：主存地址 32 位，Cache 64 KB，块大小 32 B（同后面的例 2）</a:t>
              </a:r>
            </a:p>
          </p:txBody>
        </p:sp>
      </p:grpSp>
      <p:grpSp>
        <p:nvGrpSpPr>
          <p:cNvPr id="28" name="c1-cells-2"/>
          <p:cNvGrpSpPr/>
          <p:nvPr/>
        </p:nvGrpSpPr>
        <p:grpSpPr>
          <a:xfrm>
            <a:off x="527304" y="1934528"/>
            <a:ext cx="5632513" cy="1600200"/>
            <a:chOff x="527304" y="1934528"/>
            <a:chExt cx="5632513" cy="1600200"/>
          </a:xfrm>
        </p:grpSpPr>
        <p:sp>
          <p:nvSpPr>
            <p:cNvPr id="9" name="TextBox 9"/>
            <p:cNvSpPr txBox="1"/>
            <p:nvPr/>
          </p:nvSpPr>
          <p:spPr>
            <a:xfrm>
              <a:off x="527304" y="206978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直接映射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412558" y="1934528"/>
              <a:ext cx="158210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811495" y="2069782"/>
              <a:ext cx="7851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标记 16 位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994660" y="1934528"/>
              <a:ext cx="158210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393597" y="2069782"/>
              <a:ext cx="7851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块号 11 位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577715" y="1934528"/>
              <a:ext cx="158210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860802" y="2069782"/>
              <a:ext cx="10149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块内偏移 5 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27304" y="2660332"/>
              <a:ext cx="8025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2 路组相联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412558" y="2525078"/>
              <a:ext cx="158210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811495" y="2660332"/>
              <a:ext cx="7851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标记 17 位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994660" y="2525078"/>
              <a:ext cx="158210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393597" y="2660332"/>
              <a:ext cx="7851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组号 10 位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577715" y="2525078"/>
              <a:ext cx="158210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860802" y="2660332"/>
              <a:ext cx="10149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块内偏移 5 位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7304" y="325088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全相联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412558" y="3115628"/>
              <a:ext cx="158210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811495" y="3250882"/>
              <a:ext cx="7851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标记 27 位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994660" y="3115628"/>
              <a:ext cx="158210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278699" y="3250882"/>
              <a:ext cx="10149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块内偏移 5 位</a:t>
              </a:r>
            </a:p>
          </p:txBody>
        </p:sp>
      </p:grpSp>
      <p:grpSp>
        <p:nvGrpSpPr>
          <p:cNvPr id="40" name="c1-kv-3"/>
          <p:cNvGrpSpPr/>
          <p:nvPr/>
        </p:nvGrpSpPr>
        <p:grpSpPr>
          <a:xfrm>
            <a:off x="525780" y="3749992"/>
            <a:ext cx="5634038" cy="1613536"/>
            <a:chOff x="525780" y="3749992"/>
            <a:chExt cx="5634038" cy="1613536"/>
          </a:xfrm>
        </p:grpSpPr>
        <p:sp>
          <p:nvSpPr>
            <p:cNvPr id="29" name="TextBox 29"/>
            <p:cNvSpPr txBox="1"/>
            <p:nvPr/>
          </p:nvSpPr>
          <p:spPr>
            <a:xfrm>
              <a:off x="525780" y="374999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块内偏移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66862" y="3749992"/>
              <a:ext cx="24191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块大小 32 B = 2⁵，占 5 位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407003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5780" y="419004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块数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566862" y="4190048"/>
              <a:ext cx="43018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 KB ÷ 32 B = 2¹⁶ ÷ 2⁵ = 2¹¹ 块，块号 11 位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51008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5780" y="4630102"/>
              <a:ext cx="8012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2 路组数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566862" y="4630102"/>
              <a:ext cx="26706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2¹¹ ÷ 2 = 2¹⁰ 组，组号 10 位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95014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25780" y="507015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标记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566862" y="5070158"/>
              <a:ext cx="2115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 减去其余字段的位数</a:t>
              </a:r>
            </a:p>
          </p:txBody>
        </p:sp>
      </p:grpSp>
      <p:grpSp>
        <p:nvGrpSpPr>
          <p:cNvPr id="59" name="c2-table-1"/>
          <p:cNvGrpSpPr/>
          <p:nvPr/>
        </p:nvGrpSpPr>
        <p:grpSpPr>
          <a:xfrm>
            <a:off x="6464618" y="1524000"/>
            <a:ext cx="5193982" cy="3150870"/>
            <a:chOff x="6464618" y="1524000"/>
            <a:chExt cx="5193982" cy="3150870"/>
          </a:xfrm>
        </p:grpSpPr>
        <p:sp>
          <p:nvSpPr>
            <p:cNvPr id="41" name="Rectangle 41"/>
            <p:cNvSpPr/>
            <p:nvPr/>
          </p:nvSpPr>
          <p:spPr>
            <a:xfrm>
              <a:off x="6464618" y="1524000"/>
              <a:ext cx="5193982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85732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45384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72441" y="222170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715441" y="2108359"/>
              <a:ext cx="35892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按块号或组号定位，再比较标记；组内各块并行比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较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64618" y="26431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64618" y="2647950"/>
              <a:ext cx="519398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72441" y="289702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替换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715441" y="2783681"/>
              <a:ext cx="34267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直接映射不用选择；组相联、全相联用随机法或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LRU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464618" y="331946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72441" y="357235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写命中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715441" y="3459004"/>
              <a:ext cx="315849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写直达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：同时写 Cache 和主存；</a:t>
              </a: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写回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：只写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Cache，块被替换时再写回主存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464618" y="399478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464618" y="3999548"/>
              <a:ext cx="519398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72441" y="424767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写不命中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715441" y="4134326"/>
              <a:ext cx="364617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写分配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：先把块调入 Cache 再写；</a:t>
              </a: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写不分配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：直接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写主存，不调块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464618" y="1524000"/>
              <a:ext cx="5193982" cy="31508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7602855" y="1524000"/>
              <a:ext cx="9525" cy="31508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6" name="c2-callout-2"/>
          <p:cNvGrpSpPr/>
          <p:nvPr/>
        </p:nvGrpSpPr>
        <p:grpSpPr>
          <a:xfrm>
            <a:off x="6464618" y="4865370"/>
            <a:ext cx="5193982" cy="1059180"/>
            <a:chOff x="6464618" y="4865370"/>
            <a:chExt cx="5193982" cy="1059180"/>
          </a:xfrm>
        </p:grpSpPr>
        <p:sp>
          <p:nvSpPr>
            <p:cNvPr id="60" name="Rectangle 60"/>
            <p:cNvSpPr/>
            <p:nvPr/>
          </p:nvSpPr>
          <p:spPr>
            <a:xfrm>
              <a:off x="6464618" y="4865370"/>
              <a:ext cx="5193982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6669405" y="5294948"/>
              <a:ext cx="200026" cy="200025"/>
              <a:chOff x="6669405" y="5294948"/>
              <a:chExt cx="200026" cy="200025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6669405" y="529494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709144" y="533939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743859" y="545052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6971348" y="5013960"/>
              <a:ext cx="4206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性能由命中时间、不命中率、不命中开销三项决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定。第二部分先把这三项写进公式，后面每种优化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技术都对应其中一项。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704664" cy="3351847"/>
            <a:chOff x="667512" y="1835468"/>
            <a:chExt cx="470466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54470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 性能分析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6947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平均访存时间只看存储器，CPU 时间才反映整机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3126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平均访存时间与 CPU 时间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0165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1：不命中率 2% 对 CPI 的影响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6100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2：直接映像与两路组相联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3778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三条改进路线与 17 种技术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336598" cy="909257"/>
            <a:chOff x="520446" y="342900"/>
            <a:chExt cx="433659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5464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0049" y="407194"/>
              <a:ext cx="27622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03 缓存优化 · Cache 性能分析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3365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衡量 Cache 性能的两个公式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085398" cy="2444115"/>
            <a:chOff x="533400" y="1524000"/>
            <a:chExt cx="5085398" cy="24441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085398" cy="2444115"/>
            </a:xfrm>
            <a:prstGeom prst="roundRect">
              <a:avLst>
                <a:gd name="adj" fmla="val 545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17741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4507" y="176926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平均访存时间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不命中率（失效率）= 不命中次数 ÷ 访存总次数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5"/>
                <p:cNvSpPr txBox="1">
                  <a:spLocks noGrp="1"/>
                </p:cNvSpPr>
                <p:nvPr/>
              </p:nvSpPr>
              <p:spPr>
                <a:xfrm>
                  <a:off x="781050" y="2421255"/>
                  <a:ext cx="4628198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nor m:val="on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平均访存时间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m:rPr>
                            <m:nor m:val="on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命中时间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m:rPr>
                            <m:nor m:val="on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不命中率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m:rPr>
                            <m:nor m:val="on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不命中开销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Ellipse 13"/>
            <p:cNvSpPr/>
            <p:nvPr/>
          </p:nvSpPr>
          <p:spPr>
            <a:xfrm>
              <a:off x="786765" y="29660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903220"/>
              <a:ext cx="35263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命中时间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：访问 Cache 本身所需的时间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3013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238500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不命中开销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：不命中时额外花的时间（到下一级存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储器取块、替换）</a:t>
              </a:r>
            </a:p>
          </p:txBody>
        </p:sp>
      </p:grpSp>
      <p:grpSp>
        <p:nvGrpSpPr>
          <p:cNvPr id="24" name="c1-callout-2"/>
          <p:cNvGrpSpPr/>
          <p:nvPr/>
        </p:nvGrpSpPr>
        <p:grpSpPr>
          <a:xfrm>
            <a:off x="533400" y="4158615"/>
            <a:ext cx="5085398" cy="2026920"/>
            <a:chOff x="533400" y="4158615"/>
            <a:chExt cx="5085398" cy="2026920"/>
          </a:xfrm>
        </p:grpSpPr>
        <p:sp>
          <p:nvSpPr>
            <p:cNvPr id="18" name="Rectangle 18"/>
            <p:cNvSpPr/>
            <p:nvPr/>
          </p:nvSpPr>
          <p:spPr>
            <a:xfrm>
              <a:off x="533400" y="4158615"/>
              <a:ext cx="5085398" cy="2026920"/>
            </a:xfrm>
            <a:prstGeom prst="roundRect">
              <a:avLst>
                <a:gd name="adj" fmla="val 563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5072063"/>
              <a:ext cx="200026" cy="200026"/>
              <a:chOff x="738188" y="5072063"/>
              <a:chExt cx="200026" cy="200026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38188" y="507206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38200" y="51387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27088" y="517207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130" y="4791075"/>
              <a:ext cx="4015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平均访存时间只衡量存储器。改变 Cache 结构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时，时钟周期也可能跟着变，比较整机性能要用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时间。</a:t>
              </a:r>
            </a:p>
          </p:txBody>
        </p:sp>
      </p:grpSp>
      <p:grpSp>
        <p:nvGrpSpPr>
          <p:cNvPr id="31" name="c2-card-1"/>
          <p:cNvGrpSpPr/>
          <p:nvPr/>
        </p:nvGrpSpPr>
        <p:grpSpPr>
          <a:xfrm>
            <a:off x="5923598" y="1524000"/>
            <a:ext cx="5735002" cy="2089785"/>
            <a:chOff x="5923598" y="1524000"/>
            <a:chExt cx="5735002" cy="2089785"/>
          </a:xfrm>
        </p:grpSpPr>
        <p:sp>
          <p:nvSpPr>
            <p:cNvPr id="25" name="Rectangle 25"/>
            <p:cNvSpPr/>
            <p:nvPr/>
          </p:nvSpPr>
          <p:spPr>
            <a:xfrm>
              <a:off x="5923598" y="1524000"/>
              <a:ext cx="5735002" cy="2089785"/>
            </a:xfrm>
            <a:prstGeom prst="roundRect">
              <a:avLst>
                <a:gd name="adj" fmla="val 6381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133148" y="1733550"/>
              <a:ext cx="784860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05996" y="1769269"/>
              <a:ext cx="6391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CPU 时间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formula6"/>
                <p:cNvSpPr txBox="1">
                  <a:spLocks noGrp="1"/>
                </p:cNvSpPr>
                <p:nvPr/>
              </p:nvSpPr>
              <p:spPr>
                <a:xfrm>
                  <a:off x="6133148" y="2085975"/>
                  <a:ext cx="5315902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nor m:val="on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CPU 时间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nor m:val="on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CPU 执行周期数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m:rPr>
                                <m:nor m:val="on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存储器停顿周期数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m:rPr>
                            <m:nor m:val="on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时钟周期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9" name="TextBox 29"/>
            <p:cNvSpPr txBox="1"/>
            <p:nvPr/>
          </p:nvSpPr>
          <p:spPr>
            <a:xfrm>
              <a:off x="6125528" y="2548890"/>
              <a:ext cx="4863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存储器停顿周期数 = 读次数 × 读不命中率 × 读不命中开销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 写次数 × 写不命中率 × 写不命中开销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125528" y="3169920"/>
              <a:ext cx="43466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读写合并后 = 访存次数 × 不命中率 × 不命中开销</a:t>
              </a:r>
            </a:p>
          </p:txBody>
        </p:sp>
      </p:grpSp>
      <p:grpSp>
        <p:nvGrpSpPr>
          <p:cNvPr id="39" name="c2-card-2"/>
          <p:cNvGrpSpPr/>
          <p:nvPr/>
        </p:nvGrpSpPr>
        <p:grpSpPr>
          <a:xfrm>
            <a:off x="5923598" y="3804285"/>
            <a:ext cx="5735002" cy="2381250"/>
            <a:chOff x="5923598" y="3804285"/>
            <a:chExt cx="5735002" cy="2381250"/>
          </a:xfrm>
        </p:grpSpPr>
        <p:sp>
          <p:nvSpPr>
            <p:cNvPr id="32" name="Rectangle 32"/>
            <p:cNvSpPr/>
            <p:nvPr/>
          </p:nvSpPr>
          <p:spPr>
            <a:xfrm>
              <a:off x="5923598" y="3804285"/>
              <a:ext cx="5735002" cy="2381250"/>
            </a:xfrm>
            <a:prstGeom prst="roundRect">
              <a:avLst>
                <a:gd name="adj" fmla="val 56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933122" y="3937635"/>
              <a:ext cx="47625" cy="211455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171248" y="401383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49606" y="404955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按指令展开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formula7"/>
                <p:cNvSpPr txBox="1">
                  <a:spLocks noGrp="1"/>
                </p:cNvSpPr>
                <p:nvPr/>
              </p:nvSpPr>
              <p:spPr>
                <a:xfrm>
                  <a:off x="6171248" y="4366260"/>
                  <a:ext cx="5277802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nor m:val="on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CPU 时间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IC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m:rPr>
                            <m:nor m:val="on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每条指令的周期数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m:rPr>
                            <m:nor m:val="on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时钟周期</m:t>
                        </m:r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formula8"/>
                <p:cNvSpPr txBox="1">
                  <a:spLocks noGrp="1"/>
                </p:cNvSpPr>
                <p:nvPr/>
              </p:nvSpPr>
              <p:spPr>
                <a:xfrm>
                  <a:off x="6171248" y="4880610"/>
                  <a:ext cx="5277802" cy="5448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eqArr>
                          <m:eqArrPr>
                            <m:baseJc m:val="center"/>
                          </m:eqArrPr>
                          <m:e>
                            <m:r>
                              <m:rPr>
                                <m:nor m:val="on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每条指令的周期数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 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sSub>
                              <m:e>
                                <m:r>
                                  <m:rPr>
                                    <m:nor m:val="on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CPI</m:t>
                                </m:r>
                              </m:e>
                              <m:sub>
                                <m:r>
                                  <m:rPr>
                                    <m:nor m:val="on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执行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m:rPr>
                                <m:nor m:val="on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每条指令访存次数</m:t>
                            </m:r>
                          </m:e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×</m:t>
                            </m:r>
                            <m:r>
                              <m:rPr>
                                <m:nor m:val="on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不命中率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×</m:t>
                            </m:r>
                            <m:r>
                              <m:rPr>
                                <m:nor m:val="on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不命中开销</m:t>
                            </m:r>
                          </m:e>
                        </m:eqAr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8" name="TextBox 38"/>
            <p:cNvSpPr txBox="1"/>
            <p:nvPr/>
          </p:nvSpPr>
          <p:spPr>
            <a:xfrm>
              <a:off x="6164770" y="5542121"/>
              <a:ext cx="497916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IC 为指令条数；CPI执行 是不计存储器停顿时的 CPI；这里的不命中开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销以时钟周期数为单位。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31206" cy="909257"/>
            <a:chOff x="520446" y="342900"/>
            <a:chExt cx="773120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5464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0049" y="407194"/>
              <a:ext cx="27622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03 缓存优化 · Cache 性能分析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3120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1：不命中率只有 2%，CPI 却从 2.0 涨到 3.33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085398" cy="2065020"/>
            <a:chOff x="533400" y="1524000"/>
            <a:chExt cx="5085398" cy="20650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085398" cy="2065020"/>
            </a:xfrm>
            <a:prstGeom prst="roundRect">
              <a:avLst>
                <a:gd name="adj" fmla="val 64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983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0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477893" cy="13645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用一台与 Alpha AXP 类似的机器分析 Cache 对性能的影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响：Cache 不命中开销为 50 个时钟周期；不考虑存储器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停顿时，所有指令的执行时间都是 2.0 个时钟周期；访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 Cache 的不命中率为 2%；平均每条指令访存 1.33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次。</a:t>
              </a:r>
            </a:p>
          </p:txBody>
        </p:sp>
      </p:grpSp>
      <p:grpSp>
        <p:nvGrpSpPr>
          <p:cNvPr id="34" name="c1-table-2"/>
          <p:cNvGrpSpPr/>
          <p:nvPr/>
        </p:nvGrpSpPr>
        <p:grpSpPr>
          <a:xfrm>
            <a:off x="533400" y="3769995"/>
            <a:ext cx="5085398" cy="1910715"/>
            <a:chOff x="533400" y="3769995"/>
            <a:chExt cx="5085398" cy="1910715"/>
          </a:xfrm>
        </p:grpSpPr>
        <p:sp>
          <p:nvSpPr>
            <p:cNvPr id="13" name="Rectangle 13"/>
            <p:cNvSpPr/>
            <p:nvPr/>
          </p:nvSpPr>
          <p:spPr>
            <a:xfrm>
              <a:off x="533400" y="3769995"/>
              <a:ext cx="5085398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28712" y="389763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情形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878706" y="3897630"/>
              <a:ext cx="8015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CPI 的计算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928128" y="3897630"/>
              <a:ext cx="2631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CPI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5889" y="4322445"/>
              <a:ext cx="1109853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理想 Cache（不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计停顿）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61794" y="4429125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920310" y="4429125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2.0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4827270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4832032"/>
              <a:ext cx="508539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5889" y="4960620"/>
              <a:ext cx="6969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 Cache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161794" y="4960620"/>
              <a:ext cx="15791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2.0 + 1.33 × 2% × 50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510088" y="4841558"/>
              <a:ext cx="1100138" cy="40576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875886" y="496062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3.33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5251132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5889" y="5384482"/>
              <a:ext cx="858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 Cache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161794" y="5384482"/>
              <a:ext cx="11833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2.0 + 1.33 × 50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510088" y="5265420"/>
              <a:ext cx="1100138" cy="40576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875886" y="538448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68.5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769995"/>
              <a:ext cx="5085398" cy="19107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2054542" y="3769995"/>
              <a:ext cx="9525" cy="19107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4495800" y="3769995"/>
              <a:ext cx="9525" cy="19107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2" name="c2-steps-1"/>
          <p:cNvGrpSpPr/>
          <p:nvPr/>
        </p:nvGrpSpPr>
        <p:grpSpPr>
          <a:xfrm>
            <a:off x="5923598" y="1533525"/>
            <a:ext cx="5566105" cy="2840736"/>
            <a:chOff x="5923598" y="1533525"/>
            <a:chExt cx="5566105" cy="2840736"/>
          </a:xfrm>
        </p:grpSpPr>
        <p:sp>
          <p:nvSpPr>
            <p:cNvPr id="35" name="Rectangle 35"/>
            <p:cNvSpPr/>
            <p:nvPr/>
          </p:nvSpPr>
          <p:spPr>
            <a:xfrm>
              <a:off x="6056948" y="1676400"/>
              <a:ext cx="19050" cy="207168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5923598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01722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5923598" y="23717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017221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5923598" y="298799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017221" y="30618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5923598" y="360521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017221" y="36790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335458" y="156638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写公式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336602" y="1846898"/>
              <a:ext cx="48966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时间 = IC × (CPI执行 + 每条指令访存次数 × 不命中率 × 不命中开销)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× 时钟周期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335458" y="240458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336602" y="2685098"/>
              <a:ext cx="4940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IC × (2.0 + 1.33 × 2% × 50) × 时钟周期 = IC × 3.33 × 时钟周期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335458" y="3020854"/>
              <a:ext cx="14591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与理想 Cache 比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336602" y="3301365"/>
              <a:ext cx="51531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 CPI 为 3.33，3.33 ÷ 2.0 ≈ 1.67，CPU 时间增加为原来的 1.67 倍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335458" y="3638074"/>
              <a:ext cx="14591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与不用 Cache 比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336602" y="3918585"/>
              <a:ext cx="48737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每次访存都付 50 个周期：CPI = 2.0 + 50 × 1.33 = 68.5，约为有 Cache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时的 20.6 倍</a:t>
              </a:r>
            </a:p>
          </p:txBody>
        </p:sp>
      </p:grpSp>
      <p:grpSp>
        <p:nvGrpSpPr>
          <p:cNvPr id="59" name="c2-callout-2"/>
          <p:cNvGrpSpPr/>
          <p:nvPr/>
        </p:nvGrpSpPr>
        <p:grpSpPr>
          <a:xfrm>
            <a:off x="5923598" y="4545330"/>
            <a:ext cx="5735002" cy="1135380"/>
            <a:chOff x="5923598" y="4545330"/>
            <a:chExt cx="5735002" cy="1135380"/>
          </a:xfrm>
        </p:grpSpPr>
        <p:sp>
          <p:nvSpPr>
            <p:cNvPr id="53" name="Rectangle 53"/>
            <p:cNvSpPr/>
            <p:nvPr/>
          </p:nvSpPr>
          <p:spPr>
            <a:xfrm>
              <a:off x="5923598" y="4545330"/>
              <a:ext cx="5735002" cy="1135380"/>
            </a:xfrm>
            <a:prstGeom prst="roundRect">
              <a:avLst>
                <a:gd name="adj" fmla="val 10067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6128385" y="5013008"/>
              <a:ext cx="200026" cy="200026"/>
              <a:chOff x="6128385" y="5013008"/>
              <a:chExt cx="200026" cy="200026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6128385" y="50130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228398" y="50796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217285" y="51130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6430708" y="4751546"/>
              <a:ext cx="470331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单位检查：访存次数/条 × 不命中率 × 开销（周期）得到每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条指令的停顿周期，和 CPI执行 单位相同才能相加。开销按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ns 给出时（如例 2），先统一单位。</a:t>
              </a:r>
            </a:p>
          </p:txBody>
        </p:sp>
      </p:grpSp>
      <p:grpSp>
        <p:nvGrpSpPr>
          <p:cNvPr id="66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60" name="Rectangle 60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38188" y="6011228"/>
              <a:ext cx="200026" cy="200025"/>
              <a:chOff x="738188" y="6011228"/>
              <a:chExt cx="200026" cy="200025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38188" y="60112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77926" y="60556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12642" y="61668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1040511" y="6011704"/>
              <a:ext cx="83690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停顿周期 1.33 占了 CPI 3.33 的 40%。不命中率看起来很小，乘上几十个周期的开销后影响很大。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00632" cy="909257"/>
            <a:chOff x="520446" y="342900"/>
            <a:chExt cx="79006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5464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0049" y="407194"/>
              <a:ext cx="27622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03 缓存优化 · Cache 性能分析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006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 Cache 对低 CPI、高时钟频率的 CPU 更重要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4760595" cy="2794635"/>
            <a:chOff x="533400" y="1524000"/>
            <a:chExt cx="4760595" cy="27946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2794635"/>
            </a:xfrm>
            <a:prstGeom prst="roundRect">
              <a:avLst>
                <a:gd name="adj" fmla="val 477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52793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双重影响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1050" y="209740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2899" y="21396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82040" y="2110740"/>
              <a:ext cx="3784282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CPI执行 越低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，固定周期数的不命中开销所占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的比例越大。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1050" y="271843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2899" y="27607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2040" y="2731770"/>
              <a:ext cx="3825240" cy="1436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时钟频率越高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，影响越大。计算 CPI 时不命中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开销以时钟周期数为单位。两台机器存储层次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完全相同时，不命中开销的纳秒数相同，时钟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频率高的那台折合的周期数更多，CPI 中存储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器停顿部分也就更大。</a:t>
              </a:r>
            </a:p>
          </p:txBody>
        </p:sp>
      </p:grpSp>
      <p:grpSp>
        <p:nvGrpSpPr>
          <p:cNvPr id="23" name="c1-callout-2"/>
          <p:cNvGrpSpPr/>
          <p:nvPr/>
        </p:nvGrpSpPr>
        <p:grpSpPr>
          <a:xfrm>
            <a:off x="533400" y="4509135"/>
            <a:ext cx="4760595" cy="1266825"/>
            <a:chOff x="533400" y="4509135"/>
            <a:chExt cx="4760595" cy="1266825"/>
          </a:xfrm>
        </p:grpSpPr>
        <p:sp>
          <p:nvSpPr>
            <p:cNvPr id="18" name="Rectangle 18"/>
            <p:cNvSpPr/>
            <p:nvPr/>
          </p:nvSpPr>
          <p:spPr>
            <a:xfrm>
              <a:off x="533400" y="4509135"/>
              <a:ext cx="4760595" cy="1266825"/>
            </a:xfrm>
            <a:prstGeom prst="roundRect">
              <a:avLst>
                <a:gd name="adj" fmla="val 9023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38188" y="5042537"/>
              <a:ext cx="200023" cy="200023"/>
              <a:chOff x="738188" y="5042537"/>
              <a:chExt cx="200023" cy="200023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38188" y="504253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71538" y="510921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0130" y="4761548"/>
              <a:ext cx="38919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判断改进 Cache 值不值得：看存储器停顿周期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占 CPI 的比例，比例越大，降低不命中率或不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命中开销的收益越大。</a:t>
              </a:r>
            </a:p>
          </p:txBody>
        </p:sp>
      </p:grpSp>
      <p:grpSp>
        <p:nvGrpSpPr>
          <p:cNvPr id="51" name="c2-table-1"/>
          <p:cNvGrpSpPr/>
          <p:nvPr/>
        </p:nvGrpSpPr>
        <p:grpSpPr>
          <a:xfrm>
            <a:off x="5593080" y="1524000"/>
            <a:ext cx="6065520" cy="3046572"/>
            <a:chOff x="5593080" y="1524000"/>
            <a:chExt cx="6065520" cy="3046572"/>
          </a:xfrm>
        </p:grpSpPr>
        <p:sp>
          <p:nvSpPr>
            <p:cNvPr id="24" name="Rectangle 24"/>
            <p:cNvSpPr/>
            <p:nvPr/>
          </p:nvSpPr>
          <p:spPr>
            <a:xfrm>
              <a:off x="5598795" y="1524000"/>
              <a:ext cx="6059805" cy="75438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783956" y="1796415"/>
              <a:ext cx="18109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情形（其余同例 1）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015288" y="1663065"/>
              <a:ext cx="1348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每条指令停顿周</a:t>
              </a:r>
              <a:br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期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857765" y="1796415"/>
              <a:ext cx="3288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CPI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41330" y="17964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相对理想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705475" y="2550795"/>
              <a:ext cx="10667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1 原参数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024812" y="2417445"/>
              <a:ext cx="13296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1.33 × 2% × 50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1.33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792462" y="255079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3.33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691813" y="2550795"/>
              <a:ext cx="7219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1.67 倍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598795" y="302799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598795" y="3032760"/>
              <a:ext cx="6059805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705475" y="3171825"/>
              <a:ext cx="16136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CPI执行 降为 1.0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459914" y="317182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792462" y="317182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2.33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0456545" y="3042285"/>
              <a:ext cx="1192530" cy="46863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691813" y="3171825"/>
              <a:ext cx="7219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2.33 倍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598795" y="351567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705475" y="3659505"/>
              <a:ext cx="1729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时钟频率加倍，开销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变为 100 个周期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158162" y="3659505"/>
              <a:ext cx="10629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1.33 × 2% 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 = 2.66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792462" y="379285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4.66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0456545" y="3529965"/>
              <a:ext cx="1192530" cy="73533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691813" y="3792855"/>
              <a:ext cx="7219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2.33 倍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598795" y="1524000"/>
              <a:ext cx="6059805" cy="27508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7776210" y="1524000"/>
              <a:ext cx="9525" cy="27508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9593580" y="1524000"/>
              <a:ext cx="9525" cy="27508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10442258" y="1524000"/>
              <a:ext cx="9525" cy="27508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593080" y="4350544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补充对照：每次只改一个条件</a:t>
              </a:r>
            </a:p>
          </p:txBody>
        </p:sp>
      </p:grpSp>
      <p:grpSp>
        <p:nvGrpSpPr>
          <p:cNvPr id="58" name="c2-callout-2"/>
          <p:cNvGrpSpPr/>
          <p:nvPr/>
        </p:nvGrpSpPr>
        <p:grpSpPr>
          <a:xfrm>
            <a:off x="5598795" y="4716780"/>
            <a:ext cx="6059805" cy="1059180"/>
            <a:chOff x="5598795" y="4716780"/>
            <a:chExt cx="6059805" cy="1059180"/>
          </a:xfrm>
        </p:grpSpPr>
        <p:sp>
          <p:nvSpPr>
            <p:cNvPr id="52" name="Rectangle 52"/>
            <p:cNvSpPr/>
            <p:nvPr/>
          </p:nvSpPr>
          <p:spPr>
            <a:xfrm>
              <a:off x="5598795" y="4716780"/>
              <a:ext cx="6059805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5803583" y="5146358"/>
              <a:ext cx="200026" cy="200026"/>
              <a:chOff x="5803583" y="5146358"/>
              <a:chExt cx="200026" cy="200026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5803583" y="51463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5903595" y="52130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5892483" y="52463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6105525" y="4865370"/>
              <a:ext cx="49491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时钟频率加倍后整机仍然更快：4.66 × T/2 = 2.33T，小于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原来的 3.33T。但存储器停顿在 CPI 中的比例从 40% 升到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57%，Cache 的好坏对性能的影响更大。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41187" cy="909257"/>
            <a:chOff x="520446" y="342900"/>
            <a:chExt cx="754118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5464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0049" y="407194"/>
              <a:ext cx="27622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03 缓存优化 · Cache 性能分析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411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2：直接映像与两路组相联，先比平均访存时间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7" name="c1-table-1"/>
          <p:cNvGrpSpPr/>
          <p:nvPr/>
        </p:nvGrpSpPr>
        <p:grpSpPr>
          <a:xfrm>
            <a:off x="527685" y="1524000"/>
            <a:ext cx="4983480" cy="4301014"/>
            <a:chOff x="527685" y="1524000"/>
            <a:chExt cx="4983480" cy="430101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4686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90600" y="165877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已知条件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33638" y="165877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直接映像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980180" y="1658779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两路组相联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7604" y="2128361"/>
              <a:ext cx="1189844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理想 Cache 的</a:t>
              </a:r>
              <a:br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CPI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558251" y="2255044"/>
              <a:ext cx="3298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00374" y="2255044"/>
              <a:ext cx="3298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2.0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71081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715578"/>
              <a:ext cx="4977765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7604" y="285035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时钟周期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29577" y="2850356"/>
              <a:ext cx="38724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ns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429952" y="2725102"/>
              <a:ext cx="2071688" cy="44958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683881" y="2850356"/>
              <a:ext cx="156287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× 1.10 = 2.2 ns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17944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7604" y="331898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每条指令访存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433997" y="3318986"/>
              <a:ext cx="5784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 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176119" y="3318986"/>
              <a:ext cx="5784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 次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64902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653790"/>
              <a:ext cx="4977765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7604" y="3788569"/>
              <a:ext cx="120110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容量 / 块大小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50412" y="3788569"/>
              <a:ext cx="11455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 KB / 32 B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892535" y="3788569"/>
              <a:ext cx="11455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 KB / 32 B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411765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7604" y="425719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不命中率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486566" y="4257199"/>
              <a:ext cx="4732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1.4%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429952" y="4131945"/>
              <a:ext cx="2071688" cy="4495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228689" y="4257199"/>
              <a:ext cx="4732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1.0%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58628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4591050"/>
              <a:ext cx="4977765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7604" y="472678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不命中开销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477008" y="4726781"/>
              <a:ext cx="4923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 ns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219130" y="4726781"/>
              <a:ext cx="4923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 ns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505587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7604" y="519541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命中时间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156814" y="5195411"/>
              <a:ext cx="11327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个时钟周期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898937" y="5195411"/>
              <a:ext cx="11327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个时钟周期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1524000"/>
              <a:ext cx="4977765" cy="40052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2022158" y="1524000"/>
              <a:ext cx="9525" cy="40052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3415665" y="1524000"/>
              <a:ext cx="9525" cy="40052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27685" y="5604986"/>
              <a:ext cx="4864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组相联 Cache 的多路选择器处在关键路径上，使时钟周期增加到 1.10 倍</a:t>
              </a:r>
            </a:p>
          </p:txBody>
        </p:sp>
      </p:grpSp>
      <p:grpSp>
        <p:nvGrpSpPr>
          <p:cNvPr id="61" name="c2-steps-1"/>
          <p:cNvGrpSpPr/>
          <p:nvPr/>
        </p:nvGrpSpPr>
        <p:grpSpPr>
          <a:xfrm>
            <a:off x="5815965" y="1533525"/>
            <a:ext cx="5545836" cy="2011109"/>
            <a:chOff x="5815965" y="1533525"/>
            <a:chExt cx="5545836" cy="2011109"/>
          </a:xfrm>
        </p:grpSpPr>
        <p:sp>
          <p:nvSpPr>
            <p:cNvPr id="48" name="Rectangle 48"/>
            <p:cNvSpPr/>
            <p:nvPr/>
          </p:nvSpPr>
          <p:spPr>
            <a:xfrm>
              <a:off x="5949315" y="1676400"/>
              <a:ext cx="19050" cy="1463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5815965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90958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5815965" y="237553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909589" y="24493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5815965" y="299656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909589" y="30703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227826" y="156638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公式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228969" y="1846898"/>
              <a:ext cx="51328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平均访存时间 = 命中时间 + 不命中率 × 不命中开销，命中时间取各自的 1 个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时钟周期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227826" y="240839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直接映像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228969" y="2688907"/>
              <a:ext cx="30330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2.0 + 0.014 × 70 = 2.0 + 0.98 = 2.98 ns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227826" y="302942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两路组相联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228969" y="3309938"/>
              <a:ext cx="35742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2.0 × 1.10 + 0.010 × 70 = 2.2 + 0.70 = 2.90 ns</a:t>
              </a:r>
            </a:p>
          </p:txBody>
        </p:sp>
      </p:grpSp>
      <p:grpSp>
        <p:nvGrpSpPr>
          <p:cNvPr id="81" name="c2-table-2"/>
          <p:cNvGrpSpPr/>
          <p:nvPr/>
        </p:nvGrpSpPr>
        <p:grpSpPr>
          <a:xfrm>
            <a:off x="5815965" y="3720465"/>
            <a:ext cx="5842635" cy="1290638"/>
            <a:chOff x="5815965" y="3720465"/>
            <a:chExt cx="5842635" cy="1290638"/>
          </a:xfrm>
        </p:grpSpPr>
        <p:sp>
          <p:nvSpPr>
            <p:cNvPr id="62" name="Rectangle 62"/>
            <p:cNvSpPr/>
            <p:nvPr/>
          </p:nvSpPr>
          <p:spPr>
            <a:xfrm>
              <a:off x="5815965" y="3720465"/>
              <a:ext cx="5842635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329362" y="38519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结构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455598" y="38519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命中时间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677660" y="3851910"/>
              <a:ext cx="11765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不命中率 × 开销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409682" y="38519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平均访存时间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921312" y="428244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直接映像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532332" y="4282440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2.0 ns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969045" y="4282440"/>
              <a:ext cx="593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0.98 ns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603535" y="4282440"/>
              <a:ext cx="593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2.98 ns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815965" y="457581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5815965" y="4580572"/>
              <a:ext cx="584263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921312" y="471201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两路组相联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520014" y="4712018"/>
              <a:ext cx="5295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2.2 ns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954506" y="4712018"/>
              <a:ext cx="6228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0.70 ns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588996" y="4712018"/>
              <a:ext cx="6228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2.90 ns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5815965" y="3720465"/>
              <a:ext cx="5842635" cy="129063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7174230" y="3720465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8384858" y="3720465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10138410" y="3720465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8" name="c2-callout-3"/>
          <p:cNvGrpSpPr/>
          <p:nvPr/>
        </p:nvGrpSpPr>
        <p:grpSpPr>
          <a:xfrm>
            <a:off x="5815965" y="5196840"/>
            <a:ext cx="5842635" cy="756285"/>
            <a:chOff x="5815965" y="5196840"/>
            <a:chExt cx="5842635" cy="756285"/>
          </a:xfrm>
        </p:grpSpPr>
        <p:sp>
          <p:nvSpPr>
            <p:cNvPr id="82" name="Rectangle 82"/>
            <p:cNvSpPr/>
            <p:nvPr/>
          </p:nvSpPr>
          <p:spPr>
            <a:xfrm>
              <a:off x="5815965" y="5196840"/>
              <a:ext cx="5842635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6" name="Group 86"/>
            <p:cNvGrpSpPr/>
            <p:nvPr/>
          </p:nvGrpSpPr>
          <p:grpSpPr>
            <a:xfrm>
              <a:off x="6020753" y="5474970"/>
              <a:ext cx="200026" cy="200026"/>
              <a:chOff x="6020753" y="5474970"/>
              <a:chExt cx="200026" cy="200026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6020753" y="547497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6120765" y="554164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6109653" y="557498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7" name="TextBox 87"/>
            <p:cNvSpPr txBox="1"/>
            <p:nvPr/>
          </p:nvSpPr>
          <p:spPr>
            <a:xfrm>
              <a:off x="6323076" y="5344001"/>
              <a:ext cx="488365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只看平均访存时间，两路组相联更低。可它把所有指令的时钟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周期都拉长了 10%，这一点只有在 CPU 时间里才体现出来。</a:t>
              </a:r>
            </a:p>
          </p:txBody>
        </p:sp>
      </p:grpSp>
      <p:grpSp>
        <p:nvGrpSpPr>
          <p:cNvPr id="9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9" name="TextBox 89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68251" cy="909257"/>
            <a:chOff x="520446" y="342900"/>
            <a:chExt cx="736825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5464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0049" y="407194"/>
              <a:ext cx="27622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03 缓存优化 · Cache 性能分析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682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2（续）：算到 CPU 时间，直接映像反而略快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951220" cy="3955732"/>
            <a:chOff x="533400" y="1524000"/>
            <a:chExt cx="5951220" cy="39557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3955732"/>
            </a:xfrm>
            <a:prstGeom prst="roundRect">
              <a:avLst>
                <a:gd name="adj" fmla="val 337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68903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9346" y="175069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解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13"/>
                <p:cNvSpPr txBox="1">
                  <a:spLocks noGrp="1"/>
                </p:cNvSpPr>
                <p:nvPr/>
              </p:nvSpPr>
              <p:spPr>
                <a:xfrm>
                  <a:off x="763905" y="2050732"/>
                  <a:ext cx="5528310" cy="47053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eqArr>
                          <m:eqArrPr>
                            <m:baseJc m:val="center"/>
                          </m:eqArrPr>
                          <m:e>
                            <m:r>
                              <m:rPr>
                                <m:nor m:val="on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CPU 时间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 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IC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×</m:t>
                            </m:r>
                            <m:sSub>
                              <m:e>
                                <m:r>
                                  <m:rPr>
                                    <m:nor m:val="on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CPI</m:t>
                                </m:r>
                              </m:e>
                              <m:sub>
                                <m:r>
                                  <m:rPr>
                                    <m:nor m:val="on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执行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×</m:t>
                            </m:r>
                            <m:r>
                              <m:rPr>
                                <m:nor m:val="on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时钟周期</m:t>
                            </m:r>
                          </m:e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IC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×</m:t>
                            </m:r>
                            <m:r>
                              <m:rPr>
                                <m:nor m:val="on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每条指令访存次数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×</m:t>
                            </m:r>
                            <m:r>
                              <m:rPr>
                                <m:nor m:val="on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不命中率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×</m:t>
                            </m:r>
                            <m:r>
                              <m:rPr>
                                <m:nor m:val="on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不命中开销</m:t>
                            </m:r>
                          </m:e>
                        </m:eqAr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2" name="TextBox 12"/>
            <p:cNvSpPr txBox="1"/>
            <p:nvPr/>
          </p:nvSpPr>
          <p:spPr>
            <a:xfrm>
              <a:off x="758190" y="2626519"/>
              <a:ext cx="49110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不命中开销给的是纳秒数，所以先把 CPI执行 乘上时钟周期，统一成 ns。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7047" y="2893695"/>
              <a:ext cx="457428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直接映像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：IC × (2.0 × 2 + 1.3 × 0.014 × 70) = IC × (4.0 +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1.274) ≈ 5.27 × IC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7047" y="3453765"/>
              <a:ext cx="474573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两路组相联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：IC × (2.0 × 2 × 1.10 + 1.3 × 0.010 × 70) = IC ×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(4.4 + 0.91) = 5.31 × IC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7047" y="4012882"/>
              <a:ext cx="505734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两者之比：5.31 ÷ 5.27 ≈ 1.01，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直接映像 Cache 的平均性能好一</a:t>
              </a:r>
              <a:br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些</a:t>
              </a:r>
            </a:p>
          </p:txBody>
        </p:sp>
      </p:grpSp>
      <p:grpSp>
        <p:nvGrpSpPr>
          <p:cNvPr id="37" name="c2-compare-1"/>
          <p:cNvGrpSpPr/>
          <p:nvPr/>
        </p:nvGrpSpPr>
        <p:grpSpPr>
          <a:xfrm>
            <a:off x="6789420" y="1524000"/>
            <a:ext cx="4869180" cy="2057400"/>
            <a:chOff x="6789420" y="1524000"/>
            <a:chExt cx="4869180" cy="2057400"/>
          </a:xfrm>
        </p:grpSpPr>
        <p:sp>
          <p:nvSpPr>
            <p:cNvPr id="17" name="Rectangle 17"/>
            <p:cNvSpPr/>
            <p:nvPr/>
          </p:nvSpPr>
          <p:spPr>
            <a:xfrm>
              <a:off x="6789420" y="1524000"/>
              <a:ext cx="2225040" cy="2057400"/>
            </a:xfrm>
            <a:prstGeom prst="roundRect">
              <a:avLst>
                <a:gd name="adj" fmla="val 648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798945" y="1657350"/>
              <a:ext cx="47625" cy="179070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013067" y="173831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直接映像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028498" y="211455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184517" y="2058352"/>
              <a:ext cx="147104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平均访存时间 2.98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ns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028498" y="267462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184517" y="2618422"/>
              <a:ext cx="16157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时间 5.27 × IC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028498" y="297656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184517" y="2920365"/>
              <a:ext cx="1556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时钟周期短，所有指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令受益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433560" y="1524000"/>
              <a:ext cx="2225040" cy="2057400"/>
            </a:xfrm>
            <a:prstGeom prst="roundRect">
              <a:avLst>
                <a:gd name="adj" fmla="val 648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9443085" y="1657350"/>
              <a:ext cx="47625" cy="179070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657207" y="173831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两路组相联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9672638" y="211455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828657" y="2058352"/>
              <a:ext cx="147104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平均访存时间 2.90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ns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9672638" y="267462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828657" y="2618422"/>
              <a:ext cx="16157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时间 5.31 × IC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9672638" y="297656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828657" y="2920365"/>
              <a:ext cx="1411033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周期拉长 10%，每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条指令变慢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9062085" y="239077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138556" y="2492216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43" name="c2-card-2"/>
          <p:cNvGrpSpPr/>
          <p:nvPr/>
        </p:nvGrpSpPr>
        <p:grpSpPr>
          <a:xfrm>
            <a:off x="6789420" y="3756660"/>
            <a:ext cx="4869180" cy="1724025"/>
            <a:chOff x="6789420" y="3756660"/>
            <a:chExt cx="4869180" cy="1724025"/>
          </a:xfrm>
        </p:grpSpPr>
        <p:sp>
          <p:nvSpPr>
            <p:cNvPr id="38" name="Rectangle 38"/>
            <p:cNvSpPr/>
            <p:nvPr/>
          </p:nvSpPr>
          <p:spPr>
            <a:xfrm>
              <a:off x="6789420" y="3756660"/>
              <a:ext cx="4869180" cy="1724025"/>
            </a:xfrm>
            <a:prstGeom prst="roundRect">
              <a:avLst>
                <a:gd name="adj" fmla="val 77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798945" y="3890010"/>
              <a:ext cx="47625" cy="145732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019925" y="3949065"/>
              <a:ext cx="19431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067360" y="3983355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补充：开销取整为整数个周期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013067" y="4305300"/>
              <a:ext cx="4068508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直接映像：70 ÷ 2 = 35 个周期，不变。两路组相联：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 ÷ 2.2 ≈ 31.8，取 32 个周期 = 70.4 ns，CPU 时间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4.4 + 1.3 × 0.010 × 70.4 ≈ 5.32 × IC，结论不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变。</a:t>
              </a:r>
            </a:p>
          </p:txBody>
        </p:sp>
      </p:grpSp>
      <p:grpSp>
        <p:nvGrpSpPr>
          <p:cNvPr id="50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4" name="Rectangle 44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892" y="6023610"/>
              <a:ext cx="73517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易错：平均访存时间低不等于程序跑得快。会影响时钟周期的改动，必须用 CPU 时间比较。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65759" cy="909257"/>
            <a:chOff x="520446" y="342900"/>
            <a:chExt cx="666575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5464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0049" y="407194"/>
              <a:ext cx="27622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03 缓存优化 · Cache 性能分析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6575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改进 Cache 性能的三条路线，共 17 种技术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c1-tree-1"/>
          <p:cNvGrpSpPr/>
          <p:nvPr/>
        </p:nvGrpSpPr>
        <p:grpSpPr>
          <a:xfrm>
            <a:off x="533400" y="1507808"/>
            <a:ext cx="11125200" cy="2231707"/>
            <a:chOff x="533400" y="1507808"/>
            <a:chExt cx="11125200" cy="2231707"/>
          </a:xfrm>
        </p:grpSpPr>
        <p:sp>
          <p:nvSpPr>
            <p:cNvPr id="7" name="Freeform 7"/>
            <p:cNvSpPr/>
            <p:nvPr/>
          </p:nvSpPr>
          <p:spPr>
            <a:xfrm>
              <a:off x="5545455" y="1681162"/>
              <a:ext cx="419100" cy="314325"/>
            </a:xfrm>
            <a:custGeom>
              <a:avLst/>
              <a:gdLst/>
              <a:ahLst/>
              <a:cxnLst/>
              <a:rect l="l" t="t" r="r" b="b"/>
              <a:pathLst>
                <a:path w="419100" h="314325">
                  <a:moveTo>
                    <a:pt x="0" y="314325"/>
                  </a:moveTo>
                  <a:lnTo>
                    <a:pt x="209550" y="31432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545455" y="1995488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5545455" y="1995488"/>
              <a:ext cx="419100" cy="313373"/>
            </a:xfrm>
            <a:custGeom>
              <a:avLst/>
              <a:gdLst/>
              <a:ahLst/>
              <a:cxnLst/>
              <a:rect l="l" t="t" r="r" b="b"/>
              <a:pathLst>
                <a:path w="419100" h="313373">
                  <a:moveTo>
                    <a:pt x="0" y="0"/>
                  </a:moveTo>
                  <a:lnTo>
                    <a:pt x="209550" y="0"/>
                  </a:lnTo>
                  <a:lnTo>
                    <a:pt x="209550" y="313373"/>
                  </a:lnTo>
                  <a:lnTo>
                    <a:pt x="419100" y="313373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8460105" y="2937510"/>
              <a:ext cx="419100" cy="314325"/>
            </a:xfrm>
            <a:custGeom>
              <a:avLst/>
              <a:gdLst/>
              <a:ahLst/>
              <a:cxnLst/>
              <a:rect l="l" t="t" r="r" b="b"/>
              <a:pathLst>
                <a:path w="419100" h="314325">
                  <a:moveTo>
                    <a:pt x="0" y="314325"/>
                  </a:moveTo>
                  <a:lnTo>
                    <a:pt x="209550" y="31432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8460105" y="325183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8460105" y="3251835"/>
              <a:ext cx="419100" cy="314325"/>
            </a:xfrm>
            <a:custGeom>
              <a:avLst/>
              <a:gdLst/>
              <a:ahLst/>
              <a:cxnLst/>
              <a:rect l="l" t="t" r="r" b="b"/>
              <a:pathLst>
                <a:path w="419100" h="314325">
                  <a:moveTo>
                    <a:pt x="0" y="0"/>
                  </a:moveTo>
                  <a:lnTo>
                    <a:pt x="209550" y="0"/>
                  </a:lnTo>
                  <a:lnTo>
                    <a:pt x="209550" y="314325"/>
                  </a:lnTo>
                  <a:lnTo>
                    <a:pt x="419100" y="31432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5545455" y="2623185"/>
              <a:ext cx="419100" cy="314325"/>
            </a:xfrm>
            <a:custGeom>
              <a:avLst/>
              <a:gdLst/>
              <a:ahLst/>
              <a:cxnLst/>
              <a:rect l="l" t="t" r="r" b="b"/>
              <a:pathLst>
                <a:path w="419100" h="314325">
                  <a:moveTo>
                    <a:pt x="0" y="314325"/>
                  </a:moveTo>
                  <a:lnTo>
                    <a:pt x="209550" y="31432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545455" y="2937510"/>
              <a:ext cx="419100" cy="314325"/>
            </a:xfrm>
            <a:custGeom>
              <a:avLst/>
              <a:gdLst/>
              <a:ahLst/>
              <a:cxnLst/>
              <a:rect l="l" t="t" r="r" b="b"/>
              <a:pathLst>
                <a:path w="419100" h="314325">
                  <a:moveTo>
                    <a:pt x="0" y="0"/>
                  </a:moveTo>
                  <a:lnTo>
                    <a:pt x="209550" y="0"/>
                  </a:lnTo>
                  <a:lnTo>
                    <a:pt x="209550" y="314325"/>
                  </a:lnTo>
                  <a:lnTo>
                    <a:pt x="419100" y="31432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915602" y="1995488"/>
              <a:ext cx="419100" cy="470535"/>
            </a:xfrm>
            <a:custGeom>
              <a:avLst/>
              <a:gdLst/>
              <a:ahLst/>
              <a:cxnLst/>
              <a:rect l="l" t="t" r="r" b="b"/>
              <a:pathLst>
                <a:path w="419100" h="470535">
                  <a:moveTo>
                    <a:pt x="0" y="470535"/>
                  </a:moveTo>
                  <a:lnTo>
                    <a:pt x="209550" y="47053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915602" y="2466022"/>
              <a:ext cx="419100" cy="471488"/>
            </a:xfrm>
            <a:custGeom>
              <a:avLst/>
              <a:gdLst/>
              <a:ahLst/>
              <a:cxnLst/>
              <a:rect l="l" t="t" r="r" b="b"/>
              <a:pathLst>
                <a:path w="419100" h="471488">
                  <a:moveTo>
                    <a:pt x="0" y="0"/>
                  </a:moveTo>
                  <a:lnTo>
                    <a:pt x="209550" y="0"/>
                  </a:lnTo>
                  <a:lnTo>
                    <a:pt x="209550" y="471488"/>
                  </a:lnTo>
                  <a:lnTo>
                    <a:pt x="419100" y="47148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964555" y="1507808"/>
              <a:ext cx="2495550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964555" y="1822132"/>
              <a:ext cx="2495550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964555" y="2135505"/>
              <a:ext cx="2495550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334702" y="1822132"/>
              <a:ext cx="2210752" cy="346710"/>
            </a:xfrm>
            <a:prstGeom prst="roundRect">
              <a:avLst>
                <a:gd name="adj" fmla="val 27473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964555" y="2449830"/>
              <a:ext cx="2495550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8879205" y="2764155"/>
              <a:ext cx="2779395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8879205" y="3078480"/>
              <a:ext cx="2779395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8879205" y="3392805"/>
              <a:ext cx="2779395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964555" y="3078480"/>
              <a:ext cx="2495550" cy="346710"/>
            </a:xfrm>
            <a:prstGeom prst="roundRect">
              <a:avLst>
                <a:gd name="adj" fmla="val 27473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3334702" y="2764155"/>
              <a:ext cx="2210752" cy="346710"/>
            </a:xfrm>
            <a:prstGeom prst="roundRect">
              <a:avLst>
                <a:gd name="adj" fmla="val 27473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2292668"/>
              <a:ext cx="2382202" cy="346710"/>
            </a:xfrm>
            <a:prstGeom prst="roundRect">
              <a:avLst>
                <a:gd name="adj" fmla="val 2747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054090" y="16025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命中时间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54090" y="19169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不命中率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54090" y="223027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不命中开销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424238" y="19169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平均访存时间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054090" y="2544604"/>
              <a:ext cx="10759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执行周期数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968740" y="285892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访存次数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968740" y="31732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不命中率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968740" y="348757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不命中开销（周期数）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054090" y="317325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存储器停顿周期数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424238" y="2858929"/>
              <a:ext cx="6391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CPU 时间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2935" y="2387441"/>
              <a:ext cx="11028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Cache 性能评价</a:t>
              </a:r>
            </a:p>
          </p:txBody>
        </p:sp>
      </p:grpSp>
      <p:grpSp>
        <p:nvGrpSpPr>
          <p:cNvPr id="57" name="c1-table-2"/>
          <p:cNvGrpSpPr/>
          <p:nvPr/>
        </p:nvGrpSpPr>
        <p:grpSpPr>
          <a:xfrm>
            <a:off x="533400" y="3908108"/>
            <a:ext cx="11125200" cy="1720215"/>
            <a:chOff x="533400" y="3908108"/>
            <a:chExt cx="11125200" cy="1720215"/>
          </a:xfrm>
        </p:grpSpPr>
        <p:sp>
          <p:nvSpPr>
            <p:cNvPr id="40" name="Rectangle 40"/>
            <p:cNvSpPr/>
            <p:nvPr/>
          </p:nvSpPr>
          <p:spPr>
            <a:xfrm>
              <a:off x="533400" y="3908108"/>
              <a:ext cx="11125200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316736" y="403955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改进方向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040880" y="403955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技术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42925" y="4348162"/>
              <a:ext cx="2205990" cy="411480"/>
            </a:xfrm>
            <a:prstGeom prst="rect">
              <a:avLst/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8746" y="4470082"/>
              <a:ext cx="16102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降低不命中率（8 种）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863787" y="4470082"/>
              <a:ext cx="85024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增加块大小、增加 Cache 容量、提高相联度、伪相联 Cache、硬件预取、编译器控制的预取、编译器优化、牺牲 Cache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476345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33400" y="4768215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42925" y="4777740"/>
              <a:ext cx="2205990" cy="411480"/>
            </a:xfrm>
            <a:prstGeom prst="rect">
              <a:avLst/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8746" y="4899660"/>
              <a:ext cx="17718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减少不命中开销（5 种）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863787" y="4899660"/>
              <a:ext cx="58550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两级 Cache、让读不命中优先于写、写缓冲合并、请求字处理技术、非阻塞 Cache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519398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42925" y="5208270"/>
              <a:ext cx="2205990" cy="411480"/>
            </a:xfrm>
            <a:prstGeom prst="rect">
              <a:avLst/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38746" y="5330190"/>
              <a:ext cx="16102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减少命中时间（4 种）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863787" y="5330190"/>
              <a:ext cx="5397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小容量且结构简单的 Cache、虚拟 Cache、Cache 访问流水化、踪迹 Cache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3400" y="3908108"/>
              <a:ext cx="11125200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2753678" y="3908108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4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8" name="Rectangle 58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0511" y="6004084"/>
              <a:ext cx="65139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学每一种技术时问两个问题：它改进的是公式里的哪一项？它让哪一项变差？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20" name="section-title"/>
          <p:cNvGrpSpPr/>
          <p:nvPr/>
        </p:nvGrpSpPr>
        <p:grpSpPr>
          <a:xfrm>
            <a:off x="667512" y="1835468"/>
            <a:ext cx="4280325" cy="3706177"/>
            <a:chOff x="667512" y="1835468"/>
            <a:chExt cx="4280325" cy="370617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降低不命中率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704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先把不命中分成三类，再对症选择 8 种方法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3235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3C 不命中模型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增加块大小、容量与相联度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9109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伪相联 Cache 与例题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硬件预取、编译器预取与例题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23900" y="530542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5248275"/>
              <a:ext cx="22535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编译器优化与牺牲 Cache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1" name="TextBox 21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97022" cy="909257"/>
            <a:chOff x="520446" y="342900"/>
            <a:chExt cx="799702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841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741" y="407194"/>
              <a:ext cx="2573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03 缓存优化 · 降低不命中率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9702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三种不命中（3C）：第一次访问、装不下、撞了位置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33400" y="1524000"/>
            <a:ext cx="6276022" cy="2928938"/>
            <a:chOff x="533400" y="1524000"/>
            <a:chExt cx="6276022" cy="29289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7660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414128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何时发生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0293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别名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98831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强制性不命中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Compulsory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miss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84260" y="2221706"/>
              <a:ext cx="315849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第一次访问一个块时，该块不在 Cache 中，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必须从下一级存储器调入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61851" y="2108359"/>
              <a:ext cx="82575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冷启动不命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中、首次访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问不命中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86988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874645"/>
              <a:ext cx="627602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3010376"/>
              <a:ext cx="1139495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容量不命中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Capacity miss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84260" y="3010376"/>
              <a:ext cx="310972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程序执行所需的块不能全部调入 Cache，某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些块被替换后又被重新访问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61851" y="312372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54615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799046"/>
              <a:ext cx="1096823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冲突不命中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Conflict miss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84260" y="3685699"/>
              <a:ext cx="3158490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组相联或直接映像 Cache 中，太多块映像到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同一组（块），某块被替换后又被访问，即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使别的组或块还有空位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661851" y="3685699"/>
              <a:ext cx="82575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碰撞不命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中、干扰不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命中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6276022" cy="292893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971675" y="1524000"/>
              <a:ext cx="9525" cy="29289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549265" y="1524000"/>
              <a:ext cx="9525" cy="29289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3" name="c1-callout-2"/>
          <p:cNvGrpSpPr/>
          <p:nvPr/>
        </p:nvGrpSpPr>
        <p:grpSpPr>
          <a:xfrm>
            <a:off x="533400" y="4643438"/>
            <a:ext cx="6276022" cy="1059180"/>
            <a:chOff x="533400" y="4643438"/>
            <a:chExt cx="6276022" cy="1059180"/>
          </a:xfrm>
        </p:grpSpPr>
        <p:sp>
          <p:nvSpPr>
            <p:cNvPr id="27" name="Rectangle 27"/>
            <p:cNvSpPr/>
            <p:nvPr/>
          </p:nvSpPr>
          <p:spPr>
            <a:xfrm>
              <a:off x="533400" y="4643438"/>
              <a:ext cx="6276022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5073015"/>
              <a:ext cx="200026" cy="200025"/>
              <a:chOff x="738188" y="5073015"/>
              <a:chExt cx="200026" cy="200025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507301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77926" y="511746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12642" y="522859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130" y="4792028"/>
              <a:ext cx="53587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分类方法：Cache 无限大时仍会发生的是强制性不命中；换成同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容量的全相联 Cache 后消失的是冲突不命中；剩下的是容量不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命中。</a:t>
              </a:r>
            </a:p>
          </p:txBody>
        </p:sp>
      </p:grpSp>
      <p:grpSp>
        <p:nvGrpSpPr>
          <p:cNvPr id="36" name="c2-image-1"/>
          <p:cNvGrpSpPr/>
          <p:nvPr/>
        </p:nvGrpSpPr>
        <p:grpSpPr>
          <a:xfrm>
            <a:off x="7114222" y="1524000"/>
            <a:ext cx="4544378" cy="4863942"/>
            <a:chOff x="7114222" y="1524000"/>
            <a:chExt cx="4544378" cy="4863942"/>
          </a:xfrm>
        </p:grpSpPr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2"/>
            <a:srcRect l="10885" t="0" r="10885" b="0"/>
            <a:stretch>
              <a:fillRect/>
            </a:stretch>
          </p:blipFill>
          <p:spPr>
            <a:xfrm>
              <a:off x="7114222" y="1524000"/>
              <a:ext cx="4544378" cy="4356735"/>
            </a:xfrm>
            <a:prstGeom prst="roundRect">
              <a:avLst>
                <a:gd name="adj" fmla="val 3060"/>
              </a:avLst>
            </a:prstGeom>
          </p:spPr>
        </p:pic>
        <p:sp>
          <p:nvSpPr>
            <p:cNvPr id="35" name="TextBox 35"/>
            <p:cNvSpPr txBox="1"/>
            <p:nvPr/>
          </p:nvSpPr>
          <p:spPr>
            <a:xfrm>
              <a:off x="7243064" y="5975509"/>
              <a:ext cx="4285742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书桌是 Cache：第一次取书是强制性，桌子太小是容量，书只能放固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定格是冲突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841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741" y="407194"/>
              <a:ext cx="2573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03 缓存优化 · 降低不命中率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相联度只影响冲突不命中，容量只影响容量不命中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card-1"/>
          <p:cNvGrpSpPr/>
          <p:nvPr/>
        </p:nvGrpSpPr>
        <p:grpSpPr>
          <a:xfrm>
            <a:off x="533400" y="1524000"/>
            <a:ext cx="5410200" cy="1986915"/>
            <a:chOff x="533400" y="1524000"/>
            <a:chExt cx="5410200" cy="19869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86915"/>
            </a:xfrm>
            <a:prstGeom prst="roundRect">
              <a:avLst>
                <a:gd name="adj" fmla="val 67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2021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655" y="176926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原课件图表的结论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1050" y="209740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2899" y="21396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82040" y="211074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相联度越高，冲突不命中就越少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1050" y="243268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2899" y="24749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2040" y="244602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强制性不命中和容量不命中不受相联度的影响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1050" y="276796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2899" y="28102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82040" y="2781300"/>
              <a:ext cx="4463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强制性不命中不受 Cache 容量的影响，容量不命中随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容量的增加而减少</a:t>
              </a:r>
            </a:p>
          </p:txBody>
        </p:sp>
      </p:grpSp>
      <p:grpSp>
        <p:nvGrpSpPr>
          <p:cNvPr id="40" name="c1-table-2"/>
          <p:cNvGrpSpPr/>
          <p:nvPr/>
        </p:nvGrpSpPr>
        <p:grpSpPr>
          <a:xfrm>
            <a:off x="533400" y="3701415"/>
            <a:ext cx="5410200" cy="1346835"/>
            <a:chOff x="533400" y="3701415"/>
            <a:chExt cx="5410200" cy="1346835"/>
          </a:xfrm>
        </p:grpSpPr>
        <p:sp>
          <p:nvSpPr>
            <p:cNvPr id="21" name="Rectangle 21"/>
            <p:cNvSpPr/>
            <p:nvPr/>
          </p:nvSpPr>
          <p:spPr>
            <a:xfrm>
              <a:off x="533400" y="3701415"/>
              <a:ext cx="54102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16254" y="383714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改变的因素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703043" y="383714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强制性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979824" y="383714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容量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169497" y="383714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冲突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1223" y="428577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提高相联度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789199" y="428577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不变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979824" y="428577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不变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169497" y="428577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减少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5939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3400" y="4598670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1223" y="4734401"/>
              <a:ext cx="13151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增大 Cache 容量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789199" y="473440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不变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979824" y="473440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减少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169497" y="473440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减少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3701415"/>
              <a:ext cx="5410200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2367915" y="370141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3558540" y="370141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4748212" y="370141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c2-card-1"/>
          <p:cNvGrpSpPr/>
          <p:nvPr/>
        </p:nvGrpSpPr>
        <p:grpSpPr>
          <a:xfrm>
            <a:off x="6248400" y="1524000"/>
            <a:ext cx="5410200" cy="3524250"/>
            <a:chOff x="6248400" y="1524000"/>
            <a:chExt cx="5410200" cy="3524250"/>
          </a:xfrm>
        </p:grpSpPr>
        <p:sp>
          <p:nvSpPr>
            <p:cNvPr id="41" name="Rectangle 41"/>
            <p:cNvSpPr/>
            <p:nvPr/>
          </p:nvSpPr>
          <p:spPr>
            <a:xfrm>
              <a:off x="6248400" y="1524000"/>
              <a:ext cx="5410200" cy="3524250"/>
            </a:xfrm>
            <a:prstGeom prst="roundRect">
              <a:avLst>
                <a:gd name="adj" fmla="val 37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57925" y="1657350"/>
              <a:ext cx="47625" cy="32575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96050" y="1733550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52756" y="176926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怎样读原课件的两张图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501765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659880" y="2110740"/>
              <a:ext cx="4587240" cy="1436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绝对值图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：横轴是 Cache 容量 1～128 KB，纵轴是不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命中率。最上层是直接映像比 2 路多出的冲突不命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中，往下依次是 2 路比 4 路、4 路比 8 路多出的部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分，再下面是容量不命中，贴着横轴的一条细带是强制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性不命中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501765" y="36518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659880" y="3589020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相对值图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：把各类不命中换算成占总数的比例。容量越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大，强制性不命中所占比例越高（128 KB 时约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20%），因为另外两类都在减少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0" name="Rectangle 50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130" y="5991225"/>
              <a:ext cx="89784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对症下药：强制性不命中靠增加块大小，容量不命中靠增加 Cache 容量，冲突不命中靠提高相联度。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841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741" y="407194"/>
              <a:ext cx="2573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03 缓存优化 · 降低不命中率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降低不命中率的八种方法一览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9" name="c1-table-1"/>
          <p:cNvGrpSpPr/>
          <p:nvPr/>
        </p:nvGrpSpPr>
        <p:grpSpPr>
          <a:xfrm>
            <a:off x="533400" y="1524000"/>
            <a:ext cx="11125200" cy="4266248"/>
            <a:chOff x="533400" y="1524000"/>
            <a:chExt cx="11125200" cy="426624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7857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24950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329674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代价或限制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221706"/>
              <a:ext cx="14457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方法一 增加块大小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089148" y="2221706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针对强制性不命中：块大一点，一次调入更多相邻数据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84046" y="2108359"/>
              <a:ext cx="32641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块数变少，冲突不命中可能增加；不命中开销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增大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431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47950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783681"/>
              <a:ext cx="18864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方法二 增加 Cache 容量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89148" y="278368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针对容量不命中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984046" y="278368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成本增加，命中时间可能增加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9276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232309"/>
              <a:ext cx="14457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方法三 提高相联度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89148" y="323230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针对冲突不命中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984046" y="323230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命中时间增加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54139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546158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3680936"/>
              <a:ext cx="16591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方法四 伪相联 Cache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089148" y="3680936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兼得直接映像的命中时间和组相联的不命中率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84046" y="368093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命中时间分快慢两种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9900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4130516"/>
              <a:ext cx="12734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方法五 硬件预取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089148" y="4130516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在访问之前由硬件把指令块、数据块预先调入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84046" y="4130516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占用存储器带宽，不能妨碍正常不命中的处理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43865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443412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1223" y="4579144"/>
              <a:ext cx="19626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方法六 编译器控制的预取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089148" y="457914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编译时插入预取指令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984046" y="4579144"/>
              <a:ext cx="33014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每条预取指令都有开销，需要非阻塞 Cache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88727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1223" y="5027771"/>
              <a:ext cx="14457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方法七 编译器优化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089148" y="5027771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重排代码和数据、改写循环，改善局部性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984046" y="5027771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硬件不变，对编译器提出新要求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53368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5341620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41223" y="5476399"/>
              <a:ext cx="14868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方法八 牺牲 Cache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089148" y="5476399"/>
              <a:ext cx="30091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用小的全相联 Cache 保存刚被替换的块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984046" y="547639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增加少量硬件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1524000"/>
              <a:ext cx="11125200" cy="42662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2976562" y="1524000"/>
              <a:ext cx="9525" cy="42662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871460" y="1524000"/>
              <a:ext cx="9525" cy="42662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841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741" y="407194"/>
              <a:ext cx="2573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03 缓存优化 · 降低不命中率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方法一：块大小增加，不命中率先降后升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5" name="c1-table-1"/>
          <p:cNvGrpSpPr/>
          <p:nvPr/>
        </p:nvGrpSpPr>
        <p:grpSpPr>
          <a:xfrm>
            <a:off x="527685" y="1524000"/>
            <a:ext cx="5632133" cy="3221832"/>
            <a:chOff x="527685" y="1524000"/>
            <a:chExt cx="5632133" cy="32218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8768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6288" y="166306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块大小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76133" y="1663065"/>
              <a:ext cx="4520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 KB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039428" y="1663065"/>
              <a:ext cx="5753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16 KB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164330" y="1663065"/>
              <a:ext cx="5753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64 KB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238102" y="1663065"/>
              <a:ext cx="6985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256 KB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0755" y="2150745"/>
              <a:ext cx="4520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 B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96713" y="2150745"/>
              <a:ext cx="6109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8.57%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21616" y="2150745"/>
              <a:ext cx="6109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3.94%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146518" y="2150745"/>
              <a:ext cx="6109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2.04%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281898" y="2150745"/>
              <a:ext cx="6109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1.09%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49459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499360"/>
              <a:ext cx="5626418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60755" y="2638425"/>
              <a:ext cx="4520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 B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96713" y="2638425"/>
              <a:ext cx="6109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7.24%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21616" y="2638425"/>
              <a:ext cx="6109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2.87%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146518" y="2638425"/>
              <a:ext cx="6109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1.35%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81898" y="2638425"/>
              <a:ext cx="6109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0.70%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98227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0755" y="3126105"/>
              <a:ext cx="4520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 B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649730" y="2996565"/>
              <a:ext cx="1105852" cy="46863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896713" y="3126105"/>
              <a:ext cx="6109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7.00%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774632" y="2996565"/>
              <a:ext cx="1105852" cy="46863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021616" y="3126105"/>
              <a:ext cx="6109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2.64%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146518" y="3126105"/>
              <a:ext cx="6109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1.06%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281898" y="3126105"/>
              <a:ext cx="6109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0.51%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46995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3474720"/>
              <a:ext cx="5626418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99147" y="3613785"/>
              <a:ext cx="5753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128 B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896713" y="3613785"/>
              <a:ext cx="6109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7.78%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021616" y="3613785"/>
              <a:ext cx="6109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2.77%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899535" y="3484245"/>
              <a:ext cx="1105852" cy="46863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146518" y="3613785"/>
              <a:ext cx="6109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1.02%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024438" y="3484245"/>
              <a:ext cx="1125855" cy="46863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281898" y="3613785"/>
              <a:ext cx="6109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0.49%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395763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99147" y="4101465"/>
              <a:ext cx="5753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256 B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896713" y="4101465"/>
              <a:ext cx="6109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9.51%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021616" y="4101465"/>
              <a:ext cx="6109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3.29%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146518" y="4101465"/>
              <a:ext cx="6109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1.15%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024438" y="3971925"/>
              <a:ext cx="1125855" cy="46863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281898" y="4101465"/>
              <a:ext cx="6109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0.49%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1524000"/>
              <a:ext cx="5626418" cy="29260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1635442" y="1524000"/>
              <a:ext cx="9525" cy="29260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2760345" y="1524000"/>
              <a:ext cx="9525" cy="29260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3885248" y="1524000"/>
              <a:ext cx="9525" cy="29260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010150" y="1524000"/>
              <a:ext cx="9525" cy="29260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27685" y="4525804"/>
              <a:ext cx="48008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不同容量 Cache 的不命中率（原课件曲线的 H&amp;P 数据），绿色为最低值</a:t>
              </a:r>
            </a:p>
          </p:txBody>
        </p:sp>
      </p:grpSp>
      <p:grpSp>
        <p:nvGrpSpPr>
          <p:cNvPr id="62" name="c1-callout-2"/>
          <p:cNvGrpSpPr/>
          <p:nvPr/>
        </p:nvGrpSpPr>
        <p:grpSpPr>
          <a:xfrm>
            <a:off x="533400" y="4892040"/>
            <a:ext cx="5626418" cy="782955"/>
            <a:chOff x="533400" y="4892040"/>
            <a:chExt cx="5626418" cy="782955"/>
          </a:xfrm>
        </p:grpSpPr>
        <p:sp>
          <p:nvSpPr>
            <p:cNvPr id="56" name="Rectangle 56"/>
            <p:cNvSpPr/>
            <p:nvPr/>
          </p:nvSpPr>
          <p:spPr>
            <a:xfrm>
              <a:off x="533400" y="4892040"/>
              <a:ext cx="5626418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38188" y="5183505"/>
              <a:ext cx="200026" cy="200026"/>
              <a:chOff x="738188" y="5183505"/>
              <a:chExt cx="200026" cy="200026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38188" y="518350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38200" y="525018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27088" y="528351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0130" y="5040630"/>
              <a:ext cx="46443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KB 和 16 KB 在 64 B 时最低，64 KB 和 256 KB 在 128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时最低。容量越大，最佳块大小越大，曲线也越平。</a:t>
              </a:r>
            </a:p>
          </p:txBody>
        </p:sp>
      </p:grpSp>
      <p:grpSp>
        <p:nvGrpSpPr>
          <p:cNvPr id="71" name="c2-card-1"/>
          <p:cNvGrpSpPr/>
          <p:nvPr/>
        </p:nvGrpSpPr>
        <p:grpSpPr>
          <a:xfrm>
            <a:off x="6464618" y="1524000"/>
            <a:ext cx="5193982" cy="1937385"/>
            <a:chOff x="6464618" y="1524000"/>
            <a:chExt cx="5193982" cy="1937385"/>
          </a:xfrm>
        </p:grpSpPr>
        <p:sp>
          <p:nvSpPr>
            <p:cNvPr id="63" name="Rectangle 63"/>
            <p:cNvSpPr/>
            <p:nvPr/>
          </p:nvSpPr>
          <p:spPr>
            <a:xfrm>
              <a:off x="6464618" y="1524000"/>
              <a:ext cx="5193982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6474142" y="1657350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712268" y="173355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781775" y="176926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为什么先降后升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6717983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876098" y="211074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下降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：块大，一次调入更多相邻数据，利用空间局部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性，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减少强制性不命中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6717983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876098" y="2731770"/>
              <a:ext cx="40252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上升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：容量固定时块越大，Cache 中块的数目越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少，更多块争抢同一位置，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冲突不命中增加</a:t>
              </a:r>
            </a:p>
          </p:txBody>
        </p:sp>
      </p:grpSp>
      <p:grpSp>
        <p:nvGrpSpPr>
          <p:cNvPr id="77" name="c2-card-2"/>
          <p:cNvGrpSpPr/>
          <p:nvPr/>
        </p:nvGrpSpPr>
        <p:grpSpPr>
          <a:xfrm>
            <a:off x="6464618" y="3651885"/>
            <a:ext cx="5193982" cy="2023110"/>
            <a:chOff x="6464618" y="3651885"/>
            <a:chExt cx="5193982" cy="2023110"/>
          </a:xfrm>
        </p:grpSpPr>
        <p:sp>
          <p:nvSpPr>
            <p:cNvPr id="72" name="Rectangle 72"/>
            <p:cNvSpPr/>
            <p:nvPr/>
          </p:nvSpPr>
          <p:spPr>
            <a:xfrm>
              <a:off x="6464618" y="3651885"/>
              <a:ext cx="5193982" cy="2023110"/>
            </a:xfrm>
            <a:prstGeom prst="roundRect">
              <a:avLst>
                <a:gd name="adj" fmla="val 65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6474142" y="3785235"/>
              <a:ext cx="47625" cy="175641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6712268" y="386143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781775" y="389715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另一个不良后果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704648" y="4238625"/>
              <a:ext cx="4396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块越大，每次不命中要调入的数据越多，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不命中开销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增大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。所以选块大小要让平均访存时间最小，只看不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命中率不够。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841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741" y="407194"/>
              <a:ext cx="2573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03 缓存优化 · 降低不命中率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方法二、三：增加容量与提高相联度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1720215"/>
            <a:chOff x="533400" y="1524000"/>
            <a:chExt cx="5410200" cy="17202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720215"/>
            </a:xfrm>
            <a:prstGeom prst="roundRect">
              <a:avLst>
                <a:gd name="adj" fmla="val 77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5351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308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方法二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24000" y="1768792"/>
              <a:ext cx="17432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 Cache 的容量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最直接的方法，主要减少容量不命中。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5279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46507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缺点：增加成本；可能增加命中时间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286321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2800350"/>
              <a:ext cx="33244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这种方法在片外 Cache 中用得比较多</a:t>
              </a:r>
            </a:p>
          </p:txBody>
        </p:sp>
      </p:grpSp>
      <p:grpSp>
        <p:nvGrpSpPr>
          <p:cNvPr id="28" name="c1-card-2"/>
          <p:cNvGrpSpPr/>
          <p:nvPr/>
        </p:nvGrpSpPr>
        <p:grpSpPr>
          <a:xfrm>
            <a:off x="533400" y="3434715"/>
            <a:ext cx="5410200" cy="2171700"/>
            <a:chOff x="533400" y="3434715"/>
            <a:chExt cx="5410200" cy="2171700"/>
          </a:xfrm>
        </p:grpSpPr>
        <p:sp>
          <p:nvSpPr>
            <p:cNvPr id="18" name="Rectangle 18"/>
            <p:cNvSpPr/>
            <p:nvPr/>
          </p:nvSpPr>
          <p:spPr>
            <a:xfrm>
              <a:off x="533400" y="3434715"/>
              <a:ext cx="5410200" cy="2171700"/>
            </a:xfrm>
            <a:prstGeom prst="roundRect">
              <a:avLst>
                <a:gd name="adj" fmla="val 614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3568065"/>
              <a:ext cx="47625" cy="190500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81050" y="364426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7308" y="367998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方法三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24000" y="367950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提高相联度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3430" y="404050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主要减少冲突不命中。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86765" y="443865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44880" y="4375785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代价：命中时间增加（要比较的标记更多，多路选择器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更大）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86765" y="505968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44880" y="4996815"/>
              <a:ext cx="36802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采用相联度超过 8 的方案，实际意义不大</a:t>
              </a:r>
            </a:p>
          </p:txBody>
        </p:sp>
      </p:grpSp>
      <p:grpSp>
        <p:nvGrpSpPr>
          <p:cNvPr id="33" name="c2-card-1"/>
          <p:cNvGrpSpPr/>
          <p:nvPr/>
        </p:nvGrpSpPr>
        <p:grpSpPr>
          <a:xfrm>
            <a:off x="6248400" y="1524000"/>
            <a:ext cx="5410200" cy="1316355"/>
            <a:chOff x="6248400" y="1524000"/>
            <a:chExt cx="5410200" cy="1316355"/>
          </a:xfrm>
        </p:grpSpPr>
        <p:sp>
          <p:nvSpPr>
            <p:cNvPr id="29" name="Rectangle 29"/>
            <p:cNvSpPr/>
            <p:nvPr/>
          </p:nvSpPr>
          <p:spPr>
            <a:xfrm>
              <a:off x="6248400" y="1524000"/>
              <a:ext cx="5410200" cy="1316355"/>
            </a:xfrm>
            <a:prstGeom prst="roundRect">
              <a:avLst>
                <a:gd name="adj" fmla="val 1013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57950" y="1733550"/>
              <a:ext cx="1524952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13375" y="1769269"/>
              <a:ext cx="14150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2:1 Cache 经验规则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50330" y="2110740"/>
              <a:ext cx="4615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容量为 N 的直接映像 Cache，其不命中率与容量为 N/2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的两路组相联 Cache 差不多相同。</a:t>
              </a:r>
            </a:p>
          </p:txBody>
        </p:sp>
      </p:grpSp>
      <p:grpSp>
        <p:nvGrpSpPr>
          <p:cNvPr id="39" name="c2-card-2"/>
          <p:cNvGrpSpPr/>
          <p:nvPr/>
        </p:nvGrpSpPr>
        <p:grpSpPr>
          <a:xfrm>
            <a:off x="6248400" y="3030855"/>
            <a:ext cx="5410200" cy="1602105"/>
            <a:chOff x="6248400" y="3030855"/>
            <a:chExt cx="5410200" cy="1602105"/>
          </a:xfrm>
        </p:grpSpPr>
        <p:sp>
          <p:nvSpPr>
            <p:cNvPr id="34" name="Rectangle 34"/>
            <p:cNvSpPr/>
            <p:nvPr/>
          </p:nvSpPr>
          <p:spPr>
            <a:xfrm>
              <a:off x="6248400" y="3030855"/>
              <a:ext cx="541020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57925" y="316420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96050" y="3240405"/>
              <a:ext cx="76295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78843" y="3276124"/>
              <a:ext cx="598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回顾例 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88430" y="3617595"/>
              <a:ext cx="47205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两路组相联把不命中率从 1.4% 降到 1.0%，平均访存时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间少了 0.08 ns；但时钟周期变为 1.10 倍，CPU 时间反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而多了约 1%。</a:t>
              </a:r>
            </a:p>
          </p:txBody>
        </p:sp>
      </p:grpSp>
      <p:grpSp>
        <p:nvGrpSpPr>
          <p:cNvPr id="46" name="c2-callout-3"/>
          <p:cNvGrpSpPr/>
          <p:nvPr/>
        </p:nvGrpSpPr>
        <p:grpSpPr>
          <a:xfrm>
            <a:off x="6248400" y="4823460"/>
            <a:ext cx="5410200" cy="782955"/>
            <a:chOff x="6248400" y="4823460"/>
            <a:chExt cx="5410200" cy="782955"/>
          </a:xfrm>
        </p:grpSpPr>
        <p:sp>
          <p:nvSpPr>
            <p:cNvPr id="40" name="Rectangle 40"/>
            <p:cNvSpPr/>
            <p:nvPr/>
          </p:nvSpPr>
          <p:spPr>
            <a:xfrm>
              <a:off x="6248400" y="4823460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441129" y="5111233"/>
              <a:ext cx="224134" cy="192560"/>
              <a:chOff x="6441129" y="5111233"/>
              <a:chExt cx="224134" cy="19256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6553200" y="518160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441129" y="511123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553200" y="52593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6755130" y="4972050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提高相联度以增加命中时间为代价。容量和相联度都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要结合命中时间、成本一起权衡。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033174" cy="909257"/>
            <a:chOff x="520446" y="342900"/>
            <a:chExt cx="903317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841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741" y="407194"/>
              <a:ext cx="2573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03 缓存优化 · 降低不命中率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03317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方法四：伪相联 Cache，先按直接映像查，不中再查另一半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table-1"/>
          <p:cNvGrpSpPr/>
          <p:nvPr/>
        </p:nvGrpSpPr>
        <p:grpSpPr>
          <a:xfrm>
            <a:off x="527685" y="1524000"/>
            <a:ext cx="5632133" cy="1642587"/>
            <a:chOff x="527685" y="1524000"/>
            <a:chExt cx="5632133" cy="1642587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3852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08637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优点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01614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直接映像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827909" y="210835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命中时间小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57674" y="210835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不命中率高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164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21255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55698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组相联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827909" y="255698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不命中率低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57674" y="255698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命中时间大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1524000"/>
              <a:ext cx="5626418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295525" y="15240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225290" y="15240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7685" y="2946559"/>
              <a:ext cx="54647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伪相联 Cache（又称列相联 Cache）想兼得两者的优点：命中时间小、不命中率低</a:t>
              </a:r>
            </a:p>
          </p:txBody>
        </p:sp>
      </p:grpSp>
      <p:grpSp>
        <p:nvGrpSpPr>
          <p:cNvPr id="41" name="c1-steps-2"/>
          <p:cNvGrpSpPr/>
          <p:nvPr/>
        </p:nvGrpSpPr>
        <p:grpSpPr>
          <a:xfrm>
            <a:off x="533400" y="3322320"/>
            <a:ext cx="5594985" cy="2529173"/>
            <a:chOff x="533400" y="3322320"/>
            <a:chExt cx="5594985" cy="2529173"/>
          </a:xfrm>
        </p:grpSpPr>
        <p:sp>
          <p:nvSpPr>
            <p:cNvPr id="24" name="Rectangle 24"/>
            <p:cNvSpPr/>
            <p:nvPr/>
          </p:nvSpPr>
          <p:spPr>
            <a:xfrm>
              <a:off x="666750" y="3465195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533400" y="332232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27024" y="33961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533400" y="397287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27024" y="40466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533400" y="462343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27024" y="46972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533400" y="527399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27024" y="53478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4880" y="335661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逻辑分区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46023" y="3649504"/>
              <a:ext cx="40430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在逻辑上把直接映像 Cache 的空间上下平分为两个区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44880" y="4007168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先按直接映像查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46023" y="4300061"/>
              <a:ext cx="45599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若命中，访问过程与直接映像 Cache 完全一样（快速命中）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44880" y="46577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再查另一区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46023" y="4951571"/>
              <a:ext cx="51823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不命中时到另一区的相应位置查找，找到了称为伪命中（慢速命中）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44880" y="530828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都没找到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46023" y="560212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只好访问下一级存储器</a:t>
              </a:r>
            </a:p>
          </p:txBody>
        </p:sp>
      </p:grpSp>
      <p:grpSp>
        <p:nvGrpSpPr>
          <p:cNvPr id="76" name="c2-flow-1"/>
          <p:cNvGrpSpPr/>
          <p:nvPr/>
        </p:nvGrpSpPr>
        <p:grpSpPr>
          <a:xfrm>
            <a:off x="6646545" y="1788795"/>
            <a:ext cx="4830127" cy="4309110"/>
            <a:chOff x="6646545" y="1788795"/>
            <a:chExt cx="4830127" cy="4309110"/>
          </a:xfrm>
        </p:grpSpPr>
        <p:sp>
          <p:nvSpPr>
            <p:cNvPr id="42" name="Freeform 42"/>
            <p:cNvSpPr/>
            <p:nvPr/>
          </p:nvSpPr>
          <p:spPr>
            <a:xfrm>
              <a:off x="7762875" y="2226945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7710488" y="256984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8880158" y="2975610"/>
              <a:ext cx="258128" cy="9525"/>
            </a:xfrm>
            <a:custGeom>
              <a:avLst/>
              <a:gdLst/>
              <a:ahLst/>
              <a:cxnLst/>
              <a:rect l="l" t="t" r="r" b="b"/>
              <a:pathLst>
                <a:path w="258128" h="9525">
                  <a:moveTo>
                    <a:pt x="0" y="0"/>
                  </a:moveTo>
                  <a:lnTo>
                    <a:pt x="25812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9138285" y="292322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7762875" y="327660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7710488" y="36195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7762875" y="4162425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7710488" y="45053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8880158" y="4911090"/>
              <a:ext cx="258128" cy="9525"/>
            </a:xfrm>
            <a:custGeom>
              <a:avLst/>
              <a:gdLst/>
              <a:ahLst/>
              <a:cxnLst/>
              <a:rect l="l" t="t" r="r" b="b"/>
              <a:pathLst>
                <a:path w="258128" h="9525">
                  <a:moveTo>
                    <a:pt x="0" y="0"/>
                  </a:moveTo>
                  <a:lnTo>
                    <a:pt x="25812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9138285" y="485870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7762875" y="521208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7710488" y="555498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646545" y="1788795"/>
              <a:ext cx="2233612" cy="43815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6646545" y="2674620"/>
              <a:ext cx="2233612" cy="601980"/>
            </a:xfrm>
            <a:custGeom>
              <a:avLst/>
              <a:gdLst/>
              <a:ahLst/>
              <a:cxnLst/>
              <a:rect l="l" t="t" r="r" b="b"/>
              <a:pathLst>
                <a:path w="2233612" h="601980">
                  <a:moveTo>
                    <a:pt x="1116330" y="0"/>
                  </a:moveTo>
                  <a:lnTo>
                    <a:pt x="2233612" y="300990"/>
                  </a:lnTo>
                  <a:lnTo>
                    <a:pt x="1116330" y="601980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9243060" y="2756535"/>
              <a:ext cx="2233612" cy="438150"/>
            </a:xfrm>
            <a:prstGeom prst="roundRect">
              <a:avLst>
                <a:gd name="adj" fmla="val 21739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646545" y="3724275"/>
              <a:ext cx="223361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6646545" y="4610100"/>
              <a:ext cx="2233612" cy="601980"/>
            </a:xfrm>
            <a:custGeom>
              <a:avLst/>
              <a:gdLst/>
              <a:ahLst/>
              <a:cxnLst/>
              <a:rect l="l" t="t" r="r" b="b"/>
              <a:pathLst>
                <a:path w="2233612" h="601980">
                  <a:moveTo>
                    <a:pt x="1116330" y="0"/>
                  </a:moveTo>
                  <a:lnTo>
                    <a:pt x="2233612" y="300990"/>
                  </a:lnTo>
                  <a:lnTo>
                    <a:pt x="1116330" y="601980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9243060" y="4692015"/>
              <a:ext cx="2233612" cy="438150"/>
            </a:xfrm>
            <a:prstGeom prst="roundRect">
              <a:avLst>
                <a:gd name="adj" fmla="val 21739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646545" y="5659755"/>
              <a:ext cx="2233612" cy="43815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067144" y="191881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按索引查本区的块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497928" y="288655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命中？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009238" y="288655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快速命中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980987" y="385429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查另一区的相应位置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497928" y="48220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命中？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836925" y="482203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伪命中（慢）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067144" y="578977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访问下一级存储器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8947785" y="2759392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986076" y="278606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7791450" y="3408045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814691" y="343471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8947785" y="4694872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8986076" y="472154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7791450" y="5343525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814691" y="537019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841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741" y="407194"/>
              <a:ext cx="2573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03 缓存优化 · 降低不命中率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伪相联的代价：命中时间分快慢两种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cells-1"/>
          <p:cNvGrpSpPr/>
          <p:nvPr/>
        </p:nvGrpSpPr>
        <p:grpSpPr>
          <a:xfrm>
            <a:off x="527304" y="1524000"/>
            <a:ext cx="1930146" cy="1333500"/>
            <a:chOff x="527304" y="1524000"/>
            <a:chExt cx="1930146" cy="1333500"/>
          </a:xfrm>
        </p:grpSpPr>
        <p:sp>
          <p:nvSpPr>
            <p:cNvPr id="7" name="TextBox 7"/>
            <p:cNvSpPr txBox="1"/>
            <p:nvPr/>
          </p:nvSpPr>
          <p:spPr>
            <a:xfrm>
              <a:off x="527304" y="164020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快速命中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276350" y="1524000"/>
              <a:ext cx="590550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518883" y="16402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7304" y="211645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伪命中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276350" y="2000250"/>
              <a:ext cx="590550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518883" y="21164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866900" y="2000250"/>
              <a:ext cx="59055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062787" y="211645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27304" y="259270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失效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276350" y="2476500"/>
              <a:ext cx="590550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518883" y="25927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866900" y="2476500"/>
              <a:ext cx="590550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016142" y="259270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+50</a:t>
              </a:r>
            </a:p>
          </p:txBody>
        </p:sp>
      </p:grpSp>
      <p:grpSp>
        <p:nvGrpSpPr>
          <p:cNvPr id="36" name="c1-table-2"/>
          <p:cNvGrpSpPr/>
          <p:nvPr/>
        </p:nvGrpSpPr>
        <p:grpSpPr>
          <a:xfrm>
            <a:off x="527685" y="3048000"/>
            <a:ext cx="4766310" cy="2091214"/>
            <a:chOff x="527685" y="3048000"/>
            <a:chExt cx="4766310" cy="2091214"/>
          </a:xfrm>
        </p:grpSpPr>
        <p:sp>
          <p:nvSpPr>
            <p:cNvPr id="21" name="Rectangle 21"/>
            <p:cNvSpPr/>
            <p:nvPr/>
          </p:nvSpPr>
          <p:spPr>
            <a:xfrm>
              <a:off x="533400" y="3048000"/>
              <a:ext cx="476059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74166" y="3183731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情况（按右边例题的参数）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685248" y="318373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花费的时钟周期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1223" y="363235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快速命中：本区命中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240959" y="3632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94049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3945255"/>
              <a:ext cx="476059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1223" y="408098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伪命中：另一区命中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948026" y="4080986"/>
              <a:ext cx="6935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+ 2 = 3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39007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1223" y="452961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失效：访问下一级存储器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853254" y="4529614"/>
              <a:ext cx="8831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+ 50 = 51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048000"/>
              <a:ext cx="4760595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3289935" y="3048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7685" y="4919186"/>
              <a:ext cx="47457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与第 21 页的公式口径一致：失效只计命中时间和 50 个周期的失效开销</a:t>
              </a:r>
            </a:p>
          </p:txBody>
        </p:sp>
      </p:grpSp>
      <p:grpSp>
        <p:nvGrpSpPr>
          <p:cNvPr id="43" name="c1-callout-3"/>
          <p:cNvGrpSpPr/>
          <p:nvPr/>
        </p:nvGrpSpPr>
        <p:grpSpPr>
          <a:xfrm>
            <a:off x="533400" y="5285422"/>
            <a:ext cx="4760595" cy="1059180"/>
            <a:chOff x="533400" y="5285422"/>
            <a:chExt cx="4760595" cy="1059180"/>
          </a:xfrm>
        </p:grpSpPr>
        <p:sp>
          <p:nvSpPr>
            <p:cNvPr id="37" name="Rectangle 37"/>
            <p:cNvSpPr/>
            <p:nvPr/>
          </p:nvSpPr>
          <p:spPr>
            <a:xfrm>
              <a:off x="533400" y="5285422"/>
              <a:ext cx="4760595" cy="1059180"/>
            </a:xfrm>
            <a:prstGeom prst="roundRect">
              <a:avLst>
                <a:gd name="adj" fmla="val 1079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26129" y="5711308"/>
              <a:ext cx="224134" cy="192560"/>
              <a:chOff x="726129" y="5711308"/>
              <a:chExt cx="224134" cy="19256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838200" y="578167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26129" y="571130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38200" y="58594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130" y="5434012"/>
              <a:ext cx="3825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缺点是有多种命中时间。要保证绝大多数命中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都是快速命中，否则慢速命中会把平均访存时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间拖长。</a:t>
              </a:r>
            </a:p>
          </p:txBody>
        </p:sp>
      </p:grpSp>
      <p:grpSp>
        <p:nvGrpSpPr>
          <p:cNvPr id="49" name="c2-card-1"/>
          <p:cNvGrpSpPr/>
          <p:nvPr/>
        </p:nvGrpSpPr>
        <p:grpSpPr>
          <a:xfrm>
            <a:off x="5598795" y="1524000"/>
            <a:ext cx="6059805" cy="1887855"/>
            <a:chOff x="5598795" y="1524000"/>
            <a:chExt cx="6059805" cy="1887855"/>
          </a:xfrm>
        </p:grpSpPr>
        <p:sp>
          <p:nvSpPr>
            <p:cNvPr id="44" name="Rectangle 44"/>
            <p:cNvSpPr/>
            <p:nvPr/>
          </p:nvSpPr>
          <p:spPr>
            <a:xfrm>
              <a:off x="5598795" y="1524000"/>
              <a:ext cx="6059805" cy="1887855"/>
            </a:xfrm>
            <a:prstGeom prst="roundRect">
              <a:avLst>
                <a:gd name="adj" fmla="val 70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5608320" y="1657350"/>
              <a:ext cx="47625" cy="16211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846445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937606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例题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838825" y="2110740"/>
              <a:ext cx="535876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假设在按直接映像找到的位置处没有发现匹配、而在另一个位置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才找到数据（伪命中）需要 2 个额外的周期。当 Cache 容量分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别为 2 KB 和 128 KB 时，直接映像、2 路组相联和伪相联这三种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组织结构中，哪一种速度最快？</a:t>
              </a:r>
            </a:p>
          </p:txBody>
        </p:sp>
      </p:grpSp>
      <p:grpSp>
        <p:nvGrpSpPr>
          <p:cNvPr id="70" name="c2-table-2"/>
          <p:cNvGrpSpPr/>
          <p:nvPr/>
        </p:nvGrpSpPr>
        <p:grpSpPr>
          <a:xfrm>
            <a:off x="5593080" y="3602355"/>
            <a:ext cx="6065520" cy="1842611"/>
            <a:chOff x="5593080" y="3602355"/>
            <a:chExt cx="6065520" cy="1842611"/>
          </a:xfrm>
        </p:grpSpPr>
        <p:sp>
          <p:nvSpPr>
            <p:cNvPr id="50" name="Rectangle 50"/>
            <p:cNvSpPr/>
            <p:nvPr/>
          </p:nvSpPr>
          <p:spPr>
            <a:xfrm>
              <a:off x="5598795" y="3602355"/>
              <a:ext cx="605980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925824" y="3738086"/>
              <a:ext cx="9156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Cache 容量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500611" y="3738086"/>
              <a:ext cx="855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 路失效率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019848" y="3738086"/>
              <a:ext cx="855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 路失效率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581691" y="37380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失效开销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190787" y="4186714"/>
              <a:ext cx="3857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KB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685202" y="4186714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0.098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204439" y="4186714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0.076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547228" y="4186714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 个周期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598795" y="449484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5598795" y="4499610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085643" y="4635341"/>
              <a:ext cx="5960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128 KB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685202" y="463534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0.010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204439" y="463534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0.007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547228" y="4635341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 个周期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598795" y="3602355"/>
              <a:ext cx="6059805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7164705" y="360235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8683942" y="360235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10203180" y="360235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593080" y="5024914"/>
              <a:ext cx="557301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原课件给出的平均访存时间：2 KB 时 1 路 5.90、2 路 4.90；128 KB 时 1 路 1.50、2 路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1.45（单位：周期）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841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741" y="407194"/>
              <a:ext cx="2573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03 缓存优化 · 降低不命中率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推导伪相联的平均访存时间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6017153" cy="2763489"/>
            <a:chOff x="533400" y="1533525"/>
            <a:chExt cx="6017153" cy="2763489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3464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48615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1567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标准公式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1861661"/>
              <a:ext cx="56045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平均访存时间伪相联 = 命中时间伪相联 + 失效率伪相联 × 失效开销伪相联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218372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失效率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512219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两个位置都查不到才算失效，所以 失效率伪相联 = 失效率2路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28689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命中时间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162776"/>
              <a:ext cx="3553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命中时间伪相联 = 命中时间1路 + 伪命中率 × 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52044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伪命中率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813334"/>
              <a:ext cx="527989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伪命中率 = 命中率2路 − 命中率1路 = (1 − 失效率2路) − (1 − 失效率1路)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失效率1路 − 失效率2路</a:t>
              </a:r>
            </a:p>
          </p:txBody>
        </p:sp>
      </p:grpSp>
      <p:grpSp>
        <p:nvGrpSpPr>
          <p:cNvPr id="31" name="c1-callout-2"/>
          <p:cNvGrpSpPr/>
          <p:nvPr/>
        </p:nvGrpSpPr>
        <p:grpSpPr>
          <a:xfrm>
            <a:off x="533400" y="4475798"/>
            <a:ext cx="6059805" cy="1059180"/>
            <a:chOff x="533400" y="4475798"/>
            <a:chExt cx="6059805" cy="1059180"/>
          </a:xfrm>
        </p:grpSpPr>
        <p:sp>
          <p:nvSpPr>
            <p:cNvPr id="25" name="Rectangle 25"/>
            <p:cNvSpPr/>
            <p:nvPr/>
          </p:nvSpPr>
          <p:spPr>
            <a:xfrm>
              <a:off x="533400" y="4475798"/>
              <a:ext cx="6059805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38188" y="4905375"/>
              <a:ext cx="200026" cy="200025"/>
              <a:chOff x="738188" y="4905375"/>
              <a:chExt cx="200026" cy="20002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490537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77926" y="494982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12642" y="506095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130" y="4624388"/>
              <a:ext cx="51301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以 2 KB 为例：伪命中率 = 0.098 − 0.076 = 0.022，即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2.2% 的访问是伪命中，每次多花 2 个周期；另有 7.6% 的访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问失效，每次付 50 个周期。</a:t>
              </a:r>
            </a:p>
          </p:txBody>
        </p:sp>
      </p:grpSp>
      <p:grpSp>
        <p:nvGrpSpPr>
          <p:cNvPr id="36" name="c2-card-1"/>
          <p:cNvGrpSpPr/>
          <p:nvPr/>
        </p:nvGrpSpPr>
        <p:grpSpPr>
          <a:xfrm>
            <a:off x="6898005" y="1524000"/>
            <a:ext cx="4760595" cy="1247775"/>
            <a:chOff x="6898005" y="1524000"/>
            <a:chExt cx="4760595" cy="1247775"/>
          </a:xfrm>
        </p:grpSpPr>
        <p:sp>
          <p:nvSpPr>
            <p:cNvPr id="32" name="Rectangle 32"/>
            <p:cNvSpPr/>
            <p:nvPr/>
          </p:nvSpPr>
          <p:spPr>
            <a:xfrm>
              <a:off x="6898005" y="1524000"/>
              <a:ext cx="4760595" cy="1247775"/>
            </a:xfrm>
            <a:prstGeom prst="roundRect">
              <a:avLst>
                <a:gd name="adj" fmla="val 1068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107555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188911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合并得到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formula16"/>
                <p:cNvSpPr txBox="1">
                  <a:spLocks noGrp="1"/>
                </p:cNvSpPr>
                <p:nvPr/>
              </p:nvSpPr>
              <p:spPr>
                <a:xfrm>
                  <a:off x="7107555" y="2085975"/>
                  <a:ext cx="4341495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acc>
                              <m:accPr>
                                <m:chr m:val="̅"/>
                                <m:ctrlP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nor m:val="on"/>
                              </m:r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伪相联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  <m:sub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e>
                              <m:sub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e>
                              <m:sub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e>
                          <m:sub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5" name="c2-kv-2"/>
          <p:cNvGrpSpPr/>
          <p:nvPr/>
        </p:nvGrpSpPr>
        <p:grpSpPr>
          <a:xfrm>
            <a:off x="6890385" y="2987040"/>
            <a:ext cx="4768215" cy="1173480"/>
            <a:chOff x="6890385" y="2987040"/>
            <a:chExt cx="4768215" cy="1173480"/>
          </a:xfrm>
        </p:grpSpPr>
        <p:sp>
          <p:nvSpPr>
            <p:cNvPr id="37" name="TextBox 37"/>
            <p:cNvSpPr txBox="1"/>
            <p:nvPr/>
          </p:nvSpPr>
          <p:spPr>
            <a:xfrm>
              <a:off x="6890385" y="298704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t₁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878128" y="2987040"/>
              <a:ext cx="35894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直接映像（1 路）的命中时间，1 个周期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898005" y="330708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90385" y="3427095"/>
              <a:ext cx="7684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m₁、m₂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878128" y="3427095"/>
              <a:ext cx="24561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路、2 路 Cache 的失效率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898005" y="374713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90385" y="3867150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878128" y="3867150"/>
              <a:ext cx="19133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失效开销，50 个周期</a:t>
              </a:r>
            </a:p>
          </p:txBody>
        </p:sp>
      </p:grpSp>
      <p:grpSp>
        <p:nvGrpSpPr>
          <p:cNvPr id="52" name="c2-callout-3"/>
          <p:cNvGrpSpPr/>
          <p:nvPr/>
        </p:nvGrpSpPr>
        <p:grpSpPr>
          <a:xfrm>
            <a:off x="6898005" y="4291965"/>
            <a:ext cx="4760595" cy="1243012"/>
            <a:chOff x="6898005" y="4291965"/>
            <a:chExt cx="4760595" cy="1243012"/>
          </a:xfrm>
        </p:grpSpPr>
        <p:sp>
          <p:nvSpPr>
            <p:cNvPr id="46" name="Rectangle 46"/>
            <p:cNvSpPr/>
            <p:nvPr/>
          </p:nvSpPr>
          <p:spPr>
            <a:xfrm>
              <a:off x="6898005" y="4291965"/>
              <a:ext cx="4760595" cy="1243012"/>
            </a:xfrm>
            <a:prstGeom prst="roundRect">
              <a:avLst>
                <a:gd name="adj" fmla="val 919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102793" y="4813935"/>
              <a:ext cx="200026" cy="200026"/>
              <a:chOff x="7102793" y="4813935"/>
              <a:chExt cx="200026" cy="200026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102793" y="481393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202805" y="488061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191693" y="491394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7404735" y="4532948"/>
              <a:ext cx="38538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伪相联查找的命中率等于 2 路组相联的命中率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减去直接映像的命中率，多出来的这部分命中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每次要多花 2 个周期。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841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741" y="407194"/>
              <a:ext cx="2573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03 缓存优化 · 降低不命中率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代入数据：两种容量下伪相联都最快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1-table-1"/>
          <p:cNvGrpSpPr/>
          <p:nvPr/>
        </p:nvGrpSpPr>
        <p:grpSpPr>
          <a:xfrm>
            <a:off x="528447" y="1524000"/>
            <a:ext cx="6280975" cy="2063781"/>
            <a:chOff x="528447" y="1524000"/>
            <a:chExt cx="6280975" cy="2063781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6747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968728" y="1645444"/>
              <a:ext cx="337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 KB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24652" y="1645444"/>
              <a:ext cx="521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128 KB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0555" y="20454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直接映像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11680" y="2045494"/>
              <a:ext cx="15267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+ 0.098 × 50 = 5.90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58652" y="2045494"/>
              <a:ext cx="15267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+ 0.010 × 50 = 1.50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1933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24100"/>
              <a:ext cx="62760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0555" y="2445544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路组相联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11680" y="2445544"/>
              <a:ext cx="16925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 + 0.076 × 50 = 4.90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58652" y="2445544"/>
              <a:ext cx="16925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 + 0.007 × 50 = 1.45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1938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0555" y="294560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伪相联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924050" y="2733675"/>
              <a:ext cx="2428875" cy="58102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011680" y="2845594"/>
              <a:ext cx="188188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+ 0.022 × 2 + 0.076 × 50 =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4.844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371022" y="2733675"/>
              <a:ext cx="2428875" cy="58102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458652" y="2845594"/>
              <a:ext cx="188188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+ 0.003 × 2 + 0.007 × 50 =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1.356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1524000"/>
              <a:ext cx="6276022" cy="18002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909762" y="1524000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356735" y="1524000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8447" y="3397091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平均访存时间，单位为时钟周期</a:t>
              </a:r>
            </a:p>
          </p:txBody>
        </p:sp>
      </p:grpSp>
      <p:grpSp>
        <p:nvGrpSpPr>
          <p:cNvPr id="36" name="c1-callout-2"/>
          <p:cNvGrpSpPr/>
          <p:nvPr/>
        </p:nvGrpSpPr>
        <p:grpSpPr>
          <a:xfrm>
            <a:off x="533400" y="3719512"/>
            <a:ext cx="6276022" cy="978218"/>
            <a:chOff x="533400" y="3719512"/>
            <a:chExt cx="6276022" cy="978218"/>
          </a:xfrm>
        </p:grpSpPr>
        <p:sp>
          <p:nvSpPr>
            <p:cNvPr id="30" name="Rectangle 30"/>
            <p:cNvSpPr/>
            <p:nvPr/>
          </p:nvSpPr>
          <p:spPr>
            <a:xfrm>
              <a:off x="533400" y="3719512"/>
              <a:ext cx="6276022" cy="978218"/>
            </a:xfrm>
            <a:prstGeom prst="roundRect">
              <a:avLst>
                <a:gd name="adj" fmla="val 1168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38188" y="4109085"/>
              <a:ext cx="200026" cy="200026"/>
              <a:chOff x="738188" y="4109085"/>
              <a:chExt cx="200026" cy="200026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38188" y="410908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38200" y="417576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27088" y="420909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0892" y="3866198"/>
              <a:ext cx="522579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表中 2 路的数值是按命中时间 1.1 个周期算的（组相联使时钟周期变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1.10 倍），例如 1.1 + 0.076 × 50 = 4.90。原课件没有写出这一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假设。</a:t>
              </a:r>
            </a:p>
          </p:txBody>
        </p:sp>
      </p:grpSp>
      <p:grpSp>
        <p:nvGrpSpPr>
          <p:cNvPr id="42" name="c1-card-3"/>
          <p:cNvGrpSpPr/>
          <p:nvPr/>
        </p:nvGrpSpPr>
        <p:grpSpPr>
          <a:xfrm>
            <a:off x="533400" y="4867275"/>
            <a:ext cx="6276022" cy="1443038"/>
            <a:chOff x="533400" y="4867275"/>
            <a:chExt cx="6276022" cy="1443038"/>
          </a:xfrm>
        </p:grpSpPr>
        <p:sp>
          <p:nvSpPr>
            <p:cNvPr id="37" name="Rectangle 37"/>
            <p:cNvSpPr/>
            <p:nvPr/>
          </p:nvSpPr>
          <p:spPr>
            <a:xfrm>
              <a:off x="533400" y="4867275"/>
              <a:ext cx="6276022" cy="1443038"/>
            </a:xfrm>
            <a:prstGeom prst="roundRect">
              <a:avLst>
                <a:gd name="adj" fmla="val 9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542925" y="5000625"/>
              <a:ext cx="47625" cy="117633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58190" y="5053965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35609" y="5086826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结论依赖前提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1332" y="5398770"/>
              <a:ext cx="559441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128 KB 时伪相联只比 2 路快 1.45 − 1.356 = 0.094 个周期。若 2 路命中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时间也按 1 个周期算，2 路为 1 + 0.35 = 1.35，反而比伪相联快。伪相联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的优势来自“组相联会拉长命中时间”。</a:t>
              </a:r>
            </a:p>
          </p:txBody>
        </p:sp>
      </p:grpSp>
      <p:grpSp>
        <p:nvGrpSpPr>
          <p:cNvPr id="47" name="c2-card-1"/>
          <p:cNvGrpSpPr/>
          <p:nvPr/>
        </p:nvGrpSpPr>
        <p:grpSpPr>
          <a:xfrm>
            <a:off x="7114222" y="1524000"/>
            <a:ext cx="4544378" cy="1443038"/>
            <a:chOff x="7114222" y="1524000"/>
            <a:chExt cx="4544378" cy="1443038"/>
          </a:xfrm>
        </p:grpSpPr>
        <p:sp>
          <p:nvSpPr>
            <p:cNvPr id="43" name="Rectangle 43"/>
            <p:cNvSpPr/>
            <p:nvPr/>
          </p:nvSpPr>
          <p:spPr>
            <a:xfrm>
              <a:off x="7114222" y="1524000"/>
              <a:ext cx="4544378" cy="1443038"/>
            </a:xfrm>
            <a:prstGeom prst="roundRect">
              <a:avLst>
                <a:gd name="adj" fmla="val 9241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7300912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39263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294054" y="2054542"/>
              <a:ext cx="398278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对于 2 KB 和 128 KB 两种容量，伪相联 Cache 都是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速度最快的：它的失效率与 2 路相同，而绝大多数命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中仍是 1 个周期的快速命中。</a:t>
              </a:r>
            </a:p>
          </p:txBody>
        </p:sp>
      </p:grpSp>
      <p:grpSp>
        <p:nvGrpSpPr>
          <p:cNvPr id="67" name="c2-table-2"/>
          <p:cNvGrpSpPr/>
          <p:nvPr/>
        </p:nvGrpSpPr>
        <p:grpSpPr>
          <a:xfrm>
            <a:off x="7114222" y="3136582"/>
            <a:ext cx="4544378" cy="1600200"/>
            <a:chOff x="7114222" y="3136582"/>
            <a:chExt cx="4544378" cy="1600200"/>
          </a:xfrm>
        </p:grpSpPr>
        <p:sp>
          <p:nvSpPr>
            <p:cNvPr id="48" name="Rectangle 48"/>
            <p:cNvSpPr/>
            <p:nvPr/>
          </p:nvSpPr>
          <p:spPr>
            <a:xfrm>
              <a:off x="7114222" y="3136582"/>
              <a:ext cx="4544378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506226" y="3258026"/>
              <a:ext cx="12924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 KB 伪相联的组成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681883" y="325802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周期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916323" y="325802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占比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211378" y="365807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基准命中时间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791195" y="365807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927631" y="3658076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21%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114222" y="393192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7114222" y="3936682"/>
              <a:ext cx="454437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211378" y="4058126"/>
              <a:ext cx="12157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伪命中 0.022 × 2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625343" y="405812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0.044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969094" y="4058126"/>
              <a:ext cx="2074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1%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7114222" y="433197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211378" y="4458176"/>
              <a:ext cx="11520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失效 0.076 × 50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708269" y="445817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3.8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920658" y="4458176"/>
              <a:ext cx="3043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78%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114222" y="3136582"/>
              <a:ext cx="4544378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9184958" y="3136582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10482262" y="3136582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841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741" y="407194"/>
              <a:ext cx="2573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03 缓存优化 · 降低不命中率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方法五：硬件预取，在访问之前把块调进来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4760595" cy="2506028"/>
            <a:chOff x="533400" y="1524000"/>
            <a:chExt cx="4760595" cy="250602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2506028"/>
            </a:xfrm>
            <a:prstGeom prst="roundRect">
              <a:avLst>
                <a:gd name="adj" fmla="val 53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3932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2955" y="216122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39546" y="2100739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指令和数据都可以预取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2955" y="248126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9546" y="2420779"/>
              <a:ext cx="399097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预取的内容既可放入 Cache，也可放在外部缓冲器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中，例如指令流缓冲器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2955" y="307276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9546" y="3012281"/>
              <a:ext cx="33383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指令预取通常由 Cache 之外的硬件完成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2955" y="339280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39546" y="3332321"/>
              <a:ext cx="39819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预取应利用存储器的空闲带宽，不能影响对正常不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命中的处理，否则可能降低性能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4215765"/>
            <a:ext cx="4760595" cy="1989772"/>
            <a:chOff x="533400" y="4215765"/>
            <a:chExt cx="4760595" cy="1989772"/>
          </a:xfrm>
        </p:grpSpPr>
        <p:sp>
          <p:nvSpPr>
            <p:cNvPr id="20" name="Rectangle 20"/>
            <p:cNvSpPr/>
            <p:nvPr/>
          </p:nvSpPr>
          <p:spPr>
            <a:xfrm>
              <a:off x="533400" y="4215765"/>
              <a:ext cx="4760595" cy="1989772"/>
            </a:xfrm>
            <a:prstGeom prst="roundRect">
              <a:avLst>
                <a:gd name="adj" fmla="val 670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4349115"/>
              <a:ext cx="47625" cy="172307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75335" y="4419600"/>
              <a:ext cx="161448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15137" y="4455319"/>
              <a:ext cx="15339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例：Alpha AXP 21064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8096" y="4792504"/>
              <a:ext cx="398195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发生指令不命中时取两个块：被请求的指令块和顺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序的下一个指令块。被请求的块返回时放入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Cache，预取的块放入缓冲器。</a:t>
              </a:r>
            </a:p>
          </p:txBody>
        </p:sp>
      </p:grpSp>
      <p:grpSp>
        <p:nvGrpSpPr>
          <p:cNvPr id="52" name="c2-table-1"/>
          <p:cNvGrpSpPr/>
          <p:nvPr/>
        </p:nvGrpSpPr>
        <p:grpSpPr>
          <a:xfrm>
            <a:off x="5598795" y="1524000"/>
            <a:ext cx="6059805" cy="3221355"/>
            <a:chOff x="5598795" y="1524000"/>
            <a:chExt cx="6059805" cy="3221355"/>
          </a:xfrm>
        </p:grpSpPr>
        <p:sp>
          <p:nvSpPr>
            <p:cNvPr id="26" name="Rectangle 26"/>
            <p:cNvSpPr/>
            <p:nvPr/>
          </p:nvSpPr>
          <p:spPr>
            <a:xfrm>
              <a:off x="5598795" y="1524000"/>
              <a:ext cx="6059805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15886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研究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61058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配置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441114" y="165544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捕获的不命中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704142" y="2191702"/>
              <a:ext cx="12319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Jouppi 指令预取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158609" y="2085022"/>
              <a:ext cx="28163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KB 直接映像 Cache，块 16 B；1 个块的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指令流缓冲器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309479" y="2191702"/>
              <a:ext cx="7714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15%～25%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598795" y="259270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598795" y="2597468"/>
              <a:ext cx="605980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158609" y="2728912"/>
              <a:ext cx="16034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个块的指令流缓冲器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309479" y="2728912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50%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598795" y="302323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158609" y="3159442"/>
              <a:ext cx="16922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 个块的指令流缓冲器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309479" y="3159442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72%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598795" y="345281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598795" y="3457575"/>
              <a:ext cx="6059805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704142" y="3695700"/>
              <a:ext cx="12319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Jouppi 数据预取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158609" y="3589020"/>
              <a:ext cx="27782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KB 直接映像 Cache；1 个数据流缓冲器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（还可用多个）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309479" y="3695700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25%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598795" y="409670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704142" y="4232910"/>
              <a:ext cx="1012698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Palacharla 和</a:t>
              </a:r>
              <a:br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Kessler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58609" y="4232910"/>
              <a:ext cx="2755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 64 KB 四路组相联 Cache；8 个流缓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冲器，指令和数据都预取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309479" y="4339590"/>
              <a:ext cx="7714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50%～70%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598795" y="1524000"/>
              <a:ext cx="6059805" cy="3221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7048500" y="1524000"/>
              <a:ext cx="9525" cy="3221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10199370" y="1524000"/>
              <a:ext cx="9525" cy="3221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8" name="c2-card-2"/>
          <p:cNvGrpSpPr/>
          <p:nvPr/>
        </p:nvGrpSpPr>
        <p:grpSpPr>
          <a:xfrm>
            <a:off x="5598795" y="4930140"/>
            <a:ext cx="6059805" cy="1274445"/>
            <a:chOff x="5598795" y="4930140"/>
            <a:chExt cx="6059805" cy="1274445"/>
          </a:xfrm>
        </p:grpSpPr>
        <p:sp>
          <p:nvSpPr>
            <p:cNvPr id="53" name="Rectangle 53"/>
            <p:cNvSpPr/>
            <p:nvPr/>
          </p:nvSpPr>
          <p:spPr>
            <a:xfrm>
              <a:off x="5598795" y="4930140"/>
              <a:ext cx="6059805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5608320" y="5063490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5840730" y="513397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931891" y="51696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833491" y="5506879"/>
              <a:ext cx="52443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原课件把研究者的名字写作 Joppi，应为 Jouppi（N. P. Jouppi，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牺牲 Cache 也是他提出的）。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841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741" y="407194"/>
              <a:ext cx="2573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03 缓存优化 · 降低不命中率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方法六：编译器控制的预取，从一道例题看效果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626418" cy="1002982"/>
            <a:chOff x="533400" y="1524000"/>
            <a:chExt cx="5626418" cy="100298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002982"/>
            </a:xfrm>
            <a:prstGeom prst="roundRect">
              <a:avLst>
                <a:gd name="adj" fmla="val 132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73628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7644" y="1763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主要思想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49846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在编译时加入预取指令，在数据被用到之前发出预取请求。</a:t>
              </a:r>
            </a:p>
          </p:txBody>
        </p:sp>
      </p:grpSp>
      <p:grpSp>
        <p:nvGrpSpPr>
          <p:cNvPr id="16" name="c1-code-2"/>
          <p:cNvGrpSpPr/>
          <p:nvPr/>
        </p:nvGrpSpPr>
        <p:grpSpPr>
          <a:xfrm>
            <a:off x="533400" y="2712720"/>
            <a:ext cx="5626418" cy="1204912"/>
            <a:chOff x="533400" y="2712720"/>
            <a:chExt cx="5626418" cy="1204912"/>
          </a:xfrm>
        </p:grpSpPr>
        <p:sp>
          <p:nvSpPr>
            <p:cNvPr id="13" name="Rectangle 13"/>
            <p:cNvSpPr/>
            <p:nvPr/>
          </p:nvSpPr>
          <p:spPr>
            <a:xfrm>
              <a:off x="533400" y="2712720"/>
              <a:ext cx="5626418" cy="1204912"/>
            </a:xfrm>
            <a:prstGeom prst="roundRect">
              <a:avLst>
                <a:gd name="adj" fmla="val 790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286464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例题程序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0082" y="3129201"/>
              <a:ext cx="3490468" cy="7291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en-US" sz="131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3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0; i &lt; 3; i = i + 1)</a:t>
              </a:r>
              <a:br/>
              <a:r>
                <a:rPr lang="zh-CN" sz="13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31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3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= 0; j &lt; 100; j = j + 1)</a:t>
              </a:r>
              <a:br/>
              <a:r>
                <a:rPr lang="en-US" sz="13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a[i][j] = b[j][0] * b[j+1][0];</a:t>
              </a:r>
            </a:p>
          </p:txBody>
        </p:sp>
      </p:grpSp>
      <p:grpSp>
        <p:nvGrpSpPr>
          <p:cNvPr id="27" name="c1-card-3"/>
          <p:cNvGrpSpPr/>
          <p:nvPr/>
        </p:nvGrpSpPr>
        <p:grpSpPr>
          <a:xfrm>
            <a:off x="533400" y="4103370"/>
            <a:ext cx="5626418" cy="2137410"/>
            <a:chOff x="533400" y="4103370"/>
            <a:chExt cx="5626418" cy="2137410"/>
          </a:xfrm>
        </p:grpSpPr>
        <p:sp>
          <p:nvSpPr>
            <p:cNvPr id="17" name="Rectangle 17"/>
            <p:cNvSpPr/>
            <p:nvPr/>
          </p:nvSpPr>
          <p:spPr>
            <a:xfrm>
              <a:off x="533400" y="4103370"/>
              <a:ext cx="5626418" cy="2137410"/>
            </a:xfrm>
            <a:prstGeom prst="roundRect">
              <a:avLst>
                <a:gd name="adj" fmla="val 62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4236720"/>
              <a:ext cx="47625" cy="187071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75335" y="430720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65543" y="434292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假定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75335" y="4668202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3680" y="470758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66228" y="4680109"/>
              <a:ext cx="462216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KB 直接映像 Cache，块大小 16 B，采用写回法并且按写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75335" y="5259705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33680" y="529909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66228" y="5271611"/>
              <a:ext cx="4559046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是 3×100（3 行 100 列）、b 是 101×3 的双精度浮点数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组，每个元素 8 B；程序开始执行时这些数据都不在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 内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6464618" y="1524000"/>
            <a:ext cx="5193982" cy="1914525"/>
            <a:chOff x="6464618" y="1524000"/>
            <a:chExt cx="5193982" cy="1914525"/>
          </a:xfrm>
        </p:grpSpPr>
        <p:sp>
          <p:nvSpPr>
            <p:cNvPr id="28" name="Rectangle 28"/>
            <p:cNvSpPr/>
            <p:nvPr/>
          </p:nvSpPr>
          <p:spPr>
            <a:xfrm>
              <a:off x="6464618" y="1524000"/>
              <a:ext cx="5193982" cy="1914525"/>
            </a:xfrm>
            <a:prstGeom prst="roundRect">
              <a:avLst>
                <a:gd name="adj" fmla="val 69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74142" y="1657350"/>
              <a:ext cx="47625" cy="164782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706552" y="172783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01663" y="176355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问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707505" y="2088832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65850" y="212821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97446" y="2100739"/>
              <a:ext cx="314720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哪些访问可能导致数据 Cache 失效？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707505" y="2408872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65850" y="244825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997446" y="2420779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加入预取指令以减少失效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707505" y="2728912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65850" y="276829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997446" y="2740819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计算所执行的预取指令条数，以及通过预取避免的失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效次数</a:t>
              </a:r>
            </a:p>
          </p:txBody>
        </p:sp>
      </p:grpSp>
      <p:grpSp>
        <p:nvGrpSpPr>
          <p:cNvPr id="53" name="c2-kv-2"/>
          <p:cNvGrpSpPr/>
          <p:nvPr/>
        </p:nvGrpSpPr>
        <p:grpSpPr>
          <a:xfrm>
            <a:off x="6457379" y="3647599"/>
            <a:ext cx="5201221" cy="1543622"/>
            <a:chOff x="6457379" y="3647599"/>
            <a:chExt cx="5201221" cy="1543622"/>
          </a:xfrm>
        </p:grpSpPr>
        <p:sp>
          <p:nvSpPr>
            <p:cNvPr id="42" name="TextBox 42"/>
            <p:cNvSpPr txBox="1"/>
            <p:nvPr/>
          </p:nvSpPr>
          <p:spPr>
            <a:xfrm>
              <a:off x="6457379" y="3647599"/>
              <a:ext cx="10159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Cache 块数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82294" y="3647599"/>
              <a:ext cx="18517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KB ÷ 16 B = 512 块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464618" y="395382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457379" y="406955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每块元素数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82294" y="4069556"/>
              <a:ext cx="151851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 B ÷ 8 B = 2 个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464618" y="437483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457379" y="4491514"/>
              <a:ext cx="5674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数组 a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682294" y="4491514"/>
              <a:ext cx="305807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× 100 × 8 B = 2400 B，占 150 块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464618" y="479679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457379" y="4912519"/>
              <a:ext cx="5674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数组 b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682294" y="4912519"/>
              <a:ext cx="305807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101 × 3 × 8 B = 2424 B，占 152 块</a:t>
              </a:r>
            </a:p>
          </p:txBody>
        </p:sp>
      </p:grpSp>
      <p:grpSp>
        <p:nvGrpSpPr>
          <p:cNvPr id="60" name="c2-callout-3"/>
          <p:cNvGrpSpPr/>
          <p:nvPr/>
        </p:nvGrpSpPr>
        <p:grpSpPr>
          <a:xfrm>
            <a:off x="6464618" y="5320665"/>
            <a:ext cx="5193982" cy="920115"/>
            <a:chOff x="6464618" y="5320665"/>
            <a:chExt cx="5193982" cy="920115"/>
          </a:xfrm>
        </p:grpSpPr>
        <p:sp>
          <p:nvSpPr>
            <p:cNvPr id="54" name="Rectangle 54"/>
            <p:cNvSpPr/>
            <p:nvPr/>
          </p:nvSpPr>
          <p:spPr>
            <a:xfrm>
              <a:off x="6464618" y="5320665"/>
              <a:ext cx="5193982" cy="920115"/>
            </a:xfrm>
            <a:prstGeom prst="roundRect">
              <a:avLst>
                <a:gd name="adj" fmla="val 1242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6669405" y="5680710"/>
              <a:ext cx="200026" cy="200025"/>
              <a:chOff x="6669405" y="5680710"/>
              <a:chExt cx="200026" cy="20002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669405" y="56807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709144" y="57251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743859" y="58362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6971729" y="5549741"/>
              <a:ext cx="4171315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按写分配：写 a[i][j] 不命中时，先把所在块调入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Cache 再写，所以写操作的失效计数方式与读相同。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32916" cy="909257"/>
            <a:chOff x="520446" y="342900"/>
            <a:chExt cx="593291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841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741" y="407194"/>
              <a:ext cx="2573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03 缓存优化 · 降低不命中率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3291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问：这个程序只会发生强制性失效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c1-cells-1"/>
          <p:cNvGrpSpPr/>
          <p:nvPr/>
        </p:nvGrpSpPr>
        <p:grpSpPr>
          <a:xfrm>
            <a:off x="528066" y="1524000"/>
            <a:ext cx="5553646" cy="1781175"/>
            <a:chOff x="528066" y="1524000"/>
            <a:chExt cx="5553646" cy="1781175"/>
          </a:xfrm>
        </p:grpSpPr>
        <p:sp>
          <p:nvSpPr>
            <p:cNvPr id="7" name="TextBox 7"/>
            <p:cNvSpPr txBox="1"/>
            <p:nvPr/>
          </p:nvSpPr>
          <p:spPr>
            <a:xfrm>
              <a:off x="528066" y="1667828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a 的块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52512" y="1524000"/>
              <a:ext cx="12573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82154" y="1667828"/>
              <a:ext cx="11980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a[0][0] a[0][1]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309812" y="1524000"/>
              <a:ext cx="12573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339454" y="1667828"/>
              <a:ext cx="11980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a[0][2] a[0][3]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567112" y="1524000"/>
              <a:ext cx="12573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149613" y="1667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824412" y="1524000"/>
              <a:ext cx="12573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869468" y="1677353"/>
              <a:ext cx="11671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a[2][98] a[2][99]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28066" y="2258378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b 的块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052512" y="2114550"/>
              <a:ext cx="12573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82154" y="2258378"/>
              <a:ext cx="11980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b[0][0] b[0][1]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309812" y="2114550"/>
              <a:ext cx="12573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339454" y="2258378"/>
              <a:ext cx="11980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b[0][2] b[1][0]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567112" y="2114550"/>
              <a:ext cx="12573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596754" y="2258378"/>
              <a:ext cx="11980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b[1][1] b[1][2]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824412" y="2114550"/>
              <a:ext cx="12573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854054" y="2258378"/>
              <a:ext cx="11980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b[2][0] b[2][1]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646043" y="25874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903343" y="25874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160643" y="25874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417943" y="25874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8066" y="3029902"/>
              <a:ext cx="4234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Cache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052512" y="2886075"/>
              <a:ext cx="1676400" cy="4191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513979" y="3029902"/>
              <a:ext cx="7534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a 的 150 块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2728912" y="2886075"/>
              <a:ext cx="16764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190379" y="3029902"/>
              <a:ext cx="7534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 的 152 块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405312" y="2886075"/>
              <a:ext cx="167640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717830" y="3029902"/>
              <a:ext cx="10513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其余 210 块空闲</a:t>
              </a:r>
            </a:p>
          </p:txBody>
        </p:sp>
      </p:grpSp>
      <p:grpSp>
        <p:nvGrpSpPr>
          <p:cNvPr id="38" name="c1-text-2"/>
          <p:cNvGrpSpPr/>
          <p:nvPr/>
        </p:nvGrpSpPr>
        <p:grpSpPr>
          <a:xfrm>
            <a:off x="526923" y="3517106"/>
            <a:ext cx="5572506" cy="752284"/>
            <a:chOff x="526923" y="3517106"/>
            <a:chExt cx="5572506" cy="752284"/>
          </a:xfrm>
        </p:grpSpPr>
        <p:sp>
          <p:nvSpPr>
            <p:cNvPr id="37" name="TextBox 37"/>
            <p:cNvSpPr txBox="1"/>
            <p:nvPr/>
          </p:nvSpPr>
          <p:spPr>
            <a:xfrm>
              <a:off x="526923" y="3517106"/>
              <a:ext cx="5572506" cy="7522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每格是一个 16 B 的块，b 行下方是 b 内的块号，橙色块含 b[j][0]。b[j][0]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距 b 的起址 24j 字节，位于第 ⌊1.5j⌋ 块，所以 b[0][0]～b[100][0] 各在不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同的块中。</a:t>
              </a:r>
            </a:p>
          </p:txBody>
        </p:sp>
      </p:grpSp>
      <p:grpSp>
        <p:nvGrpSpPr>
          <p:cNvPr id="48" name="c1-steps-3"/>
          <p:cNvGrpSpPr/>
          <p:nvPr/>
        </p:nvGrpSpPr>
        <p:grpSpPr>
          <a:xfrm>
            <a:off x="533400" y="4417695"/>
            <a:ext cx="5562473" cy="1462374"/>
            <a:chOff x="533400" y="4417695"/>
            <a:chExt cx="5562473" cy="1462374"/>
          </a:xfrm>
        </p:grpSpPr>
        <p:sp>
          <p:nvSpPr>
            <p:cNvPr id="39" name="Rectangle 39"/>
            <p:cNvSpPr/>
            <p:nvPr/>
          </p:nvSpPr>
          <p:spPr>
            <a:xfrm>
              <a:off x="666750" y="4560570"/>
              <a:ext cx="19050" cy="6505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533400" y="441769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27024" y="44915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533400" y="506825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27024" y="51420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44880" y="445198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容量失效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46023" y="4745831"/>
              <a:ext cx="48184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a、b 共 150 + 152 = 302 块，少于 Cache 的 512 块，不会发生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44880" y="510254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冲突失效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46023" y="5396389"/>
              <a:ext cx="514985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直接映像，a、b 在内存中连续按行存储，302 个块映像到 302 个不同的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 块，不会发生</a:t>
              </a:r>
            </a:p>
          </p:txBody>
        </p:sp>
      </p:grpSp>
      <p:grpSp>
        <p:nvGrpSpPr>
          <p:cNvPr id="53" name="c2-card-1"/>
          <p:cNvGrpSpPr/>
          <p:nvPr/>
        </p:nvGrpSpPr>
        <p:grpSpPr>
          <a:xfrm>
            <a:off x="6789420" y="1524000"/>
            <a:ext cx="4869180" cy="1316355"/>
            <a:chOff x="6789420" y="1524000"/>
            <a:chExt cx="4869180" cy="1316355"/>
          </a:xfrm>
        </p:grpSpPr>
        <p:sp>
          <p:nvSpPr>
            <p:cNvPr id="49" name="Rectangle 49"/>
            <p:cNvSpPr/>
            <p:nvPr/>
          </p:nvSpPr>
          <p:spPr>
            <a:xfrm>
              <a:off x="6789420" y="1524000"/>
              <a:ext cx="4869180" cy="1316355"/>
            </a:xfrm>
            <a:prstGeom prst="roundRect">
              <a:avLst>
                <a:gd name="adj" fmla="val 1013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99897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08917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991350" y="2110740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只能发生</a:t>
              </a:r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强制性失效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：每个块第一次被访问时失效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一次。</a:t>
              </a:r>
            </a:p>
          </p:txBody>
        </p:sp>
      </p:grpSp>
      <p:grpSp>
        <p:nvGrpSpPr>
          <p:cNvPr id="63" name="c2-card-2"/>
          <p:cNvGrpSpPr/>
          <p:nvPr/>
        </p:nvGrpSpPr>
        <p:grpSpPr>
          <a:xfrm>
            <a:off x="6789420" y="3030855"/>
            <a:ext cx="4869180" cy="2837498"/>
            <a:chOff x="6789420" y="3030855"/>
            <a:chExt cx="4869180" cy="2837498"/>
          </a:xfrm>
        </p:grpSpPr>
        <p:sp>
          <p:nvSpPr>
            <p:cNvPr id="54" name="Rectangle 54"/>
            <p:cNvSpPr/>
            <p:nvPr/>
          </p:nvSpPr>
          <p:spPr>
            <a:xfrm>
              <a:off x="6789420" y="3030855"/>
              <a:ext cx="4869180" cy="2837498"/>
            </a:xfrm>
            <a:prstGeom prst="roundRect">
              <a:avLst>
                <a:gd name="adj" fmla="val 47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798945" y="3164205"/>
              <a:ext cx="47625" cy="257079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7037070" y="324040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106577" y="327612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按行存储的地址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7042785" y="368046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200900" y="361759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a[i][j] 的地址 = a 的起址 + (100i + j) × 8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7042785" y="401574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200900" y="3952875"/>
              <a:ext cx="37307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b[j][k] 的地址 = b 的起址 + (3j + k) × 8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030593" y="4284821"/>
              <a:ext cx="42395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前提是题目假设：a 和 b 在内存中连续、按行存储。若两个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数组映像到同一 Cache 块，就会出现冲突失效。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20884" cy="909257"/>
            <a:chOff x="520446" y="342900"/>
            <a:chExt cx="822088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841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741" y="407194"/>
              <a:ext cx="2573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03 缓存优化 · 降低不命中率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208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不加预取：a 失效 150 次，b 失效 101 次，共 251 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6" name="c1-table-1"/>
          <p:cNvGrpSpPr/>
          <p:nvPr/>
        </p:nvGrpSpPr>
        <p:grpSpPr>
          <a:xfrm>
            <a:off x="533400" y="1524000"/>
            <a:ext cx="6492240" cy="3185160"/>
            <a:chOff x="533400" y="1524000"/>
            <a:chExt cx="6492240" cy="31851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87718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迭代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30386" y="165258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执行的语句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73538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123551" y="1652588"/>
              <a:ext cx="6228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b[j][0]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69437" y="1652588"/>
              <a:ext cx="8094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b[j+1][0]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9703" y="2076450"/>
              <a:ext cx="6313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i=0, j=0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79804" y="2076450"/>
              <a:ext cx="20557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a[0][0]=b[0][0]*b[1][0]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58640" y="207645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失效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267325" y="207645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失效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06502" y="207645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失效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36791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372678"/>
              <a:ext cx="649224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9703" y="2501265"/>
              <a:ext cx="6313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i=0, j=1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79804" y="2501265"/>
              <a:ext cx="20557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a[0][1]=b[1][0]*b[2][0]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58640" y="250126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命中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67325" y="250126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命中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06502" y="250126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失效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79273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9703" y="2926080"/>
              <a:ext cx="6313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i=0, j=2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479804" y="2926080"/>
              <a:ext cx="20557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a[0][2]=b[2][0]*b[3][0]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358640" y="292608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失效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67325" y="292608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命中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06502" y="292608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失效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21659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3221355"/>
              <a:ext cx="649224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9703" y="3349942"/>
              <a:ext cx="6313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i=0, j=3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479804" y="3349942"/>
              <a:ext cx="20557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a[0][3]=b[3][0]*b[4][0]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358640" y="334994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命中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267325" y="334994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命中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06502" y="334994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失效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364140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9703" y="3774757"/>
              <a:ext cx="6313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i=0, j=4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479804" y="3774757"/>
              <a:ext cx="20557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a[0][4]=b[4][0]*b[5][0]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358640" y="3774757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失效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267325" y="3774757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命中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306502" y="3774757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失效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406622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33400" y="4070985"/>
              <a:ext cx="6492240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03109" y="4305300"/>
              <a:ext cx="5044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i=1、2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479804" y="4305300"/>
              <a:ext cx="19749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访问的 b 元素与 i=0 时相同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245864" y="4198620"/>
              <a:ext cx="56083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为偶数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时失效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267325" y="430530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命中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306502" y="430530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命中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1524000"/>
              <a:ext cx="6492240" cy="318420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1372552" y="1524000"/>
              <a:ext cx="9525" cy="31842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4099560" y="1524000"/>
              <a:ext cx="9525" cy="31842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4943475" y="1524000"/>
              <a:ext cx="9525" cy="31842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5916930" y="1524000"/>
              <a:ext cx="9525" cy="31842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3" name="c1-callout-2"/>
          <p:cNvGrpSpPr/>
          <p:nvPr/>
        </p:nvGrpSpPr>
        <p:grpSpPr>
          <a:xfrm>
            <a:off x="533400" y="4888230"/>
            <a:ext cx="6492240" cy="858202"/>
            <a:chOff x="533400" y="4888230"/>
            <a:chExt cx="6492240" cy="858202"/>
          </a:xfrm>
        </p:grpSpPr>
        <p:sp>
          <p:nvSpPr>
            <p:cNvPr id="57" name="Rectangle 57"/>
            <p:cNvSpPr/>
            <p:nvPr/>
          </p:nvSpPr>
          <p:spPr>
            <a:xfrm>
              <a:off x="533400" y="4888230"/>
              <a:ext cx="6492240" cy="858202"/>
            </a:xfrm>
            <a:prstGeom prst="roundRect">
              <a:avLst>
                <a:gd name="adj" fmla="val 1331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8188" y="5217795"/>
              <a:ext cx="200026" cy="200026"/>
              <a:chOff x="738188" y="5217795"/>
              <a:chExt cx="200026" cy="200026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38188" y="52177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38200" y="52844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27088" y="53178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0511" y="5086826"/>
              <a:ext cx="5127117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 a[0][0] 失效时整块调入，a[0][1] 随之在 Cache 中；读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b[1][0] 失效后，下一次迭代把它当作 b[j][0] 读时就命中了。</a:t>
              </a:r>
            </a:p>
          </p:txBody>
        </p:sp>
      </p:grpSp>
      <p:grpSp>
        <p:nvGrpSpPr>
          <p:cNvPr id="79" name="c2-table-1"/>
          <p:cNvGrpSpPr/>
          <p:nvPr/>
        </p:nvGrpSpPr>
        <p:grpSpPr>
          <a:xfrm>
            <a:off x="7330440" y="1524000"/>
            <a:ext cx="4328160" cy="2340293"/>
            <a:chOff x="7330440" y="1524000"/>
            <a:chExt cx="4328160" cy="2340293"/>
          </a:xfrm>
        </p:grpSpPr>
        <p:sp>
          <p:nvSpPr>
            <p:cNvPr id="64" name="Rectangle 64"/>
            <p:cNvSpPr/>
            <p:nvPr/>
          </p:nvSpPr>
          <p:spPr>
            <a:xfrm>
              <a:off x="7330440" y="1524000"/>
              <a:ext cx="4328160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509510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数组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949118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访问规律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766488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失效次数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432929" y="22898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125397" y="2076450"/>
              <a:ext cx="2122932" cy="661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按行顺序写 a[i][0]、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a[i][1]……每块 2 个元素，每块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第一次写时失效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636186" y="2183130"/>
              <a:ext cx="61417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150 块，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150 次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7330440" y="2794635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7330440" y="2799398"/>
              <a:ext cx="4328160" cy="106489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432929" y="324802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125397" y="2927985"/>
              <a:ext cx="1985772" cy="8747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i=0 时依次读 b[0][0]～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b[100][0]，每个都在不同的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块；i=1、2 时这些块都已在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 中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636186" y="3248025"/>
              <a:ext cx="4887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101 次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7330440" y="1524000"/>
              <a:ext cx="4328160" cy="234029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8018145" y="1524000"/>
              <a:ext cx="9525" cy="23402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10528935" y="1524000"/>
              <a:ext cx="9525" cy="23402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5" name="c2-callout-2"/>
          <p:cNvGrpSpPr/>
          <p:nvPr/>
        </p:nvGrpSpPr>
        <p:grpSpPr>
          <a:xfrm>
            <a:off x="7330440" y="4044315"/>
            <a:ext cx="4328160" cy="503872"/>
            <a:chOff x="7330440" y="4044315"/>
            <a:chExt cx="4328160" cy="503872"/>
          </a:xfrm>
        </p:grpSpPr>
        <p:sp>
          <p:nvSpPr>
            <p:cNvPr id="80" name="Rectangle 80"/>
            <p:cNvSpPr/>
            <p:nvPr/>
          </p:nvSpPr>
          <p:spPr>
            <a:xfrm>
              <a:off x="7330440" y="4044315"/>
              <a:ext cx="4328160" cy="503872"/>
            </a:xfrm>
            <a:prstGeom prst="roundRect">
              <a:avLst>
                <a:gd name="adj" fmla="val 22684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83" name="Group 83"/>
            <p:cNvGrpSpPr/>
            <p:nvPr/>
          </p:nvGrpSpPr>
          <p:grpSpPr>
            <a:xfrm>
              <a:off x="7535228" y="4195765"/>
              <a:ext cx="200023" cy="200023"/>
              <a:chOff x="7535228" y="4195765"/>
              <a:chExt cx="200023" cy="200023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7535228" y="419576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7668578" y="42624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4" name="TextBox 84"/>
            <p:cNvSpPr txBox="1"/>
            <p:nvPr/>
          </p:nvSpPr>
          <p:spPr>
            <a:xfrm>
              <a:off x="7837551" y="4196239"/>
              <a:ext cx="26620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一共失效 150 + 101 = 251 次。</a:t>
              </a:r>
            </a:p>
          </p:txBody>
        </p:sp>
      </p:grpSp>
      <p:grpSp>
        <p:nvGrpSpPr>
          <p:cNvPr id="92" name="c2-callout-3"/>
          <p:cNvGrpSpPr/>
          <p:nvPr/>
        </p:nvGrpSpPr>
        <p:grpSpPr>
          <a:xfrm>
            <a:off x="7330440" y="4728210"/>
            <a:ext cx="4328160" cy="1018222"/>
            <a:chOff x="7330440" y="4728210"/>
            <a:chExt cx="4328160" cy="1018222"/>
          </a:xfrm>
        </p:grpSpPr>
        <p:sp>
          <p:nvSpPr>
            <p:cNvPr id="86" name="Rectangle 86"/>
            <p:cNvSpPr/>
            <p:nvPr/>
          </p:nvSpPr>
          <p:spPr>
            <a:xfrm>
              <a:off x="7330440" y="4728210"/>
              <a:ext cx="4328160" cy="1018222"/>
            </a:xfrm>
            <a:prstGeom prst="roundRect">
              <a:avLst>
                <a:gd name="adj" fmla="val 112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90" name="Group 90"/>
            <p:cNvGrpSpPr/>
            <p:nvPr/>
          </p:nvGrpSpPr>
          <p:grpSpPr>
            <a:xfrm>
              <a:off x="7535228" y="5137785"/>
              <a:ext cx="200026" cy="200025"/>
              <a:chOff x="7535228" y="5137785"/>
              <a:chExt cx="200026" cy="200025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7535228" y="513778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7574966" y="518223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7609682" y="529336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91" name="TextBox 91"/>
            <p:cNvSpPr txBox="1"/>
            <p:nvPr/>
          </p:nvSpPr>
          <p:spPr>
            <a:xfrm>
              <a:off x="7837551" y="4875371"/>
              <a:ext cx="3431921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 = 1、2 时 b 为什么全命中：302 块少于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512 块，又连续存放互不冲突，调入的块不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会被替换出去。</a:t>
              </a:r>
            </a:p>
          </p:txBody>
        </p:sp>
      </p:grpSp>
      <p:grpSp>
        <p:nvGrpSpPr>
          <p:cNvPr id="9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3" name="TextBox 93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60184" cy="909257"/>
            <a:chOff x="520446" y="342900"/>
            <a:chExt cx="696018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841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741" y="407194"/>
              <a:ext cx="2573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03 缓存优化 · 降低不命中率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601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问：提前 7 次循环预取，失效降到 19 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ode-1"/>
          <p:cNvGrpSpPr/>
          <p:nvPr/>
        </p:nvGrpSpPr>
        <p:grpSpPr>
          <a:xfrm>
            <a:off x="533400" y="1524000"/>
            <a:ext cx="5951220" cy="3256598"/>
            <a:chOff x="533400" y="1524000"/>
            <a:chExt cx="5951220" cy="325659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3256598"/>
            </a:xfrm>
            <a:prstGeom prst="roundRect">
              <a:avLst>
                <a:gd name="adj" fmla="val 292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加入预取指令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351722"/>
              <a:ext cx="5913120" cy="22955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2581275"/>
              <a:ext cx="5913120" cy="22955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52450" y="3961448"/>
              <a:ext cx="5913120" cy="22955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0273" y="1940719"/>
              <a:ext cx="4028186" cy="27744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8"/>
                </a:lnSpc>
              </a:pPr>
              <a:r>
                <a:rPr lang="zh-CN" sz="12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第一段：i = 0 */</a:t>
              </a:r>
              <a:br/>
              <a:r>
                <a:rPr lang="en-US" sz="12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= 0; j &lt; 100; j = j+1) {</a:t>
              </a:r>
              <a:br/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prefetch(b[j+7][0]);  </a:t>
              </a:r>
              <a:r>
                <a:rPr lang="zh-CN" sz="12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7 次循环后要用 */</a:t>
              </a:r>
              <a:br/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prefetch(a[0][j+7]);  </a:t>
              </a:r>
              <a:r>
                <a:rPr lang="zh-CN" sz="12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7 次循环后要用 */</a:t>
              </a:r>
              <a:br/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a[0][j] = b[j][0] * b[j+1][0];</a:t>
              </a:r>
              <a:br/>
              <a:r>
                <a:rPr lang="zh-CN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2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第二段：i = 1、2，b 已无失效，不必预取 */</a:t>
              </a:r>
              <a:br/>
              <a:r>
                <a:rPr lang="en-US" sz="12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1; i &lt; 3; i = i+1)</a:t>
              </a:r>
              <a:br/>
              <a:r>
                <a:rPr lang="zh-CN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2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= 0; j &lt; 100; j = j+1) {</a:t>
              </a:r>
              <a:br/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prefetch(a[i][j+7]);</a:t>
              </a:r>
              <a:br/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a[i][j] = b[j][0] * b[j+1][0];</a:t>
              </a:r>
              <a:br/>
              <a:r>
                <a:rPr lang="zh-CN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</a:p>
          </p:txBody>
        </p:sp>
      </p:grpSp>
      <p:grpSp>
        <p:nvGrpSpPr>
          <p:cNvPr id="20" name="c1-callout-2"/>
          <p:cNvGrpSpPr/>
          <p:nvPr/>
        </p:nvGrpSpPr>
        <p:grpSpPr>
          <a:xfrm>
            <a:off x="533400" y="4971098"/>
            <a:ext cx="5951220" cy="1269682"/>
            <a:chOff x="533400" y="4971098"/>
            <a:chExt cx="5951220" cy="1269682"/>
          </a:xfrm>
        </p:grpSpPr>
        <p:sp>
          <p:nvSpPr>
            <p:cNvPr id="14" name="Rectangle 14"/>
            <p:cNvSpPr/>
            <p:nvPr/>
          </p:nvSpPr>
          <p:spPr>
            <a:xfrm>
              <a:off x="533400" y="4971098"/>
              <a:ext cx="5951220" cy="1269682"/>
            </a:xfrm>
            <a:prstGeom prst="roundRect">
              <a:avLst>
                <a:gd name="adj" fmla="val 900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38188" y="5506403"/>
              <a:ext cx="200026" cy="200026"/>
              <a:chOff x="738188" y="5506403"/>
              <a:chExt cx="200026" cy="20002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38188" y="550640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38200" y="55730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27088" y="560641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040130" y="5225415"/>
              <a:ext cx="49968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为什么提前 7 次：假设失效开销很大，从发出预取到数据真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正进入 Cache 要经过若干次循环，所以每次预取 7 次循环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之后才用到的元素。</a:t>
              </a:r>
            </a:p>
          </p:txBody>
        </p:sp>
      </p:grpSp>
      <p:grpSp>
        <p:nvGrpSpPr>
          <p:cNvPr id="46" name="c2-table-1"/>
          <p:cNvGrpSpPr/>
          <p:nvPr/>
        </p:nvGrpSpPr>
        <p:grpSpPr>
          <a:xfrm>
            <a:off x="6789420" y="1524000"/>
            <a:ext cx="4869180" cy="2924176"/>
            <a:chOff x="6789420" y="1524000"/>
            <a:chExt cx="4869180" cy="2924176"/>
          </a:xfrm>
        </p:grpSpPr>
        <p:sp>
          <p:nvSpPr>
            <p:cNvPr id="21" name="Rectangle 21"/>
            <p:cNvSpPr/>
            <p:nvPr/>
          </p:nvSpPr>
          <p:spPr>
            <a:xfrm>
              <a:off x="6789420" y="1524000"/>
              <a:ext cx="486918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011200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循环段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14435" y="165973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仍会失效的访问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9308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次数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97243" y="2221706"/>
              <a:ext cx="6836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第一段 b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70698" y="2108359"/>
              <a:ext cx="250012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b[7][0] 开始预取，b[0][0]～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b[6][0] 可能失效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118009" y="222170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789420" y="264318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789420" y="2647950"/>
              <a:ext cx="486918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897243" y="2897029"/>
              <a:ext cx="6836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第一段 a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70698" y="2783681"/>
              <a:ext cx="250012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a[0][7] 开始预取，a[0][0]～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a[0][6] 占 ⌈7/2⌉ = 4 块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118009" y="289702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789420" y="331946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897243" y="3572351"/>
              <a:ext cx="6836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第二段 a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70698" y="3459004"/>
              <a:ext cx="223189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每行 a[i][0]～a[i][6] 失效 4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次，i = 1、2 两行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825076" y="3572351"/>
              <a:ext cx="6935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× 2 = 8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789420" y="399478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789420" y="3999548"/>
              <a:ext cx="486918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897243" y="413432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合计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870698" y="4134326"/>
              <a:ext cx="9865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+ 7 + 4 + 4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0694670" y="4009072"/>
              <a:ext cx="95440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1065884" y="413432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789420" y="1524000"/>
              <a:ext cx="4869180" cy="29241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7758112" y="1524000"/>
              <a:ext cx="9525" cy="29241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10680382" y="1524000"/>
              <a:ext cx="9525" cy="29241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2" name="c2-card-2"/>
          <p:cNvGrpSpPr/>
          <p:nvPr/>
        </p:nvGrpSpPr>
        <p:grpSpPr>
          <a:xfrm>
            <a:off x="6789420" y="4638675"/>
            <a:ext cx="4869180" cy="1602105"/>
            <a:chOff x="6789420" y="4638675"/>
            <a:chExt cx="4869180" cy="1602105"/>
          </a:xfrm>
        </p:grpSpPr>
        <p:sp>
          <p:nvSpPr>
            <p:cNvPr id="47" name="Rectangle 47"/>
            <p:cNvSpPr/>
            <p:nvPr/>
          </p:nvSpPr>
          <p:spPr>
            <a:xfrm>
              <a:off x="6789420" y="4638675"/>
              <a:ext cx="486918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798945" y="477202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037070" y="484822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127278" y="48839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029450" y="5225415"/>
              <a:ext cx="38442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 a 的失效次数写作“7/2 = 4”，7/2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3.5，应写成向上取整 ⌈7/2⌉ = 4：a[i][0]～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a[i][6] 这 7 个元素占 4 个块。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68357" cy="909257"/>
            <a:chOff x="520446" y="342900"/>
            <a:chExt cx="686835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841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741" y="407194"/>
              <a:ext cx="2573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03 缓存优化 · 降低不命中率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6835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问：用 400 条预取指令换掉 232 次失效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4528414" cy="2398776"/>
            <a:chOff x="533400" y="1533525"/>
            <a:chExt cx="4528414" cy="2398776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8507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5074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245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6701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840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38423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4580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261" y="1566386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第一段的预取条数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1846898"/>
              <a:ext cx="37034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 100 次，每次 2 条预取指令：100 × 2 = 200 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2183606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第二段的预取条数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2464118"/>
              <a:ext cx="41154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1、2 各循环 100 次，每次 1 条：2 × 100 × 1 = 200 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2799874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预取指令合计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3080385"/>
              <a:ext cx="13933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 + 200 = 400 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341709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避免的失效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369760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251 − 19 = 232 次</a:t>
              </a:r>
            </a:p>
          </p:txBody>
        </p:sp>
      </p:grpSp>
      <p:grpSp>
        <p:nvGrpSpPr>
          <p:cNvPr id="40" name="c1-table-2"/>
          <p:cNvGrpSpPr/>
          <p:nvPr/>
        </p:nvGrpSpPr>
        <p:grpSpPr>
          <a:xfrm>
            <a:off x="533400" y="4103370"/>
            <a:ext cx="5410200" cy="1273493"/>
            <a:chOff x="533400" y="4103370"/>
            <a:chExt cx="5410200" cy="1273493"/>
          </a:xfrm>
        </p:grpSpPr>
        <p:sp>
          <p:nvSpPr>
            <p:cNvPr id="25" name="Rectangle 25"/>
            <p:cNvSpPr/>
            <p:nvPr/>
          </p:nvSpPr>
          <p:spPr>
            <a:xfrm>
              <a:off x="533400" y="4103370"/>
              <a:ext cx="5410200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405890" y="423195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方案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846774" y="4231958"/>
              <a:ext cx="12330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 Cache 失效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57712" y="4231958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额外执行的指令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5889" y="465582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不加预取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218917" y="4655820"/>
              <a:ext cx="4887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251 次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78692" y="465582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94728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952048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5889" y="5080635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加入预取（教材口径）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257687" y="5080635"/>
              <a:ext cx="4112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19 次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61751" y="5080635"/>
              <a:ext cx="11349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400 条预取指令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103370"/>
              <a:ext cx="5410200" cy="127349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2607945" y="4103370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4309110" y="4103370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6" name="c1-callout-3"/>
          <p:cNvGrpSpPr/>
          <p:nvPr/>
        </p:nvGrpSpPr>
        <p:grpSpPr>
          <a:xfrm>
            <a:off x="533400" y="5556885"/>
            <a:ext cx="5410200" cy="756285"/>
            <a:chOff x="533400" y="5556885"/>
            <a:chExt cx="5410200" cy="756285"/>
          </a:xfrm>
        </p:grpSpPr>
        <p:sp>
          <p:nvSpPr>
            <p:cNvPr id="41" name="Rectangle 41"/>
            <p:cNvSpPr/>
            <p:nvPr/>
          </p:nvSpPr>
          <p:spPr>
            <a:xfrm>
              <a:off x="533400" y="5556885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5835015"/>
              <a:ext cx="200026" cy="200026"/>
              <a:chOff x="738188" y="5835015"/>
              <a:chExt cx="200026" cy="200026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38188" y="583501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04863" y="591280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511" y="5704046"/>
              <a:ext cx="452297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每条预取指令只花一条指令的开销，而一次失效要付出很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大的不命中开销，这笔交易通常划算。</a:t>
              </a:r>
            </a:p>
          </p:txBody>
        </p:sp>
      </p:grpSp>
      <p:grpSp>
        <p:nvGrpSpPr>
          <p:cNvPr id="54" name="c2-card-1"/>
          <p:cNvGrpSpPr/>
          <p:nvPr/>
        </p:nvGrpSpPr>
        <p:grpSpPr>
          <a:xfrm>
            <a:off x="6248400" y="1524000"/>
            <a:ext cx="5410200" cy="2701290"/>
            <a:chOff x="6248400" y="1524000"/>
            <a:chExt cx="5410200" cy="2701290"/>
          </a:xfrm>
        </p:grpSpPr>
        <p:sp>
          <p:nvSpPr>
            <p:cNvPr id="47" name="Rectangle 47"/>
            <p:cNvSpPr/>
            <p:nvPr/>
          </p:nvSpPr>
          <p:spPr>
            <a:xfrm>
              <a:off x="6248400" y="1524000"/>
              <a:ext cx="5410200" cy="2701290"/>
            </a:xfrm>
            <a:prstGeom prst="roundRect">
              <a:avLst>
                <a:gd name="adj" fmla="val 49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257925" y="1657350"/>
              <a:ext cx="47625" cy="243459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84620" y="172212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56058" y="175641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补充：计数口径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77381" y="2082641"/>
              <a:ext cx="482216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3 问只算了失效次数，这里补上预取指令条数。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77381" y="2400776"/>
              <a:ext cx="472135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 次是教材的简化口径：认为每段循环中下标 0～6 的元素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得不到预取。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77381" y="2989421"/>
              <a:ext cx="4685284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若假设预取瞬间完成并逐块按地址模拟：a[i][6] 与被预取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 a[i][7] 在同一块；第一段末尾预取的 a[0][100]～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a[0][106] 就是 a[1][0]～a[1][6] 的地址。这样算失效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 10 次。</a:t>
              </a:r>
            </a:p>
          </p:txBody>
        </p:sp>
      </p:grpSp>
      <p:grpSp>
        <p:nvGrpSpPr>
          <p:cNvPr id="75" name="c2-table-2"/>
          <p:cNvGrpSpPr/>
          <p:nvPr/>
        </p:nvGrpSpPr>
        <p:grpSpPr>
          <a:xfrm>
            <a:off x="6243066" y="4405312"/>
            <a:ext cx="5415534" cy="1766507"/>
            <a:chOff x="6243066" y="4405312"/>
            <a:chExt cx="5415534" cy="1766507"/>
          </a:xfrm>
        </p:grpSpPr>
        <p:sp>
          <p:nvSpPr>
            <p:cNvPr id="55" name="Rectangle 55"/>
            <p:cNvSpPr/>
            <p:nvPr/>
          </p:nvSpPr>
          <p:spPr>
            <a:xfrm>
              <a:off x="6248400" y="4405312"/>
              <a:ext cx="5410200" cy="63817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730746" y="464058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计数口径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056245" y="4533900"/>
              <a:ext cx="1470660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8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 的失效（i = 0、1、</a:t>
              </a:r>
              <a:br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2）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037091" y="464058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895647" y="464058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合计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350889" y="517112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教材口径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490661" y="5171122"/>
              <a:ext cx="6018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4、4、4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039312" y="51711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968342" y="517112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248400" y="54625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248400" y="5467350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350889" y="559593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逐块模拟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490661" y="5595938"/>
              <a:ext cx="6018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3、0、0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039312" y="559593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968342" y="559593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248400" y="4405312"/>
              <a:ext cx="5410200" cy="1486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7866698" y="4405312"/>
              <a:ext cx="9525" cy="1486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9705975" y="4405312"/>
              <a:ext cx="9525" cy="1486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10463212" y="4405312"/>
              <a:ext cx="9525" cy="1486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243066" y="5966460"/>
              <a:ext cx="53537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答题时按教材口径写 19 次，同时要能说明预取提前量和“一块两个元素”对计数的影响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841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741" y="407194"/>
              <a:ext cx="2573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03 缓存优化 · 降低不命中率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预取的分类与使用要点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table-1"/>
          <p:cNvGrpSpPr/>
          <p:nvPr/>
        </p:nvGrpSpPr>
        <p:grpSpPr>
          <a:xfrm>
            <a:off x="533400" y="1524000"/>
            <a:ext cx="5626418" cy="3377565"/>
            <a:chOff x="533400" y="1524000"/>
            <a:chExt cx="5626418" cy="33775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57618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分类依据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8057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51798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9883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预取数据放在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哪里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91868" y="222170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寄存器预取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341560" y="222170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把数据取到寄存器中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4318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47950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991868" y="2783681"/>
              <a:ext cx="8890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 预取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341560" y="2783681"/>
              <a:ext cx="18029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只把数据取到 Cache 中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09276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1223" y="3232309"/>
              <a:ext cx="9883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预取的处理方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91868" y="334565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故障性预取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341560" y="3232309"/>
              <a:ext cx="24513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预取时若出现虚地址故障或违反保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护权限，就会发生异常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76809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3772852"/>
              <a:ext cx="5626418" cy="112871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1893570" y="3782378"/>
              <a:ext cx="1331595" cy="1109662"/>
            </a:xfrm>
            <a:prstGeom prst="rect">
              <a:avLst/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991868" y="424767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非故障性预取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341560" y="3907631"/>
              <a:ext cx="2508250" cy="929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遇到这些情况不发生异常，而是放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弃预取、变成空操作；也叫非绑定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预取。本节假定 Cache 预取都是非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故障性的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1524000"/>
              <a:ext cx="5626418" cy="337756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879282" y="1524000"/>
              <a:ext cx="9525" cy="33775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3228975" y="1524000"/>
              <a:ext cx="9525" cy="33775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7" name="c1-callout-2"/>
          <p:cNvGrpSpPr/>
          <p:nvPr/>
        </p:nvGrpSpPr>
        <p:grpSpPr>
          <a:xfrm>
            <a:off x="533400" y="5092065"/>
            <a:ext cx="5626418" cy="1059180"/>
            <a:chOff x="533400" y="5092065"/>
            <a:chExt cx="5626418" cy="1059180"/>
          </a:xfrm>
        </p:grpSpPr>
        <p:sp>
          <p:nvSpPr>
            <p:cNvPr id="31" name="Rectangle 31"/>
            <p:cNvSpPr/>
            <p:nvPr/>
          </p:nvSpPr>
          <p:spPr>
            <a:xfrm>
              <a:off x="533400" y="5092065"/>
              <a:ext cx="5626418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5521643"/>
              <a:ext cx="200026" cy="200026"/>
              <a:chOff x="738188" y="5521643"/>
              <a:chExt cx="200026" cy="20002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552164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38200" y="55883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27088" y="562165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130" y="5240655"/>
              <a:ext cx="47205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对照例题：第一段的 prefetch(b[j+7][0]) 在 j ≥ 94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时要取 b[101][0] 以后的地址，已越过数组 b 的末尾。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非故障性预取遇到这种情况直接放弃，不会引发异常。</a:t>
              </a:r>
            </a:p>
          </p:txBody>
        </p:sp>
      </p:grpSp>
      <p:grpSp>
        <p:nvGrpSpPr>
          <p:cNvPr id="58" name="c2-bullets-1"/>
          <p:cNvGrpSpPr/>
          <p:nvPr/>
        </p:nvGrpSpPr>
        <p:grpSpPr>
          <a:xfrm>
            <a:off x="6470333" y="1548765"/>
            <a:ext cx="4842866" cy="2869215"/>
            <a:chOff x="6470333" y="1548765"/>
            <a:chExt cx="4842866" cy="2869215"/>
          </a:xfrm>
        </p:grpSpPr>
        <p:sp>
          <p:nvSpPr>
            <p:cNvPr id="38" name="Ellipse 38"/>
            <p:cNvSpPr/>
            <p:nvPr/>
          </p:nvSpPr>
          <p:spPr>
            <a:xfrm>
              <a:off x="6470333" y="161163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28448" y="154876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预取数据的同时处理器应能继续执行，预取才有意义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636068" y="1915478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820091" y="1842611"/>
              <a:ext cx="29714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这需要非阻塞 Cache（非锁定 Cache）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470333" y="2214562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28448" y="2151698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编译器控制预取的目的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636068" y="2518410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820091" y="244554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使执行指令和读取数据能重叠执行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470333" y="281749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28448" y="275463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循环是预取优化的主要对象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636068" y="3121342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820091" y="3048476"/>
              <a:ext cx="28905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不命中开销小时：循环体展开 1～2 次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636068" y="3379470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820091" y="330660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不命中开销大时：循环体展开许多次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470333" y="3679508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628448" y="3616642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每次预取要花费一条指令的开销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636068" y="3983355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820091" y="3909536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保证这种开销不超过预取带来的收益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636068" y="4241482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820091" y="4168616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编译器把重点放在可能不命中的访问上，避免不必要的预取</a:t>
              </a:r>
            </a:p>
          </p:txBody>
        </p:sp>
      </p:grpSp>
      <p:grpSp>
        <p:nvGrpSpPr>
          <p:cNvPr id="65" name="c2-callout-2"/>
          <p:cNvGrpSpPr/>
          <p:nvPr/>
        </p:nvGrpSpPr>
        <p:grpSpPr>
          <a:xfrm>
            <a:off x="6464618" y="4557712"/>
            <a:ext cx="5193982" cy="1593532"/>
            <a:chOff x="6464618" y="4557712"/>
            <a:chExt cx="5193982" cy="1593532"/>
          </a:xfrm>
        </p:grpSpPr>
        <p:sp>
          <p:nvSpPr>
            <p:cNvPr id="59" name="Rectangle 59"/>
            <p:cNvSpPr/>
            <p:nvPr/>
          </p:nvSpPr>
          <p:spPr>
            <a:xfrm>
              <a:off x="6464618" y="4557712"/>
              <a:ext cx="5193982" cy="1593532"/>
            </a:xfrm>
            <a:prstGeom prst="roundRect">
              <a:avLst>
                <a:gd name="adj" fmla="val 717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6669405" y="5254943"/>
              <a:ext cx="200026" cy="200025"/>
              <a:chOff x="6669405" y="5254943"/>
              <a:chExt cx="200026" cy="200025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6669405" y="525494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709144" y="529939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743859" y="541051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6971348" y="4973955"/>
              <a:ext cx="4206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不命中开销大时，数据要更早开始调入，需要为更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靠后的迭代预取，所以循环展开的次数多。例题假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设失效开销很大，预取就提前了 7 次循环。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841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741" y="407194"/>
              <a:ext cx="2573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03 缓存优化 · 降低不命中率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方法七：编译器优化，不改硬件也能降低不命中率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626418" cy="1274445"/>
            <a:chOff x="533400" y="1524000"/>
            <a:chExt cx="5626418" cy="12744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7644" y="1763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基本思想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通过对软件进行优化来降低不命中率，特点是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无需对硬件做任</a:t>
              </a:r>
              <a:br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何改动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2984182"/>
            <a:ext cx="5626418" cy="2551748"/>
            <a:chOff x="533400" y="2984182"/>
            <a:chExt cx="5626418" cy="2551748"/>
          </a:xfrm>
        </p:grpSpPr>
        <p:sp>
          <p:nvSpPr>
            <p:cNvPr id="13" name="Rectangle 13"/>
            <p:cNvSpPr/>
            <p:nvPr/>
          </p:nvSpPr>
          <p:spPr>
            <a:xfrm>
              <a:off x="533400" y="2984182"/>
              <a:ext cx="5626418" cy="2551748"/>
            </a:xfrm>
            <a:prstGeom prst="roundRect">
              <a:avLst>
                <a:gd name="adj" fmla="val 522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37235" y="3188018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97890" y="322373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程序代码和数据重组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44855" y="362140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1446" y="3560921"/>
              <a:ext cx="47033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重新组织程序而不影响正确性：把程序中的过程重新排序，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可以减少冲突不命中，降低指令不命中率（McFarling 用配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置文件 profile 做这种优化）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44855" y="448437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1446" y="4423886"/>
              <a:ext cx="476643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基本块对齐：让程序的入口点与 Cache 块的起始位置对齐，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减少顺序执行代码时的 Cache 不命中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44855" y="507587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1446" y="5015389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数据对存储位置的限制更少，更便于调整顺序</a:t>
              </a:r>
            </a:p>
          </p:txBody>
        </p:sp>
      </p:grpSp>
      <p:grpSp>
        <p:nvGrpSpPr>
          <p:cNvPr id="33" name="c2-card-1"/>
          <p:cNvGrpSpPr/>
          <p:nvPr/>
        </p:nvGrpSpPr>
        <p:grpSpPr>
          <a:xfrm>
            <a:off x="6464618" y="1524000"/>
            <a:ext cx="5193982" cy="1594485"/>
            <a:chOff x="6464618" y="1524000"/>
            <a:chExt cx="5193982" cy="1594485"/>
          </a:xfrm>
        </p:grpSpPr>
        <p:sp>
          <p:nvSpPr>
            <p:cNvPr id="23" name="Rectangle 23"/>
            <p:cNvSpPr/>
            <p:nvPr/>
          </p:nvSpPr>
          <p:spPr>
            <a:xfrm>
              <a:off x="6464618" y="1524000"/>
              <a:ext cx="5193982" cy="1594485"/>
            </a:xfrm>
            <a:prstGeom prst="roundRect">
              <a:avLst>
                <a:gd name="adj" fmla="val 83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474142" y="1657350"/>
              <a:ext cx="47625" cy="13277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706552" y="1727835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63258" y="176355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分支很可能成功转移时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707505" y="2088832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65850" y="212821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97446" y="2100739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把转移目标处的基本块和紧跟在分支指令后的基本块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对调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707505" y="2680335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65850" y="271972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997446" y="2692241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把该分支指令换成操作语义相反的分支指令</a:t>
              </a:r>
            </a:p>
          </p:txBody>
        </p:sp>
      </p:grpSp>
      <p:grpSp>
        <p:nvGrpSpPr>
          <p:cNvPr id="48" name="c2-table-2"/>
          <p:cNvGrpSpPr/>
          <p:nvPr/>
        </p:nvGrpSpPr>
        <p:grpSpPr>
          <a:xfrm>
            <a:off x="6464618" y="3304222"/>
            <a:ext cx="5193982" cy="1290638"/>
            <a:chOff x="6464618" y="3304222"/>
            <a:chExt cx="5193982" cy="1290638"/>
          </a:xfrm>
        </p:grpSpPr>
        <p:sp>
          <p:nvSpPr>
            <p:cNvPr id="34" name="Rectangle 34"/>
            <p:cNvSpPr/>
            <p:nvPr/>
          </p:nvSpPr>
          <p:spPr>
            <a:xfrm>
              <a:off x="6464618" y="3304222"/>
              <a:ext cx="5193982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889748" y="3435668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紧跟分支指令的块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209466" y="343566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转移目标块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35318" y="38652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重排前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32064" y="386524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小概率执行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209466" y="386524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大概率执行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64618" y="415956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64618" y="4164330"/>
              <a:ext cx="519398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35318" y="429577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重排后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132064" y="429577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大概率执行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209466" y="429577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小概率执行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464618" y="3304222"/>
              <a:ext cx="5193982" cy="129063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7499032" y="3304222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9576435" y="3304222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c2-callout-3"/>
          <p:cNvGrpSpPr/>
          <p:nvPr/>
        </p:nvGrpSpPr>
        <p:grpSpPr>
          <a:xfrm>
            <a:off x="6464618" y="4779645"/>
            <a:ext cx="5193982" cy="756285"/>
            <a:chOff x="6464618" y="4779645"/>
            <a:chExt cx="5193982" cy="756285"/>
          </a:xfrm>
        </p:grpSpPr>
        <p:sp>
          <p:nvSpPr>
            <p:cNvPr id="49" name="Rectangle 49"/>
            <p:cNvSpPr/>
            <p:nvPr/>
          </p:nvSpPr>
          <p:spPr>
            <a:xfrm>
              <a:off x="6464618" y="4779645"/>
              <a:ext cx="5193982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669405" y="5057775"/>
              <a:ext cx="200026" cy="200025"/>
              <a:chOff x="6669405" y="5057775"/>
              <a:chExt cx="200026" cy="2000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669405" y="505777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709144" y="510222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743859" y="521335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6971729" y="4927759"/>
              <a:ext cx="416229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两步的效果都是把大概率执行的代码放在分支失败处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（顺序往下执行的位置），改善空间局部性。</a:t>
              </a:r>
            </a:p>
          </p:txBody>
        </p:sp>
      </p:grpSp>
      <p:grpSp>
        <p:nvGrpSpPr>
          <p:cNvPr id="62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6" name="Rectangle 56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38200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27088" y="6103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0511" y="6004084"/>
              <a:ext cx="842553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数据方面的编译优化技术有四种：数组合并、内外循环交换、循环融合、分块，接下来逐个看例子。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841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741" y="407194"/>
              <a:ext cx="2573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03 缓存优化 · 降低不命中率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数组合并：一起访问的数据放在一起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602105"/>
            <a:chOff x="533400" y="1524000"/>
            <a:chExt cx="5410200" cy="16021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144905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1928" y="1769269"/>
              <a:ext cx="10031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（1）数组合并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6062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把本来相互独立的多个数组合并成一个复合数组，提高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访问它们的局部性。适用于 x[i] 和 y[i] 经常一起访问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的情况。</a:t>
              </a:r>
            </a:p>
          </p:txBody>
        </p:sp>
      </p:grpSp>
      <p:grpSp>
        <p:nvGrpSpPr>
          <p:cNvPr id="16" name="c1-code-2"/>
          <p:cNvGrpSpPr/>
          <p:nvPr/>
        </p:nvGrpSpPr>
        <p:grpSpPr>
          <a:xfrm>
            <a:off x="533400" y="3316605"/>
            <a:ext cx="5410200" cy="2929890"/>
            <a:chOff x="533400" y="3316605"/>
            <a:chExt cx="5410200" cy="2929890"/>
          </a:xfrm>
        </p:grpSpPr>
        <p:sp>
          <p:nvSpPr>
            <p:cNvPr id="13" name="Rectangle 13"/>
            <p:cNvSpPr/>
            <p:nvPr/>
          </p:nvSpPr>
          <p:spPr>
            <a:xfrm>
              <a:off x="533400" y="3316605"/>
              <a:ext cx="5410200" cy="2929890"/>
            </a:xfrm>
            <a:prstGeom prst="roundRect">
              <a:avLst>
                <a:gd name="adj" fmla="val 325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346852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9892" y="3733800"/>
              <a:ext cx="2936938" cy="24585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20"/>
                </a:lnSpc>
              </a:pPr>
              <a:r>
                <a:rPr lang="zh-CN" sz="13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修改前 */</a:t>
              </a:r>
              <a:br/>
              <a:r>
                <a:rPr lang="en-US" sz="13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x[100];</a:t>
              </a:r>
              <a:br/>
              <a:r>
                <a:rPr lang="en-US" sz="13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y[100];</a:t>
              </a:r>
              <a:br/>
              <a:r>
                <a:rPr lang="zh-CN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3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修改后 */</a:t>
              </a:r>
              <a:br/>
              <a:r>
                <a:rPr lang="en-US" sz="13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merge {</a:t>
              </a:r>
              <a:br/>
              <a:r>
                <a:rPr lang="zh-CN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3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x;</a:t>
              </a:r>
              <a:br/>
              <a:r>
                <a:rPr lang="zh-CN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3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y;</a:t>
              </a:r>
              <a:br/>
              <a:r>
                <a:rPr lang="zh-CN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};</a:t>
              </a:r>
              <a:br/>
              <a:r>
                <a:rPr lang="en-US" sz="13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merge merged_array[100];</a:t>
              </a:r>
            </a:p>
          </p:txBody>
        </p:sp>
      </p:grpSp>
      <p:grpSp>
        <p:nvGrpSpPr>
          <p:cNvPr id="47" name="c2-cells-1"/>
          <p:cNvGrpSpPr/>
          <p:nvPr/>
        </p:nvGrpSpPr>
        <p:grpSpPr>
          <a:xfrm>
            <a:off x="6242685" y="1524000"/>
            <a:ext cx="5415915" cy="1009650"/>
            <a:chOff x="6242685" y="1524000"/>
            <a:chExt cx="5415915" cy="1009650"/>
          </a:xfrm>
        </p:grpSpPr>
        <p:sp>
          <p:nvSpPr>
            <p:cNvPr id="17" name="TextBox 17"/>
            <p:cNvSpPr txBox="1"/>
            <p:nvPr/>
          </p:nvSpPr>
          <p:spPr>
            <a:xfrm>
              <a:off x="6242685" y="166354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修改前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808470" y="1524000"/>
              <a:ext cx="69246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975321" y="166354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x[0]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500938" y="1524000"/>
              <a:ext cx="69246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67788" y="166354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x[1]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194358" y="1524000"/>
              <a:ext cx="69246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491816" y="16635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886825" y="1524000"/>
              <a:ext cx="69246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010139" y="1663541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x[99]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580245" y="1524000"/>
              <a:ext cx="69246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746143" y="166354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y[0]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0272712" y="1524000"/>
              <a:ext cx="69246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439563" y="166354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y[1]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0966132" y="1524000"/>
              <a:ext cx="69246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1262639" y="16635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242685" y="225409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修改后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808470" y="2114550"/>
              <a:ext cx="69246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975321" y="225409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x[0]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500938" y="2114550"/>
              <a:ext cx="69246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67788" y="225409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y[0]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194358" y="2114550"/>
              <a:ext cx="69246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361208" y="225409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x[1]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886825" y="2114550"/>
              <a:ext cx="69246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053676" y="225409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y[1]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580245" y="2114550"/>
              <a:ext cx="69246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746143" y="225409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x[2]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0272712" y="2114550"/>
              <a:ext cx="69246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439563" y="225409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y[2]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0966132" y="2114550"/>
              <a:ext cx="69246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1262639" y="22540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</p:grpSp>
      <p:grpSp>
        <p:nvGrpSpPr>
          <p:cNvPr id="54" name="c2-callout-2"/>
          <p:cNvGrpSpPr/>
          <p:nvPr/>
        </p:nvGrpSpPr>
        <p:grpSpPr>
          <a:xfrm>
            <a:off x="6248400" y="2724150"/>
            <a:ext cx="5410200" cy="1059180"/>
            <a:chOff x="6248400" y="2724150"/>
            <a:chExt cx="5410200" cy="1059180"/>
          </a:xfrm>
        </p:grpSpPr>
        <p:sp>
          <p:nvSpPr>
            <p:cNvPr id="48" name="Rectangle 48"/>
            <p:cNvSpPr/>
            <p:nvPr/>
          </p:nvSpPr>
          <p:spPr>
            <a:xfrm>
              <a:off x="6248400" y="2724150"/>
              <a:ext cx="5410200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453188" y="3153728"/>
              <a:ext cx="200026" cy="200026"/>
              <a:chOff x="6453188" y="3153728"/>
              <a:chExt cx="200026" cy="200026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6453188" y="31537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553200" y="32204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542088" y="32537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6755130" y="2872740"/>
              <a:ext cx="4396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修改前 x[i] 与 y[i] 相距 100 个元素（400 B），同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一轮计算要访问两个不同的块；修改后两者紧挨着，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通常落在同一个块里，一次调入就够。</a:t>
              </a:r>
            </a:p>
          </p:txBody>
        </p:sp>
      </p:grpSp>
      <p:grpSp>
        <p:nvGrpSpPr>
          <p:cNvPr id="58" name="c2-code-3"/>
          <p:cNvGrpSpPr/>
          <p:nvPr/>
        </p:nvGrpSpPr>
        <p:grpSpPr>
          <a:xfrm>
            <a:off x="6248400" y="3973830"/>
            <a:ext cx="5410200" cy="969645"/>
            <a:chOff x="6248400" y="3973830"/>
            <a:chExt cx="5410200" cy="969645"/>
          </a:xfrm>
        </p:grpSpPr>
        <p:sp>
          <p:nvSpPr>
            <p:cNvPr id="55" name="Rectangle 55"/>
            <p:cNvSpPr/>
            <p:nvPr/>
          </p:nvSpPr>
          <p:spPr>
            <a:xfrm>
              <a:off x="6248400" y="3973830"/>
              <a:ext cx="5410200" cy="969645"/>
            </a:xfrm>
            <a:prstGeom prst="roundRect">
              <a:avLst>
                <a:gd name="adj" fmla="val 982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376797" y="412575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修改后的典型用法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375082" y="4390311"/>
              <a:ext cx="4954524" cy="4929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en-US" sz="131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3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0; i &lt; 100; i = i+1)</a:t>
              </a:r>
              <a:br/>
              <a:r>
                <a:rPr lang="en-US" sz="13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sum = sum + merged_array[i].x * merged_array[i].y;</a:t>
              </a:r>
            </a:p>
          </p:txBody>
        </p:sp>
      </p:grpSp>
      <p:grpSp>
        <p:nvGrpSpPr>
          <p:cNvPr id="65" name="c2-callout-4"/>
          <p:cNvGrpSpPr/>
          <p:nvPr/>
        </p:nvGrpSpPr>
        <p:grpSpPr>
          <a:xfrm>
            <a:off x="6248400" y="5133975"/>
            <a:ext cx="5410200" cy="1112520"/>
            <a:chOff x="6248400" y="5133975"/>
            <a:chExt cx="5410200" cy="1112520"/>
          </a:xfrm>
        </p:grpSpPr>
        <p:sp>
          <p:nvSpPr>
            <p:cNvPr id="59" name="Rectangle 59"/>
            <p:cNvSpPr/>
            <p:nvPr/>
          </p:nvSpPr>
          <p:spPr>
            <a:xfrm>
              <a:off x="6248400" y="5133975"/>
              <a:ext cx="5410200" cy="1112520"/>
            </a:xfrm>
            <a:prstGeom prst="roundRect">
              <a:avLst>
                <a:gd name="adj" fmla="val 1027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6453188" y="5590223"/>
              <a:ext cx="200026" cy="200025"/>
              <a:chOff x="6453188" y="5590223"/>
              <a:chExt cx="200026" cy="200025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6453188" y="559022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492926" y="563467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527642" y="574579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6755130" y="5447348"/>
              <a:ext cx="43776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这里假设 int 占 4 B。块至少 8 B 时，x[i]、y[i] 合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并后多数情况在同一块中。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841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741" y="407194"/>
              <a:ext cx="2573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03 缓存优化 · 降低不命中率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内外循环交换：按存储顺序访问数组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626418" cy="1274445"/>
            <a:chOff x="533400" y="1524000"/>
            <a:chExt cx="5626418" cy="12744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142970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7361" y="1763554"/>
              <a:ext cx="13046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（2）内外循环交换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485660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基本思想是提高访问的局部性。C 语言的二维数组按行存储，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内层循环应当遍历列下标，让相邻两次访问的地址也相邻。</a:t>
              </a:r>
            </a:p>
          </p:txBody>
        </p:sp>
      </p:grpSp>
      <p:grpSp>
        <p:nvGrpSpPr>
          <p:cNvPr id="20" name="c1-code-2"/>
          <p:cNvGrpSpPr/>
          <p:nvPr/>
        </p:nvGrpSpPr>
        <p:grpSpPr>
          <a:xfrm>
            <a:off x="533400" y="2984182"/>
            <a:ext cx="5626418" cy="2622232"/>
            <a:chOff x="533400" y="2984182"/>
            <a:chExt cx="5626418" cy="2622232"/>
          </a:xfrm>
        </p:grpSpPr>
        <p:sp>
          <p:nvSpPr>
            <p:cNvPr id="13" name="Rectangle 13"/>
            <p:cNvSpPr/>
            <p:nvPr/>
          </p:nvSpPr>
          <p:spPr>
            <a:xfrm>
              <a:off x="533400" y="2984182"/>
              <a:ext cx="5626418" cy="2622232"/>
            </a:xfrm>
            <a:prstGeom prst="roundRect">
              <a:avLst>
                <a:gd name="adj" fmla="val 363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313610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52450" y="3587115"/>
              <a:ext cx="5588318" cy="23622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52450" y="3823335"/>
              <a:ext cx="5588318" cy="23622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52450" y="4768215"/>
              <a:ext cx="5588318" cy="23622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52450" y="5004435"/>
              <a:ext cx="5588318" cy="23622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60082" y="3400663"/>
              <a:ext cx="3124454" cy="21464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zh-CN" sz="131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修改前：外层 j、内层 i */</a:t>
              </a:r>
              <a:br/>
              <a:r>
                <a:rPr lang="en-US" sz="131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3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= 0; j &lt; 100; j = j+1)</a:t>
              </a:r>
              <a:br/>
              <a:r>
                <a:rPr lang="zh-CN" sz="13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31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3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0; i &lt; 5000; i = i+1)</a:t>
              </a:r>
              <a:br/>
              <a:r>
                <a:rPr lang="en-US" sz="13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x[i][j] = 2 * x[i][j];</a:t>
              </a:r>
              <a:br/>
              <a:r>
                <a:rPr lang="zh-CN" sz="13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31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修改后：外层 i、内层 j */</a:t>
              </a:r>
              <a:br/>
              <a:r>
                <a:rPr lang="en-US" sz="131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3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0; i &lt; 5000; i = i+1)</a:t>
              </a:r>
              <a:br/>
              <a:r>
                <a:rPr lang="zh-CN" sz="13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31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3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= 0; j &lt; 100; j = j+1)</a:t>
              </a:r>
              <a:br/>
              <a:r>
                <a:rPr lang="en-US" sz="13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x[i][j] = 2 * x[i][j];</a:t>
              </a:r>
            </a:p>
          </p:txBody>
        </p:sp>
      </p:grpSp>
      <p:grpSp>
        <p:nvGrpSpPr>
          <p:cNvPr id="39" name="c2-cells-1"/>
          <p:cNvGrpSpPr/>
          <p:nvPr/>
        </p:nvGrpSpPr>
        <p:grpSpPr>
          <a:xfrm>
            <a:off x="6459284" y="1524000"/>
            <a:ext cx="5199316" cy="979170"/>
            <a:chOff x="6459284" y="1524000"/>
            <a:chExt cx="5199316" cy="979170"/>
          </a:xfrm>
        </p:grpSpPr>
        <p:sp>
          <p:nvSpPr>
            <p:cNvPr id="21" name="TextBox 21"/>
            <p:cNvSpPr txBox="1"/>
            <p:nvPr/>
          </p:nvSpPr>
          <p:spPr>
            <a:xfrm>
              <a:off x="6459284" y="1662112"/>
              <a:ext cx="4640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 0 行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025640" y="1524000"/>
              <a:ext cx="115824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313720" y="1662112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x[0][0]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183880" y="1524000"/>
              <a:ext cx="115824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471960" y="1662112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x[0][1]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342120" y="1524000"/>
              <a:ext cx="115824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875091" y="166211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0500360" y="1524000"/>
              <a:ext cx="115824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747625" y="1662112"/>
              <a:ext cx="6637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x[0][99]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59284" y="2234565"/>
              <a:ext cx="4640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 1 行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025640" y="2096452"/>
              <a:ext cx="1158240" cy="40671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313720" y="2234565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x[1][0]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183880" y="2096452"/>
              <a:ext cx="115824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471960" y="2234565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x[1][1]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9342120" y="2096452"/>
              <a:ext cx="115824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875091" y="223456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0500360" y="2096452"/>
              <a:ext cx="115824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747625" y="2234565"/>
              <a:ext cx="6637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x[1][99]</a:t>
              </a:r>
            </a:p>
          </p:txBody>
        </p:sp>
      </p:grpSp>
      <p:grpSp>
        <p:nvGrpSpPr>
          <p:cNvPr id="55" name="c2-table-2"/>
          <p:cNvGrpSpPr/>
          <p:nvPr/>
        </p:nvGrpSpPr>
        <p:grpSpPr>
          <a:xfrm>
            <a:off x="6464618" y="2688908"/>
            <a:ext cx="5193982" cy="1290638"/>
            <a:chOff x="6464618" y="2688908"/>
            <a:chExt cx="5193982" cy="1290638"/>
          </a:xfrm>
        </p:grpSpPr>
        <p:sp>
          <p:nvSpPr>
            <p:cNvPr id="40" name="Rectangle 40"/>
            <p:cNvSpPr/>
            <p:nvPr/>
          </p:nvSpPr>
          <p:spPr>
            <a:xfrm>
              <a:off x="6464618" y="2688908"/>
              <a:ext cx="5193982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024688" y="282035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写法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518970" y="282035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相邻两次访问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550271" y="282035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地址间隔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69964" y="324993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修改前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024432" y="3249930"/>
              <a:ext cx="14418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x[0][0] → x[1][0]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205656" y="3249930"/>
              <a:ext cx="8275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100 个元素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464618" y="354425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464618" y="3549015"/>
              <a:ext cx="519398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69964" y="36804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修改后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024432" y="3680460"/>
              <a:ext cx="14418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x[0][0] → x[0][1]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205656" y="3680460"/>
              <a:ext cx="6410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 个元素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464618" y="2688908"/>
              <a:ext cx="5193982" cy="129063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7914322" y="2688908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10095548" y="2688908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4" name="c2-kv-3"/>
          <p:cNvGrpSpPr/>
          <p:nvPr/>
        </p:nvGrpSpPr>
        <p:grpSpPr>
          <a:xfrm>
            <a:off x="6457379" y="4187666"/>
            <a:ext cx="5201221" cy="1122617"/>
            <a:chOff x="6457379" y="4187666"/>
            <a:chExt cx="5201221" cy="1122617"/>
          </a:xfrm>
        </p:grpSpPr>
        <p:sp>
          <p:nvSpPr>
            <p:cNvPr id="56" name="TextBox 56"/>
            <p:cNvSpPr txBox="1"/>
            <p:nvPr/>
          </p:nvSpPr>
          <p:spPr>
            <a:xfrm>
              <a:off x="6457379" y="418766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行优先存储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644194" y="4187666"/>
              <a:ext cx="39523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x[i][j] 的地址 = 起址 + (100i + j) × 元素大小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464618" y="449389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457379" y="4609624"/>
              <a:ext cx="7083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内层变 j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644194" y="4609624"/>
              <a:ext cx="27193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地址每次加 1 个元素，顺序访问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464618" y="491585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457379" y="5031581"/>
              <a:ext cx="7083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内层变 i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644194" y="5031581"/>
              <a:ext cx="29296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地址每次加 100 个元素，跳跃访问</a:t>
              </a:r>
            </a:p>
          </p:txBody>
        </p:sp>
      </p:grpSp>
      <p:grpSp>
        <p:nvGrpSpPr>
          <p:cNvPr id="70" name="c2-callout-4"/>
          <p:cNvGrpSpPr/>
          <p:nvPr/>
        </p:nvGrpSpPr>
        <p:grpSpPr>
          <a:xfrm>
            <a:off x="6464618" y="5439728"/>
            <a:ext cx="5193982" cy="756285"/>
            <a:chOff x="6464618" y="5439728"/>
            <a:chExt cx="5193982" cy="756285"/>
          </a:xfrm>
        </p:grpSpPr>
        <p:sp>
          <p:nvSpPr>
            <p:cNvPr id="65" name="Rectangle 65"/>
            <p:cNvSpPr/>
            <p:nvPr/>
          </p:nvSpPr>
          <p:spPr>
            <a:xfrm>
              <a:off x="6464618" y="5439728"/>
              <a:ext cx="5193982" cy="756285"/>
            </a:xfrm>
            <a:prstGeom prst="roundRect">
              <a:avLst>
                <a:gd name="adj" fmla="val 15113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6669405" y="5717858"/>
              <a:ext cx="200026" cy="200026"/>
              <a:chOff x="6669405" y="5717858"/>
              <a:chExt cx="200026" cy="200026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6669405" y="57178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6736080" y="579564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6971729" y="5586889"/>
              <a:ext cx="416229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修改后每调入一块，都能被接下来的几次访问连续用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上；修改前几乎每次访问都换到另一块。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841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741" y="407194"/>
              <a:ext cx="2573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03 缓存优化 · 降低不命中率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循环融合：数据在被换出之前反复使用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1441132"/>
            <a:chOff x="533400" y="1524000"/>
            <a:chExt cx="5626418" cy="14411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441132"/>
            </a:xfrm>
            <a:prstGeom prst="roundRect">
              <a:avLst>
                <a:gd name="adj" fmla="val 660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9188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修改前：两个循环各扫一遍 a、b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0082" y="1940481"/>
              <a:ext cx="2941447" cy="96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en-US" sz="131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3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= 0; j &lt; 100; j = j+1)</a:t>
              </a:r>
              <a:br/>
              <a:r>
                <a:rPr lang="en-US" sz="13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x[i][j] = a[i][j] + b[i][j];</a:t>
              </a:r>
              <a:br/>
              <a:r>
                <a:rPr lang="en-US" sz="131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3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= 0; j &lt; 100; j = j+1)</a:t>
              </a:r>
              <a:br/>
              <a:r>
                <a:rPr lang="en-US" sz="13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y[i][j] = a[i][j] - b[i][j];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3150870"/>
            <a:ext cx="5626418" cy="1441132"/>
            <a:chOff x="533400" y="3150870"/>
            <a:chExt cx="5626418" cy="1441132"/>
          </a:xfrm>
        </p:grpSpPr>
        <p:sp>
          <p:nvSpPr>
            <p:cNvPr id="11" name="Rectangle 11"/>
            <p:cNvSpPr/>
            <p:nvPr/>
          </p:nvSpPr>
          <p:spPr>
            <a:xfrm>
              <a:off x="533400" y="3150870"/>
              <a:ext cx="5626418" cy="1441132"/>
            </a:xfrm>
            <a:prstGeom prst="roundRect">
              <a:avLst>
                <a:gd name="adj" fmla="val 660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3302794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修改后：一次扫描完成两种运算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0082" y="3567351"/>
              <a:ext cx="2941447" cy="96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en-US" sz="131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3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= 0; j &lt; 100; j = j+1) {</a:t>
              </a:r>
              <a:br/>
              <a:r>
                <a:rPr lang="en-US" sz="13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x[i][j] = a[i][j] + b[i][j];</a:t>
              </a:r>
              <a:br/>
              <a:r>
                <a:rPr lang="en-US" sz="13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y[i][j] = a[i][j] - b[i][j];</a:t>
              </a:r>
              <a:br/>
              <a:r>
                <a:rPr lang="zh-CN" sz="13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1" name="c1-callout-3"/>
          <p:cNvGrpSpPr/>
          <p:nvPr/>
        </p:nvGrpSpPr>
        <p:grpSpPr>
          <a:xfrm>
            <a:off x="533400" y="4777740"/>
            <a:ext cx="5626418" cy="1018222"/>
            <a:chOff x="533400" y="4777740"/>
            <a:chExt cx="5626418" cy="1018222"/>
          </a:xfrm>
        </p:grpSpPr>
        <p:sp>
          <p:nvSpPr>
            <p:cNvPr id="15" name="Rectangle 15"/>
            <p:cNvSpPr/>
            <p:nvPr/>
          </p:nvSpPr>
          <p:spPr>
            <a:xfrm>
              <a:off x="533400" y="4777740"/>
              <a:ext cx="5626418" cy="1018222"/>
            </a:xfrm>
            <a:prstGeom prst="roundRect">
              <a:avLst>
                <a:gd name="adj" fmla="val 1122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38188" y="5187315"/>
              <a:ext cx="200026" cy="200026"/>
              <a:chOff x="738188" y="5187315"/>
              <a:chExt cx="200026" cy="20002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38188" y="518731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38200" y="52539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27088" y="528732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0511" y="4924901"/>
              <a:ext cx="470331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能融合的前提：几个循环的迭代范围相同，而且融合后改变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语句的执行次序不会改变计算结果。本例两条语句只读 a、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b，分别写 x、y，互不影响。</a:t>
              </a:r>
            </a:p>
          </p:txBody>
        </p:sp>
      </p:grpSp>
      <p:grpSp>
        <p:nvGrpSpPr>
          <p:cNvPr id="27" name="c2-card-1"/>
          <p:cNvGrpSpPr/>
          <p:nvPr/>
        </p:nvGrpSpPr>
        <p:grpSpPr>
          <a:xfrm>
            <a:off x="6464618" y="1524000"/>
            <a:ext cx="5193982" cy="1545908"/>
            <a:chOff x="6464618" y="1524000"/>
            <a:chExt cx="5193982" cy="1545908"/>
          </a:xfrm>
        </p:grpSpPr>
        <p:sp>
          <p:nvSpPr>
            <p:cNvPr id="22" name="Rectangle 22"/>
            <p:cNvSpPr/>
            <p:nvPr/>
          </p:nvSpPr>
          <p:spPr>
            <a:xfrm>
              <a:off x="6464618" y="1524000"/>
              <a:ext cx="5193982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474142" y="1657350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706552" y="1727835"/>
              <a:ext cx="1144905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77431" y="1763554"/>
              <a:ext cx="10031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（3）循环融合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99314" y="2100739"/>
              <a:ext cx="452297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把若干个独立的循环融合为单个循环。这些循环访问同样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的数组，对相同的数据作不同的运算。融合后，读入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 的数据在被替换出去之前能得到反复使用。</a:t>
              </a:r>
            </a:p>
          </p:txBody>
        </p:sp>
      </p:grpSp>
      <p:grpSp>
        <p:nvGrpSpPr>
          <p:cNvPr id="48" name="c2-compare-2"/>
          <p:cNvGrpSpPr/>
          <p:nvPr/>
        </p:nvGrpSpPr>
        <p:grpSpPr>
          <a:xfrm>
            <a:off x="6464618" y="3255645"/>
            <a:ext cx="5193982" cy="2540318"/>
            <a:chOff x="6464618" y="3255645"/>
            <a:chExt cx="5193982" cy="2540318"/>
          </a:xfrm>
        </p:grpSpPr>
        <p:sp>
          <p:nvSpPr>
            <p:cNvPr id="28" name="Rectangle 28"/>
            <p:cNvSpPr/>
            <p:nvPr/>
          </p:nvSpPr>
          <p:spPr>
            <a:xfrm>
              <a:off x="6464618" y="3255645"/>
              <a:ext cx="2386965" cy="2540318"/>
            </a:xfrm>
            <a:prstGeom prst="roundRect">
              <a:avLst>
                <a:gd name="adj" fmla="val 55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74142" y="3388995"/>
              <a:ext cx="47625" cy="227361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99314" y="348281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修改前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714172" y="388143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70764" y="3821906"/>
              <a:ext cx="16375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第二个循环要重新访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 a[i][j]、b[i][j]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714172" y="447294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870764" y="4413409"/>
              <a:ext cx="16375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这时它们可能已被替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换出 Cache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714172" y="506444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70764" y="5004911"/>
              <a:ext cx="16375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同一批数据可能调入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两次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9271635" y="3255645"/>
              <a:ext cx="2386965" cy="2540318"/>
            </a:xfrm>
            <a:prstGeom prst="roundRect">
              <a:avLst>
                <a:gd name="adj" fmla="val 55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9281160" y="3388995"/>
              <a:ext cx="47625" cy="227361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506331" y="348281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修改后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9521190" y="388143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677781" y="3821906"/>
              <a:ext cx="16375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两条语句紧挨着使用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同一批数据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9521190" y="447294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677781" y="4413409"/>
              <a:ext cx="16375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第一次访问调入，第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二次必然命中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9521190" y="506444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677781" y="500491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循环控制开销也减半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8900160" y="436435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970500" y="446055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841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741" y="407194"/>
              <a:ext cx="2573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03 缓存优化 · 降低不命中率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分块：矩阵乘法按整行整列访问，最坏情况每次都不命中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09675"/>
            <a:chOff x="533400" y="1524000"/>
            <a:chExt cx="5410200" cy="12096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820102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4629" y="1750695"/>
              <a:ext cx="6577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（4）分块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把对数组的整行或整列访问改为按块进行，尽量集中访问，减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少替换，提高访问的局部性。</a:t>
              </a:r>
            </a:p>
          </p:txBody>
        </p:sp>
      </p:grpSp>
      <p:grpSp>
        <p:nvGrpSpPr>
          <p:cNvPr id="16" name="c1-code-2"/>
          <p:cNvGrpSpPr/>
          <p:nvPr/>
        </p:nvGrpSpPr>
        <p:grpSpPr>
          <a:xfrm>
            <a:off x="533400" y="2908935"/>
            <a:ext cx="5410200" cy="2049780"/>
            <a:chOff x="533400" y="2908935"/>
            <a:chExt cx="5410200" cy="2049780"/>
          </a:xfrm>
        </p:grpSpPr>
        <p:sp>
          <p:nvSpPr>
            <p:cNvPr id="13" name="Rectangle 13"/>
            <p:cNvSpPr/>
            <p:nvPr/>
          </p:nvSpPr>
          <p:spPr>
            <a:xfrm>
              <a:off x="533400" y="2908935"/>
              <a:ext cx="5410200" cy="2049780"/>
            </a:xfrm>
            <a:prstGeom prst="roundRect">
              <a:avLst>
                <a:gd name="adj" fmla="val 464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3060859"/>
              <a:ext cx="10847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修改前：x = y × z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0502" y="3323844"/>
              <a:ext cx="3277286" cy="15721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8"/>
                </a:lnSpc>
              </a:pPr>
              <a:r>
                <a:rPr lang="en-US" sz="123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2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0; i &lt; N; i = i+1)</a:t>
              </a:r>
              <a:br/>
              <a:r>
                <a:rPr lang="zh-CN" sz="12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23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2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= 0; j &lt; N; j = j+1) {</a:t>
              </a:r>
              <a:br/>
              <a:r>
                <a:rPr lang="en-US" sz="12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 = 0;</a:t>
              </a:r>
              <a:br/>
              <a:r>
                <a:rPr lang="zh-CN" sz="12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23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2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= 0; k &lt; N; k = k+1)</a:t>
              </a:r>
              <a:br/>
              <a:r>
                <a:rPr lang="en-US" sz="12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r = r + y[i][k] * z[k][j];</a:t>
              </a:r>
              <a:br/>
              <a:r>
                <a:rPr lang="en-US" sz="12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x[i][j] = r;</a:t>
              </a:r>
              <a:br/>
              <a:r>
                <a:rPr lang="zh-CN" sz="12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</a:p>
          </p:txBody>
        </p:sp>
      </p:grpSp>
      <p:grpSp>
        <p:nvGrpSpPr>
          <p:cNvPr id="23" name="c1-callout-3"/>
          <p:cNvGrpSpPr/>
          <p:nvPr/>
        </p:nvGrpSpPr>
        <p:grpSpPr>
          <a:xfrm>
            <a:off x="533400" y="5133975"/>
            <a:ext cx="5410200" cy="1136332"/>
            <a:chOff x="533400" y="5133975"/>
            <a:chExt cx="5410200" cy="1136332"/>
          </a:xfrm>
        </p:grpSpPr>
        <p:sp>
          <p:nvSpPr>
            <p:cNvPr id="17" name="Rectangle 17"/>
            <p:cNvSpPr/>
            <p:nvPr/>
          </p:nvSpPr>
          <p:spPr>
            <a:xfrm>
              <a:off x="533400" y="5133975"/>
              <a:ext cx="5410200" cy="1136332"/>
            </a:xfrm>
            <a:prstGeom prst="roundRect">
              <a:avLst>
                <a:gd name="adj" fmla="val 10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38188" y="5601653"/>
              <a:ext cx="200026" cy="200026"/>
              <a:chOff x="738188" y="5601653"/>
              <a:chExt cx="200026" cy="20002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38188" y="560165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38200" y="56683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27088" y="570166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0892" y="5358765"/>
              <a:ext cx="447141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内层循环里 y[i][k] 按行访问，而 z[k][j] 是 k 变、j 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变，按列访问按行存储的 z，相邻两次访问相隔 N 个元素。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很大时 Cache 放不下整行整列，就会反复替换。</a:t>
              </a:r>
            </a:p>
          </p:txBody>
        </p:sp>
      </p:grpSp>
      <p:grpSp>
        <p:nvGrpSpPr>
          <p:cNvPr id="41" name="c2-steps-1"/>
          <p:cNvGrpSpPr/>
          <p:nvPr/>
        </p:nvGrpSpPr>
        <p:grpSpPr>
          <a:xfrm>
            <a:off x="6248400" y="1533525"/>
            <a:ext cx="4615917" cy="2279809"/>
            <a:chOff x="6248400" y="1533525"/>
            <a:chExt cx="4615917" cy="2279809"/>
          </a:xfrm>
        </p:grpSpPr>
        <p:sp>
          <p:nvSpPr>
            <p:cNvPr id="24" name="Rectangle 24"/>
            <p:cNvSpPr/>
            <p:nvPr/>
          </p:nvSpPr>
          <p:spPr>
            <a:xfrm>
              <a:off x="6381750" y="1676400"/>
              <a:ext cx="19050" cy="17611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6248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42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248400" y="212026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42024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248400" y="270700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42024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248400" y="329469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42024" y="33685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60642" y="1564957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最内层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61785" y="1833086"/>
              <a:ext cx="38578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的第 i 行乘 z 的第 j 列：读 y、z 各 N 次，共 2N 次访问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60642" y="2152650"/>
              <a:ext cx="6734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对每个 j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61785" y="2419826"/>
              <a:ext cx="42025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取 N 个值：y 的一行依次乘 z 的第 1～N 列，2N × N = 2N² 次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60642" y="2739390"/>
              <a:ext cx="6734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对每个 i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61785" y="3006566"/>
              <a:ext cx="30088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共 N 行，重复上述过程：2N² × N = 2N³ 次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60642" y="3326130"/>
              <a:ext cx="3576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 x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61785" y="3593306"/>
              <a:ext cx="12849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x[i][j] 共写 N² 次</a:t>
              </a:r>
            </a:p>
          </p:txBody>
        </p:sp>
      </p:grpSp>
      <p:grpSp>
        <p:nvGrpSpPr>
          <p:cNvPr id="48" name="c2-callout-2"/>
          <p:cNvGrpSpPr/>
          <p:nvPr/>
        </p:nvGrpSpPr>
        <p:grpSpPr>
          <a:xfrm>
            <a:off x="6248400" y="3982402"/>
            <a:ext cx="5410200" cy="488632"/>
            <a:chOff x="6248400" y="3982402"/>
            <a:chExt cx="5410200" cy="488632"/>
          </a:xfrm>
        </p:grpSpPr>
        <p:sp>
          <p:nvSpPr>
            <p:cNvPr id="42" name="Rectangle 42"/>
            <p:cNvSpPr/>
            <p:nvPr/>
          </p:nvSpPr>
          <p:spPr>
            <a:xfrm>
              <a:off x="6248400" y="3982402"/>
              <a:ext cx="5410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441129" y="4123491"/>
              <a:ext cx="224134" cy="192560"/>
              <a:chOff x="6441129" y="4123491"/>
              <a:chExt cx="224134" cy="19256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553200" y="419385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441129" y="412349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553200" y="427164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755892" y="4132898"/>
              <a:ext cx="48184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最坏的情况是所有访问都不命中，不命中次数为 2N³ + N²。</a:t>
              </a:r>
            </a:p>
          </p:txBody>
        </p:sp>
      </p:grpSp>
      <p:grpSp>
        <p:nvGrpSpPr>
          <p:cNvPr id="63" name="c2-table-3"/>
          <p:cNvGrpSpPr/>
          <p:nvPr/>
        </p:nvGrpSpPr>
        <p:grpSpPr>
          <a:xfrm>
            <a:off x="6248400" y="4646295"/>
            <a:ext cx="5410200" cy="1623060"/>
            <a:chOff x="6248400" y="4646295"/>
            <a:chExt cx="5410200" cy="1623060"/>
          </a:xfrm>
        </p:grpSpPr>
        <p:sp>
          <p:nvSpPr>
            <p:cNvPr id="49" name="Rectangle 49"/>
            <p:cNvSpPr/>
            <p:nvPr/>
          </p:nvSpPr>
          <p:spPr>
            <a:xfrm>
              <a:off x="6248400" y="4646295"/>
              <a:ext cx="541020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297440" y="4770596"/>
              <a:ext cx="7727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= 100 时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081654" y="47705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访问次数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348412" y="5176361"/>
              <a:ext cx="9613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 y、z：2N³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876211" y="5176361"/>
              <a:ext cx="682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2 000 000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248400" y="54530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248400" y="545782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348412" y="5582126"/>
              <a:ext cx="6315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 x：N²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087296" y="5582126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10 000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248400" y="58588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348412" y="598789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最坏不命中合计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842664" y="5987891"/>
              <a:ext cx="7159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2 010 000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248400" y="4646295"/>
              <a:ext cx="5410200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9114472" y="46462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002187" cy="909257"/>
            <a:chOff x="520446" y="342900"/>
            <a:chExt cx="500218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841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741" y="407194"/>
              <a:ext cx="2573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03 缓存优化 · 降低不命中率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0021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分块后：每次只算 B×B 的子矩阵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6059805" cy="2428875"/>
            <a:chOff x="533400" y="1524000"/>
            <a:chExt cx="6059805" cy="24288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2428875"/>
            </a:xfrm>
            <a:prstGeom prst="roundRect">
              <a:avLst>
                <a:gd name="adj" fmla="val 392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6125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修改后（B 为分块因子，x 各元素事先清 0）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536508"/>
              <a:ext cx="6021705" cy="2143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2965132"/>
              <a:ext cx="6021705" cy="2143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0730" y="1939004"/>
              <a:ext cx="3885921" cy="19462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8"/>
                </a:lnSpc>
              </a:pPr>
              <a:r>
                <a:rPr lang="en-US" sz="11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1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(jj = 0; jj &lt; N; jj = jj+B)</a:t>
              </a:r>
              <a:br/>
              <a:r>
                <a:rPr lang="en-US" sz="11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1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(kk = 0; kk &lt; N; kk = kk+B)</a:t>
              </a:r>
              <a:br/>
              <a:r>
                <a:rPr lang="en-US" sz="11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1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0; i &lt; N; i = i+1)</a:t>
              </a:r>
              <a:br/>
              <a:r>
                <a:rPr lang="zh-CN" sz="11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1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= jj; j &lt; min(jj+B, N); j = j+1) {</a:t>
              </a:r>
              <a:br/>
              <a:r>
                <a:rPr lang="en-US" sz="11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 = 0;</a:t>
              </a:r>
              <a:br/>
              <a:r>
                <a:rPr lang="zh-CN" sz="11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1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= kk; k &lt; min(kk+B, N); k = k+1)</a:t>
              </a:r>
              <a:br/>
              <a:r>
                <a:rPr lang="en-US" sz="11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r = r + y[i][k] * z[k][j];</a:t>
              </a:r>
              <a:br/>
              <a:r>
                <a:rPr lang="en-US" sz="11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x[i][j] = x[i][j] + r;</a:t>
              </a:r>
              <a:br/>
              <a:r>
                <a:rPr lang="zh-CN" sz="11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</a:p>
          </p:txBody>
        </p:sp>
      </p:grpSp>
      <p:grpSp>
        <p:nvGrpSpPr>
          <p:cNvPr id="18" name="c1-callout-2"/>
          <p:cNvGrpSpPr/>
          <p:nvPr/>
        </p:nvGrpSpPr>
        <p:grpSpPr>
          <a:xfrm>
            <a:off x="533400" y="4122420"/>
            <a:ext cx="6059805" cy="729615"/>
            <a:chOff x="533400" y="4122420"/>
            <a:chExt cx="6059805" cy="729615"/>
          </a:xfrm>
        </p:grpSpPr>
        <p:sp>
          <p:nvSpPr>
            <p:cNvPr id="13" name="Rectangle 13"/>
            <p:cNvSpPr/>
            <p:nvPr/>
          </p:nvSpPr>
          <p:spPr>
            <a:xfrm>
              <a:off x="533400" y="4122420"/>
              <a:ext cx="6059805" cy="729615"/>
            </a:xfrm>
            <a:prstGeom prst="roundRect">
              <a:avLst>
                <a:gd name="adj" fmla="val 1566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738188" y="4387217"/>
              <a:ext cx="200023" cy="200023"/>
              <a:chOff x="738188" y="4387217"/>
              <a:chExt cx="200023" cy="20002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38188" y="438721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71538" y="44538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040892" y="4268152"/>
              <a:ext cx="477145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最坏情况的不命中次数降为 2N³/B + N²。例如 N = 100、B = 10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时，从 2 010 000 次降到 210 000 次。</a:t>
              </a:r>
            </a:p>
          </p:txBody>
        </p:sp>
      </p:grpSp>
      <p:grpSp>
        <p:nvGrpSpPr>
          <p:cNvPr id="55" name="c1-cells-3"/>
          <p:cNvGrpSpPr/>
          <p:nvPr/>
        </p:nvGrpSpPr>
        <p:grpSpPr>
          <a:xfrm>
            <a:off x="528638" y="5021580"/>
            <a:ext cx="2148839" cy="912494"/>
            <a:chOff x="528638" y="5021580"/>
            <a:chExt cx="2148839" cy="912494"/>
          </a:xfrm>
        </p:grpSpPr>
        <p:sp>
          <p:nvSpPr>
            <p:cNvPr id="19" name="TextBox 19"/>
            <p:cNvSpPr txBox="1"/>
            <p:nvPr/>
          </p:nvSpPr>
          <p:spPr>
            <a:xfrm>
              <a:off x="528638" y="5078730"/>
              <a:ext cx="5062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z 第 0 行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135380" y="5021580"/>
              <a:ext cx="385762" cy="22669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218069" y="5078730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z00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521142" y="5021580"/>
              <a:ext cx="385762" cy="22669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603832" y="5078730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z01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906905" y="5021580"/>
              <a:ext cx="385762" cy="22669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989594" y="5078730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z02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291715" y="5021580"/>
              <a:ext cx="385762" cy="22669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375357" y="5078730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z03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8638" y="5305425"/>
              <a:ext cx="5062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z 第 1 行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135380" y="5248275"/>
              <a:ext cx="385762" cy="22669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218069" y="5305425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z10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521142" y="5248275"/>
              <a:ext cx="385762" cy="22669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603832" y="5305425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z11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906905" y="5248275"/>
              <a:ext cx="385762" cy="22669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989594" y="5305425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z12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291715" y="5248275"/>
              <a:ext cx="385762" cy="22669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375357" y="5305425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z13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8638" y="5531167"/>
              <a:ext cx="5062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z 第 2 行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135380" y="5474018"/>
              <a:ext cx="385762" cy="22669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218069" y="5531167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z20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521142" y="5474018"/>
              <a:ext cx="385762" cy="22669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603832" y="5531167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z21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906905" y="5474018"/>
              <a:ext cx="385762" cy="22669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989594" y="5531167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z22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2291715" y="5474018"/>
              <a:ext cx="385762" cy="22669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2375357" y="5531167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z23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28638" y="5757862"/>
              <a:ext cx="5062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z 第 3 行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135380" y="5700712"/>
              <a:ext cx="385762" cy="22669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218069" y="5757862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z30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521142" y="5700712"/>
              <a:ext cx="385762" cy="22669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603832" y="5757862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z31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1906905" y="5700712"/>
              <a:ext cx="385762" cy="22669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989594" y="5757862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z32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2291715" y="5700712"/>
              <a:ext cx="385762" cy="22669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375357" y="5757862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z33</a:t>
              </a:r>
            </a:p>
          </p:txBody>
        </p:sp>
      </p:grpSp>
      <p:grpSp>
        <p:nvGrpSpPr>
          <p:cNvPr id="57" name="c1-text-4"/>
          <p:cNvGrpSpPr/>
          <p:nvPr/>
        </p:nvGrpSpPr>
        <p:grpSpPr>
          <a:xfrm>
            <a:off x="527685" y="6115526"/>
            <a:ext cx="5118415" cy="220028"/>
            <a:chOff x="527685" y="6115526"/>
            <a:chExt cx="5118415" cy="220028"/>
          </a:xfrm>
        </p:grpSpPr>
        <p:sp>
          <p:nvSpPr>
            <p:cNvPr id="56" name="TextBox 56"/>
            <p:cNvSpPr txBox="1"/>
            <p:nvPr/>
          </p:nvSpPr>
          <p:spPr>
            <a:xfrm>
              <a:off x="527685" y="6115526"/>
              <a:ext cx="51184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4、B = 2 时，kk = 0、jj = 0 这一轮只用到 z 左上角 2×2 的子块（橙色）</a:t>
              </a:r>
            </a:p>
          </p:txBody>
        </p:sp>
      </p:grpSp>
      <p:grpSp>
        <p:nvGrpSpPr>
          <p:cNvPr id="64" name="c2-card-1"/>
          <p:cNvGrpSpPr/>
          <p:nvPr/>
        </p:nvGrpSpPr>
        <p:grpSpPr>
          <a:xfrm>
            <a:off x="6898005" y="1524000"/>
            <a:ext cx="4760595" cy="1704022"/>
            <a:chOff x="6898005" y="1524000"/>
            <a:chExt cx="4760595" cy="1704022"/>
          </a:xfrm>
        </p:grpSpPr>
        <p:sp>
          <p:nvSpPr>
            <p:cNvPr id="58" name="Rectangle 58"/>
            <p:cNvSpPr/>
            <p:nvPr/>
          </p:nvSpPr>
          <p:spPr>
            <a:xfrm>
              <a:off x="6898005" y="1524000"/>
              <a:ext cx="4760595" cy="1704022"/>
            </a:xfrm>
            <a:prstGeom prst="roundRect">
              <a:avLst>
                <a:gd name="adj" fmla="val 78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907530" y="1657350"/>
              <a:ext cx="47625" cy="143732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7122795" y="1710690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203313" y="174355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为什么有效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115937" y="2054542"/>
              <a:ext cx="411994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 B 使参与运算的子块能放进 Cache。内层 i、j、k 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环反复访问的是 y、z 的一小块区域，这些数据调入后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在处理完这一块之前不会被换出。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117080" y="2865596"/>
              <a:ext cx="38863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x[i][j] 要累加各个 kk 块的结果，所以写成 x[i][j] + r。</a:t>
              </a:r>
            </a:p>
          </p:txBody>
        </p:sp>
      </p:grpSp>
      <p:grpSp>
        <p:nvGrpSpPr>
          <p:cNvPr id="70" name="c2-card-2"/>
          <p:cNvGrpSpPr/>
          <p:nvPr/>
        </p:nvGrpSpPr>
        <p:grpSpPr>
          <a:xfrm>
            <a:off x="6898005" y="3398520"/>
            <a:ext cx="4760595" cy="2892742"/>
            <a:chOff x="6898005" y="3398520"/>
            <a:chExt cx="4760595" cy="2892742"/>
          </a:xfrm>
        </p:grpSpPr>
        <p:sp>
          <p:nvSpPr>
            <p:cNvPr id="65" name="Rectangle 65"/>
            <p:cNvSpPr/>
            <p:nvPr/>
          </p:nvSpPr>
          <p:spPr>
            <a:xfrm>
              <a:off x="6898005" y="3398520"/>
              <a:ext cx="4760595" cy="2892742"/>
            </a:xfrm>
            <a:prstGeom prst="roundRect">
              <a:avLst>
                <a:gd name="adj" fmla="val 461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6907530" y="3531870"/>
              <a:ext cx="47625" cy="262604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7122795" y="358521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214514" y="361807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115937" y="3929062"/>
              <a:ext cx="4060793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原课件的循环条件写作 j &lt; min(jj+B-1, N)、k &lt;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min(kk+B-1, N)，每块会漏掉最后一列（行），乘积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结果错误。应为 </a:t>
              </a:r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min(jj+B, N)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和 </a:t>
              </a:r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min(kk+B, N)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。已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7×7 矩阵、B = 3 与普通乘法对比验证。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60050" cy="909257"/>
            <a:chOff x="520446" y="342900"/>
            <a:chExt cx="766005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841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741" y="407194"/>
              <a:ext cx="2573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03 缓存优化 · 降低不命中率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6005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方法八：牺牲 Cache，给被换出的块留一个回收站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6059805" cy="1602105"/>
            <a:chOff x="533400" y="1524000"/>
            <a:chExt cx="6059805" cy="16021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基本思想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53397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Cache 和它从下一级存储器调数据的通路之间设置一个全相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联的小 Cache，称为“牺牲”Cache（Victim Cache），存放被替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换出去的块（牺牲者），以备重用。</a:t>
              </a:r>
            </a:p>
          </p:txBody>
        </p:sp>
      </p:grpSp>
      <p:grpSp>
        <p:nvGrpSpPr>
          <p:cNvPr id="43" name="c1-flow-2"/>
          <p:cNvGrpSpPr/>
          <p:nvPr/>
        </p:nvGrpSpPr>
        <p:grpSpPr>
          <a:xfrm>
            <a:off x="745808" y="3478530"/>
            <a:ext cx="5634038" cy="2722245"/>
            <a:chOff x="745808" y="3478530"/>
            <a:chExt cx="5634038" cy="2722245"/>
          </a:xfrm>
        </p:grpSpPr>
        <p:sp>
          <p:nvSpPr>
            <p:cNvPr id="13" name="Freeform 13"/>
            <p:cNvSpPr/>
            <p:nvPr/>
          </p:nvSpPr>
          <p:spPr>
            <a:xfrm>
              <a:off x="2047875" y="3916680"/>
              <a:ext cx="9525" cy="137160"/>
            </a:xfrm>
            <a:custGeom>
              <a:avLst/>
              <a:gdLst/>
              <a:ahLst/>
              <a:cxnLst/>
              <a:rect l="l" t="t" r="r" b="b"/>
              <a:pathLst>
                <a:path w="9525" h="137160">
                  <a:moveTo>
                    <a:pt x="0" y="0"/>
                  </a:moveTo>
                  <a:lnTo>
                    <a:pt x="0" y="1371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995488" y="405384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350895" y="4458652"/>
              <a:ext cx="319088" cy="9525"/>
            </a:xfrm>
            <a:custGeom>
              <a:avLst/>
              <a:gdLst/>
              <a:ahLst/>
              <a:cxnLst/>
              <a:rect l="l" t="t" r="r" b="b"/>
              <a:pathLst>
                <a:path w="319088" h="9525">
                  <a:moveTo>
                    <a:pt x="0" y="0"/>
                  </a:moveTo>
                  <a:lnTo>
                    <a:pt x="31908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669982" y="440626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047875" y="4759642"/>
              <a:ext cx="9525" cy="55245"/>
            </a:xfrm>
            <a:custGeom>
              <a:avLst/>
              <a:gdLst/>
              <a:ahLst/>
              <a:cxnLst/>
              <a:rect l="l" t="t" r="r" b="b"/>
              <a:pathLst>
                <a:path w="9525" h="55245">
                  <a:moveTo>
                    <a:pt x="0" y="0"/>
                  </a:moveTo>
                  <a:lnTo>
                    <a:pt x="0" y="5524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995488" y="48148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3350895" y="5220652"/>
              <a:ext cx="319088" cy="9525"/>
            </a:xfrm>
            <a:custGeom>
              <a:avLst/>
              <a:gdLst/>
              <a:ahLst/>
              <a:cxnLst/>
              <a:rect l="l" t="t" r="r" b="b"/>
              <a:pathLst>
                <a:path w="319088" h="9525">
                  <a:moveTo>
                    <a:pt x="0" y="0"/>
                  </a:moveTo>
                  <a:lnTo>
                    <a:pt x="31908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669982" y="516826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2047875" y="5520690"/>
              <a:ext cx="1515428" cy="137160"/>
            </a:xfrm>
            <a:custGeom>
              <a:avLst/>
              <a:gdLst/>
              <a:ahLst/>
              <a:cxnLst/>
              <a:rect l="l" t="t" r="r" b="b"/>
              <a:pathLst>
                <a:path w="1515428" h="137160">
                  <a:moveTo>
                    <a:pt x="0" y="0"/>
                  </a:moveTo>
                  <a:lnTo>
                    <a:pt x="0" y="120967"/>
                  </a:lnTo>
                  <a:lnTo>
                    <a:pt x="1515428" y="120967"/>
                  </a:lnTo>
                  <a:lnTo>
                    <a:pt x="1515428" y="1371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3510915" y="56578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45808" y="3478530"/>
              <a:ext cx="2605088" cy="43815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745808" y="4158615"/>
              <a:ext cx="2605088" cy="601027"/>
            </a:xfrm>
            <a:custGeom>
              <a:avLst/>
              <a:gdLst/>
              <a:ahLst/>
              <a:cxnLst/>
              <a:rect l="l" t="t" r="r" b="b"/>
              <a:pathLst>
                <a:path w="2605088" h="601027">
                  <a:moveTo>
                    <a:pt x="1302068" y="0"/>
                  </a:moveTo>
                  <a:lnTo>
                    <a:pt x="2605088" y="300038"/>
                  </a:lnTo>
                  <a:lnTo>
                    <a:pt x="1302068" y="601027"/>
                  </a:lnTo>
                  <a:lnTo>
                    <a:pt x="0" y="300038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3774758" y="4239578"/>
              <a:ext cx="260508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745808" y="4919662"/>
              <a:ext cx="2605088" cy="601028"/>
            </a:xfrm>
            <a:custGeom>
              <a:avLst/>
              <a:gdLst/>
              <a:ahLst/>
              <a:cxnLst/>
              <a:rect l="l" t="t" r="r" b="b"/>
              <a:pathLst>
                <a:path w="2605088" h="601028">
                  <a:moveTo>
                    <a:pt x="1302068" y="0"/>
                  </a:moveTo>
                  <a:lnTo>
                    <a:pt x="2605088" y="300990"/>
                  </a:lnTo>
                  <a:lnTo>
                    <a:pt x="1302068" y="601028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3774758" y="5001578"/>
              <a:ext cx="2605088" cy="438150"/>
            </a:xfrm>
            <a:prstGeom prst="roundRect">
              <a:avLst>
                <a:gd name="adj" fmla="val 21739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957262" y="5762625"/>
              <a:ext cx="5211128" cy="43815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682693" y="3608546"/>
              <a:ext cx="7303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CPU 访存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17175" y="4369594"/>
              <a:ext cx="10614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 命中？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726673" y="436959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直接使用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18721" y="5131594"/>
              <a:ext cx="14583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牺牲 Cache 命中？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262467" y="5131594"/>
              <a:ext cx="16306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 Cache 中的块交换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640806" y="5892641"/>
              <a:ext cx="38449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从下一级存储器调块，被替换的块放入牺牲 Cache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449002" y="4242435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487293" y="426910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408045" y="4747260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450336" y="477393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449002" y="5004435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487293" y="503110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691765" y="5568315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730056" y="559498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</p:grpSp>
      <p:grpSp>
        <p:nvGrpSpPr>
          <p:cNvPr id="46" name="c2-image-1"/>
          <p:cNvGrpSpPr/>
          <p:nvPr/>
        </p:nvGrpSpPr>
        <p:grpSpPr>
          <a:xfrm>
            <a:off x="6898005" y="1524000"/>
            <a:ext cx="4760595" cy="2785587"/>
            <a:chOff x="6898005" y="1524000"/>
            <a:chExt cx="4760595" cy="2785587"/>
          </a:xfrm>
        </p:grpSpPr>
        <p:pic>
          <p:nvPicPr>
            <p:cNvPr id="44" name="Image 44"/>
            <p:cNvPicPr>
              <a:picLocks noChangeAspect="1"/>
            </p:cNvPicPr>
            <p:nvPr/>
          </p:nvPicPr>
          <p:blipFill>
            <a:blip r:embed="rId2"/>
            <a:srcRect l="0" t="15400" r="0" b="15399"/>
            <a:stretch>
              <a:fillRect/>
            </a:stretch>
          </p:blipFill>
          <p:spPr>
            <a:xfrm>
              <a:off x="6898005" y="1524000"/>
              <a:ext cx="4760595" cy="2470785"/>
            </a:xfrm>
            <a:prstGeom prst="roundRect">
              <a:avLst>
                <a:gd name="adj" fmla="val 5397"/>
              </a:avLst>
            </a:prstGeom>
          </p:spPr>
        </p:pic>
        <p:sp>
          <p:nvSpPr>
            <p:cNvPr id="45" name="TextBox 45"/>
            <p:cNvSpPr txBox="1"/>
            <p:nvPr/>
          </p:nvSpPr>
          <p:spPr>
            <a:xfrm>
              <a:off x="7132501" y="4089559"/>
              <a:ext cx="42916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牺牲 Cache 像案板旁的小托盘，刚推下去的食材伸手就能拿回来</a:t>
              </a:r>
            </a:p>
          </p:txBody>
        </p:sp>
      </p:grpSp>
      <p:grpSp>
        <p:nvGrpSpPr>
          <p:cNvPr id="52" name="c2-card-2"/>
          <p:cNvGrpSpPr/>
          <p:nvPr/>
        </p:nvGrpSpPr>
        <p:grpSpPr>
          <a:xfrm>
            <a:off x="6898005" y="4474845"/>
            <a:ext cx="4760595" cy="1887855"/>
            <a:chOff x="6898005" y="4474845"/>
            <a:chExt cx="4760595" cy="1887855"/>
          </a:xfrm>
        </p:grpSpPr>
        <p:sp>
          <p:nvSpPr>
            <p:cNvPr id="47" name="Rectangle 47"/>
            <p:cNvSpPr/>
            <p:nvPr/>
          </p:nvSpPr>
          <p:spPr>
            <a:xfrm>
              <a:off x="6898005" y="4474845"/>
              <a:ext cx="4760595" cy="1887855"/>
            </a:xfrm>
            <a:prstGeom prst="roundRect">
              <a:avLst>
                <a:gd name="adj" fmla="val 70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907530" y="4608195"/>
              <a:ext cx="47625" cy="162115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145655" y="468439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235863" y="47201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138035" y="5061585"/>
              <a:ext cx="406336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减少冲突不命中而又不影响时钟频率。对小容量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的直接映像数据 Cache 作用尤其明显：项数为 4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 Victim Cache 能使 4 KB Cache 的冲突不命中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减少 20%～90%。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20" name="section-title"/>
          <p:cNvGrpSpPr/>
          <p:nvPr/>
        </p:nvGrpSpPr>
        <p:grpSpPr>
          <a:xfrm>
            <a:off x="667512" y="1835468"/>
            <a:ext cx="3580638" cy="3706177"/>
            <a:chOff x="667512" y="1835468"/>
            <a:chExt cx="3580638" cy="370617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减少不命中开销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不命中已经发生，想办法少等一会儿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122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两级 Cache 与局部、全局不命中率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让读不命中优先于写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写缓冲合并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请求字处理技术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23900" y="530542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5248275"/>
              <a:ext cx="12438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非阻塞 Cache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1" name="TextBox 21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16769" cy="909257"/>
            <a:chOff x="520446" y="342900"/>
            <a:chExt cx="731676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2606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838" y="407194"/>
              <a:ext cx="27242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03 缓存优化 · 减少不命中开销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1676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方法一：两级 Cache，第一级求快，第二级求大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ard-1"/>
          <p:cNvGrpSpPr/>
          <p:nvPr/>
        </p:nvGrpSpPr>
        <p:grpSpPr>
          <a:xfrm>
            <a:off x="533400" y="1524000"/>
            <a:ext cx="4760595" cy="1316355"/>
            <a:chOff x="533400" y="1524000"/>
            <a:chExt cx="4760595" cy="13163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316355"/>
            </a:xfrm>
            <a:prstGeom prst="roundRect">
              <a:avLst>
                <a:gd name="adj" fmla="val 1013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2274570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7084" y="1769269"/>
              <a:ext cx="22063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应把 Cache 做得更快还是更大？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3872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二者兼顾，再增加一级 Cache：第一级 Cache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（L1）小而快，第二级 Cache（L2）容量大。</a:t>
              </a:r>
            </a:p>
          </p:txBody>
        </p:sp>
      </p:grpSp>
      <p:grpSp>
        <p:nvGrpSpPr>
          <p:cNvPr id="31" name="c1-graph-2"/>
          <p:cNvGrpSpPr/>
          <p:nvPr/>
        </p:nvGrpSpPr>
        <p:grpSpPr>
          <a:xfrm>
            <a:off x="666750" y="3488055"/>
            <a:ext cx="4494848" cy="930212"/>
            <a:chOff x="666750" y="3488055"/>
            <a:chExt cx="4494848" cy="930212"/>
          </a:xfrm>
        </p:grpSpPr>
        <p:sp>
          <p:nvSpPr>
            <p:cNvPr id="12" name="Freeform 12"/>
            <p:cNvSpPr/>
            <p:nvPr/>
          </p:nvSpPr>
          <p:spPr>
            <a:xfrm>
              <a:off x="1447800" y="3830955"/>
              <a:ext cx="370523" cy="9525"/>
            </a:xfrm>
            <a:custGeom>
              <a:avLst/>
              <a:gdLst/>
              <a:ahLst/>
              <a:cxnLst/>
              <a:rect l="l" t="t" r="r" b="b"/>
              <a:pathLst>
                <a:path w="370523" h="9525">
                  <a:moveTo>
                    <a:pt x="0" y="0"/>
                  </a:moveTo>
                  <a:lnTo>
                    <a:pt x="37052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818322" y="37833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1352550" y="37833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770822" y="3830955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961322" y="37833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675572" y="37833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4199572" y="3830955"/>
              <a:ext cx="180975" cy="9525"/>
            </a:xfrm>
            <a:custGeom>
              <a:avLst/>
              <a:gdLst/>
              <a:ahLst/>
              <a:cxnLst/>
              <a:rect l="l" t="t" r="r" b="b"/>
              <a:pathLst>
                <a:path w="180975" h="9525">
                  <a:moveTo>
                    <a:pt x="0" y="0"/>
                  </a:moveTo>
                  <a:lnTo>
                    <a:pt x="18097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4380548" y="37833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4104322" y="37833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66750" y="3592830"/>
              <a:ext cx="685800" cy="476250"/>
            </a:xfrm>
            <a:prstGeom prst="roundRect">
              <a:avLst>
                <a:gd name="adj" fmla="val 20000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913572" y="3592830"/>
              <a:ext cx="762000" cy="476250"/>
            </a:xfrm>
            <a:prstGeom prst="roundRect">
              <a:avLst>
                <a:gd name="adj" fmla="val 2000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056572" y="3488055"/>
              <a:ext cx="104775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475798" y="3592830"/>
              <a:ext cx="685800" cy="476250"/>
            </a:xfrm>
            <a:prstGeom prst="roundRect">
              <a:avLst>
                <a:gd name="adj" fmla="val 2000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45457" y="3751421"/>
              <a:ext cx="3283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CPU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182952" y="375142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077212" y="410813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小而快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468827" y="375142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363087" y="421290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容量大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39907" y="375142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主存</a:t>
              </a:r>
            </a:p>
          </p:txBody>
        </p:sp>
      </p:grpSp>
      <p:grpSp>
        <p:nvGrpSpPr>
          <p:cNvPr id="38" name="c1-callout-3"/>
          <p:cNvGrpSpPr/>
          <p:nvPr/>
        </p:nvGrpSpPr>
        <p:grpSpPr>
          <a:xfrm>
            <a:off x="533400" y="5126355"/>
            <a:ext cx="4760595" cy="782955"/>
            <a:chOff x="533400" y="5126355"/>
            <a:chExt cx="4760595" cy="782955"/>
          </a:xfrm>
        </p:grpSpPr>
        <p:sp>
          <p:nvSpPr>
            <p:cNvPr id="32" name="Rectangle 32"/>
            <p:cNvSpPr/>
            <p:nvPr/>
          </p:nvSpPr>
          <p:spPr>
            <a:xfrm>
              <a:off x="533400" y="5126355"/>
              <a:ext cx="476059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5417820"/>
              <a:ext cx="200026" cy="200025"/>
              <a:chOff x="738188" y="5417820"/>
              <a:chExt cx="200026" cy="20002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541782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77926" y="546227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12642" y="557339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130" y="5274945"/>
              <a:ext cx="38442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L1 的不命中开销，就是去 L2 取数据的平均时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间。</a:t>
              </a:r>
            </a:p>
          </p:txBody>
        </p:sp>
      </p:grpSp>
      <p:grpSp>
        <p:nvGrpSpPr>
          <p:cNvPr id="47" name="c2-card-1"/>
          <p:cNvGrpSpPr/>
          <p:nvPr/>
        </p:nvGrpSpPr>
        <p:grpSpPr>
          <a:xfrm>
            <a:off x="5598795" y="1524000"/>
            <a:ext cx="6059805" cy="2573655"/>
            <a:chOff x="5598795" y="1524000"/>
            <a:chExt cx="6059805" cy="2573655"/>
          </a:xfrm>
        </p:grpSpPr>
        <p:sp>
          <p:nvSpPr>
            <p:cNvPr id="39" name="Rectangle 39"/>
            <p:cNvSpPr/>
            <p:nvPr/>
          </p:nvSpPr>
          <p:spPr>
            <a:xfrm>
              <a:off x="5598795" y="1524000"/>
              <a:ext cx="6059805" cy="2573655"/>
            </a:xfrm>
            <a:prstGeom prst="roundRect">
              <a:avLst>
                <a:gd name="adj" fmla="val 518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608320" y="1657350"/>
              <a:ext cx="47625" cy="230695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846445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928754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性能分析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formula21"/>
                <p:cNvSpPr txBox="1">
                  <a:spLocks noGrp="1"/>
                </p:cNvSpPr>
                <p:nvPr/>
              </p:nvSpPr>
              <p:spPr>
                <a:xfrm>
                  <a:off x="5846445" y="2085975"/>
                  <a:ext cx="5602605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nor m:val="on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平均访存时间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L1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formula22"/>
                <p:cNvSpPr txBox="1">
                  <a:spLocks noGrp="1"/>
                </p:cNvSpPr>
                <p:nvPr/>
              </p:nvSpPr>
              <p:spPr>
                <a:xfrm>
                  <a:off x="5846445" y="2600325"/>
                  <a:ext cx="5602605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L2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5" name="TextBox 45"/>
            <p:cNvSpPr txBox="1"/>
            <p:nvPr/>
          </p:nvSpPr>
          <p:spPr>
            <a:xfrm>
              <a:off x="5838825" y="313944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代入得：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formula23"/>
                <p:cNvSpPr txBox="1">
                  <a:spLocks noGrp="1"/>
                </p:cNvSpPr>
                <p:nvPr/>
              </p:nvSpPr>
              <p:spPr>
                <a:xfrm>
                  <a:off x="5846445" y="3449955"/>
                  <a:ext cx="5602605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nor m:val="on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平均访存时间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×</m:t>
                            </m:r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56" name="c2-kv-2"/>
          <p:cNvGrpSpPr/>
          <p:nvPr/>
        </p:nvGrpSpPr>
        <p:grpSpPr>
          <a:xfrm>
            <a:off x="5591175" y="4312920"/>
            <a:ext cx="6067425" cy="1173480"/>
            <a:chOff x="5591175" y="4312920"/>
            <a:chExt cx="6067425" cy="1173480"/>
          </a:xfrm>
        </p:grpSpPr>
        <p:sp>
          <p:nvSpPr>
            <p:cNvPr id="48" name="TextBox 48"/>
            <p:cNvSpPr txBox="1"/>
            <p:nvPr/>
          </p:nvSpPr>
          <p:spPr>
            <a:xfrm>
              <a:off x="5591175" y="431292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995035" y="431292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命中时间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598795" y="463296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591175" y="4752975"/>
              <a:ext cx="174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995035" y="4752975"/>
              <a:ext cx="46184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不命中率（公式中 L2 的不命中率是局部不命中率）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598795" y="507301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591175" y="5193030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995035" y="519303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不命中开销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2606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838" y="407194"/>
              <a:ext cx="27242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03 缓存优化 · 减少不命中开销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局部不命中率与全局不命中率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table-1"/>
          <p:cNvGrpSpPr/>
          <p:nvPr/>
        </p:nvGrpSpPr>
        <p:grpSpPr>
          <a:xfrm>
            <a:off x="533400" y="1524000"/>
            <a:ext cx="5626418" cy="2026920"/>
            <a:chOff x="533400" y="1524000"/>
            <a:chExt cx="5626418" cy="20269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7373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指标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83015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32073" y="1659731"/>
              <a:ext cx="11428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两级 Cache 中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8257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局部不命中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79473" y="2108359"/>
              <a:ext cx="202057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该级 Cache 的不命中次数 ÷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到达该级 Cache 的访问次数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55020" y="2108359"/>
              <a:ext cx="158978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上页公式中 L2 用的就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是它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4318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47950"/>
              <a:ext cx="5626418" cy="9020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897029"/>
              <a:ext cx="8257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全局不命中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79473" y="2897029"/>
              <a:ext cx="199618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该级 Cache 的不命中次数 ÷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发出的访存总次数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55020" y="2783681"/>
              <a:ext cx="1467866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L2 全局不命中率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L1 不命中率 × L2 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部不命中率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1524000"/>
              <a:ext cx="5626418" cy="20269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766888" y="1524000"/>
              <a:ext cx="9525" cy="20269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242435" y="1524000"/>
              <a:ext cx="9525" cy="20269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27" name="c1-card-2"/>
          <p:cNvGrpSpPr/>
          <p:nvPr/>
        </p:nvGrpSpPr>
        <p:grpSpPr>
          <a:xfrm>
            <a:off x="533400" y="3741420"/>
            <a:ext cx="5626418" cy="1316355"/>
            <a:chOff x="533400" y="3741420"/>
            <a:chExt cx="5626418" cy="1316355"/>
          </a:xfrm>
        </p:grpSpPr>
        <p:sp>
          <p:nvSpPr>
            <p:cNvPr id="23" name="Rectangle 23"/>
            <p:cNvSpPr/>
            <p:nvPr/>
          </p:nvSpPr>
          <p:spPr>
            <a:xfrm>
              <a:off x="533400" y="3741420"/>
              <a:ext cx="5626418" cy="1316355"/>
            </a:xfrm>
            <a:prstGeom prst="roundRect">
              <a:avLst>
                <a:gd name="adj" fmla="val 1013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42950" y="395097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16407" y="398668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哪个更有意义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5330" y="4328160"/>
              <a:ext cx="5015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全局不命中率。它指出在 CPU 发出的访存中，究竟有多大比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例穿过了各级 Cache、最终到达主存。</a:t>
              </a:r>
            </a:p>
          </p:txBody>
        </p:sp>
      </p:grpSp>
      <p:grpSp>
        <p:nvGrpSpPr>
          <p:cNvPr id="34" name="c1-callout-3"/>
          <p:cNvGrpSpPr/>
          <p:nvPr/>
        </p:nvGrpSpPr>
        <p:grpSpPr>
          <a:xfrm>
            <a:off x="533400" y="5248275"/>
            <a:ext cx="5626418" cy="1059180"/>
            <a:chOff x="533400" y="5248275"/>
            <a:chExt cx="5626418" cy="1059180"/>
          </a:xfrm>
        </p:grpSpPr>
        <p:sp>
          <p:nvSpPr>
            <p:cNvPr id="28" name="Rectangle 28"/>
            <p:cNvSpPr/>
            <p:nvPr/>
          </p:nvSpPr>
          <p:spPr>
            <a:xfrm>
              <a:off x="533400" y="5248275"/>
              <a:ext cx="5626418" cy="1059180"/>
            </a:xfrm>
            <a:prstGeom prst="roundRect">
              <a:avLst>
                <a:gd name="adj" fmla="val 1079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26129" y="5674161"/>
              <a:ext cx="224134" cy="192560"/>
              <a:chOff x="726129" y="5674161"/>
              <a:chExt cx="224134" cy="19256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838200" y="574452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26129" y="567416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38200" y="582231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130" y="5396865"/>
              <a:ext cx="47396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易错：L1 的局部和全局不命中率相同；L2 的局部不命中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率往往很高（下页例题是 50%），不能直接拿来和单级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Cache 比。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6464618" y="1524000"/>
            <a:ext cx="5193982" cy="4783455"/>
            <a:chOff x="6464618" y="1524000"/>
            <a:chExt cx="5193982" cy="4783455"/>
          </a:xfrm>
        </p:grpSpPr>
        <p:sp>
          <p:nvSpPr>
            <p:cNvPr id="35" name="Rectangle 35"/>
            <p:cNvSpPr/>
            <p:nvPr/>
          </p:nvSpPr>
          <p:spPr>
            <a:xfrm>
              <a:off x="6464618" y="1524000"/>
              <a:ext cx="5193982" cy="4783455"/>
            </a:xfrm>
            <a:prstGeom prst="roundRect">
              <a:avLst>
                <a:gd name="adj" fmla="val 278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74142" y="1657350"/>
              <a:ext cx="47625" cy="451675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712268" y="1733550"/>
              <a:ext cx="205835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56171" y="1769269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每条指令的平均访存停顿时间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formula25"/>
                <p:cNvSpPr txBox="1">
                  <a:spLocks noGrp="1"/>
                </p:cNvSpPr>
                <p:nvPr/>
              </p:nvSpPr>
              <p:spPr>
                <a:xfrm>
                  <a:off x="6712268" y="2085975"/>
                  <a:ext cx="4736782" cy="594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eqArr>
                          <m:eqArrPr>
                            <m:baseJc m:val="center"/>
                          </m:eqArrPr>
                          <m:e>
                            <m:r>
                              <m:rPr>
                                <m:nor m:val="on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停顿时间</m:t>
                            </m:r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 </m:t>
                            </m:r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sSub>
                              <m:e>
                                <m:r>
                                  <m:rPr>
                                    <m:nor m:val="on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每条指令的不命中次数</m:t>
                                </m:r>
                              </m:e>
                              <m:sub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×</m:t>
                            </m:r>
                            <m:sSub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L2</m:t>
                                </m:r>
                              </m:sub>
                            </m:sSub>
                          </m:e>
                          <m:e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 </m:t>
                            </m:r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sSub>
                              <m:e>
                                <m:r>
                                  <m:rPr>
                                    <m:nor m:val="on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每条指令的不命中次数</m:t>
                                </m:r>
                              </m:e>
                              <m:sub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×</m:t>
                            </m:r>
                            <m:sSub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L2</m:t>
                                </m:r>
                              </m:sub>
                            </m:sSub>
                          </m:e>
                        </m:eqAr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0" name="Ellipse 40"/>
            <p:cNvSpPr/>
            <p:nvPr/>
          </p:nvSpPr>
          <p:spPr>
            <a:xfrm>
              <a:off x="6717983" y="286321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876098" y="2800350"/>
              <a:ext cx="43014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第一项：L1 不命中后都要去查 L2，付出 L2 的命中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717983" y="348424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76098" y="3421380"/>
              <a:ext cx="42252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第二项：L2 也不命中时，还要付出 L2 的不命中开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销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05791" y="4039076"/>
              <a:ext cx="435330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每条指令的不命中次数 L2 按全局口径计：每条指令访存次数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 全局不命中率。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82376" cy="909257"/>
            <a:chOff x="520446" y="342900"/>
            <a:chExt cx="84823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2606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838" y="407194"/>
              <a:ext cx="27242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03 缓存优化 · 减少不命中开销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823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例：1000 次访存中 L1 不命中 40 次、L2 不命中 20 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4869180" cy="2508885"/>
            <a:chOff x="533400" y="1524000"/>
            <a:chExt cx="4869180" cy="25088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869180" cy="2508885"/>
            </a:xfrm>
            <a:prstGeom prst="roundRect">
              <a:avLst>
                <a:gd name="adj" fmla="val 53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421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1050" y="209740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2899" y="21396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82040" y="211074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求各种局部不命中率和全局不命中率。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1050" y="243268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2899" y="24749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2040" y="2446020"/>
              <a:ext cx="3920490" cy="1436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L2 命中时间为 10 个时钟周期，L2 的不命中开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销为 100 个时钟周期，L1 的命中时间为 1 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时钟周期，平均每条指令访存 1.5 次，不考虑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写操作的影响。平均访存时间是多少？每条指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令的平均停顿时间是多少个时钟周期？</a:t>
              </a:r>
            </a:p>
          </p:txBody>
        </p:sp>
      </p:grpSp>
      <p:grpSp>
        <p:nvGrpSpPr>
          <p:cNvPr id="36" name="c1-graph-2"/>
          <p:cNvGrpSpPr/>
          <p:nvPr/>
        </p:nvGrpSpPr>
        <p:grpSpPr>
          <a:xfrm>
            <a:off x="549592" y="4461510"/>
            <a:ext cx="4486276" cy="1123950"/>
            <a:chOff x="549592" y="4461510"/>
            <a:chExt cx="4486276" cy="1123950"/>
          </a:xfrm>
        </p:grpSpPr>
        <p:sp>
          <p:nvSpPr>
            <p:cNvPr id="18" name="Freeform 18"/>
            <p:cNvSpPr/>
            <p:nvPr/>
          </p:nvSpPr>
          <p:spPr>
            <a:xfrm>
              <a:off x="1978342" y="4652010"/>
              <a:ext cx="561023" cy="9525"/>
            </a:xfrm>
            <a:custGeom>
              <a:avLst/>
              <a:gdLst/>
              <a:ahLst/>
              <a:cxnLst/>
              <a:rect l="l" t="t" r="r" b="b"/>
              <a:pathLst>
                <a:path w="561023" h="9525">
                  <a:moveTo>
                    <a:pt x="0" y="0"/>
                  </a:moveTo>
                  <a:lnTo>
                    <a:pt x="56102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539365" y="46043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3301365" y="4652010"/>
              <a:ext cx="942022" cy="9525"/>
            </a:xfrm>
            <a:custGeom>
              <a:avLst/>
              <a:gdLst/>
              <a:ahLst/>
              <a:cxnLst/>
              <a:rect l="l" t="t" r="r" b="b"/>
              <a:pathLst>
                <a:path w="942022" h="9525">
                  <a:moveTo>
                    <a:pt x="0" y="0"/>
                  </a:moveTo>
                  <a:lnTo>
                    <a:pt x="94202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4243388" y="46043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4672012" y="484251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4624388" y="510921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9592" y="4461510"/>
              <a:ext cx="1428750" cy="381000"/>
            </a:xfrm>
            <a:prstGeom prst="roundRect">
              <a:avLst>
                <a:gd name="adj" fmla="val 25000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634615" y="4461510"/>
              <a:ext cx="666750" cy="381000"/>
            </a:xfrm>
            <a:prstGeom prst="roundRect">
              <a:avLst>
                <a:gd name="adj" fmla="val 2500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338638" y="4461510"/>
              <a:ext cx="666750" cy="3810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4338638" y="5204460"/>
              <a:ext cx="666750" cy="381000"/>
            </a:xfrm>
            <a:prstGeom prst="roundRect">
              <a:avLst>
                <a:gd name="adj" fmla="val 2500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7360" y="4582001"/>
              <a:ext cx="12332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CPU 访存 1000 次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870274" y="458200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74297" y="458200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15523" y="532495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主存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456622" y="4566285"/>
              <a:ext cx="72771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470415" y="4598670"/>
              <a:ext cx="7001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不命中 40 次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308158" y="4937760"/>
              <a:ext cx="72771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321950" y="4970145"/>
              <a:ext cx="7001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不命中 20 次</a:t>
              </a:r>
            </a:p>
          </p:txBody>
        </p:sp>
      </p:grpSp>
      <p:grpSp>
        <p:nvGrpSpPr>
          <p:cNvPr id="54" name="c2-steps-1"/>
          <p:cNvGrpSpPr/>
          <p:nvPr/>
        </p:nvGrpSpPr>
        <p:grpSpPr>
          <a:xfrm>
            <a:off x="5707380" y="1533525"/>
            <a:ext cx="5562473" cy="2763489"/>
            <a:chOff x="5707380" y="1533525"/>
            <a:chExt cx="5562473" cy="2763489"/>
          </a:xfrm>
        </p:grpSpPr>
        <p:sp>
          <p:nvSpPr>
            <p:cNvPr id="37" name="Rectangle 37"/>
            <p:cNvSpPr/>
            <p:nvPr/>
          </p:nvSpPr>
          <p:spPr>
            <a:xfrm>
              <a:off x="5840730" y="1676400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570738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80100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5707380" y="218408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80100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5707380" y="283464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80100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5707380" y="348615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801004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118860" y="1567815"/>
              <a:ext cx="6985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 L1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120003" y="1861661"/>
              <a:ext cx="35884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不命中率（全局和局部相同）= 40 ÷ 1000 = 4%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118860" y="2218372"/>
              <a:ext cx="6985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 L2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120003" y="2512219"/>
              <a:ext cx="49325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局部不命中率 = 20 ÷ 40 = 50%；全局不命中率 = 20 ÷ 1000 = 2%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118860" y="2868930"/>
              <a:ext cx="16402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(2) 平均访存时间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120003" y="3162776"/>
              <a:ext cx="46051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+ 4% × (10 + 50% × 100) = 1 + 4% × 60 = 3.4 个时钟周期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118860" y="3520440"/>
              <a:ext cx="16402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(2) 每条指令停顿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120003" y="3813334"/>
              <a:ext cx="514985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每次访存平均停顿 3.4 − 1.0 = 2.4；每条指令访存 1.5 次，停顿 2.4 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 = 3.6 个时钟周期</a:t>
              </a:r>
            </a:p>
          </p:txBody>
        </p:sp>
      </p:grpSp>
      <p:grpSp>
        <p:nvGrpSpPr>
          <p:cNvPr id="60" name="c2-callout-2"/>
          <p:cNvGrpSpPr/>
          <p:nvPr/>
        </p:nvGrpSpPr>
        <p:grpSpPr>
          <a:xfrm>
            <a:off x="5707380" y="4475798"/>
            <a:ext cx="5951220" cy="1176338"/>
            <a:chOff x="5707380" y="4475798"/>
            <a:chExt cx="5951220" cy="1176338"/>
          </a:xfrm>
        </p:grpSpPr>
        <p:sp>
          <p:nvSpPr>
            <p:cNvPr id="55" name="Rectangle 55"/>
            <p:cNvSpPr/>
            <p:nvPr/>
          </p:nvSpPr>
          <p:spPr>
            <a:xfrm>
              <a:off x="5707380" y="4475798"/>
              <a:ext cx="5951220" cy="1176338"/>
            </a:xfrm>
            <a:prstGeom prst="roundRect">
              <a:avLst>
                <a:gd name="adj" fmla="val 9717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5912168" y="4964430"/>
              <a:ext cx="200026" cy="200026"/>
              <a:chOff x="5912168" y="4964430"/>
              <a:chExt cx="200026" cy="200026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5912168" y="496443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5978843" y="504221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6214110" y="4821555"/>
              <a:ext cx="46634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用停顿时间公式验算：1.5 × 4% × 10 + 1.5 × 2% × 100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= 0.6 + 3.0 = 3.6 个时钟周期，结果一致。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86926" cy="909257"/>
            <a:chOff x="520446" y="342900"/>
            <a:chExt cx="628692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2606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838" y="407194"/>
              <a:ext cx="27242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03 缓存优化 · 减少不命中开销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8692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设计第二级 Cache：用全局不命中率评价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193982" cy="2272665"/>
            <a:chOff x="533400" y="1524000"/>
            <a:chExt cx="5193982" cy="22726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272665"/>
            </a:xfrm>
            <a:prstGeom prst="roundRect">
              <a:avLst>
                <a:gd name="adj" fmla="val 58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0596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84785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7986" y="1769269"/>
              <a:ext cx="17539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关于第二级 Cache 的结论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4291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L2 比 L1 大得多时，两级 Cache 的全局不命中率和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容量与 L2 相同的单级 Cache 的不命中率非常接近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31770"/>
              <a:ext cx="42824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局部不命中率不是衡量 L2 的好指标，评价 L2 时应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该用全局不命中率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4156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352800"/>
              <a:ext cx="40248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L2 不会影响 CPU 的时钟频率，设计空间更大</a:t>
              </a:r>
            </a:p>
          </p:txBody>
        </p:sp>
      </p:grpSp>
      <p:grpSp>
        <p:nvGrpSpPr>
          <p:cNvPr id="28" name="c1-card-2"/>
          <p:cNvGrpSpPr/>
          <p:nvPr/>
        </p:nvGrpSpPr>
        <p:grpSpPr>
          <a:xfrm>
            <a:off x="533400" y="3987165"/>
            <a:ext cx="5193982" cy="1937385"/>
            <a:chOff x="533400" y="3987165"/>
            <a:chExt cx="5193982" cy="1937385"/>
          </a:xfrm>
        </p:grpSpPr>
        <p:sp>
          <p:nvSpPr>
            <p:cNvPr id="18" name="Rectangle 18"/>
            <p:cNvSpPr/>
            <p:nvPr/>
          </p:nvSpPr>
          <p:spPr>
            <a:xfrm>
              <a:off x="533400" y="3987165"/>
              <a:ext cx="5193982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4120515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81050" y="4196715"/>
              <a:ext cx="174402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26205" y="4232434"/>
              <a:ext cx="16527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设计 L2 时权衡两个问题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81050" y="4560570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42899" y="460286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82040" y="4573905"/>
              <a:ext cx="3672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它能否降低 CPI 中的平均访存时间部分？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81050" y="4895850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42899" y="493814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82040" y="49091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它的成本是多少？</a:t>
              </a:r>
            </a:p>
          </p:txBody>
        </p:sp>
      </p:grpSp>
      <p:grpSp>
        <p:nvGrpSpPr>
          <p:cNvPr id="47" name="c2-table-1"/>
          <p:cNvGrpSpPr/>
          <p:nvPr/>
        </p:nvGrpSpPr>
        <p:grpSpPr>
          <a:xfrm>
            <a:off x="6032182" y="1524000"/>
            <a:ext cx="5626418" cy="3150870"/>
            <a:chOff x="6032182" y="1524000"/>
            <a:chExt cx="5626418" cy="3150870"/>
          </a:xfrm>
        </p:grpSpPr>
        <p:sp>
          <p:nvSpPr>
            <p:cNvPr id="29" name="Rectangle 29"/>
            <p:cNvSpPr/>
            <p:nvPr/>
          </p:nvSpPr>
          <p:spPr>
            <a:xfrm>
              <a:off x="6032182" y="1524000"/>
              <a:ext cx="5626418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1631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参数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577937" y="1659731"/>
              <a:ext cx="16598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第二级 Cache 的选择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40006" y="222170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264908" y="2108359"/>
              <a:ext cx="397941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一般比 L1 大许多。大容量意味着 L2 可能实际上没有容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量不命中，只剩一些强制性不命中和冲突不命中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032182" y="264318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032182" y="2647950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140006" y="278368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相联度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264908" y="2783681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可采用较高的相联度或伪相联方法（下页例题）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032182" y="309276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140006" y="345900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块大小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264908" y="3232309"/>
              <a:ext cx="4003802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可采用较大的块，如 64、128、256 B。为减少平均访存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时间，可以让小容量的 L1 用较小的块，大容量的 L2 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较大的块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032182" y="399478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032182" y="3999548"/>
              <a:ext cx="562641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140006" y="424767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多级包容性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64908" y="4134326"/>
              <a:ext cx="393065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L1 中的数据是否总是同时存在于 L2 中；如果是，就说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L2 具有多级包容性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032182" y="1524000"/>
              <a:ext cx="5626418" cy="31508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7152322" y="1524000"/>
              <a:ext cx="9525" cy="31508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4" name="c2-callout-2"/>
          <p:cNvGrpSpPr/>
          <p:nvPr/>
        </p:nvGrpSpPr>
        <p:grpSpPr>
          <a:xfrm>
            <a:off x="6032182" y="4865370"/>
            <a:ext cx="5626418" cy="1059180"/>
            <a:chOff x="6032182" y="4865370"/>
            <a:chExt cx="5626418" cy="1059180"/>
          </a:xfrm>
        </p:grpSpPr>
        <p:sp>
          <p:nvSpPr>
            <p:cNvPr id="48" name="Rectangle 48"/>
            <p:cNvSpPr/>
            <p:nvPr/>
          </p:nvSpPr>
          <p:spPr>
            <a:xfrm>
              <a:off x="6032182" y="4865370"/>
              <a:ext cx="5626418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236970" y="5294948"/>
              <a:ext cx="200026" cy="200026"/>
              <a:chOff x="6236970" y="5294948"/>
              <a:chExt cx="200026" cy="200026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6236970" y="529494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336983" y="53616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325870" y="539496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6538912" y="5013960"/>
              <a:ext cx="47396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L1 用小块、L2 用大块时，维护多级包容性要多做工作，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这是总结表说“两级 Cache 的块大小不同时实现困难”的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一个原因。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45875" cy="909257"/>
            <a:chOff x="520446" y="342900"/>
            <a:chExt cx="86458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2606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838" y="407194"/>
              <a:ext cx="27242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03 缓存优化 · 减少不命中开销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45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例：第二级 Cache 用两路组相联，L1 的不命中开销更小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table-1"/>
          <p:cNvGrpSpPr/>
          <p:nvPr/>
        </p:nvGrpSpPr>
        <p:grpSpPr>
          <a:xfrm>
            <a:off x="528066" y="1524000"/>
            <a:ext cx="4765929" cy="1902714"/>
            <a:chOff x="528066" y="1524000"/>
            <a:chExt cx="4765929" cy="190271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8653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已知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41717" y="1648301"/>
              <a:ext cx="848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直接映像 L2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937955" y="1648301"/>
              <a:ext cx="9994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两路组相联 L2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2054066"/>
              <a:ext cx="848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L2 命中时间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528654" y="205406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个周期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17353" y="2054066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10.1 个周期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3076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35530"/>
              <a:ext cx="476059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3412" y="2459831"/>
              <a:ext cx="11502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L2 局部不命中率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720891" y="2459831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92516" y="2459831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20%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3653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3412" y="2865596"/>
              <a:ext cx="9994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L2 不命中开销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28654" y="286559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 个周期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00279" y="286559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 个周期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4760595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146935" y="152400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575685" y="152400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8066" y="3221355"/>
              <a:ext cx="31269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两路组相联使 L2 的命中时间增加 0.1 个时钟周期</a:t>
              </a:r>
            </a:p>
          </p:txBody>
        </p:sp>
      </p:grpSp>
      <p:grpSp>
        <p:nvGrpSpPr>
          <p:cNvPr id="34" name="c1-callout-2"/>
          <p:cNvGrpSpPr/>
          <p:nvPr/>
        </p:nvGrpSpPr>
        <p:grpSpPr>
          <a:xfrm>
            <a:off x="533400" y="3560445"/>
            <a:ext cx="4760595" cy="729615"/>
            <a:chOff x="533400" y="3560445"/>
            <a:chExt cx="4760595" cy="729615"/>
          </a:xfrm>
        </p:grpSpPr>
        <p:sp>
          <p:nvSpPr>
            <p:cNvPr id="28" name="Rectangle 28"/>
            <p:cNvSpPr/>
            <p:nvPr/>
          </p:nvSpPr>
          <p:spPr>
            <a:xfrm>
              <a:off x="533400" y="3560445"/>
              <a:ext cx="4760595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3825240"/>
              <a:ext cx="200026" cy="200026"/>
              <a:chOff x="738188" y="3825240"/>
              <a:chExt cx="200026" cy="200026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382524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38200" y="389191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27088" y="392525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892" y="3707130"/>
              <a:ext cx="384562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问：第二级 Cache 的相联度对不命中开销的影响如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何？这里的不命中开销指 L1 的不命中开销。</a:t>
              </a:r>
            </a:p>
          </p:txBody>
        </p:sp>
      </p:grpSp>
      <p:grpSp>
        <p:nvGrpSpPr>
          <p:cNvPr id="49" name="c1-table-3"/>
          <p:cNvGrpSpPr/>
          <p:nvPr/>
        </p:nvGrpSpPr>
        <p:grpSpPr>
          <a:xfrm>
            <a:off x="533400" y="4465320"/>
            <a:ext cx="4760595" cy="1623060"/>
            <a:chOff x="533400" y="4465320"/>
            <a:chExt cx="4760595" cy="1623060"/>
          </a:xfrm>
        </p:grpSpPr>
        <p:sp>
          <p:nvSpPr>
            <p:cNvPr id="35" name="Rectangle 35"/>
            <p:cNvSpPr/>
            <p:nvPr/>
          </p:nvSpPr>
          <p:spPr>
            <a:xfrm>
              <a:off x="533400" y="4465320"/>
              <a:ext cx="4760595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541744" y="4589621"/>
              <a:ext cx="6979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L2 的结构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695880" y="4589621"/>
              <a:ext cx="11502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L1 的不命中开销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3412" y="499538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直接映像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841242" y="4995386"/>
              <a:ext cx="8595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22.5 个周期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527208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3400" y="5276850"/>
              <a:ext cx="476059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3412" y="5401151"/>
              <a:ext cx="17641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两路组相联（命中 10.1）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841242" y="5401151"/>
              <a:ext cx="8595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20.1 个周期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567785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3412" y="5806916"/>
              <a:ext cx="2160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两路组相联（取整为 10 或 11）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544216" y="5806916"/>
              <a:ext cx="14535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20.0 或 21.0 个周期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4465320"/>
              <a:ext cx="4760595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3242310" y="446532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7" name="c2-steps-1"/>
          <p:cNvGrpSpPr/>
          <p:nvPr/>
        </p:nvGrpSpPr>
        <p:grpSpPr>
          <a:xfrm>
            <a:off x="5598795" y="1533525"/>
            <a:ext cx="5032822" cy="2279809"/>
            <a:chOff x="5598795" y="1533525"/>
            <a:chExt cx="5032822" cy="2279809"/>
          </a:xfrm>
        </p:grpSpPr>
        <p:sp>
          <p:nvSpPr>
            <p:cNvPr id="50" name="Rectangle 50"/>
            <p:cNvSpPr/>
            <p:nvPr/>
          </p:nvSpPr>
          <p:spPr>
            <a:xfrm>
              <a:off x="5732145" y="1676400"/>
              <a:ext cx="19050" cy="17611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5598795" y="212026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692419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5598795" y="270700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692419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5598795" y="329469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692419" y="33685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011037" y="1564957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公式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012180" y="1833086"/>
              <a:ext cx="46194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L1 的不命中开销 = L2 命中时间 + L2 局部不命中率 × L2 不命中开销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011037" y="2152650"/>
              <a:ext cx="10229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直接映像 L2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012180" y="241982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+ 25% × 50 = 22.5 个时钟周期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011037" y="2739390"/>
              <a:ext cx="12046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两路组相联 L2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012180" y="3006566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10.1 + 20% × 50 = 20.1 个时钟周期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011037" y="332613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命中时间取整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012180" y="3593306"/>
              <a:ext cx="41124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10：10 + 20% × 50 = 20.0；取 11：11 + 20% × 50 = 21.0</a:t>
              </a:r>
            </a:p>
          </p:txBody>
        </p:sp>
      </p:grpSp>
      <p:grpSp>
        <p:nvGrpSpPr>
          <p:cNvPr id="73" name="c2-callout-2"/>
          <p:cNvGrpSpPr/>
          <p:nvPr/>
        </p:nvGrpSpPr>
        <p:grpSpPr>
          <a:xfrm>
            <a:off x="5598795" y="3982402"/>
            <a:ext cx="6059805" cy="729615"/>
            <a:chOff x="5598795" y="3982402"/>
            <a:chExt cx="6059805" cy="729615"/>
          </a:xfrm>
        </p:grpSpPr>
        <p:sp>
          <p:nvSpPr>
            <p:cNvPr id="68" name="Rectangle 68"/>
            <p:cNvSpPr/>
            <p:nvPr/>
          </p:nvSpPr>
          <p:spPr>
            <a:xfrm>
              <a:off x="5598795" y="3982402"/>
              <a:ext cx="6059805" cy="729615"/>
            </a:xfrm>
            <a:prstGeom prst="roundRect">
              <a:avLst>
                <a:gd name="adj" fmla="val 1566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5803583" y="4247200"/>
              <a:ext cx="200023" cy="200023"/>
              <a:chOff x="5803583" y="4247200"/>
              <a:chExt cx="200023" cy="200023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5803583" y="424720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5936933" y="43138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6106287" y="4129088"/>
              <a:ext cx="513149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三种算法下两路组相联都小于 22.5 个周期，对于第二级 Cache，两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路组相联优于直接映像。</a:t>
              </a:r>
            </a:p>
          </p:txBody>
        </p:sp>
      </p:grpSp>
      <p:grpSp>
        <p:nvGrpSpPr>
          <p:cNvPr id="79" name="c2-card-3"/>
          <p:cNvGrpSpPr/>
          <p:nvPr/>
        </p:nvGrpSpPr>
        <p:grpSpPr>
          <a:xfrm>
            <a:off x="5598795" y="4887278"/>
            <a:ext cx="6059805" cy="1466850"/>
            <a:chOff x="5598795" y="4887278"/>
            <a:chExt cx="6059805" cy="1466850"/>
          </a:xfrm>
        </p:grpSpPr>
        <p:sp>
          <p:nvSpPr>
            <p:cNvPr id="74" name="Rectangle 74"/>
            <p:cNvSpPr/>
            <p:nvPr/>
          </p:nvSpPr>
          <p:spPr>
            <a:xfrm>
              <a:off x="5598795" y="4887278"/>
              <a:ext cx="6059805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5608320" y="5020628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5829300" y="5079682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5908738" y="511397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为什么划算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5822442" y="5435918"/>
              <a:ext cx="536295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L2 的命中时间只多 0.1 个周期；局部不命中率降低 5 个百分点，每次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L1 不命中少付 5% × 50 = 2.5 个周期。净省 2.5 − 0.1 = 2.4 个周期，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正是 22.5 − 20.1。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2606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838" y="407194"/>
              <a:ext cx="27242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03 缓存优化 · 减少不命中开销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方法二：让读不命中优先于写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626418" cy="1602105"/>
            <a:chOff x="533400" y="1524000"/>
            <a:chExt cx="5626418" cy="16021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1705" y="1769269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写缓冲器带来的问题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968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 中的写缓冲器使对存储器的访问复杂化：读不命中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时，所读单元的最新值有可能还在写缓冲器中，尚未写入主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存。</a:t>
              </a:r>
            </a:p>
          </p:txBody>
        </p:sp>
      </p:grpSp>
      <p:grpSp>
        <p:nvGrpSpPr>
          <p:cNvPr id="24" name="c1-table-2"/>
          <p:cNvGrpSpPr/>
          <p:nvPr/>
        </p:nvGrpSpPr>
        <p:grpSpPr>
          <a:xfrm>
            <a:off x="533400" y="3316605"/>
            <a:ext cx="5626418" cy="1573530"/>
            <a:chOff x="533400" y="3316605"/>
            <a:chExt cx="5626418" cy="1573530"/>
          </a:xfrm>
        </p:grpSpPr>
        <p:sp>
          <p:nvSpPr>
            <p:cNvPr id="13" name="Rectangle 13"/>
            <p:cNvSpPr/>
            <p:nvPr/>
          </p:nvSpPr>
          <p:spPr>
            <a:xfrm>
              <a:off x="533400" y="3316605"/>
              <a:ext cx="5626418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607934" y="345233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读不命中的处理方法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024717" y="345233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评价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1223" y="3900964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推迟对读不命中的处理，直到写缓冲器清空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55020" y="390096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读不命中的开销增加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420909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4213860"/>
              <a:ext cx="562641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4349591"/>
              <a:ext cx="32641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检查写缓冲器中的内容，若没有相同地址且存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储器可用，就继续处理读不命中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55020" y="446293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常用方案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316605"/>
              <a:ext cx="5626418" cy="157353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242435" y="3316605"/>
              <a:ext cx="9525" cy="1573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26" name="c1-text-3"/>
          <p:cNvGrpSpPr/>
          <p:nvPr/>
        </p:nvGrpSpPr>
        <p:grpSpPr>
          <a:xfrm>
            <a:off x="526923" y="5101114"/>
            <a:ext cx="4559952" cy="249364"/>
            <a:chOff x="526923" y="5101114"/>
            <a:chExt cx="4559952" cy="249364"/>
          </a:xfrm>
        </p:grpSpPr>
        <p:sp>
          <p:nvSpPr>
            <p:cNvPr id="25" name="TextBox 25"/>
            <p:cNvSpPr txBox="1"/>
            <p:nvPr/>
          </p:nvSpPr>
          <p:spPr>
            <a:xfrm>
              <a:off x="526923" y="5101114"/>
              <a:ext cx="45599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写回法 Cache 中也可以采用写缓冲器，同样存在这个问题。</a:t>
              </a:r>
            </a:p>
          </p:txBody>
        </p:sp>
      </p:grpSp>
      <p:grpSp>
        <p:nvGrpSpPr>
          <p:cNvPr id="45" name="c2-flow-1"/>
          <p:cNvGrpSpPr/>
          <p:nvPr/>
        </p:nvGrpSpPr>
        <p:grpSpPr>
          <a:xfrm>
            <a:off x="6646545" y="1948815"/>
            <a:ext cx="4830127" cy="3110865"/>
            <a:chOff x="6646545" y="1948815"/>
            <a:chExt cx="4830127" cy="3110865"/>
          </a:xfrm>
        </p:grpSpPr>
        <p:sp>
          <p:nvSpPr>
            <p:cNvPr id="27" name="Freeform 27"/>
            <p:cNvSpPr/>
            <p:nvPr/>
          </p:nvSpPr>
          <p:spPr>
            <a:xfrm>
              <a:off x="7762875" y="2386965"/>
              <a:ext cx="1299210" cy="663893"/>
            </a:xfrm>
            <a:custGeom>
              <a:avLst/>
              <a:gdLst/>
              <a:ahLst/>
              <a:cxnLst/>
              <a:rect l="l" t="t" r="r" b="b"/>
              <a:pathLst>
                <a:path w="1299210" h="663893">
                  <a:moveTo>
                    <a:pt x="0" y="0"/>
                  </a:moveTo>
                  <a:lnTo>
                    <a:pt x="0" y="384810"/>
                  </a:lnTo>
                  <a:lnTo>
                    <a:pt x="1299210" y="384810"/>
                  </a:lnTo>
                  <a:lnTo>
                    <a:pt x="1299210" y="66389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9009698" y="30508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7762875" y="3757612"/>
              <a:ext cx="1299210" cy="567690"/>
            </a:xfrm>
            <a:custGeom>
              <a:avLst/>
              <a:gdLst/>
              <a:ahLst/>
              <a:cxnLst/>
              <a:rect l="l" t="t" r="r" b="b"/>
              <a:pathLst>
                <a:path w="1299210" h="567690">
                  <a:moveTo>
                    <a:pt x="1299210" y="0"/>
                  </a:moveTo>
                  <a:lnTo>
                    <a:pt x="1299210" y="336233"/>
                  </a:lnTo>
                  <a:lnTo>
                    <a:pt x="0" y="336233"/>
                  </a:lnTo>
                  <a:lnTo>
                    <a:pt x="0" y="56769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7710488" y="432530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9062085" y="3757612"/>
              <a:ext cx="1298258" cy="567690"/>
            </a:xfrm>
            <a:custGeom>
              <a:avLst/>
              <a:gdLst/>
              <a:ahLst/>
              <a:cxnLst/>
              <a:rect l="l" t="t" r="r" b="b"/>
              <a:pathLst>
                <a:path w="1298258" h="567690">
                  <a:moveTo>
                    <a:pt x="0" y="0"/>
                  </a:moveTo>
                  <a:lnTo>
                    <a:pt x="0" y="336233"/>
                  </a:lnTo>
                  <a:lnTo>
                    <a:pt x="1298258" y="336233"/>
                  </a:lnTo>
                  <a:lnTo>
                    <a:pt x="1298258" y="56769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10307955" y="432530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646545" y="1948815"/>
              <a:ext cx="2233612" cy="43815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6828472" y="3155632"/>
              <a:ext cx="4466272" cy="601980"/>
            </a:xfrm>
            <a:custGeom>
              <a:avLst/>
              <a:gdLst/>
              <a:ahLst/>
              <a:cxnLst/>
              <a:rect l="l" t="t" r="r" b="b"/>
              <a:pathLst>
                <a:path w="4466272" h="601980">
                  <a:moveTo>
                    <a:pt x="2233612" y="0"/>
                  </a:moveTo>
                  <a:lnTo>
                    <a:pt x="4466272" y="300990"/>
                  </a:lnTo>
                  <a:lnTo>
                    <a:pt x="2233612" y="601980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646545" y="4430078"/>
              <a:ext cx="2233612" cy="629602"/>
            </a:xfrm>
            <a:prstGeom prst="roundRect">
              <a:avLst>
                <a:gd name="adj" fmla="val 4992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9243060" y="4430078"/>
              <a:ext cx="2233612" cy="629602"/>
            </a:xfrm>
            <a:prstGeom prst="roundRect">
              <a:avLst>
                <a:gd name="adj" fmla="val 1512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239457" y="207883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发生读不命中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94040" y="33675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写缓冲器中有该地址？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62318" y="4546759"/>
              <a:ext cx="180111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先发出读请求，写操作随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后进行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459786" y="4546759"/>
              <a:ext cx="180111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不能抢先读，等该项写入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主存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764780" y="3877628"/>
              <a:ext cx="12954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771067" y="390429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无（且存储器可用）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596438" y="387762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634728" y="390429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有</a:t>
              </a:r>
            </a:p>
          </p:txBody>
        </p:sp>
      </p:grpSp>
      <p:grpSp>
        <p:nvGrpSpPr>
          <p:cNvPr id="52" name="c2-callout-2"/>
          <p:cNvGrpSpPr/>
          <p:nvPr/>
        </p:nvGrpSpPr>
        <p:grpSpPr>
          <a:xfrm>
            <a:off x="6464618" y="5579745"/>
            <a:ext cx="5193982" cy="782955"/>
            <a:chOff x="6464618" y="5579745"/>
            <a:chExt cx="5193982" cy="782955"/>
          </a:xfrm>
        </p:grpSpPr>
        <p:sp>
          <p:nvSpPr>
            <p:cNvPr id="46" name="Rectangle 46"/>
            <p:cNvSpPr/>
            <p:nvPr/>
          </p:nvSpPr>
          <p:spPr>
            <a:xfrm>
              <a:off x="6464618" y="5579745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6669405" y="5871210"/>
              <a:ext cx="200026" cy="200025"/>
              <a:chOff x="6669405" y="5871210"/>
              <a:chExt cx="200026" cy="200025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6669405" y="58712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709144" y="59156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743859" y="60267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6971348" y="5728335"/>
              <a:ext cx="42538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读不命中会让 CPU 停下来等，写缓冲器里的写操作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晚一点做不影响 CPU，所以让读优先。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2606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838" y="407194"/>
              <a:ext cx="27242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03 缓存优化 · 减少不命中开销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方法三：写缓冲合并，连续地址的写入并进同一项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card-1"/>
          <p:cNvGrpSpPr/>
          <p:nvPr/>
        </p:nvGrpSpPr>
        <p:grpSpPr>
          <a:xfrm>
            <a:off x="533400" y="1524000"/>
            <a:ext cx="4977765" cy="2558415"/>
            <a:chOff x="533400" y="1524000"/>
            <a:chExt cx="4977765" cy="25584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558415"/>
            </a:xfrm>
            <a:prstGeom prst="roundRect">
              <a:avLst>
                <a:gd name="adj" fmla="val 52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9171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369665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2830" y="1769269"/>
              <a:ext cx="37140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写直达 Cache 依靠写缓冲器减少写下一级存储器的时间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1050" y="209740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2899" y="21396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82040" y="2110740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写缓冲器为空：把数据和地址写入缓冲器，从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看写操作就算完成了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1050" y="271843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2899" y="27607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2040" y="2731770"/>
              <a:ext cx="4015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缓冲器中已有待写数据：把这次的写地址与缓冲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器中所有地址比较，若有匹配且对应位置空闲，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就把数据并入该项，这叫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写缓冲合并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1050" y="362521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2899" y="36675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82040" y="363855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缓冲器满且没有能合并的项：必须等待</a:t>
              </a:r>
            </a:p>
          </p:txBody>
        </p:sp>
      </p:grpSp>
      <p:grpSp>
        <p:nvGrpSpPr>
          <p:cNvPr id="29" name="c1-card-2"/>
          <p:cNvGrpSpPr/>
          <p:nvPr/>
        </p:nvGrpSpPr>
        <p:grpSpPr>
          <a:xfrm>
            <a:off x="533400" y="4272915"/>
            <a:ext cx="4977765" cy="1651635"/>
            <a:chOff x="533400" y="4272915"/>
            <a:chExt cx="4977765" cy="1651635"/>
          </a:xfrm>
        </p:grpSpPr>
        <p:sp>
          <p:nvSpPr>
            <p:cNvPr id="21" name="Rectangle 21"/>
            <p:cNvSpPr/>
            <p:nvPr/>
          </p:nvSpPr>
          <p:spPr>
            <a:xfrm>
              <a:off x="533400" y="4272915"/>
              <a:ext cx="4977765" cy="1651635"/>
            </a:xfrm>
            <a:prstGeom prst="roundRect">
              <a:avLst>
                <a:gd name="adj" fmla="val 8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4406265"/>
              <a:ext cx="47625" cy="138493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81050" y="44824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71258" y="45181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86765" y="492252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44880" y="485965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连续写入多个字的速度快于每次只写入一个字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86765" y="525780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44880" y="5194935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提高写缓冲器的空间利用率，减少因缓冲器满而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等待的时间</a:t>
              </a:r>
            </a:p>
          </p:txBody>
        </p:sp>
      </p:grpSp>
      <p:grpSp>
        <p:nvGrpSpPr>
          <p:cNvPr id="31" name="c2-text-1"/>
          <p:cNvGrpSpPr/>
          <p:nvPr/>
        </p:nvGrpSpPr>
        <p:grpSpPr>
          <a:xfrm>
            <a:off x="5809488" y="1545431"/>
            <a:ext cx="5312410" cy="500824"/>
            <a:chOff x="5809488" y="1545431"/>
            <a:chExt cx="5312410" cy="500824"/>
          </a:xfrm>
        </p:grpSpPr>
        <p:sp>
          <p:nvSpPr>
            <p:cNvPr id="30" name="TextBox 30"/>
            <p:cNvSpPr txBox="1"/>
            <p:nvPr/>
          </p:nvSpPr>
          <p:spPr>
            <a:xfrm>
              <a:off x="5809488" y="1545431"/>
              <a:ext cx="5312410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例：写缓冲器有 4 项，每项可放 4 个 64 位的字；依次写地址 100、108、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116、124</a:t>
              </a:r>
            </a:p>
          </p:txBody>
        </p:sp>
      </p:grpSp>
      <p:grpSp>
        <p:nvGrpSpPr>
          <p:cNvPr id="70" name="c2-cells-2"/>
          <p:cNvGrpSpPr/>
          <p:nvPr/>
        </p:nvGrpSpPr>
        <p:grpSpPr>
          <a:xfrm>
            <a:off x="5811012" y="2185988"/>
            <a:ext cx="4953190" cy="2305050"/>
            <a:chOff x="5811012" y="2185988"/>
            <a:chExt cx="4953190" cy="2305050"/>
          </a:xfrm>
        </p:grpSpPr>
        <p:sp>
          <p:nvSpPr>
            <p:cNvPr id="32" name="TextBox 32"/>
            <p:cNvSpPr txBox="1"/>
            <p:nvPr/>
          </p:nvSpPr>
          <p:spPr>
            <a:xfrm>
              <a:off x="5811012" y="2287429"/>
              <a:ext cx="12371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(a) 项 1 写地址 100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106602" y="2185988"/>
              <a:ext cx="914400" cy="32385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220119" y="2287429"/>
              <a:ext cx="6873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Mem[100]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021002" y="2185988"/>
              <a:ext cx="914400" cy="32385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8935402" y="2185988"/>
              <a:ext cx="914400" cy="32385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9849802" y="2185988"/>
              <a:ext cx="914400" cy="32385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811012" y="2649379"/>
              <a:ext cx="967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项 2 写地址 108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106602" y="2547938"/>
              <a:ext cx="914400" cy="32385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220119" y="2649379"/>
              <a:ext cx="6873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Mem[108]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021002" y="2547938"/>
              <a:ext cx="914400" cy="32385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935402" y="2547938"/>
              <a:ext cx="914400" cy="32385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9849802" y="2547938"/>
              <a:ext cx="914400" cy="32385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811012" y="3011329"/>
              <a:ext cx="967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项 3 写地址 116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106602" y="2909888"/>
              <a:ext cx="914400" cy="32385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220119" y="3011329"/>
              <a:ext cx="6873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Mem[116]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021002" y="2909888"/>
              <a:ext cx="914400" cy="32385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8935402" y="2909888"/>
              <a:ext cx="914400" cy="32385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9849802" y="2909888"/>
              <a:ext cx="914400" cy="32385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811012" y="3373279"/>
              <a:ext cx="967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项 4 写地址 124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106602" y="3271838"/>
              <a:ext cx="914400" cy="32385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220119" y="3373279"/>
              <a:ext cx="6873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Mem[124]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021002" y="3271838"/>
              <a:ext cx="914400" cy="32385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8935402" y="3271838"/>
              <a:ext cx="914400" cy="32385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9849802" y="3271838"/>
              <a:ext cx="914400" cy="32385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811012" y="3906679"/>
              <a:ext cx="12371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(b) 项 1 写地址 100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106602" y="3805238"/>
              <a:ext cx="914400" cy="32385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220119" y="3906679"/>
              <a:ext cx="6873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Mem[100]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8021002" y="3805238"/>
              <a:ext cx="914400" cy="32385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134519" y="3906679"/>
              <a:ext cx="6873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Mem[108]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935402" y="3805238"/>
              <a:ext cx="914400" cy="32385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048919" y="3906679"/>
              <a:ext cx="6873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Mem[116]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9849802" y="3805238"/>
              <a:ext cx="914400" cy="32385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963319" y="3906679"/>
              <a:ext cx="6873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Mem[124]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811012" y="4268629"/>
              <a:ext cx="7731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项 2～4 空闲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7106602" y="4167188"/>
              <a:ext cx="914400" cy="32385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8021002" y="4167188"/>
              <a:ext cx="914400" cy="32385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8935402" y="4167188"/>
              <a:ext cx="914400" cy="32385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9849802" y="4167188"/>
              <a:ext cx="914400" cy="32385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</p:grpSp>
      <p:grpSp>
        <p:nvGrpSpPr>
          <p:cNvPr id="77" name="c2-callout-3"/>
          <p:cNvGrpSpPr/>
          <p:nvPr/>
        </p:nvGrpSpPr>
        <p:grpSpPr>
          <a:xfrm>
            <a:off x="5815965" y="4681538"/>
            <a:ext cx="5842635" cy="1243012"/>
            <a:chOff x="5815965" y="4681538"/>
            <a:chExt cx="5842635" cy="1243012"/>
          </a:xfrm>
        </p:grpSpPr>
        <p:sp>
          <p:nvSpPr>
            <p:cNvPr id="71" name="Rectangle 71"/>
            <p:cNvSpPr/>
            <p:nvPr/>
          </p:nvSpPr>
          <p:spPr>
            <a:xfrm>
              <a:off x="5815965" y="4681538"/>
              <a:ext cx="5842635" cy="1243012"/>
            </a:xfrm>
            <a:prstGeom prst="roundRect">
              <a:avLst>
                <a:gd name="adj" fmla="val 919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6020753" y="5202555"/>
              <a:ext cx="200026" cy="200026"/>
              <a:chOff x="6020753" y="5202555"/>
              <a:chExt cx="200026" cy="200026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6020753" y="520255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6120765" y="526923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6109653" y="530256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6322695" y="4921568"/>
              <a:ext cx="48348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 位的字占 8 B，地址 100、108、116、124 恰好连续。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不合并要占满 4 项，缓冲器已满；合并后只占 1 项，还剩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项可用。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48435" cy="909257"/>
            <a:chOff x="520446" y="342900"/>
            <a:chExt cx="774843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2606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838" y="407194"/>
              <a:ext cx="27242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03 缓存优化 · 减少不命中开销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4843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方法四：请求字处理，先把 CPU 要的那个字送过去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626418" cy="1316355"/>
            <a:chOff x="533400" y="1524000"/>
            <a:chExt cx="5626418" cy="13163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308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请求字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844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从下一级存储器调入 Cache 的块中，只有一个字是立即需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要的，这个字称为请求字。应尽早把请求字发送给 CPU。</a:t>
              </a:r>
            </a:p>
          </p:txBody>
        </p:sp>
      </p:grpSp>
      <p:grpSp>
        <p:nvGrpSpPr>
          <p:cNvPr id="24" name="c1-table-2"/>
          <p:cNvGrpSpPr/>
          <p:nvPr/>
        </p:nvGrpSpPr>
        <p:grpSpPr>
          <a:xfrm>
            <a:off x="533400" y="3030855"/>
            <a:ext cx="5626418" cy="2253615"/>
            <a:chOff x="533400" y="3030855"/>
            <a:chExt cx="5626418" cy="2253615"/>
          </a:xfrm>
        </p:grpSpPr>
        <p:sp>
          <p:nvSpPr>
            <p:cNvPr id="13" name="Rectangle 13"/>
            <p:cNvSpPr/>
            <p:nvPr/>
          </p:nvSpPr>
          <p:spPr>
            <a:xfrm>
              <a:off x="533400" y="3030855"/>
              <a:ext cx="5626418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29932" y="31665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技术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842664" y="31665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1223" y="384190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尽早重启动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91868" y="3615214"/>
              <a:ext cx="379247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请求字没有到达时 CPU 处于等待状态；请求字一到达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就立即送给 CPU，让等待的 CPU 尽早重启动，继续执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437673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4381500"/>
              <a:ext cx="5626418" cy="9020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474392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请求字优先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91868" y="4517231"/>
              <a:ext cx="379247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调块时让存储器首先提供 CPU 所要的请求字；请求字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一到达就立即送给 CPU，同时从存储器调入该块的其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余部分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030855"/>
              <a:ext cx="5626418" cy="22536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1879282" y="3030855"/>
              <a:ext cx="9525" cy="22536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1" name="c1-callout-3"/>
          <p:cNvGrpSpPr/>
          <p:nvPr/>
        </p:nvGrpSpPr>
        <p:grpSpPr>
          <a:xfrm>
            <a:off x="533400" y="5474970"/>
            <a:ext cx="5626418" cy="782955"/>
            <a:chOff x="533400" y="5474970"/>
            <a:chExt cx="5626418" cy="782955"/>
          </a:xfrm>
        </p:grpSpPr>
        <p:sp>
          <p:nvSpPr>
            <p:cNvPr id="25" name="Rectangle 25"/>
            <p:cNvSpPr/>
            <p:nvPr/>
          </p:nvSpPr>
          <p:spPr>
            <a:xfrm>
              <a:off x="533400" y="5474970"/>
              <a:ext cx="5626418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38188" y="5766435"/>
              <a:ext cx="200026" cy="200026"/>
              <a:chOff x="738188" y="5766435"/>
              <a:chExt cx="200026" cy="20002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576643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38200" y="583311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27088" y="586644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130" y="5623560"/>
              <a:ext cx="46062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原课件总结表里称为“尽早重启动和关键字优先”，关键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字就是请求字（critical word）。</a:t>
              </a:r>
            </a:p>
          </p:txBody>
        </p:sp>
      </p:grpSp>
      <p:grpSp>
        <p:nvGrpSpPr>
          <p:cNvPr id="65" name="c2-cells-1"/>
          <p:cNvGrpSpPr/>
          <p:nvPr/>
        </p:nvGrpSpPr>
        <p:grpSpPr>
          <a:xfrm>
            <a:off x="6459284" y="1568291"/>
            <a:ext cx="3530181" cy="2413159"/>
            <a:chOff x="6459284" y="1568291"/>
            <a:chExt cx="3530181" cy="2413159"/>
          </a:xfrm>
        </p:grpSpPr>
        <p:sp>
          <p:nvSpPr>
            <p:cNvPr id="32" name="TextBox 32"/>
            <p:cNvSpPr txBox="1"/>
            <p:nvPr/>
          </p:nvSpPr>
          <p:spPr>
            <a:xfrm>
              <a:off x="6459284" y="19535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普通调块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264718" y="1809750"/>
              <a:ext cx="6667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96286" y="1953578"/>
              <a:ext cx="203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w0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931468" y="1809750"/>
              <a:ext cx="6667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163036" y="1953578"/>
              <a:ext cx="203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w1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598218" y="1809750"/>
              <a:ext cx="6667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829786" y="1953578"/>
              <a:ext cx="203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w2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9264968" y="1809750"/>
              <a:ext cx="666750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496536" y="1953578"/>
              <a:ext cx="203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w3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207221" y="1568291"/>
              <a:ext cx="7822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整块到齐才继续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9560242" y="17145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459284" y="282987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尽早重启动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264718" y="2686050"/>
              <a:ext cx="6667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496286" y="2829878"/>
              <a:ext cx="203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w0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931468" y="2686050"/>
              <a:ext cx="6667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163036" y="2829878"/>
              <a:ext cx="203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w1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598218" y="2686050"/>
              <a:ext cx="66675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829786" y="2829878"/>
              <a:ext cx="203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w2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9264968" y="2686050"/>
              <a:ext cx="6667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496536" y="2829878"/>
              <a:ext cx="203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613327" y="2444591"/>
              <a:ext cx="63653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w2 到就继续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8893492" y="25908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459284" y="370617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请求字优先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264718" y="3562350"/>
              <a:ext cx="66675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496286" y="3706178"/>
              <a:ext cx="203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w2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931468" y="3562350"/>
              <a:ext cx="6667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163036" y="3706178"/>
              <a:ext cx="203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w0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8598218" y="3562350"/>
              <a:ext cx="6667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829786" y="3706178"/>
              <a:ext cx="203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w1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9264968" y="3562350"/>
              <a:ext cx="6667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496536" y="3706178"/>
              <a:ext cx="203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w3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372553" y="332089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最先到达</a:t>
              </a:r>
            </a:p>
          </p:txBody>
        </p:sp>
        <p:sp>
          <p:nvSpPr>
            <p:cNvPr id="64" name="Freeform 64"/>
            <p:cNvSpPr/>
            <p:nvPr/>
          </p:nvSpPr>
          <p:spPr>
            <a:xfrm>
              <a:off x="7559992" y="34671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67" name="c2-text-2"/>
          <p:cNvGrpSpPr/>
          <p:nvPr/>
        </p:nvGrpSpPr>
        <p:grpSpPr>
          <a:xfrm>
            <a:off x="6458141" y="4193381"/>
            <a:ext cx="4833833" cy="249364"/>
            <a:chOff x="6458141" y="4193381"/>
            <a:chExt cx="4833833" cy="249364"/>
          </a:xfrm>
        </p:grpSpPr>
        <p:sp>
          <p:nvSpPr>
            <p:cNvPr id="66" name="TextBox 66"/>
            <p:cNvSpPr txBox="1"/>
            <p:nvPr/>
          </p:nvSpPr>
          <p:spPr>
            <a:xfrm>
              <a:off x="6458141" y="4193381"/>
              <a:ext cx="48338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CPU 要的是块中的 w2，格子从左到右是字到达的先后顺序。</a:t>
              </a:r>
            </a:p>
          </p:txBody>
        </p:sp>
      </p:grpSp>
      <p:grpSp>
        <p:nvGrpSpPr>
          <p:cNvPr id="76" name="c2-card-3"/>
          <p:cNvGrpSpPr/>
          <p:nvPr/>
        </p:nvGrpSpPr>
        <p:grpSpPr>
          <a:xfrm>
            <a:off x="6464618" y="4582478"/>
            <a:ext cx="5193982" cy="1674495"/>
            <a:chOff x="6464618" y="4582478"/>
            <a:chExt cx="5193982" cy="1674495"/>
          </a:xfrm>
        </p:grpSpPr>
        <p:sp>
          <p:nvSpPr>
            <p:cNvPr id="68" name="Rectangle 68"/>
            <p:cNvSpPr/>
            <p:nvPr/>
          </p:nvSpPr>
          <p:spPr>
            <a:xfrm>
              <a:off x="6464618" y="4582478"/>
              <a:ext cx="5193982" cy="1674495"/>
            </a:xfrm>
            <a:prstGeom prst="roundRect">
              <a:avLst>
                <a:gd name="adj" fmla="val 79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474142" y="4715828"/>
              <a:ext cx="47625" cy="140779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6712268" y="4792028"/>
              <a:ext cx="177450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765023" y="482774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以下情况用不用差别不大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6717983" y="5232083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876098" y="5169218"/>
              <a:ext cx="12438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 块较小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6717983" y="5567362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876098" y="5504498"/>
              <a:ext cx="41321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下一条指令正好访问同一 Cache 块的另一部分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30395" cy="909257"/>
            <a:chOff x="520446" y="342900"/>
            <a:chExt cx="78303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2606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838" y="407194"/>
              <a:ext cx="27242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03 缓存优化 · 减少不命中开销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303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方法五：非阻塞 Cache，不命中时 CPU 不必停下来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4760595" cy="2272665"/>
            <a:chOff x="533400" y="1524000"/>
            <a:chExt cx="4760595" cy="22726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2272665"/>
            </a:xfrm>
            <a:prstGeom prst="roundRect">
              <a:avLst>
                <a:gd name="adj" fmla="val 58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0596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091565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795" y="1769269"/>
              <a:ext cx="9520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非阻塞 Cache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38823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采用记分牌或 Tomasulo 类控制方式，允许指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令乱序执行，CPU 无需在 Cache 不命中时停顿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3177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允许多次不命中同时存在，进一步提高性能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12991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067050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可以同时处理的不命中次数越多，性能提高越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</a:t>
              </a:r>
            </a:p>
          </p:txBody>
        </p:sp>
      </p:grpSp>
      <p:grpSp>
        <p:nvGrpSpPr>
          <p:cNvPr id="24" name="c1-callout-2"/>
          <p:cNvGrpSpPr/>
          <p:nvPr/>
        </p:nvGrpSpPr>
        <p:grpSpPr>
          <a:xfrm>
            <a:off x="533400" y="3987165"/>
            <a:ext cx="4760595" cy="1463040"/>
            <a:chOff x="533400" y="3987165"/>
            <a:chExt cx="4760595" cy="1463040"/>
          </a:xfrm>
        </p:grpSpPr>
        <p:sp>
          <p:nvSpPr>
            <p:cNvPr id="18" name="Rectangle 18"/>
            <p:cNvSpPr/>
            <p:nvPr/>
          </p:nvSpPr>
          <p:spPr>
            <a:xfrm>
              <a:off x="533400" y="3987165"/>
              <a:ext cx="4760595" cy="1463040"/>
            </a:xfrm>
            <a:prstGeom prst="roundRect">
              <a:avLst>
                <a:gd name="adj" fmla="val 781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4618673"/>
              <a:ext cx="200026" cy="200026"/>
              <a:chOff x="738188" y="4618673"/>
              <a:chExt cx="200026" cy="200026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38188" y="46186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38200" y="46853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27088" y="47186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130" y="4475798"/>
              <a:ext cx="3825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问题：同时处理的不命中次数越多越好吗？右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边的模拟研究给出了答案。</a:t>
              </a:r>
            </a:p>
          </p:txBody>
        </p:sp>
      </p:grpSp>
      <p:grpSp>
        <p:nvGrpSpPr>
          <p:cNvPr id="47" name="c2-table-1"/>
          <p:cNvGrpSpPr/>
          <p:nvPr/>
        </p:nvGrpSpPr>
        <p:grpSpPr>
          <a:xfrm>
            <a:off x="5593080" y="1524000"/>
            <a:ext cx="6065520" cy="1842611"/>
            <a:chOff x="5593080" y="1524000"/>
            <a:chExt cx="6065520" cy="1842611"/>
          </a:xfrm>
        </p:grpSpPr>
        <p:sp>
          <p:nvSpPr>
            <p:cNvPr id="25" name="Rectangle 25"/>
            <p:cNvSpPr/>
            <p:nvPr/>
          </p:nvSpPr>
          <p:spPr>
            <a:xfrm>
              <a:off x="5598795" y="1524000"/>
              <a:ext cx="605980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25353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测试程序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00623" y="1659731"/>
              <a:ext cx="7379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重叠 1 次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218883" y="1659731"/>
              <a:ext cx="7379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重叠 2 次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534060" y="1659731"/>
              <a:ext cx="8374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重叠 64 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706618" y="2108359"/>
              <a:ext cx="14724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浮点程序（14 个）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103738" y="2108359"/>
              <a:ext cx="331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76%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21998" y="2108359"/>
              <a:ext cx="331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51%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0256520" y="1982152"/>
              <a:ext cx="139255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786930" y="2108359"/>
              <a:ext cx="331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39%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598795" y="24164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598795" y="2421255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706618" y="2556986"/>
              <a:ext cx="13729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整数程序（4 个）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620000" y="2430780"/>
              <a:ext cx="1299210" cy="429578"/>
            </a:xfrm>
            <a:prstGeom prst="rect">
              <a:avLst/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103738" y="2556986"/>
              <a:ext cx="331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81%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421998" y="2556986"/>
              <a:ext cx="331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78%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786930" y="2556986"/>
              <a:ext cx="331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78%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598795" y="1524000"/>
              <a:ext cx="6059805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7605712" y="15240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8923972" y="15240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10242232" y="152400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593080" y="2946559"/>
              <a:ext cx="57010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比值 = 非阻塞 Cache 的平均存储器等待时间 ÷ 阻塞 Cache 的平均存储器等待时间（周期为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单位）；8 KB 直接映像 Cache，块 32 B，SPEC92</a:t>
              </a:r>
            </a:p>
          </p:txBody>
        </p:sp>
      </p:grpSp>
      <p:grpSp>
        <p:nvGrpSpPr>
          <p:cNvPr id="55" name="c2-card-2"/>
          <p:cNvGrpSpPr/>
          <p:nvPr/>
        </p:nvGrpSpPr>
        <p:grpSpPr>
          <a:xfrm>
            <a:off x="5598795" y="3512820"/>
            <a:ext cx="6059805" cy="1937385"/>
            <a:chOff x="5598795" y="3512820"/>
            <a:chExt cx="6059805" cy="1937385"/>
          </a:xfrm>
        </p:grpSpPr>
        <p:sp>
          <p:nvSpPr>
            <p:cNvPr id="48" name="Rectangle 48"/>
            <p:cNvSpPr/>
            <p:nvPr/>
          </p:nvSpPr>
          <p:spPr>
            <a:xfrm>
              <a:off x="5598795" y="3512820"/>
              <a:ext cx="6059805" cy="1937385"/>
            </a:xfrm>
            <a:prstGeom prst="roundRect">
              <a:avLst>
                <a:gd name="adj" fmla="val 688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808345" y="372237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899506" y="375808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5814060" y="416242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972175" y="4099560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浮点程序：允许重叠的不命中越多，等待时间下降越多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5814060" y="449770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972175" y="4434840"/>
              <a:ext cx="52635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整数程序：重叠次数对性能提高影响不大，简单的“一次不命中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下命中”（只允许 1 次重叠不命中）就几乎可以得到所有的好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处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386512" cy="3675697"/>
            <a:chOff x="667512" y="1835468"/>
            <a:chExt cx="6386512" cy="367569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减少命中时间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376606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命中时间直接影响处理器的时钟频率，很多计算机正是被 Cache 的访</a:t>
              </a:r>
              <a:br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问时间限制了时钟频率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21195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154805"/>
              <a:ext cx="2455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小容量、结构简单的 Cache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56628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509135"/>
              <a:ext cx="3122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 Cache 与虚拟索引加物理标识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92061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863465"/>
              <a:ext cx="16477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 访问流水化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27494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217795"/>
              <a:ext cx="10419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踪迹 Cache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86926" cy="909257"/>
            <a:chOff x="520446" y="342900"/>
            <a:chExt cx="628692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841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741" y="407194"/>
              <a:ext cx="2573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03 缓存优化 · 减少命中时间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8692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方法一：使用小容量、结构简单的 Cache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5193982" cy="2607945"/>
            <a:chOff x="533400" y="1524000"/>
            <a:chExt cx="5193982" cy="26079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607945"/>
            </a:xfrm>
            <a:prstGeom prst="roundRect">
              <a:avLst>
                <a:gd name="adj" fmla="val 51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34124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硬件越简单，速度就越快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5088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446020"/>
              <a:ext cx="43205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应使 Cache 足够小，以便可以与 CPU 一起放在同一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块芯片上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12991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067050"/>
              <a:ext cx="42824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折衷方案：把 Cache 的标识放在片内，而把 Cache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的数据存储器放在片外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375094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3688080"/>
              <a:ext cx="40879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采用结构简单的 Cache，比如直接映像 Cache</a:t>
              </a:r>
            </a:p>
          </p:txBody>
        </p:sp>
      </p:grpSp>
      <p:grpSp>
        <p:nvGrpSpPr>
          <p:cNvPr id="26" name="c1-callout-2"/>
          <p:cNvGrpSpPr/>
          <p:nvPr/>
        </p:nvGrpSpPr>
        <p:grpSpPr>
          <a:xfrm>
            <a:off x="533400" y="4322445"/>
            <a:ext cx="5193982" cy="1183958"/>
            <a:chOff x="533400" y="4322445"/>
            <a:chExt cx="5193982" cy="1183958"/>
          </a:xfrm>
        </p:grpSpPr>
        <p:sp>
          <p:nvSpPr>
            <p:cNvPr id="20" name="Rectangle 20"/>
            <p:cNvSpPr/>
            <p:nvPr/>
          </p:nvSpPr>
          <p:spPr>
            <a:xfrm>
              <a:off x="533400" y="4322445"/>
              <a:ext cx="5193982" cy="1183958"/>
            </a:xfrm>
            <a:prstGeom prst="roundRect">
              <a:avLst>
                <a:gd name="adj" fmla="val 965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38188" y="4813935"/>
              <a:ext cx="200026" cy="200025"/>
              <a:chOff x="738188" y="4813935"/>
              <a:chExt cx="200026" cy="20002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38188" y="481393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77926" y="485838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12642" y="496951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130" y="4532948"/>
              <a:ext cx="42348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例 2 就是这条规则的数字证明：两路组相联把时钟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周期拉长 10%，CPU 时间反而比直接映像多约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1%。</a:t>
              </a:r>
            </a:p>
          </p:txBody>
        </p:sp>
      </p:grpSp>
      <p:grpSp>
        <p:nvGrpSpPr>
          <p:cNvPr id="41" name="c2-table-1"/>
          <p:cNvGrpSpPr/>
          <p:nvPr/>
        </p:nvGrpSpPr>
        <p:grpSpPr>
          <a:xfrm>
            <a:off x="6032182" y="1524000"/>
            <a:ext cx="5626418" cy="2475548"/>
            <a:chOff x="6032182" y="1524000"/>
            <a:chExt cx="5626418" cy="2475548"/>
          </a:xfrm>
        </p:grpSpPr>
        <p:sp>
          <p:nvSpPr>
            <p:cNvPr id="27" name="Rectangle 27"/>
            <p:cNvSpPr/>
            <p:nvPr/>
          </p:nvSpPr>
          <p:spPr>
            <a:xfrm>
              <a:off x="6032182" y="1524000"/>
              <a:ext cx="5626418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9730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措施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820785" y="165973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为什么能缩短命中时间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140006" y="2108359"/>
              <a:ext cx="137236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 CPU 同在一块芯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片上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27836" y="2221706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省去信号跨芯片传输的延迟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032182" y="264318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032182" y="2647950"/>
              <a:ext cx="562641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140006" y="2783681"/>
              <a:ext cx="13134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标识放片内、数据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放片外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27836" y="2897029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标识比较在片内快速完成，数据存储器可以做大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032182" y="331946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140006" y="357235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直接映像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827836" y="3459004"/>
              <a:ext cx="34267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每个地址只有一个候选块，只需一个比较器、不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需多路选择器，数据可以与标识比较同时送出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032182" y="1524000"/>
              <a:ext cx="5626418" cy="24755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7715250" y="1524000"/>
              <a:ext cx="9525" cy="2475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7" name="c2-card-2"/>
          <p:cNvGrpSpPr/>
          <p:nvPr/>
        </p:nvGrpSpPr>
        <p:grpSpPr>
          <a:xfrm>
            <a:off x="6032182" y="4190048"/>
            <a:ext cx="5626418" cy="1316355"/>
            <a:chOff x="6032182" y="4190048"/>
            <a:chExt cx="5626418" cy="1316355"/>
          </a:xfrm>
        </p:grpSpPr>
        <p:sp>
          <p:nvSpPr>
            <p:cNvPr id="42" name="Rectangle 42"/>
            <p:cNvSpPr/>
            <p:nvPr/>
          </p:nvSpPr>
          <p:spPr>
            <a:xfrm>
              <a:off x="6032182" y="4190048"/>
              <a:ext cx="5626418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041708" y="4323398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279832" y="439959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70041" y="443531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72212" y="4776788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容量小、相联度低会让不命中率升高（总结表中该项的不命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中率为“−”），要在命中时间和不命中率之间折中。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30207" cy="909257"/>
            <a:chOff x="520446" y="342900"/>
            <a:chExt cx="663020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841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741" y="407194"/>
              <a:ext cx="2573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03 缓存优化 · 减少命中时间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3020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方法二：虚拟 Cache，命中时省掉地址转换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937385"/>
            <a:chOff x="533400" y="1524000"/>
            <a:chExt cx="5410200" cy="19373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94964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6645" y="1769269"/>
              <a:ext cx="8013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物理 Cache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47872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使用物理地址进行访问的传统 Cache。标识存储器中存放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的是物理地址，进行地址检测用的也是物理地址。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48665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06780" y="2731770"/>
              <a:ext cx="4463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缺点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：地址转换和访问 Cache 串行进行，访问速度很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慢</a:t>
              </a:r>
            </a:p>
          </p:txBody>
        </p:sp>
      </p:grpSp>
      <p:grpSp>
        <p:nvGrpSpPr>
          <p:cNvPr id="38" name="c1-graph-2"/>
          <p:cNvGrpSpPr/>
          <p:nvPr/>
        </p:nvGrpSpPr>
        <p:grpSpPr>
          <a:xfrm>
            <a:off x="788670" y="3782378"/>
            <a:ext cx="4934902" cy="1867471"/>
            <a:chOff x="788670" y="3782378"/>
            <a:chExt cx="4934902" cy="1867471"/>
          </a:xfrm>
        </p:grpSpPr>
        <p:sp>
          <p:nvSpPr>
            <p:cNvPr id="14" name="Freeform 14"/>
            <p:cNvSpPr/>
            <p:nvPr/>
          </p:nvSpPr>
          <p:spPr>
            <a:xfrm>
              <a:off x="1074420" y="3972878"/>
              <a:ext cx="1095375" cy="356235"/>
            </a:xfrm>
            <a:custGeom>
              <a:avLst/>
              <a:gdLst/>
              <a:ahLst/>
              <a:cxnLst/>
              <a:rect l="l" t="t" r="r" b="b"/>
              <a:pathLst>
                <a:path w="1095375" h="356235">
                  <a:moveTo>
                    <a:pt x="0" y="356235"/>
                  </a:moveTo>
                  <a:lnTo>
                    <a:pt x="0" y="0"/>
                  </a:lnTo>
                  <a:lnTo>
                    <a:pt x="109537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169795" y="392525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2912745" y="3972878"/>
              <a:ext cx="1191577" cy="260985"/>
            </a:xfrm>
            <a:custGeom>
              <a:avLst/>
              <a:gdLst/>
              <a:ahLst/>
              <a:cxnLst/>
              <a:rect l="l" t="t" r="r" b="b"/>
              <a:pathLst>
                <a:path w="1191577" h="260985">
                  <a:moveTo>
                    <a:pt x="0" y="0"/>
                  </a:moveTo>
                  <a:lnTo>
                    <a:pt x="1191577" y="0"/>
                  </a:lnTo>
                  <a:lnTo>
                    <a:pt x="1191577" y="26098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056698" y="423386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4532948" y="4814888"/>
              <a:ext cx="561975" cy="9525"/>
            </a:xfrm>
            <a:custGeom>
              <a:avLst/>
              <a:gdLst/>
              <a:ahLst/>
              <a:cxnLst/>
              <a:rect l="l" t="t" r="r" b="b"/>
              <a:pathLst>
                <a:path w="561975" h="9525">
                  <a:moveTo>
                    <a:pt x="0" y="0"/>
                  </a:moveTo>
                  <a:lnTo>
                    <a:pt x="56197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5094922" y="476726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4437698" y="476726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1455420" y="4814888"/>
              <a:ext cx="2315527" cy="9525"/>
            </a:xfrm>
            <a:custGeom>
              <a:avLst/>
              <a:gdLst/>
              <a:ahLst/>
              <a:cxnLst/>
              <a:rect l="l" t="t" r="r" b="b"/>
              <a:pathLst>
                <a:path w="2315527" h="9525">
                  <a:moveTo>
                    <a:pt x="2315527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1360170" y="476726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88670" y="4338638"/>
              <a:ext cx="571500" cy="952500"/>
            </a:xfrm>
            <a:prstGeom prst="roundRect">
              <a:avLst>
                <a:gd name="adj" fmla="val 16667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274570" y="3782378"/>
              <a:ext cx="628650" cy="381000"/>
            </a:xfrm>
            <a:prstGeom prst="roundRect">
              <a:avLst>
                <a:gd name="adj" fmla="val 2500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3770948" y="4338638"/>
              <a:ext cx="666750" cy="9525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190172" y="4338638"/>
              <a:ext cx="533400" cy="952500"/>
            </a:xfrm>
            <a:prstGeom prst="roundRect">
              <a:avLst>
                <a:gd name="adj" fmla="val 17857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30704" y="4744879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CPU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411724" y="3902869"/>
              <a:ext cx="3543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MMU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878463" y="4744879"/>
              <a:ext cx="4517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300383" y="474487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主存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403032" y="3887152"/>
              <a:ext cx="5334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422654" y="3919538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虚拟地址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242310" y="3887152"/>
              <a:ext cx="5334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261932" y="3919538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物理地址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241232" y="4729162"/>
              <a:ext cx="6477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257425" y="4761548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数据或指令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569670" y="5444490"/>
              <a:ext cx="13376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物理 Cache 存储系统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6248400" y="1524000"/>
            <a:ext cx="5410200" cy="1937385"/>
            <a:chOff x="6248400" y="1524000"/>
            <a:chExt cx="5410200" cy="1937385"/>
          </a:xfrm>
        </p:grpSpPr>
        <p:sp>
          <p:nvSpPr>
            <p:cNvPr id="39" name="Rectangle 39"/>
            <p:cNvSpPr/>
            <p:nvPr/>
          </p:nvSpPr>
          <p:spPr>
            <a:xfrm>
              <a:off x="6248400" y="1524000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57950" y="1733550"/>
              <a:ext cx="94964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31645" y="1769269"/>
              <a:ext cx="8013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虚拟 Cache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50330" y="2110740"/>
              <a:ext cx="47872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可以直接用虚拟地址进行访问的 Cache。标识存储器中存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放的是虚拟地址，进行地址检测用的也是虚拟地址。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463665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21780" y="273177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优点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：命中时不需要地址转换；即使不命中，地址转换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和访问 Cache 也是并行进行的，比物理 Cache 快很多</a:t>
              </a:r>
            </a:p>
          </p:txBody>
        </p:sp>
      </p:grpSp>
      <p:grpSp>
        <p:nvGrpSpPr>
          <p:cNvPr id="75" name="c2-graph-2"/>
          <p:cNvGrpSpPr/>
          <p:nvPr/>
        </p:nvGrpSpPr>
        <p:grpSpPr>
          <a:xfrm>
            <a:off x="6503670" y="3742372"/>
            <a:ext cx="4845368" cy="1947482"/>
            <a:chOff x="6503670" y="3742372"/>
            <a:chExt cx="4845368" cy="1947482"/>
          </a:xfrm>
        </p:grpSpPr>
        <p:sp>
          <p:nvSpPr>
            <p:cNvPr id="46" name="Freeform 46"/>
            <p:cNvSpPr/>
            <p:nvPr/>
          </p:nvSpPr>
          <p:spPr>
            <a:xfrm>
              <a:off x="6789420" y="3932872"/>
              <a:ext cx="1744980" cy="323850"/>
            </a:xfrm>
            <a:custGeom>
              <a:avLst/>
              <a:gdLst/>
              <a:ahLst/>
              <a:cxnLst/>
              <a:rect l="l" t="t" r="r" b="b"/>
              <a:pathLst>
                <a:path w="1744980" h="323850">
                  <a:moveTo>
                    <a:pt x="0" y="323850"/>
                  </a:moveTo>
                  <a:lnTo>
                    <a:pt x="0" y="0"/>
                  </a:lnTo>
                  <a:lnTo>
                    <a:pt x="17449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8534400" y="388524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7075170" y="4694872"/>
              <a:ext cx="1449705" cy="9525"/>
            </a:xfrm>
            <a:custGeom>
              <a:avLst/>
              <a:gdLst/>
              <a:ahLst/>
              <a:cxnLst/>
              <a:rect l="l" t="t" r="r" b="b"/>
              <a:pathLst>
                <a:path w="1449705" h="9525">
                  <a:moveTo>
                    <a:pt x="0" y="0"/>
                  </a:moveTo>
                  <a:lnTo>
                    <a:pt x="144970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8524875" y="464724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6789420" y="5228272"/>
              <a:ext cx="2164080" cy="148590"/>
            </a:xfrm>
            <a:custGeom>
              <a:avLst/>
              <a:gdLst/>
              <a:ahLst/>
              <a:cxnLst/>
              <a:rect l="l" t="t" r="r" b="b"/>
              <a:pathLst>
                <a:path w="2164080" h="148590">
                  <a:moveTo>
                    <a:pt x="0" y="0"/>
                  </a:moveTo>
                  <a:lnTo>
                    <a:pt x="0" y="148590"/>
                  </a:lnTo>
                  <a:lnTo>
                    <a:pt x="2164080" y="148590"/>
                  </a:lnTo>
                  <a:lnTo>
                    <a:pt x="21640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8905875" y="513302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6741795" y="513302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9277350" y="3932872"/>
              <a:ext cx="1785938" cy="228600"/>
            </a:xfrm>
            <a:custGeom>
              <a:avLst/>
              <a:gdLst/>
              <a:ahLst/>
              <a:cxnLst/>
              <a:rect l="l" t="t" r="r" b="b"/>
              <a:pathLst>
                <a:path w="1785938" h="228600">
                  <a:moveTo>
                    <a:pt x="0" y="0"/>
                  </a:moveTo>
                  <a:lnTo>
                    <a:pt x="1785938" y="0"/>
                  </a:lnTo>
                  <a:lnTo>
                    <a:pt x="1785938" y="2286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11015662" y="416147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9382125" y="4694872"/>
              <a:ext cx="1300162" cy="9525"/>
            </a:xfrm>
            <a:custGeom>
              <a:avLst/>
              <a:gdLst/>
              <a:ahLst/>
              <a:cxnLst/>
              <a:rect l="l" t="t" r="r" b="b"/>
              <a:pathLst>
                <a:path w="1300162" h="9525">
                  <a:moveTo>
                    <a:pt x="0" y="0"/>
                  </a:moveTo>
                  <a:lnTo>
                    <a:pt x="130016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10682288" y="464724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9286875" y="464724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503670" y="4266248"/>
              <a:ext cx="571500" cy="857250"/>
            </a:xfrm>
            <a:prstGeom prst="roundRect">
              <a:avLst>
                <a:gd name="adj" fmla="val 16667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8639175" y="3742372"/>
              <a:ext cx="628650" cy="381000"/>
            </a:xfrm>
            <a:prstGeom prst="roundRect">
              <a:avLst>
                <a:gd name="adj" fmla="val 2500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8620125" y="4266248"/>
              <a:ext cx="666750" cy="85725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10777538" y="4266248"/>
              <a:ext cx="571500" cy="857250"/>
            </a:xfrm>
            <a:prstGeom prst="roundRect">
              <a:avLst>
                <a:gd name="adj" fmla="val 16667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645704" y="4624864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CPU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776329" y="3862864"/>
              <a:ext cx="3543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MMU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727640" y="4624864"/>
              <a:ext cx="4517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906798" y="462486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主存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7442835" y="3847148"/>
              <a:ext cx="5334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462456" y="387858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虚拟地址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7580948" y="4609148"/>
              <a:ext cx="5334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600569" y="4641532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虚拟地址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7547610" y="5291138"/>
              <a:ext cx="6477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563802" y="5323522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数据或指令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9904095" y="3847148"/>
              <a:ext cx="5334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923716" y="387858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物理地址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284670" y="5484495"/>
              <a:ext cx="13376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虚拟 Cache 存储系统</a:t>
              </a:r>
            </a:p>
          </p:txBody>
        </p:sp>
      </p:grpSp>
      <p:grpSp>
        <p:nvGrpSpPr>
          <p:cNvPr id="81" name="takeaway"/>
          <p:cNvGrpSpPr/>
          <p:nvPr/>
        </p:nvGrpSpPr>
        <p:grpSpPr>
          <a:xfrm>
            <a:off x="533400" y="5829300"/>
            <a:ext cx="11129162" cy="533400"/>
            <a:chOff x="533400" y="5829300"/>
            <a:chExt cx="11129162" cy="533400"/>
          </a:xfrm>
        </p:grpSpPr>
        <p:sp>
          <p:nvSpPr>
            <p:cNvPr id="76" name="Rectangle 76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1040130" y="5991225"/>
              <a:ext cx="106224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物理 Cache 的 MMU 串在 CPU 与 Cache 之间，每次访存先转换；虚拟 Cache 的 MMU 与 Cache 并列，命中时用不上。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26127" cy="909257"/>
            <a:chOff x="520446" y="342900"/>
            <a:chExt cx="742612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841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741" y="407194"/>
              <a:ext cx="2573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03 缓存优化 · 减少命中时间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2612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 Cache 的清空问题，与虚拟索引加物理标识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4760595" cy="4256722"/>
            <a:chOff x="533400" y="1524000"/>
            <a:chExt cx="4760595" cy="425672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4256722"/>
            </a:xfrm>
            <a:prstGeom prst="roundRect">
              <a:avLst>
                <a:gd name="adj" fmla="val 31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99002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208788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1242" y="1769269"/>
              <a:ext cx="20074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为什么并非都采用虚拟 Cache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清空问题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：新进程的虚拟地址可能与原进程相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同，切换进程时要清空 Cache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31770"/>
              <a:ext cx="3768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解决方法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：在地址标识中增加 PID（进程标识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符）字段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4156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352800"/>
              <a:ext cx="39585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PID 的问题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：为了减少位数，PID 可能循环使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用，多个进程可能使用同一个 PID，此时也需要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清空 Cache</a:t>
              </a:r>
            </a:p>
          </p:txBody>
        </p:sp>
      </p:grpSp>
      <p:grpSp>
        <p:nvGrpSpPr>
          <p:cNvPr id="28" name="c2-card-1"/>
          <p:cNvGrpSpPr/>
          <p:nvPr/>
        </p:nvGrpSpPr>
        <p:grpSpPr>
          <a:xfrm>
            <a:off x="5598795" y="1524000"/>
            <a:ext cx="6059805" cy="1986915"/>
            <a:chOff x="5598795" y="1524000"/>
            <a:chExt cx="6059805" cy="1986915"/>
          </a:xfrm>
        </p:grpSpPr>
        <p:sp>
          <p:nvSpPr>
            <p:cNvPr id="18" name="Rectangle 18"/>
            <p:cNvSpPr/>
            <p:nvPr/>
          </p:nvSpPr>
          <p:spPr>
            <a:xfrm>
              <a:off x="5598795" y="1524000"/>
              <a:ext cx="6059805" cy="1986915"/>
            </a:xfrm>
            <a:prstGeom prst="roundRect">
              <a:avLst>
                <a:gd name="adj" fmla="val 67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608320" y="1657350"/>
              <a:ext cx="47625" cy="172021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846445" y="1733550"/>
              <a:ext cx="151923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906697" y="1769269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虚拟索引 + 物理标识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852160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10275" y="2110740"/>
              <a:ext cx="5225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原理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：用虚地址中的页内位移生成 Cache 索引；虚实转换后的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实页地址作为标识 tag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5852160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010275" y="2731770"/>
              <a:ext cx="40085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：兼得虚拟 Cache 和物理 Cache 的好处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852160" y="312991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010275" y="3067050"/>
              <a:ext cx="54145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局限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：Cache 容量受到限制，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Cache 容量 ≤ 页大小 × 相联度</a:t>
              </a:r>
            </a:p>
          </p:txBody>
        </p:sp>
      </p:grpSp>
      <p:grpSp>
        <p:nvGrpSpPr>
          <p:cNvPr id="34" name="c2-cells-2"/>
          <p:cNvGrpSpPr/>
          <p:nvPr/>
        </p:nvGrpSpPr>
        <p:grpSpPr>
          <a:xfrm>
            <a:off x="5593461" y="3701415"/>
            <a:ext cx="6065139" cy="419100"/>
            <a:chOff x="5593461" y="3701415"/>
            <a:chExt cx="6065139" cy="419100"/>
          </a:xfrm>
        </p:grpSpPr>
        <p:sp>
          <p:nvSpPr>
            <p:cNvPr id="29" name="TextBox 29"/>
            <p:cNvSpPr txBox="1"/>
            <p:nvPr/>
          </p:nvSpPr>
          <p:spPr>
            <a:xfrm>
              <a:off x="5593461" y="3845243"/>
              <a:ext cx="6536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IBM 3033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306502" y="3701415"/>
              <a:ext cx="267557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05802" y="3845243"/>
              <a:ext cx="20779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31～12 位：页地址（地址标识）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983028" y="3701415"/>
              <a:ext cx="267557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039487" y="3845243"/>
              <a:ext cx="25617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11～0 位：页内位移（索引＋块内位移）</a:t>
              </a:r>
            </a:p>
          </p:txBody>
        </p:sp>
      </p:grpSp>
      <p:grpSp>
        <p:nvGrpSpPr>
          <p:cNvPr id="36" name="c2-text-3"/>
          <p:cNvGrpSpPr/>
          <p:nvPr/>
        </p:nvGrpSpPr>
        <p:grpSpPr>
          <a:xfrm>
            <a:off x="5592318" y="4332446"/>
            <a:ext cx="4557091" cy="249364"/>
            <a:chOff x="5592318" y="4332446"/>
            <a:chExt cx="4557091" cy="249364"/>
          </a:xfrm>
        </p:grpSpPr>
        <p:sp>
          <p:nvSpPr>
            <p:cNvPr id="35" name="TextBox 35"/>
            <p:cNvSpPr txBox="1"/>
            <p:nvPr/>
          </p:nvSpPr>
          <p:spPr>
            <a:xfrm>
              <a:off x="5592318" y="4332446"/>
              <a:ext cx="4557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页大小 4 KB，相联度 16，Cache 容量 = 16 × 4 KB = 64 KB</a:t>
              </a:r>
            </a:p>
          </p:txBody>
        </p:sp>
      </p:grpSp>
      <p:grpSp>
        <p:nvGrpSpPr>
          <p:cNvPr id="43" name="c2-callout-4"/>
          <p:cNvGrpSpPr/>
          <p:nvPr/>
        </p:nvGrpSpPr>
        <p:grpSpPr>
          <a:xfrm>
            <a:off x="5598795" y="4721542"/>
            <a:ext cx="6059805" cy="1059180"/>
            <a:chOff x="5598795" y="4721542"/>
            <a:chExt cx="6059805" cy="1059180"/>
          </a:xfrm>
        </p:grpSpPr>
        <p:sp>
          <p:nvSpPr>
            <p:cNvPr id="37" name="Rectangle 37"/>
            <p:cNvSpPr/>
            <p:nvPr/>
          </p:nvSpPr>
          <p:spPr>
            <a:xfrm>
              <a:off x="5598795" y="4721542"/>
              <a:ext cx="6059805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5803583" y="5151120"/>
              <a:ext cx="200026" cy="200026"/>
              <a:chOff x="5803583" y="5151120"/>
              <a:chExt cx="200026" cy="200026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5803583" y="515112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5903595" y="521779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5892483" y="525113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6105525" y="4870132"/>
              <a:ext cx="5158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容量上限的由来：索引和块内位移只能取自页内位移，所以组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 × 块大小 ≤ 页大小；要增大容量，只能增加每组的路数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（或增大页）。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55448" cy="909257"/>
            <a:chOff x="520446" y="342900"/>
            <a:chExt cx="705544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841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741" y="407194"/>
              <a:ext cx="2573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03 缓存优化 · 减少命中时间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5544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方法三、四：Cache 访问流水化与踪迹 Cache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760595" cy="1621155"/>
            <a:chOff x="533400" y="1524000"/>
            <a:chExt cx="4760595" cy="16211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308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方法三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24000" y="1768792"/>
              <a:ext cx="16788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 访问流水化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0252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对第一级 Cache 的访问按流水方式组织，访问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 需要多个时钟周期才可以完成。每一级的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延迟变短，时钟频率可以提高。</a:t>
              </a:r>
            </a:p>
          </p:txBody>
        </p:sp>
      </p:grpSp>
      <p:grpSp>
        <p:nvGrpSpPr>
          <p:cNvPr id="28" name="c1-table-2"/>
          <p:cNvGrpSpPr/>
          <p:nvPr/>
        </p:nvGrpSpPr>
        <p:grpSpPr>
          <a:xfrm>
            <a:off x="533400" y="3335655"/>
            <a:ext cx="4760595" cy="2022158"/>
            <a:chOff x="533400" y="3335655"/>
            <a:chExt cx="4760595" cy="2022158"/>
          </a:xfrm>
        </p:grpSpPr>
        <p:sp>
          <p:nvSpPr>
            <p:cNvPr id="14" name="Rectangle 14"/>
            <p:cNvSpPr/>
            <p:nvPr/>
          </p:nvSpPr>
          <p:spPr>
            <a:xfrm>
              <a:off x="533400" y="3335655"/>
              <a:ext cx="4760595" cy="675322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506703" y="358473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处理器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09328" y="3471386"/>
              <a:ext cx="1885239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访问指令 Cache 所需时钟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周期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1223" y="4146709"/>
              <a:ext cx="7060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Pentium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098084" y="414670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445484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4459605"/>
              <a:ext cx="476059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4595336"/>
              <a:ext cx="22005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Pentium Pro 到 Pentium Ⅲ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098084" y="459533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90442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1223" y="5043964"/>
              <a:ext cx="8610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Pentium 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098084" y="504396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335655"/>
              <a:ext cx="4760595" cy="20221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3004185" y="3335655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8" name="c2-card-1"/>
          <p:cNvGrpSpPr/>
          <p:nvPr/>
        </p:nvGrpSpPr>
        <p:grpSpPr>
          <a:xfrm>
            <a:off x="5598795" y="1524000"/>
            <a:ext cx="6059805" cy="1956435"/>
            <a:chOff x="5598795" y="1524000"/>
            <a:chExt cx="6059805" cy="1956435"/>
          </a:xfrm>
        </p:grpSpPr>
        <p:sp>
          <p:nvSpPr>
            <p:cNvPr id="29" name="Rectangle 29"/>
            <p:cNvSpPr/>
            <p:nvPr/>
          </p:nvSpPr>
          <p:spPr>
            <a:xfrm>
              <a:off x="5598795" y="1524000"/>
              <a:ext cx="6059805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608320" y="1657350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846445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932703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方法四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89395" y="1768792"/>
              <a:ext cx="27206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踪迹 Cache（Trace Cache）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5852160" y="219265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010275" y="2129790"/>
              <a:ext cx="5187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挑战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：开发指令级并行性时，每个时钟周期要流出超过 4 条指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令，很难提供足够多条彼此互不相关的指令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5852160" y="28136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010275" y="2750820"/>
              <a:ext cx="5206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做法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：存放 CPU 所执行的动态指令序列，包含由分支预测展开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的指令；该分支预测是否正确，需要在取到该指令时进行确认</a:t>
              </a:r>
            </a:p>
          </p:txBody>
        </p:sp>
      </p:grpSp>
      <p:grpSp>
        <p:nvGrpSpPr>
          <p:cNvPr id="53" name="c2-compare-2"/>
          <p:cNvGrpSpPr/>
          <p:nvPr/>
        </p:nvGrpSpPr>
        <p:grpSpPr>
          <a:xfrm>
            <a:off x="5598795" y="3670935"/>
            <a:ext cx="6059805" cy="1939290"/>
            <a:chOff x="5598795" y="3670935"/>
            <a:chExt cx="6059805" cy="1939290"/>
          </a:xfrm>
        </p:grpSpPr>
        <p:sp>
          <p:nvSpPr>
            <p:cNvPr id="39" name="Rectangle 39"/>
            <p:cNvSpPr/>
            <p:nvPr/>
          </p:nvSpPr>
          <p:spPr>
            <a:xfrm>
              <a:off x="5598795" y="3670935"/>
              <a:ext cx="2820352" cy="1939290"/>
            </a:xfrm>
            <a:prstGeom prst="roundRect">
              <a:avLst>
                <a:gd name="adj" fmla="val 68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608320" y="3804285"/>
              <a:ext cx="47625" cy="167259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838825" y="390525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5852160" y="432244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010275" y="425958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地址映像机制复杂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5852160" y="465772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010275" y="4594860"/>
              <a:ext cx="2110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相同的指令序列有可能被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当作条件分支的不同选择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而重复存放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8838248" y="3670935"/>
              <a:ext cx="2820352" cy="1939290"/>
            </a:xfrm>
            <a:prstGeom prst="roundRect">
              <a:avLst>
                <a:gd name="adj" fmla="val 68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8847772" y="3804285"/>
              <a:ext cx="47625" cy="167259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078278" y="390525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9091612" y="432244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249728" y="4259580"/>
              <a:ext cx="19869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能够提高指令 Cache 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空间利用率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8466772" y="447865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537113" y="457485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958247" cy="2997517"/>
            <a:chOff x="667512" y="1835468"/>
            <a:chExt cx="3958247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总结与自测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9483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 17 种技术放在一张图、一张表里对照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知识结构图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各技术对三项指标的影响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994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道自测题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993184" cy="909257"/>
            <a:chOff x="520446" y="342900"/>
            <a:chExt cx="499318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4127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690" y="407194"/>
              <a:ext cx="24226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03 缓存优化 · 总结与自测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9931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知识结构：三个方向，17 种技术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8" name="c1-tree-1"/>
          <p:cNvGrpSpPr/>
          <p:nvPr/>
        </p:nvGrpSpPr>
        <p:grpSpPr>
          <a:xfrm>
            <a:off x="533400" y="1538288"/>
            <a:ext cx="5842635" cy="4105274"/>
            <a:chOff x="533400" y="1538288"/>
            <a:chExt cx="5842635" cy="4105274"/>
          </a:xfrm>
        </p:grpSpPr>
        <p:sp>
          <p:nvSpPr>
            <p:cNvPr id="7" name="Freeform 7"/>
            <p:cNvSpPr/>
            <p:nvPr/>
          </p:nvSpPr>
          <p:spPr>
            <a:xfrm>
              <a:off x="4198620" y="1711642"/>
              <a:ext cx="419100" cy="376238"/>
            </a:xfrm>
            <a:custGeom>
              <a:avLst/>
              <a:gdLst/>
              <a:ahLst/>
              <a:cxnLst/>
              <a:rect l="l" t="t" r="r" b="b"/>
              <a:pathLst>
                <a:path w="419100" h="376238">
                  <a:moveTo>
                    <a:pt x="0" y="376238"/>
                  </a:moveTo>
                  <a:lnTo>
                    <a:pt x="209550" y="37623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4198620" y="208788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4198620" y="2087880"/>
              <a:ext cx="419100" cy="375285"/>
            </a:xfrm>
            <a:custGeom>
              <a:avLst/>
              <a:gdLst/>
              <a:ahLst/>
              <a:cxnLst/>
              <a:rect l="l" t="t" r="r" b="b"/>
              <a:pathLst>
                <a:path w="419100" h="375285">
                  <a:moveTo>
                    <a:pt x="0" y="0"/>
                  </a:moveTo>
                  <a:lnTo>
                    <a:pt x="209550" y="0"/>
                  </a:lnTo>
                  <a:lnTo>
                    <a:pt x="209550" y="375285"/>
                  </a:lnTo>
                  <a:lnTo>
                    <a:pt x="419100" y="37528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198620" y="2839402"/>
              <a:ext cx="419100" cy="1315402"/>
            </a:xfrm>
            <a:custGeom>
              <a:avLst/>
              <a:gdLst/>
              <a:ahLst/>
              <a:cxnLst/>
              <a:rect l="l" t="t" r="r" b="b"/>
              <a:pathLst>
                <a:path w="419100" h="1315402">
                  <a:moveTo>
                    <a:pt x="0" y="1315402"/>
                  </a:moveTo>
                  <a:lnTo>
                    <a:pt x="209550" y="131540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4198620" y="3214688"/>
              <a:ext cx="419100" cy="940117"/>
            </a:xfrm>
            <a:custGeom>
              <a:avLst/>
              <a:gdLst/>
              <a:ahLst/>
              <a:cxnLst/>
              <a:rect l="l" t="t" r="r" b="b"/>
              <a:pathLst>
                <a:path w="419100" h="940117">
                  <a:moveTo>
                    <a:pt x="0" y="940117"/>
                  </a:moveTo>
                  <a:lnTo>
                    <a:pt x="209550" y="940117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198620" y="3590925"/>
              <a:ext cx="419100" cy="563880"/>
            </a:xfrm>
            <a:custGeom>
              <a:avLst/>
              <a:gdLst/>
              <a:ahLst/>
              <a:cxnLst/>
              <a:rect l="l" t="t" r="r" b="b"/>
              <a:pathLst>
                <a:path w="419100" h="563880">
                  <a:moveTo>
                    <a:pt x="0" y="563880"/>
                  </a:moveTo>
                  <a:lnTo>
                    <a:pt x="209550" y="56388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198620" y="3967162"/>
              <a:ext cx="419100" cy="187642"/>
            </a:xfrm>
            <a:custGeom>
              <a:avLst/>
              <a:gdLst/>
              <a:ahLst/>
              <a:cxnLst/>
              <a:rect l="l" t="t" r="r" b="b"/>
              <a:pathLst>
                <a:path w="419100" h="187642">
                  <a:moveTo>
                    <a:pt x="0" y="187642"/>
                  </a:moveTo>
                  <a:lnTo>
                    <a:pt x="209550" y="18764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198620" y="4154805"/>
              <a:ext cx="419100" cy="187642"/>
            </a:xfrm>
            <a:custGeom>
              <a:avLst/>
              <a:gdLst/>
              <a:ahLst/>
              <a:cxnLst/>
              <a:rect l="l" t="t" r="r" b="b"/>
              <a:pathLst>
                <a:path w="419100" h="187642">
                  <a:moveTo>
                    <a:pt x="0" y="0"/>
                  </a:moveTo>
                  <a:lnTo>
                    <a:pt x="209550" y="0"/>
                  </a:lnTo>
                  <a:lnTo>
                    <a:pt x="209550" y="187642"/>
                  </a:lnTo>
                  <a:lnTo>
                    <a:pt x="419100" y="18764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198620" y="4154805"/>
              <a:ext cx="419100" cy="563880"/>
            </a:xfrm>
            <a:custGeom>
              <a:avLst/>
              <a:gdLst/>
              <a:ahLst/>
              <a:cxnLst/>
              <a:rect l="l" t="t" r="r" b="b"/>
              <a:pathLst>
                <a:path w="419100" h="563880">
                  <a:moveTo>
                    <a:pt x="0" y="0"/>
                  </a:moveTo>
                  <a:lnTo>
                    <a:pt x="209550" y="0"/>
                  </a:lnTo>
                  <a:lnTo>
                    <a:pt x="209550" y="563880"/>
                  </a:lnTo>
                  <a:lnTo>
                    <a:pt x="419100" y="56388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198620" y="4154805"/>
              <a:ext cx="419100" cy="939165"/>
            </a:xfrm>
            <a:custGeom>
              <a:avLst/>
              <a:gdLst/>
              <a:ahLst/>
              <a:cxnLst/>
              <a:rect l="l" t="t" r="r" b="b"/>
              <a:pathLst>
                <a:path w="419100" h="939165">
                  <a:moveTo>
                    <a:pt x="0" y="0"/>
                  </a:moveTo>
                  <a:lnTo>
                    <a:pt x="209550" y="0"/>
                  </a:lnTo>
                  <a:lnTo>
                    <a:pt x="209550" y="939165"/>
                  </a:lnTo>
                  <a:lnTo>
                    <a:pt x="419100" y="93916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198620" y="4154805"/>
              <a:ext cx="419100" cy="1315402"/>
            </a:xfrm>
            <a:custGeom>
              <a:avLst/>
              <a:gdLst/>
              <a:ahLst/>
              <a:cxnLst/>
              <a:rect l="l" t="t" r="r" b="b"/>
              <a:pathLst>
                <a:path w="419100" h="1315402">
                  <a:moveTo>
                    <a:pt x="0" y="0"/>
                  </a:moveTo>
                  <a:lnTo>
                    <a:pt x="209550" y="0"/>
                  </a:lnTo>
                  <a:lnTo>
                    <a:pt x="209550" y="1315402"/>
                  </a:lnTo>
                  <a:lnTo>
                    <a:pt x="419100" y="131540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006918" y="2087880"/>
              <a:ext cx="419100" cy="1033462"/>
            </a:xfrm>
            <a:custGeom>
              <a:avLst/>
              <a:gdLst/>
              <a:ahLst/>
              <a:cxnLst/>
              <a:rect l="l" t="t" r="r" b="b"/>
              <a:pathLst>
                <a:path w="419100" h="1033462">
                  <a:moveTo>
                    <a:pt x="0" y="1033462"/>
                  </a:moveTo>
                  <a:lnTo>
                    <a:pt x="209550" y="103346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006918" y="3121342"/>
              <a:ext cx="419100" cy="1033462"/>
            </a:xfrm>
            <a:custGeom>
              <a:avLst/>
              <a:gdLst/>
              <a:ahLst/>
              <a:cxnLst/>
              <a:rect l="l" t="t" r="r" b="b"/>
              <a:pathLst>
                <a:path w="419100" h="1033462">
                  <a:moveTo>
                    <a:pt x="0" y="0"/>
                  </a:moveTo>
                  <a:lnTo>
                    <a:pt x="209550" y="0"/>
                  </a:lnTo>
                  <a:lnTo>
                    <a:pt x="209550" y="1033462"/>
                  </a:lnTo>
                  <a:lnTo>
                    <a:pt x="419100" y="103346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617720" y="1538288"/>
              <a:ext cx="1758315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617720" y="1914525"/>
              <a:ext cx="1758315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617720" y="2289810"/>
              <a:ext cx="1758315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2426018" y="1914525"/>
              <a:ext cx="1772602" cy="346710"/>
            </a:xfrm>
            <a:prstGeom prst="roundRect">
              <a:avLst>
                <a:gd name="adj" fmla="val 27473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4617720" y="2666048"/>
              <a:ext cx="1758315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4617720" y="3041332"/>
              <a:ext cx="1758315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617720" y="3417570"/>
              <a:ext cx="1758315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4617720" y="3793808"/>
              <a:ext cx="1758315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617720" y="4169092"/>
              <a:ext cx="1758315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4617720" y="4545330"/>
              <a:ext cx="1758315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617720" y="4920615"/>
              <a:ext cx="1758315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4617720" y="5296852"/>
              <a:ext cx="1758315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2426018" y="3981450"/>
              <a:ext cx="1772602" cy="346710"/>
            </a:xfrm>
            <a:prstGeom prst="roundRect">
              <a:avLst>
                <a:gd name="adj" fmla="val 27473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2947988"/>
              <a:ext cx="1473518" cy="346710"/>
            </a:xfrm>
            <a:prstGeom prst="roundRect">
              <a:avLst>
                <a:gd name="adj" fmla="val 2747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707255" y="163306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强制性不命中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707255" y="200929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容量不命中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707255" y="238458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冲突不命中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515552" y="2009299"/>
              <a:ext cx="12508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三种不命中（3C）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707255" y="276082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增加块大小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707255" y="3136106"/>
              <a:ext cx="11253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 Cache 容量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707255" y="35123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提高相联度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707255" y="3888581"/>
              <a:ext cx="9288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伪相联 Cache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707255" y="426386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硬件预取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707255" y="464010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编译器控制的预取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707255" y="501538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编译器优化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707255" y="5391626"/>
              <a:ext cx="7780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牺牲 Cache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515552" y="4076224"/>
              <a:ext cx="598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8 种方法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22935" y="304276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降低不命中率</a:t>
              </a:r>
            </a:p>
          </p:txBody>
        </p:sp>
      </p:grpSp>
      <p:grpSp>
        <p:nvGrpSpPr>
          <p:cNvPr id="66" name="c2-tree-1"/>
          <p:cNvGrpSpPr/>
          <p:nvPr/>
        </p:nvGrpSpPr>
        <p:grpSpPr>
          <a:xfrm>
            <a:off x="6680835" y="1588770"/>
            <a:ext cx="4977765" cy="2251710"/>
            <a:chOff x="6680835" y="1588770"/>
            <a:chExt cx="4977765" cy="2251710"/>
          </a:xfrm>
        </p:grpSpPr>
        <p:sp>
          <p:nvSpPr>
            <p:cNvPr id="49" name="Freeform 49"/>
            <p:cNvSpPr/>
            <p:nvPr/>
          </p:nvSpPr>
          <p:spPr>
            <a:xfrm>
              <a:off x="8818245" y="1762125"/>
              <a:ext cx="419100" cy="952500"/>
            </a:xfrm>
            <a:custGeom>
              <a:avLst/>
              <a:gdLst/>
              <a:ahLst/>
              <a:cxnLst/>
              <a:rect l="l" t="t" r="r" b="b"/>
              <a:pathLst>
                <a:path w="419100" h="952500">
                  <a:moveTo>
                    <a:pt x="0" y="952500"/>
                  </a:moveTo>
                  <a:lnTo>
                    <a:pt x="209550" y="95250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8818245" y="2238375"/>
              <a:ext cx="419100" cy="476250"/>
            </a:xfrm>
            <a:custGeom>
              <a:avLst/>
              <a:gdLst/>
              <a:ahLst/>
              <a:cxnLst/>
              <a:rect l="l" t="t" r="r" b="b"/>
              <a:pathLst>
                <a:path w="419100" h="476250">
                  <a:moveTo>
                    <a:pt x="0" y="476250"/>
                  </a:moveTo>
                  <a:lnTo>
                    <a:pt x="209550" y="47625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8818245" y="271462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8818245" y="2714625"/>
              <a:ext cx="419100" cy="476250"/>
            </a:xfrm>
            <a:custGeom>
              <a:avLst/>
              <a:gdLst/>
              <a:ahLst/>
              <a:cxnLst/>
              <a:rect l="l" t="t" r="r" b="b"/>
              <a:pathLst>
                <a:path w="419100" h="476250">
                  <a:moveTo>
                    <a:pt x="0" y="0"/>
                  </a:moveTo>
                  <a:lnTo>
                    <a:pt x="209550" y="0"/>
                  </a:lnTo>
                  <a:lnTo>
                    <a:pt x="209550" y="476250"/>
                  </a:lnTo>
                  <a:lnTo>
                    <a:pt x="419100" y="47625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8818245" y="2714625"/>
              <a:ext cx="419100" cy="952500"/>
            </a:xfrm>
            <a:custGeom>
              <a:avLst/>
              <a:gdLst/>
              <a:ahLst/>
              <a:cxnLst/>
              <a:rect l="l" t="t" r="r" b="b"/>
              <a:pathLst>
                <a:path w="419100" h="952500">
                  <a:moveTo>
                    <a:pt x="0" y="0"/>
                  </a:moveTo>
                  <a:lnTo>
                    <a:pt x="209550" y="0"/>
                  </a:lnTo>
                  <a:lnTo>
                    <a:pt x="209550" y="952500"/>
                  </a:lnTo>
                  <a:lnTo>
                    <a:pt x="419100" y="95250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9237345" y="1588770"/>
              <a:ext cx="2421255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9237345" y="2065020"/>
              <a:ext cx="2421255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9237345" y="2541270"/>
              <a:ext cx="2421255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9237345" y="3017520"/>
              <a:ext cx="2421255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9237345" y="3493770"/>
              <a:ext cx="2421255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680835" y="2541270"/>
              <a:ext cx="2136458" cy="346710"/>
            </a:xfrm>
            <a:prstGeom prst="roundRect">
              <a:avLst>
                <a:gd name="adj" fmla="val 2747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326880" y="1683544"/>
              <a:ext cx="7780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两级 Cache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326880" y="215979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让读不命中优先于写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326880" y="26360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写缓冲合并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326880" y="311229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请求字处理技术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326880" y="3588544"/>
              <a:ext cx="9288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非阻塞 Cache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770370" y="263604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减少不命中开销</a:t>
              </a:r>
            </a:p>
          </p:txBody>
        </p:sp>
      </p:grpSp>
      <p:grpSp>
        <p:nvGrpSpPr>
          <p:cNvPr id="81" name="c2-tree-2"/>
          <p:cNvGrpSpPr/>
          <p:nvPr/>
        </p:nvGrpSpPr>
        <p:grpSpPr>
          <a:xfrm>
            <a:off x="6680835" y="4117658"/>
            <a:ext cx="4977765" cy="1518284"/>
            <a:chOff x="6680835" y="4117658"/>
            <a:chExt cx="4977765" cy="1518284"/>
          </a:xfrm>
        </p:grpSpPr>
        <p:sp>
          <p:nvSpPr>
            <p:cNvPr id="67" name="Freeform 67"/>
            <p:cNvSpPr/>
            <p:nvPr/>
          </p:nvSpPr>
          <p:spPr>
            <a:xfrm>
              <a:off x="8529638" y="4291012"/>
              <a:ext cx="419100" cy="585788"/>
            </a:xfrm>
            <a:custGeom>
              <a:avLst/>
              <a:gdLst/>
              <a:ahLst/>
              <a:cxnLst/>
              <a:rect l="l" t="t" r="r" b="b"/>
              <a:pathLst>
                <a:path w="419100" h="585788">
                  <a:moveTo>
                    <a:pt x="0" y="585788"/>
                  </a:moveTo>
                  <a:lnTo>
                    <a:pt x="209550" y="58578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8529638" y="4681538"/>
              <a:ext cx="419100" cy="195262"/>
            </a:xfrm>
            <a:custGeom>
              <a:avLst/>
              <a:gdLst/>
              <a:ahLst/>
              <a:cxnLst/>
              <a:rect l="l" t="t" r="r" b="b"/>
              <a:pathLst>
                <a:path w="419100" h="195262">
                  <a:moveTo>
                    <a:pt x="0" y="195262"/>
                  </a:moveTo>
                  <a:lnTo>
                    <a:pt x="209550" y="19526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69" name="Freeform 69"/>
            <p:cNvSpPr/>
            <p:nvPr/>
          </p:nvSpPr>
          <p:spPr>
            <a:xfrm>
              <a:off x="8529638" y="4876800"/>
              <a:ext cx="419100" cy="195262"/>
            </a:xfrm>
            <a:custGeom>
              <a:avLst/>
              <a:gdLst/>
              <a:ahLst/>
              <a:cxnLst/>
              <a:rect l="l" t="t" r="r" b="b"/>
              <a:pathLst>
                <a:path w="419100" h="195262">
                  <a:moveTo>
                    <a:pt x="0" y="0"/>
                  </a:moveTo>
                  <a:lnTo>
                    <a:pt x="209550" y="0"/>
                  </a:lnTo>
                  <a:lnTo>
                    <a:pt x="209550" y="195262"/>
                  </a:lnTo>
                  <a:lnTo>
                    <a:pt x="419100" y="19526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70" name="Freeform 70"/>
            <p:cNvSpPr/>
            <p:nvPr/>
          </p:nvSpPr>
          <p:spPr>
            <a:xfrm>
              <a:off x="8529638" y="4876800"/>
              <a:ext cx="419100" cy="585788"/>
            </a:xfrm>
            <a:custGeom>
              <a:avLst/>
              <a:gdLst/>
              <a:ahLst/>
              <a:cxnLst/>
              <a:rect l="l" t="t" r="r" b="b"/>
              <a:pathLst>
                <a:path w="419100" h="585788">
                  <a:moveTo>
                    <a:pt x="0" y="0"/>
                  </a:moveTo>
                  <a:lnTo>
                    <a:pt x="209550" y="0"/>
                  </a:lnTo>
                  <a:lnTo>
                    <a:pt x="209550" y="585788"/>
                  </a:lnTo>
                  <a:lnTo>
                    <a:pt x="419100" y="58578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8948738" y="4117658"/>
              <a:ext cx="2709862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8948738" y="4508182"/>
              <a:ext cx="2709862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8948738" y="4898708"/>
              <a:ext cx="2709862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8948738" y="5289232"/>
              <a:ext cx="2709862" cy="346710"/>
            </a:xfrm>
            <a:prstGeom prst="roundRect">
              <a:avLst>
                <a:gd name="adj" fmla="val 2747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6680835" y="4703445"/>
              <a:ext cx="1848802" cy="346710"/>
            </a:xfrm>
            <a:prstGeom prst="roundRect">
              <a:avLst>
                <a:gd name="adj" fmla="val 2747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9038272" y="4212431"/>
              <a:ext cx="18334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小容量、结构简单的 Cache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038272" y="4602956"/>
              <a:ext cx="7780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 Cache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038272" y="4993481"/>
              <a:ext cx="12303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 访问流水化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038272" y="5384006"/>
              <a:ext cx="7780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踪迹 Cache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770370" y="479821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减少命中时间</a:t>
              </a:r>
            </a:p>
          </p:txBody>
        </p:sp>
      </p:grpSp>
      <p:grpSp>
        <p:nvGrpSpPr>
          <p:cNvPr id="8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82" name="Rectangle 8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1040130" y="5991225"/>
              <a:ext cx="94007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3C 与前三种方法对应：强制性不命中靠增加块大小，容量不命中靠增加容量，冲突不命中靠提高相联度。</a:t>
              </a:r>
            </a:p>
          </p:txBody>
        </p:sp>
      </p:grpSp>
      <p:grpSp>
        <p:nvGrpSpPr>
          <p:cNvPr id="9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8" name="TextBox 88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4127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690" y="407194"/>
              <a:ext cx="24226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03 缓存优化 · 总结与自测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优化技术对照表（一）：降低不命中率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758809" cy="293370"/>
            <a:chOff x="525780" y="1548765"/>
            <a:chExt cx="8758809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7588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“+”表示改进了该指标，“−”表示使该指标变差，空格表示无影响；硬件复杂度 0 最容易，3 最复杂</a:t>
              </a:r>
            </a:p>
          </p:txBody>
        </p:sp>
      </p:grpSp>
      <p:grpSp>
        <p:nvGrpSpPr>
          <p:cNvPr id="67" name="c1-table-1"/>
          <p:cNvGrpSpPr/>
          <p:nvPr/>
        </p:nvGrpSpPr>
        <p:grpSpPr>
          <a:xfrm>
            <a:off x="533400" y="1954530"/>
            <a:ext cx="11125200" cy="4298632"/>
            <a:chOff x="533400" y="1954530"/>
            <a:chExt cx="11125200" cy="4298632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11125200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706308" y="208597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优化技术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08463" y="208597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不命中率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84966" y="208597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不命中开销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822061" y="208597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命中时间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98564" y="208597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硬件复杂度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544050" y="20859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8746" y="262223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增加块大小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987127" y="262223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044402" y="262223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57999" y="262223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70126" y="2515552"/>
              <a:ext cx="34030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实现容易；Pentium 4 的第二级 Cache 采用了 128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字节的块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02323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3027998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8746" y="3159442"/>
              <a:ext cx="12330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 Cache 容量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987127" y="315944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57999" y="315944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70126" y="3159442"/>
              <a:ext cx="24490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被广泛采用，特别是第二级 Cache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45376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8746" y="358997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提高相联度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987127" y="358997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100724" y="358997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157999" y="358997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70126" y="358997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被广泛采用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8833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3888105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8746" y="4019550"/>
              <a:ext cx="858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牺牲 Cache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987127" y="40195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157999" y="40195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870126" y="4019550"/>
              <a:ext cx="31144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AMD Athlon 采用了 8 个项的 Victim Cache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431387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8746" y="4450080"/>
              <a:ext cx="10200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伪相联 Cache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987127" y="44500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157999" y="44500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870126" y="4450080"/>
              <a:ext cx="25614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MIPS R10000 的第二级 Cache 采用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47444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33400" y="4749165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8746" y="4879658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硬件预取指令和数据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987127" y="487965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032803" y="4879658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2～3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870126" y="4879658"/>
              <a:ext cx="31833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许多机器预取指令，UltraSPARC Ⅲ 预取数据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517398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8746" y="5416867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编译器控制的预取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987127" y="541686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157999" y="541686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870126" y="5310188"/>
              <a:ext cx="352501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需同时采用非阻塞 Cache；有几种微处理器提供了对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这种预取的支持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3400" y="581787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33400" y="5822632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38746" y="5954078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用编译技术减少不命中次数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987127" y="595407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157999" y="595407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870126" y="5954078"/>
              <a:ext cx="35661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向软件提出了新要求；有些机器提供了编译器选项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33400" y="1954530"/>
              <a:ext cx="11125200" cy="42976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3532822" y="1954530"/>
              <a:ext cx="9525" cy="42976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4533900" y="1954530"/>
              <a:ext cx="9525" cy="42976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5646420" y="1954530"/>
              <a:ext cx="9525" cy="42976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647498" y="1954530"/>
              <a:ext cx="9525" cy="42976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7760018" y="1954530"/>
              <a:ext cx="9525" cy="42976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4127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690" y="407194"/>
              <a:ext cx="24226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03 缓存优化 · 总结与自测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优化技术对照表（二）：减少不命中开销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8" name="c1-table-1"/>
          <p:cNvGrpSpPr/>
          <p:nvPr/>
        </p:nvGrpSpPr>
        <p:grpSpPr>
          <a:xfrm>
            <a:off x="533400" y="1524000"/>
            <a:ext cx="11125200" cy="2634615"/>
            <a:chOff x="533400" y="1524000"/>
            <a:chExt cx="11125200" cy="26346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28229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优化技术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730384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不命中率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712272" y="16483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不命中开销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43981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命中时间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825869" y="16483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硬件复杂度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55520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3412" y="205406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使读不命中优先于写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047745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104067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61342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864792" y="2054066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在单处理机上实现容易，被广泛采用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33076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233553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3412" y="245983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写缓冲归并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47745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61342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64792" y="2459831"/>
              <a:ext cx="36857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与写直达合用，广泛应用，例如 21164、UltraSPARC Ⅲ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73653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3412" y="286559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尽早重启动和关键字优先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047745" y="28655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61342" y="28655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864792" y="286559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被广泛采用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1422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3400" y="314706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3412" y="3271361"/>
              <a:ext cx="9520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非阻塞 Cache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047745" y="32713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61342" y="32713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64792" y="3271361"/>
              <a:ext cx="20283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在支持乱序执行的 CPU 中使用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35480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3412" y="3777139"/>
              <a:ext cx="8013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两级 Cache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548188" y="3562350"/>
              <a:ext cx="1093470" cy="5867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047745" y="377713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161342" y="377713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864792" y="3677126"/>
              <a:ext cx="347497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硬件代价大；两级 Cache 的块大小不同时实现困难；被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广泛采用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1524000"/>
              <a:ext cx="11125200" cy="26346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3532822" y="1524000"/>
              <a:ext cx="9525" cy="26346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4533900" y="1524000"/>
              <a:ext cx="9525" cy="26346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646420" y="1524000"/>
              <a:ext cx="9525" cy="26346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647498" y="1524000"/>
              <a:ext cx="9525" cy="26346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760018" y="1524000"/>
              <a:ext cx="9525" cy="26346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4" name="c1-card-2"/>
          <p:cNvGrpSpPr/>
          <p:nvPr/>
        </p:nvGrpSpPr>
        <p:grpSpPr>
          <a:xfrm>
            <a:off x="533400" y="4333875"/>
            <a:ext cx="11125200" cy="1209675"/>
            <a:chOff x="533400" y="4333875"/>
            <a:chExt cx="11125200" cy="1209675"/>
          </a:xfrm>
        </p:grpSpPr>
        <p:sp>
          <p:nvSpPr>
            <p:cNvPr id="49" name="Rectangle 49"/>
            <p:cNvSpPr/>
            <p:nvPr/>
          </p:nvSpPr>
          <p:spPr>
            <a:xfrm>
              <a:off x="533400" y="4333875"/>
              <a:ext cx="11125200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542925" y="4467225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763905" y="452628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55345" y="45605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57047" y="4882515"/>
              <a:ext cx="1001782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原课件总结表把两级 Cache 的“+”标在命中时间一栏。两级 Cache 是减少不命中开销的方法（原课件第四部分和知识结构图都这样归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类），“+”应标在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不命中开销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一栏。</a:t>
              </a:r>
            </a:p>
          </p:txBody>
        </p:sp>
      </p:grpSp>
      <p:grpSp>
        <p:nvGrpSpPr>
          <p:cNvPr id="61" name="c1-callout-3"/>
          <p:cNvGrpSpPr/>
          <p:nvPr/>
        </p:nvGrpSpPr>
        <p:grpSpPr>
          <a:xfrm>
            <a:off x="533400" y="5717858"/>
            <a:ext cx="11125200" cy="644842"/>
            <a:chOff x="533400" y="5717858"/>
            <a:chExt cx="11125200" cy="644842"/>
          </a:xfrm>
        </p:grpSpPr>
        <p:sp>
          <p:nvSpPr>
            <p:cNvPr id="55" name="Rectangle 55"/>
            <p:cNvSpPr/>
            <p:nvPr/>
          </p:nvSpPr>
          <p:spPr>
            <a:xfrm>
              <a:off x="533400" y="5717858"/>
              <a:ext cx="11125200" cy="644842"/>
            </a:xfrm>
            <a:prstGeom prst="roundRect">
              <a:avLst>
                <a:gd name="adj" fmla="val 177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38188" y="5940743"/>
              <a:ext cx="200026" cy="200025"/>
              <a:chOff x="738188" y="5940743"/>
              <a:chExt cx="200026" cy="200025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8188" y="594074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77926" y="598519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12642" y="609631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40892" y="5946458"/>
              <a:ext cx="78647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表中“尽早重启动和关键字优先”就是第四部分的请求字处理技术，“写缓冲归并”就是写缓冲合并。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51214" cy="909257"/>
            <a:chOff x="520446" y="342900"/>
            <a:chExt cx="89512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4127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690" y="407194"/>
              <a:ext cx="24226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03 缓存优化 · 总结与自测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512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优化技术对照表（三）：减少命中时间，以及按复杂度归类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2" name="c1-table-1"/>
          <p:cNvGrpSpPr/>
          <p:nvPr/>
        </p:nvGrpSpPr>
        <p:grpSpPr>
          <a:xfrm>
            <a:off x="533400" y="1524000"/>
            <a:ext cx="11125200" cy="2228850"/>
            <a:chOff x="533400" y="1524000"/>
            <a:chExt cx="11125200" cy="22288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28229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优化技术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730384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不命中率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712272" y="16483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不命中开销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43981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命中时间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825869" y="16483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硬件复杂度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55520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3412" y="2054066"/>
              <a:ext cx="18567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容量小且结构简单的 Cache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990470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104067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61342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864792" y="205406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实现容易，被广泛采用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33076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2335530"/>
              <a:ext cx="11125200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3412" y="2559844"/>
              <a:ext cx="2357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Cache 索引时不必进行地址变换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104067" y="25598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61342" y="25598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64792" y="2459831"/>
              <a:ext cx="30695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对小容量 Cache 实现容易，已被 Alpha 21164 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UltraSPARC Ⅲ 采用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9365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3412" y="3065621"/>
              <a:ext cx="13016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流水化 Cache 访问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104067" y="306562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61342" y="306562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864792" y="306562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被广泛采用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3423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3400" y="3347085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3412" y="3471386"/>
              <a:ext cx="9400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Trace Cache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104067" y="347138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61342" y="347138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64792" y="3471386"/>
              <a:ext cx="10653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Pentium 4 采用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1524000"/>
              <a:ext cx="11125200" cy="22288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3532822" y="1524000"/>
              <a:ext cx="9525" cy="22288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533900" y="1524000"/>
              <a:ext cx="9525" cy="22288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646420" y="1524000"/>
              <a:ext cx="9525" cy="22288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647498" y="1524000"/>
              <a:ext cx="9525" cy="22288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760018" y="1524000"/>
              <a:ext cx="9525" cy="22288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4" name="c1-table-2"/>
          <p:cNvGrpSpPr/>
          <p:nvPr/>
        </p:nvGrpSpPr>
        <p:grpSpPr>
          <a:xfrm>
            <a:off x="533400" y="3928110"/>
            <a:ext cx="11125200" cy="2434590"/>
            <a:chOff x="533400" y="3928110"/>
            <a:chExt cx="11125200" cy="2434590"/>
          </a:xfrm>
        </p:grpSpPr>
        <p:sp>
          <p:nvSpPr>
            <p:cNvPr id="43" name="Rectangle 43"/>
            <p:cNvSpPr/>
            <p:nvPr/>
          </p:nvSpPr>
          <p:spPr>
            <a:xfrm>
              <a:off x="533400" y="3928110"/>
              <a:ext cx="1112520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40384" y="405241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硬件复杂度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075274" y="4052411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技术（据三张对照表归类）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373784" y="44581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413635" y="4458176"/>
              <a:ext cx="4698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增加块大小、用编译技术减少不命中次数、容量小且结构简单的 Cache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473487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33400" y="473964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373784" y="48639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413635" y="4863941"/>
              <a:ext cx="58578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 Cache 容量、提高相联度、使读不命中优先于写、写缓冲归并、流水化 Cache 访问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51406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373784" y="52697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413635" y="5269706"/>
              <a:ext cx="60806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牺牲 Cache、伪相联 Cache、尽早重启动和关键字优先、两级 Cache、索引时不必地址变换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3400" y="554640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33400" y="555117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254861" y="5675471"/>
              <a:ext cx="336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2～3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413635" y="567547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硬件预取指令和数据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33400" y="595217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373784" y="60812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413635" y="6081236"/>
              <a:ext cx="33209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编译器控制的预取、非阻塞 Cache、Trace Cache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33400" y="3928110"/>
              <a:ext cx="11125200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2308860" y="392811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4127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690" y="407194"/>
              <a:ext cx="24226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03 缓存优化 · 总结与自测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自测（一）：性能计算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865948"/>
            <a:chOff x="533400" y="1524000"/>
            <a:chExt cx="5410200" cy="186594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865948"/>
            </a:xfrm>
            <a:prstGeom prst="roundRect">
              <a:avLst>
                <a:gd name="adj" fmla="val 714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7235" y="17278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4722" y="17635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9996" y="2100739"/>
              <a:ext cx="477635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 Cache 命中时间为 1 个时钟周期，不命中率 5%，不命中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开销 40 个周期。平均访存时间是多少？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9996" y="2692241"/>
              <a:ext cx="460413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代入平均访存时间 = 命中时间 + 不命中率 × 不命中开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销：1 + 5% × 40 = 1 + 2 = 3 个时钟周期。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575685"/>
            <a:ext cx="5410200" cy="2408872"/>
            <a:chOff x="533400" y="3575685"/>
            <a:chExt cx="5410200" cy="2408872"/>
          </a:xfrm>
        </p:grpSpPr>
        <p:sp>
          <p:nvSpPr>
            <p:cNvPr id="13" name="Rectangle 13"/>
            <p:cNvSpPr/>
            <p:nvPr/>
          </p:nvSpPr>
          <p:spPr>
            <a:xfrm>
              <a:off x="533400" y="3575685"/>
              <a:ext cx="5410200" cy="2408872"/>
            </a:xfrm>
            <a:prstGeom prst="roundRect">
              <a:avLst>
                <a:gd name="adj" fmla="val 553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37235" y="377952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24722" y="381523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9996" y="4152424"/>
              <a:ext cx="480611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2 中两路组相联的平均访存时间更低，为什么 CPU 时间反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而更长？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9996" y="4743926"/>
              <a:ext cx="473036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时钟周期变为 1.10 倍，每条指令的执行部分从 4.0 ns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增至 4.4 ns；不命中率降低只省下 1.274 − 0.91 = 0.364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ns，抵不上多出的 0.4 ns。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248400" y="1524000"/>
            <a:ext cx="5410200" cy="2137410"/>
            <a:chOff x="6248400" y="1524000"/>
            <a:chExt cx="5410200" cy="2137410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2137410"/>
            </a:xfrm>
            <a:prstGeom prst="roundRect">
              <a:avLst>
                <a:gd name="adj" fmla="val 62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52235" y="17278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39722" y="17635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44996" y="2100739"/>
              <a:ext cx="473758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理想 CPI 为 1.5，每条指令访存 1.2 次，不命中率 3%，不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命中开销 40 个周期。实际 CPI 是理想情况的几倍？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44996" y="2692241"/>
              <a:ext cx="4757420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每条指令停顿 1.2 × 3% × 40 = 1.44 个周期；CPI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 + 1.44 = 2.94，是理想情况的 2.94 ÷ 1.5 = 1.96 倍。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停顿占 CPI 的 49%。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248400" y="3847148"/>
            <a:ext cx="5410200" cy="2137410"/>
            <a:chOff x="6248400" y="3847148"/>
            <a:chExt cx="5410200" cy="2137410"/>
          </a:xfrm>
        </p:grpSpPr>
        <p:sp>
          <p:nvSpPr>
            <p:cNvPr id="25" name="Rectangle 25"/>
            <p:cNvSpPr/>
            <p:nvPr/>
          </p:nvSpPr>
          <p:spPr>
            <a:xfrm>
              <a:off x="6248400" y="3847148"/>
              <a:ext cx="5410200" cy="2137410"/>
            </a:xfrm>
            <a:prstGeom prst="roundRect">
              <a:avLst>
                <a:gd name="adj" fmla="val 62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52235" y="4050982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39722" y="4086701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44996" y="4423886"/>
              <a:ext cx="4813325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两级 Cache 中 L1 不命中率 5%，L2 局部不命中率 40%，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L1 命中 1 个周期、L2 命中 8 个周期、L2 不命中开销 80 个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周期。求 L2 的全局不命中率和平均访存时间。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44996" y="5286851"/>
              <a:ext cx="460413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全局不命中率 = 5% × 40% = 2%；平均访存时间 = 1 +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5% × (8 + 40% × 80) = 1 + 5% × 40 = 3 个周期。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4127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690" y="407194"/>
              <a:ext cx="24226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03 缓存优化 · 总结与自测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自测（二）：概念辨析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2223135"/>
            <a:chOff x="533400" y="1524000"/>
            <a:chExt cx="5410200" cy="22231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4685824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直接映像 Cache 中两个经常交替访问的块映像到同一位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置，由此产生的不命中属于哪一类？可以用哪些方法降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低？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3017520"/>
              <a:ext cx="47872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冲突不命中。可提高相联度，或用伪相联 Cache、牺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牲 Cache，也可以由编译器重排代码和数据。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937635"/>
            <a:ext cx="5410200" cy="1937385"/>
            <a:chOff x="533400" y="3937635"/>
            <a:chExt cx="5410200" cy="1937385"/>
          </a:xfrm>
        </p:grpSpPr>
        <p:sp>
          <p:nvSpPr>
            <p:cNvPr id="13" name="Rectangle 13"/>
            <p:cNvSpPr/>
            <p:nvPr/>
          </p:nvSpPr>
          <p:spPr>
            <a:xfrm>
              <a:off x="533400" y="3937635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414718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0437" y="418290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4524375"/>
              <a:ext cx="4704874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页大小 8 KB，采用“虚拟索引 + 物理标识”，4 路组相联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 Cache 容量最大是多少？想再增大容量怎么办？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5145405"/>
              <a:ext cx="46443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KB × 4 = 32 KB。要更大只能提高相联度（或增大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页）。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248400" y="1524000"/>
            <a:ext cx="5410200" cy="1937385"/>
            <a:chOff x="6248400" y="1524000"/>
            <a:chExt cx="5410200" cy="1937385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57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45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50330" y="211074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增加块大小为什么可能让不命中率上升？它还有什么副作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50330" y="273177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容量固定时块数变少，冲突不命中增加；每次不命中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要调入的数据更多，不命中开销增大。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248400" y="3651885"/>
            <a:ext cx="5410200" cy="2223135"/>
            <a:chOff x="6248400" y="3651885"/>
            <a:chExt cx="5410200" cy="2223135"/>
          </a:xfrm>
        </p:grpSpPr>
        <p:sp>
          <p:nvSpPr>
            <p:cNvPr id="25" name="Rectangle 25"/>
            <p:cNvSpPr/>
            <p:nvPr/>
          </p:nvSpPr>
          <p:spPr>
            <a:xfrm>
              <a:off x="6248400" y="3651885"/>
              <a:ext cx="5410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57950" y="38614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45437" y="38971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50330" y="4238625"/>
              <a:ext cx="464581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编译器预取例题中，为什么 i = 1、2 的循环不需要预取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50330" y="4859655"/>
              <a:ext cx="47205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0 时 b[0][0]～b[100][0] 所在的块已全部调入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Cache；a、b 共 302 块少于 512 块且连续存放，不会被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替换，之后访问 b 都命中。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65830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9649" y="407194"/>
              <a:ext cx="14867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体系结构 03 缓存优化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本讲小结：公式与结论速查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c1-table-1"/>
          <p:cNvGrpSpPr/>
          <p:nvPr/>
        </p:nvGrpSpPr>
        <p:grpSpPr>
          <a:xfrm>
            <a:off x="533400" y="1524000"/>
            <a:ext cx="11125200" cy="3851910"/>
            <a:chOff x="533400" y="1524000"/>
            <a:chExt cx="11125200" cy="38519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8943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524320" y="164830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要记住的公式或结论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3412" y="205406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平均访存时间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858452" y="2054066"/>
              <a:ext cx="5239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命中时间 + 不命中率 × 不命中开销；会改变时钟周期的设计要用 CPU 时间比较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3076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33553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3412" y="2459831"/>
              <a:ext cx="6391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时间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858452" y="2459831"/>
              <a:ext cx="48849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IC × (CPI执行 + 每条指令访存次数 × 不命中率 × 不命中开销) × 时钟周期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3653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3412" y="2865596"/>
              <a:ext cx="5471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3C 模型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858452" y="2865596"/>
              <a:ext cx="52885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强制性不命中靠增加块大小，容量不命中靠增加容量，冲突不命中靠提高相联度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1422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14706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3412" y="3271361"/>
              <a:ext cx="9520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伪相联 Cache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858452" y="3271361"/>
              <a:ext cx="51452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命中时间1路 + (失效率1路 − 失效率2路) × 额外周期 + 失效率2路 × 失效开销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5480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3412" y="3777139"/>
              <a:ext cx="8013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两级 Cache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858452" y="3677126"/>
              <a:ext cx="814755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L1 命中时间 + L1 不命中率 × (L2 命中时间 + L2 局部不命中率 × L2 不命中开销)；L2 全局不命中率 = L1 不命中率 × L2 局部不命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中率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15385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158615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3412" y="428291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编译器优化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858452" y="4282916"/>
              <a:ext cx="59451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数组合并、内外循环交换、循环融合、分块（最坏不命中从 2N³ + N² 降到 2N³/B + N²）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55961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3412" y="46886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减少开销与命中时间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858452" y="4688681"/>
              <a:ext cx="7830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读优先、写缓冲合并、请求字、非阻塞 Cache 缩短等待；小而简单、虚拟 Cache、流水化、踪迹 Cache 缩短命中时间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96538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4970145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3412" y="5094446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虚拟索引 + 物理标识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858452" y="5094446"/>
              <a:ext cx="20294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 容量 ≤ 页大小 × 相联度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1524000"/>
              <a:ext cx="11125200" cy="38519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2753678" y="1524000"/>
              <a:ext cx="9525" cy="38519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6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40" name="Rectangle 40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26129" y="5894188"/>
              <a:ext cx="224134" cy="192560"/>
              <a:chOff x="726129" y="5894188"/>
              <a:chExt cx="224134" cy="19256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838200" y="596455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26129" y="589418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38200" y="60423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892" y="5779770"/>
              <a:ext cx="990638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易错汇总：只比平均访存时间不比 CPU 时间；局部与全局不命中率混用；分块循环上界应为 min(jj+B, N)；两级 Cache 改进的是不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命中开销。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35658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体系结构 03 Cache 性能分析与优化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coa_arch3">
  <a:themeElements>
    <a:clrScheme name="coa_arch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oa_arch3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a_arch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2026-09-23T03:03:38Z</dcterms:created>
  <dcterms:modified xsi:type="dcterms:W3CDTF">2026-09-23T03:03:38Z</dcterms:modified>
  <cp:category/>
  <cp:contentStatus/>
</cp:coreProperties>
</file>