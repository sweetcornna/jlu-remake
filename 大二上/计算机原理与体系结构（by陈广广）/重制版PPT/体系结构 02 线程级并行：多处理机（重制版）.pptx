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a_arch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a_arch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e9fb9eaa72a4cef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08a8e189d30d057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96ac7e28473c72c.png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692140" cy="3437763"/>
            <a:chOff x="666750" y="1619250"/>
            <a:chExt cx="569214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884170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74714" y="1718310"/>
              <a:ext cx="2706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计算机原理与体系结构 · 体系结构 02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线程级并行：多处理机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473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多处理机结构与共享存储的 Cache 一致性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21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互连网络与五种 MIMD 结构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存储器一致性与两种写协议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283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监听协议的 I/S/M 状态转换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目录协议与三种目录结构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6265450" cy="205359"/>
            <a:chOff x="680466" y="6192202"/>
            <a:chExt cx="626545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62654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自学复习版｜据吉林大学《计算机原理与体系结构》体系结构部分“线程级并行”课件整理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1353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536" y="407194"/>
              <a:ext cx="1439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多处理机概述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9710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点与互连网络，PVP、SMP、MPP、DSM、COW，从存储角度分类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8467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一致性问题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存储器一致性的条件，写作废协议与写更新协议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监听协议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6946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总线消息，I/S/M 三状态，处理器请求与总线请求的状态转换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目录协议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335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目录与共享集，结点间消息，Cache 块与目录的状态转换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三种目录结构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全映像、有限映像、链式目录及其空间开销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5680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区分静态与动态互连网络，说出五种 MIMD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并行机的结构特点并按 UMA、NUMA、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NORMA 归类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30803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301752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 Cache 一致性问题的成因，比较写作废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协议与写更新协议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7014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63855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给定访存序列，写出监听协议中各 Cache 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的状态和总线消息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3224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425958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给定访存序列，写出目录协议的消息、目录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状态和共享集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9434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88061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计算全映像、有限映像目录的空间开销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58175" cy="909257"/>
            <a:chOff x="520446" y="342900"/>
            <a:chExt cx="62581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1353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0536" y="407194"/>
              <a:ext cx="1439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581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本章知识结构：标“自学”的部分课上不讲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3" name="c1-tree-1"/>
          <p:cNvGrpSpPr/>
          <p:nvPr/>
        </p:nvGrpSpPr>
        <p:grpSpPr>
          <a:xfrm>
            <a:off x="533400" y="1527810"/>
            <a:ext cx="11133328" cy="3801428"/>
            <a:chOff x="533400" y="1527810"/>
            <a:chExt cx="11133328" cy="3801428"/>
          </a:xfrm>
        </p:grpSpPr>
        <p:sp>
          <p:nvSpPr>
            <p:cNvPr id="7" name="Freeform 7"/>
            <p:cNvSpPr/>
            <p:nvPr/>
          </p:nvSpPr>
          <p:spPr>
            <a:xfrm>
              <a:off x="8772525" y="17145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772525" y="20955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772525" y="2476500"/>
              <a:ext cx="419100" cy="190500"/>
            </a:xfrm>
            <a:custGeom>
              <a:avLst/>
              <a:gdLst/>
              <a:ahLst/>
              <a:cxnLst/>
              <a:rect l="l" t="t" r="r" b="b"/>
              <a:pathLst>
                <a:path w="419100" h="190500">
                  <a:moveTo>
                    <a:pt x="0" y="190500"/>
                  </a:moveTo>
                  <a:lnTo>
                    <a:pt x="209550" y="19050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772525" y="2667000"/>
              <a:ext cx="419100" cy="190500"/>
            </a:xfrm>
            <a:custGeom>
              <a:avLst/>
              <a:gdLst/>
              <a:ahLst/>
              <a:cxnLst/>
              <a:rect l="l" t="t" r="r" b="b"/>
              <a:pathLst>
                <a:path w="419100" h="190500">
                  <a:moveTo>
                    <a:pt x="0" y="0"/>
                  </a:moveTo>
                  <a:lnTo>
                    <a:pt x="209550" y="0"/>
                  </a:lnTo>
                  <a:lnTo>
                    <a:pt x="209550" y="190500"/>
                  </a:lnTo>
                  <a:lnTo>
                    <a:pt x="419100" y="19050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772525" y="3238500"/>
              <a:ext cx="419100" cy="190500"/>
            </a:xfrm>
            <a:custGeom>
              <a:avLst/>
              <a:gdLst/>
              <a:ahLst/>
              <a:cxnLst/>
              <a:rect l="l" t="t" r="r" b="b"/>
              <a:pathLst>
                <a:path w="419100" h="190500">
                  <a:moveTo>
                    <a:pt x="0" y="190500"/>
                  </a:moveTo>
                  <a:lnTo>
                    <a:pt x="209550" y="19050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772525" y="3429000"/>
              <a:ext cx="419100" cy="190500"/>
            </a:xfrm>
            <a:custGeom>
              <a:avLst/>
              <a:gdLst/>
              <a:ahLst/>
              <a:cxnLst/>
              <a:rect l="l" t="t" r="r" b="b"/>
              <a:pathLst>
                <a:path w="419100" h="190500">
                  <a:moveTo>
                    <a:pt x="0" y="0"/>
                  </a:moveTo>
                  <a:lnTo>
                    <a:pt x="209550" y="0"/>
                  </a:lnTo>
                  <a:lnTo>
                    <a:pt x="209550" y="190500"/>
                  </a:lnTo>
                  <a:lnTo>
                    <a:pt x="419100" y="19050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886450" y="1714500"/>
              <a:ext cx="419100" cy="857250"/>
            </a:xfrm>
            <a:custGeom>
              <a:avLst/>
              <a:gdLst/>
              <a:ahLst/>
              <a:cxnLst/>
              <a:rect l="l" t="t" r="r" b="b"/>
              <a:pathLst>
                <a:path w="419100" h="857250">
                  <a:moveTo>
                    <a:pt x="0" y="857250"/>
                  </a:moveTo>
                  <a:lnTo>
                    <a:pt x="209550" y="85725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886450" y="2095500"/>
              <a:ext cx="419100" cy="476250"/>
            </a:xfrm>
            <a:custGeom>
              <a:avLst/>
              <a:gdLst/>
              <a:ahLst/>
              <a:cxnLst/>
              <a:rect l="l" t="t" r="r" b="b"/>
              <a:pathLst>
                <a:path w="419100" h="476250">
                  <a:moveTo>
                    <a:pt x="0" y="476250"/>
                  </a:moveTo>
                  <a:lnTo>
                    <a:pt x="209550" y="47625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886450" y="2571750"/>
              <a:ext cx="419100" cy="95250"/>
            </a:xfrm>
            <a:custGeom>
              <a:avLst/>
              <a:gdLst/>
              <a:ahLst/>
              <a:cxnLst/>
              <a:rect l="l" t="t" r="r" b="b"/>
              <a:pathLst>
                <a:path w="419100" h="95250">
                  <a:moveTo>
                    <a:pt x="0" y="0"/>
                  </a:moveTo>
                  <a:lnTo>
                    <a:pt x="209550" y="0"/>
                  </a:lnTo>
                  <a:lnTo>
                    <a:pt x="209550" y="95250"/>
                  </a:lnTo>
                  <a:lnTo>
                    <a:pt x="419100" y="9525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886450" y="2571750"/>
              <a:ext cx="419100" cy="857250"/>
            </a:xfrm>
            <a:custGeom>
              <a:avLst/>
              <a:gdLst/>
              <a:ahLst/>
              <a:cxnLst/>
              <a:rect l="l" t="t" r="r" b="b"/>
              <a:pathLst>
                <a:path w="419100" h="857250">
                  <a:moveTo>
                    <a:pt x="0" y="0"/>
                  </a:moveTo>
                  <a:lnTo>
                    <a:pt x="209550" y="0"/>
                  </a:lnTo>
                  <a:lnTo>
                    <a:pt x="209550" y="857250"/>
                  </a:lnTo>
                  <a:lnTo>
                    <a:pt x="419100" y="85725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772525" y="4000500"/>
              <a:ext cx="419100" cy="190500"/>
            </a:xfrm>
            <a:custGeom>
              <a:avLst/>
              <a:gdLst/>
              <a:ahLst/>
              <a:cxnLst/>
              <a:rect l="l" t="t" r="r" b="b"/>
              <a:pathLst>
                <a:path w="419100" h="190500">
                  <a:moveTo>
                    <a:pt x="0" y="190500"/>
                  </a:moveTo>
                  <a:lnTo>
                    <a:pt x="209550" y="19050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772525" y="4191000"/>
              <a:ext cx="419100" cy="190500"/>
            </a:xfrm>
            <a:custGeom>
              <a:avLst/>
              <a:gdLst/>
              <a:ahLst/>
              <a:cxnLst/>
              <a:rect l="l" t="t" r="r" b="b"/>
              <a:pathLst>
                <a:path w="419100" h="190500">
                  <a:moveTo>
                    <a:pt x="0" y="0"/>
                  </a:moveTo>
                  <a:lnTo>
                    <a:pt x="209550" y="0"/>
                  </a:lnTo>
                  <a:lnTo>
                    <a:pt x="209550" y="190500"/>
                  </a:lnTo>
                  <a:lnTo>
                    <a:pt x="419100" y="19050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886450" y="4191000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285750"/>
                  </a:moveTo>
                  <a:lnTo>
                    <a:pt x="209550" y="28575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886450" y="4476750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0"/>
                  </a:moveTo>
                  <a:lnTo>
                    <a:pt x="209550" y="0"/>
                  </a:lnTo>
                  <a:lnTo>
                    <a:pt x="209550" y="285750"/>
                  </a:lnTo>
                  <a:lnTo>
                    <a:pt x="419100" y="28575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886450" y="51435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000375" y="2571750"/>
              <a:ext cx="419100" cy="1285875"/>
            </a:xfrm>
            <a:custGeom>
              <a:avLst/>
              <a:gdLst/>
              <a:ahLst/>
              <a:cxnLst/>
              <a:rect l="l" t="t" r="r" b="b"/>
              <a:pathLst>
                <a:path w="419100" h="1285875">
                  <a:moveTo>
                    <a:pt x="0" y="1285875"/>
                  </a:moveTo>
                  <a:lnTo>
                    <a:pt x="209550" y="12858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000375" y="3857625"/>
              <a:ext cx="419100" cy="619125"/>
            </a:xfrm>
            <a:custGeom>
              <a:avLst/>
              <a:gdLst/>
              <a:ahLst/>
              <a:cxnLst/>
              <a:rect l="l" t="t" r="r" b="b"/>
              <a:pathLst>
                <a:path w="419100" h="619125">
                  <a:moveTo>
                    <a:pt x="0" y="0"/>
                  </a:moveTo>
                  <a:lnTo>
                    <a:pt x="209550" y="0"/>
                  </a:lnTo>
                  <a:lnTo>
                    <a:pt x="209550" y="619125"/>
                  </a:lnTo>
                  <a:lnTo>
                    <a:pt x="419100" y="6191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000375" y="3857625"/>
              <a:ext cx="419100" cy="1285875"/>
            </a:xfrm>
            <a:custGeom>
              <a:avLst/>
              <a:gdLst/>
              <a:ahLst/>
              <a:cxnLst/>
              <a:rect l="l" t="t" r="r" b="b"/>
              <a:pathLst>
                <a:path w="419100" h="1285875">
                  <a:moveTo>
                    <a:pt x="0" y="0"/>
                  </a:moveTo>
                  <a:lnTo>
                    <a:pt x="209550" y="0"/>
                  </a:lnTo>
                  <a:lnTo>
                    <a:pt x="209550" y="1285875"/>
                  </a:lnTo>
                  <a:lnTo>
                    <a:pt x="419100" y="12858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9191625" y="15278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305550" y="15278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191625" y="19088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305550" y="19088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191625" y="22898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9191625" y="26708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305550" y="24803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191625" y="30518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191625" y="34328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05550" y="32423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419475" y="238506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191625" y="38138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191625" y="41948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05550" y="40043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305550" y="45758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419475" y="429006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305550" y="49568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419475" y="4956810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3670935"/>
              <a:ext cx="2466975" cy="372428"/>
            </a:xfrm>
            <a:prstGeom prst="roundRect">
              <a:avLst>
                <a:gd name="adj" fmla="val 2557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80398" y="162544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点与互连网络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94323" y="16254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基本问题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80398" y="2006441"/>
              <a:ext cx="2386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PVP、SMP、MPP、DSM、COW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94323" y="2006441"/>
              <a:ext cx="1783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几种基本的 MIMD 结构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0398" y="2387441"/>
              <a:ext cx="233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单地址空间共享：UMA、NUMA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80398" y="276844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多地址空间非共享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94323" y="2577941"/>
              <a:ext cx="1553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从存储角度看 MIMD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80398" y="31494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性能指标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80398" y="353044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加速比三大定律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94323" y="333994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性能评测（自学）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508248" y="24826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概述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80398" y="391144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对称式共享：监听协议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80398" y="429244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分布式共享：目录协议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94323" y="4101941"/>
              <a:ext cx="14326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Cache 一致性问题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94323" y="467344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同步问题（自学）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08248" y="438769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共享存储多处理机的问题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94323" y="505444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多核需求、架构与实例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508248" y="505444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多核结构（自学）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2173" y="37685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多处理机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4" name="Rectangle 64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130" y="5728335"/>
              <a:ext cx="9987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本讲义覆盖课上讲授的部分：概述中的互连、五种结构和存储分类，以及 Cache 一致性的监听协议与目录协议。性能评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测、同步问题和多核结构请对照教材自学。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068416" cy="3351847"/>
            <a:chOff x="667512" y="1835468"/>
            <a:chExt cx="606841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多处理机概述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585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先认识构成计算机的“点”和“线”，再看五种典型的并行机结构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点与互连网络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静态互连网络与动态互连网络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796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PVP、SMP、MPP、DSM、COW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6134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从存储角度分类：UMA、NUMA、NORMA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61142" cy="909257"/>
            <a:chOff x="520446" y="342900"/>
            <a:chExt cx="86611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多处理机概述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611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计算机由“点”和互连网络构成；连接距离越远，带宽越低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328160" cy="2000250"/>
            <a:chOff x="533400" y="1524000"/>
            <a:chExt cx="4328160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609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两个基本要素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7684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：小到 CPU 内部的寄存器、ALU、控制器，到存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储模块、外设，乃至多处理机中的计算结点，都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可以看作点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869882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互连网络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：按照一定的拓扑结构和控制方式，把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点连接起来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693795"/>
            <a:ext cx="4328160" cy="2404110"/>
            <a:chOff x="533400" y="3693795"/>
            <a:chExt cx="4328160" cy="2404110"/>
          </a:xfrm>
        </p:grpSpPr>
        <p:sp>
          <p:nvSpPr>
            <p:cNvPr id="14" name="Rectangle 14"/>
            <p:cNvSpPr/>
            <p:nvPr/>
          </p:nvSpPr>
          <p:spPr>
            <a:xfrm>
              <a:off x="533400" y="3693795"/>
              <a:ext cx="4328160" cy="2404110"/>
            </a:xfrm>
            <a:prstGeom prst="roundRect">
              <a:avLst>
                <a:gd name="adj" fmla="val 55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827145"/>
              <a:ext cx="47625" cy="213741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8190" y="3880485"/>
              <a:ext cx="1598295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6558" y="3913346"/>
              <a:ext cx="14815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读原课件的“系统互连”图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6762" y="428148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2782" y="4225290"/>
              <a:ext cx="34427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横轴：连接距离，从机箱内的总线一直到广域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6762" y="483870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2782" y="478250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纵轴：网络带宽，即单位时间内传送的信息量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2475" y="5079206"/>
              <a:ext cx="35674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并行机的结点之间离得近，才能用上带宽高、延迟低的互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5161407" y="1524000"/>
            <a:ext cx="6497193" cy="3463956"/>
            <a:chOff x="5161407" y="1524000"/>
            <a:chExt cx="6497193" cy="3463956"/>
          </a:xfrm>
        </p:grpSpPr>
        <p:sp>
          <p:nvSpPr>
            <p:cNvPr id="24" name="Rectangle 24"/>
            <p:cNvSpPr/>
            <p:nvPr/>
          </p:nvSpPr>
          <p:spPr>
            <a:xfrm>
              <a:off x="5166360" y="1524000"/>
              <a:ext cx="6492240" cy="60007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59476" y="17454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71729" y="1745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连接距离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54821" y="1745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典型技术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69550" y="1645444"/>
              <a:ext cx="11493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带宽（图中大致范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围）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63515" y="23455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总线或开关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1772" y="23455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机箱、机柜内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90522" y="2245519"/>
              <a:ext cx="19885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交叉开关、多级互连网络 MIN、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局部总线、I/O 总线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27005" y="2345531"/>
              <a:ext cx="986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0.1–100 Gb/s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166360" y="27193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166360" y="2724150"/>
              <a:ext cx="649224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63515" y="2945606"/>
              <a:ext cx="940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系统域网 SAN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61772" y="2945606"/>
              <a:ext cx="501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3–25 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90522" y="2845594"/>
              <a:ext cx="192455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SCI、Myrinet、HiPPI、光纤通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27005" y="2945606"/>
              <a:ext cx="902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0.1–10 Gb/s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166360" y="33194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63515" y="3645694"/>
              <a:ext cx="789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局域网 LAN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1772" y="3545681"/>
              <a:ext cx="11493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 m–2 km：建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筑物、校园、企业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90522" y="3445669"/>
              <a:ext cx="171831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千兆位以太网、快速以太网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100Base-T、FDDI、以太网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10Base-T、IsoEnet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27005" y="3645694"/>
              <a:ext cx="1148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Mb/s–1 Gb/s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166360" y="41195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166360" y="4124325"/>
              <a:ext cx="649224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63515" y="4245769"/>
              <a:ext cx="1043737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城域网 MAN、广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域网 WAN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61772" y="43457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城市乃至更远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90522" y="4345781"/>
              <a:ext cx="306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ATM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27005" y="4345781"/>
              <a:ext cx="1180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数十至数百 Mb/s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166360" y="1524000"/>
              <a:ext cx="6492240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59855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888605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225088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161407" y="4797266"/>
              <a:ext cx="4375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原课件图中右下角的方框标作“AIM”，按横跨 LAN 到 WAN 的位置应为 ATM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5166360" y="5119688"/>
            <a:ext cx="6492240" cy="978218"/>
            <a:chOff x="5166360" y="5119688"/>
            <a:chExt cx="6492240" cy="978218"/>
          </a:xfrm>
        </p:grpSpPr>
        <p:sp>
          <p:nvSpPr>
            <p:cNvPr id="56" name="Rectangle 56"/>
            <p:cNvSpPr/>
            <p:nvPr/>
          </p:nvSpPr>
          <p:spPr>
            <a:xfrm>
              <a:off x="5166360" y="5119688"/>
              <a:ext cx="6492240" cy="978218"/>
            </a:xfrm>
            <a:prstGeom prst="roundRect">
              <a:avLst>
                <a:gd name="adj" fmla="val 1168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5371148" y="5509262"/>
              <a:ext cx="200023" cy="200023"/>
              <a:chOff x="5371148" y="5509262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5371148" y="55092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504498" y="55759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5673852" y="5266373"/>
              <a:ext cx="541439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例：传送 1 GB（约 8 Gb）数据，带宽 1 Gb/s 的系统域网约需 8 s，10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Mb/s 的以太网约需 800 s（不计协议开销）。带宽差两个数量级，时间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也差两个数量级。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多处理机概述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静态互连网络：结点之间是固定的点到点连接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688580" cy="293370"/>
            <a:chOff x="525780" y="1548765"/>
            <a:chExt cx="76885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静态互连网络中处理单元之间有固定连接，程序执行期间这些点到点的链接保持不变。</a:t>
              </a:r>
            </a:p>
          </p:txBody>
        </p:sp>
      </p:grpSp>
      <p:grpSp>
        <p:nvGrpSpPr>
          <p:cNvPr id="131" name="c1-graph-1"/>
          <p:cNvGrpSpPr/>
          <p:nvPr/>
        </p:nvGrpSpPr>
        <p:grpSpPr>
          <a:xfrm>
            <a:off x="892492" y="2054542"/>
            <a:ext cx="10628948" cy="1794129"/>
            <a:chOff x="892492" y="2054542"/>
            <a:chExt cx="10628948" cy="1794129"/>
          </a:xfrm>
        </p:grpSpPr>
        <p:sp>
          <p:nvSpPr>
            <p:cNvPr id="9" name="Freeform 9"/>
            <p:cNvSpPr/>
            <p:nvPr/>
          </p:nvSpPr>
          <p:spPr>
            <a:xfrm>
              <a:off x="1073468" y="2140268"/>
              <a:ext cx="532447" cy="9525"/>
            </a:xfrm>
            <a:custGeom>
              <a:avLst/>
              <a:gdLst/>
              <a:ahLst/>
              <a:cxnLst/>
              <a:rect l="l" t="t" r="r" b="b"/>
              <a:pathLst>
                <a:path w="532447" h="9525">
                  <a:moveTo>
                    <a:pt x="0" y="0"/>
                  </a:moveTo>
                  <a:lnTo>
                    <a:pt x="532447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78218" y="2235518"/>
              <a:ext cx="9525" cy="199073"/>
            </a:xfrm>
            <a:custGeom>
              <a:avLst/>
              <a:gdLst/>
              <a:ahLst/>
              <a:cxnLst/>
              <a:rect l="l" t="t" r="r" b="b"/>
              <a:pathLst>
                <a:path w="9525" h="199073">
                  <a:moveTo>
                    <a:pt x="0" y="0"/>
                  </a:moveTo>
                  <a:lnTo>
                    <a:pt x="0" y="199073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96415" y="2140268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01165" y="2235518"/>
              <a:ext cx="9525" cy="199073"/>
            </a:xfrm>
            <a:custGeom>
              <a:avLst/>
              <a:gdLst/>
              <a:ahLst/>
              <a:cxnLst/>
              <a:rect l="l" t="t" r="r" b="b"/>
              <a:pathLst>
                <a:path w="9525" h="199073">
                  <a:moveTo>
                    <a:pt x="0" y="0"/>
                  </a:moveTo>
                  <a:lnTo>
                    <a:pt x="0" y="199073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520315" y="2140268"/>
              <a:ext cx="532447" cy="9525"/>
            </a:xfrm>
            <a:custGeom>
              <a:avLst/>
              <a:gdLst/>
              <a:ahLst/>
              <a:cxnLst/>
              <a:rect l="l" t="t" r="r" b="b"/>
              <a:pathLst>
                <a:path w="532447" h="9525">
                  <a:moveTo>
                    <a:pt x="0" y="0"/>
                  </a:moveTo>
                  <a:lnTo>
                    <a:pt x="532447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425065" y="2235518"/>
              <a:ext cx="9525" cy="199073"/>
            </a:xfrm>
            <a:custGeom>
              <a:avLst/>
              <a:gdLst/>
              <a:ahLst/>
              <a:cxnLst/>
              <a:rect l="l" t="t" r="r" b="b"/>
              <a:pathLst>
                <a:path w="9525" h="199073">
                  <a:moveTo>
                    <a:pt x="0" y="0"/>
                  </a:moveTo>
                  <a:lnTo>
                    <a:pt x="0" y="199073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148012" y="2235518"/>
              <a:ext cx="9525" cy="199073"/>
            </a:xfrm>
            <a:custGeom>
              <a:avLst/>
              <a:gdLst/>
              <a:ahLst/>
              <a:cxnLst/>
              <a:rect l="l" t="t" r="r" b="b"/>
              <a:pathLst>
                <a:path w="9525" h="199073">
                  <a:moveTo>
                    <a:pt x="0" y="0"/>
                  </a:moveTo>
                  <a:lnTo>
                    <a:pt x="0" y="199073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073468" y="2529840"/>
              <a:ext cx="532447" cy="9525"/>
            </a:xfrm>
            <a:custGeom>
              <a:avLst/>
              <a:gdLst/>
              <a:ahLst/>
              <a:cxnLst/>
              <a:rect l="l" t="t" r="r" b="b"/>
              <a:pathLst>
                <a:path w="532447" h="9525">
                  <a:moveTo>
                    <a:pt x="0" y="0"/>
                  </a:moveTo>
                  <a:lnTo>
                    <a:pt x="532447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78218" y="2625090"/>
              <a:ext cx="9525" cy="200025"/>
            </a:xfrm>
            <a:custGeom>
              <a:avLst/>
              <a:gdLst/>
              <a:ahLst/>
              <a:cxnLst/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796415" y="252984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701165" y="2625090"/>
              <a:ext cx="9525" cy="200025"/>
            </a:xfrm>
            <a:custGeom>
              <a:avLst/>
              <a:gdLst/>
              <a:ahLst/>
              <a:cxnLst/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520315" y="2529840"/>
              <a:ext cx="532447" cy="9525"/>
            </a:xfrm>
            <a:custGeom>
              <a:avLst/>
              <a:gdLst/>
              <a:ahLst/>
              <a:cxnLst/>
              <a:rect l="l" t="t" r="r" b="b"/>
              <a:pathLst>
                <a:path w="532447" h="9525">
                  <a:moveTo>
                    <a:pt x="0" y="0"/>
                  </a:moveTo>
                  <a:lnTo>
                    <a:pt x="532447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425065" y="2625090"/>
              <a:ext cx="9525" cy="200025"/>
            </a:xfrm>
            <a:custGeom>
              <a:avLst/>
              <a:gdLst/>
              <a:ahLst/>
              <a:cxnLst/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148012" y="2625090"/>
              <a:ext cx="9525" cy="200025"/>
            </a:xfrm>
            <a:custGeom>
              <a:avLst/>
              <a:gdLst/>
              <a:ahLst/>
              <a:cxnLst/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073468" y="2920365"/>
              <a:ext cx="532447" cy="9525"/>
            </a:xfrm>
            <a:custGeom>
              <a:avLst/>
              <a:gdLst/>
              <a:ahLst/>
              <a:cxnLst/>
              <a:rect l="l" t="t" r="r" b="b"/>
              <a:pathLst>
                <a:path w="532447" h="9525">
                  <a:moveTo>
                    <a:pt x="0" y="0"/>
                  </a:moveTo>
                  <a:lnTo>
                    <a:pt x="532447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978218" y="3015615"/>
              <a:ext cx="9525" cy="199072"/>
            </a:xfrm>
            <a:custGeom>
              <a:avLst/>
              <a:gdLst/>
              <a:ahLst/>
              <a:cxnLst/>
              <a:rect l="l" t="t" r="r" b="b"/>
              <a:pathLst>
                <a:path w="9525" h="199072">
                  <a:moveTo>
                    <a:pt x="0" y="0"/>
                  </a:moveTo>
                  <a:lnTo>
                    <a:pt x="0" y="199072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796415" y="292036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701165" y="3015615"/>
              <a:ext cx="9525" cy="199072"/>
            </a:xfrm>
            <a:custGeom>
              <a:avLst/>
              <a:gdLst/>
              <a:ahLst/>
              <a:cxnLst/>
              <a:rect l="l" t="t" r="r" b="b"/>
              <a:pathLst>
                <a:path w="9525" h="199072">
                  <a:moveTo>
                    <a:pt x="0" y="0"/>
                  </a:moveTo>
                  <a:lnTo>
                    <a:pt x="0" y="199072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520315" y="2920365"/>
              <a:ext cx="532447" cy="9525"/>
            </a:xfrm>
            <a:custGeom>
              <a:avLst/>
              <a:gdLst/>
              <a:ahLst/>
              <a:cxnLst/>
              <a:rect l="l" t="t" r="r" b="b"/>
              <a:pathLst>
                <a:path w="532447" h="9525">
                  <a:moveTo>
                    <a:pt x="0" y="0"/>
                  </a:moveTo>
                  <a:lnTo>
                    <a:pt x="532447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425065" y="3015615"/>
              <a:ext cx="9525" cy="199072"/>
            </a:xfrm>
            <a:custGeom>
              <a:avLst/>
              <a:gdLst/>
              <a:ahLst/>
              <a:cxnLst/>
              <a:rect l="l" t="t" r="r" b="b"/>
              <a:pathLst>
                <a:path w="9525" h="199072">
                  <a:moveTo>
                    <a:pt x="0" y="0"/>
                  </a:moveTo>
                  <a:lnTo>
                    <a:pt x="0" y="199072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148012" y="3015615"/>
              <a:ext cx="9525" cy="199072"/>
            </a:xfrm>
            <a:custGeom>
              <a:avLst/>
              <a:gdLst/>
              <a:ahLst/>
              <a:cxnLst/>
              <a:rect l="l" t="t" r="r" b="b"/>
              <a:pathLst>
                <a:path w="9525" h="199072">
                  <a:moveTo>
                    <a:pt x="0" y="0"/>
                  </a:moveTo>
                  <a:lnTo>
                    <a:pt x="0" y="199072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73468" y="3309938"/>
              <a:ext cx="532447" cy="9525"/>
            </a:xfrm>
            <a:custGeom>
              <a:avLst/>
              <a:gdLst/>
              <a:ahLst/>
              <a:cxnLst/>
              <a:rect l="l" t="t" r="r" b="b"/>
              <a:pathLst>
                <a:path w="532447" h="9525">
                  <a:moveTo>
                    <a:pt x="0" y="0"/>
                  </a:moveTo>
                  <a:lnTo>
                    <a:pt x="532447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796415" y="3309938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520315" y="3309938"/>
              <a:ext cx="532447" cy="9525"/>
            </a:xfrm>
            <a:custGeom>
              <a:avLst/>
              <a:gdLst/>
              <a:ahLst/>
              <a:cxnLst/>
              <a:rect l="l" t="t" r="r" b="b"/>
              <a:pathLst>
                <a:path w="532447" h="9525">
                  <a:moveTo>
                    <a:pt x="0" y="0"/>
                  </a:moveTo>
                  <a:lnTo>
                    <a:pt x="532447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4477702" y="2186940"/>
              <a:ext cx="533400" cy="297180"/>
            </a:xfrm>
            <a:custGeom>
              <a:avLst/>
              <a:gdLst/>
              <a:ahLst/>
              <a:cxnLst/>
              <a:rect l="l" t="t" r="r" b="b"/>
              <a:pathLst>
                <a:path w="533400" h="297180">
                  <a:moveTo>
                    <a:pt x="533400" y="0"/>
                  </a:moveTo>
                  <a:lnTo>
                    <a:pt x="0" y="29718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177790" y="2186940"/>
              <a:ext cx="533400" cy="297180"/>
            </a:xfrm>
            <a:custGeom>
              <a:avLst/>
              <a:gdLst/>
              <a:ahLst/>
              <a:cxnLst/>
              <a:rect l="l" t="t" r="r" b="b"/>
              <a:pathLst>
                <a:path w="533400" h="297180">
                  <a:moveTo>
                    <a:pt x="0" y="0"/>
                  </a:moveTo>
                  <a:lnTo>
                    <a:pt x="533400" y="29718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4109085" y="2601278"/>
              <a:ext cx="221933" cy="248602"/>
            </a:xfrm>
            <a:custGeom>
              <a:avLst/>
              <a:gdLst/>
              <a:ahLst/>
              <a:cxnLst/>
              <a:rect l="l" t="t" r="r" b="b"/>
              <a:pathLst>
                <a:path w="221933" h="248602">
                  <a:moveTo>
                    <a:pt x="221933" y="0"/>
                  </a:moveTo>
                  <a:lnTo>
                    <a:pt x="0" y="248602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4458652" y="2601278"/>
              <a:ext cx="222885" cy="248602"/>
            </a:xfrm>
            <a:custGeom>
              <a:avLst/>
              <a:gdLst/>
              <a:ahLst/>
              <a:cxnLst/>
              <a:rect l="l" t="t" r="r" b="b"/>
              <a:pathLst>
                <a:path w="222885" h="248602">
                  <a:moveTo>
                    <a:pt x="0" y="0"/>
                  </a:moveTo>
                  <a:lnTo>
                    <a:pt x="222885" y="248602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507355" y="2601278"/>
              <a:ext cx="223838" cy="248602"/>
            </a:xfrm>
            <a:custGeom>
              <a:avLst/>
              <a:gdLst/>
              <a:ahLst/>
              <a:cxnLst/>
              <a:rect l="l" t="t" r="r" b="b"/>
              <a:pathLst>
                <a:path w="223838" h="248602">
                  <a:moveTo>
                    <a:pt x="223838" y="0"/>
                  </a:moveTo>
                  <a:lnTo>
                    <a:pt x="0" y="248602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5857875" y="2601278"/>
              <a:ext cx="222885" cy="248602"/>
            </a:xfrm>
            <a:custGeom>
              <a:avLst/>
              <a:gdLst/>
              <a:ahLst/>
              <a:cxnLst/>
              <a:rect l="l" t="t" r="r" b="b"/>
              <a:pathLst>
                <a:path w="222885" h="248602">
                  <a:moveTo>
                    <a:pt x="0" y="0"/>
                  </a:moveTo>
                  <a:lnTo>
                    <a:pt x="222885" y="248602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3910012" y="3007042"/>
              <a:ext cx="97155" cy="216217"/>
            </a:xfrm>
            <a:custGeom>
              <a:avLst/>
              <a:gdLst/>
              <a:ahLst/>
              <a:cxnLst/>
              <a:rect l="l" t="t" r="r" b="b"/>
              <a:pathLst>
                <a:path w="97155" h="216217">
                  <a:moveTo>
                    <a:pt x="97155" y="0"/>
                  </a:moveTo>
                  <a:lnTo>
                    <a:pt x="0" y="21621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084320" y="3007042"/>
              <a:ext cx="97155" cy="216217"/>
            </a:xfrm>
            <a:custGeom>
              <a:avLst/>
              <a:gdLst/>
              <a:ahLst/>
              <a:cxnLst/>
              <a:rect l="l" t="t" r="r" b="b"/>
              <a:pathLst>
                <a:path w="97155" h="216217">
                  <a:moveTo>
                    <a:pt x="0" y="0"/>
                  </a:moveTo>
                  <a:lnTo>
                    <a:pt x="97155" y="21621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4610100" y="3007042"/>
              <a:ext cx="96203" cy="216217"/>
            </a:xfrm>
            <a:custGeom>
              <a:avLst/>
              <a:gdLst/>
              <a:ahLst/>
              <a:cxnLst/>
              <a:rect l="l" t="t" r="r" b="b"/>
              <a:pathLst>
                <a:path w="96203" h="216217">
                  <a:moveTo>
                    <a:pt x="96203" y="0"/>
                  </a:moveTo>
                  <a:lnTo>
                    <a:pt x="0" y="21621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4784408" y="3007042"/>
              <a:ext cx="97155" cy="216217"/>
            </a:xfrm>
            <a:custGeom>
              <a:avLst/>
              <a:gdLst/>
              <a:ahLst/>
              <a:cxnLst/>
              <a:rect l="l" t="t" r="r" b="b"/>
              <a:pathLst>
                <a:path w="97155" h="216217">
                  <a:moveTo>
                    <a:pt x="0" y="0"/>
                  </a:moveTo>
                  <a:lnTo>
                    <a:pt x="97155" y="21621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5308282" y="3007042"/>
              <a:ext cx="97155" cy="216217"/>
            </a:xfrm>
            <a:custGeom>
              <a:avLst/>
              <a:gdLst/>
              <a:ahLst/>
              <a:cxnLst/>
              <a:rect l="l" t="t" r="r" b="b"/>
              <a:pathLst>
                <a:path w="97155" h="216217">
                  <a:moveTo>
                    <a:pt x="97155" y="0"/>
                  </a:moveTo>
                  <a:lnTo>
                    <a:pt x="0" y="21621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5482590" y="3007042"/>
              <a:ext cx="97155" cy="216217"/>
            </a:xfrm>
            <a:custGeom>
              <a:avLst/>
              <a:gdLst/>
              <a:ahLst/>
              <a:cxnLst/>
              <a:rect l="l" t="t" r="r" b="b"/>
              <a:pathLst>
                <a:path w="97155" h="216217">
                  <a:moveTo>
                    <a:pt x="0" y="0"/>
                  </a:moveTo>
                  <a:lnTo>
                    <a:pt x="97155" y="21621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008370" y="3007042"/>
              <a:ext cx="96203" cy="216217"/>
            </a:xfrm>
            <a:custGeom>
              <a:avLst/>
              <a:gdLst/>
              <a:ahLst/>
              <a:cxnLst/>
              <a:rect l="l" t="t" r="r" b="b"/>
              <a:pathLst>
                <a:path w="96203" h="216217">
                  <a:moveTo>
                    <a:pt x="96203" y="0"/>
                  </a:moveTo>
                  <a:lnTo>
                    <a:pt x="0" y="21621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182678" y="3007042"/>
              <a:ext cx="97155" cy="216217"/>
            </a:xfrm>
            <a:custGeom>
              <a:avLst/>
              <a:gdLst/>
              <a:ahLst/>
              <a:cxnLst/>
              <a:rect l="l" t="t" r="r" b="b"/>
              <a:pathLst>
                <a:path w="97155" h="216217">
                  <a:moveTo>
                    <a:pt x="0" y="0"/>
                  </a:moveTo>
                  <a:lnTo>
                    <a:pt x="97155" y="21621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025640" y="2642235"/>
              <a:ext cx="922020" cy="9525"/>
            </a:xfrm>
            <a:custGeom>
              <a:avLst/>
              <a:gdLst/>
              <a:ahLst/>
              <a:cxnLst/>
              <a:rect l="l" t="t" r="r" b="b"/>
              <a:pathLst>
                <a:path w="922020" h="9525">
                  <a:moveTo>
                    <a:pt x="0" y="0"/>
                  </a:moveTo>
                  <a:lnTo>
                    <a:pt x="92202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025640" y="3309938"/>
              <a:ext cx="922020" cy="9525"/>
            </a:xfrm>
            <a:custGeom>
              <a:avLst/>
              <a:gdLst/>
              <a:ahLst/>
              <a:cxnLst/>
              <a:rect l="l" t="t" r="r" b="b"/>
              <a:pathLst>
                <a:path w="922020" h="9525">
                  <a:moveTo>
                    <a:pt x="0" y="0"/>
                  </a:moveTo>
                  <a:lnTo>
                    <a:pt x="92202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6930390" y="2737485"/>
              <a:ext cx="9525" cy="477203"/>
            </a:xfrm>
            <a:custGeom>
              <a:avLst/>
              <a:gdLst/>
              <a:ahLst/>
              <a:cxnLst/>
              <a:rect l="l" t="t" r="r" b="b"/>
              <a:pathLst>
                <a:path w="9525" h="477203">
                  <a:moveTo>
                    <a:pt x="0" y="0"/>
                  </a:moveTo>
                  <a:lnTo>
                    <a:pt x="0" y="477203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042910" y="2737485"/>
              <a:ext cx="9525" cy="477203"/>
            </a:xfrm>
            <a:custGeom>
              <a:avLst/>
              <a:gdLst/>
              <a:ahLst/>
              <a:cxnLst/>
              <a:rect l="l" t="t" r="r" b="b"/>
              <a:pathLst>
                <a:path w="9525" h="477203">
                  <a:moveTo>
                    <a:pt x="0" y="0"/>
                  </a:moveTo>
                  <a:lnTo>
                    <a:pt x="0" y="477203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526655" y="2158365"/>
              <a:ext cx="922020" cy="9525"/>
            </a:xfrm>
            <a:custGeom>
              <a:avLst/>
              <a:gdLst/>
              <a:ahLst/>
              <a:cxnLst/>
              <a:rect l="l" t="t" r="r" b="b"/>
              <a:pathLst>
                <a:path w="922020" h="9525">
                  <a:moveTo>
                    <a:pt x="0" y="0"/>
                  </a:moveTo>
                  <a:lnTo>
                    <a:pt x="92202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526655" y="2827972"/>
              <a:ext cx="922020" cy="9525"/>
            </a:xfrm>
            <a:custGeom>
              <a:avLst/>
              <a:gdLst/>
              <a:ahLst/>
              <a:cxnLst/>
              <a:rect l="l" t="t" r="r" b="b"/>
              <a:pathLst>
                <a:path w="922020" h="9525">
                  <a:moveTo>
                    <a:pt x="0" y="0"/>
                  </a:moveTo>
                  <a:lnTo>
                    <a:pt x="92202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431405" y="2253615"/>
              <a:ext cx="9525" cy="479107"/>
            </a:xfrm>
            <a:custGeom>
              <a:avLst/>
              <a:gdLst/>
              <a:ahLst/>
              <a:cxnLst/>
              <a:rect l="l" t="t" r="r" b="b"/>
              <a:pathLst>
                <a:path w="9525" h="479107">
                  <a:moveTo>
                    <a:pt x="0" y="0"/>
                  </a:moveTo>
                  <a:lnTo>
                    <a:pt x="0" y="47910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543925" y="2253615"/>
              <a:ext cx="9525" cy="479107"/>
            </a:xfrm>
            <a:custGeom>
              <a:avLst/>
              <a:gdLst/>
              <a:ahLst/>
              <a:cxnLst/>
              <a:rect l="l" t="t" r="r" b="b"/>
              <a:pathLst>
                <a:path w="9525" h="479107">
                  <a:moveTo>
                    <a:pt x="0" y="0"/>
                  </a:moveTo>
                  <a:lnTo>
                    <a:pt x="0" y="47910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6998970" y="2225040"/>
              <a:ext cx="363855" cy="350520"/>
            </a:xfrm>
            <a:custGeom>
              <a:avLst/>
              <a:gdLst/>
              <a:ahLst/>
              <a:cxnLst/>
              <a:rect l="l" t="t" r="r" b="b"/>
              <a:pathLst>
                <a:path w="363855" h="350520">
                  <a:moveTo>
                    <a:pt x="0" y="350520"/>
                  </a:moveTo>
                  <a:lnTo>
                    <a:pt x="363855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6998970" y="2893695"/>
              <a:ext cx="363855" cy="350520"/>
            </a:xfrm>
            <a:custGeom>
              <a:avLst/>
              <a:gdLst/>
              <a:ahLst/>
              <a:cxnLst/>
              <a:rect l="l" t="t" r="r" b="b"/>
              <a:pathLst>
                <a:path w="363855" h="350520">
                  <a:moveTo>
                    <a:pt x="0" y="350520"/>
                  </a:moveTo>
                  <a:lnTo>
                    <a:pt x="363855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111490" y="2225040"/>
              <a:ext cx="363855" cy="350520"/>
            </a:xfrm>
            <a:custGeom>
              <a:avLst/>
              <a:gdLst/>
              <a:ahLst/>
              <a:cxnLst/>
              <a:rect l="l" t="t" r="r" b="b"/>
              <a:pathLst>
                <a:path w="363855" h="350520">
                  <a:moveTo>
                    <a:pt x="0" y="350520"/>
                  </a:moveTo>
                  <a:lnTo>
                    <a:pt x="363855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111490" y="2893695"/>
              <a:ext cx="363855" cy="350520"/>
            </a:xfrm>
            <a:custGeom>
              <a:avLst/>
              <a:gdLst/>
              <a:ahLst/>
              <a:cxnLst/>
              <a:rect l="l" t="t" r="r" b="b"/>
              <a:pathLst>
                <a:path w="363855" h="350520">
                  <a:moveTo>
                    <a:pt x="0" y="350520"/>
                  </a:moveTo>
                  <a:lnTo>
                    <a:pt x="363855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707880" y="2203132"/>
              <a:ext cx="452438" cy="264795"/>
            </a:xfrm>
            <a:custGeom>
              <a:avLst/>
              <a:gdLst/>
              <a:ahLst/>
              <a:cxnLst/>
              <a:rect l="l" t="t" r="r" b="b"/>
              <a:pathLst>
                <a:path w="452438" h="264795">
                  <a:moveTo>
                    <a:pt x="452438" y="0"/>
                  </a:moveTo>
                  <a:lnTo>
                    <a:pt x="0" y="264795"/>
                  </a:lnTo>
                </a:path>
              </a:pathLst>
            </a:custGeom>
            <a:noFill/>
            <a:ln w="61912">
              <a:solidFill>
                <a:srgbClr val="1F5FA8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375582" y="2203132"/>
              <a:ext cx="452438" cy="264795"/>
            </a:xfrm>
            <a:custGeom>
              <a:avLst/>
              <a:gdLst/>
              <a:ahLst/>
              <a:cxnLst/>
              <a:rect l="l" t="t" r="r" b="b"/>
              <a:pathLst>
                <a:path w="452438" h="264795">
                  <a:moveTo>
                    <a:pt x="0" y="0"/>
                  </a:moveTo>
                  <a:lnTo>
                    <a:pt x="452438" y="264795"/>
                  </a:lnTo>
                </a:path>
              </a:pathLst>
            </a:custGeom>
            <a:noFill/>
            <a:ln w="61912">
              <a:solidFill>
                <a:srgbClr val="1F5FA8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9320212" y="2592705"/>
              <a:ext cx="226695" cy="264795"/>
            </a:xfrm>
            <a:custGeom>
              <a:avLst/>
              <a:gdLst/>
              <a:ahLst/>
              <a:cxnLst/>
              <a:rect l="l" t="t" r="r" b="b"/>
              <a:pathLst>
                <a:path w="226695" h="264795">
                  <a:moveTo>
                    <a:pt x="226695" y="0"/>
                  </a:moveTo>
                  <a:lnTo>
                    <a:pt x="0" y="264795"/>
                  </a:lnTo>
                </a:path>
              </a:pathLst>
            </a:custGeom>
            <a:noFill/>
            <a:ln w="40005">
              <a:solidFill>
                <a:srgbClr val="1F5FA8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9654540" y="2592705"/>
              <a:ext cx="225742" cy="264795"/>
            </a:xfrm>
            <a:custGeom>
              <a:avLst/>
              <a:gdLst/>
              <a:ahLst/>
              <a:cxnLst/>
              <a:rect l="l" t="t" r="r" b="b"/>
              <a:pathLst>
                <a:path w="225742" h="264795">
                  <a:moveTo>
                    <a:pt x="0" y="0"/>
                  </a:moveTo>
                  <a:lnTo>
                    <a:pt x="225742" y="264795"/>
                  </a:lnTo>
                </a:path>
              </a:pathLst>
            </a:custGeom>
            <a:noFill/>
            <a:ln w="40005">
              <a:solidFill>
                <a:srgbClr val="1F5FA8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10655618" y="2592705"/>
              <a:ext cx="225743" cy="264795"/>
            </a:xfrm>
            <a:custGeom>
              <a:avLst/>
              <a:gdLst/>
              <a:ahLst/>
              <a:cxnLst/>
              <a:rect l="l" t="t" r="r" b="b"/>
              <a:pathLst>
                <a:path w="225743" h="264795">
                  <a:moveTo>
                    <a:pt x="225743" y="0"/>
                  </a:moveTo>
                  <a:lnTo>
                    <a:pt x="0" y="264795"/>
                  </a:lnTo>
                </a:path>
              </a:pathLst>
            </a:custGeom>
            <a:noFill/>
            <a:ln w="40005">
              <a:solidFill>
                <a:srgbClr val="1F5FA8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0988992" y="2592705"/>
              <a:ext cx="226695" cy="264795"/>
            </a:xfrm>
            <a:custGeom>
              <a:avLst/>
              <a:gdLst/>
              <a:ahLst/>
              <a:cxnLst/>
              <a:rect l="l" t="t" r="r" b="b"/>
              <a:pathLst>
                <a:path w="226695" h="264795">
                  <a:moveTo>
                    <a:pt x="0" y="0"/>
                  </a:moveTo>
                  <a:lnTo>
                    <a:pt x="226695" y="264795"/>
                  </a:lnTo>
                </a:path>
              </a:pathLst>
            </a:custGeom>
            <a:noFill/>
            <a:ln w="40005">
              <a:solidFill>
                <a:srgbClr val="1F5FA8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9137332" y="2983230"/>
              <a:ext cx="102870" cy="240030"/>
            </a:xfrm>
            <a:custGeom>
              <a:avLst/>
              <a:gdLst/>
              <a:ahLst/>
              <a:cxnLst/>
              <a:rect l="l" t="t" r="r" b="b"/>
              <a:pathLst>
                <a:path w="102870" h="240030">
                  <a:moveTo>
                    <a:pt x="102870" y="0"/>
                  </a:moveTo>
                  <a:lnTo>
                    <a:pt x="0" y="24003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9293542" y="2983230"/>
              <a:ext cx="102870" cy="240030"/>
            </a:xfrm>
            <a:custGeom>
              <a:avLst/>
              <a:gdLst/>
              <a:ahLst/>
              <a:cxnLst/>
              <a:rect l="l" t="t" r="r" b="b"/>
              <a:pathLst>
                <a:path w="102870" h="240030">
                  <a:moveTo>
                    <a:pt x="0" y="0"/>
                  </a:moveTo>
                  <a:lnTo>
                    <a:pt x="102870" y="24003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9805035" y="2983230"/>
              <a:ext cx="101917" cy="240030"/>
            </a:xfrm>
            <a:custGeom>
              <a:avLst/>
              <a:gdLst/>
              <a:ahLst/>
              <a:cxnLst/>
              <a:rect l="l" t="t" r="r" b="b"/>
              <a:pathLst>
                <a:path w="101917" h="240030">
                  <a:moveTo>
                    <a:pt x="101917" y="0"/>
                  </a:moveTo>
                  <a:lnTo>
                    <a:pt x="0" y="24003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9961245" y="2983230"/>
              <a:ext cx="101918" cy="240030"/>
            </a:xfrm>
            <a:custGeom>
              <a:avLst/>
              <a:gdLst/>
              <a:ahLst/>
              <a:cxnLst/>
              <a:rect l="l" t="t" r="r" b="b"/>
              <a:pathLst>
                <a:path w="101918" h="240030">
                  <a:moveTo>
                    <a:pt x="0" y="0"/>
                  </a:moveTo>
                  <a:lnTo>
                    <a:pt x="101918" y="24003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10472738" y="2983230"/>
              <a:ext cx="101918" cy="240030"/>
            </a:xfrm>
            <a:custGeom>
              <a:avLst/>
              <a:gdLst/>
              <a:ahLst/>
              <a:cxnLst/>
              <a:rect l="l" t="t" r="r" b="b"/>
              <a:pathLst>
                <a:path w="101918" h="240030">
                  <a:moveTo>
                    <a:pt x="101918" y="0"/>
                  </a:moveTo>
                  <a:lnTo>
                    <a:pt x="0" y="24003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10628948" y="2983230"/>
              <a:ext cx="101917" cy="240030"/>
            </a:xfrm>
            <a:custGeom>
              <a:avLst/>
              <a:gdLst/>
              <a:ahLst/>
              <a:cxnLst/>
              <a:rect l="l" t="t" r="r" b="b"/>
              <a:pathLst>
                <a:path w="101917" h="240030">
                  <a:moveTo>
                    <a:pt x="0" y="0"/>
                  </a:moveTo>
                  <a:lnTo>
                    <a:pt x="101917" y="24003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11139488" y="2983230"/>
              <a:ext cx="102870" cy="240030"/>
            </a:xfrm>
            <a:custGeom>
              <a:avLst/>
              <a:gdLst/>
              <a:ahLst/>
              <a:cxnLst/>
              <a:rect l="l" t="t" r="r" b="b"/>
              <a:pathLst>
                <a:path w="102870" h="240030">
                  <a:moveTo>
                    <a:pt x="102870" y="0"/>
                  </a:moveTo>
                  <a:lnTo>
                    <a:pt x="0" y="24003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11295698" y="2983230"/>
              <a:ext cx="102870" cy="240030"/>
            </a:xfrm>
            <a:custGeom>
              <a:avLst/>
              <a:gdLst/>
              <a:ahLst/>
              <a:cxnLst/>
              <a:rect l="l" t="t" r="r" b="b"/>
              <a:pathLst>
                <a:path w="102870" h="240030">
                  <a:moveTo>
                    <a:pt x="0" y="0"/>
                  </a:moveTo>
                  <a:lnTo>
                    <a:pt x="102870" y="24003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892492" y="205454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1615440" y="205454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2339340" y="205454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3062288" y="205454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892492" y="2444115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1615440" y="2444115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2339340" y="2444115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3062288" y="2444115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892492" y="2834640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1615440" y="2834640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2339340" y="2834640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3062288" y="2834640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85" name="Ellipse 85"/>
            <p:cNvSpPr/>
            <p:nvPr/>
          </p:nvSpPr>
          <p:spPr>
            <a:xfrm>
              <a:off x="892492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1615440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87" name="Ellipse 87"/>
            <p:cNvSpPr/>
            <p:nvPr/>
          </p:nvSpPr>
          <p:spPr>
            <a:xfrm>
              <a:off x="2339340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3062288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89" name="Ellipse 89"/>
            <p:cNvSpPr/>
            <p:nvPr/>
          </p:nvSpPr>
          <p:spPr>
            <a:xfrm>
              <a:off x="5009198" y="205454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4309110" y="2444115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91" name="Ellipse 91"/>
            <p:cNvSpPr/>
            <p:nvPr/>
          </p:nvSpPr>
          <p:spPr>
            <a:xfrm>
              <a:off x="5708332" y="2444115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3959542" y="2834640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93" name="Ellipse 93"/>
            <p:cNvSpPr/>
            <p:nvPr/>
          </p:nvSpPr>
          <p:spPr>
            <a:xfrm>
              <a:off x="4659630" y="2834640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94" name="Ellipse 94"/>
            <p:cNvSpPr/>
            <p:nvPr/>
          </p:nvSpPr>
          <p:spPr>
            <a:xfrm>
              <a:off x="5358765" y="2834640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95" name="Ellipse 95"/>
            <p:cNvSpPr/>
            <p:nvPr/>
          </p:nvSpPr>
          <p:spPr>
            <a:xfrm>
              <a:off x="6057900" y="2834640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96" name="Ellipse 96"/>
            <p:cNvSpPr/>
            <p:nvPr/>
          </p:nvSpPr>
          <p:spPr>
            <a:xfrm>
              <a:off x="3785235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97" name="Ellipse 97"/>
            <p:cNvSpPr/>
            <p:nvPr/>
          </p:nvSpPr>
          <p:spPr>
            <a:xfrm>
              <a:off x="4134802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98" name="Ellipse 98"/>
            <p:cNvSpPr/>
            <p:nvPr/>
          </p:nvSpPr>
          <p:spPr>
            <a:xfrm>
              <a:off x="4485322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99" name="Ellipse 99"/>
            <p:cNvSpPr/>
            <p:nvPr/>
          </p:nvSpPr>
          <p:spPr>
            <a:xfrm>
              <a:off x="4833938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00" name="Ellipse 100"/>
            <p:cNvSpPr/>
            <p:nvPr/>
          </p:nvSpPr>
          <p:spPr>
            <a:xfrm>
              <a:off x="5183505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01" name="Ellipse 101"/>
            <p:cNvSpPr/>
            <p:nvPr/>
          </p:nvSpPr>
          <p:spPr>
            <a:xfrm>
              <a:off x="5533072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02" name="Ellipse 102"/>
            <p:cNvSpPr/>
            <p:nvPr/>
          </p:nvSpPr>
          <p:spPr>
            <a:xfrm>
              <a:off x="5883592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03" name="Ellipse 103"/>
            <p:cNvSpPr/>
            <p:nvPr/>
          </p:nvSpPr>
          <p:spPr>
            <a:xfrm>
              <a:off x="6233160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04" name="Ellipse 104"/>
            <p:cNvSpPr/>
            <p:nvPr/>
          </p:nvSpPr>
          <p:spPr>
            <a:xfrm>
              <a:off x="6844665" y="2556510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05" name="Ellipse 105"/>
            <p:cNvSpPr/>
            <p:nvPr/>
          </p:nvSpPr>
          <p:spPr>
            <a:xfrm>
              <a:off x="7345680" y="2072640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06" name="Ellipse 106"/>
            <p:cNvSpPr/>
            <p:nvPr/>
          </p:nvSpPr>
          <p:spPr>
            <a:xfrm>
              <a:off x="6844665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07" name="Ellipse 107"/>
            <p:cNvSpPr/>
            <p:nvPr/>
          </p:nvSpPr>
          <p:spPr>
            <a:xfrm>
              <a:off x="7345680" y="2742248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08" name="Ellipse 108"/>
            <p:cNvSpPr/>
            <p:nvPr/>
          </p:nvSpPr>
          <p:spPr>
            <a:xfrm>
              <a:off x="7957185" y="2556510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09" name="Ellipse 109"/>
            <p:cNvSpPr/>
            <p:nvPr/>
          </p:nvSpPr>
          <p:spPr>
            <a:xfrm>
              <a:off x="8458200" y="2072640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10" name="Ellipse 110"/>
            <p:cNvSpPr/>
            <p:nvPr/>
          </p:nvSpPr>
          <p:spPr>
            <a:xfrm>
              <a:off x="7957185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11" name="Ellipse 111"/>
            <p:cNvSpPr/>
            <p:nvPr/>
          </p:nvSpPr>
          <p:spPr>
            <a:xfrm>
              <a:off x="8458200" y="2742248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0151745" y="2077402"/>
              <a:ext cx="232410" cy="125730"/>
            </a:xfrm>
            <a:prstGeom prst="roundRect">
              <a:avLst>
                <a:gd name="adj" fmla="val 30303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9484042" y="2467928"/>
              <a:ext cx="232410" cy="125730"/>
            </a:xfrm>
            <a:prstGeom prst="roundRect">
              <a:avLst>
                <a:gd name="adj" fmla="val 30303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10819448" y="2467928"/>
              <a:ext cx="232410" cy="125730"/>
            </a:xfrm>
            <a:prstGeom prst="roundRect">
              <a:avLst>
                <a:gd name="adj" fmla="val 30303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9150668" y="2857500"/>
              <a:ext cx="232410" cy="125730"/>
            </a:xfrm>
            <a:prstGeom prst="roundRect">
              <a:avLst>
                <a:gd name="adj" fmla="val 30303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817418" y="2857500"/>
              <a:ext cx="232410" cy="125730"/>
            </a:xfrm>
            <a:prstGeom prst="roundRect">
              <a:avLst>
                <a:gd name="adj" fmla="val 30303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10485120" y="2857500"/>
              <a:ext cx="232410" cy="125730"/>
            </a:xfrm>
            <a:prstGeom prst="roundRect">
              <a:avLst>
                <a:gd name="adj" fmla="val 30303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11152822" y="2857500"/>
              <a:ext cx="232410" cy="125730"/>
            </a:xfrm>
            <a:prstGeom prst="roundRect">
              <a:avLst>
                <a:gd name="adj" fmla="val 30303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19" name="Ellipse 119"/>
            <p:cNvSpPr/>
            <p:nvPr/>
          </p:nvSpPr>
          <p:spPr>
            <a:xfrm>
              <a:off x="9014460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20" name="Ellipse 120"/>
            <p:cNvSpPr/>
            <p:nvPr/>
          </p:nvSpPr>
          <p:spPr>
            <a:xfrm>
              <a:off x="9347835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21" name="Ellipse 121"/>
            <p:cNvSpPr/>
            <p:nvPr/>
          </p:nvSpPr>
          <p:spPr>
            <a:xfrm>
              <a:off x="9681210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22" name="Ellipse 122"/>
            <p:cNvSpPr/>
            <p:nvPr/>
          </p:nvSpPr>
          <p:spPr>
            <a:xfrm>
              <a:off x="10015538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23" name="Ellipse 123"/>
            <p:cNvSpPr/>
            <p:nvPr/>
          </p:nvSpPr>
          <p:spPr>
            <a:xfrm>
              <a:off x="10348912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24" name="Ellipse 124"/>
            <p:cNvSpPr/>
            <p:nvPr/>
          </p:nvSpPr>
          <p:spPr>
            <a:xfrm>
              <a:off x="10683240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25" name="Ellipse 125"/>
            <p:cNvSpPr/>
            <p:nvPr/>
          </p:nvSpPr>
          <p:spPr>
            <a:xfrm>
              <a:off x="11016615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26" name="Ellipse 126"/>
            <p:cNvSpPr/>
            <p:nvPr/>
          </p:nvSpPr>
          <p:spPr>
            <a:xfrm>
              <a:off x="11349990" y="3224212"/>
              <a:ext cx="171450" cy="17145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1511283" y="3643312"/>
              <a:ext cx="1103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二维网孔（4×4）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4602458" y="3643312"/>
              <a:ext cx="984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二叉树（4 层）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7201640" y="3643312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超立方体（3 维）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9485186" y="364331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胖树（越近根链路越粗）</a:t>
              </a:r>
            </a:p>
          </p:txBody>
        </p:sp>
      </p:grpSp>
      <p:grpSp>
        <p:nvGrpSpPr>
          <p:cNvPr id="169" name="c1-table-2"/>
          <p:cNvGrpSpPr/>
          <p:nvPr/>
        </p:nvGrpSpPr>
        <p:grpSpPr>
          <a:xfrm>
            <a:off x="528066" y="3991928"/>
            <a:ext cx="11130534" cy="2401823"/>
            <a:chOff x="528066" y="3991928"/>
            <a:chExt cx="11130534" cy="2401823"/>
          </a:xfrm>
        </p:grpSpPr>
        <p:sp>
          <p:nvSpPr>
            <p:cNvPr id="132" name="Rectangle 132"/>
            <p:cNvSpPr/>
            <p:nvPr/>
          </p:nvSpPr>
          <p:spPr>
            <a:xfrm>
              <a:off x="533400" y="3991928"/>
              <a:ext cx="11125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1255395" y="412051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2843403" y="412051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结点数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4735068" y="412051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结点度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7152322" y="412051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直径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9933622" y="412051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635889" y="4545330"/>
              <a:ext cx="989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二维网孔 k×k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2416112" y="454533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k²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3973449" y="4545330"/>
              <a:ext cx="15549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4（边界结点 2 或 3）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6198489" y="4545330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2(k−1)，4×4 时为 6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8646414" y="454533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布线规整，容易扩展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533400" y="48358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533400" y="484060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635889" y="4969192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 h 层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2416112" y="496919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2^h − 1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3973449" y="4969192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3（根 2，叶 1）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6198489" y="496919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2(h−1)，4 层时为 6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8646414" y="496919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结点度小，根附近通信拥挤</a:t>
              </a: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533400" y="52606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635889" y="5394008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维超立方体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2416112" y="539400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2ⁿ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3973449" y="539400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6198489" y="5394008"/>
              <a:ext cx="1021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n，3 维时为 3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8646414" y="539400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直径小，结点度随规模增大</a:t>
              </a:r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533400" y="56854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533400" y="569023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635889" y="581787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胖树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2416112" y="581787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同二叉树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3973449" y="581787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越靠近根，链路条数越多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6198489" y="581787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同二叉树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8646414" y="581787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加粗根附近的链路，缓解通信瓶颈</a:t>
              </a:r>
            </a:p>
          </p:txBody>
        </p:sp>
        <p:sp>
          <p:nvSpPr>
            <p:cNvPr id="163" name="Rectangle 163"/>
            <p:cNvSpPr/>
            <p:nvPr/>
          </p:nvSpPr>
          <p:spPr>
            <a:xfrm>
              <a:off x="533400" y="3991928"/>
              <a:ext cx="1112520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64" name="Rectangle 164"/>
            <p:cNvSpPr/>
            <p:nvPr/>
          </p:nvSpPr>
          <p:spPr>
            <a:xfrm>
              <a:off x="2308860" y="3991928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5" name="Rectangle 165"/>
            <p:cNvSpPr/>
            <p:nvPr/>
          </p:nvSpPr>
          <p:spPr>
            <a:xfrm>
              <a:off x="3866198" y="3991928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6091238" y="3991928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7" name="Rectangle 167"/>
            <p:cNvSpPr/>
            <p:nvPr/>
          </p:nvSpPr>
          <p:spPr>
            <a:xfrm>
              <a:off x="8539162" y="3991928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8" name="TextBox 168"/>
            <p:cNvSpPr txBox="1"/>
            <p:nvPr/>
          </p:nvSpPr>
          <p:spPr>
            <a:xfrm>
              <a:off x="528066" y="6188392"/>
              <a:ext cx="84846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结点度：一个结点连出的链路数；直径：任意两结点间最短路径的最大跳数。原课件例图为 4×4 网孔、5 层二叉树、4 维超立方体和胖树</a:t>
              </a:r>
            </a:p>
          </p:txBody>
        </p:sp>
      </p:grpSp>
      <p:grpSp>
        <p:nvGrpSpPr>
          <p:cNvPr id="1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0" name="TextBox 170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多处理机概述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动态互连网络：用开关按需改变连接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316355"/>
            <a:chOff x="533400" y="1524000"/>
            <a:chExt cx="5410200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动态互连网络由开关单元构成，可以按照应用程序的要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求动态地改变连接组态。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33400" y="3030855"/>
            <a:ext cx="5410200" cy="3155632"/>
            <a:chOff x="533400" y="3030855"/>
            <a:chExt cx="5410200" cy="3155632"/>
          </a:xfrm>
        </p:grpSpPr>
        <p:sp>
          <p:nvSpPr>
            <p:cNvPr id="13" name="Rectangle 13"/>
            <p:cNvSpPr/>
            <p:nvPr/>
          </p:nvSpPr>
          <p:spPr>
            <a:xfrm>
              <a:off x="533400" y="3030855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9922" y="31665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00668" y="31665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连接方式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82769" y="31665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223" y="38419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31848" y="372856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各部件挂在同一组公共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线路上，分时使用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87343" y="3615214"/>
              <a:ext cx="180111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结构简单、成本低；同一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时刻只能一对部件通信，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结点多了成为瓶颈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3767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381500"/>
              <a:ext cx="5410200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474392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交叉开关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31848" y="4517231"/>
              <a:ext cx="163855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个输入与 N 个输出的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每个交叉点上放一个开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87343" y="4517231"/>
              <a:ext cx="180111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空闲的输入、输出可以同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时接通；N×N 要 N² 个开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关点，规模大时昂贵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2797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5532596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多级互连网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络 MIN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31848" y="5532596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由若干级小开关（如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2×2）级联而成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87343" y="5419249"/>
              <a:ext cx="1849882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代价介于两者之间：16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个端口用 4 级、每级 8 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2×2 开关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030855"/>
              <a:ext cx="5410200" cy="315563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719262" y="3030855"/>
              <a:ext cx="9525" cy="31556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774758" y="3030855"/>
              <a:ext cx="9525" cy="31556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8" name="c2-graph-1"/>
          <p:cNvGrpSpPr/>
          <p:nvPr/>
        </p:nvGrpSpPr>
        <p:grpSpPr>
          <a:xfrm>
            <a:off x="6442710" y="1550670"/>
            <a:ext cx="4804410" cy="2283142"/>
            <a:chOff x="6442710" y="1550670"/>
            <a:chExt cx="4804410" cy="2283142"/>
          </a:xfrm>
        </p:grpSpPr>
        <p:sp>
          <p:nvSpPr>
            <p:cNvPr id="33" name="Freeform 33"/>
            <p:cNvSpPr/>
            <p:nvPr/>
          </p:nvSpPr>
          <p:spPr>
            <a:xfrm>
              <a:off x="6918960" y="1833562"/>
              <a:ext cx="1125855" cy="9525"/>
            </a:xfrm>
            <a:custGeom>
              <a:avLst/>
              <a:gdLst/>
              <a:ahLst/>
              <a:cxnLst/>
              <a:rect l="l" t="t" r="r" b="b"/>
              <a:pathLst>
                <a:path w="1125855" h="9525">
                  <a:moveTo>
                    <a:pt x="0" y="0"/>
                  </a:moveTo>
                  <a:lnTo>
                    <a:pt x="1125855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30540" y="1833562"/>
              <a:ext cx="888682" cy="9525"/>
            </a:xfrm>
            <a:custGeom>
              <a:avLst/>
              <a:gdLst/>
              <a:ahLst/>
              <a:cxnLst/>
              <a:rect l="l" t="t" r="r" b="b"/>
              <a:pathLst>
                <a:path w="888682" h="9525">
                  <a:moveTo>
                    <a:pt x="0" y="0"/>
                  </a:moveTo>
                  <a:lnTo>
                    <a:pt x="888682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104948" y="1833562"/>
              <a:ext cx="854392" cy="9525"/>
            </a:xfrm>
            <a:custGeom>
              <a:avLst/>
              <a:gdLst/>
              <a:ahLst/>
              <a:cxnLst/>
              <a:rect l="l" t="t" r="r" b="b"/>
              <a:pathLst>
                <a:path w="854392" h="9525">
                  <a:moveTo>
                    <a:pt x="0" y="0"/>
                  </a:moveTo>
                  <a:lnTo>
                    <a:pt x="854392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111740" y="1833562"/>
              <a:ext cx="854393" cy="9525"/>
            </a:xfrm>
            <a:custGeom>
              <a:avLst/>
              <a:gdLst/>
              <a:ahLst/>
              <a:cxnLst/>
              <a:rect l="l" t="t" r="r" b="b"/>
              <a:pathLst>
                <a:path w="854393" h="9525">
                  <a:moveTo>
                    <a:pt x="0" y="0"/>
                  </a:moveTo>
                  <a:lnTo>
                    <a:pt x="854393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918960" y="2262188"/>
              <a:ext cx="1125855" cy="9525"/>
            </a:xfrm>
            <a:custGeom>
              <a:avLst/>
              <a:gdLst/>
              <a:ahLst/>
              <a:cxnLst/>
              <a:rect l="l" t="t" r="r" b="b"/>
              <a:pathLst>
                <a:path w="1125855" h="9525">
                  <a:moveTo>
                    <a:pt x="0" y="0"/>
                  </a:moveTo>
                  <a:lnTo>
                    <a:pt x="1125855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130540" y="2262188"/>
              <a:ext cx="888682" cy="9525"/>
            </a:xfrm>
            <a:custGeom>
              <a:avLst/>
              <a:gdLst/>
              <a:ahLst/>
              <a:cxnLst/>
              <a:rect l="l" t="t" r="r" b="b"/>
              <a:pathLst>
                <a:path w="888682" h="9525">
                  <a:moveTo>
                    <a:pt x="0" y="0"/>
                  </a:moveTo>
                  <a:lnTo>
                    <a:pt x="888682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104948" y="2262188"/>
              <a:ext cx="887730" cy="9525"/>
            </a:xfrm>
            <a:custGeom>
              <a:avLst/>
              <a:gdLst/>
              <a:ahLst/>
              <a:cxnLst/>
              <a:rect l="l" t="t" r="r" b="b"/>
              <a:pathLst>
                <a:path w="887730" h="9525">
                  <a:moveTo>
                    <a:pt x="0" y="0"/>
                  </a:moveTo>
                  <a:lnTo>
                    <a:pt x="887730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078402" y="2262188"/>
              <a:ext cx="887730" cy="9525"/>
            </a:xfrm>
            <a:custGeom>
              <a:avLst/>
              <a:gdLst/>
              <a:ahLst/>
              <a:cxnLst/>
              <a:rect l="l" t="t" r="r" b="b"/>
              <a:pathLst>
                <a:path w="887730" h="9525">
                  <a:moveTo>
                    <a:pt x="0" y="0"/>
                  </a:moveTo>
                  <a:lnTo>
                    <a:pt x="887730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918960" y="2690812"/>
              <a:ext cx="1125855" cy="9525"/>
            </a:xfrm>
            <a:custGeom>
              <a:avLst/>
              <a:gdLst/>
              <a:ahLst/>
              <a:cxnLst/>
              <a:rect l="l" t="t" r="r" b="b"/>
              <a:pathLst>
                <a:path w="1125855" h="9525">
                  <a:moveTo>
                    <a:pt x="0" y="0"/>
                  </a:moveTo>
                  <a:lnTo>
                    <a:pt x="1125855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130540" y="2690812"/>
              <a:ext cx="855345" cy="9525"/>
            </a:xfrm>
            <a:custGeom>
              <a:avLst/>
              <a:gdLst/>
              <a:ahLst/>
              <a:cxnLst/>
              <a:rect l="l" t="t" r="r" b="b"/>
              <a:pathLst>
                <a:path w="855345" h="9525">
                  <a:moveTo>
                    <a:pt x="0" y="0"/>
                  </a:moveTo>
                  <a:lnTo>
                    <a:pt x="855345" y="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138285" y="2690812"/>
              <a:ext cx="854392" cy="9525"/>
            </a:xfrm>
            <a:custGeom>
              <a:avLst/>
              <a:gdLst/>
              <a:ahLst/>
              <a:cxnLst/>
              <a:rect l="l" t="t" r="r" b="b"/>
              <a:pathLst>
                <a:path w="854392" h="9525">
                  <a:moveTo>
                    <a:pt x="0" y="0"/>
                  </a:moveTo>
                  <a:lnTo>
                    <a:pt x="854392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078402" y="2690812"/>
              <a:ext cx="887730" cy="9525"/>
            </a:xfrm>
            <a:custGeom>
              <a:avLst/>
              <a:gdLst/>
              <a:ahLst/>
              <a:cxnLst/>
              <a:rect l="l" t="t" r="r" b="b"/>
              <a:pathLst>
                <a:path w="887730" h="9525">
                  <a:moveTo>
                    <a:pt x="0" y="0"/>
                  </a:moveTo>
                  <a:lnTo>
                    <a:pt x="887730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918960" y="3119438"/>
              <a:ext cx="1125855" cy="9525"/>
            </a:xfrm>
            <a:custGeom>
              <a:avLst/>
              <a:gdLst/>
              <a:ahLst/>
              <a:cxnLst/>
              <a:rect l="l" t="t" r="r" b="b"/>
              <a:pathLst>
                <a:path w="1125855" h="9525">
                  <a:moveTo>
                    <a:pt x="0" y="0"/>
                  </a:moveTo>
                  <a:lnTo>
                    <a:pt x="1125855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130540" y="3119438"/>
              <a:ext cx="888682" cy="9525"/>
            </a:xfrm>
            <a:custGeom>
              <a:avLst/>
              <a:gdLst/>
              <a:ahLst/>
              <a:cxnLst/>
              <a:rect l="l" t="t" r="r" b="b"/>
              <a:pathLst>
                <a:path w="888682" h="9525">
                  <a:moveTo>
                    <a:pt x="0" y="0"/>
                  </a:moveTo>
                  <a:lnTo>
                    <a:pt x="888682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104948" y="3119438"/>
              <a:ext cx="887730" cy="9525"/>
            </a:xfrm>
            <a:custGeom>
              <a:avLst/>
              <a:gdLst/>
              <a:ahLst/>
              <a:cxnLst/>
              <a:rect l="l" t="t" r="r" b="b"/>
              <a:pathLst>
                <a:path w="887730" h="9525">
                  <a:moveTo>
                    <a:pt x="0" y="0"/>
                  </a:moveTo>
                  <a:lnTo>
                    <a:pt x="887730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078402" y="3119438"/>
              <a:ext cx="887730" cy="9525"/>
            </a:xfrm>
            <a:custGeom>
              <a:avLst/>
              <a:gdLst/>
              <a:ahLst/>
              <a:cxnLst/>
              <a:rect l="l" t="t" r="r" b="b"/>
              <a:pathLst>
                <a:path w="887730" h="9525">
                  <a:moveTo>
                    <a:pt x="0" y="0"/>
                  </a:moveTo>
                  <a:lnTo>
                    <a:pt x="887730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087678" y="187642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087678" y="23050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087678" y="273367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087678" y="3162300"/>
              <a:ext cx="9525" cy="385762"/>
            </a:xfrm>
            <a:custGeom>
              <a:avLst/>
              <a:gdLst/>
              <a:ahLst/>
              <a:cxnLst/>
              <a:rect l="l" t="t" r="r" b="b"/>
              <a:pathLst>
                <a:path w="9525" h="385762">
                  <a:moveTo>
                    <a:pt x="0" y="0"/>
                  </a:moveTo>
                  <a:lnTo>
                    <a:pt x="0" y="385762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062085" y="187642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062085" y="2305050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062085" y="2767012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062085" y="3162300"/>
              <a:ext cx="9525" cy="385762"/>
            </a:xfrm>
            <a:custGeom>
              <a:avLst/>
              <a:gdLst/>
              <a:ahLst/>
              <a:cxnLst/>
              <a:rect l="l" t="t" r="r" b="b"/>
              <a:pathLst>
                <a:path w="9525" h="385762">
                  <a:moveTo>
                    <a:pt x="0" y="0"/>
                  </a:moveTo>
                  <a:lnTo>
                    <a:pt x="0" y="385762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10035540" y="1909762"/>
              <a:ext cx="9525" cy="309562"/>
            </a:xfrm>
            <a:custGeom>
              <a:avLst/>
              <a:gdLst/>
              <a:ahLst/>
              <a:cxnLst/>
              <a:rect l="l" t="t" r="r" b="b"/>
              <a:pathLst>
                <a:path w="9525" h="309562">
                  <a:moveTo>
                    <a:pt x="0" y="0"/>
                  </a:moveTo>
                  <a:lnTo>
                    <a:pt x="0" y="309562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10035540" y="23050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035540" y="273367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035540" y="3162300"/>
              <a:ext cx="9525" cy="385762"/>
            </a:xfrm>
            <a:custGeom>
              <a:avLst/>
              <a:gdLst/>
              <a:ahLst/>
              <a:cxnLst/>
              <a:rect l="l" t="t" r="r" b="b"/>
              <a:pathLst>
                <a:path w="9525" h="385762">
                  <a:moveTo>
                    <a:pt x="0" y="0"/>
                  </a:moveTo>
                  <a:lnTo>
                    <a:pt x="0" y="385762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11008995" y="187642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11008995" y="23050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11008995" y="273367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1008995" y="3162300"/>
              <a:ext cx="9525" cy="385762"/>
            </a:xfrm>
            <a:custGeom>
              <a:avLst/>
              <a:gdLst/>
              <a:ahLst/>
              <a:cxnLst/>
              <a:rect l="l" t="t" r="r" b="b"/>
              <a:pathLst>
                <a:path w="9525" h="385762">
                  <a:moveTo>
                    <a:pt x="0" y="0"/>
                  </a:moveTo>
                  <a:lnTo>
                    <a:pt x="0" y="385762"/>
                  </a:lnTo>
                </a:path>
              </a:pathLst>
            </a:custGeom>
            <a:noFill/>
            <a:ln w="15240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42710" y="1690688"/>
              <a:ext cx="476250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42710" y="2119312"/>
              <a:ext cx="476250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42710" y="2547938"/>
              <a:ext cx="476250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442710" y="2976562"/>
              <a:ext cx="476250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849552" y="3548062"/>
              <a:ext cx="476250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823960" y="3548062"/>
              <a:ext cx="476250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797415" y="3548062"/>
              <a:ext cx="476250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10770870" y="3548062"/>
              <a:ext cx="476250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8054340" y="1800225"/>
              <a:ext cx="66675" cy="666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9028748" y="1800225"/>
              <a:ext cx="66675" cy="666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9968865" y="1766888"/>
              <a:ext cx="133350" cy="1333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10975658" y="1800225"/>
              <a:ext cx="66675" cy="666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8054340" y="2228850"/>
              <a:ext cx="66675" cy="666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9028748" y="2228850"/>
              <a:ext cx="66675" cy="666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10002202" y="2228850"/>
              <a:ext cx="66675" cy="666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10975658" y="2228850"/>
              <a:ext cx="66675" cy="666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8054340" y="2657475"/>
              <a:ext cx="66675" cy="666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8995410" y="2624138"/>
              <a:ext cx="133350" cy="1333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10002202" y="2657475"/>
              <a:ext cx="66675" cy="666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10975658" y="2657475"/>
              <a:ext cx="66675" cy="666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8054340" y="3086100"/>
              <a:ext cx="66675" cy="666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9028748" y="3086100"/>
              <a:ext cx="66675" cy="666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0002202" y="3086100"/>
              <a:ext cx="66675" cy="666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10975658" y="3086100"/>
              <a:ext cx="66675" cy="666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564010" y="1767840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入0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564010" y="219646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入1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564010" y="2625090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入2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564010" y="305371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入3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970853" y="362521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出0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945260" y="362521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出1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918715" y="362521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出2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892170" y="3625215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出3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546848" y="1550670"/>
              <a:ext cx="28133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交叉开关 4×4：入0→出2、入2→出1 同时接通</a:t>
              </a:r>
            </a:p>
          </p:txBody>
        </p:sp>
      </p:grpSp>
      <p:grpSp>
        <p:nvGrpSpPr>
          <p:cNvPr id="117" name="c2-graph-2"/>
          <p:cNvGrpSpPr/>
          <p:nvPr/>
        </p:nvGrpSpPr>
        <p:grpSpPr>
          <a:xfrm>
            <a:off x="6477000" y="4144328"/>
            <a:ext cx="4953000" cy="1522094"/>
            <a:chOff x="6477000" y="4144328"/>
            <a:chExt cx="4953000" cy="1522094"/>
          </a:xfrm>
        </p:grpSpPr>
        <p:sp>
          <p:nvSpPr>
            <p:cNvPr id="99" name="Freeform 99"/>
            <p:cNvSpPr/>
            <p:nvPr/>
          </p:nvSpPr>
          <p:spPr>
            <a:xfrm>
              <a:off x="7600950" y="4468178"/>
              <a:ext cx="9525" cy="418147"/>
            </a:xfrm>
            <a:custGeom>
              <a:avLst/>
              <a:gdLst/>
              <a:ahLst/>
              <a:cxnLst/>
              <a:rect l="l" t="t" r="r" b="b"/>
              <a:pathLst>
                <a:path w="9525" h="418147">
                  <a:moveTo>
                    <a:pt x="0" y="0"/>
                  </a:moveTo>
                  <a:lnTo>
                    <a:pt x="0" y="418147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10306050" y="4468178"/>
              <a:ext cx="9525" cy="418147"/>
            </a:xfrm>
            <a:custGeom>
              <a:avLst/>
              <a:gdLst/>
              <a:ahLst/>
              <a:cxnLst/>
              <a:rect l="l" t="t" r="r" b="b"/>
              <a:pathLst>
                <a:path w="9525" h="418147">
                  <a:moveTo>
                    <a:pt x="0" y="0"/>
                  </a:moveTo>
                  <a:lnTo>
                    <a:pt x="0" y="418147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7600950" y="4924425"/>
              <a:ext cx="9525" cy="418147"/>
            </a:xfrm>
            <a:custGeom>
              <a:avLst/>
              <a:gdLst/>
              <a:ahLst/>
              <a:cxnLst/>
              <a:rect l="l" t="t" r="r" b="b"/>
              <a:pathLst>
                <a:path w="9525" h="418147">
                  <a:moveTo>
                    <a:pt x="0" y="418147"/>
                  </a:moveTo>
                  <a:lnTo>
                    <a:pt x="953" y="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10306050" y="4924425"/>
              <a:ext cx="9525" cy="418147"/>
            </a:xfrm>
            <a:custGeom>
              <a:avLst/>
              <a:gdLst/>
              <a:ahLst/>
              <a:cxnLst/>
              <a:rect l="l" t="t" r="r" b="b"/>
              <a:pathLst>
                <a:path w="9525" h="418147">
                  <a:moveTo>
                    <a:pt x="0" y="418147"/>
                  </a:moveTo>
                  <a:lnTo>
                    <a:pt x="952" y="0"/>
                  </a:lnTo>
                </a:path>
              </a:pathLst>
            </a:custGeom>
            <a:noFill/>
            <a:ln w="20955">
              <a:solidFill>
                <a:srgbClr val="1F5FA8"/>
              </a:solidFill>
            </a:ln>
          </p:spPr>
        </p:sp>
        <p:sp>
          <p:nvSpPr>
            <p:cNvPr id="103" name="Ellipse 103"/>
            <p:cNvSpPr/>
            <p:nvPr/>
          </p:nvSpPr>
          <p:spPr>
            <a:xfrm>
              <a:off x="7591425" y="48958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10296525" y="48958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7592378" y="48958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10297478" y="48958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6477000" y="4752975"/>
              <a:ext cx="4953000" cy="304800"/>
            </a:xfrm>
            <a:prstGeom prst="roundRect">
              <a:avLst>
                <a:gd name="adj" fmla="val 31250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6600825" y="4144328"/>
              <a:ext cx="200025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9305925" y="4144328"/>
              <a:ext cx="200025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6600825" y="5342572"/>
              <a:ext cx="200025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9305925" y="5342572"/>
              <a:ext cx="200025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312087" y="48396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系统总线（底板上）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6732575" y="4240530"/>
              <a:ext cx="173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板（CPU、LM、IOC）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593961" y="424053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存储器板（存储单元）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6739882" y="5438775"/>
              <a:ext cx="17221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板（接磁盘、打印机）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735312" y="543877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通信板（接网络）</a:t>
              </a:r>
            </a:p>
          </p:txBody>
        </p:sp>
      </p:grpSp>
      <p:grpSp>
        <p:nvGrpSpPr>
          <p:cNvPr id="12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8" name="TextBox 118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09722" cy="909257"/>
            <a:chOff x="520446" y="342900"/>
            <a:chExt cx="81097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多处理机概述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097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PVP 与 SMP：处理器通过交叉开关或总线共享存储器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graph-1"/>
          <p:cNvGrpSpPr/>
          <p:nvPr/>
        </p:nvGrpSpPr>
        <p:grpSpPr>
          <a:xfrm>
            <a:off x="819150" y="1614488"/>
            <a:ext cx="4838700" cy="1628774"/>
            <a:chOff x="819150" y="1614488"/>
            <a:chExt cx="4838700" cy="1628774"/>
          </a:xfrm>
        </p:grpSpPr>
        <p:sp>
          <p:nvSpPr>
            <p:cNvPr id="7" name="Freeform 7"/>
            <p:cNvSpPr/>
            <p:nvPr/>
          </p:nvSpPr>
          <p:spPr>
            <a:xfrm>
              <a:off x="1290638" y="1976438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0"/>
                  </a:moveTo>
                  <a:lnTo>
                    <a:pt x="0" y="433388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35555" y="1976438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0"/>
                  </a:moveTo>
                  <a:lnTo>
                    <a:pt x="0" y="433388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186362" y="1976438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0"/>
                  </a:moveTo>
                  <a:lnTo>
                    <a:pt x="0" y="433388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15440" y="2447925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433388"/>
                  </a:moveTo>
                  <a:lnTo>
                    <a:pt x="952" y="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2447925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433388"/>
                  </a:moveTo>
                  <a:lnTo>
                    <a:pt x="953" y="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861560" y="2447925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433388"/>
                  </a:moveTo>
                  <a:lnTo>
                    <a:pt x="953" y="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281112" y="2419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526030" y="2419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176838" y="2419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606868" y="2419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229928" y="2419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852988" y="2419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9150" y="2266950"/>
              <a:ext cx="4838700" cy="323850"/>
            </a:xfrm>
            <a:prstGeom prst="roundRect">
              <a:avLst>
                <a:gd name="adj" fmla="val 29412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09638" y="1614488"/>
              <a:ext cx="7620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154555" y="1614488"/>
              <a:ext cx="7620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05362" y="1614488"/>
              <a:ext cx="7620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96340" y="2881312"/>
              <a:ext cx="838200" cy="361950"/>
            </a:xfrm>
            <a:prstGeom prst="roundRect">
              <a:avLst>
                <a:gd name="adj" fmla="val 2631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819400" y="2881312"/>
              <a:ext cx="838200" cy="361950"/>
            </a:xfrm>
            <a:prstGeom prst="roundRect">
              <a:avLst>
                <a:gd name="adj" fmla="val 2631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42460" y="2881312"/>
              <a:ext cx="838200" cy="361950"/>
            </a:xfrm>
            <a:prstGeom prst="roundRect">
              <a:avLst>
                <a:gd name="adj" fmla="val 2631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31236" y="23588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交叉开关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92922" y="172545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37839" y="172545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88647" y="172545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00997" y="299227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24057" y="299227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47117" y="299227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87962" y="165354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46" name="c1-bullets-2"/>
          <p:cNvGrpSpPr/>
          <p:nvPr/>
        </p:nvGrpSpPr>
        <p:grpSpPr>
          <a:xfrm>
            <a:off x="525780" y="3549015"/>
            <a:ext cx="5159883" cy="2066258"/>
            <a:chOff x="525780" y="3549015"/>
            <a:chExt cx="5159883" cy="2066258"/>
          </a:xfrm>
        </p:grpSpPr>
        <p:sp>
          <p:nvSpPr>
            <p:cNvPr id="35" name="TextBox 35"/>
            <p:cNvSpPr txBox="1"/>
            <p:nvPr/>
          </p:nvSpPr>
          <p:spPr>
            <a:xfrm>
              <a:off x="525780" y="3549015"/>
              <a:ext cx="3458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PVP（Parallel Vector Processor）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42925" y="395192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8373" y="3900011"/>
              <a:ext cx="49872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少量专门设计定制的高性能向量处理器 VP，每个至少 1 Gflops（每秒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10⁹ 次浮点运算）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42925" y="450056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8373" y="444865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存储器以兆字节每秒的速度向处理器提供数据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42925" y="480726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8373" y="4754404"/>
              <a:ext cx="35418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VP 与共享存储模块通过高带宽的交叉开关互连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42925" y="511302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8373" y="506015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通常不用高速缓存，而用大量向量寄存器和指令缓冲器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42925" y="541877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8373" y="5365909"/>
              <a:ext cx="34211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例：Cray C90、NEC SX-4、我国的银河 1 号</a:t>
              </a:r>
            </a:p>
          </p:txBody>
        </p:sp>
      </p:grpSp>
      <p:grpSp>
        <p:nvGrpSpPr>
          <p:cNvPr id="74" name="c2-graph-1"/>
          <p:cNvGrpSpPr/>
          <p:nvPr/>
        </p:nvGrpSpPr>
        <p:grpSpPr>
          <a:xfrm>
            <a:off x="6534150" y="1614488"/>
            <a:ext cx="4838700" cy="1628774"/>
            <a:chOff x="6534150" y="1614488"/>
            <a:chExt cx="4838700" cy="1628774"/>
          </a:xfrm>
        </p:grpSpPr>
        <p:sp>
          <p:nvSpPr>
            <p:cNvPr id="47" name="Freeform 47"/>
            <p:cNvSpPr/>
            <p:nvPr/>
          </p:nvSpPr>
          <p:spPr>
            <a:xfrm>
              <a:off x="7005638" y="1976438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0"/>
                  </a:moveTo>
                  <a:lnTo>
                    <a:pt x="0" y="433388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250555" y="1976438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0"/>
                  </a:moveTo>
                  <a:lnTo>
                    <a:pt x="0" y="433388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0901362" y="1976438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0"/>
                  </a:moveTo>
                  <a:lnTo>
                    <a:pt x="0" y="433388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330440" y="2447925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433388"/>
                  </a:moveTo>
                  <a:lnTo>
                    <a:pt x="953" y="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953500" y="2447925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433388"/>
                  </a:moveTo>
                  <a:lnTo>
                    <a:pt x="953" y="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576560" y="2447925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433388"/>
                  </a:moveTo>
                  <a:lnTo>
                    <a:pt x="952" y="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6996112" y="2419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8241030" y="2419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10891838" y="2419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7321868" y="2419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8944928" y="2419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10567988" y="24193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534150" y="2266950"/>
              <a:ext cx="4838700" cy="323850"/>
            </a:xfrm>
            <a:prstGeom prst="roundRect">
              <a:avLst>
                <a:gd name="adj" fmla="val 29412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24638" y="1614488"/>
              <a:ext cx="7620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869555" y="1614488"/>
              <a:ext cx="7620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520362" y="1614488"/>
              <a:ext cx="7620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911340" y="2881312"/>
              <a:ext cx="838200" cy="361950"/>
            </a:xfrm>
            <a:prstGeom prst="roundRect">
              <a:avLst>
                <a:gd name="adj" fmla="val 2631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8534400" y="2881312"/>
              <a:ext cx="838200" cy="361950"/>
            </a:xfrm>
            <a:prstGeom prst="roundRect">
              <a:avLst>
                <a:gd name="adj" fmla="val 2631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157460" y="2881312"/>
              <a:ext cx="838200" cy="361950"/>
            </a:xfrm>
            <a:prstGeom prst="roundRect">
              <a:avLst>
                <a:gd name="adj" fmla="val 2631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20075" y="235886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总线或交叉开关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61921" y="172545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06839" y="172545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757646" y="172545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215997" y="299227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SM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839057" y="299227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SM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437026" y="2992279"/>
              <a:ext cx="279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I/O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502962" y="165354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86" name="c2-bullets-2"/>
          <p:cNvGrpSpPr/>
          <p:nvPr/>
        </p:nvGrpSpPr>
        <p:grpSpPr>
          <a:xfrm>
            <a:off x="6240780" y="3549015"/>
            <a:ext cx="5208651" cy="2794921"/>
            <a:chOff x="6240780" y="3549015"/>
            <a:chExt cx="5208651" cy="2794921"/>
          </a:xfrm>
        </p:grpSpPr>
        <p:sp>
          <p:nvSpPr>
            <p:cNvPr id="75" name="TextBox 75"/>
            <p:cNvSpPr txBox="1"/>
            <p:nvPr/>
          </p:nvSpPr>
          <p:spPr>
            <a:xfrm>
              <a:off x="6240780" y="3549015"/>
              <a:ext cx="35608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SMP（Symmetric Multiprocessor）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257925" y="395192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413373" y="3900011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商品微处理器（片上或外置高速缓存），经高速总线或交叉开关连向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共享存储器和 I/O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257925" y="450056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413373" y="444865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主要用于商务：数据库、在线事务处理、数据仓库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257925" y="480726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413373" y="4754404"/>
              <a:ext cx="50360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：每个处理器可同等地访问共享存储器、I/O 和操作系统服务，因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而并行度较高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257925" y="53559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413373" y="5303044"/>
              <a:ext cx="50035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共享存储使处理器数不能太多（一般少于 64 个），总线和交叉开关做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成后也难扩展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6257925" y="590454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413373" y="5851684"/>
              <a:ext cx="49222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例：IBM R50、SGI Power Challenge、DEC Alpha 服务器 8400、曙光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号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59016" cy="909257"/>
            <a:chOff x="520446" y="342900"/>
            <a:chExt cx="95590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多处理机概述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590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MPP 与 DSM：每个结点有局部存储器，结点间用定制网络互连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graph-1"/>
          <p:cNvGrpSpPr/>
          <p:nvPr/>
        </p:nvGrpSpPr>
        <p:grpSpPr>
          <a:xfrm>
            <a:off x="794385" y="1617345"/>
            <a:ext cx="4888230" cy="1892617"/>
            <a:chOff x="794385" y="1617345"/>
            <a:chExt cx="4888230" cy="1892617"/>
          </a:xfrm>
        </p:grpSpPr>
        <p:sp>
          <p:nvSpPr>
            <p:cNvPr id="7" name="Freeform 7"/>
            <p:cNvSpPr/>
            <p:nvPr/>
          </p:nvSpPr>
          <p:spPr>
            <a:xfrm>
              <a:off x="822960" y="1626870"/>
              <a:ext cx="2017395" cy="9525"/>
            </a:xfrm>
            <a:custGeom>
              <a:avLst/>
              <a:gdLst/>
              <a:ahLst/>
              <a:cxnLst/>
              <a:rect l="l" t="t" r="r" b="b"/>
              <a:pathLst>
                <a:path w="2017395" h="9525">
                  <a:moveTo>
                    <a:pt x="0" y="0"/>
                  </a:moveTo>
                  <a:lnTo>
                    <a:pt x="2017395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2859405" y="1645920"/>
              <a:ext cx="9525" cy="1353502"/>
            </a:xfrm>
            <a:custGeom>
              <a:avLst/>
              <a:gdLst/>
              <a:ahLst/>
              <a:cxnLst/>
              <a:rect l="l" t="t" r="r" b="b"/>
              <a:pathLst>
                <a:path w="9525" h="1353502">
                  <a:moveTo>
                    <a:pt x="0" y="0"/>
                  </a:moveTo>
                  <a:lnTo>
                    <a:pt x="0" y="1353502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822960" y="3018472"/>
              <a:ext cx="2017395" cy="9525"/>
            </a:xfrm>
            <a:custGeom>
              <a:avLst/>
              <a:gdLst/>
              <a:ahLst/>
              <a:cxnLst/>
              <a:rect l="l" t="t" r="r" b="b"/>
              <a:pathLst>
                <a:path w="2017395" h="9525">
                  <a:moveTo>
                    <a:pt x="2017395" y="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803910" y="1645920"/>
              <a:ext cx="9525" cy="1353502"/>
            </a:xfrm>
            <a:custGeom>
              <a:avLst/>
              <a:gdLst/>
              <a:ahLst/>
              <a:cxnLst/>
              <a:rect l="l" t="t" r="r" b="b"/>
              <a:pathLst>
                <a:path w="9525" h="1353502">
                  <a:moveTo>
                    <a:pt x="0" y="1353502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1183005" y="1931670"/>
              <a:ext cx="9525" cy="822008"/>
            </a:xfrm>
            <a:custGeom>
              <a:avLst/>
              <a:gdLst/>
              <a:ahLst/>
              <a:cxnLst/>
              <a:rect l="l" t="t" r="r" b="b"/>
              <a:pathLst>
                <a:path w="9525" h="822008">
                  <a:moveTo>
                    <a:pt x="0" y="0"/>
                  </a:moveTo>
                  <a:lnTo>
                    <a:pt x="0" y="822008"/>
                  </a:lnTo>
                </a:path>
              </a:pathLst>
            </a:custGeom>
            <a:noFill/>
            <a:ln w="3048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02055" y="1912620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202055" y="2343150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202055" y="2772728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994535" y="2915602"/>
              <a:ext cx="9525" cy="432435"/>
            </a:xfrm>
            <a:custGeom>
              <a:avLst/>
              <a:gdLst/>
              <a:ahLst/>
              <a:cxnLst/>
              <a:rect l="l" t="t" r="r" b="b"/>
              <a:pathLst>
                <a:path w="9525" h="432435">
                  <a:moveTo>
                    <a:pt x="0" y="0"/>
                  </a:moveTo>
                  <a:lnTo>
                    <a:pt x="0" y="432435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636645" y="1626870"/>
              <a:ext cx="2017395" cy="9525"/>
            </a:xfrm>
            <a:custGeom>
              <a:avLst/>
              <a:gdLst/>
              <a:ahLst/>
              <a:cxnLst/>
              <a:rect l="l" t="t" r="r" b="b"/>
              <a:pathLst>
                <a:path w="2017395" h="9525">
                  <a:moveTo>
                    <a:pt x="0" y="0"/>
                  </a:moveTo>
                  <a:lnTo>
                    <a:pt x="2017395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5673090" y="1645920"/>
              <a:ext cx="9525" cy="1353502"/>
            </a:xfrm>
            <a:custGeom>
              <a:avLst/>
              <a:gdLst/>
              <a:ahLst/>
              <a:cxnLst/>
              <a:rect l="l" t="t" r="r" b="b"/>
              <a:pathLst>
                <a:path w="9525" h="1353502">
                  <a:moveTo>
                    <a:pt x="0" y="0"/>
                  </a:moveTo>
                  <a:lnTo>
                    <a:pt x="0" y="1353502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3636645" y="3018472"/>
              <a:ext cx="2017395" cy="9525"/>
            </a:xfrm>
            <a:custGeom>
              <a:avLst/>
              <a:gdLst/>
              <a:ahLst/>
              <a:cxnLst/>
              <a:rect l="l" t="t" r="r" b="b"/>
              <a:pathLst>
                <a:path w="2017395" h="9525">
                  <a:moveTo>
                    <a:pt x="2017395" y="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3617595" y="1645920"/>
              <a:ext cx="9525" cy="1353502"/>
            </a:xfrm>
            <a:custGeom>
              <a:avLst/>
              <a:gdLst/>
              <a:ahLst/>
              <a:cxnLst/>
              <a:rect l="l" t="t" r="r" b="b"/>
              <a:pathLst>
                <a:path w="9525" h="1353502">
                  <a:moveTo>
                    <a:pt x="0" y="1353502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3995738" y="1931670"/>
              <a:ext cx="9525" cy="822008"/>
            </a:xfrm>
            <a:custGeom>
              <a:avLst/>
              <a:gdLst/>
              <a:ahLst/>
              <a:cxnLst/>
              <a:rect l="l" t="t" r="r" b="b"/>
              <a:pathLst>
                <a:path w="9525" h="822008">
                  <a:moveTo>
                    <a:pt x="0" y="0"/>
                  </a:moveTo>
                  <a:lnTo>
                    <a:pt x="0" y="822008"/>
                  </a:lnTo>
                </a:path>
              </a:pathLst>
            </a:custGeom>
            <a:noFill/>
            <a:ln w="3048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014788" y="1912620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014788" y="2343150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014788" y="2772728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807268" y="2915602"/>
              <a:ext cx="9525" cy="432435"/>
            </a:xfrm>
            <a:custGeom>
              <a:avLst/>
              <a:gdLst/>
              <a:ahLst/>
              <a:cxnLst/>
              <a:rect l="l" t="t" r="r" b="b"/>
              <a:pathLst>
                <a:path w="9525" h="432435">
                  <a:moveTo>
                    <a:pt x="0" y="0"/>
                  </a:moveTo>
                  <a:lnTo>
                    <a:pt x="0" y="432435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794385" y="161734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849880" y="161734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849880" y="3008948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94385" y="3008948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73480" y="190309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173480" y="276320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537335" y="1769745"/>
              <a:ext cx="914400" cy="2857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537335" y="2200275"/>
              <a:ext cx="914400" cy="2857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73480" y="23336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537335" y="2629852"/>
              <a:ext cx="914400" cy="2857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3608070" y="161734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663565" y="161734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663565" y="3008948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608070" y="3008948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986212" y="190309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986212" y="276320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350068" y="1769745"/>
              <a:ext cx="914400" cy="2857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350068" y="2200275"/>
              <a:ext cx="914400" cy="2857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3986212" y="23336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350068" y="2629852"/>
              <a:ext cx="914400" cy="2857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985010" y="335756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4797742" y="335756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66775" y="3224212"/>
              <a:ext cx="4743450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859825" y="1847850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887268" y="227742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LM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879427" y="2707958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672557" y="1847850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00001" y="227742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LM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692160" y="2707958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50464" y="330136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定制网络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88504" y="164449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801237" y="164449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MB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165980" y="177641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70" name="c1-bullets-2"/>
          <p:cNvGrpSpPr/>
          <p:nvPr/>
        </p:nvGrpSpPr>
        <p:grpSpPr>
          <a:xfrm>
            <a:off x="525780" y="3787140"/>
            <a:ext cx="5065784" cy="1823370"/>
            <a:chOff x="525780" y="3787140"/>
            <a:chExt cx="5065784" cy="1823370"/>
          </a:xfrm>
        </p:grpSpPr>
        <p:sp>
          <p:nvSpPr>
            <p:cNvPr id="59" name="TextBox 59"/>
            <p:cNvSpPr txBox="1"/>
            <p:nvPr/>
          </p:nvSpPr>
          <p:spPr>
            <a:xfrm>
              <a:off x="525780" y="3787140"/>
              <a:ext cx="37892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MPP（Massively Parallel Processor）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42925" y="419004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8373" y="4138136"/>
              <a:ext cx="323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结点用商品微处理器，各有局部存储器 LM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42925" y="449580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8373" y="444388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定制的高带宽、低延迟网络互连，可扩放到上万个处理器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542925" y="48025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8373" y="4749641"/>
              <a:ext cx="44586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 MIMD：多个进程各有私有地址空间，靠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传递消息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42925" y="510825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8373" y="505539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主要用于科学计算、工程模拟、信号处理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42925" y="541401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8373" y="5361146"/>
              <a:ext cx="4893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例：Intel Paragon、Cray T3E、Intel Option Red、曙光-1000</a:t>
              </a:r>
            </a:p>
          </p:txBody>
        </p:sp>
      </p:grpSp>
      <p:grpSp>
        <p:nvGrpSpPr>
          <p:cNvPr id="135" name="c2-graph-1"/>
          <p:cNvGrpSpPr/>
          <p:nvPr/>
        </p:nvGrpSpPr>
        <p:grpSpPr>
          <a:xfrm>
            <a:off x="6509385" y="1617345"/>
            <a:ext cx="4888230" cy="1912620"/>
            <a:chOff x="6509385" y="1617345"/>
            <a:chExt cx="4888230" cy="1912620"/>
          </a:xfrm>
        </p:grpSpPr>
        <p:sp>
          <p:nvSpPr>
            <p:cNvPr id="71" name="Freeform 71"/>
            <p:cNvSpPr/>
            <p:nvPr/>
          </p:nvSpPr>
          <p:spPr>
            <a:xfrm>
              <a:off x="6537960" y="1626870"/>
              <a:ext cx="2017395" cy="9525"/>
            </a:xfrm>
            <a:custGeom>
              <a:avLst/>
              <a:gdLst/>
              <a:ahLst/>
              <a:cxnLst/>
              <a:rect l="l" t="t" r="r" b="b"/>
              <a:pathLst>
                <a:path w="2017395" h="9525">
                  <a:moveTo>
                    <a:pt x="0" y="0"/>
                  </a:moveTo>
                  <a:lnTo>
                    <a:pt x="2017395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72" name="Freeform 72"/>
            <p:cNvSpPr/>
            <p:nvPr/>
          </p:nvSpPr>
          <p:spPr>
            <a:xfrm>
              <a:off x="8574405" y="1645920"/>
              <a:ext cx="9525" cy="1436370"/>
            </a:xfrm>
            <a:custGeom>
              <a:avLst/>
              <a:gdLst/>
              <a:ahLst/>
              <a:cxnLst/>
              <a:rect l="l" t="t" r="r" b="b"/>
              <a:pathLst>
                <a:path w="9525" h="1436370">
                  <a:moveTo>
                    <a:pt x="0" y="0"/>
                  </a:moveTo>
                  <a:lnTo>
                    <a:pt x="0" y="143637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73" name="Freeform 73"/>
            <p:cNvSpPr/>
            <p:nvPr/>
          </p:nvSpPr>
          <p:spPr>
            <a:xfrm>
              <a:off x="6537960" y="3101340"/>
              <a:ext cx="2017395" cy="9525"/>
            </a:xfrm>
            <a:custGeom>
              <a:avLst/>
              <a:gdLst/>
              <a:ahLst/>
              <a:cxnLst/>
              <a:rect l="l" t="t" r="r" b="b"/>
              <a:pathLst>
                <a:path w="2017395" h="9525">
                  <a:moveTo>
                    <a:pt x="2017395" y="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74" name="Freeform 74"/>
            <p:cNvSpPr/>
            <p:nvPr/>
          </p:nvSpPr>
          <p:spPr>
            <a:xfrm>
              <a:off x="6518910" y="1645920"/>
              <a:ext cx="9525" cy="1436370"/>
            </a:xfrm>
            <a:custGeom>
              <a:avLst/>
              <a:gdLst/>
              <a:ahLst/>
              <a:cxnLst/>
              <a:rect l="l" t="t" r="r" b="b"/>
              <a:pathLst>
                <a:path w="9525" h="1436370">
                  <a:moveTo>
                    <a:pt x="0" y="143637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75" name="Freeform 75"/>
            <p:cNvSpPr/>
            <p:nvPr/>
          </p:nvSpPr>
          <p:spPr>
            <a:xfrm>
              <a:off x="6898005" y="1870710"/>
              <a:ext cx="9525" cy="1006793"/>
            </a:xfrm>
            <a:custGeom>
              <a:avLst/>
              <a:gdLst/>
              <a:ahLst/>
              <a:cxnLst/>
              <a:rect l="l" t="t" r="r" b="b"/>
              <a:pathLst>
                <a:path w="9525" h="1006793">
                  <a:moveTo>
                    <a:pt x="0" y="0"/>
                  </a:moveTo>
                  <a:lnTo>
                    <a:pt x="0" y="1006793"/>
                  </a:lnTo>
                </a:path>
              </a:pathLst>
            </a:custGeom>
            <a:noFill/>
            <a:ln w="30480">
              <a:solidFill>
                <a:srgbClr val="1F2937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6917055" y="1851660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6917055" y="2199322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6917055" y="2547938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6917055" y="2896552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7709535" y="3039428"/>
              <a:ext cx="9525" cy="328612"/>
            </a:xfrm>
            <a:custGeom>
              <a:avLst/>
              <a:gdLst/>
              <a:ahLst/>
              <a:cxnLst/>
              <a:rect l="l" t="t" r="r" b="b"/>
              <a:pathLst>
                <a:path w="9525" h="328612">
                  <a:moveTo>
                    <a:pt x="0" y="0"/>
                  </a:moveTo>
                  <a:lnTo>
                    <a:pt x="0" y="328612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9351645" y="1626870"/>
              <a:ext cx="2017395" cy="9525"/>
            </a:xfrm>
            <a:custGeom>
              <a:avLst/>
              <a:gdLst/>
              <a:ahLst/>
              <a:cxnLst/>
              <a:rect l="l" t="t" r="r" b="b"/>
              <a:pathLst>
                <a:path w="2017395" h="9525">
                  <a:moveTo>
                    <a:pt x="0" y="0"/>
                  </a:moveTo>
                  <a:lnTo>
                    <a:pt x="2017395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82" name="Freeform 82"/>
            <p:cNvSpPr/>
            <p:nvPr/>
          </p:nvSpPr>
          <p:spPr>
            <a:xfrm>
              <a:off x="11388090" y="1645920"/>
              <a:ext cx="9525" cy="1436370"/>
            </a:xfrm>
            <a:custGeom>
              <a:avLst/>
              <a:gdLst/>
              <a:ahLst/>
              <a:cxnLst/>
              <a:rect l="l" t="t" r="r" b="b"/>
              <a:pathLst>
                <a:path w="9525" h="1436370">
                  <a:moveTo>
                    <a:pt x="0" y="0"/>
                  </a:moveTo>
                  <a:lnTo>
                    <a:pt x="0" y="143637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83" name="Freeform 83"/>
            <p:cNvSpPr/>
            <p:nvPr/>
          </p:nvSpPr>
          <p:spPr>
            <a:xfrm>
              <a:off x="9351645" y="3101340"/>
              <a:ext cx="2017395" cy="9525"/>
            </a:xfrm>
            <a:custGeom>
              <a:avLst/>
              <a:gdLst/>
              <a:ahLst/>
              <a:cxnLst/>
              <a:rect l="l" t="t" r="r" b="b"/>
              <a:pathLst>
                <a:path w="2017395" h="9525">
                  <a:moveTo>
                    <a:pt x="2017395" y="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84" name="Freeform 84"/>
            <p:cNvSpPr/>
            <p:nvPr/>
          </p:nvSpPr>
          <p:spPr>
            <a:xfrm>
              <a:off x="9332595" y="1645920"/>
              <a:ext cx="9525" cy="1436370"/>
            </a:xfrm>
            <a:custGeom>
              <a:avLst/>
              <a:gdLst/>
              <a:ahLst/>
              <a:cxnLst/>
              <a:rect l="l" t="t" r="r" b="b"/>
              <a:pathLst>
                <a:path w="9525" h="1436370">
                  <a:moveTo>
                    <a:pt x="0" y="143637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85" name="Freeform 85"/>
            <p:cNvSpPr/>
            <p:nvPr/>
          </p:nvSpPr>
          <p:spPr>
            <a:xfrm>
              <a:off x="9710738" y="1870710"/>
              <a:ext cx="9525" cy="1006793"/>
            </a:xfrm>
            <a:custGeom>
              <a:avLst/>
              <a:gdLst/>
              <a:ahLst/>
              <a:cxnLst/>
              <a:rect l="l" t="t" r="r" b="b"/>
              <a:pathLst>
                <a:path w="9525" h="1006793">
                  <a:moveTo>
                    <a:pt x="0" y="0"/>
                  </a:moveTo>
                  <a:lnTo>
                    <a:pt x="0" y="1006793"/>
                  </a:lnTo>
                </a:path>
              </a:pathLst>
            </a:custGeom>
            <a:noFill/>
            <a:ln w="30480">
              <a:solidFill>
                <a:srgbClr val="1F2937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9729788" y="1851660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9729788" y="2199322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9729788" y="2547938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9729788" y="2896552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10522268" y="3039428"/>
              <a:ext cx="9525" cy="328612"/>
            </a:xfrm>
            <a:custGeom>
              <a:avLst/>
              <a:gdLst/>
              <a:ahLst/>
              <a:cxnLst/>
              <a:rect l="l" t="t" r="r" b="b"/>
              <a:pathLst>
                <a:path w="9525" h="328612">
                  <a:moveTo>
                    <a:pt x="0" y="0"/>
                  </a:moveTo>
                  <a:lnTo>
                    <a:pt x="0" y="328612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8261985" y="2199322"/>
              <a:ext cx="1707833" cy="9525"/>
            </a:xfrm>
            <a:custGeom>
              <a:avLst/>
              <a:gdLst/>
              <a:ahLst/>
              <a:cxnLst/>
              <a:rect l="l" t="t" r="r" b="b"/>
              <a:pathLst>
                <a:path w="1707833" h="9525">
                  <a:moveTo>
                    <a:pt x="0" y="0"/>
                  </a:moveTo>
                  <a:lnTo>
                    <a:pt x="1707833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  <a:custDash>
                <a:ds d="300000" sp="200000"/>
              </a:custDash>
            </a:ln>
          </p:spPr>
        </p:sp>
        <p:sp>
          <p:nvSpPr>
            <p:cNvPr id="92" name="Freeform 92"/>
            <p:cNvSpPr/>
            <p:nvPr/>
          </p:nvSpPr>
          <p:spPr>
            <a:xfrm>
              <a:off x="9969818" y="21516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93" name="Freeform 93"/>
            <p:cNvSpPr/>
            <p:nvPr/>
          </p:nvSpPr>
          <p:spPr>
            <a:xfrm>
              <a:off x="8166735" y="21516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6509385" y="161734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8564880" y="161734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8564880" y="309181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6509385" y="309181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6888480" y="184213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6888480" y="2887028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252335" y="1708785"/>
              <a:ext cx="914400" cy="2857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7252335" y="2056448"/>
              <a:ext cx="914400" cy="285750"/>
            </a:xfrm>
            <a:prstGeom prst="roundRect">
              <a:avLst>
                <a:gd name="adj" fmla="val 3333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02" name="Ellipse 102"/>
            <p:cNvSpPr/>
            <p:nvPr/>
          </p:nvSpPr>
          <p:spPr>
            <a:xfrm>
              <a:off x="6888480" y="2189798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7252335" y="2405062"/>
              <a:ext cx="914400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04" name="Ellipse 104"/>
            <p:cNvSpPr/>
            <p:nvPr/>
          </p:nvSpPr>
          <p:spPr>
            <a:xfrm>
              <a:off x="6888480" y="253841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7252335" y="2753678"/>
              <a:ext cx="914400" cy="2857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06" name="Ellipse 106"/>
            <p:cNvSpPr/>
            <p:nvPr/>
          </p:nvSpPr>
          <p:spPr>
            <a:xfrm>
              <a:off x="9323070" y="161734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11378565" y="161734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11378565" y="309181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9323070" y="309181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9701212" y="184213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9701212" y="2887028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0065068" y="1708785"/>
              <a:ext cx="914400" cy="2857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10065068" y="2056448"/>
              <a:ext cx="914400" cy="285750"/>
            </a:xfrm>
            <a:prstGeom prst="roundRect">
              <a:avLst>
                <a:gd name="adj" fmla="val 3333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14" name="Ellipse 114"/>
            <p:cNvSpPr/>
            <p:nvPr/>
          </p:nvSpPr>
          <p:spPr>
            <a:xfrm>
              <a:off x="9701212" y="2189798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10065068" y="2405062"/>
              <a:ext cx="914400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16" name="Ellipse 116"/>
            <p:cNvSpPr/>
            <p:nvPr/>
          </p:nvSpPr>
          <p:spPr>
            <a:xfrm>
              <a:off x="9701212" y="253841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10065068" y="2753678"/>
              <a:ext cx="914400" cy="2857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18" name="Ellipse 118"/>
            <p:cNvSpPr/>
            <p:nvPr/>
          </p:nvSpPr>
          <p:spPr>
            <a:xfrm>
              <a:off x="7700010" y="337756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10512742" y="337756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6581775" y="3244215"/>
              <a:ext cx="4743450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7574825" y="178593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602268" y="213455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LM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7594427" y="2482215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DIR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594427" y="2830830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NIC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0387557" y="1785938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0415001" y="213455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LM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0407160" y="2482215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DIR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0407160" y="2830830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NIC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8665464" y="332232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定制网络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8869680" y="2121218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8889886" y="215026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统一编址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6703504" y="164449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MB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9516237" y="164449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MB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8880980" y="171450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145" name="c2-bullets-2"/>
          <p:cNvGrpSpPr/>
          <p:nvPr/>
        </p:nvGrpSpPr>
        <p:grpSpPr>
          <a:xfrm>
            <a:off x="6240780" y="3787140"/>
            <a:ext cx="5354955" cy="1517618"/>
            <a:chOff x="6240780" y="3787140"/>
            <a:chExt cx="5354955" cy="1517618"/>
          </a:xfrm>
        </p:grpSpPr>
        <p:sp>
          <p:nvSpPr>
            <p:cNvPr id="136" name="TextBox 136"/>
            <p:cNvSpPr txBox="1"/>
            <p:nvPr/>
          </p:nvSpPr>
          <p:spPr>
            <a:xfrm>
              <a:off x="6240780" y="3787140"/>
              <a:ext cx="36422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DSM（Distributed Shared Memory）</a:t>
              </a:r>
            </a:p>
          </p:txBody>
        </p:sp>
        <p:sp>
          <p:nvSpPr>
            <p:cNvPr id="137" name="Ellipse 137"/>
            <p:cNvSpPr/>
            <p:nvPr/>
          </p:nvSpPr>
          <p:spPr>
            <a:xfrm>
              <a:off x="6257925" y="419004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6413373" y="4138136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存储器物理上分布在各结点，软硬件提供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逻辑上单一地址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的编程空间</a:t>
              </a:r>
            </a:p>
          </p:txBody>
        </p:sp>
        <p:sp>
          <p:nvSpPr>
            <p:cNvPr id="139" name="Ellipse 139"/>
            <p:cNvSpPr/>
            <p:nvPr/>
          </p:nvSpPr>
          <p:spPr>
            <a:xfrm>
              <a:off x="6257925" y="449580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6413373" y="4443889"/>
              <a:ext cx="36510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高速缓存目录 DIR 支持分布式高速缓存的一致性</a:t>
              </a:r>
            </a:p>
          </p:txBody>
        </p:sp>
        <p:sp>
          <p:nvSpPr>
            <p:cNvPr id="141" name="Ellipse 141"/>
            <p:cNvSpPr/>
            <p:nvPr/>
          </p:nvSpPr>
          <p:spPr>
            <a:xfrm>
              <a:off x="6257925" y="48025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6413373" y="4749641"/>
              <a:ext cx="23544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 MPP 的优点：编程较容易</a:t>
              </a:r>
            </a:p>
          </p:txBody>
        </p:sp>
        <p:sp>
          <p:nvSpPr>
            <p:cNvPr id="143" name="Ellipse 143"/>
            <p:cNvSpPr/>
            <p:nvPr/>
          </p:nvSpPr>
          <p:spPr>
            <a:xfrm>
              <a:off x="6257925" y="510825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6413373" y="5055394"/>
              <a:ext cx="44064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例：Stanford DASH、Cray T3D、SGI/Cray Origin 2000</a:t>
              </a:r>
            </a:p>
          </p:txBody>
        </p:sp>
      </p:grpSp>
      <p:grpSp>
        <p:nvGrpSpPr>
          <p:cNvPr id="152" name="c2-callout-3"/>
          <p:cNvGrpSpPr/>
          <p:nvPr/>
        </p:nvGrpSpPr>
        <p:grpSpPr>
          <a:xfrm>
            <a:off x="6248400" y="5445442"/>
            <a:ext cx="5410200" cy="782955"/>
            <a:chOff x="6248400" y="5445442"/>
            <a:chExt cx="5410200" cy="782955"/>
          </a:xfrm>
        </p:grpSpPr>
        <p:sp>
          <p:nvSpPr>
            <p:cNvPr id="146" name="Rectangle 146"/>
            <p:cNvSpPr/>
            <p:nvPr/>
          </p:nvSpPr>
          <p:spPr>
            <a:xfrm>
              <a:off x="6248400" y="544544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0" name="Group 150"/>
            <p:cNvGrpSpPr/>
            <p:nvPr/>
          </p:nvGrpSpPr>
          <p:grpSpPr>
            <a:xfrm>
              <a:off x="6453188" y="5736908"/>
              <a:ext cx="200026" cy="200026"/>
              <a:chOff x="6453188" y="5736908"/>
              <a:chExt cx="200026" cy="200026"/>
            </a:xfrm>
          </p:grpSpPr>
          <p:sp>
            <p:nvSpPr>
              <p:cNvPr id="147" name="Freeform 147"/>
              <p:cNvSpPr/>
              <p:nvPr/>
            </p:nvSpPr>
            <p:spPr>
              <a:xfrm>
                <a:off x="6453188" y="57369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8" name="Freeform 148"/>
              <p:cNvSpPr/>
              <p:nvPr/>
            </p:nvSpPr>
            <p:spPr>
              <a:xfrm>
                <a:off x="6553200" y="58035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9" name="Freeform 149"/>
              <p:cNvSpPr/>
              <p:nvPr/>
            </p:nvSpPr>
            <p:spPr>
              <a:xfrm>
                <a:off x="6542088" y="58369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51" name="TextBox 151"/>
            <p:cNvSpPr txBox="1"/>
            <p:nvPr/>
          </p:nvSpPr>
          <p:spPr>
            <a:xfrm>
              <a:off x="6755130" y="5594032"/>
              <a:ext cx="4453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 MB 为存储总线，P/C 为处理器及其 Cache，NIC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为网络接口。</a:t>
              </a:r>
            </a:p>
          </p:txBody>
        </p:sp>
      </p:grpSp>
      <p:grpSp>
        <p:nvGrpSpPr>
          <p:cNvPr id="1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3" name="TextBox 153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42423" cy="909257"/>
            <a:chOff x="520446" y="342900"/>
            <a:chExt cx="66424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多处理机概述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424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COW：用商品网络把完整的工作站连成集群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5" name="c1-graph-1"/>
          <p:cNvGrpSpPr/>
          <p:nvPr/>
        </p:nvGrpSpPr>
        <p:grpSpPr>
          <a:xfrm>
            <a:off x="660082" y="1640205"/>
            <a:ext cx="4291013" cy="2918460"/>
            <a:chOff x="660082" y="1640205"/>
            <a:chExt cx="4291013" cy="2918460"/>
          </a:xfrm>
        </p:grpSpPr>
        <p:sp>
          <p:nvSpPr>
            <p:cNvPr id="7" name="Freeform 7"/>
            <p:cNvSpPr/>
            <p:nvPr/>
          </p:nvSpPr>
          <p:spPr>
            <a:xfrm>
              <a:off x="688658" y="1649730"/>
              <a:ext cx="1961197" cy="9525"/>
            </a:xfrm>
            <a:custGeom>
              <a:avLst/>
              <a:gdLst/>
              <a:ahLst/>
              <a:cxnLst/>
              <a:rect l="l" t="t" r="r" b="b"/>
              <a:pathLst>
                <a:path w="1961197" h="9525">
                  <a:moveTo>
                    <a:pt x="0" y="0"/>
                  </a:moveTo>
                  <a:lnTo>
                    <a:pt x="1961197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2668905" y="1668780"/>
              <a:ext cx="9525" cy="2350770"/>
            </a:xfrm>
            <a:custGeom>
              <a:avLst/>
              <a:gdLst/>
              <a:ahLst/>
              <a:cxnLst/>
              <a:rect l="l" t="t" r="r" b="b"/>
              <a:pathLst>
                <a:path w="9525" h="2350770">
                  <a:moveTo>
                    <a:pt x="0" y="0"/>
                  </a:moveTo>
                  <a:lnTo>
                    <a:pt x="0" y="235077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688658" y="4038600"/>
              <a:ext cx="1961197" cy="9525"/>
            </a:xfrm>
            <a:custGeom>
              <a:avLst/>
              <a:gdLst/>
              <a:ahLst/>
              <a:cxnLst/>
              <a:rect l="l" t="t" r="r" b="b"/>
              <a:pathLst>
                <a:path w="1961197" h="9525">
                  <a:moveTo>
                    <a:pt x="1961197" y="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669608" y="1668780"/>
              <a:ext cx="9525" cy="2350770"/>
            </a:xfrm>
            <a:custGeom>
              <a:avLst/>
              <a:gdLst/>
              <a:ahLst/>
              <a:cxnLst/>
              <a:rect l="l" t="t" r="r" b="b"/>
              <a:pathLst>
                <a:path w="9525" h="2350770">
                  <a:moveTo>
                    <a:pt x="0" y="235077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942022" y="2014538"/>
              <a:ext cx="9525" cy="842010"/>
            </a:xfrm>
            <a:custGeom>
              <a:avLst/>
              <a:gdLst/>
              <a:ahLst/>
              <a:cxnLst/>
              <a:rect l="l" t="t" r="r" b="b"/>
              <a:pathLst>
                <a:path w="9525" h="842010">
                  <a:moveTo>
                    <a:pt x="0" y="0"/>
                  </a:moveTo>
                  <a:lnTo>
                    <a:pt x="0" y="842010"/>
                  </a:lnTo>
                </a:path>
              </a:pathLst>
            </a:custGeom>
            <a:noFill/>
            <a:ln w="3048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61072" y="1995488"/>
              <a:ext cx="563880" cy="9525"/>
            </a:xfrm>
            <a:custGeom>
              <a:avLst/>
              <a:gdLst/>
              <a:ahLst/>
              <a:cxnLst/>
              <a:rect l="l" t="t" r="r" b="b"/>
              <a:pathLst>
                <a:path w="563880" h="9525">
                  <a:moveTo>
                    <a:pt x="0" y="0"/>
                  </a:moveTo>
                  <a:lnTo>
                    <a:pt x="5638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961072" y="2435542"/>
              <a:ext cx="563880" cy="9525"/>
            </a:xfrm>
            <a:custGeom>
              <a:avLst/>
              <a:gdLst/>
              <a:ahLst/>
              <a:cxnLst/>
              <a:rect l="l" t="t" r="r" b="b"/>
              <a:pathLst>
                <a:path w="563880" h="9525">
                  <a:moveTo>
                    <a:pt x="0" y="0"/>
                  </a:moveTo>
                  <a:lnTo>
                    <a:pt x="5638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61072" y="2875598"/>
              <a:ext cx="563880" cy="9525"/>
            </a:xfrm>
            <a:custGeom>
              <a:avLst/>
              <a:gdLst/>
              <a:ahLst/>
              <a:cxnLst/>
              <a:rect l="l" t="t" r="r" b="b"/>
              <a:pathLst>
                <a:path w="563880" h="9525">
                  <a:moveTo>
                    <a:pt x="0" y="0"/>
                  </a:moveTo>
                  <a:lnTo>
                    <a:pt x="5638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896428" y="3008948"/>
              <a:ext cx="9525" cy="256223"/>
            </a:xfrm>
            <a:custGeom>
              <a:avLst/>
              <a:gdLst/>
              <a:ahLst/>
              <a:cxnLst/>
              <a:rect l="l" t="t" r="r" b="b"/>
              <a:pathLst>
                <a:path w="9525" h="256223">
                  <a:moveTo>
                    <a:pt x="0" y="0"/>
                  </a:moveTo>
                  <a:lnTo>
                    <a:pt x="0" y="256223"/>
                  </a:lnTo>
                </a:path>
              </a:pathLst>
            </a:custGeom>
            <a:noFill/>
            <a:ln w="3048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896428" y="3303270"/>
              <a:ext cx="9525" cy="256222"/>
            </a:xfrm>
            <a:custGeom>
              <a:avLst/>
              <a:gdLst/>
              <a:ahLst/>
              <a:cxnLst/>
              <a:rect l="l" t="t" r="r" b="b"/>
              <a:pathLst>
                <a:path w="9525" h="256222">
                  <a:moveTo>
                    <a:pt x="0" y="0"/>
                  </a:moveTo>
                  <a:lnTo>
                    <a:pt x="0" y="256222"/>
                  </a:lnTo>
                </a:path>
              </a:pathLst>
            </a:custGeom>
            <a:noFill/>
            <a:ln w="3048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223962" y="3284220"/>
              <a:ext cx="653415" cy="9525"/>
            </a:xfrm>
            <a:custGeom>
              <a:avLst/>
              <a:gdLst/>
              <a:ahLst/>
              <a:cxnLst/>
              <a:rect l="l" t="t" r="r" b="b"/>
              <a:pathLst>
                <a:path w="653415" h="9525">
                  <a:moveTo>
                    <a:pt x="0" y="0"/>
                  </a:moveTo>
                  <a:lnTo>
                    <a:pt x="6534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896428" y="3826192"/>
              <a:ext cx="9525" cy="570548"/>
            </a:xfrm>
            <a:custGeom>
              <a:avLst/>
              <a:gdLst/>
              <a:ahLst/>
              <a:cxnLst/>
              <a:rect l="l" t="t" r="r" b="b"/>
              <a:pathLst>
                <a:path w="9525" h="570548">
                  <a:moveTo>
                    <a:pt x="0" y="0"/>
                  </a:moveTo>
                  <a:lnTo>
                    <a:pt x="0" y="570548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961322" y="1649730"/>
              <a:ext cx="1961197" cy="9525"/>
            </a:xfrm>
            <a:custGeom>
              <a:avLst/>
              <a:gdLst/>
              <a:ahLst/>
              <a:cxnLst/>
              <a:rect l="l" t="t" r="r" b="b"/>
              <a:pathLst>
                <a:path w="1961197" h="9525">
                  <a:moveTo>
                    <a:pt x="0" y="0"/>
                  </a:moveTo>
                  <a:lnTo>
                    <a:pt x="1961197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4941570" y="1668780"/>
              <a:ext cx="9525" cy="2350770"/>
            </a:xfrm>
            <a:custGeom>
              <a:avLst/>
              <a:gdLst/>
              <a:ahLst/>
              <a:cxnLst/>
              <a:rect l="l" t="t" r="r" b="b"/>
              <a:pathLst>
                <a:path w="9525" h="2350770">
                  <a:moveTo>
                    <a:pt x="0" y="0"/>
                  </a:moveTo>
                  <a:lnTo>
                    <a:pt x="0" y="235077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21" name="Freeform 21"/>
            <p:cNvSpPr/>
            <p:nvPr/>
          </p:nvSpPr>
          <p:spPr>
            <a:xfrm>
              <a:off x="2961322" y="4038600"/>
              <a:ext cx="1961197" cy="9525"/>
            </a:xfrm>
            <a:custGeom>
              <a:avLst/>
              <a:gdLst/>
              <a:ahLst/>
              <a:cxnLst/>
              <a:rect l="l" t="t" r="r" b="b"/>
              <a:pathLst>
                <a:path w="1961197" h="9525">
                  <a:moveTo>
                    <a:pt x="1961197" y="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2942272" y="1668780"/>
              <a:ext cx="9525" cy="2350770"/>
            </a:xfrm>
            <a:custGeom>
              <a:avLst/>
              <a:gdLst/>
              <a:ahLst/>
              <a:cxnLst/>
              <a:rect l="l" t="t" r="r" b="b"/>
              <a:pathLst>
                <a:path w="9525" h="2350770">
                  <a:moveTo>
                    <a:pt x="0" y="2350770"/>
                  </a:moveTo>
                  <a:lnTo>
                    <a:pt x="0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  <a:custDash>
                <a:ds d="428571" sp="285714"/>
              </a:custDash>
            </a:ln>
          </p:spPr>
        </p:sp>
        <p:sp>
          <p:nvSpPr>
            <p:cNvPr id="23" name="Freeform 23"/>
            <p:cNvSpPr/>
            <p:nvPr/>
          </p:nvSpPr>
          <p:spPr>
            <a:xfrm>
              <a:off x="3214688" y="2014538"/>
              <a:ext cx="9525" cy="842010"/>
            </a:xfrm>
            <a:custGeom>
              <a:avLst/>
              <a:gdLst/>
              <a:ahLst/>
              <a:cxnLst/>
              <a:rect l="l" t="t" r="r" b="b"/>
              <a:pathLst>
                <a:path w="9525" h="842010">
                  <a:moveTo>
                    <a:pt x="0" y="0"/>
                  </a:moveTo>
                  <a:lnTo>
                    <a:pt x="0" y="842010"/>
                  </a:lnTo>
                </a:path>
              </a:pathLst>
            </a:custGeom>
            <a:noFill/>
            <a:ln w="30480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233738" y="1995488"/>
              <a:ext cx="563880" cy="9525"/>
            </a:xfrm>
            <a:custGeom>
              <a:avLst/>
              <a:gdLst/>
              <a:ahLst/>
              <a:cxnLst/>
              <a:rect l="l" t="t" r="r" b="b"/>
              <a:pathLst>
                <a:path w="563880" h="9525">
                  <a:moveTo>
                    <a:pt x="0" y="0"/>
                  </a:moveTo>
                  <a:lnTo>
                    <a:pt x="5638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233738" y="2435542"/>
              <a:ext cx="563880" cy="9525"/>
            </a:xfrm>
            <a:custGeom>
              <a:avLst/>
              <a:gdLst/>
              <a:ahLst/>
              <a:cxnLst/>
              <a:rect l="l" t="t" r="r" b="b"/>
              <a:pathLst>
                <a:path w="563880" h="9525">
                  <a:moveTo>
                    <a:pt x="0" y="0"/>
                  </a:moveTo>
                  <a:lnTo>
                    <a:pt x="5638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233738" y="2875598"/>
              <a:ext cx="563880" cy="9525"/>
            </a:xfrm>
            <a:custGeom>
              <a:avLst/>
              <a:gdLst/>
              <a:ahLst/>
              <a:cxnLst/>
              <a:rect l="l" t="t" r="r" b="b"/>
              <a:pathLst>
                <a:path w="563880" h="9525">
                  <a:moveTo>
                    <a:pt x="0" y="0"/>
                  </a:moveTo>
                  <a:lnTo>
                    <a:pt x="5638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169092" y="3008948"/>
              <a:ext cx="9525" cy="256223"/>
            </a:xfrm>
            <a:custGeom>
              <a:avLst/>
              <a:gdLst/>
              <a:ahLst/>
              <a:cxnLst/>
              <a:rect l="l" t="t" r="r" b="b"/>
              <a:pathLst>
                <a:path w="9525" h="256223">
                  <a:moveTo>
                    <a:pt x="0" y="0"/>
                  </a:moveTo>
                  <a:lnTo>
                    <a:pt x="0" y="256223"/>
                  </a:lnTo>
                </a:path>
              </a:pathLst>
            </a:custGeom>
            <a:noFill/>
            <a:ln w="3048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169092" y="3303270"/>
              <a:ext cx="9525" cy="256222"/>
            </a:xfrm>
            <a:custGeom>
              <a:avLst/>
              <a:gdLst/>
              <a:ahLst/>
              <a:cxnLst/>
              <a:rect l="l" t="t" r="r" b="b"/>
              <a:pathLst>
                <a:path w="9525" h="256222">
                  <a:moveTo>
                    <a:pt x="0" y="0"/>
                  </a:moveTo>
                  <a:lnTo>
                    <a:pt x="0" y="256222"/>
                  </a:lnTo>
                </a:path>
              </a:pathLst>
            </a:custGeom>
            <a:noFill/>
            <a:ln w="3048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495675" y="3284220"/>
              <a:ext cx="654367" cy="9525"/>
            </a:xfrm>
            <a:custGeom>
              <a:avLst/>
              <a:gdLst/>
              <a:ahLst/>
              <a:cxnLst/>
              <a:rect l="l" t="t" r="r" b="b"/>
              <a:pathLst>
                <a:path w="654367" h="9525">
                  <a:moveTo>
                    <a:pt x="0" y="0"/>
                  </a:moveTo>
                  <a:lnTo>
                    <a:pt x="65436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169092" y="3826192"/>
              <a:ext cx="9525" cy="570548"/>
            </a:xfrm>
            <a:custGeom>
              <a:avLst/>
              <a:gdLst/>
              <a:ahLst/>
              <a:cxnLst/>
              <a:rect l="l" t="t" r="r" b="b"/>
              <a:pathLst>
                <a:path w="9525" h="570548">
                  <a:moveTo>
                    <a:pt x="0" y="0"/>
                  </a:moveTo>
                  <a:lnTo>
                    <a:pt x="0" y="570548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60082" y="164020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659380" y="164020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659380" y="40290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60082" y="40290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932498" y="198596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932498" y="2426018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32498" y="286607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24952" y="1862138"/>
              <a:ext cx="74295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524952" y="2302192"/>
              <a:ext cx="74295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524952" y="2742248"/>
              <a:ext cx="74295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524952" y="3559492"/>
              <a:ext cx="74295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886902" y="327469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42962" y="3160395"/>
              <a:ext cx="381000" cy="247650"/>
            </a:xfrm>
            <a:prstGeom prst="roundRect">
              <a:avLst>
                <a:gd name="adj" fmla="val 38462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2932748" y="164020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4932045" y="164020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4932045" y="40290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2932748" y="402907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3205162" y="198596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205162" y="2426018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3205162" y="286607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797618" y="1862138"/>
              <a:ext cx="74295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3797618" y="2302192"/>
              <a:ext cx="74295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3797618" y="2742248"/>
              <a:ext cx="74295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3797618" y="3559492"/>
              <a:ext cx="74295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4159568" y="327469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114675" y="3160395"/>
              <a:ext cx="381000" cy="247650"/>
            </a:xfrm>
            <a:prstGeom prst="roundRect">
              <a:avLst>
                <a:gd name="adj" fmla="val 38462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1886902" y="440626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4159568" y="440626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77228" y="4272915"/>
              <a:ext cx="4257675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770723" y="1935004"/>
              <a:ext cx="251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836588" y="2375059"/>
              <a:ext cx="119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851224" y="281511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789019" y="3632359"/>
              <a:ext cx="2148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NIC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8009" y="322373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043388" y="1935004"/>
              <a:ext cx="251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P/C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109253" y="2375059"/>
              <a:ext cx="119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123889" y="281511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061684" y="3632359"/>
              <a:ext cx="2148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NIC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219721" y="322373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918168" y="4355306"/>
              <a:ext cx="1775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标准网络（以太网、ATM 等）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6285" y="1709738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MB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119312" y="3234690"/>
              <a:ext cx="2245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IOB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027998" y="1709738"/>
              <a:ext cx="184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MB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391978" y="3234690"/>
              <a:ext cx="2245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IOB</a:t>
              </a:r>
            </a:p>
          </p:txBody>
        </p:sp>
      </p:grpSp>
      <p:grpSp>
        <p:nvGrpSpPr>
          <p:cNvPr id="82" name="c1-callout-2"/>
          <p:cNvGrpSpPr/>
          <p:nvPr/>
        </p:nvGrpSpPr>
        <p:grpSpPr>
          <a:xfrm>
            <a:off x="533400" y="4857750"/>
            <a:ext cx="4544378" cy="1059180"/>
            <a:chOff x="533400" y="4857750"/>
            <a:chExt cx="4544378" cy="1059180"/>
          </a:xfrm>
        </p:grpSpPr>
        <p:sp>
          <p:nvSpPr>
            <p:cNvPr id="76" name="Rectangle 76"/>
            <p:cNvSpPr/>
            <p:nvPr/>
          </p:nvSpPr>
          <p:spPr>
            <a:xfrm>
              <a:off x="533400" y="485775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5287328"/>
              <a:ext cx="200026" cy="200025"/>
              <a:chOff x="738188" y="5287328"/>
              <a:chExt cx="200026" cy="200025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52873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77926" y="53317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12642" y="54429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0130" y="5006340"/>
              <a:ext cx="3282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集群常被看作低成本的变形 MPP。例：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Berkeley NOW、Alpha Farm、Digital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TruCluster。</a:t>
              </a:r>
            </a:p>
          </p:txBody>
        </p:sp>
      </p:grpSp>
      <p:grpSp>
        <p:nvGrpSpPr>
          <p:cNvPr id="112" name="c2-table-1"/>
          <p:cNvGrpSpPr/>
          <p:nvPr/>
        </p:nvGrpSpPr>
        <p:grpSpPr>
          <a:xfrm>
            <a:off x="5376862" y="1524000"/>
            <a:ext cx="6281738" cy="4575334"/>
            <a:chOff x="5376862" y="1524000"/>
            <a:chExt cx="6281738" cy="4575334"/>
          </a:xfrm>
        </p:grpSpPr>
        <p:sp>
          <p:nvSpPr>
            <p:cNvPr id="83" name="Rectangle 83"/>
            <p:cNvSpPr/>
            <p:nvPr/>
          </p:nvSpPr>
          <p:spPr>
            <a:xfrm>
              <a:off x="5382578" y="1524000"/>
              <a:ext cx="627602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76861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878583" y="1659731"/>
              <a:ext cx="4048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COW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471355" y="1659731"/>
              <a:ext cx="3666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MPP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490401" y="23350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620066" y="2108359"/>
              <a:ext cx="279273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完整的工作站（不含显示器、键盘、鼠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标，称“无头工作站”），也可以是一台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或 SMP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758553" y="23350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处理结点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382578" y="28698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5382578" y="2874645"/>
              <a:ext cx="6276022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5490401" y="32370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互连网络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620066" y="3010376"/>
              <a:ext cx="2638298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低成本的商品网络：以太网、FDDI、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ATM 开关等（也有商用机群用定做网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络）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758553" y="323707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专门定制的网络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5382578" y="37728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5490401" y="39123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本地磁盘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620066" y="3912394"/>
              <a:ext cx="1818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结点内总有本地磁盘 LD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758553" y="391239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结点内没有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5382578" y="422148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5382578" y="4226242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5490401" y="44743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网络接口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620066" y="4474369"/>
              <a:ext cx="2846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松散耦合：NIC 接在 I/O 总线 IOB 上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758553" y="4361021"/>
              <a:ext cx="15897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紧耦合：NIC 接在处理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结点的存储总线上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5382578" y="48968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5490401" y="52639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620066" y="5037296"/>
              <a:ext cx="27764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每个结点驻留完整的操作系统（工作站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UNIX），再加一层软件支持单一系统映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像、并行度、通信和负载平衡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758553" y="526399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通常只有一个微核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5382578" y="1524000"/>
              <a:ext cx="6276022" cy="427958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507480" y="1524000"/>
              <a:ext cx="9525" cy="42795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9645968" y="1524000"/>
              <a:ext cx="9525" cy="42795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5376862" y="5879306"/>
              <a:ext cx="35771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图中 M 为存储器，B 为存储总线与 I/O 总线之间的桥</a:t>
              </a:r>
            </a:p>
          </p:txBody>
        </p:sp>
      </p:grpSp>
      <p:grpSp>
        <p:nvGrpSpPr>
          <p:cNvPr id="11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3" name="TextBox 113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多处理机概述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五种结构对比：处理器、互连、存储与访存模型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2" name="c1-table-1"/>
          <p:cNvGrpSpPr/>
          <p:nvPr/>
        </p:nvGrpSpPr>
        <p:grpSpPr>
          <a:xfrm>
            <a:off x="528447" y="1524000"/>
            <a:ext cx="11130153" cy="3864006"/>
            <a:chOff x="528447" y="1524000"/>
            <a:chExt cx="11130153" cy="38640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461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9969" y="164544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PVP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44906" y="1645444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SMP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91816" y="1645444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MPP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3971" y="1645444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DSM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80351" y="1645444"/>
              <a:ext cx="354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0555" y="2045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80260" y="20454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定制向量处理器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47312" y="20454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商品微处理器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94222" y="20454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商品微处理器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96377" y="20454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商品微处理器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199484" y="20454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商品微处理器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319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3241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互连网络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55647" y="24455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定制交叉开关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71925" y="24455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总线或交叉开关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44996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定制网络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47151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定制网络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50259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商品网络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719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通信方式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06421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共享变量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98086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共享变量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44996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消息传递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47151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共享变量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350259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消息传递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1194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1242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0555" y="32456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地址空间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31034" y="3245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单地址空间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22699" y="3245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单地址空间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69609" y="3245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多地址空间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71764" y="3245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单地址空间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74872" y="3245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多地址空间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5194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0555" y="3645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06421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集中共享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98086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集中共享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94222" y="36456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分布、非共享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71764" y="36456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分布、共享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99484" y="36456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分布、非共享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9195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39243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0555" y="40457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访存模型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653241" y="4045744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UMA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44906" y="4045744"/>
              <a:ext cx="320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UMA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83088" y="4045744"/>
              <a:ext cx="538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NORMA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47971" y="4045744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NUMA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88351" y="4045744"/>
              <a:ext cx="538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NORMA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43195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0555" y="46458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典型机器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004314" y="4545806"/>
              <a:ext cx="161874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Cray C90、NEC SX-4、银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河 1 号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016883" y="4545806"/>
              <a:ext cx="137693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IBM R50、SGI Power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Challenge、曙光 1 号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963793" y="4545806"/>
              <a:ext cx="137693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Intel Paragon、Cray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T3E、曙光-1000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30388" y="4445794"/>
              <a:ext cx="1448054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Stanford DASH、Cray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T3D、SGI/Cray Origin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94812" y="4545806"/>
              <a:ext cx="17254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Berkeley NOW、Alpha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Farm、Digital TruCluster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1524000"/>
              <a:ext cx="11125200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186404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375475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646420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64857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65168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28447" y="5197316"/>
              <a:ext cx="92921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PVP 并行向量处理机，SMP 对称多处理机，MPP 大规模并行处理机，DSM 分布式共享存储多处理机，COW 工作站集群。本表为补充的归纳，访存模型见下一页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73" name="Rectangle 73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892" y="5779770"/>
              <a:ext cx="922915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更正：原课件中的机器名 Cray90、IntelOption Red、Digital Truclster 应分别为 Cray C90、Intel Option Red、Digital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TruCluster。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60460" cy="909257"/>
            <a:chOff x="520446" y="342900"/>
            <a:chExt cx="99604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多处理机概述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604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从存储角度看 MIMD：共享一个地址空间，还是各有私有地址空间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tree-1"/>
          <p:cNvGrpSpPr/>
          <p:nvPr/>
        </p:nvGrpSpPr>
        <p:grpSpPr>
          <a:xfrm>
            <a:off x="533400" y="1685925"/>
            <a:ext cx="5193982" cy="1824038"/>
            <a:chOff x="533400" y="1685925"/>
            <a:chExt cx="5193982" cy="1824038"/>
          </a:xfrm>
        </p:grpSpPr>
        <p:sp>
          <p:nvSpPr>
            <p:cNvPr id="7" name="Freeform 7"/>
            <p:cNvSpPr/>
            <p:nvPr/>
          </p:nvSpPr>
          <p:spPr>
            <a:xfrm>
              <a:off x="3856672" y="1864995"/>
              <a:ext cx="419100" cy="341947"/>
            </a:xfrm>
            <a:custGeom>
              <a:avLst/>
              <a:gdLst/>
              <a:ahLst/>
              <a:cxnLst/>
              <a:rect l="l" t="t" r="r" b="b"/>
              <a:pathLst>
                <a:path w="419100" h="341947">
                  <a:moveTo>
                    <a:pt x="0" y="341947"/>
                  </a:moveTo>
                  <a:lnTo>
                    <a:pt x="209550" y="34194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56672" y="2206942"/>
              <a:ext cx="419100" cy="340995"/>
            </a:xfrm>
            <a:custGeom>
              <a:avLst/>
              <a:gdLst/>
              <a:ahLst/>
              <a:cxnLst/>
              <a:rect l="l" t="t" r="r" b="b"/>
              <a:pathLst>
                <a:path w="419100" h="340995">
                  <a:moveTo>
                    <a:pt x="0" y="0"/>
                  </a:moveTo>
                  <a:lnTo>
                    <a:pt x="209550" y="0"/>
                  </a:lnTo>
                  <a:lnTo>
                    <a:pt x="209550" y="340995"/>
                  </a:lnTo>
                  <a:lnTo>
                    <a:pt x="419100" y="34099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856672" y="323088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85010" y="2206942"/>
              <a:ext cx="419100" cy="511492"/>
            </a:xfrm>
            <a:custGeom>
              <a:avLst/>
              <a:gdLst/>
              <a:ahLst/>
              <a:cxnLst/>
              <a:rect l="l" t="t" r="r" b="b"/>
              <a:pathLst>
                <a:path w="419100" h="511492">
                  <a:moveTo>
                    <a:pt x="0" y="511492"/>
                  </a:moveTo>
                  <a:lnTo>
                    <a:pt x="209550" y="51149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985010" y="2718435"/>
              <a:ext cx="419100" cy="512445"/>
            </a:xfrm>
            <a:custGeom>
              <a:avLst/>
              <a:gdLst/>
              <a:ahLst/>
              <a:cxnLst/>
              <a:rect l="l" t="t" r="r" b="b"/>
              <a:pathLst>
                <a:path w="419100" h="512445">
                  <a:moveTo>
                    <a:pt x="0" y="0"/>
                  </a:moveTo>
                  <a:lnTo>
                    <a:pt x="209550" y="0"/>
                  </a:lnTo>
                  <a:lnTo>
                    <a:pt x="209550" y="512445"/>
                  </a:lnTo>
                  <a:lnTo>
                    <a:pt x="419100" y="51244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275772" y="1685925"/>
              <a:ext cx="14516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275772" y="2367915"/>
              <a:ext cx="145161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404110" y="2026920"/>
              <a:ext cx="1451610" cy="360045"/>
            </a:xfrm>
            <a:prstGeom prst="roundRect">
              <a:avLst>
                <a:gd name="adj" fmla="val 2645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275772" y="2951798"/>
              <a:ext cx="1451610" cy="558165"/>
            </a:xfrm>
            <a:prstGeom prst="roundRect">
              <a:avLst>
                <a:gd name="adj" fmla="val 1706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404110" y="2951798"/>
              <a:ext cx="1451610" cy="558165"/>
            </a:xfrm>
            <a:prstGeom prst="roundRect">
              <a:avLst>
                <a:gd name="adj" fmla="val 17065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538412"/>
              <a:ext cx="1451610" cy="360045"/>
            </a:xfrm>
            <a:prstGeom prst="roundRect">
              <a:avLst>
                <a:gd name="adj" fmla="val 2645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364926" y="1781175"/>
              <a:ext cx="12484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UMA：SMP、PVP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64926" y="2464118"/>
              <a:ext cx="899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NUMA：DSM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93264" y="21231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单地址空间共享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64926" y="3048000"/>
              <a:ext cx="107899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NORMA：MPP、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COW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93264" y="3048000"/>
              <a:ext cx="107899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多地址空间非共</a:t>
              </a:r>
              <a:br/>
              <a:r>
                <a:rPr lang="zh-CN" sz="120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2554" y="2634615"/>
              <a:ext cx="433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MIMD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3751898"/>
            <a:ext cx="5193982" cy="1840230"/>
            <a:chOff x="533400" y="3751898"/>
            <a:chExt cx="5193982" cy="1840230"/>
          </a:xfrm>
        </p:grpSpPr>
        <p:sp>
          <p:nvSpPr>
            <p:cNvPr id="25" name="Rectangle 25"/>
            <p:cNvSpPr/>
            <p:nvPr/>
          </p:nvSpPr>
          <p:spPr>
            <a:xfrm>
              <a:off x="533400" y="3751898"/>
              <a:ext cx="5193982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3885248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9620" y="3950018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7057" y="398430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分类时问两个问题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9620" y="429863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7965" y="43389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0514" y="431053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所有处理器能否用同一个地址访问任一存储单元？能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则为单地址空间共享，否则为多地址空间非共享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9620" y="488823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7965" y="49276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0514" y="4900136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共享时，访问任一存储单元的时间是否都相同？相同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UMA，不同为 NUMA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026848" y="1524000"/>
            <a:ext cx="5631752" cy="3468624"/>
            <a:chOff x="6026848" y="1524000"/>
            <a:chExt cx="5631752" cy="3468624"/>
          </a:xfrm>
        </p:grpSpPr>
        <p:sp>
          <p:nvSpPr>
            <p:cNvPr id="36" name="Rectangle 36"/>
            <p:cNvSpPr/>
            <p:nvPr/>
          </p:nvSpPr>
          <p:spPr>
            <a:xfrm>
              <a:off x="6032182" y="1524000"/>
              <a:ext cx="5626418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9606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03120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04514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访问特点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34672" y="22898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单地址空间共享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97712" y="2076450"/>
              <a:ext cx="15361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物理上可以集中也可以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分布，但所有存储单元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统一编址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10332" y="22898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能被所有处理器访问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279463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32182" y="2799398"/>
              <a:ext cx="5626418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34672" y="2927985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均匀存储访问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97712" y="2927985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集中的共享存储器（如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SMP 中的 SM）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10332" y="2927985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任一处理器访问任一存储单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元的时间相同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34328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34672" y="3566160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非均匀存储访问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NUMA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97712" y="3566160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分布在各结点的局部存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储器，统一编址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10332" y="3566160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访问本结点存储器快，访问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其他结点的慢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40700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32182" y="4074795"/>
              <a:ext cx="5626418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34672" y="4203382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多地址空间非共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 NORMA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97712" y="4203382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每个结点的存储器都是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私有的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10332" y="4203382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只能由本结点的处理器访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问，结点之间靠消息传递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32182" y="1524000"/>
              <a:ext cx="5626418" cy="31889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490460" y="1524000"/>
              <a:ext cx="9525" cy="31889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403080" y="1524000"/>
              <a:ext cx="9525" cy="31889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026848" y="4787265"/>
              <a:ext cx="52326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NORMA 即 No-Remote Memory Access，是对“多地址空间非共享存储”的常用称呼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2" name="Rectangle 6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511" y="6011704"/>
              <a:ext cx="99119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本章后面的 Cache 一致性问题出在共享存储的多处理机上：多个处理器的 Cache 中可能同时存着同一存储块的副本。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554404" cy="3351847"/>
            <a:chOff x="667512" y="1835468"/>
            <a:chExt cx="655440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0293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一致性问题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5444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同一块数据进了多个 Cache 之后，怎样保证大家读到的都是最新值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一致性问题从哪里来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存储器一致性的三个条件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一致性协议：目录式与监听式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写作废协议与写更新协议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12689" cy="909257"/>
            <a:chOff x="520446" y="342900"/>
            <a:chExt cx="81126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517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986" y="407194"/>
              <a:ext cx="2865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Cache 一致性问题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12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一个处理器改了 Cache 里的副本，其他副本就过时了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9" name="c1-graph-1"/>
          <p:cNvGrpSpPr/>
          <p:nvPr/>
        </p:nvGrpSpPr>
        <p:grpSpPr>
          <a:xfrm>
            <a:off x="649605" y="1550670"/>
            <a:ext cx="6043613" cy="3575685"/>
            <a:chOff x="649605" y="1550670"/>
            <a:chExt cx="6043613" cy="3575685"/>
          </a:xfrm>
        </p:grpSpPr>
        <p:sp>
          <p:nvSpPr>
            <p:cNvPr id="7" name="Freeform 7"/>
            <p:cNvSpPr/>
            <p:nvPr/>
          </p:nvSpPr>
          <p:spPr>
            <a:xfrm>
              <a:off x="678180" y="4113848"/>
              <a:ext cx="2786062" cy="9525"/>
            </a:xfrm>
            <a:custGeom>
              <a:avLst/>
              <a:gdLst/>
              <a:ahLst/>
              <a:cxnLst/>
              <a:rect l="l" t="t" r="r" b="b"/>
              <a:pathLst>
                <a:path w="2786062" h="9525">
                  <a:moveTo>
                    <a:pt x="0" y="0"/>
                  </a:moveTo>
                  <a:lnTo>
                    <a:pt x="2786062" y="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33500" y="2609850"/>
              <a:ext cx="9525" cy="358140"/>
            </a:xfrm>
            <a:custGeom>
              <a:avLst/>
              <a:gdLst/>
              <a:ahLst/>
              <a:cxnLst/>
              <a:rect l="l" t="t" r="r" b="b"/>
              <a:pathLst>
                <a:path w="9525" h="358140">
                  <a:moveTo>
                    <a:pt x="0" y="0"/>
                  </a:moveTo>
                  <a:lnTo>
                    <a:pt x="0" y="3581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285875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285875" y="25146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333500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07970" y="2609850"/>
              <a:ext cx="9525" cy="358140"/>
            </a:xfrm>
            <a:custGeom>
              <a:avLst/>
              <a:gdLst/>
              <a:ahLst/>
              <a:cxnLst/>
              <a:rect l="l" t="t" r="r" b="b"/>
              <a:pathLst>
                <a:path w="9525" h="358140">
                  <a:moveTo>
                    <a:pt x="0" y="0"/>
                  </a:moveTo>
                  <a:lnTo>
                    <a:pt x="0" y="3581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760345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2760345" y="25146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807970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070735" y="4132898"/>
              <a:ext cx="9525" cy="669608"/>
            </a:xfrm>
            <a:custGeom>
              <a:avLst/>
              <a:gdLst/>
              <a:ahLst/>
              <a:cxnLst/>
              <a:rect l="l" t="t" r="r" b="b"/>
              <a:pathLst>
                <a:path w="9525" h="669608">
                  <a:moveTo>
                    <a:pt x="0" y="669608"/>
                  </a:moveTo>
                  <a:lnTo>
                    <a:pt x="9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878580" y="4113848"/>
              <a:ext cx="2786063" cy="9525"/>
            </a:xfrm>
            <a:custGeom>
              <a:avLst/>
              <a:gdLst/>
              <a:ahLst/>
              <a:cxnLst/>
              <a:rect l="l" t="t" r="r" b="b"/>
              <a:pathLst>
                <a:path w="2786063" h="9525">
                  <a:moveTo>
                    <a:pt x="0" y="0"/>
                  </a:moveTo>
                  <a:lnTo>
                    <a:pt x="2786063" y="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533900" y="2609850"/>
              <a:ext cx="9525" cy="358140"/>
            </a:xfrm>
            <a:custGeom>
              <a:avLst/>
              <a:gdLst/>
              <a:ahLst/>
              <a:cxnLst/>
              <a:rect l="l" t="t" r="r" b="b"/>
              <a:pathLst>
                <a:path w="9525" h="358140">
                  <a:moveTo>
                    <a:pt x="0" y="0"/>
                  </a:moveTo>
                  <a:lnTo>
                    <a:pt x="0" y="3581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486275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486275" y="25146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533900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009322" y="2609850"/>
              <a:ext cx="9525" cy="358140"/>
            </a:xfrm>
            <a:custGeom>
              <a:avLst/>
              <a:gdLst/>
              <a:ahLst/>
              <a:cxnLst/>
              <a:rect l="l" t="t" r="r" b="b"/>
              <a:pathLst>
                <a:path w="9525" h="358140">
                  <a:moveTo>
                    <a:pt x="0" y="0"/>
                  </a:moveTo>
                  <a:lnTo>
                    <a:pt x="0" y="3581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961698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961698" y="25146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009322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272088" y="4132898"/>
              <a:ext cx="9525" cy="669608"/>
            </a:xfrm>
            <a:custGeom>
              <a:avLst/>
              <a:gdLst/>
              <a:ahLst/>
              <a:cxnLst/>
              <a:rect l="l" t="t" r="r" b="b"/>
              <a:pathLst>
                <a:path w="9525" h="669608">
                  <a:moveTo>
                    <a:pt x="0" y="66960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49605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473768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47750" y="1933575"/>
              <a:ext cx="571500" cy="5715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71525" y="3063240"/>
              <a:ext cx="112395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323975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522220" y="1933575"/>
              <a:ext cx="571500" cy="5715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245995" y="3063240"/>
              <a:ext cx="112395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2798445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356360" y="4802505"/>
              <a:ext cx="1428750" cy="323850"/>
            </a:xfrm>
            <a:prstGeom prst="roundRect">
              <a:avLst>
                <a:gd name="adj" fmla="val 29412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2062162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850005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674168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4248150" y="1933575"/>
              <a:ext cx="571500" cy="5715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971925" y="3063240"/>
              <a:ext cx="1123950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4524375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5723572" y="1933575"/>
              <a:ext cx="571500" cy="5715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447348" y="3063240"/>
              <a:ext cx="1123950" cy="323850"/>
            </a:xfrm>
            <a:prstGeom prst="roundRect">
              <a:avLst>
                <a:gd name="adj" fmla="val 2941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5999798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557712" y="4802505"/>
              <a:ext cx="1428750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5262562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32142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1208" y="3159443"/>
              <a:ext cx="384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m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606612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615678" y="3159443"/>
              <a:ext cx="384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m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714199" y="4898708"/>
              <a:ext cx="713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主存 X = 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332542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A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356870" y="3159443"/>
              <a:ext cx="354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p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807964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B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05004" y="3159443"/>
              <a:ext cx="808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 = m（旧）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930813" y="4898708"/>
              <a:ext cx="68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 X = p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484918" y="1550670"/>
              <a:ext cx="11716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(a) CPU A 写入前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600930" y="1550670"/>
              <a:ext cx="1342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(b) CPU A 写入 p 后</a:t>
              </a:r>
            </a:p>
          </p:txBody>
        </p:sp>
      </p:grpSp>
      <p:grpSp>
        <p:nvGrpSpPr>
          <p:cNvPr id="66" name="c1-callout-2"/>
          <p:cNvGrpSpPr/>
          <p:nvPr/>
        </p:nvGrpSpPr>
        <p:grpSpPr>
          <a:xfrm>
            <a:off x="533400" y="5579745"/>
            <a:ext cx="6276022" cy="782955"/>
            <a:chOff x="533400" y="5579745"/>
            <a:chExt cx="6276022" cy="782955"/>
          </a:xfrm>
        </p:grpSpPr>
        <p:sp>
          <p:nvSpPr>
            <p:cNvPr id="60" name="Rectangle 60"/>
            <p:cNvSpPr/>
            <p:nvPr/>
          </p:nvSpPr>
          <p:spPr>
            <a:xfrm>
              <a:off x="533400" y="5579745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130" y="5728335"/>
              <a:ext cx="5253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图 (b) 中 CPU A 已把 X 改成 p，CPU B 若继续读自己 Cache 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的 m，读到的就是旧值。</a:t>
              </a:r>
            </a:p>
          </p:txBody>
        </p:sp>
      </p:grpSp>
      <p:grpSp>
        <p:nvGrpSpPr>
          <p:cNvPr id="73" name="c2-card-1"/>
          <p:cNvGrpSpPr/>
          <p:nvPr/>
        </p:nvGrpSpPr>
        <p:grpSpPr>
          <a:xfrm>
            <a:off x="7114222" y="1524000"/>
            <a:ext cx="4544378" cy="1906905"/>
            <a:chOff x="7114222" y="1524000"/>
            <a:chExt cx="4544378" cy="1906905"/>
          </a:xfrm>
        </p:grpSpPr>
        <p:sp>
          <p:nvSpPr>
            <p:cNvPr id="67" name="Rectangle 67"/>
            <p:cNvSpPr/>
            <p:nvPr/>
          </p:nvSpPr>
          <p:spPr>
            <a:xfrm>
              <a:off x="7114222" y="1524000"/>
              <a:ext cx="4544378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123748" y="165735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36187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5208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961948" y="1768792"/>
              <a:ext cx="27528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多处理机的 Cache 一致性问题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54252" y="2129790"/>
              <a:ext cx="38919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允许共享数据进入 Cache，就可能出现多个处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理器的 Cache 中都有同一存储块的副本；某个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处理器修改了自己 Cache 中的数据后，它与其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他 Cache 中的数据就不一致了。</a:t>
              </a:r>
            </a:p>
          </p:txBody>
        </p:sp>
      </p:grpSp>
      <p:grpSp>
        <p:nvGrpSpPr>
          <p:cNvPr id="76" name="c2-image-2"/>
          <p:cNvGrpSpPr/>
          <p:nvPr/>
        </p:nvGrpSpPr>
        <p:grpSpPr>
          <a:xfrm>
            <a:off x="7114222" y="3621405"/>
            <a:ext cx="4544378" cy="2766537"/>
            <a:chOff x="7114222" y="3621405"/>
            <a:chExt cx="4544378" cy="2766537"/>
          </a:xfrm>
        </p:grpSpPr>
        <p:pic>
          <p:nvPicPr>
            <p:cNvPr id="74" name="Image 74"/>
            <p:cNvPicPr>
              <a:picLocks noChangeAspect="1"/>
            </p:cNvPicPr>
            <p:nvPr/>
          </p:nvPicPr>
          <p:blipFill>
            <a:blip r:embed="rId2"/>
            <a:srcRect l="0" t="14032" r="0" b="14033"/>
            <a:stretch>
              <a:fillRect/>
            </a:stretch>
          </p:blipFill>
          <p:spPr>
            <a:xfrm>
              <a:off x="7114222" y="3621405"/>
              <a:ext cx="4544378" cy="2451735"/>
            </a:xfrm>
            <a:prstGeom prst="roundRect">
              <a:avLst>
                <a:gd name="adj" fmla="val 5439"/>
              </a:avLst>
            </a:prstGeom>
          </p:spPr>
        </p:pic>
        <p:sp>
          <p:nvSpPr>
            <p:cNvPr id="75" name="TextBox 75"/>
            <p:cNvSpPr txBox="1"/>
            <p:nvPr/>
          </p:nvSpPr>
          <p:spPr>
            <a:xfrm>
              <a:off x="7420153" y="6167914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人手一份复印件，一人改了自己那份，别人手里的就过时了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517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986" y="407194"/>
              <a:ext cx="2865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Cache 一致性问题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存储器一致：任何读操作都能得到最新写入的值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544378" cy="2047875"/>
            <a:chOff x="533400" y="1524000"/>
            <a:chExt cx="4544378" cy="20478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047875"/>
            </a:xfrm>
            <a:prstGeom prst="roundRect">
              <a:avLst>
                <a:gd name="adj" fmla="val 65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811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如果对某个数据项的任何读操作均可得到其最新写入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的值，则认为这个存储系统是一致的。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2475" y="260842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存储系统的行为有两个方面：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92989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873692"/>
              <a:ext cx="24772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What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：读操作得到的是什么值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22992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173730"/>
              <a:ext cx="39311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When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：什么时候才能把已写入的值返回给读操作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741420"/>
            <a:ext cx="4544378" cy="2425065"/>
            <a:chOff x="533400" y="3741420"/>
            <a:chExt cx="4544378" cy="2425065"/>
          </a:xfrm>
        </p:grpSpPr>
        <p:sp>
          <p:nvSpPr>
            <p:cNvPr id="18" name="Rectangle 18"/>
            <p:cNvSpPr/>
            <p:nvPr/>
          </p:nvSpPr>
          <p:spPr>
            <a:xfrm>
              <a:off x="533400" y="3741420"/>
              <a:ext cx="4544378" cy="2425065"/>
            </a:xfrm>
            <a:prstGeom prst="roundRect">
              <a:avLst>
                <a:gd name="adj" fmla="val 54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874770"/>
              <a:ext cx="47625" cy="21583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8190" y="392811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0357" y="396097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后面讨论时的两个假设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58190" y="426053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3868" y="42989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8987" y="4271962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直到所有处理器都看到了写的结果，这个写操作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才算完成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58190" y="481774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3868" y="48561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8987" y="4830128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处理器的访存不能改变写的顺序：允许对读重新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排序，但写必须按程序规定的顺序进行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377624" y="1524000"/>
            <a:ext cx="6280976" cy="3063906"/>
            <a:chOff x="5377624" y="1524000"/>
            <a:chExt cx="6280976" cy="3063906"/>
          </a:xfrm>
        </p:grpSpPr>
        <p:sp>
          <p:nvSpPr>
            <p:cNvPr id="29" name="Rectangle 29"/>
            <p:cNvSpPr/>
            <p:nvPr/>
          </p:nvSpPr>
          <p:spPr>
            <a:xfrm>
              <a:off x="5382578" y="1524000"/>
              <a:ext cx="627602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1665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8738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3531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79732" y="2245519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读自己的写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60858" y="2045494"/>
              <a:ext cx="2450846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 P 对单元 X 写之后又读 X，中间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没有其他处理器写 X，则 P 读到的总是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刚写进去的值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22155" y="2145506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保证程序的顺序，单处理机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也有此要求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82578" y="27193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82578" y="2724150"/>
              <a:ext cx="6276022" cy="8001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479732" y="3045619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读别人的写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60858" y="2845594"/>
              <a:ext cx="2457958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写 X 之后另一处理器 Q 读 X，中间没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有其他写，则 Q 读到的应为 P 写入的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22155" y="2945606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多处理器一致性的核心：总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读到旧数据就是不一致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82578" y="35194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79732" y="3845719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写串行化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60858" y="3745706"/>
              <a:ext cx="24295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任意两个处理器对同一单元的两次写，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从各个处理器看来顺序都相同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22155" y="3645694"/>
              <a:ext cx="1732534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 P1 先写、P2 后写，其他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处理器看到的也是 P1 先、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后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82578" y="1524000"/>
              <a:ext cx="6276022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5894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52023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377624" y="4397216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三个条件都满足，才称存储器是一致的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5382578" y="4719638"/>
            <a:ext cx="6276022" cy="1446848"/>
            <a:chOff x="5382578" y="4719638"/>
            <a:chExt cx="6276022" cy="1446848"/>
          </a:xfrm>
        </p:grpSpPr>
        <p:sp>
          <p:nvSpPr>
            <p:cNvPr id="50" name="Rectangle 50"/>
            <p:cNvSpPr/>
            <p:nvPr/>
          </p:nvSpPr>
          <p:spPr>
            <a:xfrm>
              <a:off x="5382578" y="4719638"/>
              <a:ext cx="6276022" cy="1446848"/>
            </a:xfrm>
            <a:prstGeom prst="roundRect">
              <a:avLst>
                <a:gd name="adj" fmla="val 92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92102" y="4852988"/>
              <a:ext cx="47625" cy="11801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607368" y="490632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704091" y="493918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00510" y="5251133"/>
              <a:ext cx="55172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写 X = 1，随后 P2 写 X = 2，之后再没有写。此时 P3 读 X 必须得到 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（条件 ②）；P1、P2、P3 看到的也都应是“先写 1、后写 2”（条件 ③）。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01652" y="5804059"/>
              <a:ext cx="52351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 P3 读到 1，或者某个处理器看到的写入先后相反，这个存储系统就不一致。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33174" cy="909257"/>
            <a:chOff x="520446" y="342900"/>
            <a:chExt cx="90331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517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986" y="407194"/>
              <a:ext cx="2865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Cache 一致性问题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331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起两种作用；一致性协议按共享状态记在哪里分两类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table-1"/>
          <p:cNvGrpSpPr/>
          <p:nvPr/>
        </p:nvGrpSpPr>
        <p:grpSpPr>
          <a:xfrm>
            <a:off x="528066" y="1524000"/>
            <a:ext cx="5199316" cy="2406587"/>
            <a:chOff x="528066" y="1524000"/>
            <a:chExt cx="5199316" cy="240658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6322" y="1652588"/>
              <a:ext cx="1020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Cache 的功能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9373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7295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183130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共享数据的迁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82712" y="2183130"/>
              <a:ext cx="15438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把远程的共享数据复制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一份，迁入本地 Cache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56292" y="2076450"/>
              <a:ext cx="15361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减少访问远程共享数据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的延迟，也降低对共享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存储器带宽的要求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9463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99398"/>
              <a:ext cx="5193982" cy="85153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3034665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共享数据的复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82712" y="2927985"/>
              <a:ext cx="154381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多个处理器要同时读的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共享数据，在各自本地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中各放一个副本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56292" y="2927985"/>
              <a:ext cx="15361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减少访问延迟，也减少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访问共享数据产生的冲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193982" cy="212693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775460" y="1524000"/>
              <a:ext cx="9525" cy="21269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749040" y="1524000"/>
              <a:ext cx="9525" cy="21269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8066" y="372522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前提是多处理机的存储系统是一致的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069080"/>
            <a:ext cx="5193982" cy="756285"/>
            <a:chOff x="533400" y="4069080"/>
            <a:chExt cx="5193982" cy="756285"/>
          </a:xfrm>
        </p:grpSpPr>
        <p:sp>
          <p:nvSpPr>
            <p:cNvPr id="24" name="Rectangle 24"/>
            <p:cNvSpPr/>
            <p:nvPr/>
          </p:nvSpPr>
          <p:spPr>
            <a:xfrm>
              <a:off x="533400" y="4069080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347210"/>
              <a:ext cx="200026" cy="200026"/>
              <a:chOff x="738188" y="4347210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4347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4413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27088" y="4447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4217194"/>
              <a:ext cx="404507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小规模多处理机一般用硬件方法实现 Cache 的一致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性。</a:t>
              </a:r>
            </a:p>
          </p:txBody>
        </p:sp>
      </p:grpSp>
      <p:grpSp>
        <p:nvGrpSpPr>
          <p:cNvPr id="36" name="c1-card-3"/>
          <p:cNvGrpSpPr/>
          <p:nvPr/>
        </p:nvGrpSpPr>
        <p:grpSpPr>
          <a:xfrm>
            <a:off x="533400" y="5005388"/>
            <a:ext cx="5193982" cy="1250632"/>
            <a:chOff x="533400" y="5005388"/>
            <a:chExt cx="5193982" cy="1250632"/>
          </a:xfrm>
        </p:grpSpPr>
        <p:sp>
          <p:nvSpPr>
            <p:cNvPr id="31" name="Rectangle 31"/>
            <p:cNvSpPr/>
            <p:nvPr/>
          </p:nvSpPr>
          <p:spPr>
            <a:xfrm>
              <a:off x="533400" y="5005388"/>
              <a:ext cx="5193982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5138738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9620" y="5203508"/>
              <a:ext cx="130302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3518" y="5237798"/>
              <a:ext cx="1175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Cache 一致性协议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381" y="556498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在多个处理器中用来维护一致性的协议，关键是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跟踪记录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共享数据块的状态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032182" y="1524000"/>
            <a:ext cx="5626418" cy="1913573"/>
            <a:chOff x="6032182" y="1524000"/>
            <a:chExt cx="5626418" cy="1913573"/>
          </a:xfrm>
        </p:grpSpPr>
        <p:sp>
          <p:nvSpPr>
            <p:cNvPr id="37" name="Rectangle 37"/>
            <p:cNvSpPr/>
            <p:nvPr/>
          </p:nvSpPr>
          <p:spPr>
            <a:xfrm>
              <a:off x="6032182" y="1524000"/>
              <a:ext cx="5626418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3986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67853" y="165258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共享状态记在哪里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29303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典型场合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34672" y="2076450"/>
              <a:ext cx="1069086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目录式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（directory）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85316" y="2076450"/>
              <a:ext cx="2145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物理存储器中数据块的共享状态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保存在一个称为目录的地方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60864" y="2076450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分布式共享存储，处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理器较多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25812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32182" y="2586038"/>
              <a:ext cx="5626418" cy="85153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34672" y="2821305"/>
              <a:ext cx="98107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监听式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（snooping）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85316" y="2714625"/>
              <a:ext cx="21457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Cache 除了块的数据拷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贝，也保存着各个块的共享状态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60864" y="2821305"/>
              <a:ext cx="14371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 Cache 挂在同一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条共享存储器总线上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1524000"/>
              <a:ext cx="5626418" cy="191357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378065" y="1524000"/>
              <a:ext cx="9525" cy="1913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853612" y="1524000"/>
              <a:ext cx="9525" cy="1913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rd-2"/>
          <p:cNvGrpSpPr/>
          <p:nvPr/>
        </p:nvGrpSpPr>
        <p:grpSpPr>
          <a:xfrm>
            <a:off x="6032182" y="3617595"/>
            <a:ext cx="5626418" cy="2639378"/>
            <a:chOff x="6032182" y="3617595"/>
            <a:chExt cx="5626418" cy="2639378"/>
          </a:xfrm>
        </p:grpSpPr>
        <p:sp>
          <p:nvSpPr>
            <p:cNvPr id="53" name="Rectangle 53"/>
            <p:cNvSpPr/>
            <p:nvPr/>
          </p:nvSpPr>
          <p:spPr>
            <a:xfrm>
              <a:off x="6032182" y="3617595"/>
              <a:ext cx="5626418" cy="2639378"/>
            </a:xfrm>
            <a:prstGeom prst="roundRect">
              <a:avLst>
                <a:gd name="adj" fmla="val 50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41708" y="3750945"/>
              <a:ext cx="47625" cy="237267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68402" y="381571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31839" y="385000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监听式协议怎样工作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268402" y="416433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26747" y="42037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59296" y="4176236"/>
              <a:ext cx="29560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 Cache 连在共享存储器的总线上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268402" y="448151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26747" y="452185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59296" y="4494371"/>
              <a:ext cx="44853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 Cache 要访问存储器时，把请求放到总线上广播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268402" y="479964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26747" y="483998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59296" y="4811554"/>
              <a:ext cx="45860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 Cache 控制器一直在监听总线，判断自己是否有总线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上请求的数据块，有就做相应操作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517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986" y="407194"/>
              <a:ext cx="2865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Cache 一致性问题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写作废协议：写之前先作废其他副本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7" name="c1-graph-1"/>
          <p:cNvGrpSpPr/>
          <p:nvPr/>
        </p:nvGrpSpPr>
        <p:grpSpPr>
          <a:xfrm>
            <a:off x="642938" y="1550670"/>
            <a:ext cx="5732144" cy="3575685"/>
            <a:chOff x="642938" y="1550670"/>
            <a:chExt cx="5732144" cy="3575685"/>
          </a:xfrm>
        </p:grpSpPr>
        <p:sp>
          <p:nvSpPr>
            <p:cNvPr id="7" name="Freeform 7"/>
            <p:cNvSpPr/>
            <p:nvPr/>
          </p:nvSpPr>
          <p:spPr>
            <a:xfrm>
              <a:off x="671512" y="4113848"/>
              <a:ext cx="2640330" cy="9525"/>
            </a:xfrm>
            <a:custGeom>
              <a:avLst/>
              <a:gdLst/>
              <a:ahLst/>
              <a:cxnLst/>
              <a:rect l="l" t="t" r="r" b="b"/>
              <a:pathLst>
                <a:path w="2640330" h="9525">
                  <a:moveTo>
                    <a:pt x="0" y="0"/>
                  </a:moveTo>
                  <a:lnTo>
                    <a:pt x="2640330" y="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059180" y="2571750"/>
              <a:ext cx="9525" cy="396240"/>
            </a:xfrm>
            <a:custGeom>
              <a:avLst/>
              <a:gdLst/>
              <a:ahLst/>
              <a:cxnLst/>
              <a:rect l="l" t="t" r="r" b="b"/>
              <a:pathLst>
                <a:path w="9525"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11555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011555" y="2476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59180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991678" y="2571750"/>
              <a:ext cx="9525" cy="396240"/>
            </a:xfrm>
            <a:custGeom>
              <a:avLst/>
              <a:gdLst/>
              <a:ahLst/>
              <a:cxnLst/>
              <a:rect l="l" t="t" r="r" b="b"/>
              <a:pathLst>
                <a:path w="9525"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944052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944052" y="2476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991678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24175" y="2571750"/>
              <a:ext cx="9525" cy="396240"/>
            </a:xfrm>
            <a:custGeom>
              <a:avLst/>
              <a:gdLst/>
              <a:ahLst/>
              <a:cxnLst/>
              <a:rect l="l" t="t" r="r" b="b"/>
              <a:pathLst>
                <a:path w="9525"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876550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876550" y="2476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924175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991678" y="4132898"/>
              <a:ext cx="9525" cy="669608"/>
            </a:xfrm>
            <a:custGeom>
              <a:avLst/>
              <a:gdLst/>
              <a:ahLst/>
              <a:cxnLst/>
              <a:rect l="l" t="t" r="r" b="b"/>
              <a:pathLst>
                <a:path w="9525" h="669608">
                  <a:moveTo>
                    <a:pt x="0" y="66960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706178" y="4113848"/>
              <a:ext cx="2640330" cy="9525"/>
            </a:xfrm>
            <a:custGeom>
              <a:avLst/>
              <a:gdLst/>
              <a:ahLst/>
              <a:cxnLst/>
              <a:rect l="l" t="t" r="r" b="b"/>
              <a:pathLst>
                <a:path w="2640330" h="9525">
                  <a:moveTo>
                    <a:pt x="0" y="0"/>
                  </a:moveTo>
                  <a:lnTo>
                    <a:pt x="2640330" y="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093845" y="2571750"/>
              <a:ext cx="9525" cy="396240"/>
            </a:xfrm>
            <a:custGeom>
              <a:avLst/>
              <a:gdLst/>
              <a:ahLst/>
              <a:cxnLst/>
              <a:rect l="l" t="t" r="r" b="b"/>
              <a:pathLst>
                <a:path w="9525"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046220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4046220" y="2476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093845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026342" y="2571750"/>
              <a:ext cx="9525" cy="396240"/>
            </a:xfrm>
            <a:custGeom>
              <a:avLst/>
              <a:gdLst/>
              <a:ahLst/>
              <a:cxnLst/>
              <a:rect l="l" t="t" r="r" b="b"/>
              <a:pathLst>
                <a:path w="9525"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978718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978718" y="2476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5026342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58840" y="2571750"/>
              <a:ext cx="9525" cy="396240"/>
            </a:xfrm>
            <a:custGeom>
              <a:avLst/>
              <a:gdLst/>
              <a:ahLst/>
              <a:cxnLst/>
              <a:rect l="l" t="t" r="r" b="b"/>
              <a:pathLst>
                <a:path w="9525"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911215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5911215" y="2476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5958840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026342" y="4132898"/>
              <a:ext cx="9525" cy="669608"/>
            </a:xfrm>
            <a:custGeom>
              <a:avLst/>
              <a:gdLst/>
              <a:ahLst/>
              <a:cxnLst/>
              <a:rect l="l" t="t" r="r" b="b"/>
              <a:pathLst>
                <a:path w="9525" h="669608">
                  <a:moveTo>
                    <a:pt x="0" y="669608"/>
                  </a:moveTo>
                  <a:lnTo>
                    <a:pt x="9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2938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321368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11530" y="1971675"/>
              <a:ext cx="495300" cy="4953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59130" y="3063240"/>
              <a:ext cx="80010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049655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744028" y="1971675"/>
              <a:ext cx="495300" cy="4953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591628" y="3063240"/>
              <a:ext cx="80010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982152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676525" y="1971675"/>
              <a:ext cx="495300" cy="4953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524125" y="3063240"/>
              <a:ext cx="80010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2914650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277302" y="4802505"/>
              <a:ext cx="1428750" cy="323850"/>
            </a:xfrm>
            <a:prstGeom prst="roundRect">
              <a:avLst>
                <a:gd name="adj" fmla="val 29412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982152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3677602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356032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3846195" y="1971675"/>
              <a:ext cx="495300" cy="4953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3693795" y="3063240"/>
              <a:ext cx="800100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4084320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4778692" y="1971675"/>
              <a:ext cx="495300" cy="4953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4626292" y="3063240"/>
              <a:ext cx="800100" cy="323850"/>
            </a:xfrm>
            <a:prstGeom prst="roundRect">
              <a:avLst>
                <a:gd name="adj" fmla="val 2941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5016818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5711190" y="1971675"/>
              <a:ext cx="495300" cy="4953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558790" y="3063240"/>
              <a:ext cx="800100" cy="323850"/>
            </a:xfrm>
            <a:prstGeom prst="roundRect">
              <a:avLst>
                <a:gd name="adj" fmla="val 2941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5949315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311968" y="4802505"/>
              <a:ext cx="1428750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5017770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57822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A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6888" y="3159443"/>
              <a:ext cx="384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m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790319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99385" y="3159443"/>
              <a:ext cx="384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m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722816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C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731883" y="3159443"/>
              <a:ext cx="384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m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635141" y="4898708"/>
              <a:ext cx="713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主存 X = m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892487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A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916815" y="3159443"/>
              <a:ext cx="354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p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824984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B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879658" y="315944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757482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C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812155" y="315944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作废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685068" y="4898708"/>
              <a:ext cx="68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 X = p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405861" y="1550670"/>
              <a:ext cx="11716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(a) CPU A 写入前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279396" y="1550670"/>
              <a:ext cx="14938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(b) 写 p：先作废 B、C</a:t>
              </a:r>
            </a:p>
          </p:txBody>
        </p:sp>
      </p:grpSp>
      <p:grpSp>
        <p:nvGrpSpPr>
          <p:cNvPr id="84" name="c1-callout-2"/>
          <p:cNvGrpSpPr/>
          <p:nvPr/>
        </p:nvGrpSpPr>
        <p:grpSpPr>
          <a:xfrm>
            <a:off x="533400" y="5579745"/>
            <a:ext cx="5951220" cy="782955"/>
            <a:chOff x="533400" y="5579745"/>
            <a:chExt cx="5951220" cy="782955"/>
          </a:xfrm>
        </p:grpSpPr>
        <p:sp>
          <p:nvSpPr>
            <p:cNvPr id="78" name="Rectangle 78"/>
            <p:cNvSpPr/>
            <p:nvPr/>
          </p:nvSpPr>
          <p:spPr>
            <a:xfrm>
              <a:off x="533400" y="5579745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130" y="5728335"/>
              <a:ext cx="50539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例子采用监听总线和写直达法，所以 CPU A 写 Cache 的同时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也把 p 写入主存单元 X。</a:t>
              </a:r>
            </a:p>
          </p:txBody>
        </p:sp>
      </p:grpSp>
      <p:grpSp>
        <p:nvGrpSpPr>
          <p:cNvPr id="90" name="c2-card-1"/>
          <p:cNvGrpSpPr/>
          <p:nvPr/>
        </p:nvGrpSpPr>
        <p:grpSpPr>
          <a:xfrm>
            <a:off x="6789420" y="1524000"/>
            <a:ext cx="4869180" cy="1316355"/>
            <a:chOff x="6789420" y="1524000"/>
            <a:chExt cx="4869180" cy="1316355"/>
          </a:xfrm>
        </p:grpSpPr>
        <p:sp>
          <p:nvSpPr>
            <p:cNvPr id="85" name="Rectangle 85"/>
            <p:cNvSpPr/>
            <p:nvPr/>
          </p:nvSpPr>
          <p:spPr>
            <a:xfrm>
              <a:off x="6789420" y="1524000"/>
              <a:ext cx="486918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79894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03707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11447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写作废协议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029450" y="211074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处理器对某个数据项写入之前，先保证自己拥有对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该数据项的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唯一访问权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，即作废其他副本。</a:t>
              </a:r>
            </a:p>
          </p:txBody>
        </p:sp>
      </p:grpSp>
      <p:grpSp>
        <p:nvGrpSpPr>
          <p:cNvPr id="108" name="c2-steps-2"/>
          <p:cNvGrpSpPr/>
          <p:nvPr/>
        </p:nvGrpSpPr>
        <p:grpSpPr>
          <a:xfrm>
            <a:off x="6789420" y="3040380"/>
            <a:ext cx="4460316" cy="2529173"/>
            <a:chOff x="6789420" y="3040380"/>
            <a:chExt cx="4460316" cy="2529173"/>
          </a:xfrm>
        </p:grpSpPr>
        <p:sp>
          <p:nvSpPr>
            <p:cNvPr id="91" name="Rectangle 91"/>
            <p:cNvSpPr/>
            <p:nvPr/>
          </p:nvSpPr>
          <p:spPr>
            <a:xfrm>
              <a:off x="6922770" y="318325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6789420" y="30403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883044" y="3114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6789420" y="36909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883044" y="3764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6789420" y="43414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883044" y="44153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6789420" y="4993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883044" y="5066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200900" y="307467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初始状态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202043" y="3368516"/>
              <a:ext cx="32479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A、B、C 的 Cache 中都有 X 的副本 m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200900" y="372522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先作废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202043" y="4019074"/>
              <a:ext cx="4047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A 要写 X，先作废 Cache B 和 Cache C 中的副本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200900" y="43757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再写入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202043" y="4669631"/>
              <a:ext cx="21546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 写入 Cache A 中的副本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200900" y="50272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写直达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202043" y="5320189"/>
              <a:ext cx="1916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同时用 p 更新主存单元 X</a:t>
              </a:r>
            </a:p>
          </p:txBody>
        </p:sp>
      </p:grpSp>
      <p:grpSp>
        <p:nvGrpSpPr>
          <p:cNvPr id="11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9" name="TextBox 109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517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986" y="407194"/>
              <a:ext cx="2865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Cache 一致性问题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写更新协议：写的同时把新值广播给所有副本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7" name="c1-graph-1"/>
          <p:cNvGrpSpPr/>
          <p:nvPr/>
        </p:nvGrpSpPr>
        <p:grpSpPr>
          <a:xfrm>
            <a:off x="642938" y="1550670"/>
            <a:ext cx="5732144" cy="3575685"/>
            <a:chOff x="642938" y="1550670"/>
            <a:chExt cx="5732144" cy="3575685"/>
          </a:xfrm>
        </p:grpSpPr>
        <p:sp>
          <p:nvSpPr>
            <p:cNvPr id="7" name="Freeform 7"/>
            <p:cNvSpPr/>
            <p:nvPr/>
          </p:nvSpPr>
          <p:spPr>
            <a:xfrm>
              <a:off x="671512" y="4113848"/>
              <a:ext cx="2640330" cy="9525"/>
            </a:xfrm>
            <a:custGeom>
              <a:avLst/>
              <a:gdLst/>
              <a:ahLst/>
              <a:cxnLst/>
              <a:rect l="l" t="t" r="r" b="b"/>
              <a:pathLst>
                <a:path w="2640330" h="9525">
                  <a:moveTo>
                    <a:pt x="0" y="0"/>
                  </a:moveTo>
                  <a:lnTo>
                    <a:pt x="2640330" y="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059180" y="2571750"/>
              <a:ext cx="9525" cy="396240"/>
            </a:xfrm>
            <a:custGeom>
              <a:avLst/>
              <a:gdLst/>
              <a:ahLst/>
              <a:cxnLst/>
              <a:rect l="l" t="t" r="r" b="b"/>
              <a:pathLst>
                <a:path w="9525"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11555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011555" y="2476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59180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991678" y="2571750"/>
              <a:ext cx="9525" cy="396240"/>
            </a:xfrm>
            <a:custGeom>
              <a:avLst/>
              <a:gdLst/>
              <a:ahLst/>
              <a:cxnLst/>
              <a:rect l="l" t="t" r="r" b="b"/>
              <a:pathLst>
                <a:path w="9525"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944052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944052" y="2476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991678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24175" y="2571750"/>
              <a:ext cx="9525" cy="396240"/>
            </a:xfrm>
            <a:custGeom>
              <a:avLst/>
              <a:gdLst/>
              <a:ahLst/>
              <a:cxnLst/>
              <a:rect l="l" t="t" r="r" b="b"/>
              <a:pathLst>
                <a:path w="9525"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876550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876550" y="2476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924175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991678" y="4132898"/>
              <a:ext cx="9525" cy="669608"/>
            </a:xfrm>
            <a:custGeom>
              <a:avLst/>
              <a:gdLst/>
              <a:ahLst/>
              <a:cxnLst/>
              <a:rect l="l" t="t" r="r" b="b"/>
              <a:pathLst>
                <a:path w="9525" h="669608">
                  <a:moveTo>
                    <a:pt x="0" y="66960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706178" y="4113848"/>
              <a:ext cx="2640330" cy="9525"/>
            </a:xfrm>
            <a:custGeom>
              <a:avLst/>
              <a:gdLst/>
              <a:ahLst/>
              <a:cxnLst/>
              <a:rect l="l" t="t" r="r" b="b"/>
              <a:pathLst>
                <a:path w="2640330" h="9525">
                  <a:moveTo>
                    <a:pt x="0" y="0"/>
                  </a:moveTo>
                  <a:lnTo>
                    <a:pt x="2640330" y="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093845" y="2571750"/>
              <a:ext cx="9525" cy="396240"/>
            </a:xfrm>
            <a:custGeom>
              <a:avLst/>
              <a:gdLst/>
              <a:ahLst/>
              <a:cxnLst/>
              <a:rect l="l" t="t" r="r" b="b"/>
              <a:pathLst>
                <a:path w="9525"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046220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4046220" y="2476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093845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026342" y="2571750"/>
              <a:ext cx="9525" cy="396240"/>
            </a:xfrm>
            <a:custGeom>
              <a:avLst/>
              <a:gdLst/>
              <a:ahLst/>
              <a:cxnLst/>
              <a:rect l="l" t="t" r="r" b="b"/>
              <a:pathLst>
                <a:path w="9525"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978718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978718" y="2476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5026342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58840" y="2571750"/>
              <a:ext cx="9525" cy="396240"/>
            </a:xfrm>
            <a:custGeom>
              <a:avLst/>
              <a:gdLst/>
              <a:ahLst/>
              <a:cxnLst/>
              <a:rect l="l" t="t" r="r" b="b"/>
              <a:pathLst>
                <a:path w="9525"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911215" y="2967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5911215" y="2476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5958840" y="3387090"/>
              <a:ext cx="9525" cy="707707"/>
            </a:xfrm>
            <a:custGeom>
              <a:avLst/>
              <a:gdLst/>
              <a:ahLst/>
              <a:cxnLst/>
              <a:rect l="l" t="t" r="r" b="b"/>
              <a:pathLst>
                <a:path w="9525" h="707707">
                  <a:moveTo>
                    <a:pt x="0" y="0"/>
                  </a:moveTo>
                  <a:lnTo>
                    <a:pt x="0" y="7077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026342" y="4132898"/>
              <a:ext cx="9525" cy="669608"/>
            </a:xfrm>
            <a:custGeom>
              <a:avLst/>
              <a:gdLst/>
              <a:ahLst/>
              <a:cxnLst/>
              <a:rect l="l" t="t" r="r" b="b"/>
              <a:pathLst>
                <a:path w="9525" h="669608">
                  <a:moveTo>
                    <a:pt x="0" y="669608"/>
                  </a:moveTo>
                  <a:lnTo>
                    <a:pt x="9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2938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321368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11530" y="1971675"/>
              <a:ext cx="495300" cy="4953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59130" y="3063240"/>
              <a:ext cx="80010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049655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744028" y="1971675"/>
              <a:ext cx="495300" cy="4953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591628" y="3063240"/>
              <a:ext cx="80010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982152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676525" y="1971675"/>
              <a:ext cx="495300" cy="4953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524125" y="3063240"/>
              <a:ext cx="80010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2914650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277302" y="4802505"/>
              <a:ext cx="1428750" cy="323850"/>
            </a:xfrm>
            <a:prstGeom prst="roundRect">
              <a:avLst>
                <a:gd name="adj" fmla="val 29412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982152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3677602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356032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3846195" y="1971675"/>
              <a:ext cx="495300" cy="4953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3693795" y="3063240"/>
              <a:ext cx="800100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4084320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4778692" y="1971675"/>
              <a:ext cx="495300" cy="4953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4626292" y="3063240"/>
              <a:ext cx="800100" cy="323850"/>
            </a:xfrm>
            <a:prstGeom prst="roundRect">
              <a:avLst>
                <a:gd name="adj" fmla="val 2941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5016818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5711190" y="1971675"/>
              <a:ext cx="495300" cy="4953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558790" y="3063240"/>
              <a:ext cx="800100" cy="323850"/>
            </a:xfrm>
            <a:prstGeom prst="roundRect">
              <a:avLst>
                <a:gd name="adj" fmla="val 2941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5949315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311968" y="4802505"/>
              <a:ext cx="1428750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5017770" y="4104322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57822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A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6888" y="3159443"/>
              <a:ext cx="384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m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790319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99385" y="3159443"/>
              <a:ext cx="384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m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722816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C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731883" y="3159443"/>
              <a:ext cx="384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m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635141" y="4898708"/>
              <a:ext cx="713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主存 X = m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892487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A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916815" y="3159443"/>
              <a:ext cx="354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p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824984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B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849312" y="3159443"/>
              <a:ext cx="354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 = p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757482" y="2154555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C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781810" y="3159443"/>
              <a:ext cx="3540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 = p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685068" y="4898708"/>
              <a:ext cx="68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 X = p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405861" y="1550670"/>
              <a:ext cx="11716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(a) CPU A 写入前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208720" y="1550670"/>
              <a:ext cx="1635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(b) 写 p：广播更新 B、C</a:t>
              </a:r>
            </a:p>
          </p:txBody>
        </p:sp>
      </p:grpSp>
      <p:grpSp>
        <p:nvGrpSpPr>
          <p:cNvPr id="84" name="c1-callout-2"/>
          <p:cNvGrpSpPr/>
          <p:nvPr/>
        </p:nvGrpSpPr>
        <p:grpSpPr>
          <a:xfrm>
            <a:off x="533400" y="5579745"/>
            <a:ext cx="5951220" cy="782955"/>
            <a:chOff x="533400" y="5579745"/>
            <a:chExt cx="5951220" cy="782955"/>
          </a:xfrm>
        </p:grpSpPr>
        <p:sp>
          <p:nvSpPr>
            <p:cNvPr id="78" name="Rectangle 78"/>
            <p:cNvSpPr/>
            <p:nvPr/>
          </p:nvSpPr>
          <p:spPr>
            <a:xfrm>
              <a:off x="533400" y="5579745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130" y="5728335"/>
              <a:ext cx="5044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写直达：写 Cache 的同时写主存。写回：只写 Cache，块被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替换出去时才写回主存。</a:t>
              </a:r>
            </a:p>
          </p:txBody>
        </p:sp>
      </p:grpSp>
      <p:grpSp>
        <p:nvGrpSpPr>
          <p:cNvPr id="90" name="c2-card-1"/>
          <p:cNvGrpSpPr/>
          <p:nvPr/>
        </p:nvGrpSpPr>
        <p:grpSpPr>
          <a:xfrm>
            <a:off x="6789420" y="1524000"/>
            <a:ext cx="4869180" cy="1316355"/>
            <a:chOff x="6789420" y="1524000"/>
            <a:chExt cx="4869180" cy="1316355"/>
          </a:xfrm>
        </p:grpSpPr>
        <p:sp>
          <p:nvSpPr>
            <p:cNvPr id="85" name="Rectangle 85"/>
            <p:cNvSpPr/>
            <p:nvPr/>
          </p:nvSpPr>
          <p:spPr>
            <a:xfrm>
              <a:off x="6789420" y="1524000"/>
              <a:ext cx="486918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79894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03707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11447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写更新协议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029450" y="2110740"/>
              <a:ext cx="4215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一个处理器对某数据项写入时，通过广播使其他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中所有对应于该数据项的副本都进行更新。</a:t>
              </a:r>
            </a:p>
          </p:txBody>
        </p:sp>
      </p:grpSp>
      <p:grpSp>
        <p:nvGrpSpPr>
          <p:cNvPr id="108" name="c2-steps-2"/>
          <p:cNvGrpSpPr/>
          <p:nvPr/>
        </p:nvGrpSpPr>
        <p:grpSpPr>
          <a:xfrm>
            <a:off x="6789420" y="3040380"/>
            <a:ext cx="4906869" cy="2764440"/>
            <a:chOff x="6789420" y="3040380"/>
            <a:chExt cx="4906869" cy="2764440"/>
          </a:xfrm>
        </p:grpSpPr>
        <p:sp>
          <p:nvSpPr>
            <p:cNvPr id="91" name="Rectangle 91"/>
            <p:cNvSpPr/>
            <p:nvPr/>
          </p:nvSpPr>
          <p:spPr>
            <a:xfrm>
              <a:off x="6922770" y="3183255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6789420" y="30403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883044" y="31141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6789420" y="36909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883044" y="3764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6789420" y="457676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883044" y="4650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6789420" y="52273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883044" y="53011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200900" y="307467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初始状态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202043" y="3368516"/>
              <a:ext cx="23397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个 Cache 中都有 X 的副本 m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200900" y="372522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广播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202043" y="4019074"/>
              <a:ext cx="38006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A 把 p 写入 Cache A 的副本时，把 p 广播给所有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200900" y="461105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202043" y="4903946"/>
              <a:ext cx="25180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 Cache 用 p 更新自己的副本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200900" y="526161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写直达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202043" y="5555456"/>
              <a:ext cx="44942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A 还要把 p 写入存储器中的 X；若采用写回法则不需要</a:t>
              </a:r>
            </a:p>
          </p:txBody>
        </p:sp>
      </p:grpSp>
      <p:grpSp>
        <p:nvGrpSpPr>
          <p:cNvPr id="11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9" name="TextBox 109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517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986" y="407194"/>
              <a:ext cx="2865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Cache 一致性问题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写作废与写更新：一个广播少，一个读到新值快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410200" cy="2924175"/>
            <a:chOff x="533400" y="1524000"/>
            <a:chExt cx="5410200" cy="29241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998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598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写更新协议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5955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写作废协议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对同一数据连续多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次写，中间无读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64283" y="22217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每次写都要广播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57853" y="222170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只需一次作废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234999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对同一 Cache 块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的多个字写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64283" y="2783681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每个字写一次就广播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57853" y="2783681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只在第一次写该块时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4590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操作的单位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64283" y="34590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字（或字节）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57853" y="3459004"/>
              <a:ext cx="7167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80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72852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907631"/>
              <a:ext cx="13296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写入后到 B 能读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到新值的延迟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64283" y="3907631"/>
              <a:ext cx="14516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较小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：B 的副本已被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57853" y="3907631"/>
              <a:ext cx="14516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较大：B 要重新取回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410200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151698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45268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llout-2"/>
          <p:cNvGrpSpPr/>
          <p:nvPr/>
        </p:nvGrpSpPr>
        <p:grpSpPr>
          <a:xfrm>
            <a:off x="533400" y="4638675"/>
            <a:ext cx="5410200" cy="1335405"/>
            <a:chOff x="533400" y="4638675"/>
            <a:chExt cx="5410200" cy="1335405"/>
          </a:xfrm>
        </p:grpSpPr>
        <p:sp>
          <p:nvSpPr>
            <p:cNvPr id="32" name="Rectangle 32"/>
            <p:cNvSpPr/>
            <p:nvPr/>
          </p:nvSpPr>
          <p:spPr>
            <a:xfrm>
              <a:off x="533400" y="4638675"/>
              <a:ext cx="5410200" cy="1335405"/>
            </a:xfrm>
            <a:prstGeom prst="roundRect">
              <a:avLst>
                <a:gd name="adj" fmla="val 85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206367"/>
              <a:ext cx="200023" cy="200023"/>
              <a:chOff x="738188" y="5206367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20636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52730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4787265"/>
              <a:ext cx="43967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总线带宽是基于总线的多处理机中最紧缺的资源，而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写作废产生的总线流量少，所以多数这类系统采用写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作废协议。后面的监听协议和目录协议都以写作废为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前提。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6248400" y="1524000"/>
            <a:ext cx="5410200" cy="4450080"/>
            <a:chOff x="6248400" y="1524000"/>
            <a:chExt cx="5410200" cy="4450080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4450080"/>
            </a:xfrm>
            <a:prstGeom prst="roundRect">
              <a:avLst>
                <a:gd name="adj" fmla="val 29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1657350"/>
              <a:ext cx="47625" cy="41833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96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7345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例（补充）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23798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数一数广播次数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8430" y="2129790"/>
              <a:ext cx="4634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b 含字 w0–w3，开始时 A、B 的 Cache 都有 b 的副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本。A 依次写 w0 三次，再写 w1、w2、w3 各一次，中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间没有读。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96050" y="3011805"/>
              <a:ext cx="49530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11619" y="31475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协议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74736" y="31475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总线广播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88366" y="3147536"/>
              <a:ext cx="1039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 B 读 w0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03873" y="370951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写更新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92593" y="3596164"/>
              <a:ext cx="14516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次：每次写广播一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74733" y="3596164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命中，本地副本已是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新值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96050" y="4130992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96050" y="4135755"/>
              <a:ext cx="49530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03873" y="43848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写作废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92593" y="4271486"/>
              <a:ext cx="14516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次：第一次写时作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废 B 的副本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74733" y="4271486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缺失，要从总线上取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回最新的块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96050" y="3011805"/>
              <a:ext cx="49530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680008" y="301180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562148" y="301180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89573" y="4927759"/>
              <a:ext cx="45560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写作废之后 A 的块已是独占的，后面 5 次写都在本地完成。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332281" cy="3706177"/>
            <a:chOff x="667512" y="1835468"/>
            <a:chExt cx="6332281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监听协议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223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 Cache 挂在同一条总线上，靠广播消息和一直监听来保持一致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实现要点与总线消息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41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I、S、M 三种块状态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请求来自处理器时的状态转换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请求来自总线时的状态转换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完整跟踪例子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监听协议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实现监听协议的三个关键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595239" cy="2099786"/>
            <a:chOff x="533400" y="1533525"/>
            <a:chExt cx="5595239" cy="209978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72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060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156495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可以广播的互连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183308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处理器之间用一个能实现广播的互连机制相连，通常就是总线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214788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涉及全局操作时发消息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2416016"/>
              <a:ext cx="51818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响应本地 CPU 的访问时，如果涉及全局操作，Cache 控制器先获得总线控制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权，再在总线上发出相应的消息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93846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所有处理器一直监听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205639"/>
              <a:ext cx="51818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检测总线上的地址在自己的 Cache 中是否有副本；有就响应这条消息，并进行相应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的操作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3796665"/>
            <a:ext cx="5842635" cy="729615"/>
            <a:chOff x="533400" y="3796665"/>
            <a:chExt cx="5842635" cy="729615"/>
          </a:xfrm>
        </p:grpSpPr>
        <p:sp>
          <p:nvSpPr>
            <p:cNvPr id="21" name="Rectangle 21"/>
            <p:cNvSpPr/>
            <p:nvPr/>
          </p:nvSpPr>
          <p:spPr>
            <a:xfrm>
              <a:off x="533400" y="3796665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061462"/>
              <a:ext cx="200023" cy="200023"/>
              <a:chOff x="738188" y="4061462"/>
              <a:chExt cx="200023" cy="2000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0614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1538" y="41281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3943350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写操作的串行化由总线实现：处理器获得总线控制权有先后，写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也就有了统一的顺序。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695825"/>
            <a:ext cx="5842635" cy="1443038"/>
            <a:chOff x="533400" y="4695825"/>
            <a:chExt cx="5842635" cy="1443038"/>
          </a:xfrm>
        </p:grpSpPr>
        <p:sp>
          <p:nvSpPr>
            <p:cNvPr id="27" name="Rectangle 27"/>
            <p:cNvSpPr/>
            <p:nvPr/>
          </p:nvSpPr>
          <p:spPr>
            <a:xfrm>
              <a:off x="533400" y="4695825"/>
              <a:ext cx="5842635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829175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8190" y="488251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0862" y="49153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332" y="5227320"/>
              <a:ext cx="5157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每条消息都要所有处理器监听、比对，而总线同一时刻只能传一条消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息。处理器越多，总线越忙，所以监听协议的可扩放性很差，只适合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处理器不多的总线式多处理机。</a:t>
              </a:r>
            </a:p>
          </p:txBody>
        </p:sp>
      </p:grpSp>
      <p:grpSp>
        <p:nvGrpSpPr>
          <p:cNvPr id="79" name="c2-graph-1"/>
          <p:cNvGrpSpPr/>
          <p:nvPr/>
        </p:nvGrpSpPr>
        <p:grpSpPr>
          <a:xfrm>
            <a:off x="6721792" y="1549241"/>
            <a:ext cx="4896803" cy="4843938"/>
            <a:chOff x="6721792" y="1549241"/>
            <a:chExt cx="4896803" cy="4843938"/>
          </a:xfrm>
        </p:grpSpPr>
        <p:sp>
          <p:nvSpPr>
            <p:cNvPr id="33" name="Freeform 33"/>
            <p:cNvSpPr/>
            <p:nvPr/>
          </p:nvSpPr>
          <p:spPr>
            <a:xfrm>
              <a:off x="6750368" y="4524375"/>
              <a:ext cx="4839652" cy="9525"/>
            </a:xfrm>
            <a:custGeom>
              <a:avLst/>
              <a:gdLst/>
              <a:ahLst/>
              <a:cxnLst/>
              <a:rect l="l" t="t" r="r" b="b"/>
              <a:pathLst>
                <a:path w="4839652" h="9525">
                  <a:moveTo>
                    <a:pt x="0" y="0"/>
                  </a:moveTo>
                  <a:lnTo>
                    <a:pt x="4839652" y="0"/>
                  </a:lnTo>
                </a:path>
              </a:pathLst>
            </a:custGeom>
            <a:noFill/>
            <a:ln w="38100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527608" y="2524125"/>
              <a:ext cx="9525" cy="479108"/>
            </a:xfrm>
            <a:custGeom>
              <a:avLst/>
              <a:gdLst/>
              <a:ahLst/>
              <a:cxnLst/>
              <a:rect l="l" t="t" r="r" b="b"/>
              <a:pathLst>
                <a:path w="9525" h="479108">
                  <a:moveTo>
                    <a:pt x="0" y="0"/>
                  </a:moveTo>
                  <a:lnTo>
                    <a:pt x="0" y="47910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479982" y="30032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479982" y="2428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169718" y="2524125"/>
              <a:ext cx="9525" cy="479108"/>
            </a:xfrm>
            <a:custGeom>
              <a:avLst/>
              <a:gdLst/>
              <a:ahLst/>
              <a:cxnLst/>
              <a:rect l="l" t="t" r="r" b="b"/>
              <a:pathLst>
                <a:path w="9525" h="479108">
                  <a:moveTo>
                    <a:pt x="0" y="0"/>
                  </a:moveTo>
                  <a:lnTo>
                    <a:pt x="0" y="47910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122092" y="30032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122092" y="2428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0812780" y="2524125"/>
              <a:ext cx="9525" cy="479108"/>
            </a:xfrm>
            <a:custGeom>
              <a:avLst/>
              <a:gdLst/>
              <a:ahLst/>
              <a:cxnLst/>
              <a:rect l="l" t="t" r="r" b="b"/>
              <a:pathLst>
                <a:path w="9525" h="479108">
                  <a:moveTo>
                    <a:pt x="0" y="0"/>
                  </a:moveTo>
                  <a:lnTo>
                    <a:pt x="0" y="47910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765155" y="30032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0765155" y="2428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527608" y="3433762"/>
              <a:ext cx="9525" cy="976312"/>
            </a:xfrm>
            <a:custGeom>
              <a:avLst/>
              <a:gdLst/>
              <a:ahLst/>
              <a:cxnLst/>
              <a:rect l="l" t="t" r="r" b="b"/>
              <a:pathLst>
                <a:path w="9525" h="976312">
                  <a:moveTo>
                    <a:pt x="0" y="0"/>
                  </a:moveTo>
                  <a:lnTo>
                    <a:pt x="0" y="976312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479982" y="44100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169718" y="3529012"/>
              <a:ext cx="9525" cy="976312"/>
            </a:xfrm>
            <a:custGeom>
              <a:avLst/>
              <a:gdLst/>
              <a:ahLst/>
              <a:cxnLst/>
              <a:rect l="l" t="t" r="r" b="b"/>
              <a:pathLst>
                <a:path w="9525" h="976312">
                  <a:moveTo>
                    <a:pt x="0" y="97631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4A38B"/>
              </a:solidFill>
              <a:custDash>
                <a:ds d="300000" sp="200000"/>
              </a:custDash>
            </a:ln>
          </p:spPr>
        </p:sp>
        <p:sp>
          <p:nvSpPr>
            <p:cNvPr id="46" name="Freeform 46"/>
            <p:cNvSpPr/>
            <p:nvPr/>
          </p:nvSpPr>
          <p:spPr>
            <a:xfrm>
              <a:off x="9122092" y="34337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0812780" y="3529012"/>
              <a:ext cx="9525" cy="976312"/>
            </a:xfrm>
            <a:custGeom>
              <a:avLst/>
              <a:gdLst/>
              <a:ahLst/>
              <a:cxnLst/>
              <a:rect l="l" t="t" r="r" b="b"/>
              <a:pathLst>
                <a:path w="9525" h="976312">
                  <a:moveTo>
                    <a:pt x="0" y="97631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5B6475"/>
              </a:solidFill>
              <a:custDash>
                <a:ds d="300000" sp="200000"/>
              </a:custDash>
            </a:ln>
          </p:spPr>
        </p:sp>
        <p:sp>
          <p:nvSpPr>
            <p:cNvPr id="48" name="Freeform 48"/>
            <p:cNvSpPr/>
            <p:nvPr/>
          </p:nvSpPr>
          <p:spPr>
            <a:xfrm>
              <a:off x="10765155" y="34337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9169718" y="4543425"/>
              <a:ext cx="9525" cy="974407"/>
            </a:xfrm>
            <a:custGeom>
              <a:avLst/>
              <a:gdLst/>
              <a:ahLst/>
              <a:cxnLst/>
              <a:rect l="l" t="t" r="r" b="b"/>
              <a:pathLst>
                <a:path w="9525" h="974407">
                  <a:moveTo>
                    <a:pt x="0" y="974407"/>
                  </a:moveTo>
                  <a:lnTo>
                    <a:pt x="9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721792" y="45148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11599545" y="45148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7260908" y="1885950"/>
              <a:ext cx="533400" cy="5334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98958" y="3098482"/>
              <a:ext cx="1257300" cy="335280"/>
            </a:xfrm>
            <a:prstGeom prst="roundRect">
              <a:avLst>
                <a:gd name="adj" fmla="val 2840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7518082" y="45148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903018" y="1885950"/>
              <a:ext cx="533400" cy="5334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541068" y="3098482"/>
              <a:ext cx="1257300" cy="335280"/>
            </a:xfrm>
            <a:prstGeom prst="roundRect">
              <a:avLst>
                <a:gd name="adj" fmla="val 28409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9160192" y="45148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10546080" y="1885950"/>
              <a:ext cx="533400" cy="5334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184130" y="3098482"/>
              <a:ext cx="1257300" cy="335280"/>
            </a:xfrm>
            <a:prstGeom prst="roundRect">
              <a:avLst>
                <a:gd name="adj" fmla="val 28409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10803255" y="45148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373428" y="5517832"/>
              <a:ext cx="1592580" cy="335280"/>
            </a:xfrm>
            <a:prstGeom prst="roundRect">
              <a:avLst>
                <a:gd name="adj" fmla="val 28409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9161145" y="4514850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42154" y="20921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31902" y="3205639"/>
              <a:ext cx="9914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Cache：缺失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84264" y="20921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77771" y="3205639"/>
              <a:ext cx="9838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P2 Cache：有 X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727326" y="20921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320834" y="3205639"/>
              <a:ext cx="9838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P3 Cache：无 X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834946" y="562498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共享存储器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276148" y="3890962"/>
              <a:ext cx="5029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291059" y="3920014"/>
              <a:ext cx="4730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RdMiss X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027795" y="3890962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054567" y="392001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监听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669905" y="3890962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697629" y="392001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监听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046821" y="1549241"/>
              <a:ext cx="22457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P1 读 X 缺失，把 RdMiss 广播到总线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361991" y="418528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总线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579385" y="6216967"/>
              <a:ext cx="31806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P2 有 X 的副本，按自己块的状态响应；P3 没有，不做操作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73488" cy="909257"/>
            <a:chOff x="520446" y="342900"/>
            <a:chExt cx="69734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监听协议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734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总线上传什么消息，Cache 块要多记哪些信息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8447" y="1524000"/>
            <a:ext cx="5631371" cy="2263806"/>
            <a:chOff x="528447" y="1524000"/>
            <a:chExt cx="5631371" cy="22638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603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3333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7711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是否调块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145506"/>
              <a:ext cx="5356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68805" y="21455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读不命中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06102" y="2045494"/>
              <a:ext cx="27139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调块：通过总线找到该块的最新副本，调入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 Cache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193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24125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645569"/>
              <a:ext cx="5679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WtMiss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68805" y="26455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写不命中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06102" y="2645569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调块：同上，调入后本处理器要写这个块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194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145631"/>
              <a:ext cx="767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Invalidate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68805" y="31456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06102" y="3045619"/>
              <a:ext cx="27637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不调块：只通知其他处理器作废 Cache 中相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应的副本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626418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76688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00418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8447" y="3597116"/>
              <a:ext cx="42984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有的监听协议才增设 Invalidate 消息。它与 WtMiss 的区别是不引起调块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3919538"/>
            <a:ext cx="5626418" cy="2377440"/>
            <a:chOff x="533400" y="3919538"/>
            <a:chExt cx="5626418" cy="2377440"/>
          </a:xfrm>
        </p:grpSpPr>
        <p:sp>
          <p:nvSpPr>
            <p:cNvPr id="28" name="Rectangle 28"/>
            <p:cNvSpPr/>
            <p:nvPr/>
          </p:nvSpPr>
          <p:spPr>
            <a:xfrm>
              <a:off x="533400" y="3919538"/>
              <a:ext cx="5626418" cy="2377440"/>
            </a:xfrm>
            <a:prstGeom prst="roundRect">
              <a:avLst>
                <a:gd name="adj" fmla="val 56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052888"/>
              <a:ext cx="47625" cy="21107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8190" y="410622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558" y="413908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最新副本在哪里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6762" y="45072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2782" y="4451032"/>
              <a:ext cx="484903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写直达 Cache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：写入的数据同时写回主存，从主存中总能取到最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新值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6762" y="50644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2782" y="5008245"/>
              <a:ext cx="473759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 Cache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：最新值可能在某个 Cache 中，也可能在主存中，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取最新值困难一些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2475" y="5562124"/>
              <a:ext cx="2285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后面的讨论只考虑写回法 Cache。</a:t>
              </a:r>
            </a:p>
          </p:txBody>
        </p:sp>
      </p:grpSp>
      <p:grpSp>
        <p:nvGrpSpPr>
          <p:cNvPr id="49" name="c2-kv-1"/>
          <p:cNvGrpSpPr/>
          <p:nvPr/>
        </p:nvGrpSpPr>
        <p:grpSpPr>
          <a:xfrm>
            <a:off x="6457760" y="1545907"/>
            <a:ext cx="5200840" cy="1949006"/>
            <a:chOff x="6457760" y="1545907"/>
            <a:chExt cx="5200840" cy="1949006"/>
          </a:xfrm>
        </p:grpSpPr>
        <p:sp>
          <p:nvSpPr>
            <p:cNvPr id="38" name="TextBox 38"/>
            <p:cNvSpPr txBox="1"/>
            <p:nvPr/>
          </p:nvSpPr>
          <p:spPr>
            <a:xfrm>
              <a:off x="6457760" y="1545907"/>
              <a:ext cx="749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标识 tag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98854" y="1545907"/>
              <a:ext cx="379418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可直接用来实现监听：把总线上的地址与本 Cache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中的 tag 比较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20859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57760" y="219265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有效位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98854" y="219265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作废一个块只需把它的有效位置为无效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24784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57760" y="258508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共享位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98854" y="2585085"/>
              <a:ext cx="390563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1：该块被多个处理器共享；为 0：仅被某个处理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器独占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31251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57760" y="323088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块的拥有者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98854" y="323088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拥有该数据块唯一副本的处理器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6464618" y="3611880"/>
            <a:ext cx="5193982" cy="729615"/>
            <a:chOff x="6464618" y="3611880"/>
            <a:chExt cx="5193982" cy="729615"/>
          </a:xfrm>
        </p:grpSpPr>
        <p:sp>
          <p:nvSpPr>
            <p:cNvPr id="50" name="Rectangle 50"/>
            <p:cNvSpPr/>
            <p:nvPr/>
          </p:nvSpPr>
          <p:spPr>
            <a:xfrm>
              <a:off x="6464618" y="3611880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669405" y="3876675"/>
              <a:ext cx="200026" cy="200025"/>
              <a:chOff x="6669405" y="3876675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669405" y="38766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09144" y="39211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43859" y="40322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972110" y="3757612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有了共享位，处理器写一个独占的块时就不必再上总线发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作废消息。</a:t>
              </a:r>
            </a:p>
          </p:txBody>
        </p:sp>
      </p:grpSp>
      <p:grpSp>
        <p:nvGrpSpPr>
          <p:cNvPr id="70" name="c2-card-3"/>
          <p:cNvGrpSpPr/>
          <p:nvPr/>
        </p:nvGrpSpPr>
        <p:grpSpPr>
          <a:xfrm>
            <a:off x="6464618" y="4511040"/>
            <a:ext cx="5193982" cy="1785938"/>
            <a:chOff x="6464618" y="4511040"/>
            <a:chExt cx="5193982" cy="1785938"/>
          </a:xfrm>
        </p:grpSpPr>
        <p:sp>
          <p:nvSpPr>
            <p:cNvPr id="57" name="Rectangle 57"/>
            <p:cNvSpPr/>
            <p:nvPr/>
          </p:nvSpPr>
          <p:spPr>
            <a:xfrm>
              <a:off x="6464618" y="4511040"/>
              <a:ext cx="5193982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4142" y="4644390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89408" y="469773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55625" y="473059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监听一条消息的过程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689408" y="503015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45086" y="50685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70204" y="5042535"/>
              <a:ext cx="3277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总线上出现地址 A 的 RdMiss 或 WtMiss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689408" y="533019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45086" y="536857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70204" y="5342573"/>
              <a:ext cx="3646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Cache 控制器按 A 找到对应的 Cache 行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689408" y="563022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45086" y="56686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70204" y="5642610"/>
              <a:ext cx="42571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该行有效且 tag 与 A 的标记相同，说明本 Cache 有这个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块，按块的状态响应；否则不理会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0553" cy="909257"/>
            <a:chOff x="520446" y="342900"/>
            <a:chExt cx="89505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监听协议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05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监听协议举例：每个 Cache 块处于 I、S、M 三种状态之一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776564" cy="293370"/>
            <a:chOff x="525780" y="1548765"/>
            <a:chExt cx="877656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776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每个结点内嵌一个有限状态控制器，根据来自处理器或总线的请求以及 Cache 块的状态做出响应。</a:t>
              </a:r>
            </a:p>
          </p:txBody>
        </p:sp>
      </p:grpSp>
      <p:grpSp>
        <p:nvGrpSpPr>
          <p:cNvPr id="23" name="c1-table-1"/>
          <p:cNvGrpSpPr/>
          <p:nvPr/>
        </p:nvGrpSpPr>
        <p:grpSpPr>
          <a:xfrm>
            <a:off x="533400" y="1954530"/>
            <a:ext cx="5951220" cy="2124075"/>
            <a:chOff x="533400" y="1954530"/>
            <a:chExt cx="5951220" cy="212407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95122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9190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14800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506980"/>
              <a:ext cx="12959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无效 I（Invalid）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82749" y="2506980"/>
              <a:ext cx="1802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中该块的内容无效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9844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03208"/>
              <a:ext cx="595122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931795"/>
              <a:ext cx="845058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 S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（Shared）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2749" y="2931795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该块可能处于共享状态：多个处理器中都有副本，这些副本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相同，且与存储器中相应的块相同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43662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5889" y="3569970"/>
              <a:ext cx="973074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已修改 M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（Modified）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82749" y="3569970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该块已被修改过，还没写入存储器；块中内容是系统中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唯一</a:t>
              </a:r>
              <a:br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的最新副本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，所以“已修改”隐含该块是独占的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1954530"/>
              <a:ext cx="5951220" cy="21240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075498" y="195453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2"/>
          <p:cNvGrpSpPr/>
          <p:nvPr/>
        </p:nvGrpSpPr>
        <p:grpSpPr>
          <a:xfrm>
            <a:off x="533400" y="4259580"/>
            <a:ext cx="5951220" cy="1886902"/>
            <a:chOff x="533400" y="4259580"/>
            <a:chExt cx="5951220" cy="1886902"/>
          </a:xfrm>
        </p:grpSpPr>
        <p:sp>
          <p:nvSpPr>
            <p:cNvPr id="24" name="Rectangle 24"/>
            <p:cNvSpPr/>
            <p:nvPr/>
          </p:nvSpPr>
          <p:spPr>
            <a:xfrm>
              <a:off x="533400" y="4259580"/>
              <a:ext cx="5951220" cy="1886902"/>
            </a:xfrm>
            <a:prstGeom prst="roundRect">
              <a:avLst>
                <a:gd name="adj" fmla="val 7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392930"/>
              <a:ext cx="47625" cy="162020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9620" y="44577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1060" y="44919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77240" y="487775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3831" y="48182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写作废协议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77240" y="519588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3831" y="5135404"/>
              <a:ext cx="11775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写回法 Cache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77240" y="551307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3831" y="545353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原子操作：如写不命中的检查、申请总线和接收响应作为一个整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体完成，中间不被打断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789420" y="1954530"/>
            <a:ext cx="4869180" cy="2126933"/>
            <a:chOff x="6789420" y="1954530"/>
            <a:chExt cx="4869180" cy="2126933"/>
          </a:xfrm>
        </p:grpSpPr>
        <p:sp>
          <p:nvSpPr>
            <p:cNvPr id="35" name="Rectangle 35"/>
            <p:cNvSpPr/>
            <p:nvPr/>
          </p:nvSpPr>
          <p:spPr>
            <a:xfrm>
              <a:off x="6789420" y="1954530"/>
              <a:ext cx="486918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44119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请求来源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15375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42994" y="208311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状态会变的块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91909" y="2720340"/>
              <a:ext cx="927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来自处理器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60626" y="2613660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本处理器的读命中、读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缺失、写命中、写缺失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10381" y="2506980"/>
              <a:ext cx="155905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发出访问的处理器 P 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 Cache 中的块；缺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失时还要向总线发消息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89420" y="322516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89420" y="3229928"/>
              <a:ext cx="4869180" cy="85153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91909" y="3571875"/>
              <a:ext cx="819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II 来自总线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60626" y="3358515"/>
              <a:ext cx="133807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其他处理器发出的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RdMiss、WtMiss、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Invalidate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10381" y="3358515"/>
              <a:ext cx="144475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监听到消息的处理器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的 Cache 中地址相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同的块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89420" y="1954530"/>
              <a:ext cx="4869180" cy="212693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953375" y="1954530"/>
              <a:ext cx="9525" cy="21269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803130" y="1954530"/>
              <a:ext cx="9525" cy="21269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2"/>
          <p:cNvGrpSpPr/>
          <p:nvPr/>
        </p:nvGrpSpPr>
        <p:grpSpPr>
          <a:xfrm>
            <a:off x="6789420" y="4261485"/>
            <a:ext cx="4869180" cy="756285"/>
            <a:chOff x="6789420" y="4261485"/>
            <a:chExt cx="4869180" cy="756285"/>
          </a:xfrm>
        </p:grpSpPr>
        <p:sp>
          <p:nvSpPr>
            <p:cNvPr id="51" name="Rectangle 51"/>
            <p:cNvSpPr/>
            <p:nvPr/>
          </p:nvSpPr>
          <p:spPr>
            <a:xfrm>
              <a:off x="6789420" y="4261485"/>
              <a:ext cx="486918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982149" y="4535923"/>
              <a:ext cx="224134" cy="192560"/>
              <a:chOff x="6982149" y="4535923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094220" y="46062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982149" y="45359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094220" y="46840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296531" y="4408646"/>
              <a:ext cx="399999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分析一次访存要看两边：发起方按“来自处理器”的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表转换，其他每个处理器按“来自总线”的表转换。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监听协议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请求来自处理器（一）：读命中与读缺失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33400" y="1524000"/>
            <a:ext cx="6059805" cy="2548890"/>
            <a:chOff x="533400" y="1524000"/>
            <a:chExt cx="6059805" cy="25488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009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46276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块原状态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5496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31552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功能与解释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19978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新状态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9323" y="20764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读命中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26438" y="2076450"/>
              <a:ext cx="498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或 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54961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正常命中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40976" y="2076450"/>
              <a:ext cx="185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读取本地 Cache 中的数据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00750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679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72678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9323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读缺失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43761" y="2501265"/>
              <a:ext cx="633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54961" y="25012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正常缺失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40976" y="2501265"/>
              <a:ext cx="1615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RdMiss 放到总线上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15355" y="250126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79273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323" y="30327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读缺失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22425" y="303276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16505" y="30327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40976" y="2926080"/>
              <a:ext cx="22753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地址冲突缺失：把 RdMiss 放到总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15355" y="303276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4299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434715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323" y="36699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读缺失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05356" y="3669982"/>
              <a:ext cx="140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16505" y="36699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40976" y="3563302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地址冲突缺失：先写回，再把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 放到总线上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15355" y="366998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059805" cy="25488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316355" y="152400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225040" y="152400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133725" y="152400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39765" y="152400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ard-2"/>
          <p:cNvGrpSpPr/>
          <p:nvPr/>
        </p:nvGrpSpPr>
        <p:grpSpPr>
          <a:xfrm>
            <a:off x="533400" y="4252912"/>
            <a:ext cx="6059805" cy="1801178"/>
            <a:chOff x="533400" y="4252912"/>
            <a:chExt cx="6059805" cy="1801178"/>
          </a:xfrm>
        </p:grpSpPr>
        <p:sp>
          <p:nvSpPr>
            <p:cNvPr id="44" name="Rectangle 44"/>
            <p:cNvSpPr/>
            <p:nvPr/>
          </p:nvSpPr>
          <p:spPr>
            <a:xfrm>
              <a:off x="533400" y="4252912"/>
              <a:ext cx="6059805" cy="1801178"/>
            </a:xfrm>
            <a:prstGeom prst="roundRect">
              <a:avLst>
                <a:gd name="adj" fmla="val 74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4386262"/>
              <a:ext cx="47625" cy="153447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69620" y="4451032"/>
              <a:ext cx="1030605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4581" y="4485322"/>
              <a:ext cx="8806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“替换”指什么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381" y="4811554"/>
              <a:ext cx="529844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的这一行原来放的是另一个块（地址冲突），要调入新块就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得先处理旧块：旧块已修改（M）必须先写回主存，未修改（S）可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以直接覆盖。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3524" y="5669280"/>
              <a:ext cx="4904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状态图描述的是 Cache 中这一行的状态，调入新块后按新块记为 S。</a:t>
              </a:r>
            </a:p>
          </p:txBody>
        </p:sp>
      </p:grpSp>
      <p:grpSp>
        <p:nvGrpSpPr>
          <p:cNvPr id="73" name="c2-graph-1"/>
          <p:cNvGrpSpPr/>
          <p:nvPr/>
        </p:nvGrpSpPr>
        <p:grpSpPr>
          <a:xfrm>
            <a:off x="7034212" y="1755458"/>
            <a:ext cx="4707256" cy="4424362"/>
            <a:chOff x="7034212" y="1755458"/>
            <a:chExt cx="4707256" cy="4424362"/>
          </a:xfrm>
        </p:grpSpPr>
        <p:sp>
          <p:nvSpPr>
            <p:cNvPr id="51" name="Freeform 51"/>
            <p:cNvSpPr/>
            <p:nvPr/>
          </p:nvSpPr>
          <p:spPr>
            <a:xfrm>
              <a:off x="8297228" y="2588895"/>
              <a:ext cx="1818322" cy="9525"/>
            </a:xfrm>
            <a:custGeom>
              <a:avLst/>
              <a:gdLst/>
              <a:ahLst/>
              <a:cxnLst/>
              <a:rect l="l" t="t" r="r" b="b"/>
              <a:pathLst>
                <a:path w="1818322" h="9525">
                  <a:moveTo>
                    <a:pt x="0" y="0"/>
                  </a:moveTo>
                  <a:lnTo>
                    <a:pt x="1818322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115550" y="25412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8169592" y="2968942"/>
              <a:ext cx="2102168" cy="2064068"/>
            </a:xfrm>
            <a:custGeom>
              <a:avLst/>
              <a:gdLst/>
              <a:ahLst/>
              <a:cxnLst/>
              <a:rect l="l" t="t" r="r" b="b"/>
              <a:pathLst>
                <a:path w="2102168" h="2064068">
                  <a:moveTo>
                    <a:pt x="0" y="2064068"/>
                  </a:moveTo>
                  <a:lnTo>
                    <a:pt x="2102168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0238422" y="2902268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0"/>
                  </a:moveTo>
                  <a:lnTo>
                    <a:pt x="66675" y="100965"/>
                  </a:lnTo>
                  <a:lnTo>
                    <a:pt x="0" y="3238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10658475" y="1755458"/>
              <a:ext cx="578168" cy="833438"/>
            </a:xfrm>
            <a:custGeom>
              <a:avLst/>
              <a:gdLst/>
              <a:ahLst/>
              <a:cxnLst/>
              <a:rect l="l" t="t" r="r" b="b"/>
              <a:pathLst>
                <a:path w="578168" h="833438">
                  <a:moveTo>
                    <a:pt x="0" y="385762"/>
                  </a:moveTo>
                  <a:lnTo>
                    <a:pt x="0" y="0"/>
                  </a:lnTo>
                  <a:lnTo>
                    <a:pt x="578168" y="0"/>
                  </a:lnTo>
                  <a:lnTo>
                    <a:pt x="578168" y="833438"/>
                  </a:lnTo>
                  <a:lnTo>
                    <a:pt x="542925" y="833438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1106150" y="25412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7272338" y="5346382"/>
              <a:ext cx="577215" cy="833438"/>
            </a:xfrm>
            <a:custGeom>
              <a:avLst/>
              <a:gdLst/>
              <a:ahLst/>
              <a:cxnLst/>
              <a:rect l="l" t="t" r="r" b="b"/>
              <a:pathLst>
                <a:path w="577215" h="833438">
                  <a:moveTo>
                    <a:pt x="577215" y="447675"/>
                  </a:moveTo>
                  <a:lnTo>
                    <a:pt x="577215" y="833438"/>
                  </a:lnTo>
                  <a:lnTo>
                    <a:pt x="0" y="833438"/>
                  </a:lnTo>
                  <a:lnTo>
                    <a:pt x="0" y="0"/>
                  </a:lnTo>
                  <a:lnTo>
                    <a:pt x="3429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306628" y="52987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7411402" y="2150745"/>
              <a:ext cx="876300" cy="8763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10220325" y="2150745"/>
              <a:ext cx="876300" cy="8763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7411402" y="4908232"/>
              <a:ext cx="876300" cy="8763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613411" y="2509361"/>
              <a:ext cx="472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 无效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398437" y="2509361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 共享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84241" y="5266849"/>
              <a:ext cx="7306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 已修改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016365" y="2488882"/>
              <a:ext cx="47625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037130" y="252603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读缺失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682990" y="3867150"/>
              <a:ext cx="114300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683752" y="39052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读缺失（先写回）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731818" y="2071688"/>
              <a:ext cx="100965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736580" y="210883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读命中、读缺失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034212" y="5663565"/>
              <a:ext cx="47625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054977" y="570071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读命中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监听协议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请求来自处理器（二）：写命中与写缺失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33400" y="1524000"/>
            <a:ext cx="6059805" cy="3187065"/>
            <a:chOff x="533400" y="1524000"/>
            <a:chExt cx="6059805" cy="31870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009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46276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块原状态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5496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31552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功能与解释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19978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新状态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9323" y="20764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写命中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5356" y="2076450"/>
              <a:ext cx="140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54961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正常命中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40976" y="2076450"/>
              <a:ext cx="1690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在本地 Cache 中写数据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98286" y="2076450"/>
              <a:ext cx="140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679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72678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9323" y="26079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写命中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22425" y="260794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35733" y="26079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40976" y="2501265"/>
              <a:ext cx="21991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Invalidate 放到总线上；只改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变状态，不提取数据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98286" y="2607945"/>
              <a:ext cx="140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060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323" y="313944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写缺失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3761" y="3139440"/>
              <a:ext cx="633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54961" y="31394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正常缺失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40976" y="3139440"/>
              <a:ext cx="164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WtMiss 放到总线上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98286" y="3139440"/>
              <a:ext cx="140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4299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434715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323" y="36699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写缺失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22425" y="366998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16505" y="36699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40976" y="3563302"/>
              <a:ext cx="21534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地址冲突缺失：把 WtMiss 放到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98286" y="3669982"/>
              <a:ext cx="140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0681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9323" y="430815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写缺失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05356" y="4308158"/>
              <a:ext cx="140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516505" y="430815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40976" y="4201478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地址冲突缺失：先写回，再把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WtMiss 放到总线上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98286" y="4308158"/>
              <a:ext cx="140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6059805" cy="31870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316355" y="1524000"/>
              <a:ext cx="9525" cy="31870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225040" y="1524000"/>
              <a:ext cx="9525" cy="31870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133725" y="1524000"/>
              <a:ext cx="9525" cy="31870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739765" y="1524000"/>
              <a:ext cx="9525" cy="31870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1-callout-2"/>
          <p:cNvGrpSpPr/>
          <p:nvPr/>
        </p:nvGrpSpPr>
        <p:grpSpPr>
          <a:xfrm>
            <a:off x="533400" y="4891088"/>
            <a:ext cx="6059805" cy="756285"/>
            <a:chOff x="533400" y="4891088"/>
            <a:chExt cx="6059805" cy="756285"/>
          </a:xfrm>
        </p:grpSpPr>
        <p:sp>
          <p:nvSpPr>
            <p:cNvPr id="50" name="Rectangle 50"/>
            <p:cNvSpPr/>
            <p:nvPr/>
          </p:nvSpPr>
          <p:spPr>
            <a:xfrm>
              <a:off x="533400" y="4891088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169220"/>
              <a:ext cx="200023" cy="200023"/>
              <a:chOff x="738188" y="516922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1692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52358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5038249"/>
              <a:ext cx="505498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处理器写完之后块一定是 M；读完之后块是 S，或者原来就是 M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而保持 M。</a:t>
              </a:r>
            </a:p>
          </p:txBody>
        </p:sp>
      </p:grpSp>
      <p:grpSp>
        <p:nvGrpSpPr>
          <p:cNvPr id="74" name="c2-graph-1"/>
          <p:cNvGrpSpPr/>
          <p:nvPr/>
        </p:nvGrpSpPr>
        <p:grpSpPr>
          <a:xfrm>
            <a:off x="6767512" y="2150745"/>
            <a:ext cx="4329113" cy="4029075"/>
            <a:chOff x="6767512" y="2150745"/>
            <a:chExt cx="4329113" cy="4029075"/>
          </a:xfrm>
        </p:grpSpPr>
        <p:sp>
          <p:nvSpPr>
            <p:cNvPr id="56" name="Freeform 56"/>
            <p:cNvSpPr/>
            <p:nvPr/>
          </p:nvSpPr>
          <p:spPr>
            <a:xfrm>
              <a:off x="7849552" y="3036570"/>
              <a:ext cx="9525" cy="1766888"/>
            </a:xfrm>
            <a:custGeom>
              <a:avLst/>
              <a:gdLst/>
              <a:ahLst/>
              <a:cxnLst/>
              <a:rect l="l" t="t" r="r" b="b"/>
              <a:pathLst>
                <a:path w="9525" h="1766888">
                  <a:moveTo>
                    <a:pt x="0" y="0"/>
                  </a:moveTo>
                  <a:lnTo>
                    <a:pt x="0" y="1766888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801928" y="48034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237220" y="2902268"/>
              <a:ext cx="2102168" cy="2064068"/>
            </a:xfrm>
            <a:custGeom>
              <a:avLst/>
              <a:gdLst/>
              <a:ahLst/>
              <a:cxnLst/>
              <a:rect l="l" t="t" r="r" b="b"/>
              <a:pathLst>
                <a:path w="2102168" h="2064068">
                  <a:moveTo>
                    <a:pt x="2102168" y="0"/>
                  </a:moveTo>
                  <a:lnTo>
                    <a:pt x="0" y="2064068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8169592" y="493204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100965"/>
                  </a:moveTo>
                  <a:lnTo>
                    <a:pt x="34290" y="0"/>
                  </a:lnTo>
                  <a:lnTo>
                    <a:pt x="100965" y="685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7272338" y="5346382"/>
              <a:ext cx="577215" cy="833438"/>
            </a:xfrm>
            <a:custGeom>
              <a:avLst/>
              <a:gdLst/>
              <a:ahLst/>
              <a:cxnLst/>
              <a:rect l="l" t="t" r="r" b="b"/>
              <a:pathLst>
                <a:path w="577215" h="833438">
                  <a:moveTo>
                    <a:pt x="577215" y="447675"/>
                  </a:moveTo>
                  <a:lnTo>
                    <a:pt x="577215" y="833438"/>
                  </a:lnTo>
                  <a:lnTo>
                    <a:pt x="0" y="833438"/>
                  </a:lnTo>
                  <a:lnTo>
                    <a:pt x="0" y="0"/>
                  </a:lnTo>
                  <a:lnTo>
                    <a:pt x="3429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7306628" y="52987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7411402" y="2150745"/>
              <a:ext cx="876300" cy="8763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10220325" y="2150745"/>
              <a:ext cx="876300" cy="8763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7411402" y="4908232"/>
              <a:ext cx="876300" cy="8763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613411" y="2509361"/>
              <a:ext cx="472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 无效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98437" y="2509361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 共享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84241" y="5266849"/>
              <a:ext cx="7306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 已修改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611428" y="3867150"/>
              <a:ext cx="47625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632192" y="39052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写缺失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212455" y="3867150"/>
              <a:ext cx="2083118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183469" y="3905250"/>
              <a:ext cx="21420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写命中（发 Invalidate）、写缺失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767512" y="5663565"/>
              <a:ext cx="100965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72275" y="570071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写命中、写缺失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监听协议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处理器侧汇总：一张表查出新状态和要发的消息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graph-1"/>
          <p:cNvGrpSpPr/>
          <p:nvPr/>
        </p:nvGrpSpPr>
        <p:grpSpPr>
          <a:xfrm>
            <a:off x="428625" y="1906905"/>
            <a:ext cx="5499735" cy="4121467"/>
            <a:chOff x="428625" y="1906905"/>
            <a:chExt cx="5499735" cy="4121467"/>
          </a:xfrm>
        </p:grpSpPr>
        <p:sp>
          <p:nvSpPr>
            <p:cNvPr id="7" name="Freeform 7"/>
            <p:cNvSpPr/>
            <p:nvPr/>
          </p:nvSpPr>
          <p:spPr>
            <a:xfrm>
              <a:off x="2063115" y="2588895"/>
              <a:ext cx="2201228" cy="9525"/>
            </a:xfrm>
            <a:custGeom>
              <a:avLst/>
              <a:gdLst/>
              <a:ahLst/>
              <a:cxnLst/>
              <a:rect l="l" t="t" r="r" b="b"/>
              <a:pathLst>
                <a:path w="2201228" h="9525">
                  <a:moveTo>
                    <a:pt x="0" y="0"/>
                  </a:moveTo>
                  <a:lnTo>
                    <a:pt x="2201228" y="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264342" y="25412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013585" y="3029902"/>
              <a:ext cx="2477452" cy="2110740"/>
            </a:xfrm>
            <a:custGeom>
              <a:avLst/>
              <a:gdLst/>
              <a:ahLst/>
              <a:cxnLst/>
              <a:rect l="l" t="t" r="r" b="b"/>
              <a:pathLst>
                <a:path w="2477452" h="2110740">
                  <a:moveTo>
                    <a:pt x="0" y="2110740"/>
                  </a:moveTo>
                  <a:cubicBezTo>
                    <a:pt x="1019175" y="1584325"/>
                    <a:pt x="1844993" y="880745"/>
                    <a:pt x="2477452" y="0"/>
                  </a:cubicBez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451985" y="2951798"/>
              <a:ext cx="94298" cy="105728"/>
            </a:xfrm>
            <a:custGeom>
              <a:avLst/>
              <a:gdLst/>
              <a:ahLst/>
              <a:cxnLst/>
              <a:rect l="l" t="t" r="r" b="b"/>
              <a:pathLst>
                <a:path w="94298" h="105728">
                  <a:moveTo>
                    <a:pt x="94298" y="0"/>
                  </a:moveTo>
                  <a:lnTo>
                    <a:pt x="77153" y="105728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15440" y="3036570"/>
              <a:ext cx="9525" cy="1766888"/>
            </a:xfrm>
            <a:custGeom>
              <a:avLst/>
              <a:gdLst/>
              <a:ahLst/>
              <a:cxnLst/>
              <a:rect l="l" t="t" r="r" b="b"/>
              <a:pathLst>
                <a:path w="9525" h="1766888">
                  <a:moveTo>
                    <a:pt x="0" y="0"/>
                  </a:moveTo>
                  <a:lnTo>
                    <a:pt x="0" y="1766888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67815" y="48034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31670" y="2793682"/>
              <a:ext cx="2478405" cy="2111692"/>
            </a:xfrm>
            <a:custGeom>
              <a:avLst/>
              <a:gdLst/>
              <a:ahLst/>
              <a:cxnLst/>
              <a:rect l="l" t="t" r="r" b="b"/>
              <a:pathLst>
                <a:path w="2478405" h="2111692">
                  <a:moveTo>
                    <a:pt x="2478405" y="0"/>
                  </a:moveTo>
                  <a:cubicBezTo>
                    <a:pt x="1458595" y="527050"/>
                    <a:pt x="632460" y="1230948"/>
                    <a:pt x="0" y="2111692"/>
                  </a:cubicBez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76425" y="4877752"/>
              <a:ext cx="94298" cy="104775"/>
            </a:xfrm>
            <a:custGeom>
              <a:avLst/>
              <a:gdLst/>
              <a:ahLst/>
              <a:cxnLst/>
              <a:rect l="l" t="t" r="r" b="b"/>
              <a:pathLst>
                <a:path w="94298" h="104775">
                  <a:moveTo>
                    <a:pt x="0" y="104775"/>
                  </a:moveTo>
                  <a:lnTo>
                    <a:pt x="17145" y="0"/>
                  </a:lnTo>
                  <a:lnTo>
                    <a:pt x="94298" y="5524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807268" y="1906905"/>
              <a:ext cx="616267" cy="681990"/>
            </a:xfrm>
            <a:custGeom>
              <a:avLst/>
              <a:gdLst/>
              <a:ahLst/>
              <a:cxnLst/>
              <a:rect l="l" t="t" r="r" b="b"/>
              <a:pathLst>
                <a:path w="616267" h="681990">
                  <a:moveTo>
                    <a:pt x="0" y="234315"/>
                  </a:moveTo>
                  <a:lnTo>
                    <a:pt x="0" y="0"/>
                  </a:lnTo>
                  <a:lnTo>
                    <a:pt x="616267" y="0"/>
                  </a:lnTo>
                  <a:lnTo>
                    <a:pt x="616267" y="681990"/>
                  </a:lnTo>
                  <a:lnTo>
                    <a:pt x="542925" y="68199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254942" y="25412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00125" y="5346382"/>
              <a:ext cx="615315" cy="681990"/>
            </a:xfrm>
            <a:custGeom>
              <a:avLst/>
              <a:gdLst/>
              <a:ahLst/>
              <a:cxnLst/>
              <a:rect l="l" t="t" r="r" b="b"/>
              <a:pathLst>
                <a:path w="615315" h="681990">
                  <a:moveTo>
                    <a:pt x="615315" y="447675"/>
                  </a:moveTo>
                  <a:lnTo>
                    <a:pt x="615315" y="681990"/>
                  </a:lnTo>
                  <a:lnTo>
                    <a:pt x="0" y="681990"/>
                  </a:lnTo>
                  <a:lnTo>
                    <a:pt x="0" y="0"/>
                  </a:lnTo>
                  <a:lnTo>
                    <a:pt x="7239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72515" y="52987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77290" y="2150745"/>
              <a:ext cx="876300" cy="8763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369118" y="2150745"/>
              <a:ext cx="876300" cy="8763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177290" y="4908232"/>
              <a:ext cx="876300" cy="8763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79298" y="2509361"/>
              <a:ext cx="472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 无效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7229" y="2509361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 共享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50128" y="5266849"/>
              <a:ext cx="7306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 已修改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973705" y="2488882"/>
              <a:ext cx="47625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94470" y="252603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读缺失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172778" y="4098608"/>
              <a:ext cx="47625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93542" y="413575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读缺失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77315" y="3867150"/>
              <a:ext cx="47625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98080" y="39052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写缺失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506980" y="3636645"/>
              <a:ext cx="100965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511742" y="367379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写命中、写缺失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918710" y="2147888"/>
              <a:ext cx="100965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23472" y="218503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读命中、读缺失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28625" y="5587365"/>
              <a:ext cx="1143000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29387" y="562451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读写命中、写缺失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74758" y="481393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蓝：读事件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74758" y="520065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橙：写事件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6243066" y="1524000"/>
            <a:ext cx="5415534" cy="2404682"/>
            <a:chOff x="6243066" y="1524000"/>
            <a:chExt cx="5415534" cy="2404682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32423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原状态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98245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读命中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80285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读缺失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70910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写命中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760583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写缺失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47856" y="2076450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96137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21967" y="2076450"/>
              <a:ext cx="1013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S，发 RdMiss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68802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68737" y="2076450"/>
              <a:ext cx="10805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M，发 WtMiss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2367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2372678"/>
              <a:ext cx="5410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25453" y="26079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93622" y="260794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21967" y="2607945"/>
              <a:ext cx="1013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S，发 RdMiss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51277" y="2501265"/>
              <a:ext cx="7360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M，发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Invalidate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68737" y="2607945"/>
              <a:ext cx="10805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M，发 WtMiss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30060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07531" y="3246120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76553" y="3246120"/>
              <a:ext cx="140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99692" y="3139440"/>
              <a:ext cx="8580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S，写回后发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49218" y="3246120"/>
              <a:ext cx="140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64749" y="3139440"/>
              <a:ext cx="8884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M，写回后发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WtMiss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1524000"/>
              <a:ext cx="5410200" cy="21240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109460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975282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273540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355580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243066" y="3723323"/>
              <a:ext cx="3506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表中写“新状态，动作”。I 状态的块内容无效，不会命中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6248400" y="4067175"/>
            <a:ext cx="5410200" cy="2158365"/>
            <a:chOff x="6248400" y="4067175"/>
            <a:chExt cx="5410200" cy="2158365"/>
          </a:xfrm>
        </p:grpSpPr>
        <p:sp>
          <p:nvSpPr>
            <p:cNvPr id="71" name="Rectangle 71"/>
            <p:cNvSpPr/>
            <p:nvPr/>
          </p:nvSpPr>
          <p:spPr>
            <a:xfrm>
              <a:off x="6248400" y="4067175"/>
              <a:ext cx="5410200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57925" y="4200525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484620" y="426529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76060" y="42995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492240" y="468630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648831" y="4625816"/>
              <a:ext cx="445985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块写命中发的是 Invalidate，不是 WtMiss：数据已在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本地，不需要调块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492240" y="527494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648831" y="5215414"/>
              <a:ext cx="44320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块替换时一定先写回：写回法下主存里的值是旧的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492240" y="559308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648831" y="5532596"/>
              <a:ext cx="429755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同一块在所有 Cache 中最多一个是 M；有 M 时，其他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中该块都是 I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监听协议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请求来自总线：监听到别人的消息后怎样响应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27685" y="1524000"/>
            <a:ext cx="6065520" cy="4575334"/>
            <a:chOff x="527685" y="1524000"/>
            <a:chExt cx="6065520" cy="457533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67532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7118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总线消息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6110" y="1659731"/>
              <a:ext cx="500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块原状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64308" y="1659731"/>
              <a:ext cx="500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操作类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65206" y="177307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功能与解释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60313" y="1659731"/>
              <a:ext cx="3380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新状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2188" y="2448401"/>
              <a:ext cx="612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39882" y="244840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49678" y="244840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无操作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46310" y="2335054"/>
              <a:ext cx="23456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允许共享 Cache 或存储器为这次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读缺失提供服务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72805" y="244840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98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74645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2188" y="3123724"/>
              <a:ext cx="612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21675" y="3123724"/>
              <a:ext cx="1495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49678" y="312372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46310" y="3010376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把修改写回并中止存储器访问，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尝试共享数据：把块放到总线上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72805" y="3123724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461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0240" y="3685699"/>
              <a:ext cx="63596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Invalida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39882" y="3799046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49678" y="37990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46310" y="3685699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有处理器要写共享块，作废本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中的该块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95563" y="3799046"/>
              <a:ext cx="67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2214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226242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3754" y="4474369"/>
              <a:ext cx="648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WtMiss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39882" y="4474369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49678" y="447436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46310" y="4361021"/>
              <a:ext cx="22969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尝试共享数据，并在本地 Cache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中作废该块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95563" y="4474369"/>
              <a:ext cx="67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89680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3754" y="5263991"/>
              <a:ext cx="648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WtMiss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21675" y="5263991"/>
              <a:ext cx="1495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49678" y="52639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46310" y="5037296"/>
              <a:ext cx="228879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把块写回存储器，把本地数据共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享给请求方（就近提供），再把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本地块作废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95563" y="5263991"/>
              <a:ext cx="67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6059805" cy="427958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498282" y="1524000"/>
              <a:ext cx="9525" cy="42795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2286000" y="1524000"/>
              <a:ext cx="9525" cy="42795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133725" y="1524000"/>
              <a:ext cx="9525" cy="42795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60732" y="1524000"/>
              <a:ext cx="9525" cy="42795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7685" y="5879306"/>
              <a:ext cx="3622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块原状态为 I 的处理器与这条消息无关，不做任何操作</a:t>
              </a:r>
            </a:p>
          </p:txBody>
        </p:sp>
      </p:grpSp>
      <p:grpSp>
        <p:nvGrpSpPr>
          <p:cNvPr id="73" name="c2-graph-1"/>
          <p:cNvGrpSpPr/>
          <p:nvPr/>
        </p:nvGrpSpPr>
        <p:grpSpPr>
          <a:xfrm>
            <a:off x="7411402" y="1695450"/>
            <a:ext cx="4093845" cy="3102292"/>
            <a:chOff x="7411402" y="1695450"/>
            <a:chExt cx="4093845" cy="3102292"/>
          </a:xfrm>
        </p:grpSpPr>
        <p:sp>
          <p:nvSpPr>
            <p:cNvPr id="51" name="Freeform 51"/>
            <p:cNvSpPr/>
            <p:nvPr/>
          </p:nvSpPr>
          <p:spPr>
            <a:xfrm>
              <a:off x="8392478" y="2313622"/>
              <a:ext cx="1818322" cy="9525"/>
            </a:xfrm>
            <a:custGeom>
              <a:avLst/>
              <a:gdLst/>
              <a:ahLst/>
              <a:cxnLst/>
              <a:rect l="l" t="t" r="r" b="b"/>
              <a:pathLst>
                <a:path w="1818322" h="9525">
                  <a:moveTo>
                    <a:pt x="1818322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297228" y="22659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7849552" y="2856548"/>
              <a:ext cx="9525" cy="1055370"/>
            </a:xfrm>
            <a:custGeom>
              <a:avLst/>
              <a:gdLst/>
              <a:ahLst/>
              <a:cxnLst/>
              <a:rect l="l" t="t" r="r" b="b"/>
              <a:pathLst>
                <a:path w="9525" h="1055370">
                  <a:moveTo>
                    <a:pt x="0" y="105537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801928" y="27612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8211502" y="2633662"/>
              <a:ext cx="2008822" cy="1462088"/>
            </a:xfrm>
            <a:custGeom>
              <a:avLst/>
              <a:gdLst/>
              <a:ahLst/>
              <a:cxnLst/>
              <a:rect l="l" t="t" r="r" b="b"/>
              <a:pathLst>
                <a:path w="2008822" h="1462088">
                  <a:moveTo>
                    <a:pt x="0" y="1462088"/>
                  </a:moveTo>
                  <a:lnTo>
                    <a:pt x="2008822" y="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0191750" y="2577465"/>
              <a:ext cx="104775" cy="94297"/>
            </a:xfrm>
            <a:custGeom>
              <a:avLst/>
              <a:gdLst/>
              <a:ahLst/>
              <a:cxnLst/>
              <a:rect l="l" t="t" r="r" b="b"/>
              <a:pathLst>
                <a:path w="104775" h="94297">
                  <a:moveTo>
                    <a:pt x="104775" y="0"/>
                  </a:moveTo>
                  <a:lnTo>
                    <a:pt x="56198" y="94297"/>
                  </a:lnTo>
                  <a:lnTo>
                    <a:pt x="0" y="17145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10658475" y="1695450"/>
              <a:ext cx="578168" cy="618172"/>
            </a:xfrm>
            <a:custGeom>
              <a:avLst/>
              <a:gdLst/>
              <a:ahLst/>
              <a:cxnLst/>
              <a:rect l="l" t="t" r="r" b="b"/>
              <a:pathLst>
                <a:path w="578168" h="618172">
                  <a:moveTo>
                    <a:pt x="0" y="170498"/>
                  </a:moveTo>
                  <a:lnTo>
                    <a:pt x="0" y="0"/>
                  </a:lnTo>
                  <a:lnTo>
                    <a:pt x="578168" y="0"/>
                  </a:lnTo>
                  <a:lnTo>
                    <a:pt x="578168" y="618172"/>
                  </a:lnTo>
                  <a:lnTo>
                    <a:pt x="542925" y="618172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11106150" y="22659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7411402" y="1875472"/>
              <a:ext cx="876300" cy="8763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10220325" y="1875472"/>
              <a:ext cx="876300" cy="8763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7411402" y="3921442"/>
              <a:ext cx="876300" cy="8763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600470" y="2229802"/>
              <a:ext cx="498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 无效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384189" y="2229802"/>
              <a:ext cx="54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 共享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64236" y="4275772"/>
              <a:ext cx="770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 已修改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562022" y="2205990"/>
              <a:ext cx="1384935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48279" y="2246471"/>
              <a:ext cx="1412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WtMiss、Invalidate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566660" y="3228975"/>
              <a:ext cx="566738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578844" y="3269456"/>
              <a:ext cx="541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WtMiss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984932" y="3228975"/>
              <a:ext cx="538162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999144" y="3269456"/>
              <a:ext cx="510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RdMiss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967085" y="1897380"/>
              <a:ext cx="538162" cy="200025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981296" y="1937861"/>
              <a:ext cx="510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RdMiss</a:t>
              </a:r>
            </a:p>
          </p:txBody>
        </p:sp>
      </p:grpSp>
      <p:grpSp>
        <p:nvGrpSpPr>
          <p:cNvPr id="80" name="c2-callout-2"/>
          <p:cNvGrpSpPr/>
          <p:nvPr/>
        </p:nvGrpSpPr>
        <p:grpSpPr>
          <a:xfrm>
            <a:off x="6898005" y="5303520"/>
            <a:ext cx="4760595" cy="1059180"/>
            <a:chOff x="6898005" y="5303520"/>
            <a:chExt cx="4760595" cy="1059180"/>
          </a:xfrm>
        </p:grpSpPr>
        <p:sp>
          <p:nvSpPr>
            <p:cNvPr id="74" name="Rectangle 74"/>
            <p:cNvSpPr/>
            <p:nvPr/>
          </p:nvSpPr>
          <p:spPr>
            <a:xfrm>
              <a:off x="6898005" y="5303520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090734" y="5729406"/>
              <a:ext cx="224134" cy="192560"/>
              <a:chOff x="7090734" y="5729406"/>
              <a:chExt cx="224134" cy="19256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202805" y="57997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090734" y="57294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202805" y="58775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7404735" y="5452110"/>
              <a:ext cx="37776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 块听到 RdMiss 变成 S，仍保留一份可读副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本；听到 WtMiss 变成 I，因为对方要独占这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个块。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99917" cy="909257"/>
            <a:chOff x="520446" y="342900"/>
            <a:chExt cx="65999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监听协议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999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例（补充）：跟踪 3 个处理器访问同一块 X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350370" cy="264033"/>
            <a:chOff x="526542" y="1545907"/>
            <a:chExt cx="73503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350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写作废、写回法 Cache。开始时 3 个 Cache 中都没有 X（状态 I），主存中的 X 是最新值。</a:t>
              </a:r>
            </a:p>
          </p:txBody>
        </p:sp>
      </p:grpSp>
      <p:grpSp>
        <p:nvGrpSpPr>
          <p:cNvPr id="92" name="c1-table-1"/>
          <p:cNvGrpSpPr/>
          <p:nvPr/>
        </p:nvGrpSpPr>
        <p:grpSpPr>
          <a:xfrm>
            <a:off x="528447" y="1928812"/>
            <a:ext cx="11130153" cy="3775424"/>
            <a:chOff x="528447" y="1928812"/>
            <a:chExt cx="11130153" cy="3775424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43910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3804" y="2053590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68768" y="20535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89123" y="20535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总线消息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50751" y="205359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其他处理器的响应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48043" y="2053590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26236" y="2053590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05381" y="2053590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79630" y="2053590"/>
              <a:ext cx="912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主存中的 X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2195" y="24926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85672" y="2492692"/>
              <a:ext cx="627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读 X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51702" y="2492692"/>
              <a:ext cx="615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89857" y="2492692"/>
              <a:ext cx="19943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无人持有 X，由主存提供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03490" y="24926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08326" y="2492692"/>
              <a:ext cx="71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87471" y="2492692"/>
              <a:ext cx="71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47058" y="24926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最新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8013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2806065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2195" y="293179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85672" y="2931795"/>
              <a:ext cx="627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读 X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51702" y="2931795"/>
              <a:ext cx="615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89857" y="2931795"/>
              <a:ext cx="2953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为 S：无操作，由主存或 P1 提供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06130" y="2931795"/>
              <a:ext cx="11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81683" y="2931795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87471" y="2931795"/>
              <a:ext cx="71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47058" y="293179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最新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2195" y="337089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85672" y="3370898"/>
              <a:ext cx="627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写 X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818528" y="3370898"/>
              <a:ext cx="8818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Invalidate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189857" y="3370898"/>
              <a:ext cx="790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P2：S → 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83328" y="3370898"/>
              <a:ext cx="164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06886" y="337089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87471" y="3370898"/>
              <a:ext cx="71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747058" y="337089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过时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6795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3684270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2195" y="380904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85672" y="3809048"/>
              <a:ext cx="8092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再写 X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707386" y="380904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无（写命中）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189857" y="380904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86928" y="3809048"/>
              <a:ext cx="157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08326" y="3809048"/>
              <a:ext cx="71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87471" y="3809048"/>
              <a:ext cx="71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747058" y="380904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过时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1186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2195" y="424815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85672" y="4248150"/>
              <a:ext cx="627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读 X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951702" y="4248150"/>
              <a:ext cx="615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189857" y="4248150"/>
              <a:ext cx="2694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P1：写回并把块放上总线，M → 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03490" y="4248150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008326" y="4248150"/>
              <a:ext cx="71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60828" y="4248150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747058" y="42481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最新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45577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3400" y="4562475"/>
              <a:ext cx="11125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52195" y="468725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85672" y="4687252"/>
              <a:ext cx="627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写 X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933186" y="4687252"/>
              <a:ext cx="652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WtMiss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189857" y="4687252"/>
              <a:ext cx="11836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P1、P3：S → I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28693" y="4687252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961520" y="4687252"/>
              <a:ext cx="164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786031" y="4687252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747058" y="468725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过时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3400" y="49958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52195" y="512635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85672" y="5126355"/>
              <a:ext cx="627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读 X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951702" y="5126355"/>
              <a:ext cx="615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189857" y="5126355"/>
              <a:ext cx="19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P2：写回并共享，M → S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203490" y="5126355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981683" y="5126355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787471" y="5126355"/>
              <a:ext cx="713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747058" y="512635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最新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33400" y="1928812"/>
              <a:ext cx="11125200" cy="35109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1084898" y="1928812"/>
              <a:ext cx="9525" cy="35109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2420302" y="1928812"/>
              <a:ext cx="9525" cy="35109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4089082" y="1928812"/>
              <a:ext cx="9525" cy="35109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871460" y="1928812"/>
              <a:ext cx="9525" cy="35109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649652" y="1928812"/>
              <a:ext cx="9525" cy="35109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9428798" y="1928812"/>
              <a:ext cx="9525" cy="35109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0207942" y="1928812"/>
              <a:ext cx="9525" cy="35109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28447" y="551354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橙色为这一步发生变化的状态</a:t>
              </a:r>
            </a:p>
          </p:txBody>
        </p:sp>
      </p:grpSp>
      <p:grpSp>
        <p:nvGrpSpPr>
          <p:cNvPr id="9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93" name="Rectangle 9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1040892" y="6028373"/>
              <a:ext cx="7171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自查规律：任何时刻最多一个 M；有 M 时其他处理器都是 I，而且主存中的 X 是过时的。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目录协议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用集中记录的目录代替广播，一致性协议才能扩放到更多处理器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目录、位向量与共享集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本地、宿主、远程结点与结点间消息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63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块和目录中存储块的状态转换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完整跟踪例子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目录协议：用一个集中的数据结构记录每个块的共享状态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059805" cy="1316355"/>
            <a:chOff x="533400" y="1524000"/>
            <a:chExt cx="6059805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为什么要换协议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广播和监听的机制使监听一致性协议的可扩放性很差，所以寻找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替代的一致性协议，即目录协议。</a:t>
              </a:r>
            </a:p>
          </p:txBody>
        </p:sp>
      </p:grpSp>
      <p:grpSp>
        <p:nvGrpSpPr>
          <p:cNvPr id="24" name="c1-kv-2"/>
          <p:cNvGrpSpPr/>
          <p:nvPr/>
        </p:nvGrpSpPr>
        <p:grpSpPr>
          <a:xfrm>
            <a:off x="525780" y="3055620"/>
            <a:ext cx="6067425" cy="2741295"/>
            <a:chOff x="525780" y="3055620"/>
            <a:chExt cx="6067425" cy="2741295"/>
          </a:xfrm>
        </p:grpSpPr>
        <p:sp>
          <p:nvSpPr>
            <p:cNvPr id="13" name="TextBox 13"/>
            <p:cNvSpPr txBox="1"/>
            <p:nvPr/>
          </p:nvSpPr>
          <p:spPr>
            <a:xfrm>
              <a:off x="525780" y="305562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68742" y="3055620"/>
              <a:ext cx="484441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一种集中的数据结构。存储器中每个可以调入 Cache 的数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据块在目录中有一条目录项，记录该块的状态以及哪些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中有副本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93954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40595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68742" y="4059555"/>
              <a:ext cx="4968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任何数据块的相关信息都能在唯一的一个位置快速找到，一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致性协议因此避免了广播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6615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47815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位向量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68742" y="4781550"/>
              <a:ext cx="48444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记录哪些 Cache 中有副本：每一位对应一个处理器，长度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与处理器个数成正比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38353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55035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共享集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68742" y="5503545"/>
              <a:ext cx="3427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由位向量指定的处理机的集合，记作 S</a:t>
              </a:r>
            </a:p>
          </p:txBody>
        </p:sp>
      </p:grpSp>
      <p:grpSp>
        <p:nvGrpSpPr>
          <p:cNvPr id="27" name="c2-image-1"/>
          <p:cNvGrpSpPr/>
          <p:nvPr/>
        </p:nvGrpSpPr>
        <p:grpSpPr>
          <a:xfrm>
            <a:off x="6898005" y="1524000"/>
            <a:ext cx="4760595" cy="4863942"/>
            <a:chOff x="6898005" y="1524000"/>
            <a:chExt cx="4760595" cy="4863942"/>
          </a:xfrm>
        </p:grpSpPr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rcRect l="10757" t="0" r="10757" b="0"/>
            <a:stretch>
              <a:fillRect/>
            </a:stretch>
          </p:blipFill>
          <p:spPr>
            <a:xfrm>
              <a:off x="6898005" y="1524000"/>
              <a:ext cx="4760595" cy="4549140"/>
            </a:xfrm>
            <a:prstGeom prst="roundRect">
              <a:avLst>
                <a:gd name="adj" fmla="val 2931"/>
              </a:avLst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7010972" y="6167914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目录像档案室的登记簿：查一行就知道哪些人手里有这份文件的副本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98655" cy="909257"/>
            <a:chOff x="520446" y="342900"/>
            <a:chExt cx="95986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986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分布式目录：目录跟着存储器分到各结点，信息量与 N² 成正比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9" name="c1-graph-1"/>
          <p:cNvGrpSpPr/>
          <p:nvPr/>
        </p:nvGrpSpPr>
        <p:grpSpPr>
          <a:xfrm>
            <a:off x="675322" y="1730692"/>
            <a:ext cx="5667375" cy="4425316"/>
            <a:chOff x="675322" y="1730692"/>
            <a:chExt cx="5667375" cy="4425316"/>
          </a:xfrm>
        </p:grpSpPr>
        <p:sp>
          <p:nvSpPr>
            <p:cNvPr id="7" name="Freeform 7"/>
            <p:cNvSpPr/>
            <p:nvPr/>
          </p:nvSpPr>
          <p:spPr>
            <a:xfrm>
              <a:off x="1306830" y="2197418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306830" y="2843212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306830" y="3462338"/>
              <a:ext cx="9525" cy="461962"/>
            </a:xfrm>
            <a:custGeom>
              <a:avLst/>
              <a:gdLst/>
              <a:ahLst/>
              <a:cxnLst/>
              <a:rect l="l" t="t" r="r" b="b"/>
              <a:pathLst>
                <a:path w="9525" h="461962">
                  <a:moveTo>
                    <a:pt x="0" y="0"/>
                  </a:moveTo>
                  <a:lnTo>
                    <a:pt x="0" y="4619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06830" y="5310188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37909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06830" y="4672012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3714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06830" y="3962400"/>
              <a:ext cx="9525" cy="461962"/>
            </a:xfrm>
            <a:custGeom>
              <a:avLst/>
              <a:gdLst/>
              <a:ahLst/>
              <a:cxnLst/>
              <a:rect l="l" t="t" r="r" b="b"/>
              <a:pathLst>
                <a:path w="9525" h="461962">
                  <a:moveTo>
                    <a:pt x="0" y="461962"/>
                  </a:moveTo>
                  <a:lnTo>
                    <a:pt x="95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765108" y="2197418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765108" y="2843212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765108" y="3462338"/>
              <a:ext cx="9525" cy="461962"/>
            </a:xfrm>
            <a:custGeom>
              <a:avLst/>
              <a:gdLst/>
              <a:ahLst/>
              <a:cxnLst/>
              <a:rect l="l" t="t" r="r" b="b"/>
              <a:pathLst>
                <a:path w="9525" h="461962">
                  <a:moveTo>
                    <a:pt x="0" y="0"/>
                  </a:moveTo>
                  <a:lnTo>
                    <a:pt x="0" y="4619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765108" y="5310188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37909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765108" y="4672012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3714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765108" y="3962400"/>
              <a:ext cx="9525" cy="461962"/>
            </a:xfrm>
            <a:custGeom>
              <a:avLst/>
              <a:gdLst/>
              <a:ahLst/>
              <a:cxnLst/>
              <a:rect l="l" t="t" r="r" b="b"/>
              <a:pathLst>
                <a:path w="9525" h="461962">
                  <a:moveTo>
                    <a:pt x="0" y="461962"/>
                  </a:moveTo>
                  <a:lnTo>
                    <a:pt x="9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223385" y="2197418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223385" y="2843212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223385" y="3462338"/>
              <a:ext cx="9525" cy="461962"/>
            </a:xfrm>
            <a:custGeom>
              <a:avLst/>
              <a:gdLst/>
              <a:ahLst/>
              <a:cxnLst/>
              <a:rect l="l" t="t" r="r" b="b"/>
              <a:pathLst>
                <a:path w="9525" h="461962">
                  <a:moveTo>
                    <a:pt x="0" y="0"/>
                  </a:moveTo>
                  <a:lnTo>
                    <a:pt x="0" y="4619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223385" y="5310188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37909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223385" y="4672012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3714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223385" y="3962400"/>
              <a:ext cx="9525" cy="461962"/>
            </a:xfrm>
            <a:custGeom>
              <a:avLst/>
              <a:gdLst/>
              <a:ahLst/>
              <a:cxnLst/>
              <a:rect l="l" t="t" r="r" b="b"/>
              <a:pathLst>
                <a:path w="9525" h="461962">
                  <a:moveTo>
                    <a:pt x="0" y="46196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681662" y="2197418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681662" y="2843212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5681662" y="3462338"/>
              <a:ext cx="9525" cy="461962"/>
            </a:xfrm>
            <a:custGeom>
              <a:avLst/>
              <a:gdLst/>
              <a:ahLst/>
              <a:cxnLst/>
              <a:rect l="l" t="t" r="r" b="b"/>
              <a:pathLst>
                <a:path w="9525" h="461962">
                  <a:moveTo>
                    <a:pt x="0" y="0"/>
                  </a:moveTo>
                  <a:lnTo>
                    <a:pt x="0" y="4619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681662" y="5310188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37909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681662" y="4672012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3714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681662" y="3962400"/>
              <a:ext cx="9525" cy="461962"/>
            </a:xfrm>
            <a:custGeom>
              <a:avLst/>
              <a:gdLst/>
              <a:ahLst/>
              <a:cxnLst/>
              <a:rect l="l" t="t" r="r" b="b"/>
              <a:pathLst>
                <a:path w="9525" h="461962">
                  <a:moveTo>
                    <a:pt x="0" y="46196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297305" y="39338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755582" y="39338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213860" y="39338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672138" y="39338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298258" y="39338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756535" y="39338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213860" y="39338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5672138" y="3933825"/>
              <a:ext cx="19050" cy="190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5322" y="3800475"/>
              <a:ext cx="5667375" cy="285750"/>
            </a:xfrm>
            <a:prstGeom prst="roundRect">
              <a:avLst>
                <a:gd name="adj" fmla="val 33333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078230" y="1730692"/>
              <a:ext cx="457200" cy="4572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25830" y="2576512"/>
              <a:ext cx="7620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25830" y="3214688"/>
              <a:ext cx="762000" cy="247650"/>
            </a:xfrm>
            <a:prstGeom prst="roundRect">
              <a:avLst>
                <a:gd name="adj" fmla="val 384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78230" y="5698808"/>
              <a:ext cx="457200" cy="4572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25830" y="5043488"/>
              <a:ext cx="7620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25830" y="4424362"/>
              <a:ext cx="762000" cy="247650"/>
            </a:xfrm>
            <a:prstGeom prst="roundRect">
              <a:avLst>
                <a:gd name="adj" fmla="val 384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2536508" y="1730692"/>
              <a:ext cx="457200" cy="4572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384108" y="2576512"/>
              <a:ext cx="7620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2384108" y="3214688"/>
              <a:ext cx="762000" cy="247650"/>
            </a:xfrm>
            <a:prstGeom prst="roundRect">
              <a:avLst>
                <a:gd name="adj" fmla="val 384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2536508" y="5698808"/>
              <a:ext cx="457200" cy="4572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384108" y="5043488"/>
              <a:ext cx="7620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384108" y="4424362"/>
              <a:ext cx="762000" cy="247650"/>
            </a:xfrm>
            <a:prstGeom prst="roundRect">
              <a:avLst>
                <a:gd name="adj" fmla="val 384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3994785" y="1730692"/>
              <a:ext cx="457200" cy="4572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3842385" y="2576512"/>
              <a:ext cx="7620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3842385" y="3214688"/>
              <a:ext cx="762000" cy="247650"/>
            </a:xfrm>
            <a:prstGeom prst="roundRect">
              <a:avLst>
                <a:gd name="adj" fmla="val 384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3994785" y="5698808"/>
              <a:ext cx="457200" cy="4572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3842385" y="5043488"/>
              <a:ext cx="7620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3842385" y="4424362"/>
              <a:ext cx="762000" cy="247650"/>
            </a:xfrm>
            <a:prstGeom prst="roundRect">
              <a:avLst>
                <a:gd name="adj" fmla="val 384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5453062" y="1730692"/>
              <a:ext cx="457200" cy="4572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300662" y="2576512"/>
              <a:ext cx="7620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00662" y="3214688"/>
              <a:ext cx="762000" cy="247650"/>
            </a:xfrm>
            <a:prstGeom prst="roundRect">
              <a:avLst>
                <a:gd name="adj" fmla="val 384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5453062" y="5698808"/>
              <a:ext cx="457200" cy="4572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5300662" y="5043488"/>
              <a:ext cx="762000" cy="266700"/>
            </a:xfrm>
            <a:prstGeom prst="roundRect">
              <a:avLst>
                <a:gd name="adj" fmla="val 35714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300662" y="4424362"/>
              <a:ext cx="762000" cy="247650"/>
            </a:xfrm>
            <a:prstGeom prst="roundRect">
              <a:avLst>
                <a:gd name="adj" fmla="val 384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240202" y="388286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互连网络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0876" y="1898809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03986" y="264842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69949" y="32780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40876" y="5866924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03986" y="511635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69949" y="44877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599153" y="1898809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562263" y="264842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628227" y="32780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599153" y="5866924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CPU5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562263" y="511635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2628227" y="44877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057431" y="1898809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020541" y="264842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086504" y="32780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057431" y="5866924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CPU6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020541" y="511635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086504" y="44877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515708" y="1898809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478818" y="264842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544782" y="32780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515708" y="5866924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CPU7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478818" y="511635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544782" y="44877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</p:grpSp>
      <p:grpSp>
        <p:nvGrpSpPr>
          <p:cNvPr id="95" name="c2-card-1"/>
          <p:cNvGrpSpPr/>
          <p:nvPr/>
        </p:nvGrpSpPr>
        <p:grpSpPr>
          <a:xfrm>
            <a:off x="6789420" y="1524000"/>
            <a:ext cx="4869180" cy="1316355"/>
            <a:chOff x="6789420" y="1524000"/>
            <a:chExt cx="4869180" cy="1316355"/>
          </a:xfrm>
        </p:grpSpPr>
        <p:sp>
          <p:nvSpPr>
            <p:cNvPr id="90" name="Rectangle 90"/>
            <p:cNvSpPr/>
            <p:nvPr/>
          </p:nvSpPr>
          <p:spPr>
            <a:xfrm>
              <a:off x="6789420" y="1524000"/>
              <a:ext cx="486918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679894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703707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11447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分布式目录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029450" y="211074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目录与存储器一起分布到各结点中，对不同目录内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容的访问可以在不同的结点进行。</a:t>
              </a:r>
            </a:p>
          </p:txBody>
        </p:sp>
      </p:grpSp>
      <p:grpSp>
        <p:nvGrpSpPr>
          <p:cNvPr id="107" name="c2-card-2"/>
          <p:cNvGrpSpPr/>
          <p:nvPr/>
        </p:nvGrpSpPr>
        <p:grpSpPr>
          <a:xfrm>
            <a:off x="6789420" y="3030855"/>
            <a:ext cx="4869180" cy="3032760"/>
            <a:chOff x="6789420" y="3030855"/>
            <a:chExt cx="4869180" cy="3032760"/>
          </a:xfrm>
        </p:grpSpPr>
        <p:sp>
          <p:nvSpPr>
            <p:cNvPr id="96" name="Rectangle 96"/>
            <p:cNvSpPr/>
            <p:nvPr/>
          </p:nvSpPr>
          <p:spPr>
            <a:xfrm>
              <a:off x="6789420" y="3030855"/>
              <a:ext cx="4869180" cy="3032760"/>
            </a:xfrm>
            <a:prstGeom prst="roundRect">
              <a:avLst>
                <a:gd name="adj" fmla="val 43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6798945" y="3164205"/>
              <a:ext cx="47625" cy="276606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7037070" y="324040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110527" y="327612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目录的信息量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029450" y="361759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最简单的方案：存储器中每一块在目录中设一项，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每项一个 N 位位向量。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formula4"/>
                <p:cNvSpPr txBox="1">
                  <a:spLocks noGrp="1"/>
                </p:cNvSpPr>
                <p:nvPr/>
              </p:nvSpPr>
              <p:spPr>
                <a:xfrm>
                  <a:off x="7037070" y="4213860"/>
                  <a:ext cx="441198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02" name="Ellipse 102"/>
            <p:cNvSpPr/>
            <p:nvPr/>
          </p:nvSpPr>
          <p:spPr>
            <a:xfrm>
              <a:off x="7042785" y="48158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200900" y="4752975"/>
              <a:ext cx="2396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M：存储器中存储块的总数</a:t>
              </a:r>
            </a:p>
          </p:txBody>
        </p:sp>
        <p:sp>
          <p:nvSpPr>
            <p:cNvPr id="104" name="Ellipse 104"/>
            <p:cNvSpPr/>
            <p:nvPr/>
          </p:nvSpPr>
          <p:spPr>
            <a:xfrm>
              <a:off x="7042785" y="51511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7200900" y="5088255"/>
              <a:ext cx="40866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N：处理器个数；K：每个处理机中的存储块数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030593" y="5420201"/>
              <a:ext cx="41663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不变时信息量与 N² 成正比，可扩放性不好，只适合处理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器较少的系统。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目录中的存储块有三种状态：未缓存、共享、独占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951220" cy="2400300"/>
            <a:chOff x="533400" y="1524000"/>
            <a:chExt cx="5951220" cy="2400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128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3627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4673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副本情况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95305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未缓存 U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（uncached）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59305" y="2145506"/>
              <a:ext cx="1381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该块尚未调入 Cache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20540" y="2045494"/>
              <a:ext cx="191033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所有处理器的 Cache 中都没有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这个块的副本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193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24125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645569"/>
              <a:ext cx="78877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 S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（shared）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59305" y="2645569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一个或多个处理机上有这个块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的副本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20540" y="2645569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这些副本与存储器中的该块相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同，只读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345656"/>
              <a:ext cx="9605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独占 E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（exclusive）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59305" y="3345656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仅一个处理机有副本，且它已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对该块写过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20540" y="3245644"/>
              <a:ext cx="186055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副本是最新的，存储器中的数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据已过时；这个处理机是该块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拥有者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，可读写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95122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5738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21862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table-2"/>
          <p:cNvGrpSpPr/>
          <p:nvPr/>
        </p:nvGrpSpPr>
        <p:grpSpPr>
          <a:xfrm>
            <a:off x="528447" y="4093845"/>
            <a:ext cx="5956173" cy="2038065"/>
            <a:chOff x="528447" y="4093845"/>
            <a:chExt cx="5956173" cy="2038065"/>
          </a:xfrm>
        </p:grpSpPr>
        <p:sp>
          <p:nvSpPr>
            <p:cNvPr id="27" name="Rectangle 27"/>
            <p:cNvSpPr/>
            <p:nvPr/>
          </p:nvSpPr>
          <p:spPr>
            <a:xfrm>
              <a:off x="533400" y="4093845"/>
              <a:ext cx="595122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6828" y="421528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83778" y="42152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21207" y="4215289"/>
              <a:ext cx="16518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位向量（P1 P2 P3 P4）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19306" y="421528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0320" y="461533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90743" y="4615339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07720" y="4615339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0 0 0 0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39925" y="4615339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}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88918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89394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0320" y="501538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90743" y="5015389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07720" y="5015389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1 0 1 0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14902" y="5015389"/>
              <a:ext cx="672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{P1, P3}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28923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0320" y="541543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 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90743" y="5415439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07720" y="5415439"/>
              <a:ext cx="478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0 1 0 0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81776" y="5415439"/>
              <a:ext cx="1338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{P2}，P2 是拥有者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093845"/>
              <a:ext cx="595122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600200" y="40938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2670810" y="40938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813935" y="409384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8447" y="5767864"/>
              <a:ext cx="5679059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目录项举例（N = 4）。与 Cache 块状态的对应：目录为 E 时拥有者的块为 M、其他为 I；为 S 时共享集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中的块为 S；为 U 时各 Cache 都没有该块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6789420" y="1524000"/>
            <a:ext cx="4869180" cy="2000250"/>
            <a:chOff x="6789420" y="1524000"/>
            <a:chExt cx="4869180" cy="2000250"/>
          </a:xfrm>
        </p:grpSpPr>
        <p:sp>
          <p:nvSpPr>
            <p:cNvPr id="53" name="Rectangle 53"/>
            <p:cNvSpPr/>
            <p:nvPr/>
          </p:nvSpPr>
          <p:spPr>
            <a:xfrm>
              <a:off x="6789420" y="1524000"/>
              <a:ext cx="486918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9095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2937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7977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触发事件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86575" y="2245519"/>
              <a:ext cx="1000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 Cache 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152448" y="2045494"/>
              <a:ext cx="623062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Invalid、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Shared、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Modified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613582" y="2145506"/>
              <a:ext cx="18463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读请求、CPU 写请求、远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 Cache 块收到的请求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789420" y="271938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789420" y="2724150"/>
              <a:ext cx="4869180" cy="8001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86575" y="30456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目录中的存储块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52448" y="2845594"/>
              <a:ext cx="779526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Uncached、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Shared、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Exclusive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613582" y="2945606"/>
              <a:ext cx="18605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读不命中、写不命中、数据写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回（假设这些操作是原子的）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789420" y="1524000"/>
              <a:ext cx="486918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5053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51166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3" name="c2-card-2"/>
          <p:cNvGrpSpPr/>
          <p:nvPr/>
        </p:nvGrpSpPr>
        <p:grpSpPr>
          <a:xfrm>
            <a:off x="6789420" y="3693795"/>
            <a:ext cx="4869180" cy="2399348"/>
            <a:chOff x="6789420" y="3693795"/>
            <a:chExt cx="4869180" cy="2399348"/>
          </a:xfrm>
        </p:grpSpPr>
        <p:sp>
          <p:nvSpPr>
            <p:cNvPr id="69" name="Rectangle 69"/>
            <p:cNvSpPr/>
            <p:nvPr/>
          </p:nvSpPr>
          <p:spPr>
            <a:xfrm>
              <a:off x="6789420" y="3693795"/>
              <a:ext cx="4869180" cy="2399348"/>
            </a:xfrm>
            <a:prstGeom prst="roundRect">
              <a:avLst>
                <a:gd name="adj" fmla="val 55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798945" y="3827145"/>
              <a:ext cx="47625" cy="213264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014210" y="3880485"/>
              <a:ext cx="195167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062076" y="3913346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目录承担一致性操作的主要功能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007352" y="422529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本地结点的请求先发给宿主结点的目录，再由目录有选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择地向远程结点发消息。目录要做三件事：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014210" y="477012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069888" y="48085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295007" y="4782502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向共享集指出的远程结点发消息，让它们完成相应操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014210" y="532733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069888" y="536667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295007" y="533971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修改目录中该块的状态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7014210" y="562832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069888" y="566670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295007" y="563975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更新共享集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本地结点、宿主结点与远程结点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883920" y="1703070"/>
            <a:ext cx="5350192" cy="4467702"/>
            <a:chOff x="883920" y="1703070"/>
            <a:chExt cx="5350192" cy="4467702"/>
          </a:xfrm>
        </p:grpSpPr>
        <p:sp>
          <p:nvSpPr>
            <p:cNvPr id="7" name="Freeform 7"/>
            <p:cNvSpPr/>
            <p:nvPr/>
          </p:nvSpPr>
          <p:spPr>
            <a:xfrm>
              <a:off x="1503045" y="2417445"/>
              <a:ext cx="9525" cy="321945"/>
            </a:xfrm>
            <a:custGeom>
              <a:avLst/>
              <a:gdLst/>
              <a:ahLst/>
              <a:cxnLst/>
              <a:rect l="l" t="t" r="r" b="b"/>
              <a:pathLst>
                <a:path w="9525" h="321945">
                  <a:moveTo>
                    <a:pt x="0" y="0"/>
                  </a:moveTo>
                  <a:lnTo>
                    <a:pt x="0" y="32194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55420" y="27393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455420" y="23221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817370" y="2007870"/>
              <a:ext cx="715327" cy="2851785"/>
            </a:xfrm>
            <a:custGeom>
              <a:avLst/>
              <a:gdLst/>
              <a:ahLst/>
              <a:cxnLst/>
              <a:rect l="l" t="t" r="r" b="b"/>
              <a:pathLst>
                <a:path w="715327" h="2851785">
                  <a:moveTo>
                    <a:pt x="0" y="0"/>
                  </a:moveTo>
                  <a:lnTo>
                    <a:pt x="715327" y="0"/>
                  </a:lnTo>
                  <a:lnTo>
                    <a:pt x="715327" y="2851785"/>
                  </a:lnTo>
                </a:path>
              </a:pathLst>
            </a:custGeom>
            <a:noFill/>
            <a:ln w="20955">
              <a:solidFill>
                <a:srgbClr val="F26B3A"/>
              </a:solidFill>
              <a:custDash>
                <a:ds d="272727" sp="181818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2485072" y="48596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653915" y="3510915"/>
              <a:ext cx="484822" cy="1443990"/>
            </a:xfrm>
            <a:custGeom>
              <a:avLst/>
              <a:gdLst/>
              <a:ahLst/>
              <a:cxnLst/>
              <a:rect l="l" t="t" r="r" b="b"/>
              <a:pathLst>
                <a:path w="484822" h="1443990">
                  <a:moveTo>
                    <a:pt x="0" y="1443990"/>
                  </a:moveTo>
                  <a:lnTo>
                    <a:pt x="0" y="722947"/>
                  </a:lnTo>
                  <a:lnTo>
                    <a:pt x="484822" y="722947"/>
                  </a:lnTo>
                  <a:lnTo>
                    <a:pt x="484822" y="0"/>
                  </a:lnTo>
                </a:path>
              </a:pathLst>
            </a:custGeom>
            <a:noFill/>
            <a:ln w="20955">
              <a:solidFill>
                <a:srgbClr val="14A38B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091112" y="34156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98245" y="1703070"/>
              <a:ext cx="609600" cy="6096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83920" y="2834640"/>
              <a:ext cx="1238250" cy="571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043362" y="2834640"/>
              <a:ext cx="2190750" cy="571500"/>
            </a:xfrm>
            <a:prstGeom prst="roundRect">
              <a:avLst>
                <a:gd name="adj" fmla="val 16667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627822" y="4964430"/>
              <a:ext cx="1809750" cy="666750"/>
            </a:xfrm>
            <a:prstGeom prst="roundRect">
              <a:avLst>
                <a:gd name="adj" fmla="val 1428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034790" y="4964430"/>
              <a:ext cx="1238250" cy="666750"/>
            </a:xfrm>
            <a:prstGeom prst="roundRect">
              <a:avLst>
                <a:gd name="adj" fmla="val 1428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88237" y="1937861"/>
              <a:ext cx="429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77185" y="3050381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14076" y="3050381"/>
              <a:ext cx="1649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Cache：K 所在块的副本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28181" y="5227796"/>
              <a:ext cx="12090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存储器：K 所在块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2038" y="52277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目录项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217420" y="3395662"/>
              <a:ext cx="63055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31212" y="3428048"/>
              <a:ext cx="6029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访问地址 K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643438" y="3739515"/>
              <a:ext cx="9906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9343" y="3770948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目录记录谁有副本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4690" y="3579971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本地结点 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60382" y="2370296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远程结点 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44197" y="5950744"/>
              <a:ext cx="1438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宿主结点 B（home）</a:t>
              </a:r>
            </a:p>
          </p:txBody>
        </p:sp>
      </p:grpSp>
      <p:grpSp>
        <p:nvGrpSpPr>
          <p:cNvPr id="40" name="c2-kv-1"/>
          <p:cNvGrpSpPr/>
          <p:nvPr/>
        </p:nvGrpSpPr>
        <p:grpSpPr>
          <a:xfrm>
            <a:off x="6890385" y="1548765"/>
            <a:ext cx="4768215" cy="1455420"/>
            <a:chOff x="6890385" y="1548765"/>
            <a:chExt cx="4768215" cy="1455420"/>
          </a:xfrm>
        </p:grpSpPr>
        <p:sp>
          <p:nvSpPr>
            <p:cNvPr id="32" name="TextBox 32"/>
            <p:cNvSpPr txBox="1"/>
            <p:nvPr/>
          </p:nvSpPr>
          <p:spPr>
            <a:xfrm>
              <a:off x="6890385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本地结点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8183" y="15487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发出访问请求的结点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98005" y="186880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90385" y="1988820"/>
              <a:ext cx="87630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宿主结点</a:t>
              </a:r>
              <a:br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（home）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18183" y="1988820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包含所访问的存储单元及其目录项的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98005" y="259080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90385" y="2710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远程结点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18183" y="2710815"/>
              <a:ext cx="265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中拥有该块副本的结点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898005" y="3135630"/>
            <a:ext cx="4760595" cy="533400"/>
            <a:chOff x="6898005" y="3135630"/>
            <a:chExt cx="4760595" cy="533400"/>
          </a:xfrm>
        </p:grpSpPr>
        <p:sp>
          <p:nvSpPr>
            <p:cNvPr id="41" name="Rectangle 41"/>
            <p:cNvSpPr/>
            <p:nvPr/>
          </p:nvSpPr>
          <p:spPr>
            <a:xfrm>
              <a:off x="6898005" y="3135630"/>
              <a:ext cx="4760595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102793" y="3302318"/>
              <a:ext cx="200026" cy="200026"/>
              <a:chOff x="7102793" y="3302318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102793" y="33023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02805" y="33689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191693" y="34023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404735" y="32975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三者可以是同一个结点。</a:t>
              </a:r>
            </a:p>
          </p:txBody>
        </p:sp>
      </p:grpSp>
      <p:grpSp>
        <p:nvGrpSpPr>
          <p:cNvPr id="52" name="c2-card-3"/>
          <p:cNvGrpSpPr/>
          <p:nvPr/>
        </p:nvGrpSpPr>
        <p:grpSpPr>
          <a:xfrm>
            <a:off x="6898005" y="3859530"/>
            <a:ext cx="4760595" cy="1602105"/>
            <a:chOff x="6898005" y="3859530"/>
            <a:chExt cx="4760595" cy="1602105"/>
          </a:xfrm>
        </p:grpSpPr>
        <p:sp>
          <p:nvSpPr>
            <p:cNvPr id="48" name="Rectangle 48"/>
            <p:cNvSpPr/>
            <p:nvPr/>
          </p:nvSpPr>
          <p:spPr>
            <a:xfrm>
              <a:off x="6898005" y="3859530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07555" y="406908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72160" y="410479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怎样找到宿主结点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99935" y="4446270"/>
              <a:ext cx="41776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系统采用统一地址空间：地址高位为结点地址，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低位为结点内存储器的偏移量。拿到地址 K，看高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位就知道宿主结点是谁。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结点之间的消息：谁发给谁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graph-1"/>
          <p:cNvGrpSpPr/>
          <p:nvPr/>
        </p:nvGrpSpPr>
        <p:grpSpPr>
          <a:xfrm>
            <a:off x="678180" y="1726882"/>
            <a:ext cx="10999851" cy="2494979"/>
            <a:chOff x="678180" y="1726882"/>
            <a:chExt cx="10999851" cy="2494979"/>
          </a:xfrm>
        </p:grpSpPr>
        <p:sp>
          <p:nvSpPr>
            <p:cNvPr id="7" name="Freeform 7"/>
            <p:cNvSpPr/>
            <p:nvPr/>
          </p:nvSpPr>
          <p:spPr>
            <a:xfrm>
              <a:off x="2535555" y="2664142"/>
              <a:ext cx="2805113" cy="397192"/>
            </a:xfrm>
            <a:custGeom>
              <a:avLst/>
              <a:gdLst/>
              <a:ahLst/>
              <a:cxnLst/>
              <a:rect l="l" t="t" r="r" b="b"/>
              <a:pathLst>
                <a:path w="2805113" h="397192">
                  <a:moveTo>
                    <a:pt x="0" y="0"/>
                  </a:moveTo>
                  <a:cubicBezTo>
                    <a:pt x="964565" y="385445"/>
                    <a:pt x="1899603" y="397192"/>
                    <a:pt x="2805113" y="35242"/>
                  </a:cubicBezTo>
                </a:path>
              </a:pathLst>
            </a:custGeom>
            <a:noFill/>
            <a:ln w="22860">
              <a:solidFill>
                <a:srgbClr val="1F5FA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323522" y="2655570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105728" y="8572"/>
                  </a:moveTo>
                  <a:lnTo>
                    <a:pt x="35243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623185" y="1732915"/>
              <a:ext cx="2806065" cy="397827"/>
            </a:xfrm>
            <a:custGeom>
              <a:avLst/>
              <a:gdLst/>
              <a:ahLst/>
              <a:cxnLst/>
              <a:rect l="l" t="t" r="r" b="b"/>
              <a:pathLst>
                <a:path w="2806065" h="397827">
                  <a:moveTo>
                    <a:pt x="2806065" y="397827"/>
                  </a:moveTo>
                  <a:cubicBezTo>
                    <a:pt x="1841500" y="11748"/>
                    <a:pt x="906145" y="0"/>
                    <a:pt x="0" y="362585"/>
                  </a:cubicBezTo>
                </a:path>
              </a:pathLst>
            </a:custGeom>
            <a:noFill/>
            <a:ln w="22860">
              <a:solidFill>
                <a:srgbClr val="1F5FA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35555" y="2050732"/>
              <a:ext cx="105728" cy="88582"/>
            </a:xfrm>
            <a:custGeom>
              <a:avLst/>
              <a:gdLst/>
              <a:ahLst/>
              <a:cxnLst/>
              <a:rect l="l" t="t" r="r" b="b"/>
              <a:pathLst>
                <a:path w="105728" h="88582">
                  <a:moveTo>
                    <a:pt x="0" y="80010"/>
                  </a:moveTo>
                  <a:lnTo>
                    <a:pt x="70485" y="0"/>
                  </a:lnTo>
                  <a:lnTo>
                    <a:pt x="105728" y="88582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762750" y="2664142"/>
              <a:ext cx="2806065" cy="397192"/>
            </a:xfrm>
            <a:custGeom>
              <a:avLst/>
              <a:gdLst/>
              <a:ahLst/>
              <a:cxnLst/>
              <a:rect l="l" t="t" r="r" b="b"/>
              <a:pathLst>
                <a:path w="2806065" h="397192">
                  <a:moveTo>
                    <a:pt x="0" y="0"/>
                  </a:moveTo>
                  <a:cubicBezTo>
                    <a:pt x="964565" y="385445"/>
                    <a:pt x="1899920" y="397192"/>
                    <a:pt x="2806065" y="35242"/>
                  </a:cubicBez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550718" y="2655570"/>
              <a:ext cx="105727" cy="87630"/>
            </a:xfrm>
            <a:custGeom>
              <a:avLst/>
              <a:gdLst/>
              <a:ahLst/>
              <a:cxnLst/>
              <a:rect l="l" t="t" r="r" b="b"/>
              <a:pathLst>
                <a:path w="105727" h="87630">
                  <a:moveTo>
                    <a:pt x="105727" y="8572"/>
                  </a:moveTo>
                  <a:lnTo>
                    <a:pt x="35242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851332" y="1732915"/>
              <a:ext cx="2805112" cy="397827"/>
            </a:xfrm>
            <a:custGeom>
              <a:avLst/>
              <a:gdLst/>
              <a:ahLst/>
              <a:cxnLst/>
              <a:rect l="l" t="t" r="r" b="b"/>
              <a:pathLst>
                <a:path w="2805112" h="397827">
                  <a:moveTo>
                    <a:pt x="2805112" y="397827"/>
                  </a:moveTo>
                  <a:cubicBezTo>
                    <a:pt x="1840548" y="11748"/>
                    <a:pt x="905510" y="0"/>
                    <a:pt x="0" y="362585"/>
                  </a:cubicBez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762750" y="2050732"/>
              <a:ext cx="105728" cy="88582"/>
            </a:xfrm>
            <a:custGeom>
              <a:avLst/>
              <a:gdLst/>
              <a:ahLst/>
              <a:cxnLst/>
              <a:rect l="l" t="t" r="r" b="b"/>
              <a:pathLst>
                <a:path w="105728" h="88582">
                  <a:moveTo>
                    <a:pt x="0" y="80010"/>
                  </a:moveTo>
                  <a:lnTo>
                    <a:pt x="70485" y="0"/>
                  </a:lnTo>
                  <a:lnTo>
                    <a:pt x="105728" y="88582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868805" y="2664142"/>
              <a:ext cx="2979420" cy="1246823"/>
            </a:xfrm>
            <a:custGeom>
              <a:avLst/>
              <a:gdLst/>
              <a:ahLst/>
              <a:cxnLst/>
              <a:rect l="l" t="t" r="r" b="b"/>
              <a:pathLst>
                <a:path w="2979420" h="1246823">
                  <a:moveTo>
                    <a:pt x="0" y="0"/>
                  </a:moveTo>
                  <a:lnTo>
                    <a:pt x="0" y="1246823"/>
                  </a:lnTo>
                  <a:lnTo>
                    <a:pt x="2979420" y="1246823"/>
                  </a:lnTo>
                </a:path>
              </a:pathLst>
            </a:custGeom>
            <a:noFill/>
            <a:ln w="22860">
              <a:solidFill>
                <a:srgbClr val="14A38B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848225" y="38633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78180" y="2130742"/>
              <a:ext cx="2381250" cy="533400"/>
            </a:xfrm>
            <a:prstGeom prst="roundRect">
              <a:avLst>
                <a:gd name="adj" fmla="val 17857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095875" y="2130742"/>
              <a:ext cx="2000250" cy="533400"/>
            </a:xfrm>
            <a:prstGeom prst="roundRect">
              <a:avLst>
                <a:gd name="adj" fmla="val 178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084945" y="2130742"/>
              <a:ext cx="2476500" cy="533400"/>
            </a:xfrm>
            <a:prstGeom prst="roundRect">
              <a:avLst>
                <a:gd name="adj" fmla="val 17857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953000" y="3644265"/>
              <a:ext cx="2286000" cy="533400"/>
            </a:xfrm>
            <a:prstGeom prst="roundRect">
              <a:avLst>
                <a:gd name="adj" fmla="val 17857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2810" y="2308384"/>
              <a:ext cx="21519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本地 Cache（处理机 P）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19700" y="230838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宿主结点的目录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46173" y="2308384"/>
              <a:ext cx="23540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远程 Cache（副本持有者）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28539" y="382190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被替换块的宿主目录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374582" y="2839402"/>
              <a:ext cx="3215640" cy="21336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279194" y="2881312"/>
              <a:ext cx="3406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RdMiss(P,K)、WtMiss(P,K)、Invalidate(K)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586162" y="1726882"/>
              <a:ext cx="792480" cy="21336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87469" y="1769745"/>
              <a:ext cx="7898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DReply(D)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712268" y="2839402"/>
              <a:ext cx="2994660" cy="21336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35015" y="2881312"/>
              <a:ext cx="31491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Invalidate(K)、Fetch(K)、Fetch&amp;Inv(K)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95248" y="1726882"/>
              <a:ext cx="1028700" cy="21336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84389" y="1769745"/>
              <a:ext cx="1050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WtBack(K,D)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824990" y="3796665"/>
              <a:ext cx="3162300" cy="21336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730903" y="3839527"/>
              <a:ext cx="33504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替换时：MdSharer(P,K)、WtBack2(P,K,D)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68359" y="3781425"/>
              <a:ext cx="270967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参数：P 为发出请求的处理机编号，K 为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要访问的地址，D 为数据块的内容</a:t>
              </a:r>
            </a:p>
          </p:txBody>
        </p:sp>
      </p:grpSp>
      <p:grpSp>
        <p:nvGrpSpPr>
          <p:cNvPr id="43" name="c1-callout-2"/>
          <p:cNvGrpSpPr/>
          <p:nvPr/>
        </p:nvGrpSpPr>
        <p:grpSpPr>
          <a:xfrm>
            <a:off x="533400" y="4625340"/>
            <a:ext cx="11125200" cy="782955"/>
            <a:chOff x="533400" y="4625340"/>
            <a:chExt cx="11125200" cy="782955"/>
          </a:xfrm>
        </p:grpSpPr>
        <p:sp>
          <p:nvSpPr>
            <p:cNvPr id="37" name="Rectangle 37"/>
            <p:cNvSpPr/>
            <p:nvPr/>
          </p:nvSpPr>
          <p:spPr>
            <a:xfrm>
              <a:off x="533400" y="4625340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4916805"/>
              <a:ext cx="200026" cy="200026"/>
              <a:chOff x="738188" y="4916805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49168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49834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50168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4773930"/>
              <a:ext cx="9540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更正：原课件消息汇总表中 WtBack 的目的写成“本地目录”，应为宿主目录；WtBack2 漏了参数 D；MdSharer、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WtBack2 在读缺失、写缺失引起替换时都会用到，并不限于表中写的读失效、写失效。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4" name="Rectangle 44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728335"/>
              <a:ext cx="9892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记忆线索：本地只和目录打交道，目录再去找远程结点；远程结点的回应（WtBack）也先交给目录，由目录用 DReply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转给本地。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目录协议的消息一览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table-1"/>
          <p:cNvGrpSpPr/>
          <p:nvPr/>
        </p:nvGrpSpPr>
        <p:grpSpPr>
          <a:xfrm>
            <a:off x="533400" y="1524000"/>
            <a:ext cx="11125200" cy="4669155"/>
            <a:chOff x="533400" y="1524000"/>
            <a:chExt cx="11125200" cy="4669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8505" y="16525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消息（参数）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03146" y="1652588"/>
              <a:ext cx="691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 → 目的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9821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11110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RdMiss(P, K)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27554" y="2076450"/>
              <a:ext cx="1667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 Cache → 宿主目录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75604" y="2076450"/>
              <a:ext cx="3619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读地址 K 不命中：请求数据，并把 P 加入共享集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67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7267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501265"/>
              <a:ext cx="1145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WtMiss(P, K)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27554" y="2501265"/>
              <a:ext cx="1667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 Cache → 宿主目录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75604" y="2501265"/>
              <a:ext cx="3619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写地址 K 不命中：请求数据，并使 P 成为独占者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927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2926080"/>
              <a:ext cx="1108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Invalidate(K)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7554" y="2926080"/>
              <a:ext cx="1667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 Cache → 宿主目录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75604" y="2926080"/>
              <a:ext cx="3986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请求向所有拥有 K 所在块副本的远程 Cache 发作废消息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16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2135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3349942"/>
              <a:ext cx="1108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Invalidate(K)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27554" y="3349942"/>
              <a:ext cx="16655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宿主目录 → 远程 Cache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75604" y="3349942"/>
              <a:ext cx="2532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作废远程 Cache 中包含地址 K 的块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414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3774757"/>
              <a:ext cx="7726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Fetch(K)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27554" y="3774757"/>
              <a:ext cx="16655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宿主目录 → 远程 Cache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75604" y="3774757"/>
              <a:ext cx="34393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取出包含 K 的块送到宿主结点，远程块改为共享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0662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07098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889" y="4198620"/>
              <a:ext cx="1109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Fetch&amp;Inv(K)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27554" y="4198620"/>
              <a:ext cx="16655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宿主目录 → 远程 Cache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75604" y="4198620"/>
              <a:ext cx="34393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取出包含 K 的块送到宿主结点，然后作废远程块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4900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889" y="4623435"/>
              <a:ext cx="8287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DReply(D)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27554" y="4623435"/>
              <a:ext cx="16655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宿主目录 → 本地 Cache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75604" y="4623435"/>
              <a:ext cx="3095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把从宿主存储器取得的数据返回本地 Cache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9149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919662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889" y="5048250"/>
              <a:ext cx="11546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WtBack(K, D)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27554" y="5048250"/>
              <a:ext cx="1667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远程 Cache → 宿主目录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75604" y="5048250"/>
              <a:ext cx="4531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把包含 K 的块写回宿主结点，是对 Fetch 或 Fetch&amp;Inv 的响应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3387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889" y="5472112"/>
              <a:ext cx="1339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MdSharer(P, K)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527554" y="5472112"/>
              <a:ext cx="2475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 Cache → 被替换块的宿主目录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75604" y="5472112"/>
              <a:ext cx="4069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替换未修改过的块：把 P 从共享集删除，删空则块变为 U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7635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5768340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5889" y="5896928"/>
              <a:ext cx="1499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WtBack2(P, K, D)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527554" y="5896928"/>
              <a:ext cx="2475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 Cache → 被替换块的宿主目录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75604" y="5896928"/>
              <a:ext cx="3771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替换已修改过的块：先写回，再做 MdSharer 的操作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1524000"/>
              <a:ext cx="11125200" cy="46691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2420302" y="1524000"/>
              <a:ext cx="9525" cy="4669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68352" y="1524000"/>
              <a:ext cx="9525" cy="4669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99924" cy="909257"/>
            <a:chOff x="520446" y="342900"/>
            <a:chExt cx="71999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999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块的状态转换（一）：CPU 读和 CPU 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graph-1"/>
          <p:cNvGrpSpPr/>
          <p:nvPr/>
        </p:nvGrpSpPr>
        <p:grpSpPr>
          <a:xfrm>
            <a:off x="1004888" y="1658302"/>
            <a:ext cx="4198619" cy="2895219"/>
            <a:chOff x="1004888" y="1658302"/>
            <a:chExt cx="4198619" cy="2895219"/>
          </a:xfrm>
        </p:grpSpPr>
        <p:sp>
          <p:nvSpPr>
            <p:cNvPr id="7" name="Freeform 7"/>
            <p:cNvSpPr/>
            <p:nvPr/>
          </p:nvSpPr>
          <p:spPr>
            <a:xfrm>
              <a:off x="2020252" y="2204085"/>
              <a:ext cx="2073593" cy="9525"/>
            </a:xfrm>
            <a:custGeom>
              <a:avLst/>
              <a:gdLst/>
              <a:ahLst/>
              <a:cxnLst/>
              <a:rect l="l" t="t" r="r" b="b"/>
              <a:pathLst>
                <a:path w="2073593" h="9525">
                  <a:moveTo>
                    <a:pt x="0" y="0"/>
                  </a:moveTo>
                  <a:lnTo>
                    <a:pt x="2073593" y="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093845" y="21564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001202" y="2576512"/>
              <a:ext cx="2240280" cy="1262062"/>
            </a:xfrm>
            <a:custGeom>
              <a:avLst/>
              <a:gdLst/>
              <a:ahLst/>
              <a:cxnLst/>
              <a:rect l="l" t="t" r="r" b="b"/>
              <a:pathLst>
                <a:path w="2240280" h="1262062">
                  <a:moveTo>
                    <a:pt x="0" y="1262062"/>
                  </a:moveTo>
                  <a:cubicBezTo>
                    <a:pt x="876300" y="1004252"/>
                    <a:pt x="1623060" y="583565"/>
                    <a:pt x="2240280" y="0"/>
                  </a:cubicBez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09098" y="2510790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101918" y="0"/>
                  </a:moveTo>
                  <a:lnTo>
                    <a:pt x="65723" y="100012"/>
                  </a:lnTo>
                  <a:lnTo>
                    <a:pt x="0" y="31432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572578" y="2651760"/>
              <a:ext cx="9525" cy="770573"/>
            </a:xfrm>
            <a:custGeom>
              <a:avLst/>
              <a:gdLst/>
              <a:ahLst/>
              <a:cxnLst/>
              <a:rect l="l" t="t" r="r" b="b"/>
              <a:pathLst>
                <a:path w="9525" h="770573">
                  <a:moveTo>
                    <a:pt x="0" y="0"/>
                  </a:moveTo>
                  <a:lnTo>
                    <a:pt x="0" y="770573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24952" y="34223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66912" y="2329815"/>
              <a:ext cx="2240280" cy="1262063"/>
            </a:xfrm>
            <a:custGeom>
              <a:avLst/>
              <a:gdLst/>
              <a:ahLst/>
              <a:cxnLst/>
              <a:rect l="l" t="t" r="r" b="b"/>
              <a:pathLst>
                <a:path w="2240280" h="1262063">
                  <a:moveTo>
                    <a:pt x="2240280" y="0"/>
                  </a:moveTo>
                  <a:cubicBezTo>
                    <a:pt x="1363980" y="257810"/>
                    <a:pt x="617220" y="678497"/>
                    <a:pt x="0" y="1262063"/>
                  </a:cubicBez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97380" y="3557588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0" y="100012"/>
                  </a:moveTo>
                  <a:lnTo>
                    <a:pt x="36195" y="0"/>
                  </a:lnTo>
                  <a:lnTo>
                    <a:pt x="101918" y="6858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636770" y="1756410"/>
              <a:ext cx="566737" cy="447675"/>
            </a:xfrm>
            <a:custGeom>
              <a:avLst/>
              <a:gdLst/>
              <a:ahLst/>
              <a:cxnLst/>
              <a:rect l="l" t="t" r="r" b="b"/>
              <a:pathLst>
                <a:path w="566737" h="447675">
                  <a:moveTo>
                    <a:pt x="0" y="0"/>
                  </a:moveTo>
                  <a:lnTo>
                    <a:pt x="0" y="1905"/>
                  </a:lnTo>
                  <a:lnTo>
                    <a:pt x="566737" y="1905"/>
                  </a:lnTo>
                  <a:lnTo>
                    <a:pt x="566737" y="447675"/>
                  </a:lnTo>
                  <a:lnTo>
                    <a:pt x="542925" y="447675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084445" y="21564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04888" y="3965258"/>
              <a:ext cx="567690" cy="447675"/>
            </a:xfrm>
            <a:custGeom>
              <a:avLst/>
              <a:gdLst/>
              <a:ahLst/>
              <a:cxnLst/>
              <a:rect l="l" t="t" r="r" b="b"/>
              <a:pathLst>
                <a:path w="567690" h="447675">
                  <a:moveTo>
                    <a:pt x="567690" y="447675"/>
                  </a:moveTo>
                  <a:lnTo>
                    <a:pt x="567690" y="444817"/>
                  </a:lnTo>
                  <a:lnTo>
                    <a:pt x="0" y="444817"/>
                  </a:lnTo>
                  <a:lnTo>
                    <a:pt x="0" y="0"/>
                  </a:lnTo>
                  <a:lnTo>
                    <a:pt x="24765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29652" y="39176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34428" y="1765935"/>
              <a:ext cx="876300" cy="8763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198620" y="1765935"/>
              <a:ext cx="876300" cy="8763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134428" y="3527108"/>
              <a:ext cx="876300" cy="8763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36436" y="2124551"/>
              <a:ext cx="472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 无效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76732" y="2124551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 共享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07266" y="3885724"/>
              <a:ext cx="7306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 已修改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029902" y="2104072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059992" y="21412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161348" y="3213735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91437" y="325088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497330" y="2984182"/>
              <a:ext cx="149542" cy="186690"/>
            </a:xfrm>
            <a:prstGeom prst="roundRect">
              <a:avLst>
                <a:gd name="adj" fmla="val 25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28372" y="30213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⑥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861310" y="2755582"/>
              <a:ext cx="222885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889675" y="279273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⑦⑧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808220" y="1658302"/>
              <a:ext cx="222885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836585" y="169545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②③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77290" y="4310062"/>
              <a:ext cx="222885" cy="186690"/>
            </a:xfrm>
            <a:prstGeom prst="roundRect">
              <a:avLst>
                <a:gd name="adj" fmla="val 204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05655" y="43481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⑤⑨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45218" y="3589973"/>
              <a:ext cx="6351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蓝：CPU 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45218" y="3836670"/>
              <a:ext cx="6351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橙：CPU 写</a:t>
              </a:r>
            </a:p>
          </p:txBody>
        </p:sp>
      </p:grpSp>
      <p:grpSp>
        <p:nvGrpSpPr>
          <p:cNvPr id="48" name="c1-card-2"/>
          <p:cNvGrpSpPr/>
          <p:nvPr/>
        </p:nvGrpSpPr>
        <p:grpSpPr>
          <a:xfrm>
            <a:off x="533400" y="4793932"/>
            <a:ext cx="5193982" cy="1568768"/>
            <a:chOff x="533400" y="4793932"/>
            <a:chExt cx="5193982" cy="1568768"/>
          </a:xfrm>
        </p:grpSpPr>
        <p:sp>
          <p:nvSpPr>
            <p:cNvPr id="40" name="Rectangle 40"/>
            <p:cNvSpPr/>
            <p:nvPr/>
          </p:nvSpPr>
          <p:spPr>
            <a:xfrm>
              <a:off x="533400" y="4793932"/>
              <a:ext cx="5193982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2925" y="4927282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9620" y="499205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9058" y="502634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更正与补充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77240" y="541305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3831" y="5352574"/>
              <a:ext cx="44412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原课件“CPU 写”状态图中的 RtBack2 应为 WtBack2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77240" y="573024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3831" y="5670709"/>
              <a:ext cx="427951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 ③④ 只写了 MdSharer、WtBack2，调入新块还要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 RdMiss（与 ⑧⑨ 同理）</a:t>
              </a:r>
            </a:p>
          </p:txBody>
        </p:sp>
      </p:grpSp>
      <p:grpSp>
        <p:nvGrpSpPr>
          <p:cNvPr id="107" name="c2-table-1"/>
          <p:cNvGrpSpPr/>
          <p:nvPr/>
        </p:nvGrpSpPr>
        <p:grpSpPr>
          <a:xfrm>
            <a:off x="6026848" y="1524000"/>
            <a:ext cx="5631752" cy="4710684"/>
            <a:chOff x="6026848" y="1524000"/>
            <a:chExt cx="5631752" cy="4710684"/>
          </a:xfrm>
        </p:grpSpPr>
        <p:sp>
          <p:nvSpPr>
            <p:cNvPr id="49" name="Rectangle 49"/>
            <p:cNvSpPr/>
            <p:nvPr/>
          </p:nvSpPr>
          <p:spPr>
            <a:xfrm>
              <a:off x="6032182" y="1524000"/>
              <a:ext cx="5626418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7410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8944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77743" y="1652588"/>
              <a:ext cx="684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事件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07561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发出的消息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89003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80301" y="2076450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→ 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66304" y="20764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读缺失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78924" y="2076450"/>
              <a:ext cx="547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32182" y="23679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032182" y="2372678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89003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958965" y="2501265"/>
              <a:ext cx="396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→ 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66304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读命中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78924" y="250126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032182" y="279273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89003" y="2926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58965" y="2926080"/>
              <a:ext cx="396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→ 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66304" y="292608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读缺失，旧块未改过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678924" y="2926080"/>
              <a:ext cx="16732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MdSharer，再 RdMiss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032182" y="32165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032182" y="3221355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289003" y="33499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941896" y="3349942"/>
              <a:ext cx="4303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→ S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766304" y="334994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读缺失，旧块改过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678924" y="3349942"/>
              <a:ext cx="15861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WtBack2，再 RdMiss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032182" y="36414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289003" y="377475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924827" y="3774757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→ M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766304" y="3774757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读命中、写命中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678924" y="3774757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2182" y="40662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032182" y="4070985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289003" y="41986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⑥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963232" y="419862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→ M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766304" y="419862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写缺失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678924" y="4198620"/>
              <a:ext cx="580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WtMiss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032182" y="44900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289003" y="46234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⑦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941896" y="4623435"/>
              <a:ext cx="4303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→ M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766304" y="46234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写命中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678924" y="4623435"/>
              <a:ext cx="7838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Invalidate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032182" y="49149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032182" y="4919662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289003" y="50482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⑧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941896" y="5048250"/>
              <a:ext cx="4303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→ M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766304" y="50482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写缺失，旧块未改过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678924" y="5048250"/>
              <a:ext cx="17061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MdSharer，再 WtMiss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6032182" y="53387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289003" y="54721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⑨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924827" y="5472112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→ M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766304" y="547211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写缺失，旧块改过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678924" y="5472112"/>
              <a:ext cx="16190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WtBack2，再 WtMiss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6032182" y="1524000"/>
              <a:ext cx="5626418" cy="42443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6646545" y="1524000"/>
              <a:ext cx="9525" cy="42443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7659052" y="1524000"/>
              <a:ext cx="9525" cy="42443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9571672" y="1524000"/>
              <a:ext cx="9525" cy="42443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026848" y="5842635"/>
              <a:ext cx="532466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缺失时先处理这一行的旧块：改过发 WtBack2，没改过发 MdSharer，I 状态的行没有旧块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不用发；再按读写发 RdMiss 或 WtMiss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24492" cy="909257"/>
            <a:chOff x="520446" y="342900"/>
            <a:chExt cx="92244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244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块的状态转换（二）：远程 Cache 块收到目录的请求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graph-1"/>
          <p:cNvGrpSpPr/>
          <p:nvPr/>
        </p:nvGrpSpPr>
        <p:grpSpPr>
          <a:xfrm>
            <a:off x="670076" y="2150745"/>
            <a:ext cx="4233394" cy="3633787"/>
            <a:chOff x="670076" y="2150745"/>
            <a:chExt cx="4233394" cy="3633787"/>
          </a:xfrm>
        </p:grpSpPr>
        <p:sp>
          <p:nvSpPr>
            <p:cNvPr id="7" name="Freeform 7"/>
            <p:cNvSpPr/>
            <p:nvPr/>
          </p:nvSpPr>
          <p:spPr>
            <a:xfrm>
              <a:off x="2071688" y="2588895"/>
              <a:ext cx="1945958" cy="9525"/>
            </a:xfrm>
            <a:custGeom>
              <a:avLst/>
              <a:gdLst/>
              <a:ahLst/>
              <a:cxnLst/>
              <a:rect l="l" t="t" r="r" b="b"/>
              <a:pathLst>
                <a:path w="1945958" h="9525">
                  <a:moveTo>
                    <a:pt x="1945958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76438" y="25412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0F7A6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28762" y="3131820"/>
              <a:ext cx="9525" cy="1766887"/>
            </a:xfrm>
            <a:custGeom>
              <a:avLst/>
              <a:gdLst/>
              <a:ahLst/>
              <a:cxnLst/>
              <a:rect l="l" t="t" r="r" b="b"/>
              <a:pathLst>
                <a:path w="9525" h="1766887">
                  <a:moveTo>
                    <a:pt x="0" y="1766887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81138" y="30365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855470" y="2960370"/>
              <a:ext cx="2214562" cy="2079308"/>
            </a:xfrm>
            <a:custGeom>
              <a:avLst/>
              <a:gdLst/>
              <a:ahLst/>
              <a:cxnLst/>
              <a:rect l="l" t="t" r="r" b="b"/>
              <a:pathLst>
                <a:path w="2214562" h="2079308">
                  <a:moveTo>
                    <a:pt x="0" y="2079308"/>
                  </a:moveTo>
                  <a:lnTo>
                    <a:pt x="2214562" y="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037648" y="2894648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101918" y="0"/>
                  </a:moveTo>
                  <a:lnTo>
                    <a:pt x="64770" y="100012"/>
                  </a:lnTo>
                  <a:lnTo>
                    <a:pt x="0" y="3048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90612" y="2150745"/>
              <a:ext cx="876300" cy="8763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027170" y="2150745"/>
              <a:ext cx="876300" cy="8763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90612" y="4908232"/>
              <a:ext cx="876300" cy="8763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07356" y="2513648"/>
              <a:ext cx="442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 无效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21510" y="2513648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 共享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6259" y="5272088"/>
              <a:ext cx="685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M 已修改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520315" y="2495550"/>
              <a:ext cx="95345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525634" y="2530316"/>
              <a:ext cx="943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收到 Invalidate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94372" y="3874770"/>
              <a:ext cx="166973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0076" y="3909536"/>
              <a:ext cx="17173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收到 Fetch&amp;Inv，发 WtBack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284095" y="3874770"/>
              <a:ext cx="142684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269850" y="3909536"/>
              <a:ext cx="14553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收到 Fetch，发 WtBack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5815965" y="1524000"/>
            <a:ext cx="5842635" cy="2000250"/>
            <a:chOff x="5815965" y="1524000"/>
            <a:chExt cx="5842635" cy="2000250"/>
          </a:xfrm>
        </p:grpSpPr>
        <p:sp>
          <p:nvSpPr>
            <p:cNvPr id="26" name="Rectangle 26"/>
            <p:cNvSpPr/>
            <p:nvPr/>
          </p:nvSpPr>
          <p:spPr>
            <a:xfrm>
              <a:off x="5815965" y="1524000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75299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收到的消息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6130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块原状态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6467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00943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新状态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40419" y="2045494"/>
              <a:ext cx="10350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Invalidate(K)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9040" y="20454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33398" y="20454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作废本地副本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03209" y="2045494"/>
              <a:ext cx="59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15965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15965" y="2324100"/>
              <a:ext cx="584263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97375" y="2545556"/>
              <a:ext cx="721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Fetch(K)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03109" y="2545556"/>
              <a:ext cx="130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33398" y="2445544"/>
              <a:ext cx="21663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 WtBack(K, D) 把块写回宿主结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点，本地保留可读副本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83295" y="254555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29194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40107" y="3145631"/>
              <a:ext cx="1035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Fetch&amp;Inv(K)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03109" y="3145631"/>
              <a:ext cx="130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33398" y="3045619"/>
              <a:ext cx="21663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 WtBack(K, D) 把块写回宿主结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点，再作废本地块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03209" y="3145631"/>
              <a:ext cx="59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1524000"/>
              <a:ext cx="584263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9612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3148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60227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table-2"/>
          <p:cNvGrpSpPr/>
          <p:nvPr/>
        </p:nvGrpSpPr>
        <p:grpSpPr>
          <a:xfrm>
            <a:off x="5815965" y="3693795"/>
            <a:ext cx="5842635" cy="1600200"/>
            <a:chOff x="5815965" y="3693795"/>
            <a:chExt cx="5842635" cy="1600200"/>
          </a:xfrm>
        </p:grpSpPr>
        <p:sp>
          <p:nvSpPr>
            <p:cNvPr id="51" name="Rectangle 51"/>
            <p:cNvSpPr/>
            <p:nvPr/>
          </p:nvSpPr>
          <p:spPr>
            <a:xfrm>
              <a:off x="5815965" y="3693795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01206" y="38152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目录协议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20379" y="381523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对应的监听协议总线侧转换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13120" y="4215289"/>
              <a:ext cx="111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 Invalidate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99082" y="4215289"/>
              <a:ext cx="2606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块听到 Invalidate 或 WtMiss：S → I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44891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15965" y="4493895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13120" y="4615339"/>
              <a:ext cx="80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 Fetch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99082" y="4615339"/>
              <a:ext cx="2622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块听到 RdMiss：写回并共享，M → S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15965" y="48891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13120" y="5015389"/>
              <a:ext cx="1115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 Fetch&amp;Inv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99082" y="5015389"/>
              <a:ext cx="26130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块听到 WtMiss：写回后作废，M → I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815965" y="3693795"/>
              <a:ext cx="584263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797165" y="369379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c2-callout-3"/>
          <p:cNvGrpSpPr/>
          <p:nvPr/>
        </p:nvGrpSpPr>
        <p:grpSpPr>
          <a:xfrm>
            <a:off x="5815965" y="5464492"/>
            <a:ext cx="5842635" cy="729615"/>
            <a:chOff x="5815965" y="5464492"/>
            <a:chExt cx="5842635" cy="729615"/>
          </a:xfrm>
        </p:grpSpPr>
        <p:sp>
          <p:nvSpPr>
            <p:cNvPr id="66" name="Rectangle 66"/>
            <p:cNvSpPr/>
            <p:nvPr/>
          </p:nvSpPr>
          <p:spPr>
            <a:xfrm>
              <a:off x="5815965" y="5464492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020753" y="5729290"/>
              <a:ext cx="200023" cy="200023"/>
              <a:chOff x="6020753" y="5729290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020753" y="57292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154103" y="57959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323457" y="5610225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两种协议做的事相同，区别在于目录协议只把消息发给目录点名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的结点，不需要全体监听。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目录中存储块的状态转换（一）：收到读不命中与写不命中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graph-1"/>
          <p:cNvGrpSpPr/>
          <p:nvPr/>
        </p:nvGrpSpPr>
        <p:grpSpPr>
          <a:xfrm>
            <a:off x="1110615" y="1781175"/>
            <a:ext cx="4404359" cy="1800225"/>
            <a:chOff x="1110615" y="1781175"/>
            <a:chExt cx="4404359" cy="1800225"/>
          </a:xfrm>
        </p:grpSpPr>
        <p:sp>
          <p:nvSpPr>
            <p:cNvPr id="7" name="Freeform 7"/>
            <p:cNvSpPr/>
            <p:nvPr/>
          </p:nvSpPr>
          <p:spPr>
            <a:xfrm>
              <a:off x="1805940" y="2238375"/>
              <a:ext cx="2607945" cy="9525"/>
            </a:xfrm>
            <a:custGeom>
              <a:avLst/>
              <a:gdLst/>
              <a:ahLst/>
              <a:cxnLst/>
              <a:rect l="l" t="t" r="r" b="b"/>
              <a:pathLst>
                <a:path w="2607945" h="9525">
                  <a:moveTo>
                    <a:pt x="0" y="0"/>
                  </a:moveTo>
                  <a:lnTo>
                    <a:pt x="2607945" y="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413885" y="2190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791652" y="2364105"/>
              <a:ext cx="2640330" cy="775335"/>
            </a:xfrm>
            <a:custGeom>
              <a:avLst/>
              <a:gdLst/>
              <a:ahLst/>
              <a:cxnLst/>
              <a:rect l="l" t="t" r="r" b="b"/>
              <a:pathLst>
                <a:path w="2640330" h="775335">
                  <a:moveTo>
                    <a:pt x="0" y="775335"/>
                  </a:moveTo>
                  <a:lnTo>
                    <a:pt x="2640330" y="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418648" y="2318385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19050"/>
                  </a:moveTo>
                  <a:lnTo>
                    <a:pt x="26670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861560" y="17811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104775"/>
                  </a:moveTo>
                  <a:lnTo>
                    <a:pt x="0" y="0"/>
                  </a:lnTo>
                  <a:lnTo>
                    <a:pt x="457200" y="0"/>
                  </a:lnTo>
                  <a:lnTo>
                    <a:pt x="457200" y="457200"/>
                  </a:lnTo>
                  <a:lnTo>
                    <a:pt x="447675" y="45720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213985" y="2190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110615" y="1895475"/>
              <a:ext cx="685800" cy="685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518660" y="1895475"/>
              <a:ext cx="685800" cy="685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110615" y="2895600"/>
              <a:ext cx="685800" cy="685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69506" y="2172652"/>
              <a:ext cx="568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 未缓存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48227" y="2172652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 共享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40182" y="3172778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独占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960370" y="2160270"/>
              <a:ext cx="39338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981256" y="2189321"/>
              <a:ext cx="3525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DReply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765108" y="2659380"/>
              <a:ext cx="78390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772560" y="2689384"/>
              <a:ext cx="7699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Fetch、DReply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121592" y="1931670"/>
              <a:ext cx="39338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42479" y="1960721"/>
              <a:ext cx="3525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DReply</a:t>
              </a:r>
            </a:p>
          </p:txBody>
        </p:sp>
      </p:grpSp>
      <p:grpSp>
        <p:nvGrpSpPr>
          <p:cNvPr id="45" name="c1-table-2"/>
          <p:cNvGrpSpPr/>
          <p:nvPr/>
        </p:nvGrpSpPr>
        <p:grpSpPr>
          <a:xfrm>
            <a:off x="533400" y="4074795"/>
            <a:ext cx="5410200" cy="2200275"/>
            <a:chOff x="533400" y="4074795"/>
            <a:chExt cx="5410200" cy="2200275"/>
          </a:xfrm>
        </p:grpSpPr>
        <p:sp>
          <p:nvSpPr>
            <p:cNvPr id="26" name="Rectangle 26"/>
            <p:cNvSpPr/>
            <p:nvPr/>
          </p:nvSpPr>
          <p:spPr>
            <a:xfrm>
              <a:off x="533400" y="4074795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3958" y="419623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51832" y="4196239"/>
              <a:ext cx="2340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收到 RdMiss(P, K) 后目录的操作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62118" y="419623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新状态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4120" y="4696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96378" y="4596289"/>
              <a:ext cx="28206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把存储器数据送往 P（DReply），P 成为唯一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的共享结点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04232" y="4596289"/>
              <a:ext cx="7795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S，共享集 =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{P}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0701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07492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4120" y="519636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96378" y="5196364"/>
              <a:ext cx="27424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把存储器数据送往 P，并把 P 加入共享集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44470" y="519636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4702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4120" y="579643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96378" y="5596414"/>
              <a:ext cx="2877566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向拥有者发 Fetch，它用 WtBack 送回的数据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先写入存储器，再用 DReply 送给 P；共享集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 P，原拥有者仍留在集中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44470" y="5796439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074795"/>
              <a:ext cx="5410200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394460" y="4074795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640580" y="4074795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graph-1"/>
          <p:cNvGrpSpPr/>
          <p:nvPr/>
        </p:nvGrpSpPr>
        <p:grpSpPr>
          <a:xfrm>
            <a:off x="6216756" y="1895475"/>
            <a:ext cx="4702704" cy="1800225"/>
            <a:chOff x="6216756" y="1895475"/>
            <a:chExt cx="4702704" cy="1800225"/>
          </a:xfrm>
        </p:grpSpPr>
        <p:sp>
          <p:nvSpPr>
            <p:cNvPr id="46" name="Freeform 46"/>
            <p:cNvSpPr/>
            <p:nvPr/>
          </p:nvSpPr>
          <p:spPr>
            <a:xfrm>
              <a:off x="7168515" y="2590800"/>
              <a:ext cx="9525" cy="200025"/>
            </a:xfrm>
            <a:custGeom>
              <a:avLst/>
              <a:gdLst/>
              <a:ahLst/>
              <a:cxnLst/>
              <a:rect l="l" t="t" r="r" b="b"/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120890" y="27908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598092" y="2337435"/>
              <a:ext cx="2640330" cy="775335"/>
            </a:xfrm>
            <a:custGeom>
              <a:avLst/>
              <a:gdLst/>
              <a:ahLst/>
              <a:cxnLst/>
              <a:rect l="l" t="t" r="r" b="b"/>
              <a:pathLst>
                <a:path w="2640330" h="775335">
                  <a:moveTo>
                    <a:pt x="2640330" y="0"/>
                  </a:moveTo>
                  <a:lnTo>
                    <a:pt x="0" y="775335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506652" y="306705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72390"/>
                  </a:moveTo>
                  <a:lnTo>
                    <a:pt x="78105" y="0"/>
                  </a:lnTo>
                  <a:lnTo>
                    <a:pt x="104775" y="9144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6711315" y="3238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352425"/>
                  </a:move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lnTo>
                    <a:pt x="9525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6720840" y="3190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825615" y="1895475"/>
              <a:ext cx="685800" cy="685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0233660" y="1895475"/>
              <a:ext cx="685800" cy="685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6825615" y="2895600"/>
              <a:ext cx="685800" cy="685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84506" y="2172652"/>
              <a:ext cx="568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 未缓存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63227" y="2172652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 共享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55182" y="3172778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独占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971348" y="2659380"/>
              <a:ext cx="39338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92234" y="2689384"/>
              <a:ext cx="3525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DReply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376285" y="2659380"/>
              <a:ext cx="99250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77406" y="2689384"/>
              <a:ext cx="9902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Invalidate、DReply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16968" y="3388995"/>
              <a:ext cx="9877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16756" y="3418046"/>
              <a:ext cx="9891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Fetch&amp;Inv、DReply</a:t>
              </a:r>
            </a:p>
          </p:txBody>
        </p:sp>
      </p:grpSp>
      <p:grpSp>
        <p:nvGrpSpPr>
          <p:cNvPr id="84" name="c2-table-2"/>
          <p:cNvGrpSpPr/>
          <p:nvPr/>
        </p:nvGrpSpPr>
        <p:grpSpPr>
          <a:xfrm>
            <a:off x="6248400" y="4074795"/>
            <a:ext cx="5410200" cy="2200275"/>
            <a:chOff x="6248400" y="4074795"/>
            <a:chExt cx="5410200" cy="2200275"/>
          </a:xfrm>
        </p:grpSpPr>
        <p:sp>
          <p:nvSpPr>
            <p:cNvPr id="65" name="Rectangle 65"/>
            <p:cNvSpPr/>
            <p:nvPr/>
          </p:nvSpPr>
          <p:spPr>
            <a:xfrm>
              <a:off x="6248400" y="4074795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448958" y="419623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原状态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50552" y="4196239"/>
              <a:ext cx="237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收到 WtMiss(P, K) 后目录的操作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777118" y="419623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新状态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29120" y="4696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211378" y="4696301"/>
              <a:ext cx="2393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把存储器数据送往 P，P 成为拥有者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619232" y="4596289"/>
              <a:ext cx="7795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E，共享集 =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{P}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48400" y="50701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248400" y="5074920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629120" y="52963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211378" y="5196364"/>
              <a:ext cx="255041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把数据送往 P，向共享集中所有处理机发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Invalidate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619232" y="5196364"/>
              <a:ext cx="7795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E，共享集 =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{P}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248400" y="56702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629120" y="589645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211378" y="5796439"/>
              <a:ext cx="2856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向旧拥有者发 Fetch&amp;Inv：它写回数据并作废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自己的块，数据再送给 P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619232" y="5796439"/>
              <a:ext cx="7795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E，共享集 =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{P}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4074795"/>
              <a:ext cx="5410200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7109460" y="4074795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355580" y="4074795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目录中存储块的状态转换（二）：数据写回与完整状态图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graph-1"/>
          <p:cNvGrpSpPr/>
          <p:nvPr/>
        </p:nvGrpSpPr>
        <p:grpSpPr>
          <a:xfrm>
            <a:off x="754380" y="1906905"/>
            <a:ext cx="5151927" cy="4121467"/>
            <a:chOff x="754380" y="1906905"/>
            <a:chExt cx="5151927" cy="4121467"/>
          </a:xfrm>
        </p:grpSpPr>
        <p:sp>
          <p:nvSpPr>
            <p:cNvPr id="7" name="Freeform 7"/>
            <p:cNvSpPr/>
            <p:nvPr/>
          </p:nvSpPr>
          <p:spPr>
            <a:xfrm>
              <a:off x="2032635" y="2676525"/>
              <a:ext cx="2157412" cy="155893"/>
            </a:xfrm>
            <a:custGeom>
              <a:avLst/>
              <a:gdLst/>
              <a:ahLst/>
              <a:cxnLst/>
              <a:rect l="l" t="t" r="r" b="b"/>
              <a:pathLst>
                <a:path w="2157412" h="155893">
                  <a:moveTo>
                    <a:pt x="0" y="0"/>
                  </a:moveTo>
                  <a:cubicBezTo>
                    <a:pt x="749935" y="149860"/>
                    <a:pt x="1469072" y="155893"/>
                    <a:pt x="2157412" y="18097"/>
                  </a:cubicBez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180522" y="2647950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8575"/>
                  </a:moveTo>
                  <a:lnTo>
                    <a:pt x="18098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125980" y="2344420"/>
              <a:ext cx="2157412" cy="155892"/>
            </a:xfrm>
            <a:custGeom>
              <a:avLst/>
              <a:gdLst/>
              <a:ahLst/>
              <a:cxnLst/>
              <a:rect l="l" t="t" r="r" b="b"/>
              <a:pathLst>
                <a:path w="2157412" h="155892">
                  <a:moveTo>
                    <a:pt x="2157412" y="155892"/>
                  </a:moveTo>
                  <a:cubicBezTo>
                    <a:pt x="1406842" y="6032"/>
                    <a:pt x="687705" y="0"/>
                    <a:pt x="0" y="137795"/>
                  </a:cubicBezTo>
                </a:path>
              </a:pathLst>
            </a:custGeom>
            <a:noFill/>
            <a:ln w="19050">
              <a:solidFill>
                <a:srgbClr val="14A38B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32635" y="2435542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0" y="64770"/>
                  </a:moveTo>
                  <a:lnTo>
                    <a:pt x="83820" y="0"/>
                  </a:lnTo>
                  <a:lnTo>
                    <a:pt x="102870" y="93345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81200" y="3020378"/>
              <a:ext cx="2411730" cy="2102167"/>
            </a:xfrm>
            <a:custGeom>
              <a:avLst/>
              <a:gdLst/>
              <a:ahLst/>
              <a:cxnLst/>
              <a:rect l="l" t="t" r="r" b="b"/>
              <a:pathLst>
                <a:path w="2411730" h="2102167">
                  <a:moveTo>
                    <a:pt x="0" y="2102167"/>
                  </a:moveTo>
                  <a:cubicBezTo>
                    <a:pt x="968375" y="1540827"/>
                    <a:pt x="1772285" y="840105"/>
                    <a:pt x="2411730" y="0"/>
                  </a:cubicBez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354830" y="2945130"/>
              <a:ext cx="96203" cy="103823"/>
            </a:xfrm>
            <a:custGeom>
              <a:avLst/>
              <a:gdLst/>
              <a:ahLst/>
              <a:cxnLst/>
              <a:rect l="l" t="t" r="r" b="b"/>
              <a:pathLst>
                <a:path w="96203" h="103823">
                  <a:moveTo>
                    <a:pt x="96203" y="0"/>
                  </a:moveTo>
                  <a:lnTo>
                    <a:pt x="76200" y="103823"/>
                  </a:lnTo>
                  <a:lnTo>
                    <a:pt x="0" y="46673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23098" y="2812732"/>
              <a:ext cx="2411730" cy="2102168"/>
            </a:xfrm>
            <a:custGeom>
              <a:avLst/>
              <a:gdLst/>
              <a:ahLst/>
              <a:cxnLst/>
              <a:rect l="l" t="t" r="r" b="b"/>
              <a:pathLst>
                <a:path w="2411730" h="2102168">
                  <a:moveTo>
                    <a:pt x="2411730" y="0"/>
                  </a:moveTo>
                  <a:cubicBezTo>
                    <a:pt x="1443355" y="561340"/>
                    <a:pt x="639445" y="1262062"/>
                    <a:pt x="0" y="2102168"/>
                  </a:cubicBez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64995" y="4885372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0" y="104775"/>
                  </a:moveTo>
                  <a:lnTo>
                    <a:pt x="20002" y="0"/>
                  </a:lnTo>
                  <a:lnTo>
                    <a:pt x="95250" y="58103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374458" y="3027045"/>
              <a:ext cx="131445" cy="1786890"/>
            </a:xfrm>
            <a:custGeom>
              <a:avLst/>
              <a:gdLst/>
              <a:ahLst/>
              <a:cxnLst/>
              <a:rect l="l" t="t" r="r" b="b"/>
              <a:pathLst>
                <a:path w="131445" h="1786890">
                  <a:moveTo>
                    <a:pt x="131445" y="0"/>
                  </a:moveTo>
                  <a:cubicBezTo>
                    <a:pt x="6350" y="626745"/>
                    <a:pt x="0" y="1222375"/>
                    <a:pt x="112395" y="1786890"/>
                  </a:cubicBez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440180" y="4804410"/>
              <a:ext cx="94298" cy="102870"/>
            </a:xfrm>
            <a:custGeom>
              <a:avLst/>
              <a:gdLst/>
              <a:ahLst/>
              <a:cxnLst/>
              <a:rect l="l" t="t" r="r" b="b"/>
              <a:pathLst>
                <a:path w="94298" h="102870">
                  <a:moveTo>
                    <a:pt x="65723" y="102870"/>
                  </a:moveTo>
                  <a:lnTo>
                    <a:pt x="0" y="19050"/>
                  </a:lnTo>
                  <a:lnTo>
                    <a:pt x="94298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81162" y="3121342"/>
              <a:ext cx="132080" cy="1785938"/>
            </a:xfrm>
            <a:custGeom>
              <a:avLst/>
              <a:gdLst/>
              <a:ahLst/>
              <a:cxnLst/>
              <a:rect l="l" t="t" r="r" b="b"/>
              <a:pathLst>
                <a:path w="132080" h="1785938">
                  <a:moveTo>
                    <a:pt x="0" y="1785938"/>
                  </a:moveTo>
                  <a:cubicBezTo>
                    <a:pt x="125730" y="1159193"/>
                    <a:pt x="132080" y="563880"/>
                    <a:pt x="19050" y="0"/>
                  </a:cubicBezTo>
                </a:path>
              </a:pathLst>
            </a:custGeom>
            <a:noFill/>
            <a:ln w="19050">
              <a:solidFill>
                <a:srgbClr val="14A38B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653540" y="3027045"/>
              <a:ext cx="93345" cy="102870"/>
            </a:xfrm>
            <a:custGeom>
              <a:avLst/>
              <a:gdLst/>
              <a:ahLst/>
              <a:cxnLst/>
              <a:rect l="l" t="t" r="r" b="b"/>
              <a:pathLst>
                <a:path w="93345" h="102870">
                  <a:moveTo>
                    <a:pt x="27623" y="0"/>
                  </a:moveTo>
                  <a:lnTo>
                    <a:pt x="93345" y="84772"/>
                  </a:lnTo>
                  <a:lnTo>
                    <a:pt x="0" y="10287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721542" y="1906905"/>
              <a:ext cx="587692" cy="681990"/>
            </a:xfrm>
            <a:custGeom>
              <a:avLst/>
              <a:gdLst/>
              <a:ahLst/>
              <a:cxnLst/>
              <a:rect l="l" t="t" r="r" b="b"/>
              <a:pathLst>
                <a:path w="587692" h="681990">
                  <a:moveTo>
                    <a:pt x="0" y="234315"/>
                  </a:moveTo>
                  <a:lnTo>
                    <a:pt x="0" y="0"/>
                  </a:lnTo>
                  <a:lnTo>
                    <a:pt x="587692" y="0"/>
                  </a:lnTo>
                  <a:lnTo>
                    <a:pt x="587692" y="681990"/>
                  </a:lnTo>
                  <a:lnTo>
                    <a:pt x="542925" y="681990"/>
                  </a:lnTo>
                </a:path>
              </a:pathLst>
            </a:custGeom>
            <a:noFill/>
            <a:ln w="19050">
              <a:solidFill>
                <a:srgbClr val="1F5FA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169218" y="25412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006792" y="5346382"/>
              <a:ext cx="586740" cy="681990"/>
            </a:xfrm>
            <a:custGeom>
              <a:avLst/>
              <a:gdLst/>
              <a:ahLst/>
              <a:cxnLst/>
              <a:rect l="l" t="t" r="r" b="b"/>
              <a:pathLst>
                <a:path w="586740" h="681990">
                  <a:moveTo>
                    <a:pt x="586740" y="447675"/>
                  </a:moveTo>
                  <a:lnTo>
                    <a:pt x="586740" y="681990"/>
                  </a:lnTo>
                  <a:lnTo>
                    <a:pt x="0" y="681990"/>
                  </a:lnTo>
                  <a:lnTo>
                    <a:pt x="0" y="0"/>
                  </a:lnTo>
                  <a:lnTo>
                    <a:pt x="43815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50608" y="52987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155382" y="2150745"/>
              <a:ext cx="876300" cy="8763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283392" y="2150745"/>
              <a:ext cx="876300" cy="8763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155382" y="4908232"/>
              <a:ext cx="876300" cy="8763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68951" y="2513648"/>
              <a:ext cx="6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 未缓存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77733" y="2513648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 共享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49723" y="5272088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独占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917508" y="2695575"/>
              <a:ext cx="48101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34157" y="2730341"/>
              <a:ext cx="446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RdMiss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522220" y="2295525"/>
              <a:ext cx="127063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515038" y="2330291"/>
              <a:ext cx="12849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MdSharer（集变空）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084195" y="4064318"/>
              <a:ext cx="48101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101797" y="4099084"/>
              <a:ext cx="446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RdMiss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738438" y="3685222"/>
              <a:ext cx="50577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754028" y="3719989"/>
              <a:ext cx="4736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WtMiss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159192" y="3874770"/>
              <a:ext cx="50577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74783" y="3909536"/>
              <a:ext cx="4736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WtMiss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485900" y="3874770"/>
              <a:ext cx="58007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498313" y="3909536"/>
              <a:ext cx="5542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WtBack2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719638" y="2154555"/>
              <a:ext cx="117729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12164" y="2189321"/>
              <a:ext cx="11941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RdMiss；MdSharer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54380" y="5594985"/>
              <a:ext cx="505778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9971" y="5628799"/>
              <a:ext cx="4736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WtMiss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604260" y="4628674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蓝：读不命中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604260" y="5015389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橙：写不命中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604260" y="5403056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绿：写回与替换</a:t>
              </a:r>
            </a:p>
          </p:txBody>
        </p:sp>
      </p:grpSp>
      <p:grpSp>
        <p:nvGrpSpPr>
          <p:cNvPr id="73" name="c2-table-1"/>
          <p:cNvGrpSpPr/>
          <p:nvPr/>
        </p:nvGrpSpPr>
        <p:grpSpPr>
          <a:xfrm>
            <a:off x="6139815" y="1524000"/>
            <a:ext cx="5518785" cy="2600325"/>
            <a:chOff x="6139815" y="1524000"/>
            <a:chExt cx="5518785" cy="2600325"/>
          </a:xfrm>
        </p:grpSpPr>
        <p:sp>
          <p:nvSpPr>
            <p:cNvPr id="49" name="Rectangle 49"/>
            <p:cNvSpPr/>
            <p:nvPr/>
          </p:nvSpPr>
          <p:spPr>
            <a:xfrm>
              <a:off x="6139815" y="1524000"/>
              <a:ext cx="5518785" cy="60007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29133" y="17454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13040" y="1645444"/>
              <a:ext cx="2959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原状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69006" y="17454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目录的操作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902848" y="17454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新状态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49708" y="2345531"/>
              <a:ext cx="107182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WtBack2(P, K,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11470" y="24455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89620" y="2245519"/>
              <a:ext cx="2002790" cy="6200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拥有者替换该块时写回宿主存储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器，存储器中的数据成为最新，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宿主结点实际上成了拥有者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05414" y="2345531"/>
              <a:ext cx="6586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U，共享集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{ }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139815" y="2919412"/>
              <a:ext cx="551878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139815" y="2924175"/>
              <a:ext cx="551878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60649" y="3145631"/>
              <a:ext cx="12499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MdSharer(P, K)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11470" y="314563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89620" y="3045619"/>
              <a:ext cx="20241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 从共享集中删除，集合仍非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085200" y="314563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139815" y="3519488"/>
              <a:ext cx="551878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60649" y="3745706"/>
              <a:ext cx="12499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MdSharer(P, K)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11470" y="374570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89620" y="3645694"/>
              <a:ext cx="20241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 从共享集中删除，集合变为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085200" y="374570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139815" y="1524000"/>
              <a:ext cx="5518785" cy="26003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625715" y="1524000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287702" y="1524000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10605135" y="1524000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4" name="c2-card-2"/>
          <p:cNvGrpSpPr/>
          <p:nvPr/>
        </p:nvGrpSpPr>
        <p:grpSpPr>
          <a:xfrm>
            <a:off x="6139815" y="4293870"/>
            <a:ext cx="5518785" cy="2043112"/>
            <a:chOff x="6139815" y="4293870"/>
            <a:chExt cx="5518785" cy="2043112"/>
          </a:xfrm>
        </p:grpSpPr>
        <p:sp>
          <p:nvSpPr>
            <p:cNvPr id="74" name="Rectangle 74"/>
            <p:cNvSpPr/>
            <p:nvPr/>
          </p:nvSpPr>
          <p:spPr>
            <a:xfrm>
              <a:off x="6139815" y="4293870"/>
              <a:ext cx="5518785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149340" y="4427220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364605" y="448056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446076" y="451342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更正与补充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373178" y="48815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529197" y="4825365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原课件全图中 S 的自环没有标注，应为“RdMiss / 发 DReply，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 加入共享集”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373178" y="54387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529197" y="5382578"/>
              <a:ext cx="4582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 E → U 标为 WtBack。它由拥有者替换块引起，按消息定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义应为 WtBack2（WtBack 是远程结点对 Fetch 的响应）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373178" y="599598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529197" y="5939790"/>
              <a:ext cx="49647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MdSharer 的两条转换原图没有画，按 MdSharer 的定义补上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58089" cy="909257"/>
            <a:chOff x="520446" y="342900"/>
            <a:chExt cx="91580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目录协议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580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例（补充）：目录协议完整跟踪 P1、P2、P3 对块 K 的访问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0" name="c1-table-1"/>
          <p:cNvGrpSpPr/>
          <p:nvPr/>
        </p:nvGrpSpPr>
        <p:grpSpPr>
          <a:xfrm>
            <a:off x="528447" y="1524000"/>
            <a:ext cx="11130153" cy="3864006"/>
            <a:chOff x="528447" y="1524000"/>
            <a:chExt cx="11130153" cy="38640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0428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6756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4081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本地发出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36413" y="164544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目录发出（远程回应）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4708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目录状态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7879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03547" y="16454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15052" y="16454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27509" y="16454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279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6815" y="2045494"/>
              <a:ext cx="520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读 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55595" y="2045494"/>
              <a:ext cx="1026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RdMiss(P1,K)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35818" y="2045494"/>
              <a:ext cx="479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DReply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69415" y="2045494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→ 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29720" y="2045494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{P1}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49547" y="20454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83156" y="2045494"/>
              <a:ext cx="59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95614" y="2045494"/>
              <a:ext cx="59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319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23241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27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86815" y="2445544"/>
              <a:ext cx="520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读 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55595" y="2445544"/>
              <a:ext cx="1026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RdMiss(P3,K)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35818" y="2445544"/>
              <a:ext cx="479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DReply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4828" y="24455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74394" y="2445544"/>
              <a:ext cx="672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{P1, P3}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51738" y="24455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683156" y="2445544"/>
              <a:ext cx="59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73510" y="24455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27193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279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86815" y="2845594"/>
              <a:ext cx="14252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替换 K（未改过）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855595" y="2845594"/>
              <a:ext cx="1229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MdSharer(P3,K)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35818" y="28455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04828" y="28455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29720" y="2845594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{P1}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051738" y="28455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83156" y="2845594"/>
              <a:ext cx="59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94419" y="2845594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1194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3400" y="31242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2279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86815" y="3245644"/>
              <a:ext cx="520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写 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855595" y="3245644"/>
              <a:ext cx="1057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WtMiss(P2,K)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635818" y="3245644"/>
              <a:ext cx="16056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Invalidate→P1，DReply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69415" y="3245644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→ 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29720" y="3245644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{P2}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70456" y="3245644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644325" y="3245644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95614" y="3245644"/>
              <a:ext cx="59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35194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62279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86815" y="3645694"/>
              <a:ext cx="520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读 K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855595" y="3645694"/>
              <a:ext cx="1026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RdMiss(P1,K)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635818" y="3645694"/>
              <a:ext cx="25657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Fetch→P2（P2 回 WtBack），DReply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69415" y="3645694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→ 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74394" y="3645694"/>
              <a:ext cx="672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{P1, P2}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049547" y="36456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661052" y="36456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95614" y="3645694"/>
              <a:ext cx="59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33400" y="39195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33400" y="39243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2279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86815" y="4045744"/>
              <a:ext cx="520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写 K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855595" y="4045744"/>
              <a:ext cx="1057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WtMiss(P3,K)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635818" y="4045744"/>
              <a:ext cx="19316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Invalidate→P1、P2，DReply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969415" y="4045744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→ 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29720" y="4045744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{P3}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070456" y="4045744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681961" y="4045744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256782" y="4045744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33400" y="43195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62279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86815" y="4445794"/>
              <a:ext cx="520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写 K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855595" y="4445794"/>
              <a:ext cx="1057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WtMiss(P1,K)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635818" y="4445794"/>
              <a:ext cx="28653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Fetch&amp;Inv→P3（P3 回 WtBack），DReply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969415" y="4445794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→ E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029720" y="4445794"/>
              <a:ext cx="361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{P1}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032820" y="4445794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683156" y="4445794"/>
              <a:ext cx="59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294419" y="4445794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533400" y="4719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533400" y="4724400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62279" y="4845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86815" y="4845844"/>
              <a:ext cx="14252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替换 K（已改过）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2855595" y="4845844"/>
              <a:ext cx="1325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WtBack2(P1,K,D)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635818" y="48458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969415" y="4845844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→ U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099418" y="4845844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}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070456" y="4845844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683156" y="4845844"/>
              <a:ext cx="59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295614" y="4845844"/>
              <a:ext cx="59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533400" y="1524000"/>
              <a:ext cx="11125200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1084898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2753678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4533900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764857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864965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976217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042987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1098613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528447" y="5197316"/>
              <a:ext cx="68419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开始时 3 个 Cache 都没有 K，目录中 K 所在块为 U。I 表示该 Cache 中没有 K 的有效副本，橙色为这一步变化的状态</a:t>
              </a:r>
            </a:p>
          </p:txBody>
        </p:sp>
      </p:grpSp>
      <p:grpSp>
        <p:nvGrpSpPr>
          <p:cNvPr id="11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11" name="Rectangle 11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5" name="Group 115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6" name="TextBox 116"/>
            <p:cNvSpPr txBox="1"/>
            <p:nvPr/>
          </p:nvSpPr>
          <p:spPr>
            <a:xfrm>
              <a:off x="1040892" y="6028373"/>
              <a:ext cx="91393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自查：目录为 E 时共享集只有拥有者一个，且它的 Cache 为 M；目录为 U 时共享集为空，所有 Cache 都没有 K。</a:t>
              </a:r>
            </a:p>
          </p:txBody>
        </p:sp>
      </p:grpSp>
      <p:grpSp>
        <p:nvGrpSpPr>
          <p:cNvPr id="12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8" name="TextBox 118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目录的三种结构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共享集怎样存放，决定了目录占多少空间、能扩放到多少处理器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15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全映像目录：N 位位向量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46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有限映像目录：m 个指针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链式目录：指针链表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空间开销对比与估算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42941" cy="909257"/>
            <a:chOff x="520446" y="342900"/>
            <a:chExt cx="66429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目录的三种结构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429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全映像目录：每个目录项是一个 N 位位向量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492740" cy="569595"/>
            <a:chOff x="525780" y="1548765"/>
            <a:chExt cx="10492740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492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不同目录协议的区别主要有两个：设置的存储块状态及其个数不同，目录的结构不同。按结构分为全映像、有限映像和链式三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类。</a:t>
              </a:r>
            </a:p>
          </p:txBody>
        </p:sp>
      </p:grpSp>
      <p:grpSp>
        <p:nvGrpSpPr>
          <p:cNvPr id="41" name="c1-cells-1"/>
          <p:cNvGrpSpPr/>
          <p:nvPr/>
        </p:nvGrpSpPr>
        <p:grpSpPr>
          <a:xfrm>
            <a:off x="527304" y="2230755"/>
            <a:ext cx="4786693" cy="1291304"/>
            <a:chOff x="527304" y="2230755"/>
            <a:chExt cx="4786693" cy="1291304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3526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处理机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23950" y="2230755"/>
              <a:ext cx="6981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68849" y="235267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822132" y="2230755"/>
              <a:ext cx="6981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67032" y="235267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520315" y="2230755"/>
              <a:ext cx="6981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765214" y="235267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219450" y="2230755"/>
              <a:ext cx="6981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515323" y="23526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917632" y="2230755"/>
              <a:ext cx="6981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64435" y="2352675"/>
              <a:ext cx="6036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P(N−1)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615815" y="2230755"/>
              <a:ext cx="6981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860714" y="235267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304" y="29079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位向量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123950" y="2786062"/>
              <a:ext cx="698182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20776" y="29079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822132" y="2786062"/>
              <a:ext cx="698182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18958" y="29079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520315" y="2786062"/>
              <a:ext cx="6981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817141" y="29079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219450" y="2786062"/>
              <a:ext cx="6981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515323" y="29079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917632" y="2786062"/>
              <a:ext cx="698182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213506" y="29079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615815" y="2786062"/>
              <a:ext cx="69818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12641" y="29079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1435418" y="31984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98543" y="3331369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第1位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2133600" y="31984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996725" y="3331369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第2位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927282" y="31984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788252" y="3331369"/>
              <a:ext cx="3542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第N位</a:t>
              </a:r>
            </a:p>
          </p:txBody>
        </p:sp>
      </p:grpSp>
      <p:grpSp>
        <p:nvGrpSpPr>
          <p:cNvPr id="44" name="c1-text-2"/>
          <p:cNvGrpSpPr/>
          <p:nvPr/>
        </p:nvGrpSpPr>
        <p:grpSpPr>
          <a:xfrm>
            <a:off x="526161" y="3659981"/>
            <a:ext cx="5866691" cy="595885"/>
            <a:chOff x="526161" y="3659981"/>
            <a:chExt cx="5866691" cy="595885"/>
          </a:xfrm>
        </p:grpSpPr>
        <p:sp>
          <p:nvSpPr>
            <p:cNvPr id="42" name="TextBox 42"/>
            <p:cNvSpPr txBox="1"/>
            <p:nvPr/>
          </p:nvSpPr>
          <p:spPr>
            <a:xfrm>
              <a:off x="526161" y="3659981"/>
              <a:ext cx="58666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共享集 = {P1, P2, …, P(N−1)}，由值为 1 的位对应的处理机构成。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6161" y="3977164"/>
              <a:ext cx="50419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位为 1 表示对应处理机有该数据块的副本，为 0 表示没有。</a:t>
              </a:r>
            </a:p>
          </p:txBody>
        </p:sp>
      </p:grpSp>
      <p:grpSp>
        <p:nvGrpSpPr>
          <p:cNvPr id="54" name="c1-card-3"/>
          <p:cNvGrpSpPr/>
          <p:nvPr/>
        </p:nvGrpSpPr>
        <p:grpSpPr>
          <a:xfrm>
            <a:off x="533400" y="4380548"/>
            <a:ext cx="6059805" cy="1886902"/>
            <a:chOff x="533400" y="4380548"/>
            <a:chExt cx="6059805" cy="1886902"/>
          </a:xfrm>
        </p:grpSpPr>
        <p:sp>
          <p:nvSpPr>
            <p:cNvPr id="45" name="Rectangle 45"/>
            <p:cNvSpPr/>
            <p:nvPr/>
          </p:nvSpPr>
          <p:spPr>
            <a:xfrm>
              <a:off x="533400" y="4380548"/>
              <a:ext cx="6059805" cy="1886902"/>
            </a:xfrm>
            <a:prstGeom prst="roundRect">
              <a:avLst>
                <a:gd name="adj" fmla="val 7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4513898"/>
              <a:ext cx="47625" cy="16202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9620" y="457866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65060" y="461295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381" y="4939189"/>
              <a:ext cx="533450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8，某块的位向量为 01001010（从左起第 1 位对应 P1）：共享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 = {P2, P5, P7}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77240" y="5588317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3831" y="5528786"/>
              <a:ext cx="52100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读该块不命中并调入：第 3 位置 1，位向量变为 01101010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77240" y="590645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3831" y="5845969"/>
              <a:ext cx="44454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P5 替换掉该块：第 5 位清 0，位向量变为 01100010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6898005" y="2230755"/>
            <a:ext cx="4760595" cy="1568768"/>
            <a:chOff x="6898005" y="2230755"/>
            <a:chExt cx="4760595" cy="1568768"/>
          </a:xfrm>
        </p:grpSpPr>
        <p:sp>
          <p:nvSpPr>
            <p:cNvPr id="55" name="Rectangle 55"/>
            <p:cNvSpPr/>
            <p:nvPr/>
          </p:nvSpPr>
          <p:spPr>
            <a:xfrm>
              <a:off x="6898005" y="2230755"/>
              <a:ext cx="4760595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07530" y="2364105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34225" y="242887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13664" y="246316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全映像目录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26986" y="2789396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每个目录项包含一个 N 位的位向量（N 为处理机个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数），每一位对应一个处理机。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141845" y="34385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98436" y="337899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：处理比较简单，速度也比较快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898005" y="3979545"/>
            <a:ext cx="4760595" cy="2286952"/>
            <a:chOff x="6898005" y="3979545"/>
            <a:chExt cx="4760595" cy="2286952"/>
          </a:xfrm>
        </p:grpSpPr>
        <p:sp>
          <p:nvSpPr>
            <p:cNvPr id="63" name="Rectangle 63"/>
            <p:cNvSpPr/>
            <p:nvPr/>
          </p:nvSpPr>
          <p:spPr>
            <a:xfrm>
              <a:off x="6898005" y="3979545"/>
              <a:ext cx="4760595" cy="2286952"/>
            </a:xfrm>
            <a:prstGeom prst="roundRect">
              <a:avLst>
                <a:gd name="adj" fmla="val 58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907530" y="4112895"/>
              <a:ext cx="47625" cy="2020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134225" y="417766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25665" y="42119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141845" y="459867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298436" y="453818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存储空间的开销很大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141845" y="49168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98436" y="4856321"/>
              <a:ext cx="38557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目录项数与 N 成正比，每项位数也与 N 成正比，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目录所占空间与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N²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成正比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141845" y="550545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298436" y="544591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可扩放性很差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70140" cy="909257"/>
            <a:chOff x="520446" y="342900"/>
            <a:chExt cx="85701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目录的三种结构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701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有限映像目录：最多记 m 个副本，每个指针 ⌈log₂N⌉ 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ells-1"/>
          <p:cNvGrpSpPr/>
          <p:nvPr/>
        </p:nvGrpSpPr>
        <p:grpSpPr>
          <a:xfrm>
            <a:off x="526542" y="1524000"/>
            <a:ext cx="4312158" cy="793909"/>
            <a:chOff x="526542" y="1524000"/>
            <a:chExt cx="4312158" cy="793909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64973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目录项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81100" y="1524000"/>
              <a:ext cx="9144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21536" y="1649730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095500" y="1524000"/>
              <a:ext cx="9144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35936" y="1649730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009900" y="1524000"/>
              <a:ext cx="9144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50336" y="1649730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924300" y="1524000"/>
              <a:ext cx="9144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64736" y="1649730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0111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600200" y="19621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40584" y="209788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2514600" y="19621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454984" y="209788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3429000" y="19621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69384" y="209788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P5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343400" y="19621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83784" y="209788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P7</a:t>
              </a:r>
            </a:p>
          </p:txBody>
        </p:sp>
      </p:grpSp>
      <p:grpSp>
        <p:nvGrpSpPr>
          <p:cNvPr id="26" name="c1-text-2"/>
          <p:cNvGrpSpPr/>
          <p:nvPr/>
        </p:nvGrpSpPr>
        <p:grpSpPr>
          <a:xfrm>
            <a:off x="525780" y="2453640"/>
            <a:ext cx="5444490" cy="588645"/>
            <a:chOff x="525780" y="2453640"/>
            <a:chExt cx="5444490" cy="588645"/>
          </a:xfrm>
        </p:grpSpPr>
        <p:sp>
          <p:nvSpPr>
            <p:cNvPr id="25" name="TextBox 25"/>
            <p:cNvSpPr txBox="1"/>
            <p:nvPr/>
          </p:nvSpPr>
          <p:spPr>
            <a:xfrm>
              <a:off x="525780" y="2453640"/>
              <a:ext cx="54444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4 个指针，N = 16（处理机编号 0–15），每个指针 ⌈log₂16⌉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4 位，共享集 = {P1, P3, P5, P7}。</a:t>
              </a:r>
            </a:p>
          </p:txBody>
        </p:sp>
      </p:grpSp>
      <p:grpSp>
        <p:nvGrpSpPr>
          <p:cNvPr id="35" name="c1-card-3"/>
          <p:cNvGrpSpPr/>
          <p:nvPr/>
        </p:nvGrpSpPr>
        <p:grpSpPr>
          <a:xfrm>
            <a:off x="533400" y="3173730"/>
            <a:ext cx="5842635" cy="3076575"/>
            <a:chOff x="533400" y="3173730"/>
            <a:chExt cx="5842635" cy="3076575"/>
          </a:xfrm>
        </p:grpSpPr>
        <p:sp>
          <p:nvSpPr>
            <p:cNvPr id="27" name="Rectangle 27"/>
            <p:cNvSpPr/>
            <p:nvPr/>
          </p:nvSpPr>
          <p:spPr>
            <a:xfrm>
              <a:off x="533400" y="3173730"/>
              <a:ext cx="5842635" cy="3076575"/>
            </a:xfrm>
            <a:prstGeom prst="roundRect">
              <a:avLst>
                <a:gd name="adj" fmla="val 43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307080"/>
              <a:ext cx="47625" cy="28098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1050" y="33832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71258" y="34189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6765" y="38233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4880" y="3760470"/>
              <a:ext cx="4711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原课件例图把 0101 画成指向 P4，共享集写作 {P1, P3,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P4, P7}。0101 = 5，应指向 P5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6765" y="44443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4880" y="4381500"/>
              <a:ext cx="4825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指针为 4 位时 N 应在 9–16 之间，图注“N≥8”不准确：N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只需 3 位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680835" y="1524000"/>
            <a:ext cx="4977765" cy="2647950"/>
            <a:chOff x="6680835" y="1524000"/>
            <a:chExt cx="4977765" cy="2647950"/>
          </a:xfrm>
        </p:grpSpPr>
        <p:sp>
          <p:nvSpPr>
            <p:cNvPr id="36" name="Rectangle 36"/>
            <p:cNvSpPr/>
            <p:nvPr/>
          </p:nvSpPr>
          <p:spPr>
            <a:xfrm>
              <a:off x="6680835" y="1524000"/>
              <a:ext cx="4977765" cy="2647950"/>
            </a:xfrm>
            <a:prstGeom prst="roundRect">
              <a:avLst>
                <a:gd name="adj" fmla="val 50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90360" y="1657350"/>
              <a:ext cx="47625" cy="23812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92848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10794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核心思想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20865" y="2110740"/>
              <a:ext cx="4225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采用位数固定的目录项：限制同一数据块在所有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中的副本总数，如限定为常数 m。目录项中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表示共享集所需的位数为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ormula6"/>
                <p:cNvSpPr txBox="1">
                  <a:spLocks noGrp="1"/>
                </p:cNvSpPr>
                <p:nvPr/>
              </p:nvSpPr>
              <p:spPr>
                <a:xfrm>
                  <a:off x="6928485" y="2992755"/>
                  <a:ext cx="452056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d>
                          <m:dPr>
                            <m:begChr m:val="⌈"/>
                            <m:sepChr m:val=""/>
                            <m:endChr m:val="⌉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func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2" name="TextBox 42"/>
            <p:cNvSpPr txBox="1"/>
            <p:nvPr/>
          </p:nvSpPr>
          <p:spPr>
            <a:xfrm>
              <a:off x="6922008" y="3528536"/>
              <a:ext cx="41744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目录空间与 N × ⌈log₂N⌉ 成正比，比全映像的 N² 增长慢得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680835" y="4362450"/>
            <a:ext cx="4977765" cy="1887855"/>
            <a:chOff x="6680835" y="4362450"/>
            <a:chExt cx="4977765" cy="1887855"/>
          </a:xfrm>
        </p:grpSpPr>
        <p:sp>
          <p:nvSpPr>
            <p:cNvPr id="44" name="Rectangle 44"/>
            <p:cNvSpPr/>
            <p:nvPr/>
          </p:nvSpPr>
          <p:spPr>
            <a:xfrm>
              <a:off x="6680835" y="4362450"/>
              <a:ext cx="497776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0360" y="449580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28485" y="45720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19646" y="46077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20865" y="4949190"/>
              <a:ext cx="42824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同一数据的副本数大于 m 时必须特殊处理：m 个指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针都已占满，又有处理机要调入该块时，只能从 m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个指针中选一个驱逐，腾出位置存放指向新处理机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的指针。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目录的三种结构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链式目录：用指针链表表示共享集，长度不受限制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529715"/>
            <a:chOff x="533400" y="1524000"/>
            <a:chExt cx="5626418" cy="1529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链式目录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用一个目录指针链表表示共享集。副本增加（或减少）时，链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表跟着变长（或变短）。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3524" y="2667952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链表长度不受限制：既不限制副本个数，又保持了可扩展性。</a:t>
              </a:r>
            </a:p>
          </p:txBody>
        </p:sp>
      </p:grpSp>
      <p:grpSp>
        <p:nvGrpSpPr>
          <p:cNvPr id="29" name="c1-table-2"/>
          <p:cNvGrpSpPr/>
          <p:nvPr/>
        </p:nvGrpSpPr>
        <p:grpSpPr>
          <a:xfrm>
            <a:off x="533400" y="3233738"/>
            <a:ext cx="5626418" cy="2554605"/>
            <a:chOff x="533400" y="3233738"/>
            <a:chExt cx="5626418" cy="2554605"/>
          </a:xfrm>
        </p:grpSpPr>
        <p:sp>
          <p:nvSpPr>
            <p:cNvPr id="14" name="Rectangle 14"/>
            <p:cNvSpPr/>
            <p:nvPr/>
          </p:nvSpPr>
          <p:spPr>
            <a:xfrm>
              <a:off x="533400" y="3233738"/>
              <a:ext cx="5626418" cy="63817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6292" y="34690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60017" y="3362325"/>
              <a:ext cx="2473071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把链表中第 i 个元素删除（Cache 块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被替换）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92065" y="34690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889" y="432054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36002" y="4000500"/>
              <a:ext cx="2587752" cy="874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做法一：沿链表找到第 i 个元素，修改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前后链接指针跳过它。做法二：找到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后，作废它及其后所有元素对应的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副本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62082" y="4213860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指针少，但要沿链查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9320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936808"/>
              <a:ext cx="5626418" cy="85153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527780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双链法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6002" y="527780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不需要遍历整个链表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62082" y="5064442"/>
              <a:ext cx="13837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省处理时间；指针增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加一倍，一致性协议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更复杂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233738"/>
              <a:ext cx="5626418" cy="25536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428750" y="3233738"/>
              <a:ext cx="9525" cy="25536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54830" y="3233738"/>
              <a:ext cx="9525" cy="25536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ells-1"/>
          <p:cNvGrpSpPr/>
          <p:nvPr/>
        </p:nvGrpSpPr>
        <p:grpSpPr>
          <a:xfrm>
            <a:off x="6458522" y="1524000"/>
            <a:ext cx="4095178" cy="949643"/>
            <a:chOff x="6458522" y="1524000"/>
            <a:chExt cx="4095178" cy="949643"/>
          </a:xfrm>
        </p:grpSpPr>
        <p:sp>
          <p:nvSpPr>
            <p:cNvPr id="30" name="TextBox 30"/>
            <p:cNvSpPr txBox="1"/>
            <p:nvPr/>
          </p:nvSpPr>
          <p:spPr>
            <a:xfrm>
              <a:off x="6458522" y="164592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表头指针 →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397115" y="1524000"/>
              <a:ext cx="6267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05819" y="164592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023860" y="1524000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84429" y="165354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58522" y="2201228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表头指针 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397115" y="2079308"/>
              <a:ext cx="6267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05819" y="220122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23860" y="2079308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100060" y="22479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128635" y="22764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471535" y="22336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557260" y="2079308"/>
              <a:ext cx="6267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65964" y="220122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184005" y="2079308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9260205" y="22479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9288780" y="22764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631680" y="22336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717405" y="2079308"/>
              <a:ext cx="6267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926109" y="220122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344150" y="2079308"/>
              <a:ext cx="209550" cy="394335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404719" y="220884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54" name="c2-text-2"/>
          <p:cNvGrpSpPr/>
          <p:nvPr/>
        </p:nvGrpSpPr>
        <p:grpSpPr>
          <a:xfrm>
            <a:off x="6458522" y="2672715"/>
            <a:ext cx="4812792" cy="470916"/>
            <a:chOff x="6458522" y="2672715"/>
            <a:chExt cx="4812792" cy="470916"/>
          </a:xfrm>
        </p:grpSpPr>
        <p:sp>
          <p:nvSpPr>
            <p:cNvPr id="53" name="TextBox 53"/>
            <p:cNvSpPr txBox="1"/>
            <p:nvPr/>
          </p:nvSpPr>
          <p:spPr>
            <a:xfrm>
              <a:off x="6458522" y="2672715"/>
              <a:ext cx="481279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上：共享集 = {P2}。下：共享集 = {P1, P4, P2}。表头指针占 ⌈log₂N⌉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位，链表的后继指针存放在各处理机的 Cache 中。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6464618" y="3276600"/>
            <a:ext cx="5193982" cy="1018222"/>
            <a:chOff x="6464618" y="3276600"/>
            <a:chExt cx="5193982" cy="1018222"/>
          </a:xfrm>
        </p:grpSpPr>
        <p:sp>
          <p:nvSpPr>
            <p:cNvPr id="55" name="Rectangle 55"/>
            <p:cNvSpPr/>
            <p:nvPr/>
          </p:nvSpPr>
          <p:spPr>
            <a:xfrm>
              <a:off x="6464618" y="3276600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669405" y="3686175"/>
              <a:ext cx="200026" cy="200025"/>
              <a:chOff x="6669405" y="3686175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669405" y="36861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09144" y="37306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43859" y="38417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971729" y="3424714"/>
              <a:ext cx="41622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从原课件的示意图看，新调入该块的处理机插在链表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头部：P4、P1 先后调入后，链表由 P2 变成 P1 → P4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→ P2。</a:t>
              </a:r>
            </a:p>
          </p:txBody>
        </p:sp>
      </p:grpSp>
      <p:grpSp>
        <p:nvGrpSpPr>
          <p:cNvPr id="70" name="c2-card-4"/>
          <p:cNvGrpSpPr/>
          <p:nvPr/>
        </p:nvGrpSpPr>
        <p:grpSpPr>
          <a:xfrm>
            <a:off x="6464618" y="4475798"/>
            <a:ext cx="5193982" cy="1840230"/>
            <a:chOff x="6464618" y="4475798"/>
            <a:chExt cx="5193982" cy="1840230"/>
          </a:xfrm>
        </p:grpSpPr>
        <p:sp>
          <p:nvSpPr>
            <p:cNvPr id="62" name="Rectangle 62"/>
            <p:cNvSpPr/>
            <p:nvPr/>
          </p:nvSpPr>
          <p:spPr>
            <a:xfrm>
              <a:off x="6464618" y="4475798"/>
              <a:ext cx="5193982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74142" y="4609148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700838" y="4673918"/>
              <a:ext cx="191452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42039" y="4708208"/>
              <a:ext cx="1832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例：单链法中 P4 替换掉该块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708458" y="50949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865048" y="5034439"/>
              <a:ext cx="42524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做法一：从表头找到 P4，把 P1 的指针改为指向 P2，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链表变为 P1 → P2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708458" y="5683567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65048" y="5624036"/>
              <a:ext cx="430657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做法二：作废 P4 及其后 P2 中的副本，链表只剩 P1，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以后访问时重新调入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目录的三种结构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三种结构对比，以及目录空间的估算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8066" y="1524000"/>
            <a:ext cx="5090732" cy="2618041"/>
            <a:chOff x="528066" y="1524000"/>
            <a:chExt cx="5090732" cy="261804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63817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4395" y="17592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8409" y="1652588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目录项中表示共享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集的位数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60826" y="17592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目录空间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80978" y="17592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副本个数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289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全映像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53159" y="228981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80029" y="2289810"/>
              <a:ext cx="345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∝ N²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04016" y="22898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不限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581275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586038"/>
              <a:ext cx="508539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5889" y="27146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有限映像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53159" y="2714625"/>
              <a:ext cx="9107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× ⌈log₂N⌉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80029" y="2714625"/>
              <a:ext cx="10281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∝ N × ⌈log₂N⌉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04016" y="2714625"/>
              <a:ext cx="7149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 m 个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0609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33528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53159" y="3352800"/>
              <a:ext cx="1297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表头指针 ⌈log₂N⌉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80029" y="3139440"/>
              <a:ext cx="101803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∝ N × ⌈log₂N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⌉，另在 Cache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中存后继指针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04016" y="33528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5085398" cy="23374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545908" y="152400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172778" y="152400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96765" y="152400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8066" y="3936682"/>
              <a:ext cx="44680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目录项数 M = K × N 与 N 成正比，所以目录空间 = 目录项数 × 每项位数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4280535"/>
            <a:ext cx="5085398" cy="1018222"/>
            <a:chOff x="533400" y="4280535"/>
            <a:chExt cx="5085398" cy="1018222"/>
          </a:xfrm>
        </p:grpSpPr>
        <p:sp>
          <p:nvSpPr>
            <p:cNvPr id="33" name="Rectangle 33"/>
            <p:cNvSpPr/>
            <p:nvPr/>
          </p:nvSpPr>
          <p:spPr>
            <a:xfrm>
              <a:off x="533400" y="4280535"/>
              <a:ext cx="5085398" cy="1018222"/>
            </a:xfrm>
            <a:prstGeom prst="roundRect">
              <a:avLst>
                <a:gd name="adj" fmla="val 1122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4690112"/>
              <a:ext cx="200023" cy="200023"/>
              <a:chOff x="738188" y="4690112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46901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47567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511" y="4427696"/>
              <a:ext cx="4054094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小时有限映像并不省空间（N = 16、m = 4 时两者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都是每项 16 位）；N 越大，N 与 m⌈log₂N⌉ 差得越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远。</a:t>
              </a:r>
            </a:p>
          </p:txBody>
        </p:sp>
      </p:grpSp>
      <p:grpSp>
        <p:nvGrpSpPr>
          <p:cNvPr id="79" name="c2-card-1"/>
          <p:cNvGrpSpPr/>
          <p:nvPr/>
        </p:nvGrpSpPr>
        <p:grpSpPr>
          <a:xfrm>
            <a:off x="5923598" y="1524000"/>
            <a:ext cx="5735002" cy="4722495"/>
            <a:chOff x="5923598" y="1524000"/>
            <a:chExt cx="5735002" cy="4722495"/>
          </a:xfrm>
        </p:grpSpPr>
        <p:sp>
          <p:nvSpPr>
            <p:cNvPr id="39" name="Rectangle 39"/>
            <p:cNvSpPr/>
            <p:nvPr/>
          </p:nvSpPr>
          <p:spPr>
            <a:xfrm>
              <a:off x="5923598" y="1524000"/>
              <a:ext cx="5735002" cy="4722495"/>
            </a:xfrm>
            <a:prstGeom prst="roundRect">
              <a:avLst>
                <a:gd name="adj" fmla="val 28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933122" y="1657350"/>
              <a:ext cx="47625" cy="44557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159818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39256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例（补充）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43179" y="1756886"/>
              <a:ext cx="35069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 K = 2¹⁶ 块，有限映像取 m = 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159818" y="2077402"/>
              <a:ext cx="5300662" cy="63817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75910" y="231267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89854" y="2312670"/>
              <a:ext cx="685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块总数 M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86538" y="231267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全映像：每项 / 总量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78378" y="2205990"/>
              <a:ext cx="141541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有限映像：每项 / 总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31905" y="284321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92988" y="284321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2²⁰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54759" y="2843212"/>
              <a:ext cx="9631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位 / 2 MB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104501" y="2843212"/>
              <a:ext cx="9631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位 / 2 MB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159818" y="3134678"/>
              <a:ext cx="53006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159818" y="3139440"/>
              <a:ext cx="530066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31905" y="3268027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92988" y="3268027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2²²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07819" y="3268027"/>
              <a:ext cx="1057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位 / 32 MB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57562" y="3268027"/>
              <a:ext cx="1057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位 / 12 MB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159818" y="3559492"/>
              <a:ext cx="53006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38613" y="369189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92988" y="369189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2²⁶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82978" y="3691890"/>
              <a:ext cx="1106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 位 / 8 GB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10623" y="3691890"/>
              <a:ext cx="11509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位 / 320 MB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159818" y="2077402"/>
              <a:ext cx="5300662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897052" y="2077402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957185" y="2077402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706928" y="2077402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152579" y="4100989"/>
              <a:ext cx="14658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N = 64 为例：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160770" y="440721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219115" y="444660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50711" y="4419124"/>
              <a:ext cx="2003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2¹⁶ × 64 = 2²² 块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160770" y="472440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219115" y="476473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50711" y="4737259"/>
              <a:ext cx="30860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全映像：2²² × 64 = 2²⁸ 位 = 32 MB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160770" y="504253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219115" y="50819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50711" y="5054441"/>
              <a:ext cx="43696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有限映像每项 4 × ⌈log₂64⌉ = 24 位，2²² × 24 位 = 12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153722" y="5639752"/>
              <a:ext cx="50337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从 16 增到 64（4 倍），全映像目录从 2 MB 增到 32 MB（16 倍），正是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N² 增长。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目录的三种结构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自测题（一）：多处理机结构与监听协议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85900"/>
            <a:chOff x="533400" y="1524000"/>
            <a:chExt cx="54102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362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按访存模型给 PVP、SMP、MPP、DSM、COW 分类。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355532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UMA：PVP、SMP；NUMA：DSM；NORMA：MPP、COW（各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结点地址空间私有，靠消息传递）。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79445"/>
            <a:ext cx="5410200" cy="1228725"/>
            <a:chOff x="533400" y="3179445"/>
            <a:chExt cx="5410200" cy="1228725"/>
          </a:xfrm>
        </p:grpSpPr>
        <p:sp>
          <p:nvSpPr>
            <p:cNvPr id="13" name="Rectangle 13"/>
            <p:cNvSpPr/>
            <p:nvPr/>
          </p:nvSpPr>
          <p:spPr>
            <a:xfrm>
              <a:off x="533400" y="3179445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710940"/>
              <a:ext cx="4958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同一块连续写 5 次、中间无读，写更新和写作废各广播几次？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010977"/>
              <a:ext cx="4248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写更新 5 次；写作废只在第一次写时作废 1 次。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578668"/>
            <a:ext cx="5410200" cy="1743075"/>
            <a:chOff x="533400" y="4578668"/>
            <a:chExt cx="5410200" cy="1743075"/>
          </a:xfrm>
        </p:grpSpPr>
        <p:sp>
          <p:nvSpPr>
            <p:cNvPr id="19" name="Rectangle 19"/>
            <p:cNvSpPr/>
            <p:nvPr/>
          </p:nvSpPr>
          <p:spPr>
            <a:xfrm>
              <a:off x="533400" y="4578668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476535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479821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109210"/>
              <a:ext cx="5130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监听协议中 P1 的块 X 为 M，P2 读 X 缺失，两者状态怎样变？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409248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发 RdMiss；P1 写回并把块放上总线，M → S；P2 调入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后为 S。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85900"/>
            <a:chOff x="6248400" y="1524000"/>
            <a:chExt cx="5410200" cy="14859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静态与动态互连网络的区别？交叉开关属于哪一类？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35553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静态网络是固定的点到点链接；动态网络由开关构成，可按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需改变连接。交叉开关属于动态网络。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79445"/>
            <a:ext cx="5410200" cy="1485900"/>
            <a:chOff x="6248400" y="3179445"/>
            <a:chExt cx="5410200" cy="1485900"/>
          </a:xfrm>
        </p:grpSpPr>
        <p:sp>
          <p:nvSpPr>
            <p:cNvPr id="31" name="Rectangle 31"/>
            <p:cNvSpPr/>
            <p:nvPr/>
          </p:nvSpPr>
          <p:spPr>
            <a:xfrm>
              <a:off x="6248400" y="3179445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710940"/>
              <a:ext cx="5152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监听协议中写一个状态为 S 的块，发什么消息？其他副本怎样？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010977"/>
              <a:ext cx="47800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写命中，发 Invalidate（不调块）；自己 S → M，其他处理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 S → I。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835842"/>
            <a:ext cx="5410200" cy="1485900"/>
            <a:chOff x="6248400" y="4835842"/>
            <a:chExt cx="5410200" cy="1485900"/>
          </a:xfrm>
        </p:grpSpPr>
        <p:sp>
          <p:nvSpPr>
            <p:cNvPr id="37" name="Rectangle 37"/>
            <p:cNvSpPr/>
            <p:nvPr/>
          </p:nvSpPr>
          <p:spPr>
            <a:xfrm>
              <a:off x="6248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5366385"/>
              <a:ext cx="51407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同上，若改为 P3 写 X 缺失，P1、P3 怎样变？主存中的 X 呢？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666423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发 WtMiss；P1 写回并把数据给 P3，M → I；P3 为 M。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主存在 P1 写回后变新，P3 写后又过时。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目录的三种结构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自测题（二）：目录协议与目录结构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223135"/>
            <a:chOff x="533400" y="1524000"/>
            <a:chExt cx="5410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6343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目录协议中块 K 为 E、拥有者 P2，P1 写 K 缺失。目录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发哪些消息？结束后目录状态和共享集是什么？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6253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 P2 发 Fetch&amp;Inv，P2 用 WtBack 写回并作废自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己的块；向 P1 发 DReply。目录仍为 E，共享集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{P1}。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5410200" cy="2223135"/>
            <a:chOff x="533400" y="3937635"/>
            <a:chExt cx="5410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479440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32、每个结点 K = 2¹⁴ 块，全映像目录占多大空间？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加倍呢？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45586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2¹⁴ × 32 = 2¹⁹，每项 32 位，共 2²⁴ 位 = 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MB；N = 64 时 2²⁰ × 64 = 2²⁶ 位 = 8 MB，为原来的 4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62438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目录中块 K 为 S、共享集为 {P3}，P3 替换掉这个未修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改过的块。发什么消息？目录状态怎样变？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701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发 MdSharer(P3, K)；共享集删去 P3 后为空，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块由 S 变为 U。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2508885"/>
            <a:chOff x="6248400" y="3651885"/>
            <a:chExt cx="5410200" cy="25088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66439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100、m = 5 的有限映像目录，每个目录项表示共享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集需要多少位？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491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⌈log₂100⌉ = 7，每项 5 × 7 = 35 位（全映像每项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 100 位）。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94254" cy="909257"/>
            <a:chOff x="520446" y="342900"/>
            <a:chExt cx="27942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体系结构02 多处理机 · 目录的三种结构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5951220" cy="3800475"/>
            <a:chOff x="533400" y="1524000"/>
            <a:chExt cx="5951220" cy="38004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128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6689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互连网络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59305" y="2045494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静态网络是固定的点到点链接；动态网络由开关构成，可改变连接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545556"/>
              <a:ext cx="1107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五种 MIMD 结构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59305" y="2445544"/>
              <a:ext cx="4136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PVP、SMP 属 UMA；DSM 属 NUMA；MPP、COW 各结点地址空间私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有，属 NORMA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194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304561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一致性问题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59305" y="3045619"/>
              <a:ext cx="33869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 Cache 有同一块的副本，一处修改其他就过时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2422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4456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存储器一致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59305" y="3445669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读自己的写、读别人的写都得到最新值，写串行化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195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38457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写作废与写更新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59305" y="3845719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写作废广播少；写更新让别人读到新值的延迟小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1195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12432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42457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监听协议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59305" y="4245769"/>
              <a:ext cx="34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总线广播加全体监听，块状态 I、S、M，可扩放性差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5196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46458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目录协议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59305" y="4645819"/>
              <a:ext cx="3837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目录记录块状态 U、S、E 和共享集，消息只发给相关结点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9196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92442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555" y="50458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目录结构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059305" y="5045869"/>
              <a:ext cx="3438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全映像 ∝ N²；有限映像限 m 个副本；链式不限副本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5951220" cy="38004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957388" y="1524000"/>
              <a:ext cx="9525" cy="38004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rd-1"/>
          <p:cNvGrpSpPr/>
          <p:nvPr/>
        </p:nvGrpSpPr>
        <p:grpSpPr>
          <a:xfrm>
            <a:off x="6789420" y="1524000"/>
            <a:ext cx="4869180" cy="3800475"/>
            <a:chOff x="6789420" y="1524000"/>
            <a:chExt cx="4869180" cy="3800475"/>
          </a:xfrm>
        </p:grpSpPr>
        <p:sp>
          <p:nvSpPr>
            <p:cNvPr id="40" name="Rectangle 40"/>
            <p:cNvSpPr/>
            <p:nvPr/>
          </p:nvSpPr>
          <p:spPr>
            <a:xfrm>
              <a:off x="6789420" y="1524000"/>
              <a:ext cx="4869180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98945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14210" y="171069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76377" y="174355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022782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78802" y="2054542"/>
              <a:ext cx="34941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机器名 Cray C90、Intel Option Red、Digital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TruCluster；互连图中 AIM 应为 ATM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022782" y="26689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78802" y="2612708"/>
              <a:ext cx="40942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消息汇总表：WtBack 发往宿主目录，WtBack2 带参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 D，MdSharer、WtBack2 读写缺失替换时都会用到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022782" y="322611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8802" y="3169920"/>
              <a:ext cx="405136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块状态图：RtBack2 应为 WtBack2，读缺失替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换后还要发 RdMiss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022782" y="37833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78802" y="3727132"/>
              <a:ext cx="39656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目录全图：补 S 自环标注，E → U 应为 WtBack2，补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MdSharer 转换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022782" y="43405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78802" y="4284345"/>
              <a:ext cx="40085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有限映像例：0101 指向 P5，共享集为 {P1, P3, P5,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P7}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5" name="Rectangle 5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8373"/>
              <a:ext cx="9734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复习重点：给定访存序列，逐步写出监听协议中的 I/S/M 状态和总线消息，以及目录协议中的消息、目录状态和共享集。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3552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02 线程级并行：多处理机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a_arch2">
  <a:themeElements>
    <a:clrScheme name="coa_arch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a_arch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a_arch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2026-09-17T07:58:49Z</dcterms:created>
  <dcterms:modified xsi:type="dcterms:W3CDTF">2026-09-17T07:58:49Z</dcterms:modified>
  <cp:category/>
  <cp:contentStatus/>
</cp:coreProperties>
</file>