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coa_ch3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coa_ch3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985b8080c45592b7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9018775294478162.png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319cd4d6c66aee5.png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561332" cy="3437763"/>
            <a:chOff x="666750" y="1619250"/>
            <a:chExt cx="4561332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444115" cy="3429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88319" y="1718310"/>
              <a:ext cx="22390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计算机原理与体系结构 · 第3章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456133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计算机的算术运算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整数与浮点数在硬件里怎样加减乘除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补码加减与溢出判断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移位舍入与乘除法器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547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IEEE 754 浮点表示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浮点运算与并行加速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915548" cy="205359"/>
            <a:chOff x="680466" y="6192202"/>
            <a:chExt cx="4915548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9155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自学复习版｜据吉林大学《计算机原理与体系结构》第3章课件整理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4" name="c1-agenda-1"/>
          <p:cNvGrpSpPr/>
          <p:nvPr/>
        </p:nvGrpSpPr>
        <p:grpSpPr>
          <a:xfrm>
            <a:off x="523494" y="1519238"/>
            <a:ext cx="6285928" cy="4605814"/>
            <a:chOff x="523494" y="1519238"/>
            <a:chExt cx="6285928" cy="4605814"/>
          </a:xfrm>
        </p:grpSpPr>
        <p:sp>
          <p:nvSpPr>
            <p:cNvPr id="7" name="TextBox 7"/>
            <p:cNvSpPr txBox="1"/>
            <p:nvPr/>
          </p:nvSpPr>
          <p:spPr>
            <a:xfrm>
              <a:off x="523494" y="151923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21461" y="154733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整数加减与溢出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22985" y="1826419"/>
              <a:ext cx="3328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补码加减、全加器、三种溢出判断逻辑、饱和运算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28700" y="2103120"/>
              <a:ext cx="57807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3494" y="2199322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21461" y="222742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移位与舍入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22985" y="2506504"/>
              <a:ext cx="3479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逻辑移位与算术移位、补码移位规则、两种舍入方法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28700" y="2783205"/>
              <a:ext cx="57807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3494" y="2878455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21461" y="290655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22985" y="3186589"/>
              <a:ext cx="3630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从手算到原码一位乘、乘法器的两个版本、快速乘法器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28700" y="3462338"/>
              <a:ext cx="57807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3494" y="3558540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21461" y="358663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22985" y="3865721"/>
              <a:ext cx="3266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恢复余数法、除法器的两个版本、MIPS 乘除指令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28700" y="4142422"/>
              <a:ext cx="57807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3494" y="4238625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1461" y="426672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浮点数的表示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22985" y="4545806"/>
              <a:ext cx="29421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IEEE 754 格式、移码、特殊值、范围与精度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28700" y="4821555"/>
              <a:ext cx="57807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3494" y="491775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21461" y="494585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浮点运算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22985" y="5224939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加法与乘法的步骤、浮点硬件与流水线、保护位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028700" y="5501640"/>
              <a:ext cx="57807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3494" y="5597842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21461" y="562594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浮点指令与并行加速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22985" y="5905024"/>
              <a:ext cx="3454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MIPS 与 x86 浮点指令、子字并行、矩阵乘法、谬误</a:t>
              </a:r>
            </a:p>
          </p:txBody>
        </p:sp>
      </p:grpSp>
      <p:grpSp>
        <p:nvGrpSpPr>
          <p:cNvPr id="49" name="c2-card-1"/>
          <p:cNvGrpSpPr/>
          <p:nvPr/>
        </p:nvGrpSpPr>
        <p:grpSpPr>
          <a:xfrm>
            <a:off x="7114222" y="1524000"/>
            <a:ext cx="4544378" cy="4556760"/>
            <a:chOff x="7114222" y="1524000"/>
            <a:chExt cx="4544378" cy="4556760"/>
          </a:xfrm>
        </p:grpSpPr>
        <p:sp>
          <p:nvSpPr>
            <p:cNvPr id="35" name="Rectangle 35"/>
            <p:cNvSpPr/>
            <p:nvPr/>
          </p:nvSpPr>
          <p:spPr>
            <a:xfrm>
              <a:off x="7114222" y="1524000"/>
              <a:ext cx="4544378" cy="4556760"/>
            </a:xfrm>
            <a:prstGeom prst="roundRect">
              <a:avLst>
                <a:gd name="adj" fmla="val 29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123748" y="1657350"/>
              <a:ext cx="47625" cy="429006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339012" y="171069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423582" y="174355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47585" y="211074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03604" y="2054542"/>
              <a:ext cx="37856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用符号位、进位和双符号位三种方法判断补码加减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是否溢出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47585" y="266890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03604" y="2612708"/>
              <a:ext cx="37856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手算原码一位乘和恢复余数除法每一步的寄存器内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容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47585" y="322611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03604" y="3169920"/>
              <a:ext cx="39673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把十进制数与 IEEE 754 单、双精度编码互相转换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347585" y="352615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503604" y="3469958"/>
              <a:ext cx="36141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按对阶、相加、规格化、舍入的步骤完成浮点加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法，按五步完成浮点乘法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347585" y="408336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503604" y="4027170"/>
              <a:ext cx="37856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说明子字并行的思路，以及浮点加法为什么不满足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结合律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801868" cy="3351847"/>
            <a:chOff x="667512" y="1835468"/>
            <a:chExt cx="5801868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整数加减与溢出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79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加法逐位进位，减法变成加相反数，结果超出范围就是溢出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244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3.2 整数的加法与减法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全加器与行波进位加法器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判断溢出的三种逻辑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溢出的处理与饱和运算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整数加减与溢出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加法逐位相加并向高位进位；减法就是加上相反数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1" name="c1-card-1"/>
          <p:cNvGrpSpPr/>
          <p:nvPr/>
        </p:nvGrpSpPr>
        <p:grpSpPr>
          <a:xfrm>
            <a:off x="533400" y="1524000"/>
            <a:ext cx="5410200" cy="3779520"/>
            <a:chOff x="533400" y="1524000"/>
            <a:chExt cx="5410200" cy="37795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779520"/>
            </a:xfrm>
            <a:prstGeom prst="roundRect">
              <a:avLst>
                <a:gd name="adj" fmla="val 352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35128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3434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3582" y="1769269"/>
              <a:ext cx="249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2070" y="1768792"/>
              <a:ext cx="2626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+ 6 = 13（只画出低 6 位）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81050" y="2105025"/>
              <a:ext cx="4953000" cy="48768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915068" y="224409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586580" y="224409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b4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58093" y="224409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930558" y="224409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2070" y="224409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73583" y="224409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87730" y="273177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76152" y="273177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47664" y="273177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056572" y="2602230"/>
              <a:ext cx="652462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319177" y="273177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728085" y="2602230"/>
              <a:ext cx="652462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991642" y="273177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63154" y="273177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81050" y="3075622"/>
              <a:ext cx="49530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81050" y="3080385"/>
              <a:ext cx="49530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87730" y="32194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76152" y="321945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647664" y="321945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319177" y="321945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991642" y="321945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663154" y="321945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334667" y="321945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81050" y="3563302"/>
              <a:ext cx="49530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87730" y="370713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976152" y="370713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647664" y="370713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319177" y="370713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991642" y="370713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663154" y="370713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334667" y="370713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81050" y="4050982"/>
              <a:ext cx="49530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81050" y="4055745"/>
              <a:ext cx="49530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87730" y="4194810"/>
              <a:ext cx="5140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 13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976152" y="419481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647664" y="419481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319177" y="419481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991642" y="419481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663154" y="419481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334667" y="4194810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81050" y="2105025"/>
              <a:ext cx="4953000" cy="24384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1698308" y="2105025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2370772" y="2105025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3042285" y="2105025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3713798" y="2105025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4385310" y="2105025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5057775" y="2105025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74573" y="4660106"/>
              <a:ext cx="473532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进位行表示从右边一位进来的进位。b1 位 1 + 1 = 10，本位写 0、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向 b2 进 1；b2 位 1 + 1 + 1 = 11，本位写 1、再向 b3 进 1。</a:t>
              </a:r>
            </a:p>
          </p:txBody>
        </p:sp>
      </p:grpSp>
      <p:grpSp>
        <p:nvGrpSpPr>
          <p:cNvPr id="74" name="c2-card-1"/>
          <p:cNvGrpSpPr/>
          <p:nvPr/>
        </p:nvGrpSpPr>
        <p:grpSpPr>
          <a:xfrm>
            <a:off x="6248400" y="1524000"/>
            <a:ext cx="5410200" cy="3779520"/>
            <a:chOff x="6248400" y="1524000"/>
            <a:chExt cx="5410200" cy="3779520"/>
          </a:xfrm>
        </p:grpSpPr>
        <p:sp>
          <p:nvSpPr>
            <p:cNvPr id="62" name="Rectangle 62"/>
            <p:cNvSpPr/>
            <p:nvPr/>
          </p:nvSpPr>
          <p:spPr>
            <a:xfrm>
              <a:off x="6248400" y="1524000"/>
              <a:ext cx="5410200" cy="3779520"/>
            </a:xfrm>
            <a:prstGeom prst="roundRect">
              <a:avLst>
                <a:gd name="adj" fmla="val 352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6257925" y="1657350"/>
              <a:ext cx="47625" cy="35128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496050" y="1733550"/>
              <a:ext cx="43434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588582" y="1769269"/>
              <a:ext cx="2492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例2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037070" y="1768792"/>
              <a:ext cx="15630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7 − 6 = 7 + (−6)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496050" y="2105025"/>
              <a:ext cx="4953000" cy="1110615"/>
            </a:xfrm>
            <a:prstGeom prst="roundRect">
              <a:avLst>
                <a:gd name="adj" fmla="val 85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624447" y="2256949"/>
              <a:ext cx="5996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 位补码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623685" y="2518886"/>
              <a:ext cx="2045462" cy="625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+7:  0000 0000 … 0000 0111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−6:  1111 1111 … 1111 1010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+1:  0000 0000 … 0000 0001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6501765" y="339852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659880" y="3335655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−6 的补码：6 = 0000 … 0110，各位取反得 1111 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1001，再加 1 得 1111 … 1010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6501765" y="401955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659880" y="3956685"/>
              <a:ext cx="37307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两数相加，最高位向外的进位丢弃，得 +1</a:t>
              </a:r>
            </a:p>
          </p:txBody>
        </p:sp>
      </p:grpSp>
      <p:grpSp>
        <p:nvGrpSpPr>
          <p:cNvPr id="8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75" name="Rectangle 7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1040130" y="5991225"/>
              <a:ext cx="101698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减法不需要单独的减法器：把减数各位取反，同时让最低位的进位输入为 1，再送进加法器，就完成了 A + (−B)。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37776" cy="909257"/>
            <a:chOff x="520446" y="342900"/>
            <a:chExt cx="96377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整数加减与溢出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377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全加器：两个加数位加上低位进位，输出本位和与向高位的进位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9" name="c1-graph-1"/>
          <p:cNvGrpSpPr/>
          <p:nvPr/>
        </p:nvGrpSpPr>
        <p:grpSpPr>
          <a:xfrm>
            <a:off x="666605" y="1633538"/>
            <a:ext cx="5416205" cy="2067496"/>
            <a:chOff x="666605" y="1633538"/>
            <a:chExt cx="5416205" cy="2067496"/>
          </a:xfrm>
        </p:grpSpPr>
        <p:sp>
          <p:nvSpPr>
            <p:cNvPr id="7" name="Freeform 7"/>
            <p:cNvSpPr/>
            <p:nvPr/>
          </p:nvSpPr>
          <p:spPr>
            <a:xfrm>
              <a:off x="1572578" y="1805940"/>
              <a:ext cx="141923" cy="581025"/>
            </a:xfrm>
            <a:custGeom>
              <a:avLst/>
              <a:gdLst/>
              <a:ahLst/>
              <a:cxnLst/>
              <a:rect l="l" t="t" r="r" b="b"/>
              <a:pathLst>
                <a:path w="141923" h="581025">
                  <a:moveTo>
                    <a:pt x="0" y="0"/>
                  </a:moveTo>
                  <a:lnTo>
                    <a:pt x="141923" y="5810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667828" y="2375535"/>
              <a:ext cx="92393" cy="103823"/>
            </a:xfrm>
            <a:custGeom>
              <a:avLst/>
              <a:gdLst/>
              <a:ahLst/>
              <a:cxnLst/>
              <a:rect l="l" t="t" r="r" b="b"/>
              <a:pathLst>
                <a:path w="92393" h="103823">
                  <a:moveTo>
                    <a:pt x="69533" y="103823"/>
                  </a:moveTo>
                  <a:lnTo>
                    <a:pt x="0" y="22860"/>
                  </a:lnTo>
                  <a:lnTo>
                    <a:pt x="9239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827848" y="1805940"/>
              <a:ext cx="141923" cy="581025"/>
            </a:xfrm>
            <a:custGeom>
              <a:avLst/>
              <a:gdLst/>
              <a:ahLst/>
              <a:cxnLst/>
              <a:rect l="l" t="t" r="r" b="b"/>
              <a:pathLst>
                <a:path w="141923" h="581025">
                  <a:moveTo>
                    <a:pt x="141923" y="0"/>
                  </a:moveTo>
                  <a:lnTo>
                    <a:pt x="0" y="5810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782128" y="2375535"/>
              <a:ext cx="92393" cy="103823"/>
            </a:xfrm>
            <a:custGeom>
              <a:avLst/>
              <a:gdLst/>
              <a:ahLst/>
              <a:cxnLst/>
              <a:rect l="l" t="t" r="r" b="b"/>
              <a:pathLst>
                <a:path w="92393" h="103823">
                  <a:moveTo>
                    <a:pt x="23812" y="103823"/>
                  </a:moveTo>
                  <a:lnTo>
                    <a:pt x="0" y="0"/>
                  </a:lnTo>
                  <a:lnTo>
                    <a:pt x="92393" y="2286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809875" y="1805940"/>
              <a:ext cx="141922" cy="581025"/>
            </a:xfrm>
            <a:custGeom>
              <a:avLst/>
              <a:gdLst/>
              <a:ahLst/>
              <a:cxnLst/>
              <a:rect l="l" t="t" r="r" b="b"/>
              <a:pathLst>
                <a:path w="141922" h="581025">
                  <a:moveTo>
                    <a:pt x="0" y="0"/>
                  </a:moveTo>
                  <a:lnTo>
                    <a:pt x="141922" y="5810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906078" y="2375535"/>
              <a:ext cx="92392" cy="103823"/>
            </a:xfrm>
            <a:custGeom>
              <a:avLst/>
              <a:gdLst/>
              <a:ahLst/>
              <a:cxnLst/>
              <a:rect l="l" t="t" r="r" b="b"/>
              <a:pathLst>
                <a:path w="92392" h="103823">
                  <a:moveTo>
                    <a:pt x="68580" y="103823"/>
                  </a:moveTo>
                  <a:lnTo>
                    <a:pt x="0" y="22860"/>
                  </a:lnTo>
                  <a:lnTo>
                    <a:pt x="9239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066098" y="1805940"/>
              <a:ext cx="141923" cy="581025"/>
            </a:xfrm>
            <a:custGeom>
              <a:avLst/>
              <a:gdLst/>
              <a:ahLst/>
              <a:cxnLst/>
              <a:rect l="l" t="t" r="r" b="b"/>
              <a:pathLst>
                <a:path w="141923" h="581025">
                  <a:moveTo>
                    <a:pt x="141923" y="0"/>
                  </a:moveTo>
                  <a:lnTo>
                    <a:pt x="0" y="5810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019425" y="2375535"/>
              <a:ext cx="92392" cy="103823"/>
            </a:xfrm>
            <a:custGeom>
              <a:avLst/>
              <a:gdLst/>
              <a:ahLst/>
              <a:cxnLst/>
              <a:rect l="l" t="t" r="r" b="b"/>
              <a:pathLst>
                <a:path w="92392" h="103823">
                  <a:moveTo>
                    <a:pt x="23812" y="103823"/>
                  </a:moveTo>
                  <a:lnTo>
                    <a:pt x="0" y="0"/>
                  </a:lnTo>
                  <a:lnTo>
                    <a:pt x="92392" y="2286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991928" y="1805940"/>
              <a:ext cx="141922" cy="581025"/>
            </a:xfrm>
            <a:custGeom>
              <a:avLst/>
              <a:gdLst/>
              <a:ahLst/>
              <a:cxnLst/>
              <a:rect l="l" t="t" r="r" b="b"/>
              <a:pathLst>
                <a:path w="141922" h="581025">
                  <a:moveTo>
                    <a:pt x="0" y="0"/>
                  </a:moveTo>
                  <a:lnTo>
                    <a:pt x="141922" y="5810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087178" y="2375535"/>
              <a:ext cx="93345" cy="103823"/>
            </a:xfrm>
            <a:custGeom>
              <a:avLst/>
              <a:gdLst/>
              <a:ahLst/>
              <a:cxnLst/>
              <a:rect l="l" t="t" r="r" b="b"/>
              <a:pathLst>
                <a:path w="93345" h="103823">
                  <a:moveTo>
                    <a:pt x="69532" y="103823"/>
                  </a:moveTo>
                  <a:lnTo>
                    <a:pt x="0" y="22860"/>
                  </a:lnTo>
                  <a:lnTo>
                    <a:pt x="9334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4247198" y="1805940"/>
              <a:ext cx="142875" cy="581025"/>
            </a:xfrm>
            <a:custGeom>
              <a:avLst/>
              <a:gdLst/>
              <a:ahLst/>
              <a:cxnLst/>
              <a:rect l="l" t="t" r="r" b="b"/>
              <a:pathLst>
                <a:path w="142875" h="581025">
                  <a:moveTo>
                    <a:pt x="142875" y="0"/>
                  </a:moveTo>
                  <a:lnTo>
                    <a:pt x="0" y="5810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201478" y="2375535"/>
              <a:ext cx="92392" cy="103823"/>
            </a:xfrm>
            <a:custGeom>
              <a:avLst/>
              <a:gdLst/>
              <a:ahLst/>
              <a:cxnLst/>
              <a:rect l="l" t="t" r="r" b="b"/>
              <a:pathLst>
                <a:path w="92392" h="103823">
                  <a:moveTo>
                    <a:pt x="23812" y="103823"/>
                  </a:moveTo>
                  <a:lnTo>
                    <a:pt x="0" y="0"/>
                  </a:lnTo>
                  <a:lnTo>
                    <a:pt x="92392" y="2286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5173028" y="1805940"/>
              <a:ext cx="141922" cy="581025"/>
            </a:xfrm>
            <a:custGeom>
              <a:avLst/>
              <a:gdLst/>
              <a:ahLst/>
              <a:cxnLst/>
              <a:rect l="l" t="t" r="r" b="b"/>
              <a:pathLst>
                <a:path w="141922" h="581025">
                  <a:moveTo>
                    <a:pt x="0" y="0"/>
                  </a:moveTo>
                  <a:lnTo>
                    <a:pt x="141922" y="5810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269230" y="2375535"/>
              <a:ext cx="92392" cy="103823"/>
            </a:xfrm>
            <a:custGeom>
              <a:avLst/>
              <a:gdLst/>
              <a:ahLst/>
              <a:cxnLst/>
              <a:rect l="l" t="t" r="r" b="b"/>
              <a:pathLst>
                <a:path w="92392" h="103823">
                  <a:moveTo>
                    <a:pt x="68580" y="103823"/>
                  </a:moveTo>
                  <a:lnTo>
                    <a:pt x="0" y="22860"/>
                  </a:lnTo>
                  <a:lnTo>
                    <a:pt x="9239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5429250" y="1805940"/>
              <a:ext cx="141922" cy="581025"/>
            </a:xfrm>
            <a:custGeom>
              <a:avLst/>
              <a:gdLst/>
              <a:ahLst/>
              <a:cxnLst/>
              <a:rect l="l" t="t" r="r" b="b"/>
              <a:pathLst>
                <a:path w="141922" h="581025">
                  <a:moveTo>
                    <a:pt x="141922" y="0"/>
                  </a:moveTo>
                  <a:lnTo>
                    <a:pt x="0" y="5810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382578" y="2375535"/>
              <a:ext cx="92392" cy="103823"/>
            </a:xfrm>
            <a:custGeom>
              <a:avLst/>
              <a:gdLst/>
              <a:ahLst/>
              <a:cxnLst/>
              <a:rect l="l" t="t" r="r" b="b"/>
              <a:pathLst>
                <a:path w="92392" h="103823">
                  <a:moveTo>
                    <a:pt x="23812" y="103823"/>
                  </a:moveTo>
                  <a:lnTo>
                    <a:pt x="0" y="0"/>
                  </a:lnTo>
                  <a:lnTo>
                    <a:pt x="92392" y="2286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1771650" y="2759392"/>
              <a:ext cx="9525" cy="600075"/>
            </a:xfrm>
            <a:custGeom>
              <a:avLst/>
              <a:gdLst/>
              <a:ahLst/>
              <a:cxnLst/>
              <a:rect l="l" t="t" r="r" b="b"/>
              <a:pathLst>
                <a:path w="9525" h="600075">
                  <a:moveTo>
                    <a:pt x="0" y="0"/>
                  </a:moveTo>
                  <a:lnTo>
                    <a:pt x="0" y="6000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724025" y="335946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3008948" y="2759392"/>
              <a:ext cx="9525" cy="600075"/>
            </a:xfrm>
            <a:custGeom>
              <a:avLst/>
              <a:gdLst/>
              <a:ahLst/>
              <a:cxnLst/>
              <a:rect l="l" t="t" r="r" b="b"/>
              <a:pathLst>
                <a:path w="9525" h="600075">
                  <a:moveTo>
                    <a:pt x="0" y="0"/>
                  </a:moveTo>
                  <a:lnTo>
                    <a:pt x="0" y="6000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2961322" y="335946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4191000" y="2759392"/>
              <a:ext cx="9525" cy="600075"/>
            </a:xfrm>
            <a:custGeom>
              <a:avLst/>
              <a:gdLst/>
              <a:ahLst/>
              <a:cxnLst/>
              <a:rect l="l" t="t" r="r" b="b"/>
              <a:pathLst>
                <a:path w="9525" h="600075">
                  <a:moveTo>
                    <a:pt x="0" y="0"/>
                  </a:moveTo>
                  <a:lnTo>
                    <a:pt x="0" y="6000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4143375" y="335946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5372100" y="2759392"/>
              <a:ext cx="9525" cy="600075"/>
            </a:xfrm>
            <a:custGeom>
              <a:avLst/>
              <a:gdLst/>
              <a:ahLst/>
              <a:cxnLst/>
              <a:rect l="l" t="t" r="r" b="b"/>
              <a:pathLst>
                <a:path w="9525" h="600075">
                  <a:moveTo>
                    <a:pt x="0" y="0"/>
                  </a:moveTo>
                  <a:lnTo>
                    <a:pt x="0" y="6000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5324475" y="335946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5696902" y="2619375"/>
              <a:ext cx="182880" cy="9525"/>
            </a:xfrm>
            <a:custGeom>
              <a:avLst/>
              <a:gdLst/>
              <a:ahLst/>
              <a:cxnLst/>
              <a:rect l="l" t="t" r="r" b="b"/>
              <a:pathLst>
                <a:path w="182880" h="9525">
                  <a:moveTo>
                    <a:pt x="182880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5601652" y="25717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4515802" y="2619375"/>
              <a:ext cx="626745" cy="9525"/>
            </a:xfrm>
            <a:custGeom>
              <a:avLst/>
              <a:gdLst/>
              <a:ahLst/>
              <a:cxnLst/>
              <a:rect l="l" t="t" r="r" b="b"/>
              <a:pathLst>
                <a:path w="626745" h="9525">
                  <a:moveTo>
                    <a:pt x="62674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4420552" y="25717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3333750" y="2619375"/>
              <a:ext cx="626745" cy="9525"/>
            </a:xfrm>
            <a:custGeom>
              <a:avLst/>
              <a:gdLst/>
              <a:ahLst/>
              <a:cxnLst/>
              <a:rect l="l" t="t" r="r" b="b"/>
              <a:pathLst>
                <a:path w="626745" h="9525">
                  <a:moveTo>
                    <a:pt x="62674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3238500" y="25717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2096452" y="2619375"/>
              <a:ext cx="682943" cy="9525"/>
            </a:xfrm>
            <a:custGeom>
              <a:avLst/>
              <a:gdLst/>
              <a:ahLst/>
              <a:cxnLst/>
              <a:rect l="l" t="t" r="r" b="b"/>
              <a:pathLst>
                <a:path w="682943" h="9525">
                  <a:moveTo>
                    <a:pt x="682943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2001202" y="25717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964882" y="2619375"/>
              <a:ext cx="576263" cy="9525"/>
            </a:xfrm>
            <a:custGeom>
              <a:avLst/>
              <a:gdLst/>
              <a:ahLst/>
              <a:cxnLst/>
              <a:rect l="l" t="t" r="r" b="b"/>
              <a:pathLst>
                <a:path w="576263" h="9525">
                  <a:moveTo>
                    <a:pt x="576263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5FA8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69632" y="25717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5FA8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1541145" y="2479358"/>
              <a:ext cx="460058" cy="280035"/>
            </a:xfrm>
            <a:prstGeom prst="roundRect">
              <a:avLst>
                <a:gd name="adj" fmla="val 34014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2779395" y="2479358"/>
              <a:ext cx="460058" cy="280035"/>
            </a:xfrm>
            <a:prstGeom prst="roundRect">
              <a:avLst>
                <a:gd name="adj" fmla="val 34014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3960495" y="2479358"/>
              <a:ext cx="460058" cy="280035"/>
            </a:xfrm>
            <a:prstGeom prst="roundRect">
              <a:avLst>
                <a:gd name="adj" fmla="val 34014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142548" y="2479358"/>
              <a:ext cx="460058" cy="280035"/>
            </a:xfrm>
            <a:prstGeom prst="roundRect">
              <a:avLst>
                <a:gd name="adj" fmla="val 34014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6605" y="255365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636940" y="2553652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FA3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874237" y="2553652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FA2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056290" y="2553652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FA1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237390" y="2553652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FA0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899640" y="255365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454323" y="163353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904855" y="163353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692573" y="163353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142153" y="163353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873673" y="163353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324205" y="163353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055725" y="163353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505305" y="163353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B0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680065" y="349567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S3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917363" y="349567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099415" y="349567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S1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280515" y="349567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S0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4686300" y="2541270"/>
              <a:ext cx="1905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4712637" y="2570321"/>
              <a:ext cx="1378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C1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3504248" y="2541270"/>
              <a:ext cx="1905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3530585" y="2570321"/>
              <a:ext cx="1378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C2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2294572" y="2541270"/>
              <a:ext cx="19050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2320910" y="2570321"/>
              <a:ext cx="1378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C3</a:t>
              </a:r>
            </a:p>
          </p:txBody>
        </p:sp>
      </p:grpSp>
      <p:grpSp>
        <p:nvGrpSpPr>
          <p:cNvPr id="77" name="c1-card-2"/>
          <p:cNvGrpSpPr/>
          <p:nvPr/>
        </p:nvGrpSpPr>
        <p:grpSpPr>
          <a:xfrm>
            <a:off x="533400" y="3884295"/>
            <a:ext cx="5626418" cy="2365058"/>
            <a:chOff x="533400" y="3884295"/>
            <a:chExt cx="5626418" cy="2365058"/>
          </a:xfrm>
        </p:grpSpPr>
        <p:sp>
          <p:nvSpPr>
            <p:cNvPr id="70" name="Rectangle 70"/>
            <p:cNvSpPr/>
            <p:nvPr/>
          </p:nvSpPr>
          <p:spPr>
            <a:xfrm>
              <a:off x="533400" y="3884295"/>
              <a:ext cx="5626418" cy="2365058"/>
            </a:xfrm>
            <a:prstGeom prst="roundRect">
              <a:avLst>
                <a:gd name="adj" fmla="val 56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542925" y="4017645"/>
              <a:ext cx="47625" cy="209835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758190" y="4070985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839660" y="410384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逻辑表达式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4" name="formula7"/>
                <p:cNvSpPr txBox="1">
                  <a:spLocks noGrp="1"/>
                </p:cNvSpPr>
                <p:nvPr/>
              </p:nvSpPr>
              <p:spPr>
                <a:xfrm>
                  <a:off x="758190" y="4392930"/>
                  <a:ext cx="5214938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⊕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⊕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5" name="formula8"/>
                <p:cNvSpPr txBox="1">
                  <a:spLocks noGrp="1"/>
                </p:cNvSpPr>
                <p:nvPr/>
              </p:nvSpPr>
              <p:spPr>
                <a:xfrm>
                  <a:off x="758190" y="4838700"/>
                  <a:ext cx="5214938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+</m:t>
                            </m:r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⊕</m:t>
                            </m:r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</m:e>
                        </m:d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76" name="TextBox 76"/>
            <p:cNvSpPr txBox="1"/>
            <p:nvPr/>
          </p:nvSpPr>
          <p:spPr>
            <a:xfrm>
              <a:off x="752475" y="5303044"/>
              <a:ext cx="498983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 个全加器串起来，低位的进位输出接高位的进位输入，就是 4 位行波进位加法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器。半加器不考虑低位进位：S = A ⊕ B，C = AB。</a:t>
              </a:r>
            </a:p>
          </p:txBody>
        </p:sp>
      </p:grpSp>
      <p:grpSp>
        <p:nvGrpSpPr>
          <p:cNvPr id="141" name="c2-table-1"/>
          <p:cNvGrpSpPr/>
          <p:nvPr/>
        </p:nvGrpSpPr>
        <p:grpSpPr>
          <a:xfrm>
            <a:off x="6459665" y="1524000"/>
            <a:ext cx="5198935" cy="3864006"/>
            <a:chOff x="6459665" y="1524000"/>
            <a:chExt cx="5198935" cy="3864006"/>
          </a:xfrm>
        </p:grpSpPr>
        <p:sp>
          <p:nvSpPr>
            <p:cNvPr id="78" name="Rectangle 78"/>
            <p:cNvSpPr/>
            <p:nvPr/>
          </p:nvSpPr>
          <p:spPr>
            <a:xfrm>
              <a:off x="6464618" y="1524000"/>
              <a:ext cx="5193982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892635" y="1645444"/>
              <a:ext cx="1498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Ai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898475" y="1645444"/>
              <a:ext cx="1498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Bi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904315" y="1645444"/>
              <a:ext cx="1498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Ci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903486" y="1645444"/>
              <a:ext cx="3288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Ci+1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080778" y="1645444"/>
              <a:ext cx="1498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Si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920360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926200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932040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020747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108502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6464618" y="23193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6464618" y="2324100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920360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926200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8932040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0020747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1108502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6464618" y="27193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6920360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7926200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8932040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0020747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1108502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6464618" y="31194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6464618" y="3124200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6920360" y="32456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7926200" y="32456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8932040" y="32456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0020747" y="32456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1108502" y="32456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6464618" y="35194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6920360" y="36456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7926200" y="36456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8932040" y="36456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0020747" y="36456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1108502" y="36456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5" name="Rectangle 115"/>
            <p:cNvSpPr/>
            <p:nvPr/>
          </p:nvSpPr>
          <p:spPr>
            <a:xfrm>
              <a:off x="6464618" y="39195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6464618" y="3924300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6920360" y="40457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7926200" y="40457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8932040" y="40457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10020747" y="40457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11108502" y="40457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2" name="Rectangle 122"/>
            <p:cNvSpPr/>
            <p:nvPr/>
          </p:nvSpPr>
          <p:spPr>
            <a:xfrm>
              <a:off x="6464618" y="431958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6920360" y="44457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7926200" y="44457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8932040" y="44457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10020747" y="44457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11108502" y="44457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8" name="Rectangle 128"/>
            <p:cNvSpPr/>
            <p:nvPr/>
          </p:nvSpPr>
          <p:spPr>
            <a:xfrm>
              <a:off x="6464618" y="47196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9" name="Rectangle 129"/>
            <p:cNvSpPr/>
            <p:nvPr/>
          </p:nvSpPr>
          <p:spPr>
            <a:xfrm>
              <a:off x="6464618" y="4724400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30" name="TextBox 130"/>
            <p:cNvSpPr txBox="1"/>
            <p:nvPr/>
          </p:nvSpPr>
          <p:spPr>
            <a:xfrm>
              <a:off x="6920360" y="48458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7926200" y="48458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8932040" y="48458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10020747" y="48458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11108502" y="48458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5" name="Rectangle 135"/>
            <p:cNvSpPr/>
            <p:nvPr/>
          </p:nvSpPr>
          <p:spPr>
            <a:xfrm>
              <a:off x="6464618" y="1524000"/>
              <a:ext cx="5193982" cy="36004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36" name="Rectangle 136"/>
            <p:cNvSpPr/>
            <p:nvPr/>
          </p:nvSpPr>
          <p:spPr>
            <a:xfrm>
              <a:off x="7465695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7" name="Rectangle 137"/>
            <p:cNvSpPr/>
            <p:nvPr/>
          </p:nvSpPr>
          <p:spPr>
            <a:xfrm>
              <a:off x="8471535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8" name="Rectangle 138"/>
            <p:cNvSpPr/>
            <p:nvPr/>
          </p:nvSpPr>
          <p:spPr>
            <a:xfrm>
              <a:off x="9477375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9" name="Rectangle 139"/>
            <p:cNvSpPr/>
            <p:nvPr/>
          </p:nvSpPr>
          <p:spPr>
            <a:xfrm>
              <a:off x="10647998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0" name="TextBox 140"/>
            <p:cNvSpPr txBox="1"/>
            <p:nvPr/>
          </p:nvSpPr>
          <p:spPr>
            <a:xfrm>
              <a:off x="6459665" y="5197316"/>
              <a:ext cx="48970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Ai、Bi 为本位加数，Ci 为来自低位的进位；输出 Si 为本位和，Ci+1 为向高位的进位</a:t>
              </a:r>
            </a:p>
          </p:txBody>
        </p:sp>
      </p:grpSp>
      <p:grpSp>
        <p:nvGrpSpPr>
          <p:cNvPr id="148" name="c2-callout-2"/>
          <p:cNvGrpSpPr/>
          <p:nvPr/>
        </p:nvGrpSpPr>
        <p:grpSpPr>
          <a:xfrm>
            <a:off x="6464618" y="5519738"/>
            <a:ext cx="5193982" cy="729615"/>
            <a:chOff x="6464618" y="5519738"/>
            <a:chExt cx="5193982" cy="729615"/>
          </a:xfrm>
        </p:grpSpPr>
        <p:sp>
          <p:nvSpPr>
            <p:cNvPr id="142" name="Rectangle 142"/>
            <p:cNvSpPr/>
            <p:nvPr/>
          </p:nvSpPr>
          <p:spPr>
            <a:xfrm>
              <a:off x="6464618" y="5519738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46" name="Group 146"/>
            <p:cNvGrpSpPr/>
            <p:nvPr/>
          </p:nvGrpSpPr>
          <p:grpSpPr>
            <a:xfrm>
              <a:off x="6669405" y="5784533"/>
              <a:ext cx="200026" cy="200025"/>
              <a:chOff x="6669405" y="5784533"/>
              <a:chExt cx="200026" cy="200025"/>
            </a:xfrm>
          </p:grpSpPr>
          <p:sp>
            <p:nvSpPr>
              <p:cNvPr id="143" name="Freeform 143"/>
              <p:cNvSpPr/>
              <p:nvPr/>
            </p:nvSpPr>
            <p:spPr>
              <a:xfrm>
                <a:off x="6669405" y="578453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4" name="Freeform 144"/>
              <p:cNvSpPr/>
              <p:nvPr/>
            </p:nvSpPr>
            <p:spPr>
              <a:xfrm>
                <a:off x="6709144" y="582898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5" name="Freeform 145"/>
              <p:cNvSpPr/>
              <p:nvPr/>
            </p:nvSpPr>
            <p:spPr>
              <a:xfrm>
                <a:off x="6743859" y="594010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47" name="TextBox 147"/>
            <p:cNvSpPr txBox="1"/>
            <p:nvPr/>
          </p:nvSpPr>
          <p:spPr>
            <a:xfrm>
              <a:off x="6972110" y="5666423"/>
              <a:ext cx="415423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读表：三个输入中有奇数个 1 时 Si = 1；至少两个 1 时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Ci+1 = 1。</a:t>
              </a:r>
            </a:p>
          </p:txBody>
        </p:sp>
      </p:grpSp>
      <p:grpSp>
        <p:nvGrpSpPr>
          <p:cNvPr id="1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49" name="TextBox 149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150" name="TextBox 15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37776" cy="909257"/>
            <a:chOff x="520446" y="342900"/>
            <a:chExt cx="96377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整数加减与溢出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377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溢出：结果超出表示范围；只有同号相加、异号相减才可能溢出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table-1"/>
          <p:cNvGrpSpPr/>
          <p:nvPr/>
        </p:nvGrpSpPr>
        <p:grpSpPr>
          <a:xfrm>
            <a:off x="533400" y="1524000"/>
            <a:ext cx="5410200" cy="2316480"/>
            <a:chOff x="533400" y="1524000"/>
            <a:chExt cx="5410200" cy="23164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629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8871" y="16559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运算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39961" y="1655921"/>
              <a:ext cx="7682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操作数 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983926" y="1655921"/>
              <a:ext cx="7682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操作数 B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386567" y="165592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结果表明溢出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1441" y="2119789"/>
              <a:ext cx="4916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+ B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83024" y="2119789"/>
              <a:ext cx="2821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≥ 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226989" y="2119789"/>
              <a:ext cx="2821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≥ 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52755" y="2119789"/>
              <a:ext cx="14290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 0（两正得负）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44602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450782"/>
              <a:ext cx="5410200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71441" y="2582704"/>
              <a:ext cx="4916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+ B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83024" y="2582704"/>
              <a:ext cx="2821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 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226989" y="2582704"/>
              <a:ext cx="2821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 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252755" y="2582704"/>
              <a:ext cx="14290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≥ 0（两负得正）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90893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71441" y="3045619"/>
              <a:ext cx="4916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− B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83024" y="3045619"/>
              <a:ext cx="2821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≥ 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226989" y="3045619"/>
              <a:ext cx="2821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 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26236" y="3045619"/>
              <a:ext cx="2821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 0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37280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377565"/>
              <a:ext cx="5410200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71441" y="3509486"/>
              <a:ext cx="4916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− B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83024" y="3509486"/>
              <a:ext cx="2821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 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226989" y="3509486"/>
              <a:ext cx="2821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≥ 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826236" y="3509486"/>
              <a:ext cx="2821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≥ 0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524000"/>
              <a:ext cx="5410200" cy="23164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497330" y="1524000"/>
              <a:ext cx="9525" cy="2316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2741295" y="1524000"/>
              <a:ext cx="9525" cy="2316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986212" y="1524000"/>
              <a:ext cx="9525" cy="2316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4" name="c1-bullets-2"/>
          <p:cNvGrpSpPr/>
          <p:nvPr/>
        </p:nvGrpSpPr>
        <p:grpSpPr>
          <a:xfrm>
            <a:off x="541020" y="4043839"/>
            <a:ext cx="5040249" cy="1203579"/>
            <a:chOff x="541020" y="4043839"/>
            <a:chExt cx="5040249" cy="1203579"/>
          </a:xfrm>
        </p:grpSpPr>
        <p:sp>
          <p:nvSpPr>
            <p:cNvPr id="38" name="Ellipse 38"/>
            <p:cNvSpPr/>
            <p:nvPr/>
          </p:nvSpPr>
          <p:spPr>
            <a:xfrm>
              <a:off x="541020" y="4104323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97611" y="4043839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正数与负数相加，结果的绝对值不超过两者中较大的一个，不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会溢出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541020" y="470249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97611" y="4642009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同号数相减等价于异号数相加，也不会溢出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541020" y="502920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97611" y="4968716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正数减负数得负、负数减正数得正，说明溢出</a:t>
              </a:r>
            </a:p>
          </p:txBody>
        </p:sp>
      </p:grpSp>
      <p:grpSp>
        <p:nvGrpSpPr>
          <p:cNvPr id="51" name="c1-callout-3"/>
          <p:cNvGrpSpPr/>
          <p:nvPr/>
        </p:nvGrpSpPr>
        <p:grpSpPr>
          <a:xfrm>
            <a:off x="533400" y="5372100"/>
            <a:ext cx="5410200" cy="756285"/>
            <a:chOff x="533400" y="5372100"/>
            <a:chExt cx="5410200" cy="756285"/>
          </a:xfrm>
        </p:grpSpPr>
        <p:sp>
          <p:nvSpPr>
            <p:cNvPr id="45" name="Rectangle 45"/>
            <p:cNvSpPr/>
            <p:nvPr/>
          </p:nvSpPr>
          <p:spPr>
            <a:xfrm>
              <a:off x="533400" y="5372100"/>
              <a:ext cx="5410200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26129" y="5646538"/>
              <a:ext cx="224134" cy="192560"/>
              <a:chOff x="726129" y="5646538"/>
              <a:chExt cx="224134" cy="19256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838200" y="571690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26129" y="564653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38200" y="57946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511" y="5519261"/>
              <a:ext cx="445985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例：5 位补码算 7 − (−9) = 0 0111 + 0 1001 = 1 0000，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读出 −16。正数减负数得负，溢出（16 超过 +15）。</a:t>
              </a:r>
            </a:p>
          </p:txBody>
        </p:sp>
      </p:grpSp>
      <p:grpSp>
        <p:nvGrpSpPr>
          <p:cNvPr id="64" name="c2-card-1"/>
          <p:cNvGrpSpPr/>
          <p:nvPr/>
        </p:nvGrpSpPr>
        <p:grpSpPr>
          <a:xfrm>
            <a:off x="6248400" y="1524000"/>
            <a:ext cx="5410200" cy="3019425"/>
            <a:chOff x="6248400" y="1524000"/>
            <a:chExt cx="5410200" cy="3019425"/>
          </a:xfrm>
        </p:grpSpPr>
        <p:sp>
          <p:nvSpPr>
            <p:cNvPr id="52" name="Rectangle 52"/>
            <p:cNvSpPr/>
            <p:nvPr/>
          </p:nvSpPr>
          <p:spPr>
            <a:xfrm>
              <a:off x="6248400" y="1524000"/>
              <a:ext cx="5410200" cy="3019425"/>
            </a:xfrm>
            <a:prstGeom prst="roundRect">
              <a:avLst>
                <a:gd name="adj" fmla="val 44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257925" y="1657350"/>
              <a:ext cx="47625" cy="275272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484620" y="1722120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80061" y="17564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934581" y="1756886"/>
              <a:ext cx="415371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A、B 各有 1 位符号、4 位尾数，符号位参与运算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484620" y="2077402"/>
              <a:ext cx="4975860" cy="1072515"/>
            </a:xfrm>
            <a:prstGeom prst="roundRect">
              <a:avLst>
                <a:gd name="adj" fmla="val 88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613017" y="2229326"/>
              <a:ext cx="3977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 + 7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612636" y="2490788"/>
              <a:ext cx="2464308" cy="5844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A:  0 1110     SA = 0   (+14)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B:  0 0111     SB = 0   (+7)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S:  1 0101     Sf = 1   读出为 −11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492240" y="332232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648831" y="3262789"/>
              <a:ext cx="446211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尾数最高位向符号位的进位 </a:t>
              </a:r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= 1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，符号位向更高位的进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位 </a:t>
              </a:r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Cf = 0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492240" y="391191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648831" y="3851434"/>
              <a:ext cx="446887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 + 7 = 21 超出 5 位补码范围 −16 ～ +15，两正得负，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发生溢出</a:t>
              </a:r>
            </a:p>
          </p:txBody>
        </p:sp>
      </p:grpSp>
      <p:grpSp>
        <p:nvGrpSpPr>
          <p:cNvPr id="70" name="c2-card-2"/>
          <p:cNvGrpSpPr/>
          <p:nvPr/>
        </p:nvGrpSpPr>
        <p:grpSpPr>
          <a:xfrm>
            <a:off x="6248400" y="4724400"/>
            <a:ext cx="5410200" cy="1403985"/>
            <a:chOff x="6248400" y="4724400"/>
            <a:chExt cx="5410200" cy="1403985"/>
          </a:xfrm>
        </p:grpSpPr>
        <p:sp>
          <p:nvSpPr>
            <p:cNvPr id="65" name="Rectangle 65"/>
            <p:cNvSpPr/>
            <p:nvPr/>
          </p:nvSpPr>
          <p:spPr>
            <a:xfrm>
              <a:off x="6248400" y="4724400"/>
              <a:ext cx="5410200" cy="1403985"/>
            </a:xfrm>
            <a:prstGeom prst="roundRect">
              <a:avLst>
                <a:gd name="adj" fmla="val 94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6257925" y="4857750"/>
              <a:ext cx="47625" cy="11372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484620" y="49225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576060" y="49568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477381" y="5283041"/>
              <a:ext cx="464921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原课件此例的和写作 1 0011；0 1110 + 0 0111 应为 1 010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082325" cy="909257"/>
            <a:chOff x="520446" y="342900"/>
            <a:chExt cx="1008232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整数加减与溢出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08232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六个例子：5 位补码（1 位符号 + 4 位尾数）表示范围 −16 ～ +15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643995" cy="264033"/>
            <a:chOff x="526542" y="1545907"/>
            <a:chExt cx="864399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6439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Cf 为符号位向更高位的进位，C 为尾数最高位向符号位的进位。读出一列是把 5 位和按补码解释得到的值。</a:t>
              </a:r>
            </a:p>
          </p:txBody>
        </p:sp>
      </p:grpSp>
      <p:grpSp>
        <p:nvGrpSpPr>
          <p:cNvPr id="102" name="c1-table-1"/>
          <p:cNvGrpSpPr/>
          <p:nvPr/>
        </p:nvGrpSpPr>
        <p:grpSpPr>
          <a:xfrm>
            <a:off x="533400" y="1928812"/>
            <a:ext cx="11125200" cy="2800350"/>
            <a:chOff x="533400" y="1928812"/>
            <a:chExt cx="11125200" cy="280035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1112520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59028" y="20502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146656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451832" y="2050256"/>
              <a:ext cx="4382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[A]补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73889" y="2050256"/>
              <a:ext cx="4382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[B]补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33948" y="20502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94893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46453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应得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198291" y="2050256"/>
              <a:ext cx="1905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Cf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131462" y="205025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76331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3807" y="245030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44015" y="2450306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+ 2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35289" y="2450306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0 0011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57347" y="2450306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0 0010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879404" y="2450306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0 0101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62742" y="24503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14302" y="24503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246365" y="24503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136000" y="24503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76331" y="24503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正确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272415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2728912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03807" y="285035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644015" y="2850356"/>
              <a:ext cx="4335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+ 7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435289" y="2850356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0 1010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657347" y="2850356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0 0111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879404" y="2850356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1 0001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121279" y="285035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72839" y="285035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+17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837295" y="2738438"/>
              <a:ext cx="911542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246365" y="28503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768840" y="2738438"/>
              <a:ext cx="829628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136000" y="28503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976331" y="28503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正溢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312420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03807" y="325040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644015" y="3250406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−3 + (−2)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435289" y="3250406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1 1101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657347" y="3250406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1 1110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879404" y="3250406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1 1011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162742" y="32504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214302" y="32504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246365" y="32504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136000" y="32504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976331" y="32504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正确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352425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33400" y="3529012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03807" y="365045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644015" y="36504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−10 + (−7)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435289" y="3650456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1 0110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657347" y="3650456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1 1001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879404" y="3650456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0 1111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121279" y="365045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+15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172839" y="365045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−17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8837295" y="3538538"/>
              <a:ext cx="911542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246365" y="36504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9768840" y="3538538"/>
              <a:ext cx="829628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0136000" y="36504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976331" y="36504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负溢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533400" y="392430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03807" y="405050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(5)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644015" y="4050506"/>
              <a:ext cx="599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+ (−4)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3435289" y="4050506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0 0110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4657347" y="4050506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1 1100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5879404" y="4050506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0 0010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162742" y="40505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+2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214302" y="40505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+2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246365" y="40505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136000" y="40505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976331" y="40505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正确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533400" y="432435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533400" y="4329112"/>
              <a:ext cx="11125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903807" y="445055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(6)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644015" y="4450556"/>
              <a:ext cx="4335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−6 + 4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3435289" y="4450556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1 1010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4657347" y="4450556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0 0100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5879404" y="4450556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1 1110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162742" y="4450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214302" y="4450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246365" y="4450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0136000" y="4450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0976331" y="44505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正确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533400" y="1928812"/>
              <a:ext cx="11125200" cy="28003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3" name="Rectangle 93"/>
            <p:cNvSpPr/>
            <p:nvPr/>
          </p:nvSpPr>
          <p:spPr>
            <a:xfrm>
              <a:off x="1542098" y="1928812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3054668" y="1928812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5" name="Rectangle 95"/>
            <p:cNvSpPr/>
            <p:nvPr/>
          </p:nvSpPr>
          <p:spPr>
            <a:xfrm>
              <a:off x="4276725" y="1928812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6" name="Rectangle 96"/>
            <p:cNvSpPr/>
            <p:nvPr/>
          </p:nvSpPr>
          <p:spPr>
            <a:xfrm>
              <a:off x="5498782" y="1928812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7" name="Rectangle 97"/>
            <p:cNvSpPr/>
            <p:nvPr/>
          </p:nvSpPr>
          <p:spPr>
            <a:xfrm>
              <a:off x="6720840" y="1928812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8" name="Rectangle 98"/>
            <p:cNvSpPr/>
            <p:nvPr/>
          </p:nvSpPr>
          <p:spPr>
            <a:xfrm>
              <a:off x="7772400" y="1928812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9" name="Rectangle 99"/>
            <p:cNvSpPr/>
            <p:nvPr/>
          </p:nvSpPr>
          <p:spPr>
            <a:xfrm>
              <a:off x="8823008" y="1928812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9754552" y="1928812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10603230" y="1928812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19" name="c1-compare-2"/>
          <p:cNvGrpSpPr/>
          <p:nvPr/>
        </p:nvGrpSpPr>
        <p:grpSpPr>
          <a:xfrm>
            <a:off x="533400" y="4898708"/>
            <a:ext cx="11125200" cy="1223962"/>
            <a:chOff x="533400" y="4898708"/>
            <a:chExt cx="11125200" cy="1223962"/>
          </a:xfrm>
        </p:grpSpPr>
        <p:sp>
          <p:nvSpPr>
            <p:cNvPr id="103" name="Rectangle 103"/>
            <p:cNvSpPr/>
            <p:nvPr/>
          </p:nvSpPr>
          <p:spPr>
            <a:xfrm>
              <a:off x="533400" y="4898708"/>
              <a:ext cx="5391150" cy="1223962"/>
            </a:xfrm>
            <a:prstGeom prst="roundRect">
              <a:avLst>
                <a:gd name="adj" fmla="val 108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542925" y="5032058"/>
              <a:ext cx="47625" cy="95726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751332" y="510825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两个溢出的例子</a:t>
              </a:r>
            </a:p>
          </p:txBody>
        </p:sp>
        <p:sp>
          <p:nvSpPr>
            <p:cNvPr id="106" name="Ellipse 106"/>
            <p:cNvSpPr/>
            <p:nvPr/>
          </p:nvSpPr>
          <p:spPr>
            <a:xfrm>
              <a:off x="766762" y="548068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922782" y="5424488"/>
              <a:ext cx="24138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(2) 两正得负：Cf = 0，C = 1</a:t>
              </a:r>
            </a:p>
          </p:txBody>
        </p:sp>
        <p:sp>
          <p:nvSpPr>
            <p:cNvPr id="108" name="Ellipse 108"/>
            <p:cNvSpPr/>
            <p:nvPr/>
          </p:nvSpPr>
          <p:spPr>
            <a:xfrm>
              <a:off x="766762" y="578167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922782" y="5725478"/>
              <a:ext cx="24138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(4) 两负得正：Cf = 1，C = 0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6267450" y="4898708"/>
              <a:ext cx="5391150" cy="1223962"/>
            </a:xfrm>
            <a:prstGeom prst="roundRect">
              <a:avLst>
                <a:gd name="adj" fmla="val 108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6276975" y="5032058"/>
              <a:ext cx="47625" cy="9572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6485382" y="510825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四个正确的例子</a:t>
              </a:r>
            </a:p>
          </p:txBody>
        </p:sp>
        <p:sp>
          <p:nvSpPr>
            <p:cNvPr id="113" name="Ellipse 113"/>
            <p:cNvSpPr/>
            <p:nvPr/>
          </p:nvSpPr>
          <p:spPr>
            <a:xfrm>
              <a:off x="6500812" y="548068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6656832" y="5424488"/>
              <a:ext cx="26770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Cf 与 C 相同（都是 0 或都是 1）</a:t>
              </a:r>
            </a:p>
          </p:txBody>
        </p:sp>
        <p:sp>
          <p:nvSpPr>
            <p:cNvPr id="115" name="Ellipse 115"/>
            <p:cNvSpPr/>
            <p:nvPr/>
          </p:nvSpPr>
          <p:spPr>
            <a:xfrm>
              <a:off x="6500812" y="578167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6656832" y="5725478"/>
              <a:ext cx="32668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异号相加 (5)(6) 无论进位如何都不溢出</a:t>
              </a:r>
            </a:p>
          </p:txBody>
        </p:sp>
        <p:sp>
          <p:nvSpPr>
            <p:cNvPr id="117" name="Ellipse 117"/>
            <p:cNvSpPr/>
            <p:nvPr/>
          </p:nvSpPr>
          <p:spPr>
            <a:xfrm>
              <a:off x="5934075" y="534924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5949315" y="544544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观察</a:t>
              </a:r>
            </a:p>
          </p:txBody>
        </p:sp>
      </p:grpSp>
      <p:grpSp>
        <p:nvGrpSpPr>
          <p:cNvPr id="12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0" name="TextBox 120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整数加减与溢出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硬件判断溢出的三种逻辑，结论等价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card-1"/>
          <p:cNvGrpSpPr/>
          <p:nvPr/>
        </p:nvGrpSpPr>
        <p:grpSpPr>
          <a:xfrm>
            <a:off x="533400" y="1524000"/>
            <a:ext cx="3505200" cy="3230880"/>
            <a:chOff x="533400" y="1524000"/>
            <a:chExt cx="3505200" cy="32308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3230880"/>
            </a:xfrm>
            <a:prstGeom prst="roundRect">
              <a:avLst>
                <a:gd name="adj" fmla="val 41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96418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059" y="17564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逻辑一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86281" y="175688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看两个加数与结果的符号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formula15"/>
                <p:cNvSpPr txBox="1">
                  <a:spLocks noGrp="1"/>
                </p:cNvSpPr>
                <p:nvPr/>
              </p:nvSpPr>
              <p:spPr>
                <a:xfrm>
                  <a:off x="769620" y="2077402"/>
                  <a:ext cx="3070860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V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bar>
                          <m:barPr>
                            <m:pos m:val="top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barPr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A</m:t>
                                </m:r>
                              </m:sub>
                            </m:sSub>
                          </m:e>
                        </m:ba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bar>
                          <m:barPr>
                            <m:pos m:val="top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barPr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B</m:t>
                                </m:r>
                              </m:sub>
                            </m:sSub>
                          </m:e>
                        </m:bar>
                        <m: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 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sub>
                        </m:sSub>
                        <m:sSub>
                          <m:e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sub>
                        </m:sSub>
                        <m:bar>
                          <m:barPr>
                            <m:pos m:val="top"/>
                            <m:ctrlPr>
                              <a:rPr lang="zh-CN" sz="142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barPr>
                          <m:e>
                            <m:sSub>
                              <m:e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zh-CN" sz="1420" dirty="0">
                                    <a:solidFill>
                                      <a:srgbClr val="1F2937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f</m:t>
                                </m:r>
                              </m:sub>
                            </m:sSub>
                          </m:e>
                        </m:ba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13" name="Ellipse 13"/>
            <p:cNvSpPr/>
            <p:nvPr/>
          </p:nvSpPr>
          <p:spPr>
            <a:xfrm>
              <a:off x="777240" y="261270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3831" y="2552224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前一项：两正得负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7240" y="292989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3831" y="2870359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后一项：两负得正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3524" y="3184207"/>
              <a:ext cx="2684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(2)：SA = SB = 0，Sf = 1，V = 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3524" y="3463290"/>
              <a:ext cx="2684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(4)：SA = SB = 1，Sf = 0，V = 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3524" y="3741420"/>
              <a:ext cx="2712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(5)：SA ≠ SB，两项都为 0，V = 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381" y="4024789"/>
              <a:ext cx="28999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需要保留两个加数的符号位，减法时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SB 要取变换后加数的符号。</a:t>
              </a:r>
            </a:p>
          </p:txBody>
        </p:sp>
      </p:grpSp>
      <p:grpSp>
        <p:nvGrpSpPr>
          <p:cNvPr id="36" name="c2-card-1"/>
          <p:cNvGrpSpPr/>
          <p:nvPr/>
        </p:nvGrpSpPr>
        <p:grpSpPr>
          <a:xfrm>
            <a:off x="4343400" y="1524000"/>
            <a:ext cx="3505200" cy="3230880"/>
            <a:chOff x="4343400" y="1524000"/>
            <a:chExt cx="3505200" cy="3230880"/>
          </a:xfrm>
        </p:grpSpPr>
        <p:sp>
          <p:nvSpPr>
            <p:cNvPr id="22" name="Rectangle 22"/>
            <p:cNvSpPr/>
            <p:nvPr/>
          </p:nvSpPr>
          <p:spPr>
            <a:xfrm>
              <a:off x="4343400" y="1524000"/>
              <a:ext cx="3505200" cy="3230880"/>
            </a:xfrm>
            <a:prstGeom prst="roundRect">
              <a:avLst>
                <a:gd name="adj" fmla="val 41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352925" y="1657350"/>
              <a:ext cx="47625" cy="296418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4579620" y="172212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667060" y="17564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逻辑二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96281" y="1756886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看符号位的进位输入与输出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formula16"/>
                <p:cNvSpPr txBox="1">
                  <a:spLocks noGrp="1"/>
                </p:cNvSpPr>
                <p:nvPr/>
              </p:nvSpPr>
              <p:spPr>
                <a:xfrm>
                  <a:off x="4579620" y="2077402"/>
                  <a:ext cx="307086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V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C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⊕</m:t>
                        </m:r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C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8" name="Ellipse 28"/>
            <p:cNvSpPr/>
            <p:nvPr/>
          </p:nvSpPr>
          <p:spPr>
            <a:xfrm>
              <a:off x="4587240" y="265080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743831" y="2590324"/>
              <a:ext cx="28018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C：尾数最高位进入符号位的进位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4587240" y="296799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743831" y="2908459"/>
              <a:ext cx="195114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Cf：符号位送出的进位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73524" y="3222307"/>
              <a:ext cx="22066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(2)：Cf = 0，C = 1，V = 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73524" y="3501390"/>
              <a:ext cx="22066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(4)：Cf = 1，C = 0，V = 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73524" y="3779520"/>
              <a:ext cx="19502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(3)：Cf = C = 1，V = 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72381" y="4062889"/>
              <a:ext cx="28999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只需在加法器最高位加一个异或门，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不用另外保存两个加数的符号。</a:t>
              </a:r>
            </a:p>
          </p:txBody>
        </p:sp>
      </p:grpSp>
      <p:grpSp>
        <p:nvGrpSpPr>
          <p:cNvPr id="51" name="c3-card-1"/>
          <p:cNvGrpSpPr/>
          <p:nvPr/>
        </p:nvGrpSpPr>
        <p:grpSpPr>
          <a:xfrm>
            <a:off x="8153400" y="1524000"/>
            <a:ext cx="3505200" cy="3230880"/>
            <a:chOff x="8153400" y="1524000"/>
            <a:chExt cx="3505200" cy="3230880"/>
          </a:xfrm>
        </p:grpSpPr>
        <p:sp>
          <p:nvSpPr>
            <p:cNvPr id="37" name="Rectangle 37"/>
            <p:cNvSpPr/>
            <p:nvPr/>
          </p:nvSpPr>
          <p:spPr>
            <a:xfrm>
              <a:off x="8153400" y="1524000"/>
              <a:ext cx="3505200" cy="3230880"/>
            </a:xfrm>
            <a:prstGeom prst="roundRect">
              <a:avLst>
                <a:gd name="adj" fmla="val 41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8162925" y="1657350"/>
              <a:ext cx="47625" cy="296418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8389620" y="172212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477060" y="17564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逻辑三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106281" y="175688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用双符号位（变形补码）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formula17"/>
                <p:cNvSpPr txBox="1">
                  <a:spLocks noGrp="1"/>
                </p:cNvSpPr>
                <p:nvPr/>
              </p:nvSpPr>
              <p:spPr>
                <a:xfrm>
                  <a:off x="8389620" y="2077402"/>
                  <a:ext cx="307086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V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1F2937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⊕</m:t>
                        </m:r>
                        <m:sSub>
                          <m:e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1F2937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f2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3" name="Ellipse 43"/>
            <p:cNvSpPr/>
            <p:nvPr/>
          </p:nvSpPr>
          <p:spPr>
            <a:xfrm>
              <a:off x="8397240" y="265080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553831" y="2590324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每个数用两位符号参加运算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8397240" y="296799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553831" y="2908459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结果两位符号不同就溢出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383524" y="3222307"/>
              <a:ext cx="25677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(2)：和 01 0001，V = 0 ⊕ 1 = 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383524" y="3501390"/>
              <a:ext cx="25677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(4)：和 10 1111，V = 1 ⊕ 0 = 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83524" y="3779520"/>
              <a:ext cx="19874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(3)：和 11 1011，V = 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382381" y="4062889"/>
              <a:ext cx="294500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第一符号位 Sf1 始终是真正的符号，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所以还能分出 01 正溢、10 负溢。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52" name="Rectangle 52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511" y="6011704"/>
              <a:ext cx="902769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三种逻辑判断的是同一件事：真正的结果需要比现有位数多 1 位才放得下。逻辑二在硬件加法器里最常用。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00774" cy="909257"/>
            <a:chOff x="520446" y="342900"/>
            <a:chExt cx="790077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整数加减与溢出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007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双符号位：两位符号相同为正常，01 正溢、10 负溢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3" name="c1-table-1"/>
          <p:cNvGrpSpPr/>
          <p:nvPr/>
        </p:nvGrpSpPr>
        <p:grpSpPr>
          <a:xfrm>
            <a:off x="533400" y="1524000"/>
            <a:ext cx="6708458" cy="3243262"/>
            <a:chOff x="533400" y="1524000"/>
            <a:chExt cx="6708458" cy="32432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708458" cy="4629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5861" y="16559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57071" y="16559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733065" y="165592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被加数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867823" y="16559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02581" y="16559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781065" y="1655921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符号位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84366" y="16559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5848" y="2119789"/>
              <a:ext cx="3456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04354" y="2119789"/>
              <a:ext cx="4445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+ 2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75717" y="2119789"/>
              <a:ext cx="7026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00 0011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14895" y="2119789"/>
              <a:ext cx="7026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00 0010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54072" y="2119789"/>
              <a:ext cx="7026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00 0101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962668" y="2119789"/>
              <a:ext cx="2247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84366" y="211978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正确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446020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33400" y="2450782"/>
              <a:ext cx="6708458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5848" y="2582704"/>
              <a:ext cx="3456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04354" y="2582704"/>
              <a:ext cx="5497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+ 7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75717" y="2582704"/>
              <a:ext cx="7026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00 1010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714895" y="2582704"/>
              <a:ext cx="7026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00 0111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754072" y="2582704"/>
              <a:ext cx="7026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01 0001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962668" y="2582704"/>
              <a:ext cx="2247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84366" y="258270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正溢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2908935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95848" y="3045619"/>
              <a:ext cx="3456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04354" y="3045619"/>
              <a:ext cx="8651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−3 + (−2)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675717" y="3045619"/>
              <a:ext cx="7026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11 1101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714895" y="3045619"/>
              <a:ext cx="7026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11 1110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4595812" y="2923222"/>
              <a:ext cx="1020128" cy="4438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754072" y="3045619"/>
              <a:ext cx="7026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11 1011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962668" y="3045619"/>
              <a:ext cx="2247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84366" y="304561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正确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337280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" y="3377565"/>
              <a:ext cx="6708458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95848" y="3509486"/>
              <a:ext cx="3456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304354" y="350948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−10 + (−7)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675717" y="3509486"/>
              <a:ext cx="7026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11 0110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714895" y="3509486"/>
              <a:ext cx="7026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11 1001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754072" y="3509486"/>
              <a:ext cx="7026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10 1111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962668" y="3509486"/>
              <a:ext cx="2247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84366" y="350948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负溢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383571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95848" y="3972401"/>
              <a:ext cx="3456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(5)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304354" y="3972401"/>
              <a:ext cx="76000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+ (−4)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675717" y="3972401"/>
              <a:ext cx="7026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00 0110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714895" y="3972401"/>
              <a:ext cx="7026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11 1100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754072" y="3972401"/>
              <a:ext cx="7026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00 0010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962668" y="3972401"/>
              <a:ext cx="2247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684366" y="397240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正确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3400" y="429863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533400" y="4303395"/>
              <a:ext cx="6708458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95848" y="4436269"/>
              <a:ext cx="3456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(6)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304354" y="4436269"/>
              <a:ext cx="5497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−6 + 4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2675717" y="4436269"/>
              <a:ext cx="7026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11 1010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3714895" y="4436269"/>
              <a:ext cx="7026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00 0100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754072" y="4436269"/>
              <a:ext cx="7026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11 1110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962668" y="4436269"/>
              <a:ext cx="2247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684366" y="443626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正确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33400" y="1524000"/>
              <a:ext cx="6708458" cy="32432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1198245" y="1524000"/>
              <a:ext cx="9525" cy="32432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2503170" y="1524000"/>
              <a:ext cx="9525" cy="32432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3542348" y="1524000"/>
              <a:ext cx="9525" cy="32432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4581525" y="1524000"/>
              <a:ext cx="9525" cy="32432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5620702" y="1524000"/>
              <a:ext cx="9525" cy="32432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6518910" y="1524000"/>
              <a:ext cx="9525" cy="32432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0" name="c1-callout-2"/>
          <p:cNvGrpSpPr/>
          <p:nvPr/>
        </p:nvGrpSpPr>
        <p:grpSpPr>
          <a:xfrm>
            <a:off x="533400" y="4947285"/>
            <a:ext cx="6708458" cy="756285"/>
            <a:chOff x="533400" y="4947285"/>
            <a:chExt cx="6708458" cy="756285"/>
          </a:xfrm>
        </p:grpSpPr>
        <p:sp>
          <p:nvSpPr>
            <p:cNvPr id="74" name="Rectangle 74"/>
            <p:cNvSpPr/>
            <p:nvPr/>
          </p:nvSpPr>
          <p:spPr>
            <a:xfrm>
              <a:off x="533400" y="4947285"/>
              <a:ext cx="6708458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738188" y="5225415"/>
              <a:ext cx="200026" cy="200026"/>
              <a:chOff x="738188" y="5225415"/>
              <a:chExt cx="200026" cy="200026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738188" y="52254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38200" y="52920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827088" y="532542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1040511" y="5094446"/>
              <a:ext cx="563206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双符号位只在运算时使用：存储器里每个数仍只存 1 位符号，送入运算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器时再把符号位复制一份。</a:t>
              </a:r>
            </a:p>
          </p:txBody>
        </p:sp>
      </p:grpSp>
      <p:grpSp>
        <p:nvGrpSpPr>
          <p:cNvPr id="92" name="c2-kv-1"/>
          <p:cNvGrpSpPr/>
          <p:nvPr/>
        </p:nvGrpSpPr>
        <p:grpSpPr>
          <a:xfrm>
            <a:off x="7539418" y="1547336"/>
            <a:ext cx="4119182" cy="1527430"/>
            <a:chOff x="7539418" y="1547336"/>
            <a:chExt cx="4119182" cy="1527430"/>
          </a:xfrm>
        </p:grpSpPr>
        <p:sp>
          <p:nvSpPr>
            <p:cNvPr id="81" name="TextBox 81"/>
            <p:cNvSpPr txBox="1"/>
            <p:nvPr/>
          </p:nvSpPr>
          <p:spPr>
            <a:xfrm>
              <a:off x="7539418" y="1547336"/>
              <a:ext cx="2352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00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004238" y="154733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结果为正，没有溢出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7546658" y="1850708"/>
              <a:ext cx="41119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7539418" y="1963579"/>
              <a:ext cx="2352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004238" y="1963579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结果为负，没有溢出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7546658" y="2266950"/>
              <a:ext cx="41119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7539418" y="2379821"/>
              <a:ext cx="2352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004238" y="237982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正溢：两正数之和太大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7546658" y="2683192"/>
              <a:ext cx="411194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7539418" y="2796064"/>
              <a:ext cx="2352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8004238" y="2796064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负溢：两负数之和太小</a:t>
              </a:r>
            </a:p>
          </p:txBody>
        </p:sp>
      </p:grpSp>
      <p:grpSp>
        <p:nvGrpSpPr>
          <p:cNvPr id="98" name="c2-card-2"/>
          <p:cNvGrpSpPr/>
          <p:nvPr/>
        </p:nvGrpSpPr>
        <p:grpSpPr>
          <a:xfrm>
            <a:off x="7546658" y="3199448"/>
            <a:ext cx="4111942" cy="1522095"/>
            <a:chOff x="7546658" y="3199448"/>
            <a:chExt cx="4111942" cy="1522095"/>
          </a:xfrm>
        </p:grpSpPr>
        <p:sp>
          <p:nvSpPr>
            <p:cNvPr id="93" name="Rectangle 93"/>
            <p:cNvSpPr/>
            <p:nvPr/>
          </p:nvSpPr>
          <p:spPr>
            <a:xfrm>
              <a:off x="7546658" y="3199448"/>
              <a:ext cx="4111942" cy="1522095"/>
            </a:xfrm>
            <a:prstGeom prst="roundRect">
              <a:avLst>
                <a:gd name="adj" fmla="val 8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4" name="Rectangle 94"/>
            <p:cNvSpPr/>
            <p:nvPr/>
          </p:nvSpPr>
          <p:spPr>
            <a:xfrm>
              <a:off x="7556182" y="3332798"/>
              <a:ext cx="47625" cy="125539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95" name="Rectangle 95"/>
            <p:cNvSpPr/>
            <p:nvPr/>
          </p:nvSpPr>
          <p:spPr>
            <a:xfrm>
              <a:off x="7782878" y="3397568"/>
              <a:ext cx="18097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7834313" y="3431858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为什么第一符号位是真符号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7775638" y="3758089"/>
              <a:ext cx="344093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溢出时尾数已经占用了第二符号位，第一符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号位没有被进位改写，仍等于两个加数原来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的符号。</a:t>
              </a:r>
            </a:p>
          </p:txBody>
        </p:sp>
      </p:grpSp>
      <p:grpSp>
        <p:nvGrpSpPr>
          <p:cNvPr id="104" name="c2-card-3"/>
          <p:cNvGrpSpPr/>
          <p:nvPr/>
        </p:nvGrpSpPr>
        <p:grpSpPr>
          <a:xfrm>
            <a:off x="7546658" y="4901565"/>
            <a:ext cx="4111942" cy="1250632"/>
            <a:chOff x="7546658" y="4901565"/>
            <a:chExt cx="4111942" cy="1250632"/>
          </a:xfrm>
        </p:grpSpPr>
        <p:sp>
          <p:nvSpPr>
            <p:cNvPr id="99" name="Rectangle 99"/>
            <p:cNvSpPr/>
            <p:nvPr/>
          </p:nvSpPr>
          <p:spPr>
            <a:xfrm>
              <a:off x="7546658" y="4901565"/>
              <a:ext cx="4111942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7556182" y="5034915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7782878" y="509968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7874318" y="51339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7775638" y="5460206"/>
              <a:ext cx="339585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原课件例 (3) 的和写作 11 0111；11 1101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+ 11 1110 应为 11 1011（−5）。</a:t>
              </a:r>
            </a:p>
          </p:txBody>
        </p:sp>
      </p:grpSp>
      <p:grpSp>
        <p:nvGrpSpPr>
          <p:cNvPr id="10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5" name="TextBox 105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72428" cy="909257"/>
            <a:chOff x="520446" y="342900"/>
            <a:chExt cx="96724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整数加减与溢出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724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发现溢出后怎么办：C 忽略溢出，Ada、Fortran 要求报告异常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table-1"/>
          <p:cNvGrpSpPr/>
          <p:nvPr/>
        </p:nvGrpSpPr>
        <p:grpSpPr>
          <a:xfrm>
            <a:off x="533400" y="1524000"/>
            <a:ext cx="5842635" cy="1797367"/>
            <a:chOff x="533400" y="1524000"/>
            <a:chExt cx="5842635" cy="179736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39102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22210" y="164877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语言要求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90502" y="1648778"/>
              <a:ext cx="14768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使用的 MIPS 指令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11649" y="164877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溢出时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9412" y="2207895"/>
              <a:ext cx="10937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等忽略溢出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48650" y="2087880"/>
              <a:ext cx="1162431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addu、addiu、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subu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901250" y="2087880"/>
              <a:ext cx="2191131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不检测，照常保留低 32 位结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果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63747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642235"/>
              <a:ext cx="5842635" cy="67913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9412" y="2767012"/>
              <a:ext cx="1175290" cy="5040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Ada、Fortran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要求报告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48650" y="2887027"/>
              <a:ext cx="13313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add、addi、sub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01250" y="2887027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引发异常，转去处理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1524000"/>
              <a:ext cx="5842635" cy="17964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047875" y="1524000"/>
              <a:ext cx="9525" cy="17964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800475" y="1524000"/>
              <a:ext cx="9525" cy="17964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1" name="c1-card-2"/>
          <p:cNvGrpSpPr/>
          <p:nvPr/>
        </p:nvGrpSpPr>
        <p:grpSpPr>
          <a:xfrm>
            <a:off x="533400" y="3490912"/>
            <a:ext cx="5842635" cy="1485900"/>
            <a:chOff x="533400" y="3490912"/>
            <a:chExt cx="5842635" cy="1485900"/>
          </a:xfrm>
        </p:grpSpPr>
        <p:sp>
          <p:nvSpPr>
            <p:cNvPr id="23" name="Rectangle 23"/>
            <p:cNvSpPr/>
            <p:nvPr/>
          </p:nvSpPr>
          <p:spPr>
            <a:xfrm>
              <a:off x="533400" y="3490912"/>
              <a:ext cx="5842635" cy="1485900"/>
            </a:xfrm>
            <a:prstGeom prst="roundRect">
              <a:avLst>
                <a:gd name="adj" fmla="val 89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3624262"/>
              <a:ext cx="47625" cy="121920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58190" y="36776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50862" y="37104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注意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66762" y="407765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22782" y="4021455"/>
              <a:ext cx="50387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addiu 的 u 表示不检测溢出，它的 16 位立即数照样做符号扩展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66762" y="437769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22782" y="4321492"/>
              <a:ext cx="49600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EPC（Exception Program Counter）是专门保存异常指令地址的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寄存器，位于协处理器 0 中</a:t>
              </a:r>
            </a:p>
          </p:txBody>
        </p:sp>
      </p:grpSp>
      <p:grpSp>
        <p:nvGrpSpPr>
          <p:cNvPr id="37" name="c1-card-3"/>
          <p:cNvGrpSpPr/>
          <p:nvPr/>
        </p:nvGrpSpPr>
        <p:grpSpPr>
          <a:xfrm>
            <a:off x="533400" y="5146358"/>
            <a:ext cx="5842635" cy="1185862"/>
            <a:chOff x="533400" y="5146358"/>
            <a:chExt cx="5842635" cy="1185862"/>
          </a:xfrm>
        </p:grpSpPr>
        <p:sp>
          <p:nvSpPr>
            <p:cNvPr id="32" name="Rectangle 32"/>
            <p:cNvSpPr/>
            <p:nvPr/>
          </p:nvSpPr>
          <p:spPr>
            <a:xfrm>
              <a:off x="533400" y="5146358"/>
              <a:ext cx="5842635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42925" y="5279708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58190" y="533304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50862" y="536590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1332" y="5677852"/>
              <a:ext cx="472859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原课件写"addu、addui、subu 指令不发生溢出"。指令名应为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addiu；这三条指令同样可能溢出，只是不检测、不引发异常。</a:t>
              </a:r>
            </a:p>
          </p:txBody>
        </p:sp>
      </p:grpSp>
      <p:grpSp>
        <p:nvGrpSpPr>
          <p:cNvPr id="56" name="c2-flow-1"/>
          <p:cNvGrpSpPr/>
          <p:nvPr/>
        </p:nvGrpSpPr>
        <p:grpSpPr>
          <a:xfrm>
            <a:off x="7029450" y="1815465"/>
            <a:ext cx="4280535" cy="4256722"/>
            <a:chOff x="7029450" y="1815465"/>
            <a:chExt cx="4280535" cy="4256722"/>
          </a:xfrm>
        </p:grpSpPr>
        <p:sp>
          <p:nvSpPr>
            <p:cNvPr id="38" name="Freeform 38"/>
            <p:cNvSpPr/>
            <p:nvPr/>
          </p:nvSpPr>
          <p:spPr>
            <a:xfrm>
              <a:off x="9169718" y="2200275"/>
              <a:ext cx="9525" cy="478155"/>
            </a:xfrm>
            <a:custGeom>
              <a:avLst/>
              <a:gdLst/>
              <a:ahLst/>
              <a:cxnLst/>
              <a:rect l="l" t="t" r="r" b="b"/>
              <a:pathLst>
                <a:path w="9525" h="478155">
                  <a:moveTo>
                    <a:pt x="0" y="0"/>
                  </a:moveTo>
                  <a:lnTo>
                    <a:pt x="0" y="4781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9117330" y="26784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9169718" y="3168015"/>
              <a:ext cx="9525" cy="478155"/>
            </a:xfrm>
            <a:custGeom>
              <a:avLst/>
              <a:gdLst/>
              <a:ahLst/>
              <a:cxnLst/>
              <a:rect l="l" t="t" r="r" b="b"/>
              <a:pathLst>
                <a:path w="9525" h="478155">
                  <a:moveTo>
                    <a:pt x="0" y="0"/>
                  </a:moveTo>
                  <a:lnTo>
                    <a:pt x="0" y="4781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9117330" y="36461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9169718" y="4135755"/>
              <a:ext cx="9525" cy="478155"/>
            </a:xfrm>
            <a:custGeom>
              <a:avLst/>
              <a:gdLst/>
              <a:ahLst/>
              <a:cxnLst/>
              <a:rect l="l" t="t" r="r" b="b"/>
              <a:pathLst>
                <a:path w="9525" h="478155">
                  <a:moveTo>
                    <a:pt x="0" y="0"/>
                  </a:moveTo>
                  <a:lnTo>
                    <a:pt x="0" y="4781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9117330" y="461391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9169718" y="5103495"/>
              <a:ext cx="9525" cy="478155"/>
            </a:xfrm>
            <a:custGeom>
              <a:avLst/>
              <a:gdLst/>
              <a:ahLst/>
              <a:cxnLst/>
              <a:rect l="l" t="t" r="r" b="b"/>
              <a:pathLst>
                <a:path w="9525" h="478155">
                  <a:moveTo>
                    <a:pt x="0" y="0"/>
                  </a:moveTo>
                  <a:lnTo>
                    <a:pt x="0" y="4781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9117330" y="55816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029450" y="1815465"/>
              <a:ext cx="4280535" cy="385762"/>
            </a:xfrm>
            <a:prstGeom prst="roundRect">
              <a:avLst>
                <a:gd name="adj" fmla="val 4987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029450" y="2783205"/>
              <a:ext cx="4280535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029450" y="3750945"/>
              <a:ext cx="4280535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7029450" y="4718685"/>
              <a:ext cx="4280535" cy="385762"/>
            </a:xfrm>
            <a:prstGeom prst="roundRect">
              <a:avLst>
                <a:gd name="adj" fmla="val 24691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7029450" y="5686425"/>
              <a:ext cx="4280535" cy="385762"/>
            </a:xfrm>
            <a:prstGeom prst="roundRect">
              <a:avLst>
                <a:gd name="adj" fmla="val 4987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022452" y="1929289"/>
              <a:ext cx="22945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执行 add、addi、sub 时发生溢出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841739" y="2897029"/>
              <a:ext cx="26559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把当前 PC（出错指令的地址）存入 EPC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108582" y="3864769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跳转到预先指定的异常处理程序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401649" y="4832509"/>
              <a:ext cx="3536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处理程序用 mfc0 指令取出 EPC 的值，做必要的纠正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448109" y="5800249"/>
              <a:ext cx="14432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根据 EPC 返回原程序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整数加减与溢出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饱和运算：溢出时结果停在能表示的最大值或最小值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table-1"/>
          <p:cNvGrpSpPr/>
          <p:nvPr/>
        </p:nvGrpSpPr>
        <p:grpSpPr>
          <a:xfrm>
            <a:off x="528066" y="1524000"/>
            <a:ext cx="6065139" cy="2639949"/>
            <a:chOff x="528066" y="1524000"/>
            <a:chExt cx="6065139" cy="263994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71628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26618" y="1782604"/>
              <a:ext cx="7585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 位运算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73096" y="1655921"/>
              <a:ext cx="55549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95"/>
                </a:lnSpc>
              </a:pPr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真实结</a:t>
              </a:r>
              <a:br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果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697986" y="1655921"/>
              <a:ext cx="109651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95"/>
                </a:lnSpc>
              </a:pPr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普通加法（回</a:t>
              </a:r>
              <a:br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绕）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441645" y="178260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饱和加法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4746" y="2373154"/>
              <a:ext cx="15413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无符号 200 + 100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785899" y="2373154"/>
              <a:ext cx="3298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133868" y="2373154"/>
              <a:ext cx="2247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078730" y="2249805"/>
              <a:ext cx="1504950" cy="4438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188358" y="2373154"/>
              <a:ext cx="128569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255（最大值）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69938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2704148"/>
              <a:ext cx="6059805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4746" y="2836069"/>
              <a:ext cx="14309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有符号 100 + 50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785899" y="2836069"/>
              <a:ext cx="3298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028730" y="2836069"/>
              <a:ext cx="4350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−106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078730" y="2713672"/>
              <a:ext cx="1504950" cy="4438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188358" y="2836069"/>
              <a:ext cx="128569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127（最大值）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16230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4746" y="3298984"/>
              <a:ext cx="1454944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有符号 −100 + (−</a:t>
              </a:r>
              <a:br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733330" y="3425666"/>
              <a:ext cx="4350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−150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081299" y="3425666"/>
              <a:ext cx="3298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106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078730" y="3176588"/>
              <a:ext cx="1504950" cy="69723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355082" y="3298984"/>
              <a:ext cx="952246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−128（最小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值）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1524000"/>
              <a:ext cx="6059805" cy="2360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473642" y="1524000"/>
              <a:ext cx="9525" cy="2360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3419475" y="1524000"/>
              <a:ext cx="9525" cy="2360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064442" y="1524000"/>
              <a:ext cx="9525" cy="2360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8066" y="3958590"/>
              <a:ext cx="48802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回绕即只保留低 8 位：300 − 256 = 44；150 − 256 = −106；−150 + 256 = 106</a:t>
              </a:r>
            </a:p>
          </p:txBody>
        </p:sp>
      </p:grpSp>
      <p:grpSp>
        <p:nvGrpSpPr>
          <p:cNvPr id="43" name="c1-card-2"/>
          <p:cNvGrpSpPr/>
          <p:nvPr/>
        </p:nvGrpSpPr>
        <p:grpSpPr>
          <a:xfrm>
            <a:off x="533400" y="4302442"/>
            <a:ext cx="6059805" cy="1547812"/>
            <a:chOff x="533400" y="4302442"/>
            <a:chExt cx="6059805" cy="1547812"/>
          </a:xfrm>
        </p:grpSpPr>
        <p:sp>
          <p:nvSpPr>
            <p:cNvPr id="36" name="Rectangle 36"/>
            <p:cNvSpPr/>
            <p:nvPr/>
          </p:nvSpPr>
          <p:spPr>
            <a:xfrm>
              <a:off x="533400" y="4302442"/>
              <a:ext cx="6059805" cy="1547812"/>
            </a:xfrm>
            <a:prstGeom prst="roundRect">
              <a:avLst>
                <a:gd name="adj" fmla="val 8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42925" y="4435792"/>
              <a:ext cx="47625" cy="128111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69620" y="450056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61060" y="45348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352931" y="453628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饱和操作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381" y="4879181"/>
              <a:ext cx="524433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运算结果超出范围时，不丢掉高位，而是取能表示的最大值（向下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溢出时取最小值）。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3524" y="5464492"/>
              <a:ext cx="44788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多媒体处理常用：音频的削波（clipping）、视频亮度的饱和。</a:t>
              </a:r>
            </a:p>
          </p:txBody>
        </p:sp>
      </p:grpSp>
      <p:grpSp>
        <p:nvGrpSpPr>
          <p:cNvPr id="54" name="c2-card-1"/>
          <p:cNvGrpSpPr/>
          <p:nvPr/>
        </p:nvGrpSpPr>
        <p:grpSpPr>
          <a:xfrm>
            <a:off x="6898005" y="1524000"/>
            <a:ext cx="4760595" cy="2475548"/>
            <a:chOff x="6898005" y="1524000"/>
            <a:chExt cx="4760595" cy="2475548"/>
          </a:xfrm>
        </p:grpSpPr>
        <p:sp>
          <p:nvSpPr>
            <p:cNvPr id="44" name="Rectangle 44"/>
            <p:cNvSpPr/>
            <p:nvPr/>
          </p:nvSpPr>
          <p:spPr>
            <a:xfrm>
              <a:off x="6898005" y="1524000"/>
              <a:ext cx="4760595" cy="2475548"/>
            </a:xfrm>
            <a:prstGeom prst="roundRect">
              <a:avLst>
                <a:gd name="adj" fmla="val 53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907530" y="1657350"/>
              <a:ext cx="47625" cy="220884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134225" y="1722120"/>
              <a:ext cx="14097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197662" y="175641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为什么多媒体要饱和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26986" y="2082641"/>
              <a:ext cx="38854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把一段声音的音量调大，采样值超过 127 时：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141845" y="246030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298436" y="2400776"/>
              <a:ext cx="39819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回绕：最响的点突然变成很大的负数，波形出现剧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烈跳变，听起来是刺耳的爆音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141845" y="304990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298436" y="2989421"/>
              <a:ext cx="34458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饱和：波峰被削平在 127，只是略有失真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126986" y="3307556"/>
              <a:ext cx="415328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图像亮度同理：变亮后像素值停在 255（纯白），不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会变成接近 0 的黑点。</a:t>
              </a:r>
            </a:p>
          </p:txBody>
        </p:sp>
      </p:grpSp>
      <p:grpSp>
        <p:nvGrpSpPr>
          <p:cNvPr id="61" name="c2-callout-2"/>
          <p:cNvGrpSpPr/>
          <p:nvPr/>
        </p:nvGrpSpPr>
        <p:grpSpPr>
          <a:xfrm>
            <a:off x="6898005" y="4179570"/>
            <a:ext cx="4760595" cy="1018222"/>
            <a:chOff x="6898005" y="4179570"/>
            <a:chExt cx="4760595" cy="1018222"/>
          </a:xfrm>
        </p:grpSpPr>
        <p:sp>
          <p:nvSpPr>
            <p:cNvPr id="55" name="Rectangle 55"/>
            <p:cNvSpPr/>
            <p:nvPr/>
          </p:nvSpPr>
          <p:spPr>
            <a:xfrm>
              <a:off x="6898005" y="4179570"/>
              <a:ext cx="4760595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102793" y="4589145"/>
              <a:ext cx="200026" cy="200026"/>
              <a:chOff x="7102793" y="4589145"/>
              <a:chExt cx="200026" cy="200026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102793" y="45891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202805" y="46558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191693" y="468915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7405116" y="4327684"/>
              <a:ext cx="3846703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MIPS 的核心指令没有饱和运算；x86 的 MMX、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SSE2 扩展提供 PADDSB、PADDUSB 等饱和加法指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168817" cy="2997517"/>
            <a:chOff x="667512" y="1835468"/>
            <a:chExt cx="5168817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移位与舍入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589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移位实现乘除 2 的幂；舍入决定丢掉的低位怎样处理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逻辑移位与算术移位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正数与负数补码的移位规则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042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舍 1 入与末位恒置 1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移位与舍入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逻辑移位把数码当作无符号代码，算术移位必须保持符号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602105"/>
            <a:chOff x="533400" y="1524000"/>
            <a:chExt cx="5410200" cy="16021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逻辑移位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数码位置变化，不考虑符号：包括最高位在内所有位一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起移动，空出的位补 0。循环移位把移出的位补到另一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端。</a:t>
              </a:r>
            </a:p>
          </p:txBody>
        </p:sp>
      </p:grpSp>
      <p:grpSp>
        <p:nvGrpSpPr>
          <p:cNvPr id="47" name="c1-cells-2"/>
          <p:cNvGrpSpPr/>
          <p:nvPr/>
        </p:nvGrpSpPr>
        <p:grpSpPr>
          <a:xfrm>
            <a:off x="526923" y="3316605"/>
            <a:ext cx="4295585" cy="1009650"/>
            <a:chOff x="526923" y="3316605"/>
            <a:chExt cx="4295585" cy="1009650"/>
          </a:xfrm>
        </p:grpSpPr>
        <p:sp>
          <p:nvSpPr>
            <p:cNvPr id="13" name="TextBox 13"/>
            <p:cNvSpPr txBox="1"/>
            <p:nvPr/>
          </p:nvSpPr>
          <p:spPr>
            <a:xfrm>
              <a:off x="526923" y="344662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原数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317308" y="3316605"/>
              <a:ext cx="438150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480150" y="34466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755458" y="3316605"/>
              <a:ext cx="4381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918300" y="34466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193608" y="3316605"/>
              <a:ext cx="4381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356450" y="34466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631758" y="3316605"/>
              <a:ext cx="4381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794600" y="34466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069908" y="3316605"/>
              <a:ext cx="4381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232750" y="34466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508058" y="3316605"/>
              <a:ext cx="4381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670900" y="34466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946208" y="3316605"/>
              <a:ext cx="4381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109050" y="34466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384358" y="3316605"/>
              <a:ext cx="4381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547200" y="34466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6923" y="403717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循环左移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317308" y="3907155"/>
              <a:ext cx="4381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480150" y="403717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755458" y="3907155"/>
              <a:ext cx="4381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918300" y="403717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193608" y="3907155"/>
              <a:ext cx="4381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356450" y="403717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2631758" y="3907155"/>
              <a:ext cx="4381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794600" y="403717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069908" y="3907155"/>
              <a:ext cx="4381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232750" y="403717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508058" y="3907155"/>
              <a:ext cx="4381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670900" y="403717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946208" y="3907155"/>
              <a:ext cx="4381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109050" y="403717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4384358" y="3907155"/>
              <a:ext cx="438150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547200" y="403717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54" name="c1-callout-3"/>
          <p:cNvGrpSpPr/>
          <p:nvPr/>
        </p:nvGrpSpPr>
        <p:grpSpPr>
          <a:xfrm>
            <a:off x="533400" y="4516755"/>
            <a:ext cx="5410200" cy="1059180"/>
            <a:chOff x="533400" y="4516755"/>
            <a:chExt cx="5410200" cy="1059180"/>
          </a:xfrm>
        </p:grpSpPr>
        <p:sp>
          <p:nvSpPr>
            <p:cNvPr id="48" name="Rectangle 48"/>
            <p:cNvSpPr/>
            <p:nvPr/>
          </p:nvSpPr>
          <p:spPr>
            <a:xfrm>
              <a:off x="533400" y="4516755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4946333"/>
              <a:ext cx="200026" cy="200026"/>
              <a:chOff x="738188" y="4946333"/>
              <a:chExt cx="200026" cy="200026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494633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38200" y="50130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27088" y="504634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130" y="4665345"/>
              <a:ext cx="44157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更正说明：原课件称逻辑移位"数值不变"，指不把数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码当作有符号数来解释。若按无符号数理解，逻辑左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 1 位就是乘 2（不溢出时）。</a:t>
              </a:r>
            </a:p>
          </p:txBody>
        </p:sp>
      </p:grpSp>
      <p:grpSp>
        <p:nvGrpSpPr>
          <p:cNvPr id="60" name="c2-card-1"/>
          <p:cNvGrpSpPr/>
          <p:nvPr/>
        </p:nvGrpSpPr>
        <p:grpSpPr>
          <a:xfrm>
            <a:off x="6248400" y="1524000"/>
            <a:ext cx="5410200" cy="1316355"/>
            <a:chOff x="6248400" y="1524000"/>
            <a:chExt cx="5410200" cy="1316355"/>
          </a:xfrm>
        </p:grpSpPr>
        <p:sp>
          <p:nvSpPr>
            <p:cNvPr id="55" name="Rectangle 55"/>
            <p:cNvSpPr/>
            <p:nvPr/>
          </p:nvSpPr>
          <p:spPr>
            <a:xfrm>
              <a:off x="6248400" y="1524000"/>
              <a:ext cx="541020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257925" y="16573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496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578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算术移位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488430" y="2110740"/>
              <a:ext cx="4615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数码位置变化，数值变化，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符号位不变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：左移 1 位相当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于乘 2，右移 1 位相当于除以 2。</a:t>
              </a:r>
            </a:p>
          </p:txBody>
        </p:sp>
      </p:grpSp>
      <p:grpSp>
        <p:nvGrpSpPr>
          <p:cNvPr id="91" name="c2-cells-2"/>
          <p:cNvGrpSpPr/>
          <p:nvPr/>
        </p:nvGrpSpPr>
        <p:grpSpPr>
          <a:xfrm>
            <a:off x="6241923" y="3030855"/>
            <a:ext cx="3755517" cy="1009650"/>
            <a:chOff x="6241923" y="3030855"/>
            <a:chExt cx="3755517" cy="1009650"/>
          </a:xfrm>
        </p:grpSpPr>
        <p:sp>
          <p:nvSpPr>
            <p:cNvPr id="61" name="TextBox 61"/>
            <p:cNvSpPr txBox="1"/>
            <p:nvPr/>
          </p:nvSpPr>
          <p:spPr>
            <a:xfrm>
              <a:off x="6241923" y="3160871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−15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663690" y="3030855"/>
              <a:ext cx="47625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845582" y="316087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139940" y="3030855"/>
              <a:ext cx="4762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321832" y="316087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7616190" y="3030855"/>
              <a:ext cx="4762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798082" y="316087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8092440" y="3030855"/>
              <a:ext cx="4762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274332" y="316087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8568690" y="3030855"/>
              <a:ext cx="4762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750582" y="316087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9044940" y="3030855"/>
              <a:ext cx="4762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226832" y="316087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9521190" y="3030855"/>
              <a:ext cx="4762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9703082" y="316087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241923" y="3751421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−30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6663690" y="3621405"/>
              <a:ext cx="47625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845582" y="37514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7139940" y="3621405"/>
              <a:ext cx="4762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321832" y="37514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7616190" y="3621405"/>
              <a:ext cx="4762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798082" y="37514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8092440" y="3621405"/>
              <a:ext cx="4762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8274332" y="37514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8568690" y="3621405"/>
              <a:ext cx="4762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8750582" y="37514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9044940" y="3621405"/>
              <a:ext cx="4762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9226832" y="37514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9521190" y="3621405"/>
              <a:ext cx="4762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9703082" y="37514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</p:grpSp>
      <p:grpSp>
        <p:nvGrpSpPr>
          <p:cNvPr id="93" name="c2-text-3"/>
          <p:cNvGrpSpPr/>
          <p:nvPr/>
        </p:nvGrpSpPr>
        <p:grpSpPr>
          <a:xfrm>
            <a:off x="6241923" y="4252436"/>
            <a:ext cx="4702810" cy="500824"/>
            <a:chOff x="6241923" y="4252436"/>
            <a:chExt cx="4702810" cy="500824"/>
          </a:xfrm>
        </p:grpSpPr>
        <p:sp>
          <p:nvSpPr>
            <p:cNvPr id="92" name="TextBox 92"/>
            <p:cNvSpPr txBox="1"/>
            <p:nvPr/>
          </p:nvSpPr>
          <p:spPr>
            <a:xfrm>
              <a:off x="6241923" y="4252436"/>
              <a:ext cx="4702810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上例是原码：符号位 1 保持不动，数值位 001111（15）左移变为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011110（30）。</a:t>
              </a:r>
            </a:p>
          </p:txBody>
        </p:sp>
      </p:grpSp>
      <p:grpSp>
        <p:nvGrpSpPr>
          <p:cNvPr id="99" name="c2-kv-4"/>
          <p:cNvGrpSpPr/>
          <p:nvPr/>
        </p:nvGrpSpPr>
        <p:grpSpPr>
          <a:xfrm>
            <a:off x="6240780" y="4917758"/>
            <a:ext cx="5417820" cy="733424"/>
            <a:chOff x="6240780" y="4917758"/>
            <a:chExt cx="5417820" cy="733424"/>
          </a:xfrm>
        </p:grpSpPr>
        <p:sp>
          <p:nvSpPr>
            <p:cNvPr id="94" name="TextBox 94"/>
            <p:cNvSpPr txBox="1"/>
            <p:nvPr/>
          </p:nvSpPr>
          <p:spPr>
            <a:xfrm>
              <a:off x="6240780" y="4917758"/>
              <a:ext cx="7578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sll、srl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7218045" y="4917758"/>
              <a:ext cx="33347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MIPS 逻辑左移、逻辑右移，空位补 0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6248400" y="523779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6240780" y="5357812"/>
              <a:ext cx="365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sra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7218045" y="5357812"/>
              <a:ext cx="29611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MIPS 算术右移，高位补入符号位</a:t>
              </a:r>
            </a:p>
          </p:txBody>
        </p:sp>
      </p:grpSp>
      <p:grpSp>
        <p:nvGrpSpPr>
          <p:cNvPr id="10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0" name="TextBox 100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481501" cy="909257"/>
            <a:chOff x="520446" y="342900"/>
            <a:chExt cx="548150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移位与舍入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48150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正数补码移位：符号不变，空位补 0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5626418" cy="2000250"/>
            <a:chOff x="533400" y="1524000"/>
            <a:chExt cx="5626418" cy="20002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4367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69299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单符号位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6604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真值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0555" y="20454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40917" y="2045494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0 0111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933892" y="20454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+7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1933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24100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0555" y="24455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左移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740917" y="2445544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0 1110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892429" y="24455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+14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1938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0555" y="28455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740917" y="2845594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0 0111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933892" y="28455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+7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11943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124200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0555" y="32456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右移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740917" y="3245644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0 0011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85338" y="3245644"/>
              <a:ext cx="10743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+3（丢掉 0.5）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5626418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063115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881438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2" name="c1-table-2"/>
          <p:cNvGrpSpPr/>
          <p:nvPr/>
        </p:nvGrpSpPr>
        <p:grpSpPr>
          <a:xfrm>
            <a:off x="533400" y="3693795"/>
            <a:ext cx="5626418" cy="2400300"/>
            <a:chOff x="533400" y="3693795"/>
            <a:chExt cx="5626418" cy="2400300"/>
          </a:xfrm>
        </p:grpSpPr>
        <p:sp>
          <p:nvSpPr>
            <p:cNvPr id="32" name="Rectangle 32"/>
            <p:cNvSpPr/>
            <p:nvPr/>
          </p:nvSpPr>
          <p:spPr>
            <a:xfrm>
              <a:off x="533400" y="3693795"/>
              <a:ext cx="5626418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76046" y="381523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467369" y="381523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双符号位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731741" y="381523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真值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0555" y="421528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497524" y="4215289"/>
              <a:ext cx="5542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00 0111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799589" y="421528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+7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448913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33400" y="4493895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0555" y="461533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左移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497524" y="4615339"/>
              <a:ext cx="5542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00 1110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758126" y="4615339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+14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488918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0555" y="501538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左移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942148" y="4903470"/>
              <a:ext cx="1664970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2497524" y="5015389"/>
              <a:ext cx="5542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01 1100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132412" y="5015389"/>
              <a:ext cx="15116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正溢（+28 超出范围）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528923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33400" y="5293995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0555" y="541543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右移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942148" y="5303520"/>
              <a:ext cx="1664970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2497524" y="5415439"/>
              <a:ext cx="5542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00 1110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758126" y="5415439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+14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568928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30555" y="581548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右移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497524" y="5815489"/>
              <a:ext cx="5542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00 0111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799589" y="581548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+7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33400" y="3693795"/>
              <a:ext cx="5626418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1927860" y="3693795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3611880" y="3693795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5" name="c2-card-1"/>
          <p:cNvGrpSpPr/>
          <p:nvPr/>
        </p:nvGrpSpPr>
        <p:grpSpPr>
          <a:xfrm>
            <a:off x="6464618" y="1524000"/>
            <a:ext cx="5193982" cy="1785938"/>
            <a:chOff x="6464618" y="1524000"/>
            <a:chExt cx="5193982" cy="1785938"/>
          </a:xfrm>
        </p:grpSpPr>
        <p:sp>
          <p:nvSpPr>
            <p:cNvPr id="63" name="Rectangle 63"/>
            <p:cNvSpPr/>
            <p:nvPr/>
          </p:nvSpPr>
          <p:spPr>
            <a:xfrm>
              <a:off x="6464618" y="1524000"/>
              <a:ext cx="5193982" cy="1785938"/>
            </a:xfrm>
            <a:prstGeom prst="roundRect">
              <a:avLst>
                <a:gd name="adj" fmla="val 746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651308" y="1710690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721577" y="1743551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移位规则（正数）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6651308" y="204311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706986" y="208149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932104" y="2054542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数符不变：单符号位时符号位不变；双符号位时第一符号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位不变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6651308" y="2600325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706986" y="263871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932104" y="2612708"/>
              <a:ext cx="21672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左移、右移空出的位都补 0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6651308" y="290036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706986" y="293874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932104" y="2912745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双符号位右移时，第二符号位移到尾数最高位</a:t>
              </a:r>
            </a:p>
          </p:txBody>
        </p:sp>
      </p:grpSp>
      <p:grpSp>
        <p:nvGrpSpPr>
          <p:cNvPr id="83" name="c2-card-2"/>
          <p:cNvGrpSpPr/>
          <p:nvPr/>
        </p:nvGrpSpPr>
        <p:grpSpPr>
          <a:xfrm>
            <a:off x="6464618" y="3480435"/>
            <a:ext cx="5193982" cy="2614612"/>
            <a:chOff x="6464618" y="3480435"/>
            <a:chExt cx="5193982" cy="2614612"/>
          </a:xfrm>
        </p:grpSpPr>
        <p:sp>
          <p:nvSpPr>
            <p:cNvPr id="76" name="Rectangle 76"/>
            <p:cNvSpPr/>
            <p:nvPr/>
          </p:nvSpPr>
          <p:spPr>
            <a:xfrm>
              <a:off x="6464618" y="3480435"/>
              <a:ext cx="5193982" cy="2614612"/>
            </a:xfrm>
            <a:prstGeom prst="roundRect">
              <a:avLst>
                <a:gd name="adj" fmla="val 51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6474142" y="3613785"/>
              <a:ext cx="47625" cy="23479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6689408" y="3667125"/>
              <a:ext cx="125634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758349" y="3699986"/>
              <a:ext cx="11194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读懂 01 1100 右移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682549" y="4010977"/>
              <a:ext cx="447998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 1100 是左移造成的正溢，第二符号位 1 其实是尾数的最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高位。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682549" y="4568190"/>
              <a:ext cx="452285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右移时第一符号位 0 保持，第二符号位 1 移入尾数最高位，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 00 1110 = +14，溢出被纠正回来。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683692" y="5122069"/>
              <a:ext cx="4233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所以双符号位可以暂时容纳左移一位的溢出，单符号位做不到。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4" name="TextBox 84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444599" cy="909257"/>
            <a:chOff x="520446" y="342900"/>
            <a:chExt cx="54445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移位与舍入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4445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负数补码移位：左移补 0，右移补 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5626418" cy="2316480"/>
            <a:chOff x="533400" y="1524000"/>
            <a:chExt cx="5626418" cy="23164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4629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78891" y="16559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55533" y="165592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单符号位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16488" y="16559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真值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4746" y="211978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346334" y="2119789"/>
              <a:ext cx="5975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1 1011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02510" y="2119789"/>
              <a:ext cx="2247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−5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4602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50782"/>
              <a:ext cx="5626418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4746" y="258270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左移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346334" y="2582704"/>
              <a:ext cx="5975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1 0110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49941" y="2582704"/>
              <a:ext cx="3298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−10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90893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4746" y="304561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右移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346334" y="3045619"/>
              <a:ext cx="5975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1 1011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02510" y="3045619"/>
              <a:ext cx="2247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−5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37280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377565"/>
              <a:ext cx="5626418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4746" y="350948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右移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346334" y="3509486"/>
              <a:ext cx="5975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1 1101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890079" y="3509486"/>
              <a:ext cx="18496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−3（−2.5 向下取整）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5626418" cy="23164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816418" y="1524000"/>
              <a:ext cx="9525" cy="2316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464242" y="1524000"/>
              <a:ext cx="9525" cy="2316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8" name="c1-table-2"/>
          <p:cNvGrpSpPr/>
          <p:nvPr/>
        </p:nvGrpSpPr>
        <p:grpSpPr>
          <a:xfrm>
            <a:off x="533400" y="4020502"/>
            <a:ext cx="5626418" cy="2316481"/>
            <a:chOff x="533400" y="4020502"/>
            <a:chExt cx="5626418" cy="2316481"/>
          </a:xfrm>
        </p:grpSpPr>
        <p:sp>
          <p:nvSpPr>
            <p:cNvPr id="32" name="Rectangle 32"/>
            <p:cNvSpPr/>
            <p:nvPr/>
          </p:nvSpPr>
          <p:spPr>
            <a:xfrm>
              <a:off x="533400" y="4020502"/>
              <a:ext cx="5626418" cy="4629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70318" y="415242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231720" y="415242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双符号位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600296" y="415242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真值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4746" y="461629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269952" y="4616291"/>
              <a:ext cx="7026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11 0110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33749" y="4616291"/>
              <a:ext cx="3298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−10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494252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33400" y="4947285"/>
              <a:ext cx="5626418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4746" y="507920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左移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814512" y="4956810"/>
              <a:ext cx="1613535" cy="44386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269952" y="5079206"/>
              <a:ext cx="7026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10 1100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840433" y="5079206"/>
              <a:ext cx="19165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负溢（−20 超出范围）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540543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4746" y="554307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右移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814512" y="5419725"/>
              <a:ext cx="1613535" cy="4438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2269952" y="5543074"/>
              <a:ext cx="7026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11 0110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633749" y="5543074"/>
              <a:ext cx="3298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−10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586930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3400" y="5874068"/>
              <a:ext cx="5626418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4746" y="600598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右移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269952" y="6005989"/>
              <a:ext cx="7026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11 1011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686318" y="6005989"/>
              <a:ext cx="2247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−5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4020502"/>
              <a:ext cx="5626418" cy="23164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1800225" y="4020502"/>
              <a:ext cx="9525" cy="2316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3432810" y="4020502"/>
              <a:ext cx="9525" cy="2316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1" name="c2-card-1"/>
          <p:cNvGrpSpPr/>
          <p:nvPr/>
        </p:nvGrpSpPr>
        <p:grpSpPr>
          <a:xfrm>
            <a:off x="6464618" y="1524000"/>
            <a:ext cx="5193982" cy="1886902"/>
            <a:chOff x="6464618" y="1524000"/>
            <a:chExt cx="5193982" cy="1886902"/>
          </a:xfrm>
        </p:grpSpPr>
        <p:sp>
          <p:nvSpPr>
            <p:cNvPr id="59" name="Rectangle 59"/>
            <p:cNvSpPr/>
            <p:nvPr/>
          </p:nvSpPr>
          <p:spPr>
            <a:xfrm>
              <a:off x="6464618" y="1524000"/>
              <a:ext cx="5193982" cy="1886902"/>
            </a:xfrm>
            <a:prstGeom prst="roundRect">
              <a:avLst>
                <a:gd name="adj" fmla="val 706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662738" y="1722120"/>
              <a:ext cx="15430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722174" y="175641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移位规则（负数补码）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663690" y="2070735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722035" y="211012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953631" y="2082641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数符不变（双符号位时第一符号位不变）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6663690" y="2387918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722035" y="242825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953631" y="2400776"/>
              <a:ext cx="11327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左移空位补 0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6663690" y="2706052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722035" y="274639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953631" y="2717959"/>
              <a:ext cx="431558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右移空位补 1，即补入符号位；双符号位时第二符号位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移到尾数最高位</a:t>
              </a:r>
            </a:p>
          </p:txBody>
        </p:sp>
      </p:grpSp>
      <p:grpSp>
        <p:nvGrpSpPr>
          <p:cNvPr id="92" name="c2-table-2"/>
          <p:cNvGrpSpPr/>
          <p:nvPr/>
        </p:nvGrpSpPr>
        <p:grpSpPr>
          <a:xfrm>
            <a:off x="6464618" y="3590925"/>
            <a:ext cx="5193982" cy="1697355"/>
            <a:chOff x="6464618" y="3590925"/>
            <a:chExt cx="5193982" cy="1697355"/>
          </a:xfrm>
        </p:grpSpPr>
        <p:sp>
          <p:nvSpPr>
            <p:cNvPr id="72" name="Rectangle 72"/>
            <p:cNvSpPr/>
            <p:nvPr/>
          </p:nvSpPr>
          <p:spPr>
            <a:xfrm>
              <a:off x="6464618" y="3590925"/>
              <a:ext cx="5193982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467600" y="371951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码制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270873" y="371951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左移补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696765" y="371951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右移补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567106" y="414337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正数（原码、补码）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468764" y="414337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894657" y="414337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6464618" y="443484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6464618" y="4439602"/>
              <a:ext cx="519398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567106" y="456819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负数原码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468764" y="456819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0894657" y="456819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6464618" y="485965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567106" y="499205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负数补码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468764" y="49920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10241280" y="4873942"/>
              <a:ext cx="1407795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10894657" y="49920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6464618" y="3590925"/>
              <a:ext cx="5193982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0" name="Rectangle 90"/>
            <p:cNvSpPr/>
            <p:nvPr/>
          </p:nvSpPr>
          <p:spPr>
            <a:xfrm>
              <a:off x="8801100" y="3590925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10226992" y="3590925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9" name="c2-callout-3"/>
          <p:cNvGrpSpPr/>
          <p:nvPr/>
        </p:nvGrpSpPr>
        <p:grpSpPr>
          <a:xfrm>
            <a:off x="6464618" y="5468302"/>
            <a:ext cx="5193982" cy="756285"/>
            <a:chOff x="6464618" y="5468302"/>
            <a:chExt cx="5193982" cy="756285"/>
          </a:xfrm>
        </p:grpSpPr>
        <p:sp>
          <p:nvSpPr>
            <p:cNvPr id="93" name="Rectangle 93"/>
            <p:cNvSpPr/>
            <p:nvPr/>
          </p:nvSpPr>
          <p:spPr>
            <a:xfrm>
              <a:off x="6464618" y="5468302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97" name="Group 97"/>
            <p:cNvGrpSpPr/>
            <p:nvPr/>
          </p:nvGrpSpPr>
          <p:grpSpPr>
            <a:xfrm>
              <a:off x="6657347" y="5742741"/>
              <a:ext cx="224134" cy="192560"/>
              <a:chOff x="6657347" y="5742741"/>
              <a:chExt cx="224134" cy="192560"/>
            </a:xfrm>
          </p:grpSpPr>
          <p:sp>
            <p:nvSpPr>
              <p:cNvPr id="94" name="Freeform 94"/>
              <p:cNvSpPr/>
              <p:nvPr/>
            </p:nvSpPr>
            <p:spPr>
              <a:xfrm>
                <a:off x="6769418" y="581310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6657347" y="574274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6" name="Freeform 96"/>
              <p:cNvSpPr/>
              <p:nvPr/>
            </p:nvSpPr>
            <p:spPr>
              <a:xfrm>
                <a:off x="6769418" y="589089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98" name="TextBox 98"/>
            <p:cNvSpPr txBox="1"/>
            <p:nvPr/>
          </p:nvSpPr>
          <p:spPr>
            <a:xfrm>
              <a:off x="6971729" y="5616416"/>
              <a:ext cx="4234434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易错：负数补码右移后是向下取整，−5 右移 1 位得 −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3 而不是 −2，本章末"右移与除法"还会用到。</a:t>
              </a:r>
            </a:p>
          </p:txBody>
        </p:sp>
      </p:grpSp>
      <p:grpSp>
        <p:nvGrpSpPr>
          <p:cNvPr id="10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0" name="TextBox 100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77271" cy="909257"/>
            <a:chOff x="520446" y="342900"/>
            <a:chExt cx="73772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移位与舍入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772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舍入：保留 4 位尾数时，丢掉的第 5 位怎样处理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card-1"/>
          <p:cNvGrpSpPr/>
          <p:nvPr/>
        </p:nvGrpSpPr>
        <p:grpSpPr>
          <a:xfrm>
            <a:off x="533400" y="1524000"/>
            <a:ext cx="5410200" cy="3226118"/>
            <a:chOff x="533400" y="1524000"/>
            <a:chExt cx="5410200" cy="32261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226118"/>
            </a:xfrm>
            <a:prstGeom prst="roundRect">
              <a:avLst>
                <a:gd name="adj" fmla="val 41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95941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3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方法一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24000" y="1768792"/>
              <a:ext cx="28624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舍 1 入（原码、补码都适用）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6443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被丢掉的最高位是 0 就直接舍去，是 1 就在保留部分的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末位加 1。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81050" y="2726055"/>
              <a:ext cx="49530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64247" y="28617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49169" y="28617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真值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787419" y="28617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78997" y="28617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真值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97592" y="3310414"/>
              <a:ext cx="8908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00100 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37166" y="3310414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+0.125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84951" y="3310414"/>
              <a:ext cx="7625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0010 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866993" y="3310414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+0.125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81050" y="3618548"/>
              <a:ext cx="49530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81050" y="3623310"/>
              <a:ext cx="49530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97592" y="3759041"/>
              <a:ext cx="8908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00101 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342393" y="3759041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−0.15625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584951" y="3759041"/>
              <a:ext cx="7625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0011 原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19607" y="375904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−0.1875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81050" y="4068128"/>
              <a:ext cx="49530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97592" y="4207669"/>
              <a:ext cx="8908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11011 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342393" y="4207669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−0.15625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584951" y="4207669"/>
              <a:ext cx="7625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1110 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866993" y="4207669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−0.125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81050" y="2726055"/>
              <a:ext cx="49530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100262" y="272605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3347085" y="272605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4576762" y="272605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8" name="c2-card-1"/>
          <p:cNvGrpSpPr/>
          <p:nvPr/>
        </p:nvGrpSpPr>
        <p:grpSpPr>
          <a:xfrm>
            <a:off x="6248400" y="1524000"/>
            <a:ext cx="5410200" cy="3226118"/>
            <a:chOff x="6248400" y="1524000"/>
            <a:chExt cx="5410200" cy="3226118"/>
          </a:xfrm>
        </p:grpSpPr>
        <p:sp>
          <p:nvSpPr>
            <p:cNvPr id="38" name="Rectangle 38"/>
            <p:cNvSpPr/>
            <p:nvPr/>
          </p:nvSpPr>
          <p:spPr>
            <a:xfrm>
              <a:off x="6248400" y="1524000"/>
              <a:ext cx="5410200" cy="3226118"/>
            </a:xfrm>
            <a:prstGeom prst="roundRect">
              <a:avLst>
                <a:gd name="adj" fmla="val 41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57925" y="1657350"/>
              <a:ext cx="47625" cy="295941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960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823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方法二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239000" y="1768792"/>
              <a:ext cx="30224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末位恒置 1（原码、补码都适用）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88430" y="2129790"/>
              <a:ext cx="42254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不论丢掉的是什么，保留部分的末位一律置 1。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496050" y="2440305"/>
              <a:ext cx="49530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979247" y="257603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原数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264169" y="257603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真值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502419" y="257603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693997" y="257603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真值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12592" y="3024664"/>
              <a:ext cx="8908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00100 原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152166" y="3024664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+0.125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299951" y="3024664"/>
              <a:ext cx="7625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0011 原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534607" y="3024664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+0.1875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496050" y="3332798"/>
              <a:ext cx="49530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496050" y="3337560"/>
              <a:ext cx="49530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12592" y="3473291"/>
              <a:ext cx="8908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00101 原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057393" y="3473291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−0.15625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299951" y="3473291"/>
              <a:ext cx="7625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0011 原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534607" y="3473291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−0.1875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496050" y="3782378"/>
              <a:ext cx="49530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712592" y="3921919"/>
              <a:ext cx="8908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11011 补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057393" y="3921919"/>
              <a:ext cx="771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−0.15625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299951" y="3921919"/>
              <a:ext cx="7625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1101 补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534607" y="3921919"/>
              <a:ext cx="6763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−0.1875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496050" y="2440305"/>
              <a:ext cx="49530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7815262" y="244030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9062085" y="244030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10291762" y="244030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5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69" name="Rectangle 69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38188" y="5871210"/>
              <a:ext cx="200026" cy="200025"/>
              <a:chOff x="738188" y="5871210"/>
              <a:chExt cx="200026" cy="200025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738188" y="58712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777926" y="59156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12642" y="60267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040130" y="5728335"/>
              <a:ext cx="99498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比较：0 舍 1 入误差较小，但要做一次加法，进位还可能使尾数再次需要规格化；末位恒置 1 不做加法、电路简单，误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差略大。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491342" cy="2997517"/>
            <a:chOff x="667512" y="1835468"/>
            <a:chExt cx="4491342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00584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814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从手算竖式出发，一步步改成"移位加"的硬件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283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3.3 手算乘法与原码一位乘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乘法器与改进后的乘法器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快速乘法器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乘法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手算乘法：部分积错位相加，乘积位数是两数位数之和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2088832"/>
            <a:chOff x="533400" y="1524000"/>
            <a:chExt cx="5410200" cy="20888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088832"/>
            </a:xfrm>
            <a:prstGeom prst="roundRect">
              <a:avLst>
                <a:gd name="adj" fmla="val 456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6942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例1：1000 × 1001（8 × 9）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2436876" cy="16003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 1000    被乘数 Multiplicand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×  1001    乘数   Multiplier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--------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1000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0000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0000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+ 1000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---------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1001000    乘积 Product = 72</a:t>
              </a:r>
            </a:p>
          </p:txBody>
        </p:sp>
      </p:grpSp>
      <p:grpSp>
        <p:nvGrpSpPr>
          <p:cNvPr id="16" name="c1-callout-2"/>
          <p:cNvGrpSpPr/>
          <p:nvPr/>
        </p:nvGrpSpPr>
        <p:grpSpPr>
          <a:xfrm>
            <a:off x="533400" y="3782378"/>
            <a:ext cx="5410200" cy="729615"/>
            <a:chOff x="533400" y="3782378"/>
            <a:chExt cx="5410200" cy="729615"/>
          </a:xfrm>
        </p:grpSpPr>
        <p:sp>
          <p:nvSpPr>
            <p:cNvPr id="11" name="Rectangle 11"/>
            <p:cNvSpPr/>
            <p:nvPr/>
          </p:nvSpPr>
          <p:spPr>
            <a:xfrm>
              <a:off x="533400" y="3782378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38188" y="4047175"/>
              <a:ext cx="200023" cy="200023"/>
              <a:chOff x="738188" y="4047175"/>
              <a:chExt cx="200023" cy="20002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40471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71538" y="41138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40892" y="3929062"/>
              <a:ext cx="436854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位数乘 m 位数，乘积最多 n + m 位。上例 4 位 × 4 位，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结果占 7 位。</a:t>
              </a:r>
            </a:p>
          </p:txBody>
        </p:sp>
      </p:grpSp>
      <p:grpSp>
        <p:nvGrpSpPr>
          <p:cNvPr id="23" name="c1-card-3"/>
          <p:cNvGrpSpPr/>
          <p:nvPr/>
        </p:nvGrpSpPr>
        <p:grpSpPr>
          <a:xfrm>
            <a:off x="533400" y="4681538"/>
            <a:ext cx="5410200" cy="1654492"/>
            <a:chOff x="533400" y="4681538"/>
            <a:chExt cx="5410200" cy="1654492"/>
          </a:xfrm>
        </p:grpSpPr>
        <p:sp>
          <p:nvSpPr>
            <p:cNvPr id="17" name="Rectangle 17"/>
            <p:cNvSpPr/>
            <p:nvPr/>
          </p:nvSpPr>
          <p:spPr>
            <a:xfrm>
              <a:off x="533400" y="4681538"/>
              <a:ext cx="5410200" cy="1654492"/>
            </a:xfrm>
            <a:prstGeom prst="roundRect">
              <a:avLst>
                <a:gd name="adj" fmla="val 80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4814888"/>
              <a:ext cx="47625" cy="138779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58190" y="486822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2759" y="490108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最坏情况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1332" y="5213033"/>
              <a:ext cx="431711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1111 × 1111 = 15 × 15 = 225 = 1110 0001₂，正好占满 8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2475" y="5766911"/>
              <a:ext cx="464845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所以 32 位乘法要准备 64 位的乘积寄存器，MIPS 用 HI、LO 两个寄存器存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放。</a:t>
              </a:r>
            </a:p>
          </p:txBody>
        </p:sp>
      </p:grpSp>
      <p:grpSp>
        <p:nvGrpSpPr>
          <p:cNvPr id="27" name="c2-code-1"/>
          <p:cNvGrpSpPr/>
          <p:nvPr/>
        </p:nvGrpSpPr>
        <p:grpSpPr>
          <a:xfrm>
            <a:off x="6248400" y="1524000"/>
            <a:ext cx="5410200" cy="2088832"/>
            <a:chOff x="6248400" y="1524000"/>
            <a:chExt cx="5410200" cy="2088832"/>
          </a:xfrm>
        </p:grpSpPr>
        <p:sp>
          <p:nvSpPr>
            <p:cNvPr id="24" name="Rectangle 24"/>
            <p:cNvSpPr/>
            <p:nvPr/>
          </p:nvSpPr>
          <p:spPr>
            <a:xfrm>
              <a:off x="6248400" y="1524000"/>
              <a:ext cx="5410200" cy="2088832"/>
            </a:xfrm>
            <a:prstGeom prst="roundRect">
              <a:avLst>
                <a:gd name="adj" fmla="val 456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76797" y="1675924"/>
              <a:ext cx="26108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例2：0.1101 × 0.1011（小数，符号另算）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76797" y="1935956"/>
              <a:ext cx="1820799" cy="16003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0.1101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×  0.1011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----------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     1101    部分积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1101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0000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+ 1101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----------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0.10001111    乘积</a:t>
              </a:r>
            </a:p>
          </p:txBody>
        </p:sp>
      </p:grpSp>
      <p:grpSp>
        <p:nvGrpSpPr>
          <p:cNvPr id="39" name="c2-card-2"/>
          <p:cNvGrpSpPr/>
          <p:nvPr/>
        </p:nvGrpSpPr>
        <p:grpSpPr>
          <a:xfrm>
            <a:off x="6248400" y="3782378"/>
            <a:ext cx="5410200" cy="2553652"/>
            <a:chOff x="6248400" y="3782378"/>
            <a:chExt cx="5410200" cy="2553652"/>
          </a:xfrm>
        </p:grpSpPr>
        <p:sp>
          <p:nvSpPr>
            <p:cNvPr id="28" name="Rectangle 28"/>
            <p:cNvSpPr/>
            <p:nvPr/>
          </p:nvSpPr>
          <p:spPr>
            <a:xfrm>
              <a:off x="6248400" y="3782378"/>
              <a:ext cx="5410200" cy="2553652"/>
            </a:xfrm>
            <a:prstGeom prst="roundRect">
              <a:avLst>
                <a:gd name="adj" fmla="val 52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57925" y="3915728"/>
              <a:ext cx="47625" cy="228695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73190" y="3969068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35356" y="4001929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手算搬到硬件上的问题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473190" y="4301490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8868" y="433987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53987" y="4313872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加数个数多：有几位乘数就有几个部分积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473190" y="4601528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528868" y="463991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53987" y="4613910"/>
              <a:ext cx="32304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加数位数多：错位后要用 2n 位的加法器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67475" y="4910614"/>
              <a:ext cx="456311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改进：把一次多数相加改为分步累加，每步只加一个部分积。符号位单独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算：X、Y 异号时乘积为负，写成 1.10001111。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598655" cy="909257"/>
            <a:chOff x="520446" y="342900"/>
            <a:chExt cx="959865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乘法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59865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分步乘法（原码一位乘）：每步只加一次，再把 A、C 一起右移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kv-1"/>
          <p:cNvGrpSpPr/>
          <p:nvPr/>
        </p:nvGrpSpPr>
        <p:grpSpPr>
          <a:xfrm>
            <a:off x="525780" y="1548765"/>
            <a:ext cx="4985385" cy="1173480"/>
            <a:chOff x="525780" y="1548765"/>
            <a:chExt cx="4985385" cy="117348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7730" y="1548765"/>
              <a:ext cx="44879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部分积累加和，结束时存乘积高位；初值 00.0000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186880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1988820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87730" y="1988820"/>
              <a:ext cx="29961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被乘数的绝对值 X，B = 00.1101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0886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242887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87730" y="2428875"/>
              <a:ext cx="43769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乘数的绝对值 Y，结束时存乘积低位；C = .1011</a:t>
              </a:r>
            </a:p>
          </p:txBody>
        </p:sp>
      </p:grpSp>
      <p:grpSp>
        <p:nvGrpSpPr>
          <p:cNvPr id="44" name="c1-cells-2"/>
          <p:cNvGrpSpPr/>
          <p:nvPr/>
        </p:nvGrpSpPr>
        <p:grpSpPr>
          <a:xfrm>
            <a:off x="526542" y="2853690"/>
            <a:ext cx="3439668" cy="1460659"/>
            <a:chOff x="526542" y="2853690"/>
            <a:chExt cx="3439668" cy="1460659"/>
          </a:xfrm>
        </p:grpSpPr>
        <p:sp>
          <p:nvSpPr>
            <p:cNvPr id="16" name="TextBox 16"/>
            <p:cNvSpPr txBox="1"/>
            <p:nvPr/>
          </p:nvSpPr>
          <p:spPr>
            <a:xfrm>
              <a:off x="526542" y="2998470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5810" y="2853690"/>
              <a:ext cx="457200" cy="4572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5075" y="2998470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223010" y="2853690"/>
              <a:ext cx="457200" cy="4572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392275" y="2998470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680210" y="2853690"/>
              <a:ext cx="457200" cy="4572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849475" y="2998470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137410" y="2853690"/>
              <a:ext cx="457200" cy="4572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306675" y="2998470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594610" y="2853690"/>
              <a:ext cx="457200" cy="4572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763875" y="2998470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051810" y="2853690"/>
              <a:ext cx="457200" cy="4572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221075" y="2998470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509010" y="2853690"/>
              <a:ext cx="457200" cy="4572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678275" y="2998470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6542" y="3627120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65810" y="3482340"/>
              <a:ext cx="457200" cy="4572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35075" y="3627120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.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223010" y="3482340"/>
              <a:ext cx="457200" cy="4572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392275" y="3627120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680210" y="3482340"/>
              <a:ext cx="457200" cy="4572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849475" y="3627120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2137410" y="3482340"/>
              <a:ext cx="457200" cy="4572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306675" y="3627120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594610" y="3482340"/>
              <a:ext cx="457200" cy="4572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763875" y="3627120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2785110" y="395859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727958" y="4094321"/>
              <a:ext cx="1905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Cn</a:t>
              </a:r>
            </a:p>
          </p:txBody>
        </p:sp>
      </p:grpSp>
      <p:grpSp>
        <p:nvGrpSpPr>
          <p:cNvPr id="51" name="c1-callout-3"/>
          <p:cNvGrpSpPr/>
          <p:nvPr/>
        </p:nvGrpSpPr>
        <p:grpSpPr>
          <a:xfrm>
            <a:off x="533400" y="4425315"/>
            <a:ext cx="4977765" cy="782955"/>
            <a:chOff x="533400" y="4425315"/>
            <a:chExt cx="4977765" cy="782955"/>
          </a:xfrm>
        </p:grpSpPr>
        <p:sp>
          <p:nvSpPr>
            <p:cNvPr id="45" name="Rectangle 45"/>
            <p:cNvSpPr/>
            <p:nvPr/>
          </p:nvSpPr>
          <p:spPr>
            <a:xfrm>
              <a:off x="533400" y="4425315"/>
              <a:ext cx="497776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4716780"/>
              <a:ext cx="200026" cy="200025"/>
              <a:chOff x="738188" y="4716780"/>
              <a:chExt cx="200026" cy="20002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47167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77926" y="47612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12642" y="48723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130" y="4573905"/>
              <a:ext cx="40919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A、B 用两位整数位，是为了容纳部分积相加时可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能产生的进位。</a:t>
              </a:r>
            </a:p>
          </p:txBody>
        </p:sp>
      </p:grpSp>
      <p:grpSp>
        <p:nvGrpSpPr>
          <p:cNvPr id="69" name="c2-steps-1"/>
          <p:cNvGrpSpPr/>
          <p:nvPr/>
        </p:nvGrpSpPr>
        <p:grpSpPr>
          <a:xfrm>
            <a:off x="5815965" y="1533525"/>
            <a:ext cx="5529961" cy="2764440"/>
            <a:chOff x="5815965" y="1533525"/>
            <a:chExt cx="5529961" cy="2764440"/>
          </a:xfrm>
        </p:grpSpPr>
        <p:sp>
          <p:nvSpPr>
            <p:cNvPr id="52" name="Rectangle 52"/>
            <p:cNvSpPr/>
            <p:nvPr/>
          </p:nvSpPr>
          <p:spPr>
            <a:xfrm>
              <a:off x="5949315" y="1676400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5815965" y="21840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909589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5815965" y="306990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909589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5815965" y="37204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909589" y="37942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227445" y="1567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228588" y="1861661"/>
              <a:ext cx="46673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 C 的最低位 Cn：Cn = 1 时 A = A + B；Cn = 0 时 A = A + 0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227445" y="221837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右移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228588" y="2512219"/>
              <a:ext cx="511733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A、C 连成一体右移 1 位：A 的最低位移入 C 的最高位，C 的最低位（已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用过的乘数位）移出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227445" y="310419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重复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228588" y="3397091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共做 n 步（n 为尾数位数），每步处理乘数的一位，从低位到高位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227445" y="375475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得结果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228588" y="4048601"/>
              <a:ext cx="410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与 C 拼起来就是乘积的数值部分；符号位 = Xs ⊕ Ys</a:t>
              </a:r>
            </a:p>
          </p:txBody>
        </p:sp>
      </p:grpSp>
      <p:grpSp>
        <p:nvGrpSpPr>
          <p:cNvPr id="75" name="c2-callout-2"/>
          <p:cNvGrpSpPr/>
          <p:nvPr/>
        </p:nvGrpSpPr>
        <p:grpSpPr>
          <a:xfrm>
            <a:off x="5815965" y="4475798"/>
            <a:ext cx="5842635" cy="782955"/>
            <a:chOff x="5815965" y="4475798"/>
            <a:chExt cx="5842635" cy="782955"/>
          </a:xfrm>
        </p:grpSpPr>
        <p:sp>
          <p:nvSpPr>
            <p:cNvPr id="70" name="Rectangle 70"/>
            <p:cNvSpPr/>
            <p:nvPr/>
          </p:nvSpPr>
          <p:spPr>
            <a:xfrm>
              <a:off x="5815965" y="4475798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6020753" y="4767265"/>
              <a:ext cx="200023" cy="200023"/>
              <a:chOff x="6020753" y="4767265"/>
              <a:chExt cx="200023" cy="200023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6020753" y="476726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6154103" y="483393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6322695" y="4624388"/>
              <a:ext cx="49396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每步只用一个 n 位加法器，寄存器 C 同时存"还没用的乘数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位"和"已经算好的乘积低位"。</a:t>
              </a:r>
            </a:p>
          </p:txBody>
        </p:sp>
      </p:grpSp>
      <p:grpSp>
        <p:nvGrpSpPr>
          <p:cNvPr id="82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76" name="Rectangle 76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1040130" y="5991225"/>
              <a:ext cx="8319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原码一位乘只对数值部分做乘法：A、B、C 中都放绝对值，乘积的符号单独用 Xs ⊕ Ys 求出。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784949" cy="909257"/>
            <a:chOff x="520446" y="342900"/>
            <a:chExt cx="878494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乘法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7849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例：|X| = 0.1101，|Y| = 0.1011，四步得 0.10001111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8" name="c1-table-1"/>
          <p:cNvGrpSpPr/>
          <p:nvPr/>
        </p:nvGrpSpPr>
        <p:grpSpPr>
          <a:xfrm>
            <a:off x="528066" y="1524000"/>
            <a:ext cx="6930009" cy="4523994"/>
            <a:chOff x="528066" y="1524000"/>
            <a:chExt cx="6930009" cy="452399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924675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79944" y="165258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38388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676650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11943" y="165258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701653" y="165258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99172" y="20764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初值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950257" y="207645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00.0000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28816" y="207645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.1011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367915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372678"/>
              <a:ext cx="692467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14071" y="25012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267369" y="2501265"/>
              <a:ext cx="4773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Cn = 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744316" y="2501265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50257" y="2501265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00.1101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28816" y="250126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.1011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2792730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676650" y="292608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右移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950257" y="292608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00.0110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28816" y="292608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1.101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21659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221355"/>
              <a:ext cx="692467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114071" y="334994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267369" y="3349942"/>
              <a:ext cx="4773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Cn = 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744316" y="3349942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+B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50257" y="3349942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01.0011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28816" y="3349942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1.101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3641408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676650" y="3774757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右移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50257" y="3774757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00.1001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28816" y="3774757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11.10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06622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4070985"/>
              <a:ext cx="692467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114071" y="419862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267369" y="4198620"/>
              <a:ext cx="4773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Cn = 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749345" y="419862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950257" y="419862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00.1001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28816" y="419862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11.10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4490085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676650" y="46234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右移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950257" y="4623435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00.0100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28816" y="462343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111.1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4914900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33400" y="4919662"/>
              <a:ext cx="692467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114071" y="50482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267369" y="5048250"/>
              <a:ext cx="4773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Cn = 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744316" y="504825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+B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950257" y="504825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01.0001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528816" y="5048250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111.1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33400" y="533876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3676650" y="547211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右移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4487228" y="5353050"/>
              <a:ext cx="1559242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4950257" y="5472112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00.1000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065520" y="5353050"/>
              <a:ext cx="1383030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573241" y="547211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1111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33400" y="1524000"/>
              <a:ext cx="6924675" cy="424434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1795462" y="1524000"/>
              <a:ext cx="9525" cy="42443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3206115" y="1524000"/>
              <a:ext cx="9525" cy="42443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4472940" y="1524000"/>
              <a:ext cx="9525" cy="42443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051232" y="1524000"/>
              <a:ext cx="9525" cy="42443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28066" y="5842635"/>
              <a:ext cx="50056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 中小数点左边是已移入的乘积低位，右边是尚未处理的乘数位，Cn 为最右一位</a:t>
              </a:r>
            </a:p>
          </p:txBody>
        </p:sp>
      </p:grpSp>
      <p:grpSp>
        <p:nvGrpSpPr>
          <p:cNvPr id="75" name="c2-card-1"/>
          <p:cNvGrpSpPr/>
          <p:nvPr/>
        </p:nvGrpSpPr>
        <p:grpSpPr>
          <a:xfrm>
            <a:off x="7762875" y="1524000"/>
            <a:ext cx="3895725" cy="1750695"/>
            <a:chOff x="7762875" y="1524000"/>
            <a:chExt cx="3895725" cy="1750695"/>
          </a:xfrm>
        </p:grpSpPr>
        <p:sp>
          <p:nvSpPr>
            <p:cNvPr id="69" name="Rectangle 69"/>
            <p:cNvSpPr/>
            <p:nvPr/>
          </p:nvSpPr>
          <p:spPr>
            <a:xfrm>
              <a:off x="7762875" y="1524000"/>
              <a:ext cx="3895725" cy="1750695"/>
            </a:xfrm>
            <a:prstGeom prst="roundRect">
              <a:avLst>
                <a:gd name="adj" fmla="val 76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7772400" y="1657350"/>
              <a:ext cx="47625" cy="14839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7999095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090535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991856" y="2082641"/>
              <a:ext cx="271056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C = 0.1000 1111，即 |X| × |Y|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0.10001111。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992999" y="2667952"/>
              <a:ext cx="31059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复核：1101₂ × 1011₂ = 13 × 11 = 143 = 1000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1111₂。</a:t>
              </a:r>
            </a:p>
          </p:txBody>
        </p:sp>
      </p:grpSp>
      <p:grpSp>
        <p:nvGrpSpPr>
          <p:cNvPr id="81" name="c2-card-2"/>
          <p:cNvGrpSpPr/>
          <p:nvPr/>
        </p:nvGrpSpPr>
        <p:grpSpPr>
          <a:xfrm>
            <a:off x="7762875" y="3454718"/>
            <a:ext cx="3895725" cy="1568768"/>
            <a:chOff x="7762875" y="3454718"/>
            <a:chExt cx="3895725" cy="1568768"/>
          </a:xfrm>
        </p:grpSpPr>
        <p:sp>
          <p:nvSpPr>
            <p:cNvPr id="76" name="Rectangle 76"/>
            <p:cNvSpPr/>
            <p:nvPr/>
          </p:nvSpPr>
          <p:spPr>
            <a:xfrm>
              <a:off x="7762875" y="3454718"/>
              <a:ext cx="3895725" cy="1568768"/>
            </a:xfrm>
            <a:prstGeom prst="roundRect">
              <a:avLst>
                <a:gd name="adj" fmla="val 85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7960995" y="3652838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044434" y="36871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加上符号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953756" y="4014311"/>
              <a:ext cx="289090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若 X、Y 异号（如 X = −0.1101，Y =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+0.1011），符号位 = 1 ⊕ 0 = 1：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953756" y="4602956"/>
              <a:ext cx="215349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[X × Y]原 = 1.10001111</a:t>
              </a:r>
            </a:p>
          </p:txBody>
        </p:sp>
      </p:grpSp>
      <p:grpSp>
        <p:nvGrpSpPr>
          <p:cNvPr id="88" name="c2-callout-3"/>
          <p:cNvGrpSpPr/>
          <p:nvPr/>
        </p:nvGrpSpPr>
        <p:grpSpPr>
          <a:xfrm>
            <a:off x="7762875" y="5204460"/>
            <a:ext cx="3895725" cy="1018222"/>
            <a:chOff x="7762875" y="5204460"/>
            <a:chExt cx="3895725" cy="1018222"/>
          </a:xfrm>
        </p:grpSpPr>
        <p:sp>
          <p:nvSpPr>
            <p:cNvPr id="82" name="Rectangle 82"/>
            <p:cNvSpPr/>
            <p:nvPr/>
          </p:nvSpPr>
          <p:spPr>
            <a:xfrm>
              <a:off x="7762875" y="5204460"/>
              <a:ext cx="3895725" cy="1018222"/>
            </a:xfrm>
            <a:prstGeom prst="roundRect">
              <a:avLst>
                <a:gd name="adj" fmla="val 1122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86" name="Group 86"/>
            <p:cNvGrpSpPr/>
            <p:nvPr/>
          </p:nvGrpSpPr>
          <p:grpSpPr>
            <a:xfrm>
              <a:off x="7955604" y="5609391"/>
              <a:ext cx="224134" cy="192560"/>
              <a:chOff x="7955604" y="5609391"/>
              <a:chExt cx="224134" cy="192560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8067675" y="567975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7955604" y="560939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8067675" y="575754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7" name="TextBox 87"/>
            <p:cNvSpPr txBox="1"/>
            <p:nvPr/>
          </p:nvSpPr>
          <p:spPr>
            <a:xfrm>
              <a:off x="8269986" y="5351621"/>
              <a:ext cx="3017139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第 2、4 步加法后 A 的整数部分变成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01，右移后又回到 00，所以 A 要留两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位整数位。</a:t>
              </a:r>
            </a:p>
          </p:txBody>
        </p:sp>
      </p:grpSp>
      <p:grpSp>
        <p:nvGrpSpPr>
          <p:cNvPr id="9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9" name="TextBox 89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乘法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乘法器第一版：被乘数寄存器左移，乘数寄存器右移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5" name="c1-flow-1"/>
          <p:cNvGrpSpPr/>
          <p:nvPr/>
        </p:nvGrpSpPr>
        <p:grpSpPr>
          <a:xfrm>
            <a:off x="490538" y="1638300"/>
            <a:ext cx="4636769" cy="4248150"/>
            <a:chOff x="490538" y="1638300"/>
            <a:chExt cx="4636769" cy="4248150"/>
          </a:xfrm>
        </p:grpSpPr>
        <p:sp>
          <p:nvSpPr>
            <p:cNvPr id="7" name="Freeform 7"/>
            <p:cNvSpPr/>
            <p:nvPr/>
          </p:nvSpPr>
          <p:spPr>
            <a:xfrm>
              <a:off x="1724025" y="2049780"/>
              <a:ext cx="9525" cy="34290"/>
            </a:xfrm>
            <a:custGeom>
              <a:avLst/>
              <a:gdLst/>
              <a:ahLst/>
              <a:cxnLst/>
              <a:rect l="l" t="t" r="r" b="b"/>
              <a:pathLst>
                <a:path w="9525" h="34290">
                  <a:moveTo>
                    <a:pt x="0" y="0"/>
                  </a:moveTo>
                  <a:lnTo>
                    <a:pt x="0" y="3429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671638" y="20840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747010" y="2483168"/>
              <a:ext cx="1357312" cy="233362"/>
            </a:xfrm>
            <a:custGeom>
              <a:avLst/>
              <a:gdLst/>
              <a:ahLst/>
              <a:cxnLst/>
              <a:rect l="l" t="t" r="r" b="b"/>
              <a:pathLst>
                <a:path w="1357312" h="233362">
                  <a:moveTo>
                    <a:pt x="0" y="0"/>
                  </a:moveTo>
                  <a:lnTo>
                    <a:pt x="209550" y="0"/>
                  </a:lnTo>
                  <a:lnTo>
                    <a:pt x="1357312" y="0"/>
                  </a:lnTo>
                  <a:lnTo>
                    <a:pt x="1357312" y="128588"/>
                  </a:lnTo>
                  <a:lnTo>
                    <a:pt x="1357312" y="2333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051935" y="27165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724025" y="2777490"/>
              <a:ext cx="9525" cy="674370"/>
            </a:xfrm>
            <a:custGeom>
              <a:avLst/>
              <a:gdLst/>
              <a:ahLst/>
              <a:cxnLst/>
              <a:rect l="l" t="t" r="r" b="b"/>
              <a:pathLst>
                <a:path w="9525" h="674370">
                  <a:moveTo>
                    <a:pt x="0" y="0"/>
                  </a:moveTo>
                  <a:lnTo>
                    <a:pt x="0" y="67437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671638" y="345186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851785" y="3424238"/>
              <a:ext cx="1252538" cy="338138"/>
            </a:xfrm>
            <a:custGeom>
              <a:avLst/>
              <a:gdLst/>
              <a:ahLst/>
              <a:cxnLst/>
              <a:rect l="l" t="t" r="r" b="b"/>
              <a:pathLst>
                <a:path w="1252538" h="338138">
                  <a:moveTo>
                    <a:pt x="1252538" y="0"/>
                  </a:moveTo>
                  <a:lnTo>
                    <a:pt x="1252538" y="209550"/>
                  </a:lnTo>
                  <a:lnTo>
                    <a:pt x="1252538" y="338138"/>
                  </a:lnTo>
                  <a:lnTo>
                    <a:pt x="104775" y="338138"/>
                  </a:lnTo>
                  <a:lnTo>
                    <a:pt x="0" y="33813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747010" y="37099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724025" y="3968115"/>
              <a:ext cx="9525" cy="122872"/>
            </a:xfrm>
            <a:custGeom>
              <a:avLst/>
              <a:gdLst/>
              <a:ahLst/>
              <a:cxnLst/>
              <a:rect l="l" t="t" r="r" b="b"/>
              <a:pathLst>
                <a:path w="9525" h="122872">
                  <a:moveTo>
                    <a:pt x="0" y="0"/>
                  </a:moveTo>
                  <a:lnTo>
                    <a:pt x="0" y="12287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671638" y="40909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724025" y="4608195"/>
              <a:ext cx="9525" cy="34290"/>
            </a:xfrm>
            <a:custGeom>
              <a:avLst/>
              <a:gdLst/>
              <a:ahLst/>
              <a:cxnLst/>
              <a:rect l="l" t="t" r="r" b="b"/>
              <a:pathLst>
                <a:path w="9525" h="34290">
                  <a:moveTo>
                    <a:pt x="0" y="0"/>
                  </a:moveTo>
                  <a:lnTo>
                    <a:pt x="0" y="3429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671638" y="464248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724025" y="5335905"/>
              <a:ext cx="9525" cy="34290"/>
            </a:xfrm>
            <a:custGeom>
              <a:avLst/>
              <a:gdLst/>
              <a:ahLst/>
              <a:cxnLst/>
              <a:rect l="l" t="t" r="r" b="b"/>
              <a:pathLst>
                <a:path w="9525" h="34290">
                  <a:moveTo>
                    <a:pt x="0" y="0"/>
                  </a:moveTo>
                  <a:lnTo>
                    <a:pt x="0" y="3429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671638" y="53701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490538" y="2464118"/>
              <a:ext cx="209550" cy="2577465"/>
            </a:xfrm>
            <a:custGeom>
              <a:avLst/>
              <a:gdLst/>
              <a:ahLst/>
              <a:cxnLst/>
              <a:rect l="l" t="t" r="r" b="b"/>
              <a:pathLst>
                <a:path w="209550" h="2577465">
                  <a:moveTo>
                    <a:pt x="209550" y="2577465"/>
                  </a:moveTo>
                  <a:lnTo>
                    <a:pt x="0" y="2577465"/>
                  </a:lnTo>
                  <a:lnTo>
                    <a:pt x="0" y="2551748"/>
                  </a:lnTo>
                  <a:lnTo>
                    <a:pt x="0" y="0"/>
                  </a:lnTo>
                  <a:lnTo>
                    <a:pt x="0" y="19050"/>
                  </a:lnTo>
                  <a:lnTo>
                    <a:pt x="104775" y="190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95312" y="243078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00088" y="1638300"/>
              <a:ext cx="2046922" cy="41148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700088" y="2188845"/>
              <a:ext cx="2046922" cy="588645"/>
            </a:xfrm>
            <a:custGeom>
              <a:avLst/>
              <a:gdLst/>
              <a:ahLst/>
              <a:cxnLst/>
              <a:rect l="l" t="t" r="r" b="b"/>
              <a:pathLst>
                <a:path w="2046922" h="588645">
                  <a:moveTo>
                    <a:pt x="1023938" y="0"/>
                  </a:moveTo>
                  <a:lnTo>
                    <a:pt x="2046922" y="294322"/>
                  </a:lnTo>
                  <a:lnTo>
                    <a:pt x="1023938" y="588645"/>
                  </a:lnTo>
                  <a:lnTo>
                    <a:pt x="0" y="294322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080385" y="2821305"/>
              <a:ext cx="2046922" cy="603885"/>
            </a:xfrm>
            <a:prstGeom prst="roundRect">
              <a:avLst>
                <a:gd name="adj" fmla="val 15773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700088" y="3556635"/>
              <a:ext cx="2046922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700088" y="4195762"/>
              <a:ext cx="2046922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700088" y="4747260"/>
              <a:ext cx="2046922" cy="588645"/>
            </a:xfrm>
            <a:custGeom>
              <a:avLst/>
              <a:gdLst/>
              <a:ahLst/>
              <a:cxnLst/>
              <a:rect l="l" t="t" r="r" b="b"/>
              <a:pathLst>
                <a:path w="2046922" h="588645">
                  <a:moveTo>
                    <a:pt x="1023938" y="0"/>
                  </a:moveTo>
                  <a:lnTo>
                    <a:pt x="2046922" y="294322"/>
                  </a:lnTo>
                  <a:lnTo>
                    <a:pt x="1023938" y="588645"/>
                  </a:lnTo>
                  <a:lnTo>
                    <a:pt x="0" y="294322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700088" y="5474970"/>
              <a:ext cx="2046922" cy="41148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556385" y="176022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开始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33297" y="239934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乘数最低位？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317176" y="2936557"/>
              <a:ext cx="15742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1a. 乘积 = 乘积 + 被乘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27328" y="3678555"/>
              <a:ext cx="13933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 被乘数左移 1 位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08100" y="4317682"/>
              <a:ext cx="12318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 乘数右移 1 位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338301" y="4957762"/>
              <a:ext cx="7714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 32 次？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556385" y="559689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结束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395662" y="2277428"/>
              <a:ext cx="26955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433615" y="2301716"/>
              <a:ext cx="1946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= 1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752600" y="3081338"/>
              <a:ext cx="26955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776222" y="3106579"/>
              <a:ext cx="1946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= 0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752600" y="5319712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776222" y="534495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19112" y="3654742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42734" y="3679031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</p:grpSp>
      <p:grpSp>
        <p:nvGrpSpPr>
          <p:cNvPr id="77" name="c2-graph-1"/>
          <p:cNvGrpSpPr/>
          <p:nvPr/>
        </p:nvGrpSpPr>
        <p:grpSpPr>
          <a:xfrm>
            <a:off x="5841682" y="1669732"/>
            <a:ext cx="5634991" cy="2426018"/>
            <a:chOff x="5841682" y="1669732"/>
            <a:chExt cx="5634991" cy="2426018"/>
          </a:xfrm>
        </p:grpSpPr>
        <p:sp>
          <p:nvSpPr>
            <p:cNvPr id="46" name="Freeform 46"/>
            <p:cNvSpPr/>
            <p:nvPr/>
          </p:nvSpPr>
          <p:spPr>
            <a:xfrm>
              <a:off x="7659052" y="1949768"/>
              <a:ext cx="9525" cy="596265"/>
            </a:xfrm>
            <a:custGeom>
              <a:avLst/>
              <a:gdLst/>
              <a:ahLst/>
              <a:cxnLst/>
              <a:rect l="l" t="t" r="r" b="b"/>
              <a:pathLst>
                <a:path w="9525" h="596265">
                  <a:moveTo>
                    <a:pt x="0" y="0"/>
                  </a:moveTo>
                  <a:lnTo>
                    <a:pt x="0" y="5962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7611428" y="254603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7659052" y="2921318"/>
              <a:ext cx="9525" cy="710565"/>
            </a:xfrm>
            <a:custGeom>
              <a:avLst/>
              <a:gdLst/>
              <a:ahLst/>
              <a:cxnLst/>
              <a:rect l="l" t="t" r="r" b="b"/>
              <a:pathLst>
                <a:path w="9525" h="710565">
                  <a:moveTo>
                    <a:pt x="0" y="0"/>
                  </a:moveTo>
                  <a:lnTo>
                    <a:pt x="0" y="71056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7611428" y="363188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5841682" y="2781300"/>
              <a:ext cx="1306830" cy="1085850"/>
            </a:xfrm>
            <a:custGeom>
              <a:avLst/>
              <a:gdLst/>
              <a:ahLst/>
              <a:cxnLst/>
              <a:rect l="l" t="t" r="r" b="b"/>
              <a:pathLst>
                <a:path w="1306830" h="1085850">
                  <a:moveTo>
                    <a:pt x="1012508" y="1085850"/>
                  </a:moveTo>
                  <a:lnTo>
                    <a:pt x="0" y="1085850"/>
                  </a:lnTo>
                  <a:lnTo>
                    <a:pt x="0" y="0"/>
                  </a:lnTo>
                  <a:lnTo>
                    <a:pt x="130683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7148512" y="27336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8560118" y="3867150"/>
              <a:ext cx="1648777" cy="9525"/>
            </a:xfrm>
            <a:custGeom>
              <a:avLst/>
              <a:gdLst/>
              <a:ahLst/>
              <a:cxnLst/>
              <a:rect l="l" t="t" r="r" b="b"/>
              <a:pathLst>
                <a:path w="1648777" h="9525">
                  <a:moveTo>
                    <a:pt x="1648777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8464868" y="38195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10447020" y="3016568"/>
              <a:ext cx="9525" cy="517208"/>
            </a:xfrm>
            <a:custGeom>
              <a:avLst/>
              <a:gdLst/>
              <a:ahLst/>
              <a:cxnLst/>
              <a:rect l="l" t="t" r="r" b="b"/>
              <a:pathLst>
                <a:path w="9525" h="517208">
                  <a:moveTo>
                    <a:pt x="0" y="51720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10399395" y="292131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10399395" y="353377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8566785" y="1809750"/>
              <a:ext cx="2909888" cy="2057400"/>
            </a:xfrm>
            <a:custGeom>
              <a:avLst/>
              <a:gdLst/>
              <a:ahLst/>
              <a:cxnLst/>
              <a:rect l="l" t="t" r="r" b="b"/>
              <a:pathLst>
                <a:path w="2909888" h="2057400">
                  <a:moveTo>
                    <a:pt x="2118360" y="2057400"/>
                  </a:moveTo>
                  <a:lnTo>
                    <a:pt x="2909888" y="2057400"/>
                  </a:lnTo>
                  <a:lnTo>
                    <a:pt x="2909888" y="0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8471535" y="17621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846570" y="1669732"/>
              <a:ext cx="1624965" cy="280035"/>
            </a:xfrm>
            <a:prstGeom prst="roundRect">
              <a:avLst>
                <a:gd name="adj" fmla="val 34014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7243762" y="2641282"/>
              <a:ext cx="830580" cy="280035"/>
            </a:xfrm>
            <a:prstGeom prst="roundRect">
              <a:avLst>
                <a:gd name="adj" fmla="val 34014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6854190" y="3727132"/>
              <a:ext cx="1610678" cy="280035"/>
            </a:xfrm>
            <a:prstGeom prst="roundRect">
              <a:avLst>
                <a:gd name="adj" fmla="val 34014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9701212" y="2641282"/>
              <a:ext cx="1491615" cy="280035"/>
            </a:xfrm>
            <a:prstGeom prst="roundRect">
              <a:avLst>
                <a:gd name="adj" fmla="val 34014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10218420" y="3638550"/>
              <a:ext cx="457200" cy="4572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913746" y="1744028"/>
              <a:ext cx="14906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被乘数（64 位，左移）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326251" y="2715578"/>
              <a:ext cx="6656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64 位 ALU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921344" y="3801428"/>
              <a:ext cx="14754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乘积（64 位，初值 0）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772389" y="2715578"/>
              <a:ext cx="13492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乘数（32 位，右移）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300335" y="38014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7496175" y="2217420"/>
              <a:ext cx="325755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521824" y="2246471"/>
              <a:ext cx="27445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64 位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9194482" y="3789045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9221254" y="3818096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写入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10044112" y="3196590"/>
              <a:ext cx="804862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0055898" y="3225641"/>
              <a:ext cx="7822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右移、测最低位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9831705" y="1731645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859429" y="1760696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左移</a:t>
              </a:r>
            </a:p>
          </p:txBody>
        </p:sp>
      </p:grpSp>
      <p:grpSp>
        <p:nvGrpSpPr>
          <p:cNvPr id="97" name="c2-table-2"/>
          <p:cNvGrpSpPr/>
          <p:nvPr/>
        </p:nvGrpSpPr>
        <p:grpSpPr>
          <a:xfrm>
            <a:off x="5598795" y="4561522"/>
            <a:ext cx="6059805" cy="1697355"/>
            <a:chOff x="5598795" y="4561522"/>
            <a:chExt cx="6059805" cy="1697355"/>
          </a:xfrm>
        </p:grpSpPr>
        <p:sp>
          <p:nvSpPr>
            <p:cNvPr id="78" name="Rectangle 78"/>
            <p:cNvSpPr/>
            <p:nvPr/>
          </p:nvSpPr>
          <p:spPr>
            <a:xfrm>
              <a:off x="5598795" y="4561522"/>
              <a:ext cx="6059805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097905" y="46901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部件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188517" y="46901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位数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551670" y="46901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5701284" y="511492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被乘数寄存器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034784" y="5114925"/>
              <a:ext cx="3998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 位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883462" y="5114925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初值右半放被乘数，每次左移，对应手算的错位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5598795" y="54054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5598795" y="5410200"/>
              <a:ext cx="605980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5701284" y="553878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乘数寄存器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034784" y="5538788"/>
              <a:ext cx="3998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位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883462" y="5538788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每次右移，控制器只看最低位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5598795" y="583025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5701284" y="596360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乘积寄存器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034784" y="5963602"/>
              <a:ext cx="3998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 位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883462" y="5963602"/>
              <a:ext cx="16034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初值为 0，累加部分积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5598795" y="4561522"/>
              <a:ext cx="6059805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5" name="Rectangle 95"/>
            <p:cNvSpPr/>
            <p:nvPr/>
          </p:nvSpPr>
          <p:spPr>
            <a:xfrm>
              <a:off x="6927532" y="4561522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6" name="Rectangle 96"/>
            <p:cNvSpPr/>
            <p:nvPr/>
          </p:nvSpPr>
          <p:spPr>
            <a:xfrm>
              <a:off x="7776210" y="4561522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0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8" name="TextBox 98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57825" cy="909257"/>
            <a:chOff x="520446" y="342900"/>
            <a:chExt cx="805782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乘法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5782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例：用第一版乘法器算 2 × 3（0010 × 0011，4 位）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3" name="c1-table-1"/>
          <p:cNvGrpSpPr/>
          <p:nvPr/>
        </p:nvGrpSpPr>
        <p:grpSpPr>
          <a:xfrm>
            <a:off x="533400" y="1524000"/>
            <a:ext cx="7141845" cy="4000500"/>
            <a:chOff x="533400" y="1524000"/>
            <a:chExt cx="7141845" cy="4000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7141845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9790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迭代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8384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4789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乘数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14556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被乘数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87581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乘积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05141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73493" y="20454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初始值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32818" y="20454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0011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386398" y="2045494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0000 0010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72273" y="2045494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0000 0000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319338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324100"/>
              <a:ext cx="714184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05141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73493" y="2445544"/>
              <a:ext cx="21599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1a：最低位 1，积 = 积 + 被乘数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32818" y="24455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0011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386398" y="2445544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0000 0010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398895" y="2333625"/>
              <a:ext cx="1266825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672273" y="2445544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0000 0010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2719388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273493" y="28455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2、3：被乘数左移，乘数右移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32818" y="28455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386398" y="2845594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0000 0100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72273" y="2845594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0000 0010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119438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124200"/>
              <a:ext cx="714184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05141" y="32456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273493" y="3245644"/>
              <a:ext cx="21599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1a：最低位 1，积 = 积 + 被乘数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432818" y="32456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386398" y="3245644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0000 0100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398895" y="3133725"/>
              <a:ext cx="1266825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72273" y="3245644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0000 0110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3519488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273493" y="36456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2、3：被乘数左移，乘数右移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432818" y="36456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386398" y="3645694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0000 1000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72273" y="3645694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0000 0110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3919538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33400" y="3924300"/>
              <a:ext cx="714184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05141" y="40457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273493" y="4045744"/>
              <a:ext cx="14287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1：最低位 0，不操作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432818" y="40457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386398" y="4045744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0000 1000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672273" y="4045744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0000 0110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3400" y="4319588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273493" y="44457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2、3：被乘数左移，乘数右移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432818" y="44457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386398" y="4445794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0001 0000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672273" y="4445794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0000 0110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33400" y="4719638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33400" y="4724400"/>
              <a:ext cx="714184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05141" y="48458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273493" y="4845844"/>
              <a:ext cx="14287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1：最低位 0，不操作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432818" y="484584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386398" y="4845844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0001 0000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672273" y="4845844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0000 0110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33400" y="5119688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273493" y="52458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2、3：被乘数左移，乘数右移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4432818" y="524589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386398" y="5245894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0010 0000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672273" y="5245894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0000 0110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533400" y="1524000"/>
              <a:ext cx="7141845" cy="40005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1171575" y="1524000"/>
              <a:ext cx="9525" cy="4000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4099560" y="1524000"/>
              <a:ext cx="9525" cy="4000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5098732" y="1524000"/>
              <a:ext cx="9525" cy="4000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6384608" y="1524000"/>
              <a:ext cx="9525" cy="4000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9" name="c1-callout-2"/>
          <p:cNvGrpSpPr/>
          <p:nvPr/>
        </p:nvGrpSpPr>
        <p:grpSpPr>
          <a:xfrm>
            <a:off x="533400" y="5694045"/>
            <a:ext cx="7141845" cy="481012"/>
            <a:chOff x="533400" y="5694045"/>
            <a:chExt cx="7141845" cy="481012"/>
          </a:xfrm>
        </p:grpSpPr>
        <p:sp>
          <p:nvSpPr>
            <p:cNvPr id="74" name="Rectangle 74"/>
            <p:cNvSpPr/>
            <p:nvPr/>
          </p:nvSpPr>
          <p:spPr>
            <a:xfrm>
              <a:off x="533400" y="5694045"/>
              <a:ext cx="7141845" cy="481012"/>
            </a:xfrm>
            <a:prstGeom prst="roundRect">
              <a:avLst>
                <a:gd name="adj" fmla="val 23762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738188" y="5835015"/>
              <a:ext cx="200026" cy="200026"/>
              <a:chOff x="738188" y="5835015"/>
              <a:chExt cx="200026" cy="200026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738188" y="58350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04863" y="591280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1040892" y="5840730"/>
              <a:ext cx="5692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结果 0000 0110 = 6。乘数低两位是 1，乘积只在第 1、2 次迭代改变。</a:t>
              </a:r>
            </a:p>
          </p:txBody>
        </p:sp>
      </p:grpSp>
      <p:grpSp>
        <p:nvGrpSpPr>
          <p:cNvPr id="90" name="c2-card-1"/>
          <p:cNvGrpSpPr/>
          <p:nvPr/>
        </p:nvGrpSpPr>
        <p:grpSpPr>
          <a:xfrm>
            <a:off x="7980045" y="1524000"/>
            <a:ext cx="3678555" cy="2043112"/>
            <a:chOff x="7980045" y="1524000"/>
            <a:chExt cx="3678555" cy="2043112"/>
          </a:xfrm>
        </p:grpSpPr>
        <p:sp>
          <p:nvSpPr>
            <p:cNvPr id="80" name="Rectangle 80"/>
            <p:cNvSpPr/>
            <p:nvPr/>
          </p:nvSpPr>
          <p:spPr>
            <a:xfrm>
              <a:off x="7980045" y="1524000"/>
              <a:ext cx="3678555" cy="2043112"/>
            </a:xfrm>
            <a:prstGeom prst="roundRect">
              <a:avLst>
                <a:gd name="adj" fmla="val 65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7989570" y="1657350"/>
              <a:ext cx="47625" cy="17764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8204835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8296554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读表</a:t>
              </a:r>
            </a:p>
          </p:txBody>
        </p:sp>
        <p:sp>
          <p:nvSpPr>
            <p:cNvPr id="84" name="Ellipse 84"/>
            <p:cNvSpPr/>
            <p:nvPr/>
          </p:nvSpPr>
          <p:spPr>
            <a:xfrm>
              <a:off x="8213408" y="211074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8369427" y="2054542"/>
              <a:ext cx="285121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位乘法迭代 4 次，每次 3 步；32 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乘法迭代 32 次</a:t>
              </a:r>
            </a:p>
          </p:txBody>
        </p:sp>
        <p:sp>
          <p:nvSpPr>
            <p:cNvPr id="86" name="Ellipse 86"/>
            <p:cNvSpPr/>
            <p:nvPr/>
          </p:nvSpPr>
          <p:spPr>
            <a:xfrm>
              <a:off x="8213408" y="266890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8369427" y="2612708"/>
              <a:ext cx="29283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被乘数每次左移，相当于竖式里部分积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向左错一位</a:t>
              </a:r>
            </a:p>
          </p:txBody>
        </p:sp>
        <p:sp>
          <p:nvSpPr>
            <p:cNvPr id="88" name="Ellipse 88"/>
            <p:cNvSpPr/>
            <p:nvPr/>
          </p:nvSpPr>
          <p:spPr>
            <a:xfrm>
              <a:off x="8213408" y="322611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8369427" y="316992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乘数每次右移，控制器始终只看最低位</a:t>
              </a:r>
            </a:p>
          </p:txBody>
        </p:sp>
      </p:grpSp>
      <p:grpSp>
        <p:nvGrpSpPr>
          <p:cNvPr id="100" name="c2-card-2"/>
          <p:cNvGrpSpPr/>
          <p:nvPr/>
        </p:nvGrpSpPr>
        <p:grpSpPr>
          <a:xfrm>
            <a:off x="7980045" y="3737610"/>
            <a:ext cx="3678555" cy="2438400"/>
            <a:chOff x="7980045" y="3737610"/>
            <a:chExt cx="3678555" cy="2438400"/>
          </a:xfrm>
        </p:grpSpPr>
        <p:sp>
          <p:nvSpPr>
            <p:cNvPr id="91" name="Rectangle 91"/>
            <p:cNvSpPr/>
            <p:nvPr/>
          </p:nvSpPr>
          <p:spPr>
            <a:xfrm>
              <a:off x="7980045" y="3737610"/>
              <a:ext cx="3678555" cy="2438400"/>
            </a:xfrm>
            <a:prstGeom prst="roundRect">
              <a:avLst>
                <a:gd name="adj" fmla="val 54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2" name="Rectangle 92"/>
            <p:cNvSpPr/>
            <p:nvPr/>
          </p:nvSpPr>
          <p:spPr>
            <a:xfrm>
              <a:off x="7989570" y="3870960"/>
              <a:ext cx="47625" cy="217170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8204835" y="3924300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8282254" y="3957161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第一版的缺点</a:t>
              </a:r>
            </a:p>
          </p:txBody>
        </p:sp>
        <p:sp>
          <p:nvSpPr>
            <p:cNvPr id="95" name="Ellipse 95"/>
            <p:cNvSpPr/>
            <p:nvPr/>
          </p:nvSpPr>
          <p:spPr>
            <a:xfrm>
              <a:off x="8213408" y="432435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8369427" y="4268152"/>
              <a:ext cx="29283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被乘数寄存器、加法器、乘积寄存器都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 64 位</a:t>
              </a:r>
            </a:p>
          </p:txBody>
        </p:sp>
        <p:sp>
          <p:nvSpPr>
            <p:cNvPr id="97" name="Ellipse 97"/>
            <p:cNvSpPr/>
            <p:nvPr/>
          </p:nvSpPr>
          <p:spPr>
            <a:xfrm>
              <a:off x="8213408" y="488156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8369427" y="4825365"/>
              <a:ext cx="29283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每次迭代的加法和两次移位分步完成，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一次乘法要很多个时钟周期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8199120" y="5379244"/>
              <a:ext cx="309803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改进版把加法器和被乘数寄存器缩短到 32 位，加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法和移位在同一个时钟周期内完成。</a:t>
              </a:r>
            </a:p>
          </p:txBody>
        </p:sp>
      </p:grpSp>
      <p:grpSp>
        <p:nvGrpSpPr>
          <p:cNvPr id="10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1" name="TextBox 101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324338" cy="909257"/>
            <a:chOff x="520446" y="342900"/>
            <a:chExt cx="1032433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乘法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32433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改进后的乘法器：乘数放进乘积寄存器右半部，加法和移位同步进行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graph-1"/>
          <p:cNvGrpSpPr/>
          <p:nvPr/>
        </p:nvGrpSpPr>
        <p:grpSpPr>
          <a:xfrm>
            <a:off x="787718" y="1598295"/>
            <a:ext cx="4339589" cy="1944053"/>
            <a:chOff x="787718" y="1598295"/>
            <a:chExt cx="4339589" cy="1944053"/>
          </a:xfrm>
        </p:grpSpPr>
        <p:sp>
          <p:nvSpPr>
            <p:cNvPr id="7" name="Freeform 7"/>
            <p:cNvSpPr/>
            <p:nvPr/>
          </p:nvSpPr>
          <p:spPr>
            <a:xfrm>
              <a:off x="2466022" y="1859280"/>
              <a:ext cx="9525" cy="340043"/>
            </a:xfrm>
            <a:custGeom>
              <a:avLst/>
              <a:gdLst/>
              <a:ahLst/>
              <a:cxnLst/>
              <a:rect l="l" t="t" r="r" b="b"/>
              <a:pathLst>
                <a:path w="9525" h="340043">
                  <a:moveTo>
                    <a:pt x="0" y="0"/>
                  </a:moveTo>
                  <a:lnTo>
                    <a:pt x="0" y="34004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418398" y="219932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466022" y="2554605"/>
              <a:ext cx="9525" cy="219075"/>
            </a:xfrm>
            <a:custGeom>
              <a:avLst/>
              <a:gdLst/>
              <a:ahLst/>
              <a:cxnLst/>
              <a:rect l="l" t="t" r="r" b="b"/>
              <a:pathLst>
                <a:path w="9525" h="219075">
                  <a:moveTo>
                    <a:pt x="0" y="0"/>
                  </a:moveTo>
                  <a:lnTo>
                    <a:pt x="0" y="2190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418398" y="27736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787718" y="2425065"/>
              <a:ext cx="1187768" cy="573405"/>
            </a:xfrm>
            <a:custGeom>
              <a:avLst/>
              <a:gdLst/>
              <a:ahLst/>
              <a:cxnLst/>
              <a:rect l="l" t="t" r="r" b="b"/>
              <a:pathLst>
                <a:path w="1187768" h="573405">
                  <a:moveTo>
                    <a:pt x="974408" y="573405"/>
                  </a:moveTo>
                  <a:lnTo>
                    <a:pt x="0" y="573405"/>
                  </a:lnTo>
                  <a:lnTo>
                    <a:pt x="0" y="0"/>
                  </a:lnTo>
                  <a:lnTo>
                    <a:pt x="118776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975485" y="237744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682240" y="3128010"/>
              <a:ext cx="1946910" cy="414338"/>
            </a:xfrm>
            <a:custGeom>
              <a:avLst/>
              <a:gdLst/>
              <a:ahLst/>
              <a:cxnLst/>
              <a:rect l="l" t="t" r="r" b="b"/>
              <a:pathLst>
                <a:path w="1946910" h="414338">
                  <a:moveTo>
                    <a:pt x="0" y="0"/>
                  </a:moveTo>
                  <a:cubicBezTo>
                    <a:pt x="669290" y="401955"/>
                    <a:pt x="1318260" y="414338"/>
                    <a:pt x="1946910" y="37148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604385" y="3116580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105728" y="0"/>
                  </a:moveTo>
                  <a:lnTo>
                    <a:pt x="48578" y="89535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764155" y="2450465"/>
              <a:ext cx="1945958" cy="429895"/>
            </a:xfrm>
            <a:custGeom>
              <a:avLst/>
              <a:gdLst/>
              <a:ahLst/>
              <a:cxnLst/>
              <a:rect l="l" t="t" r="r" b="b"/>
              <a:pathLst>
                <a:path w="1945958" h="429895">
                  <a:moveTo>
                    <a:pt x="1945958" y="429895"/>
                  </a:moveTo>
                  <a:cubicBezTo>
                    <a:pt x="1263333" y="20320"/>
                    <a:pt x="614680" y="0"/>
                    <a:pt x="0" y="36893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682240" y="2778442"/>
              <a:ext cx="106680" cy="90488"/>
            </a:xfrm>
            <a:custGeom>
              <a:avLst/>
              <a:gdLst/>
              <a:ahLst/>
              <a:cxnLst/>
              <a:rect l="l" t="t" r="r" b="b"/>
              <a:pathLst>
                <a:path w="106680" h="90488">
                  <a:moveTo>
                    <a:pt x="0" y="90488"/>
                  </a:moveTo>
                  <a:lnTo>
                    <a:pt x="57150" y="0"/>
                  </a:lnTo>
                  <a:lnTo>
                    <a:pt x="106680" y="8191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956560" y="2425065"/>
              <a:ext cx="1950720" cy="343852"/>
            </a:xfrm>
            <a:custGeom>
              <a:avLst/>
              <a:gdLst/>
              <a:ahLst/>
              <a:cxnLst/>
              <a:rect l="l" t="t" r="r" b="b"/>
              <a:pathLst>
                <a:path w="1950720" h="343852">
                  <a:moveTo>
                    <a:pt x="1950720" y="343852"/>
                  </a:moveTo>
                  <a:lnTo>
                    <a:pt x="1950720" y="0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861310" y="237744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886902" y="1598295"/>
              <a:ext cx="1158240" cy="260032"/>
            </a:xfrm>
            <a:prstGeom prst="roundRect">
              <a:avLst>
                <a:gd name="adj" fmla="val 36630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070735" y="2294572"/>
              <a:ext cx="790575" cy="260032"/>
            </a:xfrm>
            <a:prstGeom prst="roundRect">
              <a:avLst>
                <a:gd name="adj" fmla="val 36630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762125" y="2868930"/>
              <a:ext cx="1406842" cy="260032"/>
            </a:xfrm>
            <a:prstGeom prst="roundRect">
              <a:avLst>
                <a:gd name="adj" fmla="val 36630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4687252" y="2778442"/>
              <a:ext cx="440055" cy="44005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968320" y="1668304"/>
              <a:ext cx="995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被乘数（32 位）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155433" y="2364581"/>
              <a:ext cx="6211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32 位 ALU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36392" y="2937986"/>
              <a:ext cx="12592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乘积（64 位，右移）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770399" y="293798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303145" y="1998345"/>
              <a:ext cx="325755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328794" y="2027396"/>
              <a:ext cx="27445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32 位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115502" y="2633662"/>
              <a:ext cx="70104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130095" y="2662714"/>
              <a:ext cx="671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和写回左半部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497580" y="3348038"/>
              <a:ext cx="38862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521545" y="3377089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最低位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392805" y="2491740"/>
              <a:ext cx="59721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411156" y="2520791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右移、写入</a:t>
              </a:r>
            </a:p>
          </p:txBody>
        </p:sp>
      </p:grpSp>
      <p:grpSp>
        <p:nvGrpSpPr>
          <p:cNvPr id="55" name="c1-table-2"/>
          <p:cNvGrpSpPr/>
          <p:nvPr/>
        </p:nvGrpSpPr>
        <p:grpSpPr>
          <a:xfrm>
            <a:off x="533400" y="3741420"/>
            <a:ext cx="5085398" cy="1600200"/>
            <a:chOff x="533400" y="3741420"/>
            <a:chExt cx="5085398" cy="1600200"/>
          </a:xfrm>
        </p:grpSpPr>
        <p:sp>
          <p:nvSpPr>
            <p:cNvPr id="36" name="Rectangle 36"/>
            <p:cNvSpPr/>
            <p:nvPr/>
          </p:nvSpPr>
          <p:spPr>
            <a:xfrm>
              <a:off x="533400" y="3741420"/>
              <a:ext cx="5085398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87463" y="386286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386546" y="386286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第一版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319168" y="386286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改进版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0555" y="426291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加法器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850708" y="4262914"/>
              <a:ext cx="373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 位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580448" y="4262914"/>
              <a:ext cx="373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位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4536758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3400" y="4541520"/>
              <a:ext cx="508539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0555" y="466296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被乘数寄存器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850708" y="4662964"/>
              <a:ext cx="8256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 位，左移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580448" y="4662964"/>
              <a:ext cx="9763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位，不移动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4936808"/>
              <a:ext cx="508539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0555" y="506301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乘数寄存器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850708" y="5063014"/>
              <a:ext cx="8256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位，右移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580448" y="506301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并入乘积寄存器右半部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3741420"/>
              <a:ext cx="5085398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1748790" y="374142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3478530" y="374142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1" name="c2-table-1"/>
          <p:cNvGrpSpPr/>
          <p:nvPr/>
        </p:nvGrpSpPr>
        <p:grpSpPr>
          <a:xfrm>
            <a:off x="5923598" y="1524000"/>
            <a:ext cx="5735002" cy="2800350"/>
            <a:chOff x="5923598" y="1524000"/>
            <a:chExt cx="5735002" cy="2800350"/>
          </a:xfrm>
        </p:grpSpPr>
        <p:sp>
          <p:nvSpPr>
            <p:cNvPr id="56" name="Rectangle 56"/>
            <p:cNvSpPr/>
            <p:nvPr/>
          </p:nvSpPr>
          <p:spPr>
            <a:xfrm>
              <a:off x="5923598" y="1524000"/>
              <a:ext cx="5735002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14048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迭代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867106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最低位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998198" y="1645444"/>
              <a:ext cx="14705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操作（同样算 2 × 3）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415842" y="16454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乘积寄存器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247726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626667" y="2045494"/>
              <a:ext cx="18734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左半清 0，右半放乘数 0011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438458" y="2045494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0000 0011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923598" y="2319338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5923598" y="2324100"/>
              <a:ext cx="5735002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247726" y="25455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051805" y="254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626667" y="2445544"/>
              <a:ext cx="203123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左半 + 0010 → 0010 0011，再右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438458" y="2545556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0001 0001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5923598" y="2919412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247726" y="31456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051805" y="31456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626667" y="3045619"/>
              <a:ext cx="203123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左半 + 0010 → 0011 0001，再右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438458" y="3145631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0001 1000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5923598" y="3519488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5923598" y="3524250"/>
              <a:ext cx="573500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247726" y="36456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051805" y="36456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626667" y="36456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只右移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438458" y="3645694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0000 1100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5923598" y="3919538"/>
              <a:ext cx="573500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247726" y="40457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051805" y="40457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626667" y="40457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只右移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9947910" y="3933825"/>
              <a:ext cx="1701165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10310299" y="4045744"/>
              <a:ext cx="9763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0110 = 6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5923598" y="1524000"/>
              <a:ext cx="5735002" cy="28003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8" name="Rectangle 88"/>
            <p:cNvSpPr/>
            <p:nvPr/>
          </p:nvSpPr>
          <p:spPr>
            <a:xfrm>
              <a:off x="6664642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7524750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9933622" y="1524000"/>
              <a:ext cx="9525" cy="28003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8" name="c2-callout-2"/>
          <p:cNvGrpSpPr/>
          <p:nvPr/>
        </p:nvGrpSpPr>
        <p:grpSpPr>
          <a:xfrm>
            <a:off x="5923598" y="4493895"/>
            <a:ext cx="5735002" cy="729615"/>
            <a:chOff x="5923598" y="4493895"/>
            <a:chExt cx="5735002" cy="729615"/>
          </a:xfrm>
        </p:grpSpPr>
        <p:sp>
          <p:nvSpPr>
            <p:cNvPr id="92" name="Rectangle 92"/>
            <p:cNvSpPr/>
            <p:nvPr/>
          </p:nvSpPr>
          <p:spPr>
            <a:xfrm>
              <a:off x="5923598" y="4493895"/>
              <a:ext cx="5735002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96" name="Group 96"/>
            <p:cNvGrpSpPr/>
            <p:nvPr/>
          </p:nvGrpSpPr>
          <p:grpSpPr>
            <a:xfrm>
              <a:off x="6128385" y="4758690"/>
              <a:ext cx="200026" cy="200025"/>
              <a:chOff x="6128385" y="4758690"/>
              <a:chExt cx="200026" cy="200025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6128385" y="475869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6168124" y="480314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5" name="Freeform 95"/>
              <p:cNvSpPr/>
              <p:nvPr/>
            </p:nvSpPr>
            <p:spPr>
              <a:xfrm>
                <a:off x="6202839" y="491426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7" name="TextBox 97"/>
            <p:cNvSpPr txBox="1"/>
            <p:nvPr/>
          </p:nvSpPr>
          <p:spPr>
            <a:xfrm>
              <a:off x="6431089" y="4640580"/>
              <a:ext cx="478859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乘积寄存器实际需要 65 位：多出的 1 位保存加法器的进位，右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移时移入最高位。</a:t>
              </a:r>
            </a:p>
          </p:txBody>
        </p:sp>
      </p:grpSp>
      <p:grpSp>
        <p:nvGrpSpPr>
          <p:cNvPr id="105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99" name="Rectangle 99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03" name="Group 103"/>
            <p:cNvGrpSpPr/>
            <p:nvPr/>
          </p:nvGrpSpPr>
          <p:grpSpPr>
            <a:xfrm>
              <a:off x="738188" y="5897880"/>
              <a:ext cx="200026" cy="200026"/>
              <a:chOff x="738188" y="5897880"/>
              <a:chExt cx="200026" cy="200026"/>
            </a:xfrm>
          </p:grpSpPr>
          <p:sp>
            <p:nvSpPr>
              <p:cNvPr id="100" name="Freeform 100"/>
              <p:cNvSpPr/>
              <p:nvPr/>
            </p:nvSpPr>
            <p:spPr>
              <a:xfrm>
                <a:off x="738188" y="58978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838200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02" name="Freeform 102"/>
              <p:cNvSpPr/>
              <p:nvPr/>
            </p:nvSpPr>
            <p:spPr>
              <a:xfrm>
                <a:off x="827088" y="59978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04" name="TextBox 104"/>
            <p:cNvSpPr txBox="1"/>
            <p:nvPr/>
          </p:nvSpPr>
          <p:spPr>
            <a:xfrm>
              <a:off x="1040892" y="5779770"/>
              <a:ext cx="997496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更正：原课件"一个时钟完成一次积：频率较低"译意不清。原意是每个时钟周期完成一次部分积相加，乘法用得不多时这样的速度可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以接受。</a:t>
              </a:r>
            </a:p>
          </p:txBody>
        </p:sp>
      </p:grpSp>
      <p:grpSp>
        <p:nvGrpSpPr>
          <p:cNvPr id="10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6" name="TextBox 106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乘法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快速乘法器：用多个加法器排成树，用硬件成本换速度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3" name="c1-graph-1"/>
          <p:cNvGrpSpPr/>
          <p:nvPr/>
        </p:nvGrpSpPr>
        <p:grpSpPr>
          <a:xfrm>
            <a:off x="528447" y="1676876"/>
            <a:ext cx="5676532" cy="3563303"/>
            <a:chOff x="528447" y="1676876"/>
            <a:chExt cx="5676532" cy="3563303"/>
          </a:xfrm>
        </p:grpSpPr>
        <p:sp>
          <p:nvSpPr>
            <p:cNvPr id="7" name="Freeform 7"/>
            <p:cNvSpPr/>
            <p:nvPr/>
          </p:nvSpPr>
          <p:spPr>
            <a:xfrm>
              <a:off x="947738" y="1861185"/>
              <a:ext cx="240030" cy="647700"/>
            </a:xfrm>
            <a:custGeom>
              <a:avLst/>
              <a:gdLst/>
              <a:ahLst/>
              <a:cxnLst/>
              <a:rect l="l" t="t" r="r" b="b"/>
              <a:pathLst>
                <a:path w="240030" h="647700">
                  <a:moveTo>
                    <a:pt x="0" y="0"/>
                  </a:moveTo>
                  <a:lnTo>
                    <a:pt x="240030" y="6477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143000" y="2491740"/>
              <a:ext cx="89535" cy="106680"/>
            </a:xfrm>
            <a:custGeom>
              <a:avLst/>
              <a:gdLst/>
              <a:ahLst/>
              <a:cxnLst/>
              <a:rect l="l" t="t" r="r" b="b"/>
              <a:pathLst>
                <a:path w="89535" h="106680">
                  <a:moveTo>
                    <a:pt x="78105" y="106680"/>
                  </a:moveTo>
                  <a:lnTo>
                    <a:pt x="0" y="33338"/>
                  </a:lnTo>
                  <a:lnTo>
                    <a:pt x="8953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366838" y="1861185"/>
              <a:ext cx="240030" cy="647700"/>
            </a:xfrm>
            <a:custGeom>
              <a:avLst/>
              <a:gdLst/>
              <a:ahLst/>
              <a:cxnLst/>
              <a:rect l="l" t="t" r="r" b="b"/>
              <a:pathLst>
                <a:path w="240030" h="647700">
                  <a:moveTo>
                    <a:pt x="240030" y="0"/>
                  </a:moveTo>
                  <a:lnTo>
                    <a:pt x="0" y="6477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322070" y="2491740"/>
              <a:ext cx="89535" cy="106680"/>
            </a:xfrm>
            <a:custGeom>
              <a:avLst/>
              <a:gdLst/>
              <a:ahLst/>
              <a:cxnLst/>
              <a:rect l="l" t="t" r="r" b="b"/>
              <a:pathLst>
                <a:path w="89535" h="106680">
                  <a:moveTo>
                    <a:pt x="11430" y="106680"/>
                  </a:moveTo>
                  <a:lnTo>
                    <a:pt x="0" y="0"/>
                  </a:lnTo>
                  <a:lnTo>
                    <a:pt x="89535" y="3333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435542" y="1861185"/>
              <a:ext cx="240030" cy="647700"/>
            </a:xfrm>
            <a:custGeom>
              <a:avLst/>
              <a:gdLst/>
              <a:ahLst/>
              <a:cxnLst/>
              <a:rect l="l" t="t" r="r" b="b"/>
              <a:pathLst>
                <a:path w="240030" h="647700">
                  <a:moveTo>
                    <a:pt x="0" y="0"/>
                  </a:moveTo>
                  <a:lnTo>
                    <a:pt x="240030" y="6477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630805" y="2491740"/>
              <a:ext cx="89535" cy="106680"/>
            </a:xfrm>
            <a:custGeom>
              <a:avLst/>
              <a:gdLst/>
              <a:ahLst/>
              <a:cxnLst/>
              <a:rect l="l" t="t" r="r" b="b"/>
              <a:pathLst>
                <a:path w="89535" h="106680">
                  <a:moveTo>
                    <a:pt x="78105" y="106680"/>
                  </a:moveTo>
                  <a:lnTo>
                    <a:pt x="0" y="33338"/>
                  </a:lnTo>
                  <a:lnTo>
                    <a:pt x="8953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854642" y="1861185"/>
              <a:ext cx="240030" cy="647700"/>
            </a:xfrm>
            <a:custGeom>
              <a:avLst/>
              <a:gdLst/>
              <a:ahLst/>
              <a:cxnLst/>
              <a:rect l="l" t="t" r="r" b="b"/>
              <a:pathLst>
                <a:path w="240030" h="647700">
                  <a:moveTo>
                    <a:pt x="240030" y="0"/>
                  </a:moveTo>
                  <a:lnTo>
                    <a:pt x="0" y="6477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809875" y="2491740"/>
              <a:ext cx="89535" cy="106680"/>
            </a:xfrm>
            <a:custGeom>
              <a:avLst/>
              <a:gdLst/>
              <a:ahLst/>
              <a:cxnLst/>
              <a:rect l="l" t="t" r="r" b="b"/>
              <a:pathLst>
                <a:path w="89535" h="106680">
                  <a:moveTo>
                    <a:pt x="11430" y="106680"/>
                  </a:moveTo>
                  <a:lnTo>
                    <a:pt x="0" y="0"/>
                  </a:lnTo>
                  <a:lnTo>
                    <a:pt x="89535" y="3333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923348" y="1861185"/>
              <a:ext cx="240030" cy="647700"/>
            </a:xfrm>
            <a:custGeom>
              <a:avLst/>
              <a:gdLst/>
              <a:ahLst/>
              <a:cxnLst/>
              <a:rect l="l" t="t" r="r" b="b"/>
              <a:pathLst>
                <a:path w="240030" h="647700">
                  <a:moveTo>
                    <a:pt x="0" y="0"/>
                  </a:moveTo>
                  <a:lnTo>
                    <a:pt x="240030" y="6477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118610" y="2491740"/>
              <a:ext cx="89535" cy="106680"/>
            </a:xfrm>
            <a:custGeom>
              <a:avLst/>
              <a:gdLst/>
              <a:ahLst/>
              <a:cxnLst/>
              <a:rect l="l" t="t" r="r" b="b"/>
              <a:pathLst>
                <a:path w="89535" h="106680">
                  <a:moveTo>
                    <a:pt x="78105" y="106680"/>
                  </a:moveTo>
                  <a:lnTo>
                    <a:pt x="0" y="33338"/>
                  </a:lnTo>
                  <a:lnTo>
                    <a:pt x="8953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4342448" y="1861185"/>
              <a:ext cx="240030" cy="647700"/>
            </a:xfrm>
            <a:custGeom>
              <a:avLst/>
              <a:gdLst/>
              <a:ahLst/>
              <a:cxnLst/>
              <a:rect l="l" t="t" r="r" b="b"/>
              <a:pathLst>
                <a:path w="240030" h="647700">
                  <a:moveTo>
                    <a:pt x="240030" y="0"/>
                  </a:moveTo>
                  <a:lnTo>
                    <a:pt x="0" y="6477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297680" y="2491740"/>
              <a:ext cx="89535" cy="106680"/>
            </a:xfrm>
            <a:custGeom>
              <a:avLst/>
              <a:gdLst/>
              <a:ahLst/>
              <a:cxnLst/>
              <a:rect l="l" t="t" r="r" b="b"/>
              <a:pathLst>
                <a:path w="89535" h="106680">
                  <a:moveTo>
                    <a:pt x="11430" y="106680"/>
                  </a:moveTo>
                  <a:lnTo>
                    <a:pt x="0" y="0"/>
                  </a:lnTo>
                  <a:lnTo>
                    <a:pt x="89535" y="3333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5411152" y="1861185"/>
              <a:ext cx="240030" cy="647700"/>
            </a:xfrm>
            <a:custGeom>
              <a:avLst/>
              <a:gdLst/>
              <a:ahLst/>
              <a:cxnLst/>
              <a:rect l="l" t="t" r="r" b="b"/>
              <a:pathLst>
                <a:path w="240030" h="647700">
                  <a:moveTo>
                    <a:pt x="0" y="0"/>
                  </a:moveTo>
                  <a:lnTo>
                    <a:pt x="240030" y="6477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606415" y="2491740"/>
              <a:ext cx="89535" cy="106680"/>
            </a:xfrm>
            <a:custGeom>
              <a:avLst/>
              <a:gdLst/>
              <a:ahLst/>
              <a:cxnLst/>
              <a:rect l="l" t="t" r="r" b="b"/>
              <a:pathLst>
                <a:path w="89535" h="106680">
                  <a:moveTo>
                    <a:pt x="78105" y="106680"/>
                  </a:moveTo>
                  <a:lnTo>
                    <a:pt x="0" y="33338"/>
                  </a:lnTo>
                  <a:lnTo>
                    <a:pt x="8953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5830252" y="1861185"/>
              <a:ext cx="240030" cy="647700"/>
            </a:xfrm>
            <a:custGeom>
              <a:avLst/>
              <a:gdLst/>
              <a:ahLst/>
              <a:cxnLst/>
              <a:rect l="l" t="t" r="r" b="b"/>
              <a:pathLst>
                <a:path w="240030" h="647700">
                  <a:moveTo>
                    <a:pt x="240030" y="0"/>
                  </a:moveTo>
                  <a:lnTo>
                    <a:pt x="0" y="64770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785485" y="2491740"/>
              <a:ext cx="89535" cy="106680"/>
            </a:xfrm>
            <a:custGeom>
              <a:avLst/>
              <a:gdLst/>
              <a:ahLst/>
              <a:cxnLst/>
              <a:rect l="l" t="t" r="r" b="b"/>
              <a:pathLst>
                <a:path w="89535" h="106680">
                  <a:moveTo>
                    <a:pt x="11430" y="106680"/>
                  </a:moveTo>
                  <a:lnTo>
                    <a:pt x="0" y="0"/>
                  </a:lnTo>
                  <a:lnTo>
                    <a:pt x="89535" y="3333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1378268" y="2876550"/>
              <a:ext cx="481965" cy="601028"/>
            </a:xfrm>
            <a:custGeom>
              <a:avLst/>
              <a:gdLst/>
              <a:ahLst/>
              <a:cxnLst/>
              <a:rect l="l" t="t" r="r" b="b"/>
              <a:pathLst>
                <a:path w="481965" h="601028">
                  <a:moveTo>
                    <a:pt x="0" y="0"/>
                  </a:moveTo>
                  <a:lnTo>
                    <a:pt x="481965" y="60102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823085" y="3448050"/>
              <a:ext cx="97155" cy="103822"/>
            </a:xfrm>
            <a:custGeom>
              <a:avLst/>
              <a:gdLst/>
              <a:ahLst/>
              <a:cxnLst/>
              <a:rect l="l" t="t" r="r" b="b"/>
              <a:pathLst>
                <a:path w="97155" h="103822">
                  <a:moveTo>
                    <a:pt x="97155" y="103822"/>
                  </a:moveTo>
                  <a:lnTo>
                    <a:pt x="0" y="60008"/>
                  </a:lnTo>
                  <a:lnTo>
                    <a:pt x="7429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2182178" y="2876550"/>
              <a:ext cx="481965" cy="601028"/>
            </a:xfrm>
            <a:custGeom>
              <a:avLst/>
              <a:gdLst/>
              <a:ahLst/>
              <a:cxnLst/>
              <a:rect l="l" t="t" r="r" b="b"/>
              <a:pathLst>
                <a:path w="481965" h="601028">
                  <a:moveTo>
                    <a:pt x="481965" y="0"/>
                  </a:moveTo>
                  <a:lnTo>
                    <a:pt x="0" y="60102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2122170" y="3448050"/>
              <a:ext cx="97155" cy="103822"/>
            </a:xfrm>
            <a:custGeom>
              <a:avLst/>
              <a:gdLst/>
              <a:ahLst/>
              <a:cxnLst/>
              <a:rect l="l" t="t" r="r" b="b"/>
              <a:pathLst>
                <a:path w="97155" h="103822">
                  <a:moveTo>
                    <a:pt x="0" y="103822"/>
                  </a:moveTo>
                  <a:lnTo>
                    <a:pt x="22860" y="0"/>
                  </a:lnTo>
                  <a:lnTo>
                    <a:pt x="97155" y="6000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4353878" y="2876550"/>
              <a:ext cx="481965" cy="601028"/>
            </a:xfrm>
            <a:custGeom>
              <a:avLst/>
              <a:gdLst/>
              <a:ahLst/>
              <a:cxnLst/>
              <a:rect l="l" t="t" r="r" b="b"/>
              <a:pathLst>
                <a:path w="481965" h="601028">
                  <a:moveTo>
                    <a:pt x="0" y="0"/>
                  </a:moveTo>
                  <a:lnTo>
                    <a:pt x="481965" y="60102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4798695" y="3448050"/>
              <a:ext cx="97155" cy="103822"/>
            </a:xfrm>
            <a:custGeom>
              <a:avLst/>
              <a:gdLst/>
              <a:ahLst/>
              <a:cxnLst/>
              <a:rect l="l" t="t" r="r" b="b"/>
              <a:pathLst>
                <a:path w="97155" h="103822">
                  <a:moveTo>
                    <a:pt x="97155" y="103822"/>
                  </a:moveTo>
                  <a:lnTo>
                    <a:pt x="0" y="60008"/>
                  </a:lnTo>
                  <a:lnTo>
                    <a:pt x="7429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5157788" y="2876550"/>
              <a:ext cx="481965" cy="601028"/>
            </a:xfrm>
            <a:custGeom>
              <a:avLst/>
              <a:gdLst/>
              <a:ahLst/>
              <a:cxnLst/>
              <a:rect l="l" t="t" r="r" b="b"/>
              <a:pathLst>
                <a:path w="481965" h="601028">
                  <a:moveTo>
                    <a:pt x="481965" y="0"/>
                  </a:moveTo>
                  <a:lnTo>
                    <a:pt x="0" y="60102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5097780" y="3448050"/>
              <a:ext cx="97155" cy="103822"/>
            </a:xfrm>
            <a:custGeom>
              <a:avLst/>
              <a:gdLst/>
              <a:ahLst/>
              <a:cxnLst/>
              <a:rect l="l" t="t" r="r" b="b"/>
              <a:pathLst>
                <a:path w="97155" h="103822">
                  <a:moveTo>
                    <a:pt x="0" y="103822"/>
                  </a:moveTo>
                  <a:lnTo>
                    <a:pt x="22860" y="0"/>
                  </a:lnTo>
                  <a:lnTo>
                    <a:pt x="97155" y="6000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2163128" y="3756660"/>
              <a:ext cx="1120140" cy="615315"/>
            </a:xfrm>
            <a:custGeom>
              <a:avLst/>
              <a:gdLst/>
              <a:ahLst/>
              <a:cxnLst/>
              <a:rect l="l" t="t" r="r" b="b"/>
              <a:pathLst>
                <a:path w="1120140" h="615315">
                  <a:moveTo>
                    <a:pt x="0" y="0"/>
                  </a:moveTo>
                  <a:lnTo>
                    <a:pt x="1120140" y="6153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3260408" y="4330065"/>
              <a:ext cx="106680" cy="87630"/>
            </a:xfrm>
            <a:custGeom>
              <a:avLst/>
              <a:gdLst/>
              <a:ahLst/>
              <a:cxnLst/>
              <a:rect l="l" t="t" r="r" b="b"/>
              <a:pathLst>
                <a:path w="106680" h="87630">
                  <a:moveTo>
                    <a:pt x="106680" y="87630"/>
                  </a:moveTo>
                  <a:lnTo>
                    <a:pt x="0" y="83820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3734752" y="3756660"/>
              <a:ext cx="1120140" cy="615315"/>
            </a:xfrm>
            <a:custGeom>
              <a:avLst/>
              <a:gdLst/>
              <a:ahLst/>
              <a:cxnLst/>
              <a:rect l="l" t="t" r="r" b="b"/>
              <a:pathLst>
                <a:path w="1120140" h="615315">
                  <a:moveTo>
                    <a:pt x="1120140" y="0"/>
                  </a:moveTo>
                  <a:lnTo>
                    <a:pt x="0" y="6153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3650932" y="4330065"/>
              <a:ext cx="106680" cy="87630"/>
            </a:xfrm>
            <a:custGeom>
              <a:avLst/>
              <a:gdLst/>
              <a:ahLst/>
              <a:cxnLst/>
              <a:rect l="l" t="t" r="r" b="b"/>
              <a:pathLst>
                <a:path w="106680" h="87630">
                  <a:moveTo>
                    <a:pt x="0" y="87630"/>
                  </a:moveTo>
                  <a:lnTo>
                    <a:pt x="60960" y="0"/>
                  </a:lnTo>
                  <a:lnTo>
                    <a:pt x="106680" y="8382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3509010" y="4657725"/>
              <a:ext cx="9525" cy="222885"/>
            </a:xfrm>
            <a:custGeom>
              <a:avLst/>
              <a:gdLst/>
              <a:ahLst/>
              <a:cxnLst/>
              <a:rect l="l" t="t" r="r" b="b"/>
              <a:pathLst>
                <a:path w="9525" h="222885">
                  <a:moveTo>
                    <a:pt x="0" y="0"/>
                  </a:moveTo>
                  <a:lnTo>
                    <a:pt x="0" y="22288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3461385" y="488061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1124902" y="2597468"/>
              <a:ext cx="304800" cy="30480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2612708" y="2597468"/>
              <a:ext cx="304800" cy="30480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4100512" y="2597468"/>
              <a:ext cx="304800" cy="30480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5588318" y="2597468"/>
              <a:ext cx="304800" cy="30480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1868805" y="3526155"/>
              <a:ext cx="304800" cy="30480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4844415" y="3526155"/>
              <a:ext cx="304800" cy="304800"/>
            </a:xfrm>
            <a:prstGeom prst="ellipse">
              <a:avLst/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3356610" y="4343400"/>
              <a:ext cx="304800" cy="304800"/>
            </a:xfrm>
            <a:prstGeom prst="ellipse">
              <a:avLst/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12088" y="167687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p7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556943" y="167687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p6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299893" y="167687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043795" y="167687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787698" y="167687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532553" y="167687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275503" y="167687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019405" y="167687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228051" y="26798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715856" y="26798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203661" y="26798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691466" y="26798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971954" y="36085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947564" y="36085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459759" y="44257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352521" y="502015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乘积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28447" y="2681764"/>
              <a:ext cx="4254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1 层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28447" y="3610451"/>
              <a:ext cx="4254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2 层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28447" y="4427696"/>
              <a:ext cx="4254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3 层</a:t>
              </a:r>
            </a:p>
          </p:txBody>
        </p:sp>
      </p:grpSp>
      <p:grpSp>
        <p:nvGrpSpPr>
          <p:cNvPr id="65" name="c1-text-2"/>
          <p:cNvGrpSpPr/>
          <p:nvPr/>
        </p:nvGrpSpPr>
        <p:grpSpPr>
          <a:xfrm>
            <a:off x="527304" y="5438775"/>
            <a:ext cx="5673852" cy="470916"/>
            <a:chOff x="527304" y="5438775"/>
            <a:chExt cx="5673852" cy="470916"/>
          </a:xfrm>
        </p:grpSpPr>
        <p:sp>
          <p:nvSpPr>
            <p:cNvPr id="64" name="TextBox 64"/>
            <p:cNvSpPr txBox="1"/>
            <p:nvPr/>
          </p:nvSpPr>
          <p:spPr>
            <a:xfrm>
              <a:off x="527304" y="5438775"/>
              <a:ext cx="5673852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图中只画 8 个部分积：7 个加法器，3 层。pᵢ = 乘数第 i 位 · 被乘数（逐位相与），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参加相加前按位权错开。</a:t>
              </a:r>
            </a:p>
          </p:txBody>
        </p:sp>
      </p:grpSp>
      <p:grpSp>
        <p:nvGrpSpPr>
          <p:cNvPr id="76" name="c2-card-1"/>
          <p:cNvGrpSpPr/>
          <p:nvPr/>
        </p:nvGrpSpPr>
        <p:grpSpPr>
          <a:xfrm>
            <a:off x="6789420" y="1524000"/>
            <a:ext cx="4869180" cy="1886902"/>
            <a:chOff x="6789420" y="1524000"/>
            <a:chExt cx="4869180" cy="1886902"/>
          </a:xfrm>
        </p:grpSpPr>
        <p:sp>
          <p:nvSpPr>
            <p:cNvPr id="66" name="Rectangle 66"/>
            <p:cNvSpPr/>
            <p:nvPr/>
          </p:nvSpPr>
          <p:spPr>
            <a:xfrm>
              <a:off x="6789420" y="1524000"/>
              <a:ext cx="4869180" cy="1886902"/>
            </a:xfrm>
            <a:prstGeom prst="roundRect">
              <a:avLst>
                <a:gd name="adj" fmla="val 70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798945" y="1657350"/>
              <a:ext cx="47625" cy="162020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7025640" y="1722120"/>
              <a:ext cx="1205865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095293" y="1756410"/>
              <a:ext cx="10665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32 位快速乘法器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7033260" y="214312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189851" y="2082641"/>
              <a:ext cx="34612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个部分积 Mplier_i · Mcand 同时产生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7033260" y="246030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189851" y="2400776"/>
              <a:ext cx="39237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 个 32 位加法器排成树，深度 log₂32 = 5 层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7033260" y="277844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189851" y="2717959"/>
              <a:ext cx="405409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乘积的低位和高位从各级加法器旁路输出，中间 32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 Product47..16 由树根给出</a:t>
              </a:r>
            </a:p>
          </p:txBody>
        </p:sp>
      </p:grpSp>
      <p:grpSp>
        <p:nvGrpSpPr>
          <p:cNvPr id="96" name="c2-table-2"/>
          <p:cNvGrpSpPr/>
          <p:nvPr/>
        </p:nvGrpSpPr>
        <p:grpSpPr>
          <a:xfrm>
            <a:off x="6789420" y="3590925"/>
            <a:ext cx="4869180" cy="1697355"/>
            <a:chOff x="6789420" y="3590925"/>
            <a:chExt cx="4869180" cy="1697355"/>
          </a:xfrm>
        </p:grpSpPr>
        <p:sp>
          <p:nvSpPr>
            <p:cNvPr id="77" name="Rectangle 77"/>
            <p:cNvSpPr/>
            <p:nvPr/>
          </p:nvSpPr>
          <p:spPr>
            <a:xfrm>
              <a:off x="6789420" y="3590925"/>
              <a:ext cx="4869180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157085" y="371951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295132" y="371951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移位加乘法器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275189" y="371951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快速乘法器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891909" y="414337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加法器个数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963472" y="414337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813226" y="414337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6789420" y="443484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6789420" y="4439602"/>
              <a:ext cx="486918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891909" y="456819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加法次数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963472" y="4568190"/>
              <a:ext cx="1530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次，一次一个周期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9813226" y="4568190"/>
              <a:ext cx="9572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层并行加法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6789420" y="485965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891909" y="499205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成本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7963472" y="499205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9813226" y="499205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6789420" y="3590925"/>
              <a:ext cx="4869180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4" name="Rectangle 94"/>
            <p:cNvSpPr/>
            <p:nvPr/>
          </p:nvSpPr>
          <p:spPr>
            <a:xfrm>
              <a:off x="7856220" y="3590925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5" name="Rectangle 95"/>
            <p:cNvSpPr/>
            <p:nvPr/>
          </p:nvSpPr>
          <p:spPr>
            <a:xfrm>
              <a:off x="9705975" y="3590925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03" name="c2-callout-3"/>
          <p:cNvGrpSpPr/>
          <p:nvPr/>
        </p:nvGrpSpPr>
        <p:grpSpPr>
          <a:xfrm>
            <a:off x="6789420" y="5468302"/>
            <a:ext cx="4869180" cy="756285"/>
            <a:chOff x="6789420" y="5468302"/>
            <a:chExt cx="4869180" cy="756285"/>
          </a:xfrm>
        </p:grpSpPr>
        <p:sp>
          <p:nvSpPr>
            <p:cNvPr id="97" name="Rectangle 97"/>
            <p:cNvSpPr/>
            <p:nvPr/>
          </p:nvSpPr>
          <p:spPr>
            <a:xfrm>
              <a:off x="6789420" y="5468302"/>
              <a:ext cx="486918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01" name="Group 101"/>
            <p:cNvGrpSpPr/>
            <p:nvPr/>
          </p:nvGrpSpPr>
          <p:grpSpPr>
            <a:xfrm>
              <a:off x="6994208" y="5746433"/>
              <a:ext cx="200026" cy="200025"/>
              <a:chOff x="6994208" y="5746433"/>
              <a:chExt cx="200026" cy="200025"/>
            </a:xfrm>
          </p:grpSpPr>
          <p:sp>
            <p:nvSpPr>
              <p:cNvPr id="98" name="Freeform 98"/>
              <p:cNvSpPr/>
              <p:nvPr/>
            </p:nvSpPr>
            <p:spPr>
              <a:xfrm>
                <a:off x="6994208" y="574643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9" name="Freeform 99"/>
              <p:cNvSpPr/>
              <p:nvPr/>
            </p:nvSpPr>
            <p:spPr>
              <a:xfrm>
                <a:off x="7033946" y="579088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7068662" y="590200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02" name="TextBox 102"/>
            <p:cNvSpPr txBox="1"/>
            <p:nvPr/>
          </p:nvSpPr>
          <p:spPr>
            <a:xfrm>
              <a:off x="7296531" y="5616416"/>
              <a:ext cx="398195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加法树的层与层之间可以加寄存器做成流水线，几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次乘法同时处在不同的层上。</a:t>
              </a:r>
            </a:p>
          </p:txBody>
        </p:sp>
      </p:grpSp>
      <p:grpSp>
        <p:nvGrpSpPr>
          <p:cNvPr id="10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4" name="TextBox 104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913376" cy="3351847"/>
            <a:chOff x="667512" y="1835468"/>
            <a:chExt cx="4913376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00584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试着减一下：够减商 1，不够减商 0 并把余数恢复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283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3.4 手算除法与恢复余数法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除法器与改进后的除法器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带符号除法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5476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MIPS 的乘除指令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42261" cy="909257"/>
            <a:chOff x="520446" y="342900"/>
            <a:chExt cx="86422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除法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422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手算除法：够减商 1 并相减，不够减商 0、再移入下一位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760595" cy="2733675"/>
            <a:chOff x="533400" y="1524000"/>
            <a:chExt cx="4760595" cy="27336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2733675"/>
            </a:xfrm>
            <a:prstGeom prst="roundRect">
              <a:avLst>
                <a:gd name="adj" fmla="val 348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9228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例：1001010 ÷ 1000（74 ÷ 8）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2785110" cy="22488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    1001     商 Quotient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---------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1000   ) 1001010     被除数 Dividend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-1000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----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10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101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1010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-1000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----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      10     余数 Remainder</a:t>
              </a:r>
            </a:p>
          </p:txBody>
        </p:sp>
      </p:grpSp>
      <p:grpSp>
        <p:nvGrpSpPr>
          <p:cNvPr id="16" name="c1-callout-2"/>
          <p:cNvGrpSpPr/>
          <p:nvPr/>
        </p:nvGrpSpPr>
        <p:grpSpPr>
          <a:xfrm>
            <a:off x="533400" y="4448175"/>
            <a:ext cx="4760595" cy="782955"/>
            <a:chOff x="533400" y="4448175"/>
            <a:chExt cx="4760595" cy="782955"/>
          </a:xfrm>
        </p:grpSpPr>
        <p:sp>
          <p:nvSpPr>
            <p:cNvPr id="11" name="Rectangle 11"/>
            <p:cNvSpPr/>
            <p:nvPr/>
          </p:nvSpPr>
          <p:spPr>
            <a:xfrm>
              <a:off x="533400" y="4448175"/>
              <a:ext cx="4760595" cy="782955"/>
            </a:xfrm>
            <a:prstGeom prst="roundRect">
              <a:avLst>
                <a:gd name="adj" fmla="val 1459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38188" y="4739642"/>
              <a:ext cx="200023" cy="200023"/>
              <a:chOff x="738188" y="4739642"/>
              <a:chExt cx="200023" cy="20002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473964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71538" y="48063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40130" y="4596765"/>
              <a:ext cx="36252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复核：74 = 9 × 8 + 2，商 1001 = 9，余数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 = 2。n 位操作得到 n 位商和 n 位余数。</a:t>
              </a:r>
            </a:p>
          </p:txBody>
        </p:sp>
      </p:grpSp>
      <p:grpSp>
        <p:nvGrpSpPr>
          <p:cNvPr id="34" name="c2-steps-1"/>
          <p:cNvGrpSpPr/>
          <p:nvPr/>
        </p:nvGrpSpPr>
        <p:grpSpPr>
          <a:xfrm>
            <a:off x="5598795" y="1533525"/>
            <a:ext cx="5790057" cy="2764440"/>
            <a:chOff x="5598795" y="1533525"/>
            <a:chExt cx="5790057" cy="2764440"/>
          </a:xfrm>
        </p:grpSpPr>
        <p:sp>
          <p:nvSpPr>
            <p:cNvPr id="17" name="Rectangle 17"/>
            <p:cNvSpPr/>
            <p:nvPr/>
          </p:nvSpPr>
          <p:spPr>
            <a:xfrm>
              <a:off x="5732145" y="1676400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598795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69241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598795" y="21840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692419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598795" y="306990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692419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5598795" y="37204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692419" y="37942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10275" y="15678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查除数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11418" y="1861661"/>
              <a:ext cx="22788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除数为 0 是无效操作，先检查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10275" y="221837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11418" y="2512219"/>
              <a:ext cx="53774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从被除数高位起取出和除数一样长的部分：除数 ≤ 这部分时商上 1，并减去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10275" y="310419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移入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011418" y="3397091"/>
              <a:ext cx="36056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否则商上 0，再从被除数取下一位接到余数后面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010275" y="375475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重复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11418" y="4048601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直到被除数的位全部取完，最后剩下的就是余数</a:t>
              </a:r>
            </a:p>
          </p:txBody>
        </p:sp>
      </p:grpSp>
      <p:grpSp>
        <p:nvGrpSpPr>
          <p:cNvPr id="40" name="c2-card-2"/>
          <p:cNvGrpSpPr/>
          <p:nvPr/>
        </p:nvGrpSpPr>
        <p:grpSpPr>
          <a:xfrm>
            <a:off x="5598795" y="4475798"/>
            <a:ext cx="6059805" cy="1602105"/>
            <a:chOff x="5598795" y="4475798"/>
            <a:chExt cx="6059805" cy="1602105"/>
          </a:xfrm>
        </p:grpSpPr>
        <p:sp>
          <p:nvSpPr>
            <p:cNvPr id="35" name="Rectangle 35"/>
            <p:cNvSpPr/>
            <p:nvPr/>
          </p:nvSpPr>
          <p:spPr>
            <a:xfrm>
              <a:off x="5598795" y="4475798"/>
              <a:ext cx="605980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608320" y="4609148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846445" y="4685348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924804" y="472106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恢复余数法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838825" y="5062538"/>
              <a:ext cx="52920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硬件事先不知道够不够减，于是直接做减法：结果 ≥ 0 说明够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减，商上 1；结果 &lt; 0 说明不够减，商上 0，并把除数加回去，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恢复原来的余数。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981057" cy="909257"/>
            <a:chOff x="520446" y="342900"/>
            <a:chExt cx="998105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除法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9810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除法器第一版：除数从左半部开始右移，余数寄存器初值为被除数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9" name="c1-flow-1"/>
          <p:cNvGrpSpPr/>
          <p:nvPr/>
        </p:nvGrpSpPr>
        <p:grpSpPr>
          <a:xfrm>
            <a:off x="707708" y="1610678"/>
            <a:ext cx="4921567" cy="4112894"/>
            <a:chOff x="707708" y="1610678"/>
            <a:chExt cx="4921567" cy="4112894"/>
          </a:xfrm>
        </p:grpSpPr>
        <p:sp>
          <p:nvSpPr>
            <p:cNvPr id="7" name="Freeform 7"/>
            <p:cNvSpPr/>
            <p:nvPr/>
          </p:nvSpPr>
          <p:spPr>
            <a:xfrm>
              <a:off x="3022282" y="2048828"/>
              <a:ext cx="9525" cy="69533"/>
            </a:xfrm>
            <a:custGeom>
              <a:avLst/>
              <a:gdLst/>
              <a:ahLst/>
              <a:cxnLst/>
              <a:rect l="l" t="t" r="r" b="b"/>
              <a:pathLst>
                <a:path w="9525" h="69533">
                  <a:moveTo>
                    <a:pt x="0" y="0"/>
                  </a:moveTo>
                  <a:lnTo>
                    <a:pt x="0" y="6953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969895" y="211836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022282" y="2649855"/>
              <a:ext cx="9525" cy="11430"/>
            </a:xfrm>
            <a:custGeom>
              <a:avLst/>
              <a:gdLst/>
              <a:ahLst/>
              <a:cxnLst/>
              <a:rect l="l" t="t" r="r" b="b"/>
              <a:pathLst>
                <a:path w="9525" h="11430">
                  <a:moveTo>
                    <a:pt x="0" y="1143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969895" y="264985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777365" y="3353752"/>
              <a:ext cx="1244918" cy="103822"/>
            </a:xfrm>
            <a:custGeom>
              <a:avLst/>
              <a:gdLst/>
              <a:ahLst/>
              <a:cxnLst/>
              <a:rect l="l" t="t" r="r" b="b"/>
              <a:pathLst>
                <a:path w="1244918" h="103822">
                  <a:moveTo>
                    <a:pt x="1244918" y="1905"/>
                  </a:moveTo>
                  <a:lnTo>
                    <a:pt x="1244918" y="0"/>
                  </a:lnTo>
                  <a:lnTo>
                    <a:pt x="0" y="0"/>
                  </a:lnTo>
                  <a:lnTo>
                    <a:pt x="0" y="10382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724978" y="33528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882015" y="3054668"/>
              <a:ext cx="4350067" cy="612458"/>
            </a:xfrm>
            <a:custGeom>
              <a:avLst/>
              <a:gdLst/>
              <a:ahLst/>
              <a:cxnLst/>
              <a:rect l="l" t="t" r="r" b="b"/>
              <a:pathLst>
                <a:path w="4350067" h="612458">
                  <a:moveTo>
                    <a:pt x="0" y="0"/>
                  </a:moveTo>
                  <a:lnTo>
                    <a:pt x="2226945" y="0"/>
                  </a:lnTo>
                  <a:lnTo>
                    <a:pt x="2226945" y="612458"/>
                  </a:lnTo>
                  <a:lnTo>
                    <a:pt x="4350067" y="6124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232082" y="36147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777365" y="3955732"/>
              <a:ext cx="1244918" cy="65722"/>
            </a:xfrm>
            <a:custGeom>
              <a:avLst/>
              <a:gdLst/>
              <a:ahLst/>
              <a:cxnLst/>
              <a:rect l="l" t="t" r="r" b="b"/>
              <a:pathLst>
                <a:path w="1244918" h="65722">
                  <a:moveTo>
                    <a:pt x="0" y="25717"/>
                  </a:moveTo>
                  <a:lnTo>
                    <a:pt x="0" y="65722"/>
                  </a:lnTo>
                  <a:lnTo>
                    <a:pt x="1244918" y="65722"/>
                  </a:lnTo>
                  <a:lnTo>
                    <a:pt x="1244918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969895" y="395573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196590" y="3667125"/>
              <a:ext cx="1861185" cy="612458"/>
            </a:xfrm>
            <a:custGeom>
              <a:avLst/>
              <a:gdLst/>
              <a:ahLst/>
              <a:cxnLst/>
              <a:rect l="l" t="t" r="r" b="b"/>
              <a:pathLst>
                <a:path w="1861185" h="612458">
                  <a:moveTo>
                    <a:pt x="0" y="0"/>
                  </a:moveTo>
                  <a:lnTo>
                    <a:pt x="982980" y="0"/>
                  </a:lnTo>
                  <a:lnTo>
                    <a:pt x="982980" y="612458"/>
                  </a:lnTo>
                  <a:lnTo>
                    <a:pt x="1861185" y="6124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057775" y="42271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3022282" y="4486275"/>
              <a:ext cx="9525" cy="12383"/>
            </a:xfrm>
            <a:custGeom>
              <a:avLst/>
              <a:gdLst/>
              <a:ahLst/>
              <a:cxnLst/>
              <a:rect l="l" t="t" r="r" b="b"/>
              <a:pathLst>
                <a:path w="9525" h="12383">
                  <a:moveTo>
                    <a:pt x="0" y="12383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969895" y="44862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3022282" y="5180648"/>
              <a:ext cx="9525" cy="11430"/>
            </a:xfrm>
            <a:custGeom>
              <a:avLst/>
              <a:gdLst/>
              <a:ahLst/>
              <a:cxnLst/>
              <a:rect l="l" t="t" r="r" b="b"/>
              <a:pathLst>
                <a:path w="9525" h="11430">
                  <a:moveTo>
                    <a:pt x="0" y="1143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2969895" y="518064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5162550" y="2424112"/>
              <a:ext cx="209550" cy="2467928"/>
            </a:xfrm>
            <a:custGeom>
              <a:avLst/>
              <a:gdLst/>
              <a:ahLst/>
              <a:cxnLst/>
              <a:rect l="l" t="t" r="r" b="b"/>
              <a:pathLst>
                <a:path w="209550" h="2467928">
                  <a:moveTo>
                    <a:pt x="0" y="2467928"/>
                  </a:moveTo>
                  <a:lnTo>
                    <a:pt x="209550" y="2467928"/>
                  </a:lnTo>
                  <a:lnTo>
                    <a:pt x="209550" y="2443162"/>
                  </a:lnTo>
                  <a:lnTo>
                    <a:pt x="209550" y="0"/>
                  </a:lnTo>
                  <a:lnTo>
                    <a:pt x="209550" y="18097"/>
                  </a:lnTo>
                  <a:lnTo>
                    <a:pt x="104775" y="1809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5162550" y="238982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7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2069782" y="1610678"/>
              <a:ext cx="1905000" cy="4381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882015" y="2223135"/>
              <a:ext cx="428053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882015" y="2754630"/>
              <a:ext cx="4280535" cy="601028"/>
            </a:xfrm>
            <a:custGeom>
              <a:avLst/>
              <a:gdLst/>
              <a:ahLst/>
              <a:cxnLst/>
              <a:rect l="l" t="t" r="r" b="b"/>
              <a:pathLst>
                <a:path w="4280535" h="601028">
                  <a:moveTo>
                    <a:pt x="2140268" y="0"/>
                  </a:moveTo>
                  <a:lnTo>
                    <a:pt x="4280535" y="300038"/>
                  </a:lnTo>
                  <a:lnTo>
                    <a:pt x="2140268" y="601028"/>
                  </a:lnTo>
                  <a:lnTo>
                    <a:pt x="0" y="300038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07708" y="3352800"/>
              <a:ext cx="2140268" cy="629602"/>
            </a:xfrm>
            <a:prstGeom prst="roundRect">
              <a:avLst>
                <a:gd name="adj" fmla="val 15129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3196590" y="3243262"/>
              <a:ext cx="2140268" cy="847725"/>
            </a:xfrm>
            <a:prstGeom prst="roundRect">
              <a:avLst>
                <a:gd name="adj" fmla="val 11236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882015" y="4060508"/>
              <a:ext cx="428053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882015" y="4591050"/>
              <a:ext cx="4280535" cy="601028"/>
            </a:xfrm>
            <a:custGeom>
              <a:avLst/>
              <a:gdLst/>
              <a:ahLst/>
              <a:cxnLst/>
              <a:rect l="l" t="t" r="r" b="b"/>
              <a:pathLst>
                <a:path w="4280535" h="601028">
                  <a:moveTo>
                    <a:pt x="2140268" y="0"/>
                  </a:moveTo>
                  <a:lnTo>
                    <a:pt x="4280535" y="300990"/>
                  </a:lnTo>
                  <a:lnTo>
                    <a:pt x="2140268" y="601028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882015" y="5285422"/>
              <a:ext cx="4280535" cy="4381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843492" y="174069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开始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180085" y="2353151"/>
              <a:ext cx="16843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 余数 = 余数 − 除数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610869" y="2965609"/>
              <a:ext cx="8228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余数 ≥ 0？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62152" y="3468529"/>
              <a:ext cx="1630426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2a. 商左移，最低位置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446970" y="3359944"/>
              <a:ext cx="1638554" cy="687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2b. 余数 = 余数 + 除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数，商左移，最低位置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365322" y="4190524"/>
              <a:ext cx="13139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 除数右移 1 位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610869" y="4802981"/>
              <a:ext cx="8228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 33 次？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843492" y="541543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结束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286000" y="313753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324290" y="316420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881188" y="283845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919478" y="286512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3050858" y="514635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074098" y="517302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400675" y="355377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423916" y="358044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</p:grpSp>
      <p:grpSp>
        <p:nvGrpSpPr>
          <p:cNvPr id="81" name="c2-graph-1"/>
          <p:cNvGrpSpPr/>
          <p:nvPr/>
        </p:nvGrpSpPr>
        <p:grpSpPr>
          <a:xfrm>
            <a:off x="6049328" y="1611630"/>
            <a:ext cx="5434012" cy="2102167"/>
            <a:chOff x="6049328" y="1611630"/>
            <a:chExt cx="5434012" cy="2102167"/>
          </a:xfrm>
        </p:grpSpPr>
        <p:sp>
          <p:nvSpPr>
            <p:cNvPr id="50" name="Freeform 50"/>
            <p:cNvSpPr/>
            <p:nvPr/>
          </p:nvSpPr>
          <p:spPr>
            <a:xfrm>
              <a:off x="7801928" y="1912620"/>
              <a:ext cx="9525" cy="413385"/>
            </a:xfrm>
            <a:custGeom>
              <a:avLst/>
              <a:gdLst/>
              <a:ahLst/>
              <a:cxnLst/>
              <a:rect l="l" t="t" r="r" b="b"/>
              <a:pathLst>
                <a:path w="9525" h="413385">
                  <a:moveTo>
                    <a:pt x="0" y="0"/>
                  </a:moveTo>
                  <a:lnTo>
                    <a:pt x="0" y="41338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7754302" y="232600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7801928" y="2722245"/>
              <a:ext cx="9525" cy="508635"/>
            </a:xfrm>
            <a:custGeom>
              <a:avLst/>
              <a:gdLst/>
              <a:ahLst/>
              <a:cxnLst/>
              <a:rect l="l" t="t" r="r" b="b"/>
              <a:pathLst>
                <a:path w="9525" h="508635">
                  <a:moveTo>
                    <a:pt x="0" y="0"/>
                  </a:moveTo>
                  <a:lnTo>
                    <a:pt x="0" y="5086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7754302" y="32308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6049328" y="2571750"/>
              <a:ext cx="1222057" cy="904875"/>
            </a:xfrm>
            <a:custGeom>
              <a:avLst/>
              <a:gdLst/>
              <a:ahLst/>
              <a:cxnLst/>
              <a:rect l="l" t="t" r="r" b="b"/>
              <a:pathLst>
                <a:path w="1222057" h="904875">
                  <a:moveTo>
                    <a:pt x="1178242" y="904875"/>
                  </a:moveTo>
                  <a:lnTo>
                    <a:pt x="0" y="904875"/>
                  </a:lnTo>
                  <a:lnTo>
                    <a:pt x="0" y="0"/>
                  </a:lnTo>
                  <a:lnTo>
                    <a:pt x="122205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7271385" y="252412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8471535" y="3476625"/>
              <a:ext cx="1676400" cy="9525"/>
            </a:xfrm>
            <a:custGeom>
              <a:avLst/>
              <a:gdLst/>
              <a:ahLst/>
              <a:cxnLst/>
              <a:rect l="l" t="t" r="r" b="b"/>
              <a:pathLst>
                <a:path w="1676400" h="9525">
                  <a:moveTo>
                    <a:pt x="1676400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8376285" y="34290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10147935" y="34290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9" name="Freeform 59"/>
            <p:cNvSpPr/>
            <p:nvPr/>
          </p:nvSpPr>
          <p:spPr>
            <a:xfrm>
              <a:off x="10489882" y="2817495"/>
              <a:ext cx="9525" cy="412433"/>
            </a:xfrm>
            <a:custGeom>
              <a:avLst/>
              <a:gdLst/>
              <a:ahLst/>
              <a:cxnLst/>
              <a:rect l="l" t="t" r="r" b="b"/>
              <a:pathLst>
                <a:path w="9525" h="412433">
                  <a:moveTo>
                    <a:pt x="0" y="412433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10442258" y="272224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1" name="Freeform 61"/>
            <p:cNvSpPr/>
            <p:nvPr/>
          </p:nvSpPr>
          <p:spPr>
            <a:xfrm>
              <a:off x="8684895" y="1762125"/>
              <a:ext cx="2798445" cy="1714500"/>
            </a:xfrm>
            <a:custGeom>
              <a:avLst/>
              <a:gdLst/>
              <a:ahLst/>
              <a:cxnLst/>
              <a:rect l="l" t="t" r="r" b="b"/>
              <a:pathLst>
                <a:path w="2798445" h="1714500">
                  <a:moveTo>
                    <a:pt x="2051685" y="1714500"/>
                  </a:moveTo>
                  <a:lnTo>
                    <a:pt x="2798445" y="1714500"/>
                  </a:lnTo>
                  <a:lnTo>
                    <a:pt x="2798445" y="0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8589645" y="171450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7014210" y="1611630"/>
              <a:ext cx="1575435" cy="300038"/>
            </a:xfrm>
            <a:prstGeom prst="roundRect">
              <a:avLst>
                <a:gd name="adj" fmla="val 31746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7366635" y="2421255"/>
              <a:ext cx="871538" cy="300038"/>
            </a:xfrm>
            <a:prstGeom prst="roundRect">
              <a:avLst>
                <a:gd name="adj" fmla="val 31746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7227570" y="3326130"/>
              <a:ext cx="1148715" cy="300038"/>
            </a:xfrm>
            <a:prstGeom prst="roundRect">
              <a:avLst>
                <a:gd name="adj" fmla="val 31746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9773602" y="2421255"/>
              <a:ext cx="1433512" cy="300038"/>
            </a:xfrm>
            <a:prstGeom prst="roundRect">
              <a:avLst>
                <a:gd name="adj" fmla="val 31746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67" name="Ellipse 67"/>
            <p:cNvSpPr/>
            <p:nvPr/>
          </p:nvSpPr>
          <p:spPr>
            <a:xfrm>
              <a:off x="10252710" y="3239452"/>
              <a:ext cx="474345" cy="47434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082296" y="1692116"/>
              <a:ext cx="1439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除数（64 位，右移）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446914" y="2501741"/>
              <a:ext cx="7100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64 位 ALU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308457" y="3406616"/>
              <a:ext cx="9869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余数（64 位）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845638" y="2501741"/>
              <a:ext cx="12884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商（32 位，左移）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333393" y="340661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7626668" y="2081212"/>
              <a:ext cx="35052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651775" y="2113598"/>
              <a:ext cx="3003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64 位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8928735" y="3390900"/>
              <a:ext cx="7620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941498" y="3423285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测符号、写入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10166032" y="2889885"/>
              <a:ext cx="6477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10182225" y="292227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左移、置位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9884092" y="1676400"/>
              <a:ext cx="3048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9910572" y="170878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右移</a:t>
              </a:r>
            </a:p>
          </p:txBody>
        </p:sp>
      </p:grpSp>
      <p:grpSp>
        <p:nvGrpSpPr>
          <p:cNvPr id="90" name="c2-kv-2"/>
          <p:cNvGrpSpPr/>
          <p:nvPr/>
        </p:nvGrpSpPr>
        <p:grpSpPr>
          <a:xfrm>
            <a:off x="5808345" y="4120515"/>
            <a:ext cx="5850255" cy="1173480"/>
            <a:chOff x="5808345" y="4120515"/>
            <a:chExt cx="5850255" cy="1173480"/>
          </a:xfrm>
        </p:grpSpPr>
        <p:sp>
          <p:nvSpPr>
            <p:cNvPr id="82" name="TextBox 82"/>
            <p:cNvSpPr txBox="1"/>
            <p:nvPr/>
          </p:nvSpPr>
          <p:spPr>
            <a:xfrm>
              <a:off x="5808345" y="41205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除数寄存器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047548" y="4120515"/>
              <a:ext cx="40235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初值把 32 位除数放在左半部，每次右移 1 位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5815965" y="444055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5808345" y="456057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余数寄存器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047548" y="456057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初值为被除数，每次减去或加回除数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5815965" y="488061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5808345" y="50006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商寄存器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047548" y="50006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每次左移，在最低位写入 0 或 1</a:t>
              </a:r>
            </a:p>
          </p:txBody>
        </p:sp>
      </p:grpSp>
      <p:grpSp>
        <p:nvGrpSpPr>
          <p:cNvPr id="97" name="c2-callout-3"/>
          <p:cNvGrpSpPr/>
          <p:nvPr/>
        </p:nvGrpSpPr>
        <p:grpSpPr>
          <a:xfrm>
            <a:off x="5815965" y="5425440"/>
            <a:ext cx="5842635" cy="782955"/>
            <a:chOff x="5815965" y="5425440"/>
            <a:chExt cx="5842635" cy="782955"/>
          </a:xfrm>
        </p:grpSpPr>
        <p:sp>
          <p:nvSpPr>
            <p:cNvPr id="91" name="Rectangle 91"/>
            <p:cNvSpPr/>
            <p:nvPr/>
          </p:nvSpPr>
          <p:spPr>
            <a:xfrm>
              <a:off x="5815965" y="5425440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95" name="Group 95"/>
            <p:cNvGrpSpPr/>
            <p:nvPr/>
          </p:nvGrpSpPr>
          <p:grpSpPr>
            <a:xfrm>
              <a:off x="6020753" y="5716905"/>
              <a:ext cx="200026" cy="200025"/>
              <a:chOff x="6020753" y="5716905"/>
              <a:chExt cx="200026" cy="200025"/>
            </a:xfrm>
          </p:grpSpPr>
          <p:sp>
            <p:nvSpPr>
              <p:cNvPr id="92" name="Freeform 92"/>
              <p:cNvSpPr/>
              <p:nvPr/>
            </p:nvSpPr>
            <p:spPr>
              <a:xfrm>
                <a:off x="6020753" y="571690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6060491" y="576135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6095207" y="587248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96" name="TextBox 96"/>
            <p:cNvSpPr txBox="1"/>
            <p:nvPr/>
          </p:nvSpPr>
          <p:spPr>
            <a:xfrm>
              <a:off x="6322695" y="5574030"/>
              <a:ext cx="47967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32 位除法要做 33 次：除数一开始在左半部，第一次试减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必然不够减。</a:t>
              </a:r>
            </a:p>
          </p:txBody>
        </p:sp>
      </p:grpSp>
      <p:grpSp>
        <p:nvGrpSpPr>
          <p:cNvPr id="10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8" name="TextBox 98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65998" cy="909257"/>
            <a:chOff x="520446" y="342900"/>
            <a:chExt cx="796599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除法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659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例：用第一版除法器算 7 ÷ 2（0000 0111 ÷ 0010）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6" name="c1-table-1"/>
          <p:cNvGrpSpPr/>
          <p:nvPr/>
        </p:nvGrpSpPr>
        <p:grpSpPr>
          <a:xfrm>
            <a:off x="527685" y="1524000"/>
            <a:ext cx="6497955" cy="3890487"/>
            <a:chOff x="527685" y="1524000"/>
            <a:chExt cx="6497955" cy="389048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675322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8060" y="1659731"/>
              <a:ext cx="1755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迭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21270" y="1659731"/>
              <a:ext cx="696925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余数 − 除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758376" y="177307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判断与处理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01261" y="177307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191404" y="177307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除数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95352" y="177307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余数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9585" y="233505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329053" y="233505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初始值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97873" y="233505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958781" y="2335054"/>
              <a:ext cx="8228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0010 0000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62729" y="2335054"/>
              <a:ext cx="8228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0000 0111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64318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2647950"/>
              <a:ext cx="649224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9585" y="289702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258319" y="2897029"/>
              <a:ext cx="8228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1110 0111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329053" y="2783681"/>
              <a:ext cx="154101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 0：加回除数，商补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97873" y="289702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958781" y="2897029"/>
              <a:ext cx="8228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0001 0000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62729" y="2897029"/>
              <a:ext cx="8228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0000 0111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31946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9585" y="345900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258319" y="3459004"/>
              <a:ext cx="8228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1111 0111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329053" y="3459004"/>
              <a:ext cx="14345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 0：恢复，商补 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297873" y="345900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58781" y="3459004"/>
              <a:ext cx="8228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0000 1000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62729" y="3459004"/>
              <a:ext cx="8228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0000 0111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376809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3772852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9585" y="39076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258319" y="3907631"/>
              <a:ext cx="8228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1111 1111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329053" y="3907631"/>
              <a:ext cx="14345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&lt; 0：恢复，商补 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297873" y="390763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958781" y="3907631"/>
              <a:ext cx="8228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0000 0100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062729" y="3907631"/>
              <a:ext cx="8228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0000 0111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421671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9585" y="435721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258319" y="4357211"/>
              <a:ext cx="8228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0000 0011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329053" y="4357211"/>
              <a:ext cx="9176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≥ 0：商补 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297873" y="435721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958781" y="4357211"/>
              <a:ext cx="8228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0000 0010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062729" y="4357211"/>
              <a:ext cx="8228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0000 0011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466534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33400" y="4670108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69585" y="480583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258319" y="4805839"/>
              <a:ext cx="8228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0000 0001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329053" y="4805839"/>
              <a:ext cx="9176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≥ 0：商补 1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4178618" y="4679632"/>
              <a:ext cx="63055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297873" y="480583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0011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958781" y="4805839"/>
              <a:ext cx="8228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0000 0001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931218" y="4679632"/>
              <a:ext cx="1084898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062729" y="4805839"/>
              <a:ext cx="8228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0000 0001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33400" y="1524000"/>
              <a:ext cx="6492240" cy="35947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1112520" y="1524000"/>
              <a:ext cx="9525" cy="35947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2216468" y="1524000"/>
              <a:ext cx="9525" cy="35947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4164330" y="1524000"/>
              <a:ext cx="9525" cy="35947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4813935" y="1524000"/>
              <a:ext cx="9525" cy="35947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5916930" y="1524000"/>
              <a:ext cx="9525" cy="35947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27685" y="5194459"/>
              <a:ext cx="4512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每行是一次迭代的第 1、2 步结果，除数一列是第 3 步右移之后的值</a:t>
              </a:r>
            </a:p>
          </p:txBody>
        </p:sp>
      </p:grpSp>
      <p:grpSp>
        <p:nvGrpSpPr>
          <p:cNvPr id="72" name="c1-callout-2"/>
          <p:cNvGrpSpPr/>
          <p:nvPr/>
        </p:nvGrpSpPr>
        <p:grpSpPr>
          <a:xfrm>
            <a:off x="533400" y="5560695"/>
            <a:ext cx="6492240" cy="782955"/>
            <a:chOff x="533400" y="5560695"/>
            <a:chExt cx="6492240" cy="782955"/>
          </a:xfrm>
        </p:grpSpPr>
        <p:sp>
          <p:nvSpPr>
            <p:cNvPr id="67" name="Rectangle 67"/>
            <p:cNvSpPr/>
            <p:nvPr/>
          </p:nvSpPr>
          <p:spPr>
            <a:xfrm>
              <a:off x="533400" y="5560695"/>
              <a:ext cx="6492240" cy="782955"/>
            </a:xfrm>
            <a:prstGeom prst="roundRect">
              <a:avLst>
                <a:gd name="adj" fmla="val 145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38188" y="5852160"/>
              <a:ext cx="200026" cy="200026"/>
              <a:chOff x="738188" y="5852160"/>
              <a:chExt cx="200026" cy="200026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738188" y="585216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04863" y="592994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040130" y="5709285"/>
              <a:ext cx="54825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商 0011 = 3，余数 0000 0001 = 1；复核 7 = 3 × 2 + 1。4 位除法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迭代 5 次。</a:t>
              </a:r>
            </a:p>
          </p:txBody>
        </p:sp>
      </p:grpSp>
      <p:grpSp>
        <p:nvGrpSpPr>
          <p:cNvPr id="108" name="c2-card-1"/>
          <p:cNvGrpSpPr/>
          <p:nvPr/>
        </p:nvGrpSpPr>
        <p:grpSpPr>
          <a:xfrm>
            <a:off x="7330440" y="1524000"/>
            <a:ext cx="4328160" cy="4819650"/>
            <a:chOff x="7330440" y="1524000"/>
            <a:chExt cx="4328160" cy="4819650"/>
          </a:xfrm>
        </p:grpSpPr>
        <p:sp>
          <p:nvSpPr>
            <p:cNvPr id="73" name="Rectangle 73"/>
            <p:cNvSpPr/>
            <p:nvPr/>
          </p:nvSpPr>
          <p:spPr>
            <a:xfrm>
              <a:off x="7330440" y="1524000"/>
              <a:ext cx="4328160" cy="4819650"/>
            </a:xfrm>
            <a:prstGeom prst="roundRect">
              <a:avLst>
                <a:gd name="adj" fmla="val 30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7339965" y="1657350"/>
              <a:ext cx="47625" cy="455295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757809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655496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带符号除法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7583805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741920" y="211074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先用两数的绝对值相除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7583805" y="25088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741920" y="244602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商的符号：两数异号为负</a:t>
              </a:r>
            </a:p>
          </p:txBody>
        </p:sp>
        <p:sp>
          <p:nvSpPr>
            <p:cNvPr id="81" name="Ellipse 81"/>
            <p:cNvSpPr/>
            <p:nvPr/>
          </p:nvSpPr>
          <p:spPr>
            <a:xfrm>
              <a:off x="7583805" y="28441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741920" y="278130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余数的符号：与被除数相同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7578090" y="3091815"/>
              <a:ext cx="387096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7952147" y="3227546"/>
              <a:ext cx="10825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被除数 ÷ 除数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791459" y="322754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商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0725429" y="322754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余数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183909" y="3676174"/>
              <a:ext cx="619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+7 ÷ +2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9782843" y="367617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+3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0802971" y="367617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+1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7578090" y="3984308"/>
              <a:ext cx="38709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7578090" y="3989070"/>
              <a:ext cx="387096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8183909" y="4124801"/>
              <a:ext cx="619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−7 ÷ +2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9782843" y="412480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−3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0802971" y="412480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7578090" y="4433888"/>
              <a:ext cx="38709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8183909" y="4573429"/>
              <a:ext cx="619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+7 ÷ −2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9782843" y="457342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−3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0802971" y="457342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+1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7578090" y="4882515"/>
              <a:ext cx="38709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7578090" y="4887278"/>
              <a:ext cx="387096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8183909" y="5022056"/>
              <a:ext cx="619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−7 ÷ −2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9782843" y="502205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+3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0802971" y="502205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7578090" y="3091815"/>
              <a:ext cx="3870960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5" name="Rectangle 105"/>
            <p:cNvSpPr/>
            <p:nvPr/>
          </p:nvSpPr>
          <p:spPr>
            <a:xfrm>
              <a:off x="9403080" y="309181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10354628" y="309181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7571613" y="5452586"/>
              <a:ext cx="35486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总满足 被除数 = 商 × 除数 + 余数，且余数的绝对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值小于除数。</a:t>
              </a:r>
            </a:p>
          </p:txBody>
        </p:sp>
      </p:grpSp>
      <p:grpSp>
        <p:nvGrpSpPr>
          <p:cNvPr id="11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9" name="TextBox 109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37776" cy="909257"/>
            <a:chOff x="520446" y="342900"/>
            <a:chExt cx="96377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除法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377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改进后的除法器：商移入余数寄存器右半部，乘除法可共用硬件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graph-1"/>
          <p:cNvGrpSpPr/>
          <p:nvPr/>
        </p:nvGrpSpPr>
        <p:grpSpPr>
          <a:xfrm>
            <a:off x="771525" y="1598295"/>
            <a:ext cx="4124325" cy="1924526"/>
            <a:chOff x="771525" y="1598295"/>
            <a:chExt cx="4124325" cy="1924526"/>
          </a:xfrm>
        </p:grpSpPr>
        <p:sp>
          <p:nvSpPr>
            <p:cNvPr id="7" name="Freeform 7"/>
            <p:cNvSpPr/>
            <p:nvPr/>
          </p:nvSpPr>
          <p:spPr>
            <a:xfrm>
              <a:off x="2342198" y="1859280"/>
              <a:ext cx="9525" cy="340043"/>
            </a:xfrm>
            <a:custGeom>
              <a:avLst/>
              <a:gdLst/>
              <a:ahLst/>
              <a:cxnLst/>
              <a:rect l="l" t="t" r="r" b="b"/>
              <a:pathLst>
                <a:path w="9525" h="340043">
                  <a:moveTo>
                    <a:pt x="0" y="0"/>
                  </a:moveTo>
                  <a:lnTo>
                    <a:pt x="0" y="34004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294572" y="219932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342198" y="2554605"/>
              <a:ext cx="9525" cy="219075"/>
            </a:xfrm>
            <a:custGeom>
              <a:avLst/>
              <a:gdLst/>
              <a:ahLst/>
              <a:cxnLst/>
              <a:rect l="l" t="t" r="r" b="b"/>
              <a:pathLst>
                <a:path w="9525" h="219075">
                  <a:moveTo>
                    <a:pt x="0" y="0"/>
                  </a:moveTo>
                  <a:lnTo>
                    <a:pt x="0" y="2190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294572" y="277368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771525" y="2425065"/>
              <a:ext cx="1080135" cy="573405"/>
            </a:xfrm>
            <a:custGeom>
              <a:avLst/>
              <a:gdLst/>
              <a:ahLst/>
              <a:cxnLst/>
              <a:rect l="l" t="t" r="r" b="b"/>
              <a:pathLst>
                <a:path w="1080135" h="573405">
                  <a:moveTo>
                    <a:pt x="804862" y="573405"/>
                  </a:moveTo>
                  <a:lnTo>
                    <a:pt x="0" y="573405"/>
                  </a:lnTo>
                  <a:lnTo>
                    <a:pt x="0" y="0"/>
                  </a:lnTo>
                  <a:lnTo>
                    <a:pt x="108013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851660" y="237744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559368" y="3128010"/>
              <a:ext cx="1837373" cy="392748"/>
            </a:xfrm>
            <a:custGeom>
              <a:avLst/>
              <a:gdLst/>
              <a:ahLst/>
              <a:cxnLst/>
              <a:rect l="l" t="t" r="r" b="b"/>
              <a:pathLst>
                <a:path w="1837373" h="392748">
                  <a:moveTo>
                    <a:pt x="0" y="0"/>
                  </a:moveTo>
                  <a:cubicBezTo>
                    <a:pt x="633095" y="380365"/>
                    <a:pt x="1245552" y="392748"/>
                    <a:pt x="1837373" y="37148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372928" y="3116580"/>
              <a:ext cx="105727" cy="89535"/>
            </a:xfrm>
            <a:custGeom>
              <a:avLst/>
              <a:gdLst/>
              <a:ahLst/>
              <a:cxnLst/>
              <a:rect l="l" t="t" r="r" b="b"/>
              <a:pathLst>
                <a:path w="105727" h="89535">
                  <a:moveTo>
                    <a:pt x="105727" y="0"/>
                  </a:moveTo>
                  <a:lnTo>
                    <a:pt x="48577" y="89535"/>
                  </a:lnTo>
                  <a:lnTo>
                    <a:pt x="0" y="762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641282" y="2472055"/>
              <a:ext cx="1837372" cy="408305"/>
            </a:xfrm>
            <a:custGeom>
              <a:avLst/>
              <a:gdLst/>
              <a:ahLst/>
              <a:cxnLst/>
              <a:rect l="l" t="t" r="r" b="b"/>
              <a:pathLst>
                <a:path w="1837372" h="408305">
                  <a:moveTo>
                    <a:pt x="1837372" y="408305"/>
                  </a:moveTo>
                  <a:cubicBezTo>
                    <a:pt x="1190942" y="20320"/>
                    <a:pt x="578485" y="0"/>
                    <a:pt x="0" y="34734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559368" y="2778442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0" y="90488"/>
                  </a:moveTo>
                  <a:lnTo>
                    <a:pt x="57150" y="0"/>
                  </a:lnTo>
                  <a:lnTo>
                    <a:pt x="105728" y="8191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833688" y="2425065"/>
              <a:ext cx="1842135" cy="343852"/>
            </a:xfrm>
            <a:custGeom>
              <a:avLst/>
              <a:gdLst/>
              <a:ahLst/>
              <a:cxnLst/>
              <a:rect l="l" t="t" r="r" b="b"/>
              <a:pathLst>
                <a:path w="1842135" h="343852">
                  <a:moveTo>
                    <a:pt x="1842135" y="343852"/>
                  </a:moveTo>
                  <a:lnTo>
                    <a:pt x="1842135" y="0"/>
                  </a:ln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738438" y="237744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825942" y="1598295"/>
              <a:ext cx="1033462" cy="260032"/>
            </a:xfrm>
            <a:prstGeom prst="roundRect">
              <a:avLst>
                <a:gd name="adj" fmla="val 36630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946910" y="2294572"/>
              <a:ext cx="790575" cy="260032"/>
            </a:xfrm>
            <a:prstGeom prst="roundRect">
              <a:avLst>
                <a:gd name="adj" fmla="val 36630"/>
              </a:avLst>
            </a:prstGeom>
            <a:solidFill>
              <a:srgbClr val="1F5FA8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576388" y="2868930"/>
              <a:ext cx="1531620" cy="260032"/>
            </a:xfrm>
            <a:prstGeom prst="roundRect">
              <a:avLst>
                <a:gd name="adj" fmla="val 36630"/>
              </a:avLst>
            </a:prstGeom>
            <a:solidFill>
              <a:srgbClr val="E6EFF9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4455795" y="2778442"/>
              <a:ext cx="440055" cy="44005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910459" y="1668304"/>
              <a:ext cx="8634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除数（32 位）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031608" y="2364581"/>
              <a:ext cx="6211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32 位 ALU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46604" y="2937986"/>
              <a:ext cx="13911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余数（64 位，左右移）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38942" y="293798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控制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179320" y="1998345"/>
              <a:ext cx="325755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204969" y="2027396"/>
              <a:ext cx="27445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32 位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991678" y="2633662"/>
              <a:ext cx="701040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006270" y="2662714"/>
              <a:ext cx="67185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差写回左半部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371850" y="3331845"/>
              <a:ext cx="28479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398622" y="3360896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符号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215640" y="2507932"/>
              <a:ext cx="597218" cy="146685"/>
            </a:xfrm>
            <a:prstGeom prst="roundRect">
              <a:avLst>
                <a:gd name="adj" fmla="val 2597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233039" y="2536984"/>
              <a:ext cx="56146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移位、写入</a:t>
              </a:r>
            </a:p>
          </p:txBody>
        </p:sp>
      </p:grpSp>
      <p:grpSp>
        <p:nvGrpSpPr>
          <p:cNvPr id="55" name="c1-table-2"/>
          <p:cNvGrpSpPr/>
          <p:nvPr/>
        </p:nvGrpSpPr>
        <p:grpSpPr>
          <a:xfrm>
            <a:off x="533400" y="3741420"/>
            <a:ext cx="4760595" cy="1600200"/>
            <a:chOff x="533400" y="3741420"/>
            <a:chExt cx="4760595" cy="1600200"/>
          </a:xfrm>
        </p:grpSpPr>
        <p:sp>
          <p:nvSpPr>
            <p:cNvPr id="36" name="Rectangle 36"/>
            <p:cNvSpPr/>
            <p:nvPr/>
          </p:nvSpPr>
          <p:spPr>
            <a:xfrm>
              <a:off x="533400" y="3741420"/>
              <a:ext cx="4760595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96036" y="386286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300821" y="386286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第一版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062946" y="386286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改进版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0555" y="4262914"/>
              <a:ext cx="10413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加法器（ALU）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868805" y="4262914"/>
              <a:ext cx="373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 位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391852" y="4262914"/>
              <a:ext cx="373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位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453675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3400" y="4541520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0555" y="466296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除数寄存器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868805" y="4662964"/>
              <a:ext cx="8256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 位，右移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391852" y="4662964"/>
              <a:ext cx="9763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位，不移动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493680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0555" y="506301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商寄存器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868805" y="5063014"/>
              <a:ext cx="8256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 位，左移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391852" y="506301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并入余数寄存器右半部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3741420"/>
              <a:ext cx="4760595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1766888" y="374142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3289935" y="374142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1" name="c2-table-1"/>
          <p:cNvGrpSpPr/>
          <p:nvPr/>
        </p:nvGrpSpPr>
        <p:grpSpPr>
          <a:xfrm>
            <a:off x="5598795" y="1524000"/>
            <a:ext cx="6059805" cy="2400300"/>
            <a:chOff x="5598795" y="1524000"/>
            <a:chExt cx="6059805" cy="2400300"/>
          </a:xfrm>
        </p:grpSpPr>
        <p:sp>
          <p:nvSpPr>
            <p:cNvPr id="56" name="Rectangle 56"/>
            <p:cNvSpPr/>
            <p:nvPr/>
          </p:nvSpPr>
          <p:spPr>
            <a:xfrm>
              <a:off x="5598795" y="1524000"/>
              <a:ext cx="6059805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77568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迭代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69938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左移后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021910" y="1645444"/>
              <a:ext cx="1699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演算 7 ÷ 2：左半 − 0010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699966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写回后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882919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635240" y="2045494"/>
              <a:ext cx="17453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初值：右半放被除数 0111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571808" y="2045494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0000 0111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598795" y="23193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5598795" y="2324100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882919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541780" y="2445544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0000 1110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635240" y="244554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0000 − 0010 &lt; 0：恢复，商位 0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571808" y="2445544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0000 1110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5598795" y="27193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882919" y="2845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541780" y="2845594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0001 1100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635240" y="28455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0001 − 0010 &lt; 0：恢复，商位 0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571808" y="2845594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0001 1100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5598795" y="31194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5598795" y="3124200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5882919" y="32456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541780" y="3245644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0011 1000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635240" y="3245644"/>
              <a:ext cx="19338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0011 − 0010 = 0001：商位 1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571808" y="3245644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0001 1001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5598795" y="351948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5882919" y="36456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541780" y="3645694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0011 0010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635240" y="3645694"/>
              <a:ext cx="19338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0011 − 0010 = 0001：商位 1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10213658" y="3533775"/>
              <a:ext cx="1435418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10571808" y="3645694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0001 0011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5598795" y="1524000"/>
              <a:ext cx="6059805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8" name="Rectangle 88"/>
            <p:cNvSpPr/>
            <p:nvPr/>
          </p:nvSpPr>
          <p:spPr>
            <a:xfrm>
              <a:off x="6260782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7533322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10199370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00" name="c2-card-2"/>
          <p:cNvGrpSpPr/>
          <p:nvPr/>
        </p:nvGrpSpPr>
        <p:grpSpPr>
          <a:xfrm>
            <a:off x="5598795" y="4093845"/>
            <a:ext cx="6059805" cy="1485900"/>
            <a:chOff x="5598795" y="4093845"/>
            <a:chExt cx="6059805" cy="1485900"/>
          </a:xfrm>
        </p:grpSpPr>
        <p:sp>
          <p:nvSpPr>
            <p:cNvPr id="92" name="Rectangle 92"/>
            <p:cNvSpPr/>
            <p:nvPr/>
          </p:nvSpPr>
          <p:spPr>
            <a:xfrm>
              <a:off x="5598795" y="4093845"/>
              <a:ext cx="6059805" cy="1485900"/>
            </a:xfrm>
            <a:prstGeom prst="roundRect">
              <a:avLst>
                <a:gd name="adj" fmla="val 89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3" name="Rectangle 93"/>
            <p:cNvSpPr/>
            <p:nvPr/>
          </p:nvSpPr>
          <p:spPr>
            <a:xfrm>
              <a:off x="5608320" y="4227195"/>
              <a:ext cx="47625" cy="12192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5823585" y="4280535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5905056" y="431339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读表与补充</a:t>
              </a:r>
            </a:p>
          </p:txBody>
        </p:sp>
        <p:sp>
          <p:nvSpPr>
            <p:cNvPr id="96" name="Ellipse 96"/>
            <p:cNvSpPr/>
            <p:nvPr/>
          </p:nvSpPr>
          <p:spPr>
            <a:xfrm>
              <a:off x="5832158" y="468153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5988177" y="4625340"/>
              <a:ext cx="5338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每次先左移再试减，结束时左半 0001 为余数 1，右半 0011 为商 3</a:t>
              </a:r>
            </a:p>
          </p:txBody>
        </p:sp>
        <p:sp>
          <p:nvSpPr>
            <p:cNvPr id="98" name="Ellipse 98"/>
            <p:cNvSpPr/>
            <p:nvPr/>
          </p:nvSpPr>
          <p:spPr>
            <a:xfrm>
              <a:off x="5832158" y="498157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5988177" y="4925378"/>
              <a:ext cx="5157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除法不能像乘法那样用加法树：每步够不够减取决于上一步的余数，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只能依次进行；SRT 等快速除法靠每步求出多位商来提速</a:t>
              </a:r>
            </a:p>
          </p:txBody>
        </p:sp>
      </p:grpSp>
      <p:grpSp>
        <p:nvGrpSpPr>
          <p:cNvPr id="106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101" name="Rectangle 101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04" name="Group 104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102" name="Freeform 102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03" name="Freeform 103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05" name="TextBox 105"/>
            <p:cNvSpPr txBox="1"/>
            <p:nvPr/>
          </p:nvSpPr>
          <p:spPr>
            <a:xfrm>
              <a:off x="1040892" y="6028373"/>
              <a:ext cx="77879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改进后的乘法器与除法器都是一个 32 位 ALU 加一个可移位的 64 位寄存器，乘除法可共用硬件。</a:t>
              </a:r>
            </a:p>
          </p:txBody>
        </p:sp>
      </p:grpSp>
      <p:grpSp>
        <p:nvGrpSpPr>
          <p:cNvPr id="10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7" name="TextBox 107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54849" cy="909257"/>
            <a:chOff x="520446" y="342900"/>
            <a:chExt cx="845484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0307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7809" y="407194"/>
              <a:ext cx="15342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除法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548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MIPS 的乘除指令：结果放在 HI、LO 两个 32 位寄存器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4" name="c1-table-1"/>
          <p:cNvGrpSpPr/>
          <p:nvPr/>
        </p:nvGrpSpPr>
        <p:grpSpPr>
          <a:xfrm>
            <a:off x="533400" y="1524000"/>
            <a:ext cx="5951220" cy="3200400"/>
            <a:chOff x="533400" y="1524000"/>
            <a:chExt cx="5951220" cy="32004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7986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3814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功能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81079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0555" y="2045494"/>
              <a:ext cx="8821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mult rs, rt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237422" y="204549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有符号乘法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547110" y="2045494"/>
              <a:ext cx="26809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 位积：HI 存高 32 位，LO 存低 32 位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31933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324100"/>
              <a:ext cx="595122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0555" y="2445544"/>
              <a:ext cx="9692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multu rs, rt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237422" y="24455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无符号乘法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47110" y="24455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同上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71938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0555" y="2845594"/>
              <a:ext cx="1103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 rd, rs, rt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237422" y="284559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有符号乘法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47110" y="2845594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只把积的低 32 位存入 rd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11943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124200"/>
              <a:ext cx="595122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0555" y="3245644"/>
              <a:ext cx="763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div rs, rt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237422" y="32456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有符号除法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47110" y="3245644"/>
              <a:ext cx="21683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 存 32 位商，HI 存 32 位余数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51948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0555" y="3645694"/>
              <a:ext cx="8504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divu rs, rt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237422" y="364569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无符号除法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547110" y="36456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同上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91953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924300"/>
              <a:ext cx="595122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0555" y="4045744"/>
              <a:ext cx="5734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mfhi rd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237422" y="40457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取结果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547110" y="4045744"/>
              <a:ext cx="10566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HI 传送到 rd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31958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30555" y="4445794"/>
              <a:ext cx="5734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mflo rd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237422" y="44457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取结果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547110" y="4445794"/>
              <a:ext cx="11282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LO 传送到 rd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1524000"/>
              <a:ext cx="5951220" cy="32004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2135505" y="1524000"/>
              <a:ext cx="9525" cy="3200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3445192" y="1524000"/>
              <a:ext cx="9525" cy="3200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c1-card-2"/>
          <p:cNvGrpSpPr/>
          <p:nvPr/>
        </p:nvGrpSpPr>
        <p:grpSpPr>
          <a:xfrm>
            <a:off x="533400" y="4893945"/>
            <a:ext cx="5951220" cy="1443038"/>
            <a:chOff x="533400" y="4893945"/>
            <a:chExt cx="5951220" cy="1443038"/>
          </a:xfrm>
        </p:grpSpPr>
        <p:sp>
          <p:nvSpPr>
            <p:cNvPr id="45" name="Rectangle 45"/>
            <p:cNvSpPr/>
            <p:nvPr/>
          </p:nvSpPr>
          <p:spPr>
            <a:xfrm>
              <a:off x="533400" y="4893945"/>
              <a:ext cx="5951220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542925" y="5027295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58190" y="508063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50862" y="511349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51332" y="5425440"/>
              <a:ext cx="514007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原课件"不会溢出和除 0 检查"容易读成"不会溢出"。原意是 div、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divu 不做溢出检查和除数为 0 检查，需要时由软件检查。例如 −2³¹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÷ (−1) 的商 2³¹ 就放不进 32 位。</a:t>
              </a:r>
            </a:p>
          </p:txBody>
        </p:sp>
      </p:grpSp>
      <p:grpSp>
        <p:nvGrpSpPr>
          <p:cNvPr id="54" name="c2-code-1"/>
          <p:cNvGrpSpPr/>
          <p:nvPr/>
        </p:nvGrpSpPr>
        <p:grpSpPr>
          <a:xfrm>
            <a:off x="6789420" y="1524000"/>
            <a:ext cx="4869180" cy="1561148"/>
            <a:chOff x="6789420" y="1524000"/>
            <a:chExt cx="4869180" cy="1561148"/>
          </a:xfrm>
        </p:grpSpPr>
        <p:sp>
          <p:nvSpPr>
            <p:cNvPr id="51" name="Rectangle 51"/>
            <p:cNvSpPr/>
            <p:nvPr/>
          </p:nvSpPr>
          <p:spPr>
            <a:xfrm>
              <a:off x="6789420" y="1524000"/>
              <a:ext cx="4869180" cy="1561148"/>
            </a:xfrm>
            <a:prstGeom prst="roundRect">
              <a:avLst>
                <a:gd name="adj" fmla="val 610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917817" y="167592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例：乘除后取结果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917817" y="1935956"/>
              <a:ext cx="2561336" cy="10717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mult  $s0, $s1    # HI:LO = $s0 × $s1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mflo  $t0         # $t0 = 积的低 32 位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mfhi  $t1         # $t1 = 积的高 32 位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div   $s2, $s3    # LO = 商，HI = 余数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mflo  $t2         # $t2 = $s2 / $s3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mfhi  $t3         # $t3 = $s2 % $s3</a:t>
              </a:r>
            </a:p>
          </p:txBody>
        </p:sp>
      </p:grpSp>
      <p:grpSp>
        <p:nvGrpSpPr>
          <p:cNvPr id="63" name="c2-card-2"/>
          <p:cNvGrpSpPr/>
          <p:nvPr/>
        </p:nvGrpSpPr>
        <p:grpSpPr>
          <a:xfrm>
            <a:off x="6789420" y="3254692"/>
            <a:ext cx="4869180" cy="3082290"/>
            <a:chOff x="6789420" y="3254692"/>
            <a:chExt cx="4869180" cy="3082290"/>
          </a:xfrm>
        </p:grpSpPr>
        <p:sp>
          <p:nvSpPr>
            <p:cNvPr id="55" name="Rectangle 55"/>
            <p:cNvSpPr/>
            <p:nvPr/>
          </p:nvSpPr>
          <p:spPr>
            <a:xfrm>
              <a:off x="6789420" y="3254692"/>
              <a:ext cx="4869180" cy="3082290"/>
            </a:xfrm>
            <a:prstGeom prst="roundRect">
              <a:avLst>
                <a:gd name="adj" fmla="val 43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798945" y="3388042"/>
              <a:ext cx="47625" cy="281559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7014210" y="3441382"/>
              <a:ext cx="1178242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085326" y="3474244"/>
              <a:ext cx="103696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积超过 32 位了吗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7022782" y="384238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178802" y="3786188"/>
              <a:ext cx="30605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multu：HI 不为 0 就说明积超过 32 位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7022782" y="414242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178802" y="4086225"/>
              <a:ext cx="381990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mult：HI 的每一位都应等于 LO 的最高位（符号扩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展），否则超出 32 位有符号数范围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913376" cy="3351847"/>
            <a:chOff x="667512" y="1835468"/>
            <a:chExt cx="4913376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浮点数的表示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用二进制科学计数法表示很大、很小和带小数的数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263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3.5 科学计数法与规格化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7287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IEEE 754 单精度与双精度格式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移码与特殊值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表示范围、精度与编码例题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1010900" cy="909257"/>
            <a:chOff x="520446" y="342900"/>
            <a:chExt cx="1101090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浮点数的表示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10109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浮点数就是二进制的科学计数法；规格化要求小数点前恰有一位非零数字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5951220" cy="2022158"/>
            <a:chOff x="533400" y="1524000"/>
            <a:chExt cx="5951220" cy="20221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8804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51570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规格化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7989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1116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−2.34 × 10⁵⁶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523884" y="210835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140583" y="2108359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小数点前恰有一位非零数字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595122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556986"/>
              <a:ext cx="1216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+0.002 × 10⁻⁴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23884" y="255698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140583" y="2556986"/>
              <a:ext cx="28905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小数点前是 0，规格化为 +2.0 × 10⁻⁷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6607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118961"/>
              <a:ext cx="12161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+987.02 × 10⁹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23884" y="311896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140583" y="3005614"/>
              <a:ext cx="27764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小数点前有三位，规格化为 +9.8702 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10¹¹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951220" cy="20221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194560" y="1524000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027998" y="1524000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1-card-2"/>
          <p:cNvGrpSpPr/>
          <p:nvPr/>
        </p:nvGrpSpPr>
        <p:grpSpPr>
          <a:xfrm>
            <a:off x="533400" y="3736658"/>
            <a:ext cx="5951220" cy="2518410"/>
            <a:chOff x="533400" y="3736658"/>
            <a:chExt cx="5951220" cy="2518410"/>
          </a:xfrm>
        </p:grpSpPr>
        <p:sp>
          <p:nvSpPr>
            <p:cNvPr id="27" name="Rectangle 27"/>
            <p:cNvSpPr/>
            <p:nvPr/>
          </p:nvSpPr>
          <p:spPr>
            <a:xfrm>
              <a:off x="533400" y="3736658"/>
              <a:ext cx="5951220" cy="2518410"/>
            </a:xfrm>
            <a:prstGeom prst="roundRect">
              <a:avLst>
                <a:gd name="adj" fmla="val 52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42925" y="3870008"/>
              <a:ext cx="47625" cy="225171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81050" y="3946208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54507" y="398192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二进制浮点数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3430" y="4323398"/>
              <a:ext cx="50920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规格化形式为 ±1.xxxxxxx₂ × 2^yyyy：小数点前总是 1，指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数表示小数点"浮动"到哪里。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86765" y="5007292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44880" y="4944428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能表示非整数，也能表示很大和很小的数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86765" y="5342572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44880" y="5279708"/>
              <a:ext cx="4669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语言中对应 float（单精度）和 double（双精度）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4573" y="5610701"/>
              <a:ext cx="50523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规格化让同一个数只有一种写法，也让有限的尾数位全部用来存有效数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字。</a:t>
              </a:r>
            </a:p>
          </p:txBody>
        </p:sp>
      </p:grpSp>
      <p:grpSp>
        <p:nvGrpSpPr>
          <p:cNvPr id="50" name="c2-card-1"/>
          <p:cNvGrpSpPr/>
          <p:nvPr/>
        </p:nvGrpSpPr>
        <p:grpSpPr>
          <a:xfrm>
            <a:off x="6789420" y="1524000"/>
            <a:ext cx="4869180" cy="2771775"/>
            <a:chOff x="6789420" y="1524000"/>
            <a:chExt cx="4869180" cy="2771775"/>
          </a:xfrm>
        </p:grpSpPr>
        <p:sp>
          <p:nvSpPr>
            <p:cNvPr id="38" name="Rectangle 38"/>
            <p:cNvSpPr/>
            <p:nvPr/>
          </p:nvSpPr>
          <p:spPr>
            <a:xfrm>
              <a:off x="6789420" y="1524000"/>
              <a:ext cx="4869180" cy="2771775"/>
            </a:xfrm>
            <a:prstGeom prst="roundRect">
              <a:avLst>
                <a:gd name="adj" fmla="val 48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798945" y="1657350"/>
              <a:ext cx="47625" cy="25050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03707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114476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浮点数标准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064818" y="1768792"/>
              <a:ext cx="15050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IEEE 754-1985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042785" y="219265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200900" y="2129790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统一浮点数的格式，消除各厂商表示方法的不一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致，科学计算程序可以在不同机器间移植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042785" y="28136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200900" y="275082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现已被普遍采用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042785" y="31489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200900" y="3086100"/>
              <a:ext cx="35288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两种精度：单精度 32 位、双精度 64 位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030593" y="3418046"/>
              <a:ext cx="3995674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IEEE：Institute of Electrical and Electronics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Engineers，电气电子工程师学会，1963 年 1 月 1 日成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立，总部在美国纽约。</a:t>
              </a:r>
            </a:p>
          </p:txBody>
        </p:sp>
      </p:grpSp>
      <p:grpSp>
        <p:nvGrpSpPr>
          <p:cNvPr id="56" name="c2-callout-2"/>
          <p:cNvGrpSpPr/>
          <p:nvPr/>
        </p:nvGrpSpPr>
        <p:grpSpPr>
          <a:xfrm>
            <a:off x="6789420" y="4486275"/>
            <a:ext cx="4869180" cy="782955"/>
            <a:chOff x="6789420" y="4486275"/>
            <a:chExt cx="4869180" cy="782955"/>
          </a:xfrm>
        </p:grpSpPr>
        <p:sp>
          <p:nvSpPr>
            <p:cNvPr id="51" name="Rectangle 51"/>
            <p:cNvSpPr/>
            <p:nvPr/>
          </p:nvSpPr>
          <p:spPr>
            <a:xfrm>
              <a:off x="6789420" y="4486275"/>
              <a:ext cx="4869180" cy="782955"/>
            </a:xfrm>
            <a:prstGeom prst="roundRect">
              <a:avLst>
                <a:gd name="adj" fmla="val 1459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6994208" y="4777742"/>
              <a:ext cx="200023" cy="200023"/>
              <a:chOff x="6994208" y="4777742"/>
              <a:chExt cx="200023" cy="20002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994208" y="477774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127558" y="48444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7296150" y="4634865"/>
              <a:ext cx="3825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浮点数用有限的位数同时照顾范围和精度：阶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码位数决定范围，尾数位数决定精度。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151030" cy="909257"/>
            <a:chOff x="520446" y="342900"/>
            <a:chExt cx="1015103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浮点数的表示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15103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IEEE 754 格式：符号 S、阶码（移码）、尾数（隐含最高位的 1）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6276022" cy="2263140"/>
            <a:chOff x="533400" y="1524000"/>
            <a:chExt cx="6276022" cy="22631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75438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14412" y="17964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格式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58670" y="179641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847022" y="1663065"/>
              <a:ext cx="89535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阶码</a:t>
              </a:r>
              <a:br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Exponent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178818" y="1796415"/>
              <a:ext cx="13692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尾数 Fraction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793135" y="1796415"/>
              <a:ext cx="902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偏移 Bias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0080" y="2417445"/>
              <a:ext cx="86677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单精度 32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033492" y="2550795"/>
              <a:ext cx="3888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00292" y="2550795"/>
              <a:ext cx="3888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13529" y="2550795"/>
              <a:ext cx="4998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 位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70378" y="255079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127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02799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3032760"/>
              <a:ext cx="6276022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0080" y="3171825"/>
              <a:ext cx="86677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双精度 64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33492" y="3305175"/>
              <a:ext cx="3888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44761" y="3305175"/>
              <a:ext cx="4998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 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13529" y="3305175"/>
              <a:ext cx="4998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52 位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689282" y="3042285"/>
              <a:ext cx="1110615" cy="7353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14847" y="330517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1023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6276022" cy="226314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909762" y="1524000"/>
              <a:ext cx="9525" cy="22631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2536508" y="1524000"/>
              <a:ext cx="9525" cy="22631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043362" y="1524000"/>
              <a:ext cx="9525" cy="22631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674995" y="1524000"/>
              <a:ext cx="9525" cy="22631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formula19"/>
              <p:cNvSpPr txBox="1">
                <a:spLocks noGrp="1"/>
              </p:cNvSpPr>
              <p:nvPr/>
            </p:nvSpPr>
            <p:spPr>
              <a:xfrm>
                <a:off x="533400" y="3977640"/>
                <a:ext cx="6276022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x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e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m:rPr>
                              <m:nor m:val="on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Fraction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×</m:t>
                      </m:r>
                      <m:sSup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e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nor m:val="on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Exponent</m:t>
                              </m:r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m:rPr>
                                  <m:nor m:val="on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Bias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</a:p>
            </p:txBody>
          </p:sp>
        </mc:Choice>
      </mc:AlternateContent>
      <p:grpSp>
        <p:nvGrpSpPr>
          <p:cNvPr id="41" name="c1-kv-3"/>
          <p:cNvGrpSpPr/>
          <p:nvPr/>
        </p:nvGrpSpPr>
        <p:grpSpPr>
          <a:xfrm>
            <a:off x="525780" y="4650105"/>
            <a:ext cx="6283642" cy="1455420"/>
            <a:chOff x="525780" y="4650105"/>
            <a:chExt cx="6283642" cy="1455420"/>
          </a:xfrm>
        </p:grpSpPr>
        <p:sp>
          <p:nvSpPr>
            <p:cNvPr id="33" name="TextBox 33"/>
            <p:cNvSpPr txBox="1"/>
            <p:nvPr/>
          </p:nvSpPr>
          <p:spPr>
            <a:xfrm>
              <a:off x="525780" y="465010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368742" y="4650105"/>
              <a:ext cx="27816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符号位：0 为非负数，1 为负数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497014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5780" y="509016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有效位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368742" y="5090160"/>
              <a:ext cx="50920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规格化为 1.0 ≤ |有效位| &lt; 2.0；前导的 1 总是存在，作为隐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含位不存储，有效位 = 1.尾数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569214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25780" y="581215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阶码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368742" y="5812155"/>
              <a:ext cx="51240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移码表示：阶码 = 真实指数 + 偏移，保证阶码是无符号数</a:t>
              </a:r>
            </a:p>
          </p:txBody>
        </p:sp>
      </p:grpSp>
      <p:grpSp>
        <p:nvGrpSpPr>
          <p:cNvPr id="50" name="c2-card-1"/>
          <p:cNvGrpSpPr/>
          <p:nvPr/>
        </p:nvGrpSpPr>
        <p:grpSpPr>
          <a:xfrm>
            <a:off x="7114222" y="1524000"/>
            <a:ext cx="4544378" cy="1937385"/>
            <a:chOff x="7114222" y="1524000"/>
            <a:chExt cx="4544378" cy="1937385"/>
          </a:xfrm>
        </p:grpSpPr>
        <p:sp>
          <p:nvSpPr>
            <p:cNvPr id="42" name="Rectangle 42"/>
            <p:cNvSpPr/>
            <p:nvPr/>
          </p:nvSpPr>
          <p:spPr>
            <a:xfrm>
              <a:off x="7114222" y="1524000"/>
              <a:ext cx="4544378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7123748" y="1657350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361872" y="173355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426477" y="176926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为什么阶码用移码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阶码是无符号数，比较两个浮点数的阶码大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小时可以直接按无符号数比较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525702" y="2731770"/>
              <a:ext cx="3701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最小的阶码是全 0，于是 +0.0 的 32 位全是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0，和整数 0 相同</a:t>
              </a:r>
            </a:p>
          </p:txBody>
        </p:sp>
      </p:grpSp>
      <p:grpSp>
        <p:nvGrpSpPr>
          <p:cNvPr id="56" name="c2-card-2"/>
          <p:cNvGrpSpPr/>
          <p:nvPr/>
        </p:nvGrpSpPr>
        <p:grpSpPr>
          <a:xfrm>
            <a:off x="7114222" y="3651885"/>
            <a:ext cx="4544378" cy="2394585"/>
            <a:chOff x="7114222" y="3651885"/>
            <a:chExt cx="4544378" cy="2394585"/>
          </a:xfrm>
        </p:grpSpPr>
        <p:sp>
          <p:nvSpPr>
            <p:cNvPr id="51" name="Rectangle 51"/>
            <p:cNvSpPr/>
            <p:nvPr/>
          </p:nvSpPr>
          <p:spPr>
            <a:xfrm>
              <a:off x="7114222" y="3651885"/>
              <a:ext cx="4544378" cy="2394585"/>
            </a:xfrm>
            <a:prstGeom prst="roundRect">
              <a:avLst>
                <a:gd name="adj" fmla="val 55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123748" y="3785235"/>
              <a:ext cx="47625" cy="21278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361872" y="38614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452081" y="38971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354252" y="4238625"/>
              <a:ext cx="39204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原课件写"Double：偏移 = 1203"，双精度的偏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移应为 1023（= 2¹⁰ − 1）。单精度偏移 127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2⁷ − 1。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4652" cy="909257"/>
            <a:chOff x="520446" y="342900"/>
            <a:chExt cx="8264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浮点数的表示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46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移码：真值加上偏移量，把有符号的指数变成无符号数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card-1"/>
          <p:cNvGrpSpPr/>
          <p:nvPr/>
        </p:nvGrpSpPr>
        <p:grpSpPr>
          <a:xfrm>
            <a:off x="533400" y="1524000"/>
            <a:ext cx="4760595" cy="4720590"/>
            <a:chOff x="533400" y="1524000"/>
            <a:chExt cx="4760595" cy="47205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4720590"/>
            </a:xfrm>
            <a:prstGeom prst="roundRect">
              <a:avLst>
                <a:gd name="adj" fmla="val 28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45389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39920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位移码：[x]移 = 2⁷ + x（−128 ≤ x ≤ 127）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7240" y="247840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3831" y="2418874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最高位 1 表示非负，0 表示负数，与补码相反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7240" y="279654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3831" y="2736056"/>
              <a:ext cx="385572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 0 对应的真值最小，全 1 对应的真值最大，移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码能直观反映大小，便于比较两个阶码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77240" y="338518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3831" y="3325654"/>
              <a:ext cx="38854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的移码唯一：[+0]移 = [−0]移 = 1000 0000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77240" y="370332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3831" y="3642836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真值映射到非负数范围，可以当无符号数处理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77240" y="402145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3831" y="3960971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同一真值的补码和移码只差最高位</a:t>
              </a:r>
            </a:p>
          </p:txBody>
        </p:sp>
      </p:grpSp>
      <p:grpSp>
        <p:nvGrpSpPr>
          <p:cNvPr id="61" name="c2-table-1"/>
          <p:cNvGrpSpPr/>
          <p:nvPr/>
        </p:nvGrpSpPr>
        <p:grpSpPr>
          <a:xfrm>
            <a:off x="5593461" y="1524000"/>
            <a:ext cx="6065139" cy="3060001"/>
            <a:chOff x="5593461" y="1524000"/>
            <a:chExt cx="6065139" cy="3060001"/>
          </a:xfrm>
        </p:grpSpPr>
        <p:sp>
          <p:nvSpPr>
            <p:cNvPr id="23" name="Rectangle 23"/>
            <p:cNvSpPr/>
            <p:nvPr/>
          </p:nvSpPr>
          <p:spPr>
            <a:xfrm>
              <a:off x="5598795" y="1524000"/>
              <a:ext cx="6059805" cy="4629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740858" y="1655921"/>
              <a:ext cx="5674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指数 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62483" y="165592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补码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84649" y="1655921"/>
              <a:ext cx="155284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移码（偏移 128）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539642" y="1655921"/>
              <a:ext cx="203002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IEEE 阶码（偏移 127）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796533" y="2119789"/>
              <a:ext cx="4560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−126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04417" y="2119789"/>
              <a:ext cx="9129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1000 0010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04604" y="2119789"/>
              <a:ext cx="9129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0000 0010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9461182" y="1996440"/>
              <a:ext cx="2187892" cy="4438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098187" y="2119789"/>
              <a:ext cx="9129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0000 0001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598795" y="244602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598795" y="2450782"/>
              <a:ext cx="6059805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06928" y="2582704"/>
              <a:ext cx="2352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04417" y="2582704"/>
              <a:ext cx="9129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1111 1111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04604" y="2582704"/>
              <a:ext cx="9129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0111 1111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098187" y="2582704"/>
              <a:ext cx="9129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0111 1110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598795" y="290893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962126" y="3045619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04417" y="3045619"/>
              <a:ext cx="9129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0000 0000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104604" y="3045619"/>
              <a:ext cx="9129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1000 0000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098187" y="3045619"/>
              <a:ext cx="9129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0111 1111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598795" y="337280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598795" y="3377565"/>
              <a:ext cx="6059805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906928" y="3509486"/>
              <a:ext cx="2352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04417" y="3509486"/>
              <a:ext cx="9129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0000 0001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104604" y="3509486"/>
              <a:ext cx="9129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1000 0001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098187" y="3509486"/>
              <a:ext cx="9129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1000 0000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598795" y="383571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796533" y="3972401"/>
              <a:ext cx="4560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+127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04417" y="3972401"/>
              <a:ext cx="9129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0111 1111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104604" y="3972401"/>
              <a:ext cx="9129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1111 1111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9461182" y="3850005"/>
              <a:ext cx="2187892" cy="4438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098187" y="3972401"/>
              <a:ext cx="9129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1111 1110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598795" y="1524000"/>
              <a:ext cx="6059805" cy="27793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445568" y="1524000"/>
              <a:ext cx="9525" cy="27793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7665720" y="1524000"/>
              <a:ext cx="9525" cy="27793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9446895" y="1524000"/>
              <a:ext cx="9525" cy="27793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593461" y="4378642"/>
              <a:ext cx="40250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单精度规格化数的指数范围是 −126 ～ +127，对应阶码 1 ～ 254</a:t>
              </a:r>
            </a:p>
          </p:txBody>
        </p:sp>
      </p:grpSp>
      <p:grpSp>
        <p:nvGrpSpPr>
          <p:cNvPr id="67" name="c2-card-2"/>
          <p:cNvGrpSpPr/>
          <p:nvPr/>
        </p:nvGrpSpPr>
        <p:grpSpPr>
          <a:xfrm>
            <a:off x="5598795" y="4722495"/>
            <a:ext cx="6059805" cy="1522095"/>
            <a:chOff x="5598795" y="4722495"/>
            <a:chExt cx="6059805" cy="1522095"/>
          </a:xfrm>
        </p:grpSpPr>
        <p:sp>
          <p:nvSpPr>
            <p:cNvPr id="62" name="Rectangle 62"/>
            <p:cNvSpPr/>
            <p:nvPr/>
          </p:nvSpPr>
          <p:spPr>
            <a:xfrm>
              <a:off x="5598795" y="4722495"/>
              <a:ext cx="6059805" cy="1522095"/>
            </a:xfrm>
            <a:prstGeom prst="roundRect">
              <a:avLst>
                <a:gd name="adj" fmla="val 8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5608320" y="4855845"/>
              <a:ext cx="47625" cy="12553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5835015" y="492061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926455" y="495490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827776" y="5281136"/>
              <a:ext cx="540664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原课件说偏移 127 求得的阶码"正数的值比 128 偏移少 1，负数的值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 1"。实际上 E = e + 127 对任何指数都比 e + 128 小 1，例如 e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 时分别为 0111 1110 和 0111 1111。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710853" cy="909257"/>
            <a:chOff x="520446" y="342900"/>
            <a:chExt cx="971085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浮点数的表示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7108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阶码全 0 和全 1 留作特殊用途：零、非规格化数、无穷大、NaN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4" name="c1-table-1"/>
          <p:cNvGrpSpPr/>
          <p:nvPr/>
        </p:nvGrpSpPr>
        <p:grpSpPr>
          <a:xfrm>
            <a:off x="527685" y="1524000"/>
            <a:ext cx="6497955" cy="2988469"/>
            <a:chOff x="527685" y="1524000"/>
            <a:chExt cx="6497955" cy="298846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49224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57244" y="1659731"/>
              <a:ext cx="520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阶码 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12535" y="1659731"/>
              <a:ext cx="5583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尾数 M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95112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表示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2378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真值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7754" y="2108359"/>
              <a:ext cx="3390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 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37827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028666" y="21083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±0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887343" y="2108359"/>
              <a:ext cx="1960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±0.0，+0 与 −0 两种编码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41649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421255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7754" y="2556986"/>
              <a:ext cx="3390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 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64593" y="2556986"/>
              <a:ext cx="2541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≠ 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92654" y="255698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非规格化数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887343" y="2556986"/>
              <a:ext cx="25644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(−1)^S × (0.M) × 2^(1 − Bias)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86607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71348" y="3005614"/>
              <a:ext cx="6918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～ 254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12899" y="30056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490788" y="2880360"/>
              <a:ext cx="1279208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778811" y="3005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规格化数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887343" y="3005614"/>
              <a:ext cx="25745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(−1)^S × (1.M) × 2^(E − Bias)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31470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3319462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47754" y="3454241"/>
              <a:ext cx="3390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 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037827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028666" y="345424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±∞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887343" y="345424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按符号位取正、负无穷大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376332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47754" y="3903821"/>
              <a:ext cx="3390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 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964593" y="3903821"/>
              <a:ext cx="2541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≠ 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975915" y="3903821"/>
              <a:ext cx="3080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NaN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887343" y="3903821"/>
              <a:ext cx="27268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非法或未定义的结果，如 0.0 / 0.0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1524000"/>
              <a:ext cx="6492240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1697355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2476500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3774758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27685" y="4292441"/>
              <a:ext cx="41803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表中阶码范围按单精度写；双精度规格化数的阶码为 1 ～ 2046</a:t>
              </a:r>
            </a:p>
          </p:txBody>
        </p:sp>
      </p:grpSp>
      <p:grpSp>
        <p:nvGrpSpPr>
          <p:cNvPr id="50" name="c1-card-2"/>
          <p:cNvGrpSpPr/>
          <p:nvPr/>
        </p:nvGrpSpPr>
        <p:grpSpPr>
          <a:xfrm>
            <a:off x="533400" y="4658678"/>
            <a:ext cx="6492240" cy="1602105"/>
            <a:chOff x="533400" y="4658678"/>
            <a:chExt cx="6492240" cy="1602105"/>
          </a:xfrm>
        </p:grpSpPr>
        <p:sp>
          <p:nvSpPr>
            <p:cNvPr id="45" name="Rectangle 45"/>
            <p:cNvSpPr/>
            <p:nvPr/>
          </p:nvSpPr>
          <p:spPr>
            <a:xfrm>
              <a:off x="533400" y="4658678"/>
              <a:ext cx="6492240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542925" y="4792028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81050" y="486822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71258" y="490394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73430" y="5245418"/>
              <a:ext cx="57016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原课件非规格化数的公式写作 ×2^(−Bias)。IEEE 754 规定为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×2^(1−Bias)（单精度为 2⁻¹²⁶），这样最大的非规格化数恰好紧挨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最小的规格化数 1.0 × 2⁻¹²⁶。</a:t>
              </a:r>
            </a:p>
          </p:txBody>
        </p:sp>
      </p:grpSp>
      <p:grpSp>
        <p:nvGrpSpPr>
          <p:cNvPr id="57" name="c2-card-1"/>
          <p:cNvGrpSpPr/>
          <p:nvPr/>
        </p:nvGrpSpPr>
        <p:grpSpPr>
          <a:xfrm>
            <a:off x="7330440" y="1524000"/>
            <a:ext cx="4328160" cy="2133600"/>
            <a:chOff x="7330440" y="1524000"/>
            <a:chExt cx="4328160" cy="2133600"/>
          </a:xfrm>
        </p:grpSpPr>
        <p:sp>
          <p:nvSpPr>
            <p:cNvPr id="51" name="Rectangle 51"/>
            <p:cNvSpPr/>
            <p:nvPr/>
          </p:nvSpPr>
          <p:spPr>
            <a:xfrm>
              <a:off x="7330440" y="1524000"/>
              <a:ext cx="4328160" cy="21336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339965" y="1657350"/>
              <a:ext cx="47625" cy="186690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57809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655496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非规格化数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570470" y="2110740"/>
              <a:ext cx="36633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隐含位变为 0，比最小的规格化数还小，以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较低的精度表示接近 0 的数，让下溢逐步发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生。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571613" y="3014186"/>
              <a:ext cx="34267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单精度最小正非规格化数 0x00000001 = 2⁻²³ ×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2⁻¹²⁶ = 2⁻¹⁴⁹ ≈ 1.4 × 10⁻⁴⁵。</a:t>
              </a:r>
            </a:p>
          </p:txBody>
        </p:sp>
      </p:grpSp>
      <p:grpSp>
        <p:nvGrpSpPr>
          <p:cNvPr id="66" name="c2-card-2"/>
          <p:cNvGrpSpPr/>
          <p:nvPr/>
        </p:nvGrpSpPr>
        <p:grpSpPr>
          <a:xfrm>
            <a:off x="7330440" y="3848100"/>
            <a:ext cx="4328160" cy="2412682"/>
            <a:chOff x="7330440" y="3848100"/>
            <a:chExt cx="4328160" cy="2412682"/>
          </a:xfrm>
        </p:grpSpPr>
        <p:sp>
          <p:nvSpPr>
            <p:cNvPr id="58" name="Rectangle 58"/>
            <p:cNvSpPr/>
            <p:nvPr/>
          </p:nvSpPr>
          <p:spPr>
            <a:xfrm>
              <a:off x="7330440" y="3848100"/>
              <a:ext cx="4328160" cy="2412682"/>
            </a:xfrm>
            <a:prstGeom prst="roundRect">
              <a:avLst>
                <a:gd name="adj" fmla="val 55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7339965" y="3981450"/>
              <a:ext cx="47625" cy="214598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7578090" y="4057650"/>
              <a:ext cx="106965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645951" y="4093369"/>
              <a:ext cx="934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无穷大与 NaN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7583805" y="44977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741920" y="4434840"/>
              <a:ext cx="3415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±∞ 可以继续参与运算，如 1.0 / 0.0 = +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∞，程序不必每一步都检查溢出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7583805" y="51187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741920" y="5055870"/>
              <a:ext cx="34347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NaN（Not a Number）也能参与运算，结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果恒为 NaN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浮点数的表示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单精度与双精度的表示范围和精度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table-1"/>
          <p:cNvGrpSpPr/>
          <p:nvPr/>
        </p:nvGrpSpPr>
        <p:grpSpPr>
          <a:xfrm>
            <a:off x="527685" y="1524000"/>
            <a:ext cx="6714173" cy="3441859"/>
            <a:chOff x="527685" y="1524000"/>
            <a:chExt cx="6714173" cy="3441859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708458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9279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052610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单精度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69128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双精度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1223" y="210835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最小阶码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17598" y="2108359"/>
              <a:ext cx="21496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0001：1 − 127 = −126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33163" y="2108359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000…01：1 − 1023 = −1022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1649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21255"/>
              <a:ext cx="670845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1223" y="267033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最小正规格化数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17598" y="2670334"/>
              <a:ext cx="21237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 × 2⁻¹²⁶ ≈ 1.2 × 10⁻³⁸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33163" y="2556986"/>
              <a:ext cx="15979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 × 2⁻¹⁰²² ≈ 2.2 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10⁻³⁰⁸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9276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23230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最大阶码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17598" y="3232309"/>
              <a:ext cx="23391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1111 1110：254 − 127 = +127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33163" y="3232309"/>
              <a:ext cx="23822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111…10：2046 − 1023 = +1023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541395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546158"/>
              <a:ext cx="670845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379428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117598" y="3680936"/>
              <a:ext cx="19636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(2 − 2⁻²³) × 2¹²⁷ ≈ 3.4 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10³⁸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733163" y="3680936"/>
              <a:ext cx="205308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(2 − 2⁻⁵²) × 2¹⁰²³ ≈ 1.8 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10³⁰⁸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21671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1223" y="435721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相对精度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117598" y="4357211"/>
              <a:ext cx="17705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2⁻²³，≈ 7 位十进制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733163" y="4357211"/>
              <a:ext cx="18653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2⁻⁵²，≈ 16 位十进制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1524000"/>
              <a:ext cx="6708458" cy="314610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005012" y="1524000"/>
              <a:ext cx="9525" cy="3146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620578" y="1524000"/>
              <a:ext cx="9525" cy="31461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27685" y="4745831"/>
              <a:ext cx="42029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最大数的尾数全为 1，有效位略小于 2.0；负数范围与正数对称</a:t>
              </a:r>
            </a:p>
          </p:txBody>
        </p:sp>
      </p:grpSp>
      <p:grpSp>
        <p:nvGrpSpPr>
          <p:cNvPr id="43" name="c1-callout-2"/>
          <p:cNvGrpSpPr/>
          <p:nvPr/>
        </p:nvGrpSpPr>
        <p:grpSpPr>
          <a:xfrm>
            <a:off x="533400" y="5112068"/>
            <a:ext cx="6708458" cy="782955"/>
            <a:chOff x="533400" y="5112068"/>
            <a:chExt cx="6708458" cy="782955"/>
          </a:xfrm>
        </p:grpSpPr>
        <p:sp>
          <p:nvSpPr>
            <p:cNvPr id="37" name="Rectangle 37"/>
            <p:cNvSpPr/>
            <p:nvPr/>
          </p:nvSpPr>
          <p:spPr>
            <a:xfrm>
              <a:off x="533400" y="5112068"/>
              <a:ext cx="6708458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26129" y="5399841"/>
              <a:ext cx="224134" cy="192560"/>
              <a:chOff x="726129" y="5399841"/>
              <a:chExt cx="224134" cy="19256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838200" y="547020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26129" y="539984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38200" y="554799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130" y="5260658"/>
              <a:ext cx="56540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阶码 0000 0000 和 1111 1111 另作他用，所以单精度规格化数的指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数只能取 −126 ～ +127。</a:t>
              </a:r>
            </a:p>
          </p:txBody>
        </p:sp>
      </p:grpSp>
      <p:grpSp>
        <p:nvGrpSpPr>
          <p:cNvPr id="53" name="c2-card-1"/>
          <p:cNvGrpSpPr/>
          <p:nvPr/>
        </p:nvGrpSpPr>
        <p:grpSpPr>
          <a:xfrm>
            <a:off x="7546658" y="1524000"/>
            <a:ext cx="4111942" cy="2272665"/>
            <a:chOff x="7546658" y="1524000"/>
            <a:chExt cx="4111942" cy="2272665"/>
          </a:xfrm>
        </p:grpSpPr>
        <p:sp>
          <p:nvSpPr>
            <p:cNvPr id="44" name="Rectangle 44"/>
            <p:cNvSpPr/>
            <p:nvPr/>
          </p:nvSpPr>
          <p:spPr>
            <a:xfrm>
              <a:off x="7546658" y="1524000"/>
              <a:ext cx="4111942" cy="2272665"/>
            </a:xfrm>
            <a:prstGeom prst="roundRect">
              <a:avLst>
                <a:gd name="adj" fmla="val 58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7556182" y="1657350"/>
              <a:ext cx="47625" cy="200596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794308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872666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精度怎么算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786688" y="211074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尾数的每一位都是有效数字：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800022" y="25088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958138" y="2446020"/>
              <a:ext cx="2891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单精度 23 位：23 × log₁₀2 ≈ 23 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 ≈ 7 位十进制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800022" y="31299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958138" y="3067050"/>
              <a:ext cx="2891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双精度 52 位：52 × log₁₀2 ≈ 52 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0.3 ≈ 16 位十进制</a:t>
              </a:r>
            </a:p>
          </p:txBody>
        </p:sp>
      </p:grpSp>
      <p:grpSp>
        <p:nvGrpSpPr>
          <p:cNvPr id="60" name="c2-card-2"/>
          <p:cNvGrpSpPr/>
          <p:nvPr/>
        </p:nvGrpSpPr>
        <p:grpSpPr>
          <a:xfrm>
            <a:off x="7546658" y="3987165"/>
            <a:ext cx="4111942" cy="1956435"/>
            <a:chOff x="7546658" y="3987165"/>
            <a:chExt cx="4111942" cy="1956435"/>
          </a:xfrm>
        </p:grpSpPr>
        <p:sp>
          <p:nvSpPr>
            <p:cNvPr id="54" name="Rectangle 54"/>
            <p:cNvSpPr/>
            <p:nvPr/>
          </p:nvSpPr>
          <p:spPr>
            <a:xfrm>
              <a:off x="7546658" y="3987165"/>
              <a:ext cx="4111942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7556182" y="4120515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794308" y="419671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889418" y="423243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786688" y="4573905"/>
              <a:ext cx="34732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float 分不清 16777216 和 16777217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786688" y="4928235"/>
              <a:ext cx="34061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2²⁴ = 16777216，单精度连隐含位共 24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位有效位。16777217 = 2²⁴ + 1 需要 25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位，存入 float 后被舍入成 16777216。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696052" cy="909257"/>
            <a:chOff x="520446" y="342900"/>
            <a:chExt cx="56960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浮点数的表示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6960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例：把 −0.75 编码为单精度和双精度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4599559" cy="2476023"/>
            <a:chOff x="533400" y="1533525"/>
            <a:chExt cx="4599559" cy="2476023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7487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1645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1902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69938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732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28231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3561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642" y="1564957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化为二进制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785" y="1833086"/>
              <a:ext cx="26122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−0.75 = −0.11₂ = (−1)¹ × 1.1₂ × 2⁻¹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642" y="214788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符号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785" y="2416016"/>
              <a:ext cx="3698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= 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27308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尾数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2998946"/>
              <a:ext cx="25170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去掉隐含的 1，Fraction = 1000…00₂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331374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阶码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3581876"/>
              <a:ext cx="418617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单精度 −1 + 127 = 126 = 0111 1110₂；双精度 −1 + 1023 = 1022 =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011 1111 1110₂</a:t>
              </a:r>
            </a:p>
          </p:txBody>
        </p:sp>
      </p:grpSp>
      <p:grpSp>
        <p:nvGrpSpPr>
          <p:cNvPr id="50" name="c2-table-1"/>
          <p:cNvGrpSpPr/>
          <p:nvPr/>
        </p:nvGrpSpPr>
        <p:grpSpPr>
          <a:xfrm>
            <a:off x="5707380" y="1524000"/>
            <a:ext cx="5951220" cy="1400175"/>
            <a:chOff x="5707380" y="1524000"/>
            <a:chExt cx="5951220" cy="1400175"/>
          </a:xfrm>
        </p:grpSpPr>
        <p:sp>
          <p:nvSpPr>
            <p:cNvPr id="25" name="Rectangle 25"/>
            <p:cNvSpPr/>
            <p:nvPr/>
          </p:nvSpPr>
          <p:spPr>
            <a:xfrm>
              <a:off x="5707380" y="1524000"/>
              <a:ext cx="595122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96713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格式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96747" y="164544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7400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阶码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15134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尾数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577906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十六进制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891746" y="20454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单精度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01285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70455" y="2045494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0111 1110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657554" y="2045494"/>
              <a:ext cx="13005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 0…0（23 位）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0121265" y="1933575"/>
              <a:ext cx="1527810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505079" y="2045494"/>
              <a:ext cx="760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BF40 0000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707380" y="231933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707380" y="2324100"/>
              <a:ext cx="5951220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891746" y="25455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双精度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01285" y="254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223450" y="2545556"/>
              <a:ext cx="1014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011 1111 1110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657554" y="2545556"/>
              <a:ext cx="13005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 0…0（52 位）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0121265" y="2333625"/>
              <a:ext cx="1527810" cy="58102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367391" y="2445544"/>
              <a:ext cx="103555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BFE8 0000 0000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707380" y="1524000"/>
              <a:ext cx="5951220" cy="14001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536055" y="1524000"/>
              <a:ext cx="9525" cy="1400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952298" y="1524000"/>
              <a:ext cx="9525" cy="1400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8500110" y="1524000"/>
              <a:ext cx="9525" cy="1400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106978" y="1524000"/>
              <a:ext cx="9525" cy="1400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8" name="c2-card-2"/>
          <p:cNvGrpSpPr/>
          <p:nvPr/>
        </p:nvGrpSpPr>
        <p:grpSpPr>
          <a:xfrm>
            <a:off x="5707380" y="3093720"/>
            <a:ext cx="5951220" cy="1670685"/>
            <a:chOff x="5707380" y="3093720"/>
            <a:chExt cx="5951220" cy="1670685"/>
          </a:xfrm>
        </p:grpSpPr>
        <p:sp>
          <p:nvSpPr>
            <p:cNvPr id="51" name="Rectangle 51"/>
            <p:cNvSpPr/>
            <p:nvPr/>
          </p:nvSpPr>
          <p:spPr>
            <a:xfrm>
              <a:off x="5707380" y="3093720"/>
              <a:ext cx="5951220" cy="1670685"/>
            </a:xfrm>
            <a:prstGeom prst="roundRect">
              <a:avLst>
                <a:gd name="adj" fmla="val 798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5716905" y="3227070"/>
              <a:ext cx="47625" cy="14039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932170" y="328041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016739" y="331327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再练一个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747320" y="3315652"/>
              <a:ext cx="15239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−0.5（原课件例）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925312" y="3641408"/>
              <a:ext cx="51229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−0.5 = −0.1₂ = (−1)¹ × 1.0₂ × 2⁻¹：S = 1，尾数全 0，阶码 E = 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+ 127 = 126 = 0111 1110₂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926455" y="4195286"/>
              <a:ext cx="502539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存储形式 1 01111110 00000000000000000000000（23 个 0），十六进制 BF00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0000。</a:t>
              </a:r>
            </a:p>
          </p:txBody>
        </p:sp>
      </p:grpSp>
      <p:grpSp>
        <p:nvGrpSpPr>
          <p:cNvPr id="64" name="c2-card-3"/>
          <p:cNvGrpSpPr/>
          <p:nvPr/>
        </p:nvGrpSpPr>
        <p:grpSpPr>
          <a:xfrm>
            <a:off x="5707380" y="4934902"/>
            <a:ext cx="5951220" cy="928688"/>
            <a:chOff x="5707380" y="4934902"/>
            <a:chExt cx="5951220" cy="928688"/>
          </a:xfrm>
        </p:grpSpPr>
        <p:sp>
          <p:nvSpPr>
            <p:cNvPr id="59" name="Rectangle 59"/>
            <p:cNvSpPr/>
            <p:nvPr/>
          </p:nvSpPr>
          <p:spPr>
            <a:xfrm>
              <a:off x="5707380" y="4934902"/>
              <a:ext cx="5951220" cy="928688"/>
            </a:xfrm>
            <a:prstGeom prst="roundRect">
              <a:avLst>
                <a:gd name="adj" fmla="val 143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5716905" y="5068252"/>
              <a:ext cx="47625" cy="66198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5932170" y="512159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024842" y="515445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925312" y="5465445"/>
              <a:ext cx="54749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 −0.5 的存储形式尾数写了 24 个 0，单精度尾数只有 23 位。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09356" cy="909257"/>
            <a:chOff x="520446" y="342900"/>
            <a:chExt cx="79093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7266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1058" y="407194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浮点数的表示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093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例：由编码求真值，1 10000001 01000…00 = −5.0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4169496" cy="2529173"/>
            <a:chOff x="533400" y="1533525"/>
            <a:chExt cx="4169496" cy="2529173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83464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4861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156781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拆字段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1861661"/>
              <a:ext cx="37568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= 1；阶码 1000 0001₂ = 129；尾数 0100 0…0₂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218372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有效位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512219"/>
              <a:ext cx="22271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+ 0.01₂ = 1 + 0.25 = 1.25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28689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162776"/>
              <a:ext cx="10726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129 − 127 = 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52044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求值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813334"/>
              <a:ext cx="23219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(−1)¹ × 1.25 × 2² = −5.0</a:t>
              </a:r>
            </a:p>
          </p:txBody>
        </p:sp>
      </p:grpSp>
      <p:grpSp>
        <p:nvGrpSpPr>
          <p:cNvPr id="31" name="c1-callout-2"/>
          <p:cNvGrpSpPr/>
          <p:nvPr/>
        </p:nvGrpSpPr>
        <p:grpSpPr>
          <a:xfrm>
            <a:off x="533400" y="4241482"/>
            <a:ext cx="4977765" cy="782955"/>
            <a:chOff x="533400" y="4241482"/>
            <a:chExt cx="4977765" cy="782955"/>
          </a:xfrm>
        </p:grpSpPr>
        <p:sp>
          <p:nvSpPr>
            <p:cNvPr id="25" name="Rectangle 25"/>
            <p:cNvSpPr/>
            <p:nvPr/>
          </p:nvSpPr>
          <p:spPr>
            <a:xfrm>
              <a:off x="533400" y="4241482"/>
              <a:ext cx="497776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4532948"/>
              <a:ext cx="200026" cy="200025"/>
              <a:chOff x="738188" y="4532948"/>
              <a:chExt cx="200026" cy="20002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453294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77926" y="457739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12642" y="468852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130" y="4390072"/>
              <a:ext cx="40443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解码时别忘了把隐含的 1 加回到尾数前面，也别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忘了减去偏移。</a:t>
              </a:r>
            </a:p>
          </p:txBody>
        </p:sp>
      </p:grpSp>
      <p:grpSp>
        <p:nvGrpSpPr>
          <p:cNvPr id="69" name="c2-table-1"/>
          <p:cNvGrpSpPr/>
          <p:nvPr/>
        </p:nvGrpSpPr>
        <p:grpSpPr>
          <a:xfrm>
            <a:off x="5810250" y="1524000"/>
            <a:ext cx="5848350" cy="2766537"/>
            <a:chOff x="5810250" y="1524000"/>
            <a:chExt cx="5848350" cy="2766537"/>
          </a:xfrm>
        </p:grpSpPr>
        <p:sp>
          <p:nvSpPr>
            <p:cNvPr id="32" name="Rectangle 32"/>
            <p:cNvSpPr/>
            <p:nvPr/>
          </p:nvSpPr>
          <p:spPr>
            <a:xfrm>
              <a:off x="5815965" y="1524000"/>
              <a:ext cx="5842635" cy="675322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62954" y="177307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真值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12311" y="1773079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740294" y="177307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阶码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888451" y="1659731"/>
              <a:ext cx="808279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尾数（前 8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489298" y="177307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十六进制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136246" y="2335054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−5.0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17497" y="233505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07671" y="2335054"/>
              <a:ext cx="8228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1000 0001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881176" y="2335054"/>
              <a:ext cx="8228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0100 0000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406068" y="2335054"/>
              <a:ext cx="8686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C0A0 0000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815965" y="26431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815965" y="2647950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086490" y="2783681"/>
              <a:ext cx="510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−0.75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17497" y="278368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507671" y="2783681"/>
              <a:ext cx="8228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0111 1110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881176" y="2783681"/>
              <a:ext cx="8228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1000 0000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406068" y="2783681"/>
              <a:ext cx="8686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BF40 0000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815965" y="309276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036735" y="3232309"/>
              <a:ext cx="6100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0.0625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017497" y="323230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507671" y="3232309"/>
              <a:ext cx="8228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0111 1011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881176" y="3232309"/>
              <a:ext cx="8228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0000 0000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406068" y="3232309"/>
              <a:ext cx="8686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3D80 0000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815965" y="354139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815965" y="3546158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937224" y="3680936"/>
              <a:ext cx="8090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−0.21875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017497" y="368093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507671" y="3680936"/>
              <a:ext cx="8228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0111 1100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881176" y="3680936"/>
              <a:ext cx="8228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1100 0000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406068" y="3680936"/>
              <a:ext cx="8686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BE60 0000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815965" y="1524000"/>
              <a:ext cx="5842635" cy="24707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6862762" y="1524000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7271385" y="1524000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8557260" y="1524000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10017442" y="1524000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810250" y="4070509"/>
              <a:ext cx="5567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单精度编码对照，尾数其余各位均为 0；后两个数是下文浮点加法、乘法例题的结果</a:t>
              </a:r>
            </a:p>
          </p:txBody>
        </p:sp>
      </p:grpSp>
      <p:grpSp>
        <p:nvGrpSpPr>
          <p:cNvPr id="76" name="c2-card-2"/>
          <p:cNvGrpSpPr/>
          <p:nvPr/>
        </p:nvGrpSpPr>
        <p:grpSpPr>
          <a:xfrm>
            <a:off x="5815965" y="4436745"/>
            <a:ext cx="5842635" cy="1612582"/>
            <a:chOff x="5815965" y="4436745"/>
            <a:chExt cx="5842635" cy="1612582"/>
          </a:xfrm>
        </p:grpSpPr>
        <p:sp>
          <p:nvSpPr>
            <p:cNvPr id="70" name="Rectangle 70"/>
            <p:cNvSpPr/>
            <p:nvPr/>
          </p:nvSpPr>
          <p:spPr>
            <a:xfrm>
              <a:off x="5815965" y="4436745"/>
              <a:ext cx="5842635" cy="1612582"/>
            </a:xfrm>
            <a:prstGeom prst="roundRect">
              <a:avLst>
                <a:gd name="adj" fmla="val 82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5825490" y="4570095"/>
              <a:ext cx="47625" cy="134588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6063615" y="464629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144971" y="468201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读第三行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055995" y="5023485"/>
              <a:ext cx="5006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阶码 0111 1011₂ = 123，指数 123 − 127 = −4；尾数全 0，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有效位 1.0。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057138" y="5641181"/>
              <a:ext cx="20117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x = 1.0 × 2⁻⁴ = 0.0625。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135499" cy="3351847"/>
            <a:chOff x="667512" y="1835468"/>
            <a:chExt cx="5135499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浮点运算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加法先对阶，乘法先加指数，最后都要规格化和舍入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浮点加法的四个步骤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浮点加法器与流水方式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浮点乘法的五个步骤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保护位与舍入模式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浮点运算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浮点加法四步：对阶、尾数相加、规格化、舍入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table-1"/>
          <p:cNvGrpSpPr/>
          <p:nvPr/>
        </p:nvGrpSpPr>
        <p:grpSpPr>
          <a:xfrm>
            <a:off x="533400" y="1524000"/>
            <a:ext cx="11125200" cy="2548890"/>
            <a:chOff x="533400" y="1524000"/>
            <a:chExt cx="11125200" cy="25488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63817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55395" y="175926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17080" y="1759268"/>
              <a:ext cx="42660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十进制例（4 位有效数字）：9.999 × 10¹ + 1.610 × 10⁻¹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09688" y="1652588"/>
              <a:ext cx="3824859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80"/>
                </a:lnSpc>
              </a:pPr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二进制例（4 位有效位）：1.000₂ × 2⁻¹ + (−1.110₂ ×</a:t>
              </a:r>
              <a:br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2⁻²)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5889" y="2396490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对阶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16112" y="2289810"/>
              <a:ext cx="40888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小阶向大阶看齐：1.610 × 10⁻¹ = 0.01610 × 10¹，只能留 4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位，变为 0.016 × 10¹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88124" y="2396490"/>
              <a:ext cx="33642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−1.110₂ × 2⁻² 尾数右移 1 位：−0.111₂ × 2⁻¹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79463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799398"/>
              <a:ext cx="11125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5889" y="2927985"/>
              <a:ext cx="802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尾数相加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16112" y="2927985"/>
              <a:ext cx="31623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9.999 + 0.016 = 10.015，得 10.015 × 10¹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88124" y="2927985"/>
              <a:ext cx="3606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1.000₂ + (−0.111₂) = 0.001₂，得 0.001₂ × 2⁻¹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21945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5889" y="3352800"/>
              <a:ext cx="14487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规格化并检查溢出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16112" y="3352800"/>
              <a:ext cx="26130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1.0015 × 10²，指数没有上溢或下溢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88124" y="3352800"/>
              <a:ext cx="40669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尾数左移 3 位、指数减 3：1.000₂ × 2⁻⁴，无上溢或下溢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6433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648075"/>
              <a:ext cx="11125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5889" y="3776662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舍入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323148" y="3657600"/>
              <a:ext cx="4653915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416112" y="3776662"/>
              <a:ext cx="22253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留 4 位有效数字：1.002 × 10²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995160" y="3657600"/>
              <a:ext cx="4653915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088124" y="3776662"/>
              <a:ext cx="30330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已是 4 位，不变：1.000₂ × 2⁻⁴ = 0.0625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1524000"/>
              <a:ext cx="11125200" cy="25488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308860" y="1524000"/>
              <a:ext cx="9525" cy="25488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980872" y="1524000"/>
              <a:ext cx="9525" cy="25488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c1-compare-2"/>
          <p:cNvGrpSpPr/>
          <p:nvPr/>
        </p:nvGrpSpPr>
        <p:grpSpPr>
          <a:xfrm>
            <a:off x="533400" y="4252912"/>
            <a:ext cx="11125200" cy="1295400"/>
            <a:chOff x="533400" y="4252912"/>
            <a:chExt cx="11125200" cy="1295400"/>
          </a:xfrm>
        </p:grpSpPr>
        <p:sp>
          <p:nvSpPr>
            <p:cNvPr id="34" name="Rectangle 34"/>
            <p:cNvSpPr/>
            <p:nvPr/>
          </p:nvSpPr>
          <p:spPr>
            <a:xfrm>
              <a:off x="533400" y="4252912"/>
              <a:ext cx="5391150" cy="1295400"/>
            </a:xfrm>
            <a:prstGeom prst="roundRect">
              <a:avLst>
                <a:gd name="adj" fmla="val 102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2925" y="4386262"/>
              <a:ext cx="47625" cy="102870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381" y="4474369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为什么小阶对大阶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77240" y="487013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33831" y="4810601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小数尾数右移，丢掉的是低位，误差小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77240" y="5188267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33831" y="5127784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若大阶对小阶，大数尾数左移会丢掉高位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67450" y="4252912"/>
              <a:ext cx="5391150" cy="1295400"/>
            </a:xfrm>
            <a:prstGeom prst="roundRect">
              <a:avLst>
                <a:gd name="adj" fmla="val 102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76975" y="4386262"/>
              <a:ext cx="47625" cy="10287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496431" y="447436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复核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511290" y="487013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67881" y="4810601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十进制精确和 100.151，舍入后 1.002 × 10²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511290" y="5188267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67881" y="5127784"/>
              <a:ext cx="33597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二进制例即 0.5 + (−0.4375) = 0.0625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5934075" y="4738688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949315" y="4834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51" name="Rectangle 51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26129" y="6007536"/>
              <a:ext cx="224134" cy="192560"/>
              <a:chOff x="726129" y="6007536"/>
              <a:chExt cx="224134" cy="19256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838200" y="60779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26129" y="60075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38200" y="61556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511" y="6011704"/>
              <a:ext cx="81674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舍入后可能又不是规格化形式（例如 9.9999 舍入成 10.000），这时要回到第 3 步重新规格化。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51214" cy="909257"/>
            <a:chOff x="520446" y="342900"/>
            <a:chExt cx="8951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浮点运算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51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浮点加法器：四个步骤对应四组硬件，一个时钟周期做不完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1" name="c1-flow-1"/>
          <p:cNvGrpSpPr/>
          <p:nvPr/>
        </p:nvGrpSpPr>
        <p:grpSpPr>
          <a:xfrm>
            <a:off x="707708" y="1591628"/>
            <a:ext cx="5087302" cy="4245292"/>
            <a:chOff x="707708" y="1591628"/>
            <a:chExt cx="5087302" cy="4245292"/>
          </a:xfrm>
        </p:grpSpPr>
        <p:sp>
          <p:nvSpPr>
            <p:cNvPr id="7" name="Freeform 7"/>
            <p:cNvSpPr/>
            <p:nvPr/>
          </p:nvSpPr>
          <p:spPr>
            <a:xfrm>
              <a:off x="4266248" y="1939290"/>
              <a:ext cx="9525" cy="64770"/>
            </a:xfrm>
            <a:custGeom>
              <a:avLst/>
              <a:gdLst/>
              <a:ahLst/>
              <a:cxnLst/>
              <a:rect l="l" t="t" r="r" b="b"/>
              <a:pathLst>
                <a:path w="9525" h="64770">
                  <a:moveTo>
                    <a:pt x="0" y="6477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4213860" y="193929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4266248" y="2582228"/>
              <a:ext cx="9525" cy="64770"/>
            </a:xfrm>
            <a:custGeom>
              <a:avLst/>
              <a:gdLst/>
              <a:ahLst/>
              <a:cxnLst/>
              <a:rect l="l" t="t" r="r" b="b"/>
              <a:pathLst>
                <a:path w="9525" h="64770">
                  <a:moveTo>
                    <a:pt x="0" y="6477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213860" y="258222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266248" y="3034665"/>
              <a:ext cx="9525" cy="64770"/>
            </a:xfrm>
            <a:custGeom>
              <a:avLst/>
              <a:gdLst/>
              <a:ahLst/>
              <a:cxnLst/>
              <a:rect l="l" t="t" r="r" b="b"/>
              <a:pathLst>
                <a:path w="9525" h="64770">
                  <a:moveTo>
                    <a:pt x="0" y="6477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213860" y="303466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196590" y="3440430"/>
              <a:ext cx="2035492" cy="548640"/>
            </a:xfrm>
            <a:custGeom>
              <a:avLst/>
              <a:gdLst/>
              <a:ahLst/>
              <a:cxnLst/>
              <a:rect l="l" t="t" r="r" b="b"/>
              <a:pathLst>
                <a:path w="2035492" h="548640">
                  <a:moveTo>
                    <a:pt x="0" y="0"/>
                  </a:moveTo>
                  <a:lnTo>
                    <a:pt x="1069657" y="0"/>
                  </a:lnTo>
                  <a:lnTo>
                    <a:pt x="1069657" y="548640"/>
                  </a:lnTo>
                  <a:lnTo>
                    <a:pt x="2035492" y="5486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232082" y="39357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3340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952750" y="3989070"/>
              <a:ext cx="243840" cy="9525"/>
            </a:xfrm>
            <a:custGeom>
              <a:avLst/>
              <a:gdLst/>
              <a:ahLst/>
              <a:cxnLst/>
              <a:rect l="l" t="t" r="r" b="b"/>
              <a:pathLst>
                <a:path w="243840" h="9525">
                  <a:moveTo>
                    <a:pt x="24384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847975" y="39357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3340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4266248" y="4225290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5715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213860" y="422529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4266248" y="4685348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5715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213860" y="468534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4266248" y="5320665"/>
              <a:ext cx="9525" cy="57150"/>
            </a:xfrm>
            <a:custGeom>
              <a:avLst/>
              <a:gdLst/>
              <a:ahLst/>
              <a:cxnLst/>
              <a:rect l="l" t="t" r="r" b="b"/>
              <a:pathLst>
                <a:path w="9525" h="57150">
                  <a:moveTo>
                    <a:pt x="0" y="5715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4213860" y="532066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5336858" y="3440430"/>
              <a:ext cx="209550" cy="1644015"/>
            </a:xfrm>
            <a:custGeom>
              <a:avLst/>
              <a:gdLst/>
              <a:ahLst/>
              <a:cxnLst/>
              <a:rect l="l" t="t" r="r" b="b"/>
              <a:pathLst>
                <a:path w="209550" h="1644015">
                  <a:moveTo>
                    <a:pt x="0" y="1644015"/>
                  </a:moveTo>
                  <a:lnTo>
                    <a:pt x="209550" y="1644015"/>
                  </a:lnTo>
                  <a:lnTo>
                    <a:pt x="209550" y="1632585"/>
                  </a:lnTo>
                  <a:lnTo>
                    <a:pt x="209550" y="11430"/>
                  </a:lnTo>
                  <a:lnTo>
                    <a:pt x="209550" y="0"/>
                  </a:lnTo>
                  <a:lnTo>
                    <a:pt x="10477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5336858" y="33889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1435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551872" y="1591628"/>
              <a:ext cx="1428750" cy="41148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3196590" y="2044065"/>
              <a:ext cx="2140268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3196590" y="2687002"/>
              <a:ext cx="2140268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196590" y="3139440"/>
              <a:ext cx="2140268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3196590" y="3694748"/>
              <a:ext cx="2140267" cy="587693"/>
            </a:xfrm>
            <a:custGeom>
              <a:avLst/>
              <a:gdLst/>
              <a:ahLst/>
              <a:cxnLst/>
              <a:rect l="l" t="t" r="r" b="b"/>
              <a:pathLst>
                <a:path w="2140267" h="587693">
                  <a:moveTo>
                    <a:pt x="1069657" y="0"/>
                  </a:moveTo>
                  <a:lnTo>
                    <a:pt x="2140267" y="294323"/>
                  </a:lnTo>
                  <a:lnTo>
                    <a:pt x="1069657" y="587693"/>
                  </a:lnTo>
                  <a:lnTo>
                    <a:pt x="0" y="294323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707708" y="3782378"/>
              <a:ext cx="2140268" cy="411480"/>
            </a:xfrm>
            <a:prstGeom prst="roundRect">
              <a:avLst>
                <a:gd name="adj" fmla="val 18519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196590" y="4330065"/>
              <a:ext cx="2140268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3196590" y="4790122"/>
              <a:ext cx="2140267" cy="587693"/>
            </a:xfrm>
            <a:custGeom>
              <a:avLst/>
              <a:gdLst/>
              <a:ahLst/>
              <a:cxnLst/>
              <a:rect l="l" t="t" r="r" b="b"/>
              <a:pathLst>
                <a:path w="2140267" h="587693">
                  <a:moveTo>
                    <a:pt x="1069657" y="0"/>
                  </a:moveTo>
                  <a:lnTo>
                    <a:pt x="2140267" y="294322"/>
                  </a:lnTo>
                  <a:lnTo>
                    <a:pt x="1069657" y="587693"/>
                  </a:lnTo>
                  <a:lnTo>
                    <a:pt x="0" y="294322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3551872" y="5425440"/>
              <a:ext cx="1428750" cy="41148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098608" y="171450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开始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467672" y="2158365"/>
              <a:ext cx="159715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 比较阶码，较小数的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尾数右移到阶码相等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823983" y="2809875"/>
              <a:ext cx="8845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 尾数相加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421952" y="3253740"/>
              <a:ext cx="16885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 规格化：右移并增大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阶码，或左移并减小阶码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017836" y="390525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溢出？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82777" y="390525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上溢或下溢，转异常处理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581667" y="4452938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4. 舍入到规定位数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856292" y="499967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已规格化？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098608" y="55473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结束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2911792" y="3782378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951366" y="380761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4294822" y="4221480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318444" y="424576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294822" y="5316855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318444" y="534114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574982" y="4176712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598604" y="420195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</p:grpSp>
      <p:grpSp>
        <p:nvGrpSpPr>
          <p:cNvPr id="76" name="c2-table-1"/>
          <p:cNvGrpSpPr/>
          <p:nvPr/>
        </p:nvGrpSpPr>
        <p:grpSpPr>
          <a:xfrm>
            <a:off x="5815965" y="1524000"/>
            <a:ext cx="5842635" cy="2548890"/>
            <a:chOff x="5815965" y="1524000"/>
            <a:chExt cx="5842635" cy="2548890"/>
          </a:xfrm>
        </p:grpSpPr>
        <p:sp>
          <p:nvSpPr>
            <p:cNvPr id="52" name="Rectangle 52"/>
            <p:cNvSpPr/>
            <p:nvPr/>
          </p:nvSpPr>
          <p:spPr>
            <a:xfrm>
              <a:off x="5815965" y="1524000"/>
              <a:ext cx="5842635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056948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283767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硬件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796462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918454" y="218313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735699" y="2183130"/>
              <a:ext cx="11527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 ALU、右移器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372094" y="2076450"/>
              <a:ext cx="29458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 ALU 求阶码之差，控制器据此选出较小的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数，把它的尾数右移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815965" y="258127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5815965" y="2586038"/>
              <a:ext cx="584263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918454" y="271462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735699" y="2714625"/>
              <a:ext cx="5065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 ALU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372094" y="271462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两个尾数相加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815965" y="30060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918454" y="324612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735699" y="3139440"/>
              <a:ext cx="1231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左右移位器、阶码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增减器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372094" y="324612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规格化尾数，同时增减阶码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5815965" y="364331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5815965" y="3648075"/>
              <a:ext cx="584263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918454" y="377666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735699" y="377666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舍入电路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372094" y="3776662"/>
              <a:ext cx="26211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舍入；结果不再规格化时回到第 3 步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5815965" y="1524000"/>
              <a:ext cx="5842635" cy="25488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6628448" y="1524000"/>
              <a:ext cx="9525" cy="25488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8264842" y="1524000"/>
              <a:ext cx="9525" cy="25488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7" name="c2-card-2"/>
          <p:cNvGrpSpPr/>
          <p:nvPr/>
        </p:nvGrpSpPr>
        <p:grpSpPr>
          <a:xfrm>
            <a:off x="5815965" y="4252912"/>
            <a:ext cx="5842635" cy="1886902"/>
            <a:chOff x="5815965" y="4252912"/>
            <a:chExt cx="5842635" cy="1886902"/>
          </a:xfrm>
        </p:grpSpPr>
        <p:sp>
          <p:nvSpPr>
            <p:cNvPr id="77" name="Rectangle 77"/>
            <p:cNvSpPr/>
            <p:nvPr/>
          </p:nvSpPr>
          <p:spPr>
            <a:xfrm>
              <a:off x="5815965" y="4252912"/>
              <a:ext cx="5842635" cy="1886902"/>
            </a:xfrm>
            <a:prstGeom prst="roundRect">
              <a:avLst>
                <a:gd name="adj" fmla="val 70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5825490" y="4386262"/>
              <a:ext cx="47625" cy="162020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6052185" y="4451032"/>
              <a:ext cx="15430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111621" y="448532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为什么要多个时钟周期</a:t>
              </a:r>
            </a:p>
          </p:txBody>
        </p:sp>
        <p:sp>
          <p:nvSpPr>
            <p:cNvPr id="81" name="Ellipse 81"/>
            <p:cNvSpPr/>
            <p:nvPr/>
          </p:nvSpPr>
          <p:spPr>
            <a:xfrm>
              <a:off x="6059805" y="487203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216396" y="4811554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浮点加法比整数加法复杂得多，耗时更长</a:t>
              </a:r>
            </a:p>
          </p:txBody>
        </p:sp>
        <p:sp>
          <p:nvSpPr>
            <p:cNvPr id="83" name="Ellipse 83"/>
            <p:cNvSpPr/>
            <p:nvPr/>
          </p:nvSpPr>
          <p:spPr>
            <a:xfrm>
              <a:off x="6059805" y="518922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216396" y="5129689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若要在一个时钟周期内完成，周期就得很长，所有指令都跟着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变慢</a:t>
              </a:r>
            </a:p>
          </p:txBody>
        </p:sp>
        <p:sp>
          <p:nvSpPr>
            <p:cNvPr id="85" name="Ellipse 85"/>
            <p:cNvSpPr/>
            <p:nvPr/>
          </p:nvSpPr>
          <p:spPr>
            <a:xfrm>
              <a:off x="6059805" y="5778817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216396" y="5719286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所以浮点加法器通常分几个周期完成，并可流水化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37776" cy="909257"/>
            <a:chOff x="520446" y="342900"/>
            <a:chExt cx="96377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浮点运算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377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浮点乘法五步：指数相加、有效位相乘、规格化、舍入、定符号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table-1"/>
          <p:cNvGrpSpPr/>
          <p:nvPr/>
        </p:nvGrpSpPr>
        <p:grpSpPr>
          <a:xfrm>
            <a:off x="533400" y="1524000"/>
            <a:ext cx="11125200" cy="2760345"/>
            <a:chOff x="533400" y="1524000"/>
            <a:chExt cx="11125200" cy="27603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5539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885042" y="1652588"/>
              <a:ext cx="30843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十进制例：1.110 × 10¹⁰ × 9.200 × 10⁻⁵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18070" y="1652588"/>
              <a:ext cx="33642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二进制例：1.000₂ × 2⁻¹ × (−1.110₂ × 2⁻²)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5889" y="2183130"/>
              <a:ext cx="8025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指数相加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16112" y="2183130"/>
              <a:ext cx="10056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+ (−5) = 5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43306" y="2076450"/>
              <a:ext cx="4660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无偏移：−1 + (−2) = −3；有偏移：(−1 + 127) + (−2 + 127) − 127 =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−3 + 127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58127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586038"/>
              <a:ext cx="11125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5889" y="2714625"/>
              <a:ext cx="9640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有效位相乘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16112" y="2714625"/>
              <a:ext cx="31623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1.110 × 9.200 = 10.212，得 10.212 × 10⁵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43306" y="2714625"/>
              <a:ext cx="33399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1.000₂ × 1.110₂ = 1.110₂，得 1.110₂ × 2⁻³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0609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5889" y="3139440"/>
              <a:ext cx="14487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规格化并检查溢出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416112" y="3139440"/>
              <a:ext cx="9976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1.0212 × 10⁶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43306" y="3139440"/>
              <a:ext cx="28230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1.110₂ × 2⁻³ 已规格化，无上溢或下溢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42995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434715"/>
              <a:ext cx="11125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5889" y="3563302"/>
              <a:ext cx="479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舍入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416112" y="3563302"/>
              <a:ext cx="15791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留 4 位：1.021 × 10⁶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43306" y="3563302"/>
              <a:ext cx="14822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1.110₂ × 2⁻³，不变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8547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5889" y="3988118"/>
              <a:ext cx="6410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定符号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323148" y="3869055"/>
              <a:ext cx="4208145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416112" y="3988118"/>
              <a:ext cx="16680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 × 正：+1.021 × 10⁶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550342" y="3869055"/>
              <a:ext cx="5098732" cy="40576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43306" y="3988118"/>
              <a:ext cx="26534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 × 负：−1.110₂ × 2⁻³ = −0.21875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1524000"/>
              <a:ext cx="11125200" cy="2760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2308860" y="1524000"/>
              <a:ext cx="9525" cy="2760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536055" y="1524000"/>
              <a:ext cx="9525" cy="2760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4" name="c1-callout-2"/>
          <p:cNvGrpSpPr/>
          <p:nvPr/>
        </p:nvGrpSpPr>
        <p:grpSpPr>
          <a:xfrm>
            <a:off x="533400" y="4464368"/>
            <a:ext cx="11125200" cy="756285"/>
            <a:chOff x="533400" y="4464368"/>
            <a:chExt cx="11125200" cy="756285"/>
          </a:xfrm>
        </p:grpSpPr>
        <p:sp>
          <p:nvSpPr>
            <p:cNvPr id="38" name="Rectangle 38"/>
            <p:cNvSpPr/>
            <p:nvPr/>
          </p:nvSpPr>
          <p:spPr>
            <a:xfrm>
              <a:off x="533400" y="4464368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26129" y="4738806"/>
              <a:ext cx="224134" cy="192560"/>
              <a:chOff x="726129" y="4738806"/>
              <a:chExt cx="224134" cy="19256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838200" y="480917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26129" y="473880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38200" y="488696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511" y="4611529"/>
              <a:ext cx="9888093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易错：带偏移的阶码直接相加得 (e₁ + Bias) + (e₂ + Bias) = (e₁ + e₂) + 2·Bias，多出一个 Bias，必须再减掉。复核：0.5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× (−0.4375) = −0.21875。</a:t>
              </a:r>
            </a:p>
          </p:txBody>
        </p:sp>
      </p:grpSp>
      <p:grpSp>
        <p:nvGrpSpPr>
          <p:cNvPr id="51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45" name="Rectangle 45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5884545"/>
              <a:ext cx="200026" cy="200025"/>
              <a:chOff x="738188" y="5884545"/>
              <a:chExt cx="200026" cy="20002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588454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77926" y="592899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12642" y="604012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511" y="5753576"/>
              <a:ext cx="99331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乘法不需要对阶。浮点乘法器的复杂度与加法器相近，只是有效位做乘法；浮点部件还要做除法、求倒数、开平方、浮点与整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数互转，通常要多个时钟周期，适合流水实现。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324338" cy="909257"/>
            <a:chOff x="520446" y="342900"/>
            <a:chExt cx="1032433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浮点运算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32433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流水方式：同一条多功能流水线，按需要连接成浮点加减或定点乘法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4" name="c1-table-1"/>
          <p:cNvGrpSpPr/>
          <p:nvPr/>
        </p:nvGrpSpPr>
        <p:grpSpPr>
          <a:xfrm>
            <a:off x="527685" y="1524000"/>
            <a:ext cx="4550093" cy="4535328"/>
            <a:chOff x="527685" y="1524000"/>
            <a:chExt cx="4550093" cy="453532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3181" y="165973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31480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功能段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95407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浮点加减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136123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定点乘法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9582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87006" y="21083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212541" y="210835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94594" y="210835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41649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421255"/>
              <a:ext cx="454437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49582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87006" y="25569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212541" y="255698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286607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49582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87006" y="3005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对阶移位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212541" y="300561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31470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3319462"/>
              <a:ext cx="454437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49582" y="34542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87006" y="34542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相加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212541" y="345424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376332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49582" y="39038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87006" y="390382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规格化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212541" y="390382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421195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4216718"/>
              <a:ext cx="454437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49582" y="435244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87006" y="435244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相乘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394594" y="435244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466058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49582" y="480107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87006" y="480107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累加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394594" y="480107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511016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3400" y="5114925"/>
              <a:ext cx="454437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49582" y="524970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87006" y="524970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212541" y="524970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394594" y="524970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1524000"/>
              <a:ext cx="4544378" cy="40395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1074420" y="1524000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2709862" y="1524000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3891915" y="1524000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27685" y="5639276"/>
              <a:ext cx="43141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据 ASC 机运算器的流水线（原课件图 5.16）：浮点加减经过 1–5、8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段，定点乘法经过 1、6、7、8 段</a:t>
              </a:r>
            </a:p>
          </p:txBody>
        </p:sp>
      </p:grpSp>
      <p:grpSp>
        <p:nvGrpSpPr>
          <p:cNvPr id="119" name="c2-table-1"/>
          <p:cNvGrpSpPr/>
          <p:nvPr/>
        </p:nvGrpSpPr>
        <p:grpSpPr>
          <a:xfrm>
            <a:off x="5376862" y="1524000"/>
            <a:ext cx="6281738" cy="3437097"/>
            <a:chOff x="5376862" y="1524000"/>
            <a:chExt cx="6281738" cy="3437097"/>
          </a:xfrm>
        </p:grpSpPr>
        <p:sp>
          <p:nvSpPr>
            <p:cNvPr id="55" name="Rectangle 55"/>
            <p:cNvSpPr/>
            <p:nvPr/>
          </p:nvSpPr>
          <p:spPr>
            <a:xfrm>
              <a:off x="5382578" y="1524000"/>
              <a:ext cx="6276022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639600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功能段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611042" y="16597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t1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193019" y="16597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t2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774044" y="16597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t3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355069" y="16597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t4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937047" y="16597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t5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518072" y="16597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t6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099097" y="16597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t7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681074" y="16597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t8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262099" y="165973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t9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490401" y="21083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663167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245144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826169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407194" y="210835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382578" y="241649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5382578" y="2421255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490401" y="25569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减阶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245144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826169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407194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989172" y="255698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5382578" y="286607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5490401" y="3005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对阶移位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826169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407194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989172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570197" y="3005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5382578" y="331470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5382578" y="3319462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5490401" y="34542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相加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407194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989172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570197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0151222" y="34542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5382578" y="376332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5490401" y="390382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规格化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8989172" y="39038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9570197" y="39038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0151222" y="39038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0733199" y="390382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5382578" y="421195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8" name="Rectangle 98"/>
            <p:cNvSpPr/>
            <p:nvPr/>
          </p:nvSpPr>
          <p:spPr>
            <a:xfrm>
              <a:off x="5382578" y="4216718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5490401" y="435244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9343072" y="4226242"/>
              <a:ext cx="56197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9570197" y="435244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9924098" y="4226242"/>
              <a:ext cx="56197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10151222" y="435244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10505122" y="4226242"/>
              <a:ext cx="56197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10733199" y="435244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11087100" y="4226242"/>
              <a:ext cx="56197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11314224" y="435244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5382578" y="1524000"/>
              <a:ext cx="6276022" cy="3141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6421755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0" name="Rectangle 110"/>
            <p:cNvSpPr/>
            <p:nvPr/>
          </p:nvSpPr>
          <p:spPr>
            <a:xfrm>
              <a:off x="7002780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7584758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2" name="Rectangle 112"/>
            <p:cNvSpPr/>
            <p:nvPr/>
          </p:nvSpPr>
          <p:spPr>
            <a:xfrm>
              <a:off x="8165782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3" name="Rectangle 113"/>
            <p:cNvSpPr/>
            <p:nvPr/>
          </p:nvSpPr>
          <p:spPr>
            <a:xfrm>
              <a:off x="8746808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4" name="Rectangle 114"/>
            <p:cNvSpPr/>
            <p:nvPr/>
          </p:nvSpPr>
          <p:spPr>
            <a:xfrm>
              <a:off x="9328785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5" name="Rectangle 115"/>
            <p:cNvSpPr/>
            <p:nvPr/>
          </p:nvSpPr>
          <p:spPr>
            <a:xfrm>
              <a:off x="9909810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10490835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7" name="Rectangle 117"/>
            <p:cNvSpPr/>
            <p:nvPr/>
          </p:nvSpPr>
          <p:spPr>
            <a:xfrm>
              <a:off x="11072812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5376862" y="4741069"/>
              <a:ext cx="4534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时空图：4 次浮点加法依次进入 6 段流水线，格中数字为第几次加法</a:t>
              </a:r>
            </a:p>
          </p:txBody>
        </p:sp>
      </p:grpSp>
      <p:grpSp>
        <p:nvGrpSpPr>
          <p:cNvPr id="125" name="c2-callout-2"/>
          <p:cNvGrpSpPr/>
          <p:nvPr/>
        </p:nvGrpSpPr>
        <p:grpSpPr>
          <a:xfrm>
            <a:off x="5382578" y="5107305"/>
            <a:ext cx="6276022" cy="1059180"/>
            <a:chOff x="5382578" y="5107305"/>
            <a:chExt cx="6276022" cy="1059180"/>
          </a:xfrm>
        </p:grpSpPr>
        <p:sp>
          <p:nvSpPr>
            <p:cNvPr id="120" name="Rectangle 120"/>
            <p:cNvSpPr/>
            <p:nvPr/>
          </p:nvSpPr>
          <p:spPr>
            <a:xfrm>
              <a:off x="5382578" y="5107305"/>
              <a:ext cx="6276022" cy="1059180"/>
            </a:xfrm>
            <a:prstGeom prst="roundRect">
              <a:avLst>
                <a:gd name="adj" fmla="val 10791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23" name="Group 123"/>
            <p:cNvGrpSpPr/>
            <p:nvPr/>
          </p:nvGrpSpPr>
          <p:grpSpPr>
            <a:xfrm>
              <a:off x="5587365" y="5536885"/>
              <a:ext cx="200023" cy="200023"/>
              <a:chOff x="5587365" y="5536885"/>
              <a:chExt cx="200023" cy="200023"/>
            </a:xfrm>
          </p:grpSpPr>
          <p:sp>
            <p:nvSpPr>
              <p:cNvPr id="121" name="Freeform 121"/>
              <p:cNvSpPr/>
              <p:nvPr/>
            </p:nvSpPr>
            <p:spPr>
              <a:xfrm>
                <a:off x="5587365" y="553688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22" name="Freeform 122"/>
              <p:cNvSpPr/>
              <p:nvPr/>
            </p:nvSpPr>
            <p:spPr>
              <a:xfrm>
                <a:off x="5720715" y="560355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24" name="TextBox 124"/>
            <p:cNvSpPr txBox="1"/>
            <p:nvPr/>
          </p:nvSpPr>
          <p:spPr>
            <a:xfrm>
              <a:off x="5889308" y="5255895"/>
              <a:ext cx="5349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设每段用时一个时钟周期。不流水时每次加法占满 6 个周期，4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次共 24 个周期；流水后第 6 个周期出第 1 个结果，此后每个周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期出一个，共 9 个周期。</a:t>
              </a:r>
            </a:p>
          </p:txBody>
        </p:sp>
      </p:grpSp>
      <p:grpSp>
        <p:nvGrpSpPr>
          <p:cNvPr id="12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6" name="TextBox 126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浮点运算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算术精确性：保护位、舍入位、粘滞位与舍入模式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1568768"/>
            <a:chOff x="533400" y="1524000"/>
            <a:chExt cx="5410200" cy="156876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568768"/>
            </a:xfrm>
            <a:prstGeom prst="roundRect">
              <a:avLst>
                <a:gd name="adj" fmla="val 85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0206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1463992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4060" y="1756410"/>
              <a:ext cx="13760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IEEE 754 的舍入控制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77240" y="214312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33831" y="2082641"/>
              <a:ext cx="448691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运算时在尾数右边多存几位：保护位（guard）、舍入位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（round）、粘滞位（sticky，右边还有非 0 位就置 1）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7240" y="273177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3831" y="2672239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可以选择舍入模式，让程序员微调计算行为</a:t>
              </a:r>
            </a:p>
          </p:txBody>
        </p:sp>
      </p:grpSp>
      <p:grpSp>
        <p:nvGrpSpPr>
          <p:cNvPr id="34" name="c1-table-2"/>
          <p:cNvGrpSpPr/>
          <p:nvPr/>
        </p:nvGrpSpPr>
        <p:grpSpPr>
          <a:xfrm>
            <a:off x="533400" y="3272790"/>
            <a:ext cx="5410200" cy="2123123"/>
            <a:chOff x="533400" y="3272790"/>
            <a:chExt cx="5410200" cy="2123123"/>
          </a:xfrm>
        </p:grpSpPr>
        <p:sp>
          <p:nvSpPr>
            <p:cNvPr id="16" name="Rectangle 16"/>
            <p:cNvSpPr/>
            <p:nvPr/>
          </p:nvSpPr>
          <p:spPr>
            <a:xfrm>
              <a:off x="533400" y="3272790"/>
              <a:ext cx="5410200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24331" y="3401377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舍入模式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90975" y="3401377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5889" y="382619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就近舍入（默认）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475166" y="3826192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取最近的可表示数，正好居中时取末位为偶数者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411670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4121468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5889" y="4250055"/>
              <a:ext cx="4112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 +∞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475166" y="4250055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取不小于真值的最近可表示数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54152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5889" y="4674870"/>
              <a:ext cx="4112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 −∞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475166" y="467487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取不大于真值的最近可表示数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496633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4971098"/>
              <a:ext cx="541020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5889" y="5098732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 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475166" y="509873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直接截断多余位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272790"/>
              <a:ext cx="5410200" cy="21221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367915" y="327279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2-card-1"/>
          <p:cNvGrpSpPr/>
          <p:nvPr/>
        </p:nvGrpSpPr>
        <p:grpSpPr>
          <a:xfrm>
            <a:off x="6248400" y="1524000"/>
            <a:ext cx="5410200" cy="3870960"/>
            <a:chOff x="6248400" y="1524000"/>
            <a:chExt cx="5410200" cy="3870960"/>
          </a:xfrm>
        </p:grpSpPr>
        <p:sp>
          <p:nvSpPr>
            <p:cNvPr id="35" name="Rectangle 35"/>
            <p:cNvSpPr/>
            <p:nvPr/>
          </p:nvSpPr>
          <p:spPr>
            <a:xfrm>
              <a:off x="6248400" y="1524000"/>
              <a:ext cx="5410200" cy="3870960"/>
            </a:xfrm>
            <a:prstGeom prst="roundRect">
              <a:avLst>
                <a:gd name="adj" fmla="val 34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6257925" y="1657350"/>
              <a:ext cx="47625" cy="360426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84620" y="1722120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80061" y="17564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34581" y="1756886"/>
              <a:ext cx="28613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保护位有什么用（3 位有效数字）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77381" y="2100739"/>
              <a:ext cx="403840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 2.56 × 10⁰ + 2.34 × 10²，精确值 236.56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484620" y="2394585"/>
              <a:ext cx="4975860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864667" y="252317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513064" y="252317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对阶后相加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695622" y="252317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舍入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87109" y="305466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多留两位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81532" y="2947988"/>
              <a:ext cx="21762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0.0256 × 10² + 2.3400 × 10² =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2.3656 × 10²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368534" y="3054668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2.37 × 10²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84620" y="3452812"/>
              <a:ext cx="49758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84620" y="3457575"/>
              <a:ext cx="4975860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87109" y="369189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不多留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681532" y="3585210"/>
              <a:ext cx="2221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0.02 × 10² + 2.34 × 10² = 2.36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× 10²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368534" y="369189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2.36 × 10²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484620" y="2394585"/>
              <a:ext cx="4975860" cy="170021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574280" y="2394585"/>
              <a:ext cx="9525" cy="17002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10261282" y="2394585"/>
              <a:ext cx="9525" cy="170021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478524" y="4204335"/>
              <a:ext cx="49231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对阶时 2.56 右移两位，不多留位就直接丢掉了 0.0056，结果偏小。</a:t>
              </a:r>
            </a:p>
          </p:txBody>
        </p:sp>
      </p:grpSp>
      <p:grpSp>
        <p:nvGrpSpPr>
          <p:cNvPr id="64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58" name="Rectangle 58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5884545"/>
              <a:ext cx="200026" cy="200026"/>
              <a:chOff x="738188" y="5884545"/>
              <a:chExt cx="200026" cy="200026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588454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38200" y="59512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27088" y="598455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511" y="5753576"/>
              <a:ext cx="1002334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不是所有硬件都实现了 IEEE 754 的全部舍入策略，大多数语言和库只用默认模式，这是硬件复杂度、性能与市场需求之间的折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  <p:grpSp>
        <p:nvGrpSpPr>
          <p:cNvPr id="20" name="section-title"/>
          <p:cNvGrpSpPr/>
          <p:nvPr/>
        </p:nvGrpSpPr>
        <p:grpSpPr>
          <a:xfrm>
            <a:off x="667512" y="1835468"/>
            <a:ext cx="6210281" cy="3706177"/>
            <a:chOff x="667512" y="1835468"/>
            <a:chExt cx="6210281" cy="370617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第七部分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浮点指令与并行加速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2003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MIPS 与 x86 怎样提供浮点运算，子字并行怎样让矩阵乘法变快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1534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MIPS 浮点寄存器与指令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13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 MIPS 浮点程序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244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3.6 子字并行与结合律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0041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3.7–3.8 x86 浮点、SSE2 与 AVX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23900" y="530542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780" y="52482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谬误：右移与除法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1" name="TextBox 21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713896" cy="909257"/>
            <a:chOff x="520446" y="342900"/>
            <a:chExt cx="771389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浮点指令与并行加速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71389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MIPS 浮点：协处理器 1，独立的 32 个浮点寄存器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4760595" cy="3114675"/>
            <a:chOff x="533400" y="1524000"/>
            <a:chExt cx="4760595" cy="31146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3114675"/>
            </a:xfrm>
            <a:prstGeom prst="roundRect">
              <a:avLst>
                <a:gd name="adj" fmla="val 42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84797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86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结构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66762" y="211074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2782" y="2054542"/>
              <a:ext cx="39827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浮点运算由协处理器 1 完成，它是扩展指令系统的附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属处理器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6762" y="266890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2782" y="2612708"/>
              <a:ext cx="35303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单精度寄存器 $f0、$f1、…、$f31 共 32 个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6762" y="296894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2782" y="2912745"/>
              <a:ext cx="382847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双精度由两个寄存器配对：$f0/$f1、$f2/$f3、…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（MIPS 指令系统第 2 版支持 32 个 64 位浮点寄存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器）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6762" y="378333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2782" y="3727132"/>
              <a:ext cx="39570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浮点指令只操作浮点寄存器。程序一般不会在浮点寄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存器上做整数运算，反之亦然，所以增加浮点寄存器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不会加长指令</a:t>
              </a:r>
            </a:p>
          </p:txBody>
        </p:sp>
      </p:grpSp>
      <p:grpSp>
        <p:nvGrpSpPr>
          <p:cNvPr id="25" name="c1-card-2"/>
          <p:cNvGrpSpPr/>
          <p:nvPr/>
        </p:nvGrpSpPr>
        <p:grpSpPr>
          <a:xfrm>
            <a:off x="533400" y="4809172"/>
            <a:ext cx="4760595" cy="1443038"/>
            <a:chOff x="533400" y="4809172"/>
            <a:chExt cx="4760595" cy="1443038"/>
          </a:xfrm>
        </p:grpSpPr>
        <p:sp>
          <p:nvSpPr>
            <p:cNvPr id="20" name="Rectangle 20"/>
            <p:cNvSpPr/>
            <p:nvPr/>
          </p:nvSpPr>
          <p:spPr>
            <a:xfrm>
              <a:off x="533400" y="4809172"/>
              <a:ext cx="4760595" cy="1443038"/>
            </a:xfrm>
            <a:prstGeom prst="roundRect">
              <a:avLst>
                <a:gd name="adj" fmla="val 92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4942522"/>
              <a:ext cx="47625" cy="11763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58190" y="499586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50862" y="502872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1332" y="5339715"/>
              <a:ext cx="415423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原课件"通过 ISA 相连的附属处理器"中，ISA 指指令系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统体系结构（Instruction Set Architecture），原意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是扩展了指令系统的附属处理器，与 ISA 总线无关。</a:t>
              </a:r>
            </a:p>
          </p:txBody>
        </p:sp>
      </p:grpSp>
      <p:grpSp>
        <p:nvGrpSpPr>
          <p:cNvPr id="56" name="c2-table-1"/>
          <p:cNvGrpSpPr/>
          <p:nvPr/>
        </p:nvGrpSpPr>
        <p:grpSpPr>
          <a:xfrm>
            <a:off x="5598795" y="1524000"/>
            <a:ext cx="6059805" cy="2600325"/>
            <a:chOff x="5598795" y="1524000"/>
            <a:chExt cx="6059805" cy="2600325"/>
          </a:xfrm>
        </p:grpSpPr>
        <p:sp>
          <p:nvSpPr>
            <p:cNvPr id="26" name="Rectangle 26"/>
            <p:cNvSpPr/>
            <p:nvPr/>
          </p:nvSpPr>
          <p:spPr>
            <a:xfrm>
              <a:off x="5598795" y="1524000"/>
              <a:ext cx="6059805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83664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类别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64273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单精度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791156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双精度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668813" y="164544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695950" y="2045494"/>
              <a:ext cx="4381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读取与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83667" y="2145506"/>
              <a:ext cx="8482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lwc1、swc1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01990" y="2145506"/>
              <a:ext cx="787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ldc1、sdc1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938385" y="2145506"/>
              <a:ext cx="13080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ldc1 $f8, 32($sp)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598795" y="25193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598795" y="2524125"/>
              <a:ext cx="6059805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695950" y="274558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算术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83667" y="2645569"/>
              <a:ext cx="10782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add.s、sub.s、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mul.s、div.s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01990" y="2645569"/>
              <a:ext cx="10782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add.d、sub.d、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mul.d、div.d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938385" y="2745581"/>
              <a:ext cx="14739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add.s $f0, $f1, $f6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598795" y="311943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695950" y="33456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83667" y="3245644"/>
              <a:ext cx="130581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c.xx.s（xx 为 eq、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lt、le 等）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01990" y="334565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c.xx.d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938385" y="3345656"/>
              <a:ext cx="11422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c.lt.s $f3, $f4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598795" y="371951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598795" y="3724275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695950" y="38457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分支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83667" y="3845719"/>
              <a:ext cx="8256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bc1t、bc1f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301990" y="38457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同左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938385" y="3845719"/>
              <a:ext cx="12729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bc1t TargetLabel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598795" y="1524000"/>
              <a:ext cx="6059805" cy="26003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381750" y="1524000"/>
              <a:ext cx="9525" cy="26003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8200072" y="1524000"/>
              <a:ext cx="9525" cy="26003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9836468" y="1524000"/>
              <a:ext cx="9525" cy="26003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3" name="c2-callout-2"/>
          <p:cNvGrpSpPr/>
          <p:nvPr/>
        </p:nvGrpSpPr>
        <p:grpSpPr>
          <a:xfrm>
            <a:off x="5598795" y="4293870"/>
            <a:ext cx="6059805" cy="729615"/>
            <a:chOff x="5598795" y="4293870"/>
            <a:chExt cx="6059805" cy="729615"/>
          </a:xfrm>
        </p:grpSpPr>
        <p:sp>
          <p:nvSpPr>
            <p:cNvPr id="57" name="Rectangle 57"/>
            <p:cNvSpPr/>
            <p:nvPr/>
          </p:nvSpPr>
          <p:spPr>
            <a:xfrm>
              <a:off x="5598795" y="4293870"/>
              <a:ext cx="6059805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5803583" y="4558665"/>
              <a:ext cx="200026" cy="200025"/>
              <a:chOff x="5803583" y="4558665"/>
              <a:chExt cx="200026" cy="200025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5803583" y="455866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5843321" y="460311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5878037" y="471424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106287" y="4440555"/>
              <a:ext cx="490004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比较指令只把浮点条件码置 1 或清 0，然后由 bc1t（条件为真跳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转）或 bc1f（条件为假跳转）决定是否分支。</a:t>
              </a:r>
            </a:p>
          </p:txBody>
        </p:sp>
      </p:grpSp>
      <p:grpSp>
        <p:nvGrpSpPr>
          <p:cNvPr id="66" name="c2-kv-3"/>
          <p:cNvGrpSpPr/>
          <p:nvPr/>
        </p:nvGrpSpPr>
        <p:grpSpPr>
          <a:xfrm>
            <a:off x="5591937" y="5215890"/>
            <a:ext cx="5537701" cy="264033"/>
            <a:chOff x="5591937" y="5215890"/>
            <a:chExt cx="5537701" cy="264033"/>
          </a:xfrm>
        </p:grpSpPr>
        <p:sp>
          <p:nvSpPr>
            <p:cNvPr id="64" name="TextBox 64"/>
            <p:cNvSpPr txBox="1"/>
            <p:nvPr/>
          </p:nvSpPr>
          <p:spPr>
            <a:xfrm>
              <a:off x="5591937" y="5215890"/>
              <a:ext cx="76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mul.d 例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581584" y="5215890"/>
              <a:ext cx="45480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mul.d $f4, $f4, $f6 把 $f4 × $f6 的双精度积写回 $f4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504867" cy="909257"/>
            <a:chOff x="520446" y="342900"/>
            <a:chExt cx="450486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浮点指令与并行加速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50486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例：华氏温度转摄氏温度 f2c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760595" cy="1313498"/>
            <a:chOff x="533400" y="1524000"/>
            <a:chExt cx="4760595" cy="131349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313498"/>
            </a:xfrm>
            <a:prstGeom prst="roundRect">
              <a:avLst>
                <a:gd name="adj" fmla="val 725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981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 代码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3062478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float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f2c (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float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fahr)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((5.0/9.0) * (fahr - 32.0));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9" name="c1-kv-2"/>
          <p:cNvGrpSpPr/>
          <p:nvPr/>
        </p:nvGrpSpPr>
        <p:grpSpPr>
          <a:xfrm>
            <a:off x="525780" y="3052762"/>
            <a:ext cx="4768215" cy="1455420"/>
            <a:chOff x="525780" y="3052762"/>
            <a:chExt cx="4768215" cy="1455420"/>
          </a:xfrm>
        </p:grpSpPr>
        <p:sp>
          <p:nvSpPr>
            <p:cNvPr id="11" name="TextBox 11"/>
            <p:cNvSpPr txBox="1"/>
            <p:nvPr/>
          </p:nvSpPr>
          <p:spPr>
            <a:xfrm>
              <a:off x="525780" y="3052762"/>
              <a:ext cx="9491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参数 fahr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54530" y="3052762"/>
              <a:ext cx="7219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$f12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337280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5780" y="3492818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返回值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54530" y="3492818"/>
              <a:ext cx="812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放在 $f0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81285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5780" y="3932872"/>
              <a:ext cx="976789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常数 5.0、</a:t>
              </a:r>
              <a:br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9.0、32.0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54530" y="3932872"/>
              <a:ext cx="30946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存放在全局数据区，通过 $gp 访问</a:t>
              </a:r>
            </a:p>
          </p:txBody>
        </p:sp>
      </p:grpSp>
      <p:grpSp>
        <p:nvGrpSpPr>
          <p:cNvPr id="25" name="c1-callout-3"/>
          <p:cNvGrpSpPr/>
          <p:nvPr/>
        </p:nvGrpSpPr>
        <p:grpSpPr>
          <a:xfrm>
            <a:off x="533400" y="4639628"/>
            <a:ext cx="4760595" cy="782955"/>
            <a:chOff x="533400" y="4639628"/>
            <a:chExt cx="4760595" cy="782955"/>
          </a:xfrm>
        </p:grpSpPr>
        <p:sp>
          <p:nvSpPr>
            <p:cNvPr id="20" name="Rectangle 20"/>
            <p:cNvSpPr/>
            <p:nvPr/>
          </p:nvSpPr>
          <p:spPr>
            <a:xfrm>
              <a:off x="533400" y="4639628"/>
              <a:ext cx="4760595" cy="782955"/>
            </a:xfrm>
            <a:prstGeom prst="roundRect">
              <a:avLst>
                <a:gd name="adj" fmla="val 145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4931093"/>
              <a:ext cx="200026" cy="200026"/>
              <a:chOff x="738188" y="4931093"/>
              <a:chExt cx="200026" cy="200026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493109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04863" y="500888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130" y="4788218"/>
              <a:ext cx="34061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检验：fahr = 212.0 时，(5.0 / 9.0) ×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180.0 = 100.0。</a:t>
              </a:r>
            </a:p>
          </p:txBody>
        </p:sp>
      </p:grpSp>
      <p:grpSp>
        <p:nvGrpSpPr>
          <p:cNvPr id="30" name="c2-code-1"/>
          <p:cNvGrpSpPr/>
          <p:nvPr/>
        </p:nvGrpSpPr>
        <p:grpSpPr>
          <a:xfrm>
            <a:off x="5598795" y="1524000"/>
            <a:ext cx="6059805" cy="1922145"/>
            <a:chOff x="5598795" y="1524000"/>
            <a:chExt cx="6059805" cy="1922145"/>
          </a:xfrm>
        </p:grpSpPr>
        <p:sp>
          <p:nvSpPr>
            <p:cNvPr id="26" name="Rectangle 26"/>
            <p:cNvSpPr/>
            <p:nvPr/>
          </p:nvSpPr>
          <p:spPr>
            <a:xfrm>
              <a:off x="5598795" y="1524000"/>
              <a:ext cx="6059805" cy="1922145"/>
            </a:xfrm>
            <a:prstGeom prst="roundRect">
              <a:avLst>
                <a:gd name="adj" fmla="val 49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727192" y="1675924"/>
              <a:ext cx="12039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编译后的 MIPS 代码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617845" y="2098358"/>
              <a:ext cx="6021705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726430" y="1937861"/>
              <a:ext cx="4001262" cy="14373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f2c: lwc1  $f16, const5($gp)   # $f16 = 5.0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lwc1  $f18, const9($gp)   # $f18 = 9.0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div.s $f16, $f16, $f18    # $f16 = 5.0 / 9.0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lwc1  $f18, const32($gp)  # $f18 = 32.0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sub.s $f18, $f12, $f18    # $f18 = fahr - 32.0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mul.s $f0,  $f16, $f18    # $f0 = 结果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jr    $ra                 # 返回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5598795" y="3636645"/>
            <a:ext cx="6059805" cy="1785938"/>
            <a:chOff x="5598795" y="3636645"/>
            <a:chExt cx="6059805" cy="1785938"/>
          </a:xfrm>
        </p:grpSpPr>
        <p:sp>
          <p:nvSpPr>
            <p:cNvPr id="31" name="Rectangle 31"/>
            <p:cNvSpPr/>
            <p:nvPr/>
          </p:nvSpPr>
          <p:spPr>
            <a:xfrm>
              <a:off x="5598795" y="3636645"/>
              <a:ext cx="6059805" cy="1785938"/>
            </a:xfrm>
            <a:prstGeom prst="roundRect">
              <a:avLst>
                <a:gd name="adj" fmla="val 74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608320" y="3769995"/>
              <a:ext cx="47625" cy="15192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846445" y="384619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937606" y="38819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838825" y="4223385"/>
              <a:ext cx="5244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2 行写作 lwc2 $f18, const9($gp)。lwc2 是协处理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 2 的取数指令，这里读的是浮点常数，应为 lwc1。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75533" cy="909257"/>
            <a:chOff x="520446" y="342900"/>
            <a:chExt cx="72755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浮点指令与并行加速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755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例：双精度矩阵乘法 X = X + Y × Z（32 × 32）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842635" cy="2530792"/>
            <a:chOff x="533400" y="1524000"/>
            <a:chExt cx="5842635" cy="25307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2530792"/>
            </a:xfrm>
            <a:prstGeom prst="roundRect">
              <a:avLst>
                <a:gd name="adj" fmla="val 376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3981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 代码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3453638" cy="2045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mm (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x[32][32],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y[32][32],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z[32][32])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i, j, k;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 0; i != 32; i = i + 1)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= 0; j != 32; j = j + 1)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= 0; k != 32; k = k + 1)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x[i][j] = x[i][j]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    + y[i][k] * z[k][j];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ard-2"/>
          <p:cNvGrpSpPr/>
          <p:nvPr/>
        </p:nvGrpSpPr>
        <p:grpSpPr>
          <a:xfrm>
            <a:off x="533400" y="4245292"/>
            <a:ext cx="5842635" cy="1983105"/>
            <a:chOff x="533400" y="4245292"/>
            <a:chExt cx="5842635" cy="1983105"/>
          </a:xfrm>
        </p:grpSpPr>
        <p:sp>
          <p:nvSpPr>
            <p:cNvPr id="11" name="Rectangle 11"/>
            <p:cNvSpPr/>
            <p:nvPr/>
          </p:nvSpPr>
          <p:spPr>
            <a:xfrm>
              <a:off x="533400" y="4245292"/>
              <a:ext cx="5842635" cy="1983105"/>
            </a:xfrm>
            <a:prstGeom prst="roundRect">
              <a:avLst>
                <a:gd name="adj" fmla="val 67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378642"/>
              <a:ext cx="47625" cy="17164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81050" y="445484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71258" y="44905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3430" y="4832032"/>
              <a:ext cx="5015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原课件形参写作 double x[][]，C 语言中二维数组形参必须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给出第二维长度；循环条件 i! = 32 应为 i != 32。</a:t>
              </a:r>
            </a:p>
          </p:txBody>
        </p:sp>
      </p:grpSp>
      <p:grpSp>
        <p:nvGrpSpPr>
          <p:cNvPr id="22" name="c2-kv-1"/>
          <p:cNvGrpSpPr/>
          <p:nvPr/>
        </p:nvGrpSpPr>
        <p:grpSpPr>
          <a:xfrm>
            <a:off x="6673215" y="1548765"/>
            <a:ext cx="4985385" cy="1015365"/>
            <a:chOff x="6673215" y="1548765"/>
            <a:chExt cx="4985385" cy="1015365"/>
          </a:xfrm>
        </p:grpSpPr>
        <p:sp>
          <p:nvSpPr>
            <p:cNvPr id="17" name="TextBox 17"/>
            <p:cNvSpPr txBox="1"/>
            <p:nvPr/>
          </p:nvSpPr>
          <p:spPr>
            <a:xfrm>
              <a:off x="6673215" y="1548765"/>
              <a:ext cx="1167289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x、y、z 的地</a:t>
              </a:r>
              <a:br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址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66735" y="1548765"/>
              <a:ext cx="14186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$a0、$a1、$a2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680835" y="215074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73215" y="2270760"/>
              <a:ext cx="662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i、j、k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66735" y="2270760"/>
              <a:ext cx="14186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$s0、$s1、$s2</a:t>
              </a:r>
            </a:p>
          </p:txBody>
        </p:sp>
      </p:grpSp>
      <p:grpSp>
        <p:nvGrpSpPr>
          <p:cNvPr id="34" name="c2-card-2"/>
          <p:cNvGrpSpPr/>
          <p:nvPr/>
        </p:nvGrpSpPr>
        <p:grpSpPr>
          <a:xfrm>
            <a:off x="6680835" y="2695575"/>
            <a:ext cx="4977765" cy="2283142"/>
            <a:chOff x="6680835" y="2695575"/>
            <a:chExt cx="4977765" cy="2283142"/>
          </a:xfrm>
        </p:grpSpPr>
        <p:sp>
          <p:nvSpPr>
            <p:cNvPr id="23" name="Rectangle 23"/>
            <p:cNvSpPr/>
            <p:nvPr/>
          </p:nvSpPr>
          <p:spPr>
            <a:xfrm>
              <a:off x="6680835" y="2695575"/>
              <a:ext cx="4977765" cy="2283142"/>
            </a:xfrm>
            <a:prstGeom prst="roundRect">
              <a:avLst>
                <a:gd name="adj" fmla="val 58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690360" y="2828925"/>
              <a:ext cx="47625" cy="201644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928485" y="2905125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994042" y="294084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下标怎样变成地址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934200" y="334518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092315" y="3282315"/>
              <a:ext cx="34076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数组按行存放，每个 double 占 8 字节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934200" y="368046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092315" y="3617595"/>
              <a:ext cx="33672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x[i][j] 的字节偏移 = (i × 32 + j) × 8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934200" y="401574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092315" y="3952875"/>
              <a:ext cx="4044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×32 用 sll 左移 5 位，×8 用 sll 左移 3 位，再加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上数组首地址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22008" y="4570571"/>
              <a:ext cx="34333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例：x[1][2] 的偏移为 (32 + 2) × 8 = 272。</a:t>
              </a:r>
            </a:p>
          </p:txBody>
        </p:sp>
      </p:grpSp>
      <p:grpSp>
        <p:nvGrpSpPr>
          <p:cNvPr id="41" name="c2-callout-3"/>
          <p:cNvGrpSpPr/>
          <p:nvPr/>
        </p:nvGrpSpPr>
        <p:grpSpPr>
          <a:xfrm>
            <a:off x="6680835" y="5169218"/>
            <a:ext cx="4977765" cy="1059180"/>
            <a:chOff x="6680835" y="5169218"/>
            <a:chExt cx="4977765" cy="1059180"/>
          </a:xfrm>
        </p:grpSpPr>
        <p:sp>
          <p:nvSpPr>
            <p:cNvPr id="35" name="Rectangle 35"/>
            <p:cNvSpPr/>
            <p:nvPr/>
          </p:nvSpPr>
          <p:spPr>
            <a:xfrm>
              <a:off x="6680835" y="5169218"/>
              <a:ext cx="4977765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6885623" y="5598795"/>
              <a:ext cx="200026" cy="200025"/>
              <a:chOff x="6885623" y="5598795"/>
              <a:chExt cx="200026" cy="20002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885623" y="55987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925361" y="56432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960077" y="57543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7187565" y="5317808"/>
              <a:ext cx="40919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最内层循环里 x[i][j] 的地址不变，所以代码在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进入 k 循环前就算好，结果先累加在 $f4 里，循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环结束再写回。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25421" cy="909257"/>
            <a:chOff x="520446" y="342900"/>
            <a:chExt cx="862542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浮点指令与并行加速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254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矩阵乘法的 MIPS 代码：最内层只做一次乘法和一次加法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3529965"/>
            <a:chOff x="533400" y="1524000"/>
            <a:chExt cx="5410200" cy="35299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3529965"/>
            </a:xfrm>
            <a:prstGeom prst="roundRect">
              <a:avLst>
                <a:gd name="adj" fmla="val 269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8888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初始化，取 x[i][j] 与 z[k][j]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0654" y="1939290"/>
              <a:ext cx="4043172" cy="30455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02"/>
                </a:lnSpc>
              </a:pPr>
              <a:r>
                <a:rPr lang="zh-CN" sz="120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li    $t1, 32       # $t1 = 32，循环上界</a:t>
              </a:r>
              <a:br/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li    $s0, 0        # i = 0</a:t>
              </a:r>
              <a:br/>
              <a:r>
                <a:rPr lang="zh-CN" sz="120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L1: li    $s1, 0        # j = 0，重新开始 j 循环</a:t>
              </a:r>
              <a:br/>
              <a:r>
                <a:rPr lang="zh-CN" sz="120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L2: li    $s2, 0        # k = 0，重新开始 k 循环</a:t>
              </a:r>
              <a:br/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sll   $t2, $s0, 5   # $t2 = i * 32</a:t>
              </a:r>
              <a:br/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addu  $t2, $t2, $s1 # $t2 = i * 32 + j</a:t>
              </a:r>
              <a:br/>
              <a:r>
                <a:rPr lang="zh-CN" sz="120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sll   $t2, $t2, 3   # $t2 = [i][j] 的字节偏移</a:t>
              </a:r>
              <a:br/>
              <a:r>
                <a:rPr lang="zh-CN" sz="120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addu  $t2, $a0, $t2 # $t2 = x[i][j] 的地址</a:t>
              </a:r>
              <a:br/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l.d   $f4, 0($t2)   # $f4 = x[i][j]</a:t>
              </a:r>
              <a:br/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L3: sll   $t0, $s2, 5   # $t0 = k * 32</a:t>
              </a:r>
              <a:br/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addu  $t0, $t0, $s1 # $t0 = k * 32 + j</a:t>
              </a:r>
              <a:br/>
              <a:r>
                <a:rPr lang="zh-CN" sz="120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sll   $t0, $t0, 3   # $t0 = [k][j] 的字节偏移</a:t>
              </a:r>
              <a:br/>
              <a:r>
                <a:rPr lang="zh-CN" sz="120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addu  $t0, $a2, $t0 # $t0 = z[k][j] 的地址</a:t>
              </a:r>
              <a:br/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l.d   $f16, 0($t0)  # $f16 = z[k][j]</a:t>
              </a:r>
            </a:p>
          </p:txBody>
        </p:sp>
      </p:grpSp>
      <p:grpSp>
        <p:nvGrpSpPr>
          <p:cNvPr id="16" name="c2-code-1"/>
          <p:cNvGrpSpPr/>
          <p:nvPr/>
        </p:nvGrpSpPr>
        <p:grpSpPr>
          <a:xfrm>
            <a:off x="6248400" y="1524000"/>
            <a:ext cx="5410200" cy="3529965"/>
            <a:chOff x="6248400" y="1524000"/>
            <a:chExt cx="5410200" cy="3529965"/>
          </a:xfrm>
        </p:grpSpPr>
        <p:sp>
          <p:nvSpPr>
            <p:cNvPr id="11" name="Rectangle 11"/>
            <p:cNvSpPr/>
            <p:nvPr/>
          </p:nvSpPr>
          <p:spPr>
            <a:xfrm>
              <a:off x="6248400" y="1524000"/>
              <a:ext cx="5410200" cy="3529965"/>
            </a:xfrm>
            <a:prstGeom prst="roundRect">
              <a:avLst>
                <a:gd name="adj" fmla="val 269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376797" y="1675924"/>
              <a:ext cx="22652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取 y[i][k]，相乘累加，三层循环控制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267450" y="2975610"/>
              <a:ext cx="5372100" cy="21621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267450" y="3191828"/>
              <a:ext cx="5372100" cy="21621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375654" y="1939290"/>
              <a:ext cx="4538472" cy="30455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02"/>
                </a:lnSpc>
              </a:pPr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sll   $t0, $s0, 5   # $t0 = i * 32</a:t>
              </a:r>
              <a:br/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addu  $t0, $t0, $s2 # $t0 = i * 32 + k</a:t>
              </a:r>
              <a:br/>
              <a:r>
                <a:rPr lang="zh-CN" sz="120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sll   $t0, $t0, 3   # $t0 = [i][k] 的字节偏移</a:t>
              </a:r>
              <a:br/>
              <a:r>
                <a:rPr lang="zh-CN" sz="120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addu  $t0, $a1, $t0 # $t0 = y[i][k] 的地址</a:t>
              </a:r>
              <a:br/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l.d   $f18, 0($t0)  # $f18 = y[i][k]</a:t>
              </a:r>
              <a:br/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mul.d $f16, $f18, $f16  # $f16 = y[i][k] * z[k][j]</a:t>
              </a:r>
              <a:br/>
              <a:r>
                <a:rPr lang="zh-CN" sz="120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add.d $f4, $f4, $f16    # $f4 = $f4 + 乘积</a:t>
              </a:r>
              <a:br/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addiu $s2, $s2, 1   # k = k + 1</a:t>
              </a:r>
              <a:br/>
              <a:r>
                <a:rPr lang="zh-CN" sz="120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bne   $s2, $t1, L3  # k != 32 则回 L3</a:t>
              </a:r>
              <a:br/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s.d   $f4, 0($t2)   # x[i][j] = $f4</a:t>
              </a:r>
              <a:br/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addiu $s1, $s1, 1   # j = j + 1</a:t>
              </a:r>
              <a:br/>
              <a:r>
                <a:rPr lang="zh-CN" sz="120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bne   $s1, $t1, L2  # j != 32 则回 L2</a:t>
              </a:r>
              <a:br/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addiu $s0, $s0, 1   # i = i + 1</a:t>
              </a:r>
              <a:br/>
              <a:r>
                <a:rPr lang="zh-CN" sz="120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bne   $s0, $t1, L1  # i != 32 则回 L1</a:t>
              </a:r>
            </a:p>
          </p:txBody>
        </p:sp>
      </p:grpSp>
      <p:grpSp>
        <p:nvGrpSpPr>
          <p:cNvPr id="23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17" name="Rectangle 17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5871210"/>
              <a:ext cx="200026" cy="200026"/>
              <a:chOff x="738188" y="5871210"/>
              <a:chExt cx="200026" cy="20002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38188" y="58712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38200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27088" y="59712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130" y="5728335"/>
              <a:ext cx="97497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l.d、s.d 是 ldc1、sdc1 的伪指令写法。代码只给出过程体，省略了保存和恢复 $s0～$s2 以及 jr $ra。原课件注释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$k k + 1 应为 k = k + 1。</a:t>
              </a:r>
            </a:p>
          </p:txBody>
        </p:sp>
      </p:grpSp>
      <p:grpSp>
        <p:nvGrpSpPr>
          <p:cNvPr id="2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4" name="TextBox 24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51214" cy="909257"/>
            <a:chOff x="520446" y="342900"/>
            <a:chExt cx="89512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浮点指令与并行加速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512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子字并行：一条指令同时处理打包在一个字里的多个短数据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626418" cy="2568892"/>
            <a:chOff x="533400" y="1524000"/>
            <a:chExt cx="5626418" cy="25688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568892"/>
            </a:xfrm>
            <a:prstGeom prst="roundRect">
              <a:avLst>
                <a:gd name="adj" fmla="val 51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30219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06965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4736" y="1769269"/>
              <a:ext cx="9232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3.6 子字并行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968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视频、音频应用经常对一组短数据做同样的运算，可以把它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们打包进一个长寄存器并行处理。例如一个 128 位加法器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可以当作：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30803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3017520"/>
              <a:ext cx="49120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个 8 位加法，或 8 个 16 位加法，或 4 个 32 位加法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4156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35280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做法是在子字边界处切断进位，互不影响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4573" y="3684746"/>
              <a:ext cx="44222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也称为数据级并行、向量并行或 SIMD（单指令多数据）。</a:t>
              </a:r>
            </a:p>
          </p:txBody>
        </p:sp>
      </p:grpSp>
      <p:grpSp>
        <p:nvGrpSpPr>
          <p:cNvPr id="45" name="c1-cells-2"/>
          <p:cNvGrpSpPr/>
          <p:nvPr/>
        </p:nvGrpSpPr>
        <p:grpSpPr>
          <a:xfrm>
            <a:off x="527304" y="4283392"/>
            <a:ext cx="3756088" cy="1600200"/>
            <a:chOff x="527304" y="4283392"/>
            <a:chExt cx="3756088" cy="1600200"/>
          </a:xfrm>
        </p:grpSpPr>
        <p:sp>
          <p:nvSpPr>
            <p:cNvPr id="18" name="TextBox 18"/>
            <p:cNvSpPr txBox="1"/>
            <p:nvPr/>
          </p:nvSpPr>
          <p:spPr>
            <a:xfrm>
              <a:off x="527304" y="441864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30592" y="4283392"/>
              <a:ext cx="8382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50305" y="441864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a3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768792" y="4283392"/>
              <a:ext cx="8382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088505" y="441864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a2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606992" y="4283392"/>
              <a:ext cx="8382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926705" y="441864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a1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445192" y="4283392"/>
              <a:ext cx="8382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764905" y="441864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7304" y="500919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930592" y="4873942"/>
              <a:ext cx="8382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250305" y="500919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b3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768792" y="4873942"/>
              <a:ext cx="8382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088505" y="500919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b2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606992" y="4873942"/>
              <a:ext cx="8382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926705" y="500919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b1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445192" y="4873942"/>
              <a:ext cx="8382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764905" y="500919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27304" y="5599748"/>
              <a:ext cx="307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A+B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30592" y="5464492"/>
              <a:ext cx="8382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110367" y="5599748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a3+b3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768792" y="5464492"/>
              <a:ext cx="8382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948567" y="5599748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a2+b2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606992" y="5464492"/>
              <a:ext cx="8382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786767" y="5599748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a1+b1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445192" y="5464492"/>
              <a:ext cx="8382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624967" y="5599748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a0+b0</a:t>
              </a:r>
            </a:p>
          </p:txBody>
        </p:sp>
      </p:grpSp>
      <p:grpSp>
        <p:nvGrpSpPr>
          <p:cNvPr id="47" name="c1-text-3"/>
          <p:cNvGrpSpPr/>
          <p:nvPr/>
        </p:nvGrpSpPr>
        <p:grpSpPr>
          <a:xfrm>
            <a:off x="526923" y="6095524"/>
            <a:ext cx="5001433" cy="249364"/>
            <a:chOff x="526923" y="6095524"/>
            <a:chExt cx="5001433" cy="249364"/>
          </a:xfrm>
        </p:grpSpPr>
        <p:sp>
          <p:nvSpPr>
            <p:cNvPr id="46" name="TextBox 46"/>
            <p:cNvSpPr txBox="1"/>
            <p:nvPr/>
          </p:nvSpPr>
          <p:spPr>
            <a:xfrm>
              <a:off x="526923" y="6095524"/>
              <a:ext cx="50014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128 位寄存器分成 4 个 32 位子字，一次加法得到 4 个独立的和。</a:t>
              </a:r>
            </a:p>
          </p:txBody>
        </p:sp>
      </p:grpSp>
      <p:grpSp>
        <p:nvGrpSpPr>
          <p:cNvPr id="50" name="c2-image-1"/>
          <p:cNvGrpSpPr/>
          <p:nvPr/>
        </p:nvGrpSpPr>
        <p:grpSpPr>
          <a:xfrm>
            <a:off x="6464618" y="1524000"/>
            <a:ext cx="5193982" cy="4863942"/>
            <a:chOff x="6464618" y="1524000"/>
            <a:chExt cx="5193982" cy="4863942"/>
          </a:xfrm>
        </p:grpSpPr>
        <p:pic>
          <p:nvPicPr>
            <p:cNvPr id="48" name="Image 48"/>
            <p:cNvPicPr>
              <a:picLocks noChangeAspect="1"/>
            </p:cNvPicPr>
            <p:nvPr/>
          </p:nvPicPr>
          <p:blipFill>
            <a:blip r:embed="rId2"/>
            <a:srcRect l="7184" t="0" r="7185" b="0"/>
            <a:stretch>
              <a:fillRect/>
            </a:stretch>
          </p:blipFill>
          <p:spPr>
            <a:xfrm>
              <a:off x="6464618" y="1524000"/>
              <a:ext cx="5193982" cy="4549140"/>
            </a:xfrm>
            <a:prstGeom prst="roundRect">
              <a:avLst>
                <a:gd name="adj" fmla="val 2931"/>
              </a:avLst>
            </a:prstGeom>
          </p:spPr>
        </p:pic>
        <p:sp>
          <p:nvSpPr>
            <p:cNvPr id="49" name="TextBox 49"/>
            <p:cNvSpPr txBox="1"/>
            <p:nvPr/>
          </p:nvSpPr>
          <p:spPr>
            <a:xfrm>
              <a:off x="6877253" y="6167914"/>
              <a:ext cx="43696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一次压下切出一整排饼干，好比一条 SIMD 指令同时处理多个数据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01456" cy="909257"/>
            <a:chOff x="520446" y="342900"/>
            <a:chExt cx="66014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浮点指令与并行加速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014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浮点加法不满足结合律：大数会"吃掉"小数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9" name="c1-table-1"/>
          <p:cNvGrpSpPr/>
          <p:nvPr/>
        </p:nvGrpSpPr>
        <p:grpSpPr>
          <a:xfrm>
            <a:off x="528447" y="1524000"/>
            <a:ext cx="5956173" cy="1663731"/>
            <a:chOff x="528447" y="1524000"/>
            <a:chExt cx="5956173" cy="1663731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80504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计算顺序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22766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07751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79282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0555" y="2045494"/>
              <a:ext cx="810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(x + y) + z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40243" y="2045494"/>
              <a:ext cx="7728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+ y = 0.0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963352" y="2045494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 + 1.0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422582" y="1933575"/>
              <a:ext cx="1052512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819211" y="204549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31933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2324100"/>
              <a:ext cx="5951220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0555" y="2545556"/>
              <a:ext cx="810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+ (y + z)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40243" y="2445544"/>
              <a:ext cx="158318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 + z = 1.5 × 10³⁸，1.0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被舍掉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63352" y="2445544"/>
              <a:ext cx="92176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−1.5 × 10³⁸ +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1.5 × 10³⁸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422582" y="2333625"/>
              <a:ext cx="1052512" cy="58102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819211" y="254555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1524000"/>
              <a:ext cx="5951220" cy="14001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838325" y="1524000"/>
              <a:ext cx="9525" cy="1400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3861435" y="1524000"/>
              <a:ext cx="9525" cy="1400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08295" y="1524000"/>
              <a:ext cx="9525" cy="14001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8447" y="2997041"/>
              <a:ext cx="46801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单精度，x = −1.5 × 10³⁸，y = 1.5 × 10³⁸，z = 1.0（已用程序按 float 复核）</a:t>
              </a:r>
            </a:p>
          </p:txBody>
        </p:sp>
      </p:grpSp>
      <p:grpSp>
        <p:nvGrpSpPr>
          <p:cNvPr id="35" name="c1-card-2"/>
          <p:cNvGrpSpPr/>
          <p:nvPr/>
        </p:nvGrpSpPr>
        <p:grpSpPr>
          <a:xfrm>
            <a:off x="533400" y="3319462"/>
            <a:ext cx="5951220" cy="1185862"/>
            <a:chOff x="533400" y="3319462"/>
            <a:chExt cx="5951220" cy="1185862"/>
          </a:xfrm>
        </p:grpSpPr>
        <p:sp>
          <p:nvSpPr>
            <p:cNvPr id="30" name="Rectangle 30"/>
            <p:cNvSpPr/>
            <p:nvPr/>
          </p:nvSpPr>
          <p:spPr>
            <a:xfrm>
              <a:off x="533400" y="3319462"/>
              <a:ext cx="5951220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42925" y="3452812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58190" y="350615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50862" y="353901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原因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1332" y="3850958"/>
              <a:ext cx="522579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单精度只有约 7 位十进制有效数字。1.5 × 10³⁸ 与 1.0 相差 38 个数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量级，对阶时 1.0 的尾数被右移出去，和仍是 1.5 × 10³⁸。</a:t>
              </a:r>
            </a:p>
          </p:txBody>
        </p:sp>
      </p:grpSp>
      <p:grpSp>
        <p:nvGrpSpPr>
          <p:cNvPr id="40" name="c1-card-3"/>
          <p:cNvGrpSpPr/>
          <p:nvPr/>
        </p:nvGrpSpPr>
        <p:grpSpPr>
          <a:xfrm>
            <a:off x="533400" y="4674870"/>
            <a:ext cx="5951220" cy="1443038"/>
            <a:chOff x="533400" y="4674870"/>
            <a:chExt cx="5951220" cy="1443038"/>
          </a:xfrm>
        </p:grpSpPr>
        <p:sp>
          <p:nvSpPr>
            <p:cNvPr id="36" name="Rectangle 36"/>
            <p:cNvSpPr/>
            <p:nvPr/>
          </p:nvSpPr>
          <p:spPr>
            <a:xfrm>
              <a:off x="533400" y="4674870"/>
              <a:ext cx="5951220" cy="1443038"/>
            </a:xfrm>
            <a:prstGeom prst="roundRect">
              <a:avLst>
                <a:gd name="adj" fmla="val 924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20090" y="4861560"/>
              <a:ext cx="120491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90359" y="4894421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对并行程序的影响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13232" y="5206365"/>
              <a:ext cx="53286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并行程序常会调整运算顺序（例如把求和拆给多个处理器分别算）。依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赖特定运算顺序的程序在并行后可能得到不同结果，需要验证结果是否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可靠。</a:t>
              </a:r>
            </a:p>
          </p:txBody>
        </p:sp>
      </p:grpSp>
      <p:grpSp>
        <p:nvGrpSpPr>
          <p:cNvPr id="43" name="c2-image-1"/>
          <p:cNvGrpSpPr/>
          <p:nvPr/>
        </p:nvGrpSpPr>
        <p:grpSpPr>
          <a:xfrm>
            <a:off x="6789420" y="1524000"/>
            <a:ext cx="4869180" cy="4858416"/>
            <a:chOff x="6789420" y="1524000"/>
            <a:chExt cx="4869180" cy="4858416"/>
          </a:xfrm>
        </p:grpSpPr>
        <p:pic>
          <p:nvPicPr>
            <p:cNvPr id="41" name="Image 41"/>
            <p:cNvPicPr>
              <a:picLocks noChangeAspect="1"/>
            </p:cNvPicPr>
            <p:nvPr/>
          </p:nvPicPr>
          <p:blipFill>
            <a:blip r:embed="rId2"/>
            <a:srcRect l="10088" t="0" r="10087" b="0"/>
            <a:stretch>
              <a:fillRect/>
            </a:stretch>
          </p:blipFill>
          <p:spPr>
            <a:xfrm>
              <a:off x="6789420" y="1524000"/>
              <a:ext cx="4869180" cy="4574858"/>
            </a:xfrm>
            <a:prstGeom prst="roundRect">
              <a:avLst>
                <a:gd name="adj" fmla="val 2914"/>
              </a:avLst>
            </a:prstGeom>
          </p:spPr>
        </p:pic>
        <p:sp>
          <p:nvSpPr>
            <p:cNvPr id="42" name="TextBox 42"/>
            <p:cNvSpPr txBox="1"/>
            <p:nvPr/>
          </p:nvSpPr>
          <p:spPr>
            <a:xfrm>
              <a:off x="7965745" y="6191726"/>
              <a:ext cx="25165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在称卡车的地磅上放一根羽毛，读数不会变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52128" cy="909257"/>
            <a:chOff x="520446" y="342900"/>
            <a:chExt cx="64521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浮点指令与并行加速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521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3.7 x86 浮点：8087 协处理器的栈式结构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4977765" cy="2475548"/>
            <a:chOff x="533400" y="1524000"/>
            <a:chExt cx="4977765" cy="24755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475548"/>
            </a:xfrm>
            <a:prstGeom prst="roundRect">
              <a:avLst>
                <a:gd name="adj" fmla="val 538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0884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1016318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4558" y="1756410"/>
              <a:ext cx="8654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x87 浮点结构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77240" y="214312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33831" y="2082641"/>
              <a:ext cx="336934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个 80 位扩展精度寄存器，组成下推栈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7240" y="246030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3831" y="2400776"/>
              <a:ext cx="363029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按相对栈顶的下标访问：ST(0) 是栈顶，然后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ST(1)、…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7240" y="304990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3831" y="2989421"/>
              <a:ext cx="405409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内存中的浮点数仍是 32 位或 64 位，装入和存储时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自动转换，与整数的转换也自动完成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77240" y="363950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3831" y="3579019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代码生成和优化困难，浮点性能较差</a:t>
              </a:r>
            </a:p>
          </p:txBody>
        </p:sp>
      </p:grpSp>
      <p:grpSp>
        <p:nvGrpSpPr>
          <p:cNvPr id="33" name="c1-cells-2"/>
          <p:cNvGrpSpPr/>
          <p:nvPr/>
        </p:nvGrpSpPr>
        <p:grpSpPr>
          <a:xfrm>
            <a:off x="528066" y="4179570"/>
            <a:ext cx="3405759" cy="705326"/>
            <a:chOff x="528066" y="4179570"/>
            <a:chExt cx="3405759" cy="705326"/>
          </a:xfrm>
        </p:grpSpPr>
        <p:sp>
          <p:nvSpPr>
            <p:cNvPr id="20" name="TextBox 20"/>
            <p:cNvSpPr txBox="1"/>
            <p:nvPr/>
          </p:nvSpPr>
          <p:spPr>
            <a:xfrm>
              <a:off x="528066" y="431196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栈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179570"/>
              <a:ext cx="626745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92512" y="4311968"/>
              <a:ext cx="4419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ST(0)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426845" y="4179570"/>
              <a:ext cx="62674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519257" y="4311968"/>
              <a:ext cx="4419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ST(1)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053590" y="4179570"/>
              <a:ext cx="62674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146002" y="4311968"/>
              <a:ext cx="4419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ST(2)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680335" y="4179570"/>
              <a:ext cx="62674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947558" y="43119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307080" y="4179570"/>
              <a:ext cx="626745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399492" y="4311968"/>
              <a:ext cx="4419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ST(7)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1075372" y="459295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98322" y="4722971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栈顶</a:t>
              </a:r>
            </a:p>
          </p:txBody>
        </p:sp>
      </p:grpSp>
      <p:grpSp>
        <p:nvGrpSpPr>
          <p:cNvPr id="39" name="c1-card-3"/>
          <p:cNvGrpSpPr/>
          <p:nvPr/>
        </p:nvGrpSpPr>
        <p:grpSpPr>
          <a:xfrm>
            <a:off x="533400" y="5011102"/>
            <a:ext cx="4977765" cy="1250632"/>
            <a:chOff x="533400" y="5011102"/>
            <a:chExt cx="4977765" cy="1250632"/>
          </a:xfrm>
        </p:grpSpPr>
        <p:sp>
          <p:nvSpPr>
            <p:cNvPr id="34" name="Rectangle 34"/>
            <p:cNvSpPr/>
            <p:nvPr/>
          </p:nvSpPr>
          <p:spPr>
            <a:xfrm>
              <a:off x="533400" y="5011102"/>
              <a:ext cx="4977765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2925" y="5144452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69620" y="520922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61060" y="524351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381" y="5569744"/>
              <a:ext cx="436968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原课件表中 F2XMI、FPSIN 应为 F2XM1（计算 2ˣ − 1）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 FSIN。</a:t>
              </a:r>
            </a:p>
          </p:txBody>
        </p:sp>
      </p:grpSp>
      <p:grpSp>
        <p:nvGrpSpPr>
          <p:cNvPr id="78" name="c2-table-1"/>
          <p:cNvGrpSpPr/>
          <p:nvPr/>
        </p:nvGrpSpPr>
        <p:grpSpPr>
          <a:xfrm>
            <a:off x="5810631" y="1524000"/>
            <a:ext cx="5847969" cy="3250501"/>
            <a:chOff x="5810631" y="1524000"/>
            <a:chExt cx="5847969" cy="3250501"/>
          </a:xfrm>
        </p:grpSpPr>
        <p:sp>
          <p:nvSpPr>
            <p:cNvPr id="40" name="Rectangle 40"/>
            <p:cNvSpPr/>
            <p:nvPr/>
          </p:nvSpPr>
          <p:spPr>
            <a:xfrm>
              <a:off x="5815965" y="1524000"/>
              <a:ext cx="5842635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158294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数据传送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868602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算术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41641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628376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超越函数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918454" y="2076450"/>
              <a:ext cx="5327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F[I]LD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262432" y="2076450"/>
              <a:ext cx="9083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F[I]ADD[P]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015032" y="2076450"/>
              <a:ext cx="9765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F[I]COM[P]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359009" y="2076450"/>
              <a:ext cx="5754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FPATAN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815965" y="236791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815965" y="2372678"/>
              <a:ext cx="584263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918454" y="2501265"/>
              <a:ext cx="8144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F[I]ST[P]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262432" y="2501265"/>
              <a:ext cx="11899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F[I]SUB[R][P]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015032" y="2501265"/>
              <a:ext cx="1070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F[I]UCOM[P]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359009" y="2501265"/>
              <a:ext cx="5157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F2XM1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815965" y="279273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918454" y="2926080"/>
              <a:ext cx="438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FLDPI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262432" y="2926080"/>
              <a:ext cx="9424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F[I]MUL[P]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015032" y="2926080"/>
              <a:ext cx="11794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FSTSW AX/mem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359009" y="2926080"/>
              <a:ext cx="4218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FCOS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815965" y="32165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5815965" y="3221355"/>
              <a:ext cx="584263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918454" y="3349942"/>
              <a:ext cx="387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FLD1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262432" y="3349942"/>
              <a:ext cx="11472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F[I]DIV[R][P]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359009" y="3349942"/>
              <a:ext cx="4815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FPTAN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815965" y="364140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918454" y="3774757"/>
              <a:ext cx="387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FLDZ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262432" y="3774757"/>
              <a:ext cx="10527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FSQRT、FABS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359009" y="3774757"/>
              <a:ext cx="5157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FPREM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5815965" y="406622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5815965" y="4070985"/>
              <a:ext cx="584263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262432" y="4198620"/>
              <a:ext cx="6266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FRNDINT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359009" y="4198620"/>
              <a:ext cx="9759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FSIN、FYL2X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5815965" y="1524000"/>
              <a:ext cx="5842635" cy="29708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7155180" y="1524000"/>
              <a:ext cx="9525" cy="29708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8907780" y="1524000"/>
              <a:ext cx="9525" cy="29708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10251758" y="1524000"/>
              <a:ext cx="9525" cy="29708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5810631" y="4569142"/>
              <a:ext cx="56155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 4 行的传送与算术指令可带操作数 mem/ST(i)；方括号内字母可选，并非每种组合都有</a:t>
              </a:r>
            </a:p>
          </p:txBody>
        </p:sp>
      </p:grpSp>
      <p:grpSp>
        <p:nvGrpSpPr>
          <p:cNvPr id="87" name="c2-kv-2"/>
          <p:cNvGrpSpPr/>
          <p:nvPr/>
        </p:nvGrpSpPr>
        <p:grpSpPr>
          <a:xfrm>
            <a:off x="5808726" y="4937284"/>
            <a:ext cx="5849874" cy="1111187"/>
            <a:chOff x="5808726" y="4937284"/>
            <a:chExt cx="5849874" cy="1111187"/>
          </a:xfrm>
        </p:grpSpPr>
        <p:sp>
          <p:nvSpPr>
            <p:cNvPr id="79" name="TextBox 79"/>
            <p:cNvSpPr txBox="1"/>
            <p:nvPr/>
          </p:nvSpPr>
          <p:spPr>
            <a:xfrm>
              <a:off x="5808726" y="4937284"/>
              <a:ext cx="7810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6164008" y="4937284"/>
              <a:ext cx="42726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操作数是整数，如 FIADD 把内存中的整数加到栈顶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5815965" y="524065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5808726" y="5353526"/>
              <a:ext cx="1311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164008" y="535352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运算完成后弹栈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5815965" y="565689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5808726" y="5769769"/>
              <a:ext cx="1311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164008" y="5769769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交换源操作数与目的操作数，用于反向减、反向除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29581" cy="909257"/>
            <a:chOff x="520446" y="342900"/>
            <a:chExt cx="892958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浮点指令与并行加速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2958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SSE2 与 AVX：一个寄存器装多个浮点数，一条指令同时算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626418" cy="2158365"/>
            <a:chOff x="533400" y="1524000"/>
            <a:chExt cx="5626418" cy="21583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158365"/>
            </a:xfrm>
            <a:prstGeom prst="roundRect">
              <a:avLst>
                <a:gd name="adj" fmla="val 61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9166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205740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8302" y="1756410"/>
              <a:ext cx="20000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Streaming SIMD Extension 2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77240" y="214312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33831" y="2082641"/>
              <a:ext cx="49368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128 位 XMM 寄存器既可做普通浮点运算，也可做并行运算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7240" y="246030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3831" y="2400776"/>
              <a:ext cx="476643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 XMM 寄存器可装 2 个 64 位双精度数或 4 个 32 位单精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度数，一条指令同时处理（SIMD）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7240" y="304990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3831" y="2989421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后来的 AVX 把寄存器扩展为 256 位的 YMM，一次处理 4 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双精度数</a:t>
              </a:r>
            </a:p>
          </p:txBody>
        </p:sp>
      </p:grpSp>
      <p:grpSp>
        <p:nvGrpSpPr>
          <p:cNvPr id="41" name="c1-cells-2"/>
          <p:cNvGrpSpPr/>
          <p:nvPr/>
        </p:nvGrpSpPr>
        <p:grpSpPr>
          <a:xfrm>
            <a:off x="528066" y="3862388"/>
            <a:ext cx="4723066" cy="1503997"/>
            <a:chOff x="528066" y="3862388"/>
            <a:chExt cx="4723066" cy="1503997"/>
          </a:xfrm>
        </p:grpSpPr>
        <p:sp>
          <p:nvSpPr>
            <p:cNvPr id="18" name="TextBox 18"/>
            <p:cNvSpPr txBox="1"/>
            <p:nvPr/>
          </p:nvSpPr>
          <p:spPr>
            <a:xfrm>
              <a:off x="528066" y="3993832"/>
              <a:ext cx="3321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XMM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53452" y="3862388"/>
              <a:ext cx="107442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95912" y="3993832"/>
              <a:ext cx="5895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double 1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027872" y="3862388"/>
              <a:ext cx="107442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270332" y="3993832"/>
              <a:ext cx="5895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double 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8066" y="4549140"/>
              <a:ext cx="3321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XMM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953452" y="4417695"/>
              <a:ext cx="53721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85077" y="4553426"/>
              <a:ext cx="4739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float 3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490662" y="4417695"/>
              <a:ext cx="53721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522287" y="4553426"/>
              <a:ext cx="4739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float 2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2027872" y="4417695"/>
              <a:ext cx="53721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059497" y="4553426"/>
              <a:ext cx="4739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float 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565082" y="4417695"/>
              <a:ext cx="53721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596707" y="4553426"/>
              <a:ext cx="4739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float 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28066" y="5104448"/>
              <a:ext cx="3321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YMM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53452" y="4972050"/>
              <a:ext cx="107442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195912" y="5104448"/>
              <a:ext cx="5895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double 3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027872" y="4972050"/>
              <a:ext cx="107442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270332" y="5104448"/>
              <a:ext cx="5895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double 2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102292" y="4972050"/>
              <a:ext cx="107442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344752" y="5104448"/>
              <a:ext cx="5895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double 1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176712" y="4972050"/>
              <a:ext cx="107442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419172" y="5104448"/>
              <a:ext cx="5895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double 0</a:t>
              </a:r>
            </a:p>
          </p:txBody>
        </p:sp>
      </p:grpSp>
      <p:grpSp>
        <p:nvGrpSpPr>
          <p:cNvPr id="47" name="c2-card-1"/>
          <p:cNvGrpSpPr/>
          <p:nvPr/>
        </p:nvGrpSpPr>
        <p:grpSpPr>
          <a:xfrm>
            <a:off x="6464618" y="1524000"/>
            <a:ext cx="5193982" cy="1522095"/>
            <a:chOff x="6464618" y="1524000"/>
            <a:chExt cx="5193982" cy="1522095"/>
          </a:xfrm>
        </p:grpSpPr>
        <p:sp>
          <p:nvSpPr>
            <p:cNvPr id="42" name="Rectangle 42"/>
            <p:cNvSpPr/>
            <p:nvPr/>
          </p:nvSpPr>
          <p:spPr>
            <a:xfrm>
              <a:off x="6464618" y="1524000"/>
              <a:ext cx="5193982" cy="1522095"/>
            </a:xfrm>
            <a:prstGeom prst="roundRect">
              <a:avLst>
                <a:gd name="adj" fmla="val 8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74142" y="1657350"/>
              <a:ext cx="47625" cy="12553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700838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92278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93598" y="2082641"/>
              <a:ext cx="4468876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原课件写"增加 4 个 128 位寄存器，AMD64/EM64T 扩展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8 个"。实际上 SSE/SSE2 提供 8 个 128 位寄存器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XMM0～XMM7，AMD64/EM64T 扩展到 16 个。</a:t>
              </a:r>
            </a:p>
          </p:txBody>
        </p:sp>
      </p:grpSp>
      <p:grpSp>
        <p:nvGrpSpPr>
          <p:cNvPr id="62" name="c2-table-2"/>
          <p:cNvGrpSpPr/>
          <p:nvPr/>
        </p:nvGrpSpPr>
        <p:grpSpPr>
          <a:xfrm>
            <a:off x="6464618" y="3227070"/>
            <a:ext cx="5193982" cy="2124075"/>
            <a:chOff x="6464618" y="3227070"/>
            <a:chExt cx="5193982" cy="2124075"/>
          </a:xfrm>
        </p:grpSpPr>
        <p:sp>
          <p:nvSpPr>
            <p:cNvPr id="48" name="Rectangle 48"/>
            <p:cNvSpPr/>
            <p:nvPr/>
          </p:nvSpPr>
          <p:spPr>
            <a:xfrm>
              <a:off x="6464618" y="3227070"/>
              <a:ext cx="5193982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151560" y="335470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指令名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828847" y="335470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567106" y="3779520"/>
              <a:ext cx="1397127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vmovsd、vmulsd、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vaddsd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436864" y="3779520"/>
              <a:ext cx="264871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= scalar，只处理 1 个双精度数（d =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double）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464618" y="428434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464618" y="4289108"/>
              <a:ext cx="5193982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67106" y="4417695"/>
              <a:ext cx="1485138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vmovapd、vmulpd、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vaddpd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436864" y="4417695"/>
              <a:ext cx="2907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= packed，同时处理寄存器里全部双精度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464618" y="492156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567106" y="5054917"/>
              <a:ext cx="11316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vbroadcastsd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436864" y="5054917"/>
              <a:ext cx="27233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1 个双精度数复制成 4 份装入 YMM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464618" y="3227070"/>
              <a:ext cx="5193982" cy="21240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8329612" y="3227070"/>
              <a:ext cx="9525" cy="21240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9" name="c2-callout-3"/>
          <p:cNvGrpSpPr/>
          <p:nvPr/>
        </p:nvGrpSpPr>
        <p:grpSpPr>
          <a:xfrm>
            <a:off x="6464618" y="5531168"/>
            <a:ext cx="5193982" cy="756285"/>
            <a:chOff x="6464618" y="5531168"/>
            <a:chExt cx="5193982" cy="756285"/>
          </a:xfrm>
        </p:grpSpPr>
        <p:sp>
          <p:nvSpPr>
            <p:cNvPr id="63" name="Rectangle 63"/>
            <p:cNvSpPr/>
            <p:nvPr/>
          </p:nvSpPr>
          <p:spPr>
            <a:xfrm>
              <a:off x="6464618" y="5531168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6669405" y="5809298"/>
              <a:ext cx="200026" cy="200025"/>
              <a:chOff x="6669405" y="5809298"/>
              <a:chExt cx="200026" cy="200025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6669405" y="580929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709144" y="585374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6743859" y="596487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6971729" y="5678329"/>
              <a:ext cx="425246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指令名前的 v 表示 AVX 编码；AVX 同时处理 4 个双精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度数，所以下一页的循环步长是 4。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847582" cy="909257"/>
            <a:chOff x="520446" y="342900"/>
            <a:chExt cx="1084758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浮点指令与并行加速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84758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3.8 dgemm 的 C 代码：未优化版一次算 1 个元素，AVX 版一次算 4 个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ode-1"/>
          <p:cNvGrpSpPr/>
          <p:nvPr/>
        </p:nvGrpSpPr>
        <p:grpSpPr>
          <a:xfrm>
            <a:off x="533400" y="1524000"/>
            <a:ext cx="6383655" cy="2819400"/>
            <a:chOff x="533400" y="1524000"/>
            <a:chExt cx="6383655" cy="28194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383655" cy="2819400"/>
            </a:xfrm>
            <a:prstGeom prst="roundRect">
              <a:avLst>
                <a:gd name="adj" fmla="val 337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2188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AVX 优化（原课件）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788920"/>
              <a:ext cx="6345555" cy="17811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145155"/>
              <a:ext cx="6345555" cy="17811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52450" y="3323272"/>
              <a:ext cx="6345555" cy="17811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3501390"/>
              <a:ext cx="6345555" cy="17811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52450" y="3678555"/>
              <a:ext cx="6345555" cy="17811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21" y="1936242"/>
              <a:ext cx="4159148" cy="23310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02"/>
                </a:lnSpc>
              </a:pP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#include &lt;x86intrin.h&gt;</a:t>
              </a:r>
              <a:br/>
              <a:r>
                <a:rPr lang="en-US" sz="9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dgemm (</a:t>
              </a:r>
              <a:r>
                <a:rPr lang="en-US" sz="9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9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* A, </a:t>
              </a:r>
              <a:r>
                <a:rPr lang="en-US" sz="9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* B, </a:t>
              </a:r>
              <a:r>
                <a:rPr lang="en-US" sz="9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* C)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9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n; i += 4)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0; j &lt; n; j++) {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__m256d c0 = _mm256_load_pd(C+i+j*n); </a:t>
              </a:r>
              <a:r>
                <a:rPr lang="en-US" sz="99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c0 = C[i][j]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</a:t>
              </a:r>
              <a:r>
                <a:rPr lang="en-US" sz="9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 = 0; k &lt; n; k++)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c0 = _mm256_add_pd(c0, </a:t>
              </a:r>
              <a:r>
                <a:rPr lang="en-US" sz="99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c0 += A[i][k]*B[k][j]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_mm256_mul_pd(_mm256_load_pd(A+i+k*n),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         _mm256_broadcast_sd(B+k+j*n)));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_mm256_store_pd(C+i+j*n, c0); </a:t>
              </a:r>
              <a:r>
                <a:rPr lang="en-US" sz="99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C[i][j] = c0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4" name="c1-kv-2"/>
          <p:cNvGrpSpPr/>
          <p:nvPr/>
        </p:nvGrpSpPr>
        <p:grpSpPr>
          <a:xfrm>
            <a:off x="526161" y="4547711"/>
            <a:ext cx="6390894" cy="1646492"/>
            <a:chOff x="526161" y="4547711"/>
            <a:chExt cx="6390894" cy="1646492"/>
          </a:xfrm>
        </p:grpSpPr>
        <p:sp>
          <p:nvSpPr>
            <p:cNvPr id="16" name="TextBox 16"/>
            <p:cNvSpPr txBox="1"/>
            <p:nvPr/>
          </p:nvSpPr>
          <p:spPr>
            <a:xfrm>
              <a:off x="526161" y="4547711"/>
              <a:ext cx="159011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_mm256_load_pd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69274" y="4547711"/>
              <a:ext cx="3963924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一次取 4 个相邻的双精度数 C[i..i+3][j]，所以 i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每次加 4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5118735"/>
              <a:ext cx="63836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6161" y="5231606"/>
              <a:ext cx="1756562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en-US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_mm256_broadcast</a:t>
              </a:r>
              <a:br/>
              <a:r>
                <a:rPr lang="en-US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_sd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569274" y="5231606"/>
              <a:ext cx="42628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B[k][j] 复制 4 份，与 A[i..i+3][k] 逐个相乘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5802630"/>
              <a:ext cx="63836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6161" y="5915501"/>
              <a:ext cx="17506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_mm256_store_pd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569274" y="5915501"/>
              <a:ext cx="157243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一次写回 4 个元素</a:t>
              </a:r>
            </a:p>
          </p:txBody>
        </p:sp>
      </p:grpSp>
      <p:grpSp>
        <p:nvGrpSpPr>
          <p:cNvPr id="28" name="c2-code-1"/>
          <p:cNvGrpSpPr/>
          <p:nvPr/>
        </p:nvGrpSpPr>
        <p:grpSpPr>
          <a:xfrm>
            <a:off x="7221855" y="1524000"/>
            <a:ext cx="4436745" cy="2464118"/>
            <a:chOff x="7221855" y="1524000"/>
            <a:chExt cx="4436745" cy="2464118"/>
          </a:xfrm>
        </p:grpSpPr>
        <p:sp>
          <p:nvSpPr>
            <p:cNvPr id="25" name="Rectangle 25"/>
            <p:cNvSpPr/>
            <p:nvPr/>
          </p:nvSpPr>
          <p:spPr>
            <a:xfrm>
              <a:off x="7221855" y="1524000"/>
              <a:ext cx="4436745" cy="2464118"/>
            </a:xfrm>
            <a:prstGeom prst="roundRect">
              <a:avLst>
                <a:gd name="adj" fmla="val 386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350252" y="1675924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未优化（补充，用于对照）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50176" y="1936242"/>
              <a:ext cx="2430361" cy="19747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02"/>
                </a:lnSpc>
              </a:pPr>
              <a:r>
                <a:rPr lang="en-US" sz="9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dgemm (</a:t>
              </a:r>
              <a:r>
                <a:rPr lang="en-US" sz="9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9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* A,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* B, </a:t>
              </a:r>
              <a:r>
                <a:rPr lang="en-US" sz="9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* C)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</a:t>
              </a:r>
              <a:r>
                <a:rPr lang="en-US" sz="9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n; ++i)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0; j &lt; n; ++j) {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</a:t>
              </a:r>
              <a:r>
                <a:rPr lang="en-US" sz="9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double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cij = C[i+j*n];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</a:t>
              </a:r>
              <a:r>
                <a:rPr lang="en-US" sz="9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 = 0; k &lt; n; k++)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cij += A[i+k*n] * B[k+j*n];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C[i+j*n] = cij;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9" name="c2-card-2"/>
          <p:cNvGrpSpPr/>
          <p:nvPr/>
        </p:nvGrpSpPr>
        <p:grpSpPr>
          <a:xfrm>
            <a:off x="7221855" y="4168140"/>
            <a:ext cx="4436745" cy="1970722"/>
            <a:chOff x="7221855" y="4168140"/>
            <a:chExt cx="4436745" cy="1970722"/>
          </a:xfrm>
        </p:grpSpPr>
        <p:sp>
          <p:nvSpPr>
            <p:cNvPr id="29" name="Rectangle 29"/>
            <p:cNvSpPr/>
            <p:nvPr/>
          </p:nvSpPr>
          <p:spPr>
            <a:xfrm>
              <a:off x="7221855" y="4168140"/>
              <a:ext cx="4436745" cy="1970722"/>
            </a:xfrm>
            <a:prstGeom prst="roundRect">
              <a:avLst>
                <a:gd name="adj" fmla="val 67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7231380" y="4301490"/>
              <a:ext cx="47625" cy="170402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458075" y="436626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41514" y="44005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对照着读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465695" y="478726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2286" y="4726781"/>
              <a:ext cx="32600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矩阵按列存放，C[i+j*n] 就是 C[i][j]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465695" y="510444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2286" y="5044916"/>
              <a:ext cx="342290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循环结构相同，AVX 版把 double 换成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__m256d，把 + 和 * 换成并行的 add、mul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465695" y="569404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2286" y="5633561"/>
              <a:ext cx="21861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AVX 版要求 n 是 4 的倍数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828297" cy="909257"/>
            <a:chOff x="520446" y="342900"/>
            <a:chExt cx="982829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浮点指令与并行加速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82829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dgemm 最内层循环的 x86 汇编：标量 sd 指令换成打包 pd 指令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ode-1"/>
          <p:cNvGrpSpPr/>
          <p:nvPr/>
        </p:nvGrpSpPr>
        <p:grpSpPr>
          <a:xfrm>
            <a:off x="533400" y="1524000"/>
            <a:ext cx="5410200" cy="2647950"/>
            <a:chOff x="533400" y="1524000"/>
            <a:chExt cx="5410200" cy="26479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647950"/>
            </a:xfrm>
            <a:prstGeom prst="roundRect">
              <a:avLst>
                <a:gd name="adj" fmla="val 359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未优化（原课件）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1899285"/>
              <a:ext cx="5372100" cy="17811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2434590"/>
              <a:ext cx="5372100" cy="17811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52450" y="2791778"/>
              <a:ext cx="5372100" cy="17811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3327082"/>
              <a:ext cx="5372100" cy="17811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1721" y="1936242"/>
              <a:ext cx="3140735" cy="21529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02"/>
                </a:lnSpc>
              </a:pPr>
              <a:r>
                <a:rPr lang="zh-CN" sz="99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vmovsd (%r10),%xmm0      # 取 C 的 1 个元素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mov    %rsi,%rcx         # %rcx = %rsi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xor    %eax,%eax         # %eax = 0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vmovsd (%rcx),%xmm1      # 取 B 的 1 个元素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add    %r9,%rcx          # %rcx += %r9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vmulsd (%r8,%rax,8),%xmm1,%xmm1  # 乘 A 的元素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add    $0x1,%rax         # %rax += 1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cmp    %eax,%edi         # 比较 %edi 与 %eax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vaddsd %xmm1,%xmm0,%xmm0 # %xmm0 += %xmm1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jg     30 &lt;dgemm+0x30&gt;   # %edi &gt; %eax 则跳回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add    $0x1,%r11d        # %r11 += 1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vmovsd %xmm0,(%r10)      # 存回 C 的元素</a:t>
              </a:r>
            </a:p>
          </p:txBody>
        </p:sp>
      </p:grpSp>
      <p:grpSp>
        <p:nvGrpSpPr>
          <p:cNvPr id="21" name="c1-callout-2"/>
          <p:cNvGrpSpPr/>
          <p:nvPr/>
        </p:nvGrpSpPr>
        <p:grpSpPr>
          <a:xfrm>
            <a:off x="533400" y="4342448"/>
            <a:ext cx="5410200" cy="729615"/>
            <a:chOff x="533400" y="4342448"/>
            <a:chExt cx="5410200" cy="729615"/>
          </a:xfrm>
        </p:grpSpPr>
        <p:sp>
          <p:nvSpPr>
            <p:cNvPr id="15" name="Rectangle 15"/>
            <p:cNvSpPr/>
            <p:nvPr/>
          </p:nvSpPr>
          <p:spPr>
            <a:xfrm>
              <a:off x="533400" y="4342448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4607243"/>
              <a:ext cx="200026" cy="200026"/>
              <a:chOff x="738188" y="4607243"/>
              <a:chExt cx="200026" cy="20002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38188" y="460724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38200" y="46739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27088" y="470725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892" y="4488180"/>
              <a:ext cx="443712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sd = scalar double：每条运算指令只处理 1 个双精度数，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内层循环每次给 C[i][j] 累加一项。</a:t>
              </a:r>
            </a:p>
          </p:txBody>
        </p:sp>
      </p:grpSp>
      <p:grpSp>
        <p:nvGrpSpPr>
          <p:cNvPr id="29" name="c2-code-1"/>
          <p:cNvGrpSpPr/>
          <p:nvPr/>
        </p:nvGrpSpPr>
        <p:grpSpPr>
          <a:xfrm>
            <a:off x="6248400" y="1524000"/>
            <a:ext cx="5410200" cy="2647950"/>
            <a:chOff x="6248400" y="1524000"/>
            <a:chExt cx="5410200" cy="2647950"/>
          </a:xfrm>
        </p:grpSpPr>
        <p:sp>
          <p:nvSpPr>
            <p:cNvPr id="22" name="Rectangle 22"/>
            <p:cNvSpPr/>
            <p:nvPr/>
          </p:nvSpPr>
          <p:spPr>
            <a:xfrm>
              <a:off x="6248400" y="1524000"/>
              <a:ext cx="5410200" cy="2647950"/>
            </a:xfrm>
            <a:prstGeom prst="roundRect">
              <a:avLst>
                <a:gd name="adj" fmla="val 359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76797" y="1675924"/>
              <a:ext cx="12188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AVX 优化（原课件）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267450" y="1899285"/>
              <a:ext cx="5372100" cy="17811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67450" y="2434590"/>
              <a:ext cx="5372100" cy="17811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67450" y="2791778"/>
              <a:ext cx="5372100" cy="17811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67450" y="3327082"/>
              <a:ext cx="5372100" cy="17811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76721" y="1936242"/>
              <a:ext cx="3436201" cy="21529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02"/>
                </a:lnSpc>
              </a:pPr>
              <a:r>
                <a:rPr lang="zh-CN" sz="99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vmovapd (%r11),%ymm0     # 取 C 的 4 个元素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mov    %rbx,%rcx         # %rcx = %rbx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xor    %eax,%eax         # %eax = 0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vbroadcastsd (%rax,%r8,1),%ymm1  # B 元素复制 4 份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add    $0x8,%rax         # %rax += 8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vmulpd (%rcx),%ymm1,%ymm1  # 与 A 的 4 个元素并行乘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add    %r9,%rcx          # %rcx += %r9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cmp    %r10,%rax         # 比较 %rax 与 %r10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vaddpd %ymm1,%ymm0,%ymm0 # 4 对数并行相加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jne    50 &lt;dgemm+0x50&gt;   # %r10 != %rax 则跳回</a:t>
              </a:r>
              <a:br/>
              <a:r>
                <a:rPr lang="en-US" sz="9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add    $0x1,%esi         # %esi += 1</a:t>
              </a:r>
              <a:br/>
              <a:r>
                <a:rPr lang="zh-CN" sz="99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vmovapd %ymm0,(%r11)     # 存回 C 的 4 个元素</a:t>
              </a:r>
            </a:p>
          </p:txBody>
        </p:sp>
      </p:grpSp>
      <p:grpSp>
        <p:nvGrpSpPr>
          <p:cNvPr id="35" name="c2-callout-2"/>
          <p:cNvGrpSpPr/>
          <p:nvPr/>
        </p:nvGrpSpPr>
        <p:grpSpPr>
          <a:xfrm>
            <a:off x="6248400" y="4342448"/>
            <a:ext cx="5410200" cy="729615"/>
            <a:chOff x="6248400" y="4342448"/>
            <a:chExt cx="5410200" cy="729615"/>
          </a:xfrm>
        </p:grpSpPr>
        <p:sp>
          <p:nvSpPr>
            <p:cNvPr id="30" name="Rectangle 30"/>
            <p:cNvSpPr/>
            <p:nvPr/>
          </p:nvSpPr>
          <p:spPr>
            <a:xfrm>
              <a:off x="6248400" y="4342448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453188" y="4607245"/>
              <a:ext cx="200023" cy="200023"/>
              <a:chOff x="6453188" y="4607245"/>
              <a:chExt cx="200023" cy="200023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6453188" y="460724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586538" y="46739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6755892" y="4488180"/>
              <a:ext cx="436854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pd = packed double：每条运算指令同时处理 YMM 中的 4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个双精度数，内层循环每次给 4 个 C 元素各累加一项。</a:t>
              </a:r>
            </a:p>
          </p:txBody>
        </p:sp>
      </p:grpSp>
      <p:grpSp>
        <p:nvGrpSpPr>
          <p:cNvPr id="42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36" name="Rectangle 36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5897880"/>
              <a:ext cx="200026" cy="200026"/>
              <a:chOff x="738188" y="5897880"/>
              <a:chExt cx="200026" cy="20002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58978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38200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27088" y="59978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892" y="5779770"/>
              <a:ext cx="9966389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更正：AT&amp;T 语法 cmp %eax,%edi 按 %edi − %eax 置标志，jg 在 %edi &gt; %eax 时跳转，原课件注释写成 %eax &gt; %edi；AVX 版注释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jump if not %r10 != %rax 应为 %r10 != %rax 时跳转。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377271" cy="909257"/>
            <a:chOff x="520446" y="342900"/>
            <a:chExt cx="73772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浮点指令与并行加速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3772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谬误：右移 i 位等于除以 2ⁱ？只对无符号数成立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1528762"/>
            <a:chOff x="533400" y="1524000"/>
            <a:chExt cx="5410200" cy="15287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528762"/>
            </a:xfrm>
            <a:prstGeom prst="roundRect">
              <a:avLst>
                <a:gd name="adj" fmla="val 87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6206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9660" y="174355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左移与右移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66762" y="211074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2782" y="2054542"/>
              <a:ext cx="33940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左移 i 位与乘以 2ⁱ 结果相同（不溢出时）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6762" y="241173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2782" y="2355532"/>
              <a:ext cx="33395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右移 i 位等于除以 2ⁱ，只对无符号数成立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6762" y="271176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2782" y="2655570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有符号数要用算术右移，高位补入符号位，低位直接舍掉</a:t>
              </a:r>
            </a:p>
          </p:txBody>
        </p:sp>
      </p:grpSp>
      <p:grpSp>
        <p:nvGrpSpPr>
          <p:cNvPr id="69" name="c1-cells-2"/>
          <p:cNvGrpSpPr/>
          <p:nvPr/>
        </p:nvGrpSpPr>
        <p:grpSpPr>
          <a:xfrm>
            <a:off x="528066" y="3223260"/>
            <a:ext cx="3305747" cy="1407796"/>
            <a:chOff x="528066" y="3223260"/>
            <a:chExt cx="3305747" cy="1407796"/>
          </a:xfrm>
        </p:grpSpPr>
        <p:sp>
          <p:nvSpPr>
            <p:cNvPr id="18" name="TextBox 18"/>
            <p:cNvSpPr txBox="1"/>
            <p:nvPr/>
          </p:nvSpPr>
          <p:spPr>
            <a:xfrm>
              <a:off x="528066" y="3342323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−5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017270" y="3223260"/>
              <a:ext cx="35242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46381" y="33423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368742" y="3223260"/>
              <a:ext cx="35242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498806" y="33423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721168" y="3223260"/>
              <a:ext cx="35242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851231" y="33423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072640" y="3223260"/>
              <a:ext cx="35242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202703" y="33423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425065" y="3223260"/>
              <a:ext cx="35242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555128" y="33423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777490" y="3223260"/>
              <a:ext cx="35242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906601" y="33423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128962" y="3223260"/>
              <a:ext cx="35242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59026" y="33423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481388" y="3223260"/>
              <a:ext cx="35242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610498" y="33423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28066" y="3861435"/>
              <a:ext cx="300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&gt;&gt; 2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017270" y="3742372"/>
              <a:ext cx="352425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146381" y="386143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368742" y="3742372"/>
              <a:ext cx="352425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498806" y="386143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721168" y="3742372"/>
              <a:ext cx="35242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851231" y="386143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2072640" y="3742372"/>
              <a:ext cx="35242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202703" y="386143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2425065" y="3742372"/>
              <a:ext cx="35242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2555128" y="386143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2777490" y="3742372"/>
              <a:ext cx="35242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2906601" y="386143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3128962" y="3742372"/>
              <a:ext cx="35242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259026" y="386143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3481388" y="3742372"/>
              <a:ext cx="35242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610498" y="386143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28066" y="4381500"/>
              <a:ext cx="3817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&gt;&gt;&gt; 2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17270" y="4262438"/>
              <a:ext cx="352425" cy="3686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146381" y="43815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368742" y="4262438"/>
              <a:ext cx="352425" cy="3686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498806" y="43815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1721168" y="4262438"/>
              <a:ext cx="35242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851231" y="43815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2072640" y="4262438"/>
              <a:ext cx="35242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2202703" y="43815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2425065" y="4262438"/>
              <a:ext cx="35242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2555128" y="43815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2777490" y="4262438"/>
              <a:ext cx="35242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2906601" y="43815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3128962" y="4262438"/>
              <a:ext cx="35242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3259026" y="43815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3481388" y="4262438"/>
              <a:ext cx="352425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3610498" y="43815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</p:grpSp>
      <p:grpSp>
        <p:nvGrpSpPr>
          <p:cNvPr id="71" name="c1-text-3"/>
          <p:cNvGrpSpPr/>
          <p:nvPr/>
        </p:nvGrpSpPr>
        <p:grpSpPr>
          <a:xfrm>
            <a:off x="527685" y="4819174"/>
            <a:ext cx="4640204" cy="220028"/>
            <a:chOff x="527685" y="4819174"/>
            <a:chExt cx="4640204" cy="220028"/>
          </a:xfrm>
        </p:grpSpPr>
        <p:sp>
          <p:nvSpPr>
            <p:cNvPr id="70" name="TextBox 70"/>
            <p:cNvSpPr txBox="1"/>
            <p:nvPr/>
          </p:nvSpPr>
          <p:spPr>
            <a:xfrm>
              <a:off x="527685" y="4819174"/>
              <a:ext cx="4640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高亮的两位是右移时补入的位：算术右移补符号位 1，逻辑右移补 0。</a:t>
              </a:r>
            </a:p>
          </p:txBody>
        </p:sp>
      </p:grpSp>
      <p:grpSp>
        <p:nvGrpSpPr>
          <p:cNvPr id="77" name="c1-card-4"/>
          <p:cNvGrpSpPr/>
          <p:nvPr/>
        </p:nvGrpSpPr>
        <p:grpSpPr>
          <a:xfrm>
            <a:off x="533400" y="5165408"/>
            <a:ext cx="5410200" cy="1185862"/>
            <a:chOff x="533400" y="5165408"/>
            <a:chExt cx="5410200" cy="1185862"/>
          </a:xfrm>
        </p:grpSpPr>
        <p:sp>
          <p:nvSpPr>
            <p:cNvPr id="72" name="Rectangle 72"/>
            <p:cNvSpPr/>
            <p:nvPr/>
          </p:nvSpPr>
          <p:spPr>
            <a:xfrm>
              <a:off x="533400" y="5165408"/>
              <a:ext cx="5410200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542925" y="5298758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758190" y="5352098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35609" y="538495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补码移位回顾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51332" y="5695950"/>
              <a:ext cx="457428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15 页负数补码右移 1 1011 → 1 1101（−5 → −3）也是向下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取整，与这里一致。</a:t>
              </a:r>
            </a:p>
          </p:txBody>
        </p:sp>
      </p:grpSp>
      <p:grpSp>
        <p:nvGrpSpPr>
          <p:cNvPr id="99" name="c2-table-1"/>
          <p:cNvGrpSpPr/>
          <p:nvPr/>
        </p:nvGrpSpPr>
        <p:grpSpPr>
          <a:xfrm>
            <a:off x="6248400" y="1524000"/>
            <a:ext cx="5410200" cy="1800225"/>
            <a:chOff x="6248400" y="1524000"/>
            <a:chExt cx="5410200" cy="1800225"/>
          </a:xfrm>
        </p:grpSpPr>
        <p:sp>
          <p:nvSpPr>
            <p:cNvPr id="78" name="Rectangle 78"/>
            <p:cNvSpPr/>
            <p:nvPr/>
          </p:nvSpPr>
          <p:spPr>
            <a:xfrm>
              <a:off x="6248400" y="1524000"/>
              <a:ext cx="541020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718581" y="1645444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运算（8 位）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31028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09526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345555" y="2045494"/>
              <a:ext cx="14464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−5 &gt;&gt; 2（算术右移）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8097202" y="1933575"/>
              <a:ext cx="738188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8378132" y="204549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−2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942070" y="2045494"/>
              <a:ext cx="11799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−1.25 向 −∞ 取整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6248400" y="23193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6248400" y="2324100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345555" y="2445544"/>
              <a:ext cx="15334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−5 &gt;&gt;&gt; 2（逻辑右移）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8336669" y="244554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+62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942070" y="2445544"/>
              <a:ext cx="16624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按无符号数 251 ÷ 4 取整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6248400" y="27193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6345555" y="2845594"/>
              <a:ext cx="1454099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−5 / 4（C、Java 整数</a:t>
              </a:r>
              <a:br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除法）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8097202" y="2733675"/>
              <a:ext cx="738188" cy="58102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8378132" y="29456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8942070" y="2945606"/>
              <a:ext cx="10970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−1.25 向 0 取整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6248400" y="1524000"/>
              <a:ext cx="5410200" cy="18002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7" name="Rectangle 97"/>
            <p:cNvSpPr/>
            <p:nvPr/>
          </p:nvSpPr>
          <p:spPr>
            <a:xfrm>
              <a:off x="8082915" y="1524000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8" name="Rectangle 98"/>
            <p:cNvSpPr/>
            <p:nvPr/>
          </p:nvSpPr>
          <p:spPr>
            <a:xfrm>
              <a:off x="8840152" y="1524000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06" name="c2-callout-2"/>
          <p:cNvGrpSpPr/>
          <p:nvPr/>
        </p:nvGrpSpPr>
        <p:grpSpPr>
          <a:xfrm>
            <a:off x="6248400" y="3493770"/>
            <a:ext cx="5410200" cy="481012"/>
            <a:chOff x="6248400" y="3493770"/>
            <a:chExt cx="5410200" cy="481012"/>
          </a:xfrm>
        </p:grpSpPr>
        <p:sp>
          <p:nvSpPr>
            <p:cNvPr id="100" name="Rectangle 100"/>
            <p:cNvSpPr/>
            <p:nvPr/>
          </p:nvSpPr>
          <p:spPr>
            <a:xfrm>
              <a:off x="6248400" y="3493770"/>
              <a:ext cx="5410200" cy="481012"/>
            </a:xfrm>
            <a:prstGeom prst="roundRect">
              <a:avLst>
                <a:gd name="adj" fmla="val 23762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04" name="Group 104"/>
            <p:cNvGrpSpPr/>
            <p:nvPr/>
          </p:nvGrpSpPr>
          <p:grpSpPr>
            <a:xfrm>
              <a:off x="6441129" y="3631048"/>
              <a:ext cx="224134" cy="192560"/>
              <a:chOff x="6441129" y="3631048"/>
              <a:chExt cx="224134" cy="192560"/>
            </a:xfrm>
          </p:grpSpPr>
          <p:sp>
            <p:nvSpPr>
              <p:cNvPr id="101" name="Freeform 101"/>
              <p:cNvSpPr/>
              <p:nvPr/>
            </p:nvSpPr>
            <p:spPr>
              <a:xfrm>
                <a:off x="6553200" y="370141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02" name="Freeform 102"/>
              <p:cNvSpPr/>
              <p:nvPr/>
            </p:nvSpPr>
            <p:spPr>
              <a:xfrm>
                <a:off x="6441129" y="363104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03" name="Freeform 103"/>
              <p:cNvSpPr/>
              <p:nvPr/>
            </p:nvSpPr>
            <p:spPr>
              <a:xfrm>
                <a:off x="6553200" y="37792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05" name="TextBox 105"/>
            <p:cNvSpPr txBox="1"/>
            <p:nvPr/>
          </p:nvSpPr>
          <p:spPr>
            <a:xfrm>
              <a:off x="6755892" y="3640455"/>
              <a:ext cx="45480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所以编译器不能把有符号整数的 x / 4 直接换成 x &gt;&gt; 2。</a:t>
              </a:r>
            </a:p>
          </p:txBody>
        </p:sp>
      </p:grpSp>
      <p:grpSp>
        <p:nvGrpSpPr>
          <p:cNvPr id="117" name="c2-card-3"/>
          <p:cNvGrpSpPr/>
          <p:nvPr/>
        </p:nvGrpSpPr>
        <p:grpSpPr>
          <a:xfrm>
            <a:off x="6248400" y="4145280"/>
            <a:ext cx="5410200" cy="2205990"/>
            <a:chOff x="6248400" y="4145280"/>
            <a:chExt cx="5410200" cy="2205990"/>
          </a:xfrm>
        </p:grpSpPr>
        <p:sp>
          <p:nvSpPr>
            <p:cNvPr id="107" name="Rectangle 107"/>
            <p:cNvSpPr/>
            <p:nvPr/>
          </p:nvSpPr>
          <p:spPr>
            <a:xfrm>
              <a:off x="6248400" y="4145280"/>
              <a:ext cx="5410200" cy="2205990"/>
            </a:xfrm>
            <a:prstGeom prst="roundRect">
              <a:avLst>
                <a:gd name="adj" fmla="val 60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6257925" y="4278630"/>
              <a:ext cx="47625" cy="193929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6473190" y="4331970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6550609" y="4364831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编译器的做法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7536942" y="4366260"/>
              <a:ext cx="19346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负数先加 2ⁱ − 1 再右移</a:t>
              </a:r>
            </a:p>
          </p:txBody>
        </p:sp>
        <p:sp>
          <p:nvSpPr>
            <p:cNvPr id="112" name="Ellipse 112"/>
            <p:cNvSpPr/>
            <p:nvPr/>
          </p:nvSpPr>
          <p:spPr>
            <a:xfrm>
              <a:off x="6481762" y="474916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6637782" y="4692968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≥ 0：x / 4 = x &gt;&gt; 2</a:t>
              </a:r>
            </a:p>
          </p:txBody>
        </p:sp>
        <p:sp>
          <p:nvSpPr>
            <p:cNvPr id="114" name="Ellipse 114"/>
            <p:cNvSpPr/>
            <p:nvPr/>
          </p:nvSpPr>
          <p:spPr>
            <a:xfrm>
              <a:off x="6481762" y="504920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6637782" y="4993005"/>
              <a:ext cx="450570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&lt; 0：x / 4 = (x + 3) &gt;&gt; 2，例如 (−5 + 3) &gt;&gt; 2 = −2 &gt;&gt; 2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−1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6467475" y="5546884"/>
              <a:ext cx="471957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 位 int 可以不用分支，写成 (x + ((x &gt;&gt; 31) &amp; 3)) &gt;&gt; 2：x 为负时 x &gt;&gt;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 全为 1，与 3 相与得 3。</a:t>
              </a:r>
            </a:p>
          </p:txBody>
        </p:sp>
      </p:grpSp>
      <p:grpSp>
        <p:nvGrpSpPr>
          <p:cNvPr id="12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8" name="TextBox 118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浮点指令与并行加速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位串本身没有含义；浮点精度在日常计算中同样重要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1651635"/>
            <a:chOff x="533400" y="1524000"/>
            <a:chExt cx="5410200" cy="16516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51635"/>
            </a:xfrm>
            <a:prstGeom prst="roundRect">
              <a:avLst>
                <a:gd name="adj" fmla="val 807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129254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96651" y="1769269"/>
              <a:ext cx="11841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The BIG Picture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48665" y="217360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2110740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位串没有固有的含义，由操作它的指令决定怎样解释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48665" y="250888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244602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计算机中的数范围和精度都有限，编程时要处理这些细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节</a:t>
              </a:r>
            </a:p>
          </p:txBody>
        </p:sp>
      </p:grpSp>
      <p:grpSp>
        <p:nvGrpSpPr>
          <p:cNvPr id="29" name="c1-table-2"/>
          <p:cNvGrpSpPr/>
          <p:nvPr/>
        </p:nvGrpSpPr>
        <p:grpSpPr>
          <a:xfrm>
            <a:off x="533400" y="3366135"/>
            <a:ext cx="5410200" cy="1795462"/>
            <a:chOff x="533400" y="3366135"/>
            <a:chExt cx="5410200" cy="1795462"/>
          </a:xfrm>
        </p:grpSpPr>
        <p:sp>
          <p:nvSpPr>
            <p:cNvPr id="15" name="Rectangle 15"/>
            <p:cNvSpPr/>
            <p:nvPr/>
          </p:nvSpPr>
          <p:spPr>
            <a:xfrm>
              <a:off x="533400" y="3366135"/>
              <a:ext cx="5410200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85659" y="3501866"/>
              <a:ext cx="2271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同一个 32 位串 0xBF400000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75201" y="350186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解释结果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1223" y="395049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按单精度浮点数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16833" y="3950494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−0.75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2586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4263390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1223" y="439912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按无符号整数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616833" y="4399121"/>
              <a:ext cx="11157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3 208 642 560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70820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484774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按有符号整数（补码）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16833" y="4847749"/>
              <a:ext cx="12105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−1 086 324 736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366135"/>
              <a:ext cx="5410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504248" y="336613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6" name="c1-callout-3"/>
          <p:cNvGrpSpPr/>
          <p:nvPr/>
        </p:nvGrpSpPr>
        <p:grpSpPr>
          <a:xfrm>
            <a:off x="533400" y="5352098"/>
            <a:ext cx="5410200" cy="782955"/>
            <a:chOff x="533400" y="5352098"/>
            <a:chExt cx="5410200" cy="782955"/>
          </a:xfrm>
        </p:grpSpPr>
        <p:sp>
          <p:nvSpPr>
            <p:cNvPr id="30" name="Rectangle 30"/>
            <p:cNvSpPr/>
            <p:nvPr/>
          </p:nvSpPr>
          <p:spPr>
            <a:xfrm>
              <a:off x="533400" y="5352098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5643563"/>
              <a:ext cx="200026" cy="200025"/>
              <a:chOff x="738188" y="5643563"/>
              <a:chExt cx="200026" cy="200025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38188" y="564356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77926" y="568801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12642" y="579913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0130" y="5500688"/>
              <a:ext cx="45300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编程时留意：C、Java 的整数加法溢出不报错；浮点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数不宜直接用 == 比较，应判断两数之差是否足够小。</a:t>
              </a:r>
            </a:p>
          </p:txBody>
        </p:sp>
      </p:grpSp>
      <p:grpSp>
        <p:nvGrpSpPr>
          <p:cNvPr id="48" name="c2-card-1"/>
          <p:cNvGrpSpPr/>
          <p:nvPr/>
        </p:nvGrpSpPr>
        <p:grpSpPr>
          <a:xfrm>
            <a:off x="6248400" y="1524000"/>
            <a:ext cx="5410200" cy="3140392"/>
            <a:chOff x="6248400" y="1524000"/>
            <a:chExt cx="5410200" cy="3140392"/>
          </a:xfrm>
        </p:grpSpPr>
        <p:sp>
          <p:nvSpPr>
            <p:cNvPr id="37" name="Rectangle 37"/>
            <p:cNvSpPr/>
            <p:nvPr/>
          </p:nvSpPr>
          <p:spPr>
            <a:xfrm>
              <a:off x="6248400" y="1524000"/>
              <a:ext cx="5410200" cy="3140392"/>
            </a:xfrm>
            <a:prstGeom prst="roundRect">
              <a:avLst>
                <a:gd name="adj" fmla="val 42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57925" y="1657350"/>
              <a:ext cx="47625" cy="287369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496050" y="173355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69507" y="17692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浮点数精确度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501765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59880" y="2110740"/>
              <a:ext cx="4501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科学计算中很重要；日常生活里也有人在意，比如"我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的余额差了 0.0002 美分"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501765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59880" y="2731770"/>
              <a:ext cx="45491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1994 年发现 Pentium 浮点除法（FDIV）的 bug：部分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除法结果不准，例如 4195835 ÷ 3145727 应为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1.333820449…，有缺陷的芯片算出 1.333739068…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501765" y="37014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659880" y="3638550"/>
              <a:ext cx="4501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用户仍然期望计算精确，Intel 最终为更换处理器付出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4.75 亿美元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89573" y="4256246"/>
              <a:ext cx="33520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参见 Colwell 的 The Pentium Chronicles。</a:t>
              </a:r>
            </a:p>
          </p:txBody>
        </p:sp>
      </p:grpSp>
      <p:grpSp>
        <p:nvGrpSpPr>
          <p:cNvPr id="55" name="c2-callout-2"/>
          <p:cNvGrpSpPr/>
          <p:nvPr/>
        </p:nvGrpSpPr>
        <p:grpSpPr>
          <a:xfrm>
            <a:off x="6248400" y="4854892"/>
            <a:ext cx="5410200" cy="782955"/>
            <a:chOff x="6248400" y="4854892"/>
            <a:chExt cx="5410200" cy="782955"/>
          </a:xfrm>
        </p:grpSpPr>
        <p:sp>
          <p:nvSpPr>
            <p:cNvPr id="49" name="Rectangle 49"/>
            <p:cNvSpPr/>
            <p:nvPr/>
          </p:nvSpPr>
          <p:spPr>
            <a:xfrm>
              <a:off x="6248400" y="4854892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453188" y="5146358"/>
              <a:ext cx="200026" cy="200025"/>
              <a:chOff x="6453188" y="5146358"/>
              <a:chExt cx="200026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453188" y="51463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492926" y="51908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527642" y="53019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755130" y="5003482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金额一类要求精确到分的计算，常用整数（以分为单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位）或十进制定点数，避免二进制浮点的舍入误差。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浮点指令与并行加速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自测题（一）：整数运算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937385"/>
            <a:chOff x="533400" y="1524000"/>
            <a:chExt cx="5410200" cy="19373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4672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位补码计算 −9 + (−8)，写出和，并用 Cf ⊕ C 判断是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否溢出。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731770"/>
              <a:ext cx="46920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0111 + 1 1000 = 0 1111（最高位进位丢弃）。Cf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1，C = 0，Cf ⊕ C = 1，负溢：−17 超出 −16 ～ +15。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651885"/>
            <a:ext cx="5410200" cy="2223135"/>
            <a:chOff x="533400" y="3651885"/>
            <a:chExt cx="5410200" cy="2223135"/>
          </a:xfrm>
        </p:grpSpPr>
        <p:sp>
          <p:nvSpPr>
            <p:cNvPr id="13" name="Rectangle 13"/>
            <p:cNvSpPr/>
            <p:nvPr/>
          </p:nvSpPr>
          <p:spPr>
            <a:xfrm>
              <a:off x="533400" y="3651885"/>
              <a:ext cx="5410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4238625"/>
              <a:ext cx="461200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用第一版除法器算 6 ÷ 4（0000 0110 ÷ 0100），商和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余数是多少？做了几次恢复？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4859655"/>
              <a:ext cx="45491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 4 次试减都得负数，恢复 4 次；第 5 次 0110 −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0100 = 0010 ≥ 0，商位为 1。商 0001 = 1，余数 0010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2。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2223135"/>
            <a:chOff x="6248400" y="1524000"/>
            <a:chExt cx="5410200" cy="2223135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57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45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50330" y="2110740"/>
              <a:ext cx="462343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原码一位乘计算 0.111 × 0.101，写出每步右移后的 A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 C。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50330" y="2731770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步 A = 00.011、C = 1.10；第 2 步 A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00.001、C = 11.1；第 3 步 A = 00.100、C = 011。积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0.100011（7 × 5 = 35）。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3937635"/>
            <a:ext cx="5410200" cy="1937385"/>
            <a:chOff x="6248400" y="3937635"/>
            <a:chExt cx="5410200" cy="1937385"/>
          </a:xfrm>
        </p:grpSpPr>
        <p:sp>
          <p:nvSpPr>
            <p:cNvPr id="25" name="Rectangle 25"/>
            <p:cNvSpPr/>
            <p:nvPr/>
          </p:nvSpPr>
          <p:spPr>
            <a:xfrm>
              <a:off x="6248400" y="3937635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57950" y="41471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45437" y="41829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50330" y="4524375"/>
              <a:ext cx="47733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int 变量 x = −9，x &gt;&gt; 3 和 C 语言 x / 8 各是多少？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50330" y="4859655"/>
              <a:ext cx="46729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算术右移向 −∞ 取整得 −2；C 整数除法向 0 取整得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−1，所以不能把 x / 8 直接编译成右移，要先加 7：(−9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+ 7) &gt;&gt; 3 = −1。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浮点指令与并行加速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自测题（二）：浮点数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937385"/>
            <a:chOff x="533400" y="1524000"/>
            <a:chExt cx="5410200" cy="19373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937385"/>
            </a:xfrm>
            <a:prstGeom prst="roundRect">
              <a:avLst>
                <a:gd name="adj" fmla="val 688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0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5330" y="2110740"/>
              <a:ext cx="48792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+10.25 编码为 IEEE 754 单精度，写出十六进制。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446020"/>
              <a:ext cx="46920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10.25 = 1010.01₂ = 1.01001₂ × 2³。S = 0，E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+ 127 = 130 = 1000 0010，尾数 0100 1000…，合起来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0x41240000。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651885"/>
            <a:ext cx="5410200" cy="2508885"/>
            <a:chOff x="533400" y="3651885"/>
            <a:chExt cx="5410200" cy="2508885"/>
          </a:xfrm>
        </p:grpSpPr>
        <p:sp>
          <p:nvSpPr>
            <p:cNvPr id="13" name="Rectangle 13"/>
            <p:cNvSpPr/>
            <p:nvPr/>
          </p:nvSpPr>
          <p:spPr>
            <a:xfrm>
              <a:off x="533400" y="3651885"/>
              <a:ext cx="5410200" cy="2508885"/>
            </a:xfrm>
            <a:prstGeom prst="roundRect">
              <a:avLst>
                <a:gd name="adj" fmla="val 531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42950" y="386143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437" y="389715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35330" y="4238625"/>
              <a:ext cx="441007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按四步计算 1.100₂ × 2¹ + 1.100₂ × 2⁰（4 位有效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位）。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35330" y="4859655"/>
              <a:ext cx="41109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对阶：1.100₂ × 2⁰ = 0.110₂ × 2¹；相加得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10.010₂ × 2¹；规格化为 1.0010₂ × 2²；舍入得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1.001₂ × 2² = 4.5。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248400" y="1524000"/>
            <a:ext cx="5410200" cy="2223135"/>
            <a:chOff x="6248400" y="1524000"/>
            <a:chExt cx="5410200" cy="2223135"/>
          </a:xfrm>
        </p:grpSpPr>
        <p:sp>
          <p:nvSpPr>
            <p:cNvPr id="19" name="Rectangle 19"/>
            <p:cNvSpPr/>
            <p:nvPr/>
          </p:nvSpPr>
          <p:spPr>
            <a:xfrm>
              <a:off x="6248400" y="1524000"/>
              <a:ext cx="5410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457950" y="1733550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45437" y="1769269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50330" y="2110740"/>
              <a:ext cx="37683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单精度编码 0x3F200000 的真值是多少？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50330" y="2446020"/>
              <a:ext cx="47015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写成二进制 0011 1111 0010 0000 …，拆开得 S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0，阶码 0111 1110 = 126，尾数 0100 0…0。指数 126 −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127 = −1，有效位 1.01₂ = 1.25，真值 1.25 × 2⁻¹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0.625。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248400" y="3937635"/>
            <a:ext cx="5410200" cy="2223135"/>
            <a:chOff x="6248400" y="3937635"/>
            <a:chExt cx="5410200" cy="2223135"/>
          </a:xfrm>
        </p:grpSpPr>
        <p:sp>
          <p:nvSpPr>
            <p:cNvPr id="25" name="Rectangle 25"/>
            <p:cNvSpPr/>
            <p:nvPr/>
          </p:nvSpPr>
          <p:spPr>
            <a:xfrm>
              <a:off x="6248400" y="3937635"/>
              <a:ext cx="5410200" cy="2223135"/>
            </a:xfrm>
            <a:prstGeom prst="roundRect">
              <a:avLst>
                <a:gd name="adj" fmla="val 5998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57950" y="4147185"/>
              <a:ext cx="403860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45437" y="4182904"/>
              <a:ext cx="228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50330" y="4524375"/>
              <a:ext cx="452008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float 中计算 (1.0e8 + 1.0) − 1.0e8，结果是多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少？为什么？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50330" y="5145405"/>
              <a:ext cx="48063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结果为 0。2²⁶ &lt; 1.0e8 &lt; 2²⁷，指数为 26，而尾数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 23 位，相邻两个单精度数相差 2²⁶⁻²³ = 8。加 1 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被舍入回 1.0e8，与结合律一页的现象相同。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1" name="TextBox 31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12339" cy="909257"/>
            <a:chOff x="520446" y="342900"/>
            <a:chExt cx="271233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第3章 算术运算 · 浮点指令与并行加速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table-1"/>
          <p:cNvGrpSpPr/>
          <p:nvPr/>
        </p:nvGrpSpPr>
        <p:grpSpPr>
          <a:xfrm>
            <a:off x="533400" y="1524000"/>
            <a:ext cx="6276022" cy="3600450"/>
            <a:chOff x="533400" y="1524000"/>
            <a:chExt cx="6276022" cy="36004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174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07927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0555" y="204549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加减与溢出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60220" y="2045494"/>
              <a:ext cx="47642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补码相加，减法取反加 1；溢出 V = Cf ⊕ C，双符号位时 V = Sf1 ⊕ Sf2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1933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24100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0555" y="24455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移位与舍入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60220" y="2445544"/>
              <a:ext cx="3584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补码数符不变，负数右移补 1；0 舍 1 入或末位恒置 1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1938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0555" y="28455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60220" y="2845594"/>
              <a:ext cx="3758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看乘数最低位决定加被乘数或加 0，再右移，n 位做 n 步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11943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124200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0555" y="32456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除法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60220" y="3245644"/>
              <a:ext cx="3924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恢复余数法：先减，结果为负就加回并商 0；32 位做 33 次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51948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0555" y="37457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浮点表示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60220" y="3645694"/>
              <a:ext cx="462000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 = (−1)^S × 1.M × 2^(E − Bias)，Bias 为 127 / 1023；E 全 0、全 1 为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特殊值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11956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124325"/>
              <a:ext cx="6276022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0555" y="43457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浮点运算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760220" y="4245769"/>
              <a:ext cx="474091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加法：对阶、相加、规格化、舍入；乘法：阶码相加（减 Bias）、有效位相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乘、规格化、舍入、定符号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71963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0555" y="48458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并行与指令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760220" y="4845844"/>
              <a:ext cx="44804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MIPS 用 $f0～$f31；x86 从 x87 栈发展到 SSE2、AVX 的子字并行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524000"/>
              <a:ext cx="6276022" cy="36004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658302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1-text-2"/>
          <p:cNvGrpSpPr/>
          <p:nvPr/>
        </p:nvGrpSpPr>
        <p:grpSpPr>
          <a:xfrm>
            <a:off x="527685" y="5312569"/>
            <a:ext cx="5992622" cy="441008"/>
            <a:chOff x="527685" y="5312569"/>
            <a:chExt cx="5992622" cy="441008"/>
          </a:xfrm>
        </p:grpSpPr>
        <p:sp>
          <p:nvSpPr>
            <p:cNvPr id="36" name="TextBox 36"/>
            <p:cNvSpPr txBox="1"/>
            <p:nvPr/>
          </p:nvSpPr>
          <p:spPr>
            <a:xfrm>
              <a:off x="527685" y="5312569"/>
              <a:ext cx="5992622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3.9 结束语：MIPS 核心指令中最常用的 54 条覆盖 SPECINT 中 100%、SPECFP 中 97% 的执行指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令，其余指令很少使用。</a:t>
              </a:r>
            </a:p>
          </p:txBody>
        </p:sp>
      </p:grpSp>
      <p:grpSp>
        <p:nvGrpSpPr>
          <p:cNvPr id="52" name="c2-card-1"/>
          <p:cNvGrpSpPr/>
          <p:nvPr/>
        </p:nvGrpSpPr>
        <p:grpSpPr>
          <a:xfrm>
            <a:off x="7114222" y="1524000"/>
            <a:ext cx="4544378" cy="4186238"/>
            <a:chOff x="7114222" y="1524000"/>
            <a:chExt cx="4544378" cy="4186238"/>
          </a:xfrm>
        </p:grpSpPr>
        <p:sp>
          <p:nvSpPr>
            <p:cNvPr id="38" name="Rectangle 38"/>
            <p:cNvSpPr/>
            <p:nvPr/>
          </p:nvSpPr>
          <p:spPr>
            <a:xfrm>
              <a:off x="7114222" y="1524000"/>
              <a:ext cx="4544378" cy="4186238"/>
            </a:xfrm>
            <a:prstGeom prst="roundRect">
              <a:avLst>
                <a:gd name="adj" fmla="val 318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123748" y="1657350"/>
              <a:ext cx="47625" cy="39195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339012" y="1710690"/>
              <a:ext cx="170307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394029" y="1743551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本讲义对原课件的主要更正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7347585" y="211074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503604" y="2054542"/>
              <a:ext cx="30487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溢出例题两处和的计算（第 6、9 页）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347585" y="241173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503604" y="2355532"/>
              <a:ext cx="31941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addiu 指令名及其溢出含义（第 10 页）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347585" y="271176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503604" y="2655570"/>
              <a:ext cx="369989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双精度偏移 1023、127 偏移阶码的说法、非规格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化数指数 1 − Bias、−0.5 的尾数位数（第 33–37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页）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347585" y="352615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503604" y="3469958"/>
              <a:ext cx="351986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f2c 中 lwc1、矩阵乘法形参与注释（第 47–49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页）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7347585" y="408336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503604" y="4027170"/>
              <a:ext cx="370846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x87 指令名、SSE2 寄存器个数、jg 注释（第 52–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55 页）</a:t>
              </a:r>
            </a:p>
          </p:txBody>
        </p:sp>
      </p:grpSp>
      <p:grpSp>
        <p:nvGrpSpPr>
          <p:cNvPr id="58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3" name="Rectangle 53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0892" y="6028373"/>
              <a:ext cx="97253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复习时重点手算：补码加法与溢出判断、原码一位乘和恢复余数除法的寄存器表、IEEE 754 编码与解码、浮点加法四步。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计算机原理与体系结构 · 第3章 计算机的算术运算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coa_ch3">
  <a:themeElements>
    <a:clrScheme name="coa_ch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oa_ch3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a_ch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2026-09-17T07:24:25Z</dcterms:created>
  <dcterms:modified xsi:type="dcterms:W3CDTF">2026-09-17T07:24:25Z</dcterms:modified>
  <cp:category/>
  <cp:contentStatus/>
</cp:coreProperties>
</file>