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oa_ch4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oa_ch4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15eba432f3c4ac7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02f23c609488444.png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a84f254209da21a.png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420618" cy="3437763"/>
            <a:chOff x="666750" y="1619250"/>
            <a:chExt cx="342061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44411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8319" y="1718310"/>
              <a:ext cx="22390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计算机原理与体系结构 · 第4章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173431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从单周期数据通路到五段流水线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单周期数据通路与控制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五段流水线与时空图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三类冒险及其对策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分支预测与多发射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915548" cy="205359"/>
            <a:chOff x="680466" y="6192202"/>
            <a:chExt cx="4915548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9155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自学复习版｜据吉林大学《计算机原理与体系结构》第4章课件整理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agenda-1"/>
          <p:cNvGrpSpPr/>
          <p:nvPr/>
        </p:nvGrpSpPr>
        <p:grpSpPr>
          <a:xfrm>
            <a:off x="523113" y="1520666"/>
            <a:ext cx="6286310" cy="4735831"/>
            <a:chOff x="523113" y="1520666"/>
            <a:chExt cx="6286310" cy="4735831"/>
          </a:xfrm>
        </p:grpSpPr>
        <p:sp>
          <p:nvSpPr>
            <p:cNvPr id="7" name="TextBox 7"/>
            <p:cNvSpPr txBox="1"/>
            <p:nvPr/>
          </p:nvSpPr>
          <p:spPr>
            <a:xfrm>
              <a:off x="523113" y="152066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1558" y="15487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单周期数据通路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3462" y="1839754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取指、译码、执行、访存、写回各需要哪些部件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39178" y="2119312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3113" y="221980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1558" y="22479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控制信号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3462" y="2538889"/>
              <a:ext cx="25836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ALU 控制与主控制单元的真值表怎么填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39178" y="2819400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3113" y="2919889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1558" y="294798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流水线基本思想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3462" y="323897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时空图、吞吐率、加速比的算法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39178" y="3518535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3113" y="3619024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1558" y="364712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三类冒险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3938111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结构、数据、控制冒险各自的成因与代价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39178" y="4217670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3113" y="431911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1558" y="434721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转发与阻塞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4638199"/>
              <a:ext cx="29439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转发条件、load-use 检测、插入气泡的硬件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39178" y="4917758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3113" y="501824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1558" y="50463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分支预测与异常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3462" y="533733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 位与 2 位预测位、精确异常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39178" y="5616892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3113" y="571738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1558" y="574548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多发射与真实流水线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3462" y="6036469"/>
              <a:ext cx="18309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VLIW、超标量、IPC 的计算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7114222" y="1524000"/>
            <a:ext cx="4544378" cy="4688205"/>
            <a:chOff x="7114222" y="1524000"/>
            <a:chExt cx="4544378" cy="4688205"/>
          </a:xfrm>
        </p:grpSpPr>
        <p:sp>
          <p:nvSpPr>
            <p:cNvPr id="35" name="Rectangle 35"/>
            <p:cNvSpPr/>
            <p:nvPr/>
          </p:nvSpPr>
          <p:spPr>
            <a:xfrm>
              <a:off x="7114222" y="1524000"/>
              <a:ext cx="4544378" cy="4688205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23748" y="1657350"/>
              <a:ext cx="47625" cy="44215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44728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28167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53300" y="21288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09320" y="2072640"/>
              <a:ext cx="37427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对一条 MIPS 指令写出单周期数据通路里全部控制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信号的取值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53300" y="268890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09320" y="2632710"/>
              <a:ext cx="36656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 k 段流水线处理 n 条指令的时空图，并算出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周期数、吞吐率和加速比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53300" y="324897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09320" y="3192780"/>
              <a:ext cx="37170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判断一段代码里每条指令要不要转发，ForwardA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 ForwardB 取什么值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53300" y="380809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09320" y="3751898"/>
              <a:ext cx="37427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 load-use 冒险为什么转发救不了，硬件怎样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检测并插入气泡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353300" y="436816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509320" y="4311968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算出给定冒险比例下流水线的实际 CPI 和相对单周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期的加速比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4024884" cy="2643187"/>
            <a:chOff x="667512" y="1835468"/>
            <a:chExt cx="4024884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单周期数据通路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先把一条指令要用到的硬件一件件摆出来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取指、读寄存器、运算、访存、写回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三个多选器决定数据从哪来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47619" cy="909257"/>
            <a:chOff x="520446" y="342900"/>
            <a:chExt cx="69476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单周期数据通路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476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性能由三个量决定，本章只能改动后两个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749327" cy="308039"/>
            <a:chOff x="525399" y="1550194"/>
            <a:chExt cx="874932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74932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程序执行时间 = 指令数 × CPI × 时钟周期长度。三个因子各由谁决定，决定了这一章讲什么。</a:t>
              </a:r>
            </a:p>
          </p:txBody>
        </p:sp>
      </p:grpSp>
      <p:grpSp>
        <p:nvGrpSpPr>
          <p:cNvPr id="30" name="c1-table-1"/>
          <p:cNvGrpSpPr/>
          <p:nvPr/>
        </p:nvGrpSpPr>
        <p:grpSpPr>
          <a:xfrm>
            <a:off x="533400" y="1967865"/>
            <a:ext cx="5842635" cy="1795462"/>
            <a:chOff x="533400" y="1967865"/>
            <a:chExt cx="5842635" cy="179546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4710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因子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03613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由谁决定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60125" y="21026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本章是否处理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5512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指令数目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26208" y="255127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指令集结构与编译器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98873" y="255127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不处理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03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65120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000851"/>
              <a:ext cx="280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26208" y="3000851"/>
              <a:ext cx="14018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硬件实现方式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600575" y="2874645"/>
              <a:ext cx="176593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98873" y="30008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3089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44947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时钟周期长度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26208" y="3449479"/>
              <a:ext cx="14018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硬件实现方式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600575" y="3323272"/>
              <a:ext cx="176593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698873" y="34494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967865"/>
              <a:ext cx="584263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313622" y="19678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586288" y="19678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rd-2"/>
          <p:cNvGrpSpPr/>
          <p:nvPr/>
        </p:nvGrpSpPr>
        <p:grpSpPr>
          <a:xfrm>
            <a:off x="533400" y="3952875"/>
            <a:ext cx="5842635" cy="1937385"/>
            <a:chOff x="533400" y="3952875"/>
            <a:chExt cx="5842635" cy="1937385"/>
          </a:xfrm>
        </p:grpSpPr>
        <p:sp>
          <p:nvSpPr>
            <p:cNvPr id="31" name="Rectangle 31"/>
            <p:cNvSpPr/>
            <p:nvPr/>
          </p:nvSpPr>
          <p:spPr>
            <a:xfrm>
              <a:off x="533400" y="3952875"/>
              <a:ext cx="5842635" cy="1937385"/>
            </a:xfrm>
            <a:prstGeom prst="roundRect">
              <a:avLst>
                <a:gd name="adj" fmla="val 688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2950" y="4162425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03605" y="419814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本章的两条实现路线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42950" y="452628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4799" y="456857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3940" y="4539615"/>
              <a:ext cx="4796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单周期实现：一条指令一个时钟周期，CPI = 1，但周期必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须按最慢的指令定。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42950" y="514731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4799" y="518960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3940" y="5160645"/>
              <a:ext cx="4882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流水线实现：周期缩短到最慢那一段的长度，CPI 接近 1，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靠重叠执行提高吞吐率。</a:t>
              </a:r>
            </a:p>
          </p:txBody>
        </p:sp>
      </p:grpSp>
      <p:grpSp>
        <p:nvGrpSpPr>
          <p:cNvPr id="52" name="c2-card-1"/>
          <p:cNvGrpSpPr/>
          <p:nvPr/>
        </p:nvGrpSpPr>
        <p:grpSpPr>
          <a:xfrm>
            <a:off x="6680835" y="1967865"/>
            <a:ext cx="4977765" cy="1720215"/>
            <a:chOff x="6680835" y="1967865"/>
            <a:chExt cx="4977765" cy="1720215"/>
          </a:xfrm>
        </p:grpSpPr>
        <p:sp>
          <p:nvSpPr>
            <p:cNvPr id="41" name="Rectangle 41"/>
            <p:cNvSpPr/>
            <p:nvPr/>
          </p:nvSpPr>
          <p:spPr>
            <a:xfrm>
              <a:off x="6680835" y="1967865"/>
              <a:ext cx="4977765" cy="1720215"/>
            </a:xfrm>
            <a:prstGeom prst="roundRect">
              <a:avLst>
                <a:gd name="adj" fmla="val 7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90360" y="2101215"/>
              <a:ext cx="47625" cy="14535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28485" y="21774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10794" y="22131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讨论范围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14310" y="2212658"/>
              <a:ext cx="20448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一个基本的 MIPS 子集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934200" y="26365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92315" y="2573655"/>
              <a:ext cx="15600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访存指令 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lw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sw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934200" y="297180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92315" y="2908935"/>
              <a:ext cx="35994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算术逻辑指令 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add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sub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and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or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slt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934200" y="330708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92315" y="3244215"/>
              <a:ext cx="18830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控制转移指令 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beq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680835" y="3878580"/>
            <a:ext cx="4977765" cy="2012632"/>
            <a:chOff x="6680835" y="3878580"/>
            <a:chExt cx="4977765" cy="2012632"/>
          </a:xfrm>
        </p:grpSpPr>
        <p:sp>
          <p:nvSpPr>
            <p:cNvPr id="53" name="Rectangle 53"/>
            <p:cNvSpPr/>
            <p:nvPr/>
          </p:nvSpPr>
          <p:spPr>
            <a:xfrm>
              <a:off x="6680835" y="3878580"/>
              <a:ext cx="4977765" cy="2012632"/>
            </a:xfrm>
            <a:prstGeom prst="roundRect">
              <a:avLst>
                <a:gd name="adj" fmla="val 6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690360" y="4011930"/>
              <a:ext cx="47625" cy="1745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928485" y="408813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01942" y="412384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子集够不够用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20865" y="4465320"/>
              <a:ext cx="4206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这个子集不含乘除和浮点，但它用到的部件已经覆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盖取指、读寄存器、运算、访存、写回五类动作。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把这五类拼齐，再补别的指令只是往控制真值表里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加行。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单周期数据通路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任何一条指令都先做同样两件事，之后才分道扬镳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flow-1"/>
          <p:cNvGrpSpPr/>
          <p:nvPr/>
        </p:nvGrpSpPr>
        <p:grpSpPr>
          <a:xfrm>
            <a:off x="707708" y="1607820"/>
            <a:ext cx="4664392" cy="2694623"/>
            <a:chOff x="707708" y="1607820"/>
            <a:chExt cx="4664392" cy="2694623"/>
          </a:xfrm>
        </p:grpSpPr>
        <p:sp>
          <p:nvSpPr>
            <p:cNvPr id="7" name="Freeform 7"/>
            <p:cNvSpPr/>
            <p:nvPr/>
          </p:nvSpPr>
          <p:spPr>
            <a:xfrm>
              <a:off x="1777365" y="1993582"/>
              <a:ext cx="9525" cy="62865"/>
            </a:xfrm>
            <a:custGeom>
              <a:avLst/>
              <a:gdLst/>
              <a:ahLst/>
              <a:cxnLst/>
              <a:rect l="l" t="t" r="r" b="b"/>
              <a:pathLst>
                <a:path w="9525" h="62865">
                  <a:moveTo>
                    <a:pt x="0" y="0"/>
                  </a:moveTo>
                  <a:lnTo>
                    <a:pt x="0" y="628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724978" y="20564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777365" y="2514600"/>
              <a:ext cx="9525" cy="32385"/>
            </a:xfrm>
            <a:custGeom>
              <a:avLst/>
              <a:gdLst/>
              <a:ahLst/>
              <a:cxnLst/>
              <a:rect l="l" t="t" r="r" b="b"/>
              <a:pathLst>
                <a:path w="9525" h="32385">
                  <a:moveTo>
                    <a:pt x="0" y="3238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24978" y="25146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07708" y="2907030"/>
              <a:ext cx="2035492" cy="553403"/>
            </a:xfrm>
            <a:custGeom>
              <a:avLst/>
              <a:gdLst/>
              <a:ahLst/>
              <a:cxnLst/>
              <a:rect l="l" t="t" r="r" b="b"/>
              <a:pathLst>
                <a:path w="2035492" h="553403">
                  <a:moveTo>
                    <a:pt x="0" y="0"/>
                  </a:moveTo>
                  <a:lnTo>
                    <a:pt x="1069658" y="0"/>
                  </a:lnTo>
                  <a:lnTo>
                    <a:pt x="1069658" y="553403"/>
                  </a:lnTo>
                  <a:lnTo>
                    <a:pt x="2035492" y="55340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743200" y="34080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847975" y="2907030"/>
              <a:ext cx="243840" cy="553403"/>
            </a:xfrm>
            <a:custGeom>
              <a:avLst/>
              <a:gdLst/>
              <a:ahLst/>
              <a:cxnLst/>
              <a:rect l="l" t="t" r="r" b="b"/>
              <a:pathLst>
                <a:path w="243840" h="553403">
                  <a:moveTo>
                    <a:pt x="0" y="0"/>
                  </a:moveTo>
                  <a:lnTo>
                    <a:pt x="174308" y="0"/>
                  </a:lnTo>
                  <a:lnTo>
                    <a:pt x="174308" y="553403"/>
                  </a:lnTo>
                  <a:lnTo>
                    <a:pt x="243840" y="55340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091815" y="34080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07708" y="3460432"/>
              <a:ext cx="4350068" cy="553402"/>
            </a:xfrm>
            <a:custGeom>
              <a:avLst/>
              <a:gdLst/>
              <a:ahLst/>
              <a:cxnLst/>
              <a:rect l="l" t="t" r="r" b="b"/>
              <a:pathLst>
                <a:path w="4350068" h="553402">
                  <a:moveTo>
                    <a:pt x="0" y="0"/>
                  </a:moveTo>
                  <a:lnTo>
                    <a:pt x="2226945" y="0"/>
                  </a:lnTo>
                  <a:lnTo>
                    <a:pt x="2226945" y="553402"/>
                  </a:lnTo>
                  <a:lnTo>
                    <a:pt x="4350068" y="55340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057775" y="39614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987040" y="3460432"/>
              <a:ext cx="2385060" cy="553402"/>
            </a:xfrm>
            <a:custGeom>
              <a:avLst/>
              <a:gdLst/>
              <a:ahLst/>
              <a:cxnLst/>
              <a:rect l="l" t="t" r="r" b="b"/>
              <a:pathLst>
                <a:path w="2385060" h="553402">
                  <a:moveTo>
                    <a:pt x="209550" y="0"/>
                  </a:moveTo>
                  <a:lnTo>
                    <a:pt x="0" y="0"/>
                  </a:lnTo>
                  <a:lnTo>
                    <a:pt x="2385060" y="0"/>
                  </a:lnTo>
                  <a:lnTo>
                    <a:pt x="2385060" y="553402"/>
                  </a:lnTo>
                  <a:lnTo>
                    <a:pt x="2280285" y="55340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162550" y="39614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07708" y="1607820"/>
              <a:ext cx="2140268" cy="385762"/>
            </a:xfrm>
            <a:prstGeom prst="roundRect">
              <a:avLst>
                <a:gd name="adj" fmla="val 4987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07708" y="2161222"/>
              <a:ext cx="2140268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07708" y="2619375"/>
              <a:ext cx="2140268" cy="575310"/>
            </a:xfrm>
            <a:custGeom>
              <a:avLst/>
              <a:gdLst/>
              <a:ahLst/>
              <a:cxnLst/>
              <a:rect l="l" t="t" r="r" b="b"/>
              <a:pathLst>
                <a:path w="2140268" h="575310">
                  <a:moveTo>
                    <a:pt x="1069658" y="0"/>
                  </a:moveTo>
                  <a:lnTo>
                    <a:pt x="2140268" y="287655"/>
                  </a:lnTo>
                  <a:lnTo>
                    <a:pt x="1069658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196590" y="3171825"/>
              <a:ext cx="2140268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07708" y="3171825"/>
              <a:ext cx="2140268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2015" y="3724275"/>
              <a:ext cx="4280535" cy="578168"/>
            </a:xfrm>
            <a:prstGeom prst="roundRect">
              <a:avLst>
                <a:gd name="adj" fmla="val 4991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327918" y="1721644"/>
              <a:ext cx="8988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 PC 取指令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3165" y="227504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读出指令中的寄存器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70101" y="282844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指令类型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04932" y="3285649"/>
              <a:ext cx="72263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 算结果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写回寄存器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73810" y="3285649"/>
              <a:ext cx="100711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 算地址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访问数据存储器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64066" y="3838099"/>
              <a:ext cx="916432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PC ← 目标地址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或 PC + 4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081088" y="2710815"/>
              <a:ext cx="3238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17092" y="273367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访存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050858" y="3105150"/>
              <a:ext cx="3238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074670" y="312801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运算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5815965" y="1524000"/>
            <a:ext cx="5842635" cy="1743075"/>
            <a:chOff x="5815965" y="1524000"/>
            <a:chExt cx="5842635" cy="1743075"/>
          </a:xfrm>
        </p:grpSpPr>
        <p:sp>
          <p:nvSpPr>
            <p:cNvPr id="36" name="Rectangle 36"/>
            <p:cNvSpPr/>
            <p:nvPr/>
          </p:nvSpPr>
          <p:spPr>
            <a:xfrm>
              <a:off x="5815965" y="1524000"/>
              <a:ext cx="5842635" cy="1743075"/>
            </a:xfrm>
            <a:prstGeom prst="roundRect">
              <a:avLst>
                <a:gd name="adj" fmla="val 7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25490" y="1657350"/>
              <a:ext cx="47625" cy="14763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40755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25324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取指阶段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33897" y="2054542"/>
              <a:ext cx="51057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程序计数器 PC 给出指令所在的存储单元地址，指令存储器按这个地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址读出 32 位指令。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049328" y="266890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05347" y="2612708"/>
              <a:ext cx="50029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同一个周期里另有一个加法器算出 PC + 4，这是顺序执行时下一条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指令的地址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5815965" y="3436620"/>
            <a:ext cx="5842635" cy="1485900"/>
            <a:chOff x="5815965" y="3436620"/>
            <a:chExt cx="5842635" cy="1485900"/>
          </a:xfrm>
        </p:grpSpPr>
        <p:sp>
          <p:nvSpPr>
            <p:cNvPr id="44" name="Rectangle 44"/>
            <p:cNvSpPr/>
            <p:nvPr/>
          </p:nvSpPr>
          <p:spPr>
            <a:xfrm>
              <a:off x="5815965" y="3436620"/>
              <a:ext cx="5842635" cy="1485900"/>
            </a:xfrm>
            <a:prstGeom prst="roundRect">
              <a:avLst>
                <a:gd name="adj" fmla="val 89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825490" y="3569970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040755" y="362331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25324" y="365617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译码阶段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33897" y="3968115"/>
              <a:ext cx="51057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指令的 25:21 位和 20:16 位固定送到寄存器堆的两个读端口，不管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这条指令用不用得上。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049328" y="458152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05347" y="4525328"/>
              <a:ext cx="44390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lw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只用到第一个读出的值，第二个读出来也不影响结果</a:t>
              </a:r>
            </a:p>
          </p:txBody>
        </p:sp>
      </p:grpSp>
      <p:grpSp>
        <p:nvGrpSpPr>
          <p:cNvPr id="56" name="c2-card-3"/>
          <p:cNvGrpSpPr/>
          <p:nvPr/>
        </p:nvGrpSpPr>
        <p:grpSpPr>
          <a:xfrm>
            <a:off x="5815965" y="5093018"/>
            <a:ext cx="5842635" cy="1185862"/>
            <a:chOff x="5815965" y="5093018"/>
            <a:chExt cx="5842635" cy="1185862"/>
          </a:xfrm>
        </p:grpSpPr>
        <p:sp>
          <p:nvSpPr>
            <p:cNvPr id="52" name="Rectangle 52"/>
            <p:cNvSpPr/>
            <p:nvPr/>
          </p:nvSpPr>
          <p:spPr>
            <a:xfrm>
              <a:off x="5815965" y="5093018"/>
              <a:ext cx="5842635" cy="1185862"/>
            </a:xfrm>
            <a:prstGeom prst="roundRect">
              <a:avLst>
                <a:gd name="adj" fmla="val 1124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002655" y="5279708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068873" y="531256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为什么可以这样安排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995797" y="5623560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读寄存器堆没有副作用，多读一个端口不改变机器状态，却省下一级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译码延迟。需要区分指令类型的地方全交给多选器。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单周期数据通路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数据通路只有两种零件：组合单元和状态单元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410200" cy="1806892"/>
            <a:chOff x="533400" y="1524000"/>
            <a:chExt cx="5410200" cy="18068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06892"/>
            </a:xfrm>
            <a:prstGeom prst="roundRect">
              <a:avLst>
                <a:gd name="adj" fmla="val 73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4019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组合单元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73340" y="174593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输出只由当前输入决定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12788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071688"/>
              <a:ext cx="27363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与门 Y = A &amp; B，加法器 Y = A + B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242792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371725"/>
              <a:ext cx="1816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多选器 Y = S ? I1 : I0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6762" y="272796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2782" y="2671762"/>
              <a:ext cx="2965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ALU：Y = F(A, B)，F 由控制线选择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2475" y="296846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没有记忆，输入一变输出跟着变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3501390"/>
            <a:ext cx="5410200" cy="2837498"/>
            <a:chOff x="533400" y="3501390"/>
            <a:chExt cx="5410200" cy="2837498"/>
          </a:xfrm>
        </p:grpSpPr>
        <p:sp>
          <p:nvSpPr>
            <p:cNvPr id="20" name="Rectangle 20"/>
            <p:cNvSpPr/>
            <p:nvPr/>
          </p:nvSpPr>
          <p:spPr>
            <a:xfrm>
              <a:off x="533400" y="3501390"/>
              <a:ext cx="5410200" cy="2837498"/>
            </a:xfrm>
            <a:prstGeom prst="roundRect">
              <a:avLst>
                <a:gd name="adj" fmla="val 47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634740"/>
              <a:ext cx="47625" cy="257079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8190" y="3688080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0357" y="372094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状态单元（时序单元）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20100" y="372237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存住信息，靠时钟边沿更新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66762" y="410527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2782" y="4049077"/>
              <a:ext cx="35116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寄存器：Clk 由 0 变 1 的那一刻把 D 存进去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66762" y="440531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2782" y="4349115"/>
              <a:ext cx="36587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带写使能的寄存器：还要求 Write = 1 才更新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66762" y="470535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2782" y="4649152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寄存器堆、指令存储器、数据存储器都属于状态单元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248400" y="1524000"/>
            <a:ext cx="5410200" cy="1545908"/>
            <a:chOff x="6248400" y="1524000"/>
            <a:chExt cx="5410200" cy="1545908"/>
          </a:xfrm>
        </p:grpSpPr>
        <p:sp>
          <p:nvSpPr>
            <p:cNvPr id="32" name="Rectangle 32"/>
            <p:cNvSpPr/>
            <p:nvPr/>
          </p:nvSpPr>
          <p:spPr>
            <a:xfrm>
              <a:off x="6248400" y="1524000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57925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3190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54660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时钟周期法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12164" y="174593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一个周期只容纳一次状态到状态的变换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73190" y="205930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28868" y="209769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53987" y="207168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周期开始：上一个状态单元的输出稳定下来。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73190" y="235934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28868" y="239868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53987" y="237172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周期中间：组合逻辑对这些值做变换。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73190" y="266033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28868" y="269871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53987" y="267176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周期结束的边沿：结果写进下一个状态单元。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248400" y="3239452"/>
            <a:ext cx="5410200" cy="1485900"/>
            <a:chOff x="6248400" y="3239452"/>
            <a:chExt cx="5410200" cy="1485900"/>
          </a:xfrm>
        </p:grpSpPr>
        <p:sp>
          <p:nvSpPr>
            <p:cNvPr id="47" name="Rectangle 47"/>
            <p:cNvSpPr/>
            <p:nvPr/>
          </p:nvSpPr>
          <p:spPr>
            <a:xfrm>
              <a:off x="6248400" y="3239452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35090" y="3426142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12509" y="345900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两个直接后果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43662" y="382714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99682" y="3770948"/>
              <a:ext cx="3857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时钟周期长度 ≥ 最长的那条组合逻辑通路的延时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43662" y="412718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99682" y="4070985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边沿触发使同一个状态单元在一个周期里既能被读又能被写，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读到的一定是旧值</a:t>
              </a:r>
            </a:p>
          </p:txBody>
        </p:sp>
      </p:grpSp>
      <p:grpSp>
        <p:nvGrpSpPr>
          <p:cNvPr id="60" name="c2-card-3"/>
          <p:cNvGrpSpPr/>
          <p:nvPr/>
        </p:nvGrpSpPr>
        <p:grpSpPr>
          <a:xfrm>
            <a:off x="6248400" y="4895850"/>
            <a:ext cx="5410200" cy="1443038"/>
            <a:chOff x="6248400" y="4895850"/>
            <a:chExt cx="5410200" cy="1443038"/>
          </a:xfrm>
        </p:grpSpPr>
        <p:sp>
          <p:nvSpPr>
            <p:cNvPr id="55" name="Rectangle 55"/>
            <p:cNvSpPr/>
            <p:nvPr/>
          </p:nvSpPr>
          <p:spPr>
            <a:xfrm>
              <a:off x="6248400" y="4895850"/>
              <a:ext cx="5410200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57925" y="5029200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73190" y="5082540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39408" y="511540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这条最长通路叫什么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66332" y="5426392"/>
              <a:ext cx="478002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叫关键路径。后面算单周期时钟周期时，找的就是它：lw 串起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指令存储器、寄存器堆、ALU、数据存储器、寄存器堆共 5 个部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件，合计 800 ps。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42313" cy="909257"/>
            <a:chOff x="520446" y="342900"/>
            <a:chExt cx="70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单周期数据通路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取指部件：一个周期里同时取指令和算 PC + 4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graph-1"/>
          <p:cNvGrpSpPr/>
          <p:nvPr/>
        </p:nvGrpSpPr>
        <p:grpSpPr>
          <a:xfrm>
            <a:off x="942022" y="2098358"/>
            <a:ext cx="4768215" cy="4096702"/>
            <a:chOff x="942022" y="2098358"/>
            <a:chExt cx="4768215" cy="4096702"/>
          </a:xfrm>
        </p:grpSpPr>
        <p:sp>
          <p:nvSpPr>
            <p:cNvPr id="7" name="Freeform 7"/>
            <p:cNvSpPr/>
            <p:nvPr/>
          </p:nvSpPr>
          <p:spPr>
            <a:xfrm>
              <a:off x="1475422" y="4524375"/>
              <a:ext cx="969645" cy="9525"/>
            </a:xfrm>
            <a:custGeom>
              <a:avLst/>
              <a:gdLst/>
              <a:ahLst/>
              <a:cxnLst/>
              <a:rect l="l" t="t" r="r" b="b"/>
              <a:pathLst>
                <a:path w="969645" h="9525">
                  <a:moveTo>
                    <a:pt x="0" y="0"/>
                  </a:moveTo>
                  <a:lnTo>
                    <a:pt x="9696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445068" y="4476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702368" y="4524375"/>
              <a:ext cx="1046798" cy="9525"/>
            </a:xfrm>
            <a:custGeom>
              <a:avLst/>
              <a:gdLst/>
              <a:ahLst/>
              <a:cxnLst/>
              <a:rect l="l" t="t" r="r" b="b"/>
              <a:pathLst>
                <a:path w="1046798" h="9525">
                  <a:moveTo>
                    <a:pt x="0" y="0"/>
                  </a:moveTo>
                  <a:lnTo>
                    <a:pt x="104679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749165" y="4476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208722" y="2566035"/>
              <a:ext cx="2174558" cy="1672590"/>
            </a:xfrm>
            <a:custGeom>
              <a:avLst/>
              <a:gdLst/>
              <a:ahLst/>
              <a:cxnLst/>
              <a:rect l="l" t="t" r="r" b="b"/>
              <a:pathLst>
                <a:path w="2174558" h="1672590">
                  <a:moveTo>
                    <a:pt x="0" y="1672590"/>
                  </a:moveTo>
                  <a:lnTo>
                    <a:pt x="217455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354705" y="2507932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0"/>
                  </a:moveTo>
                  <a:lnTo>
                    <a:pt x="58103" y="95250"/>
                  </a:lnTo>
                  <a:lnTo>
                    <a:pt x="0" y="2000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055495" y="2298382"/>
              <a:ext cx="851535" cy="9525"/>
            </a:xfrm>
            <a:custGeom>
              <a:avLst/>
              <a:gdLst/>
              <a:ahLst/>
              <a:cxnLst/>
              <a:rect l="l" t="t" r="r" b="b"/>
              <a:pathLst>
                <a:path w="851535" h="9525">
                  <a:moveTo>
                    <a:pt x="0" y="0"/>
                  </a:moveTo>
                  <a:lnTo>
                    <a:pt x="8515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907030" y="22507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208722" y="2298382"/>
              <a:ext cx="4501515" cy="3773805"/>
            </a:xfrm>
            <a:custGeom>
              <a:avLst/>
              <a:gdLst/>
              <a:ahLst/>
              <a:cxnLst/>
              <a:rect l="l" t="t" r="r" b="b"/>
              <a:pathLst>
                <a:path w="4501515" h="3773805">
                  <a:moveTo>
                    <a:pt x="2717482" y="0"/>
                  </a:moveTo>
                  <a:lnTo>
                    <a:pt x="4501515" y="0"/>
                  </a:lnTo>
                  <a:lnTo>
                    <a:pt x="4501515" y="3773805"/>
                  </a:lnTo>
                  <a:lnTo>
                    <a:pt x="0" y="3773805"/>
                  </a:lnTo>
                  <a:lnTo>
                    <a:pt x="259080" y="23193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421130" y="4524375"/>
              <a:ext cx="94298" cy="101917"/>
            </a:xfrm>
            <a:custGeom>
              <a:avLst/>
              <a:gdLst/>
              <a:ahLst/>
              <a:cxnLst/>
              <a:rect l="l" t="t" r="r" b="b"/>
              <a:pathLst>
                <a:path w="94298" h="101917">
                  <a:moveTo>
                    <a:pt x="63818" y="0"/>
                  </a:moveTo>
                  <a:lnTo>
                    <a:pt x="94298" y="101917"/>
                  </a:lnTo>
                  <a:lnTo>
                    <a:pt x="0" y="8477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942022" y="4248150"/>
              <a:ext cx="533400" cy="552450"/>
            </a:xfrm>
            <a:prstGeom prst="roundRect">
              <a:avLst>
                <a:gd name="adj" fmla="val 17857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540318" y="4191000"/>
              <a:ext cx="1162050" cy="6667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002280" y="2098358"/>
              <a:ext cx="914400" cy="4000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722120" y="2136458"/>
              <a:ext cx="323850" cy="3238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11007" y="445436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PC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38692" y="445436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指令存储器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41999" y="4454366"/>
              <a:ext cx="8354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指令[31:0]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27603" y="222837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加法器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3479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798320" y="4438650"/>
              <a:ext cx="4191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821370" y="447008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读地址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261360" y="5986462"/>
              <a:ext cx="39624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275495" y="6018848"/>
              <a:ext cx="3679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PC + 4</a:t>
              </a:r>
            </a:p>
          </p:txBody>
        </p:sp>
      </p:grpSp>
      <p:grpSp>
        <p:nvGrpSpPr>
          <p:cNvPr id="40" name="c2-bullets-1"/>
          <p:cNvGrpSpPr/>
          <p:nvPr/>
        </p:nvGrpSpPr>
        <p:grpSpPr>
          <a:xfrm>
            <a:off x="6464617" y="1535430"/>
            <a:ext cx="5101972" cy="996315"/>
            <a:chOff x="6464617" y="1535430"/>
            <a:chExt cx="5101972" cy="996315"/>
          </a:xfrm>
        </p:grpSpPr>
        <p:sp>
          <p:nvSpPr>
            <p:cNvPr id="31" name="Ellipse 31"/>
            <p:cNvSpPr/>
            <p:nvPr/>
          </p:nvSpPr>
          <p:spPr>
            <a:xfrm>
              <a:off x="6464617" y="153543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26467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65608" y="1548765"/>
              <a:ext cx="42919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 是一个 32 位寄存器，每个时钟边沿更新一次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64617" y="188023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26467" y="19225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65608" y="1893570"/>
              <a:ext cx="48009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指令存储器按这个地址读出 32 位指令，属于组合逻辑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64617" y="222504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26467" y="22673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65608" y="2238375"/>
              <a:ext cx="31120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专用加法器算 PC + 4，不占用 ALU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464618" y="2663190"/>
            <a:ext cx="5193982" cy="1602105"/>
            <a:chOff x="6464618" y="2663190"/>
            <a:chExt cx="5193982" cy="1602105"/>
          </a:xfrm>
        </p:grpSpPr>
        <p:sp>
          <p:nvSpPr>
            <p:cNvPr id="41" name="Rectangle 41"/>
            <p:cNvSpPr/>
            <p:nvPr/>
          </p:nvSpPr>
          <p:spPr>
            <a:xfrm>
              <a:off x="6464618" y="2663190"/>
              <a:ext cx="5193982" cy="1602105"/>
            </a:xfrm>
            <a:prstGeom prst="roundRect">
              <a:avLst>
                <a:gd name="adj" fmla="val 832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74168" y="2872740"/>
              <a:ext cx="104775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48108" y="2908459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为什么是加 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66548" y="3249930"/>
              <a:ext cx="45586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MIPS 指令定长 32 位，按字节编址，所以相邻两条指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令的地址差 4。这条加法在取指阶段就完成，分支指令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后面要用的 PC + 4 已经现成。</a:t>
              </a:r>
            </a:p>
          </p:txBody>
        </p:sp>
      </p:grpSp>
      <p:grpSp>
        <p:nvGrpSpPr>
          <p:cNvPr id="51" name="c2-card-3"/>
          <p:cNvGrpSpPr/>
          <p:nvPr/>
        </p:nvGrpSpPr>
        <p:grpSpPr>
          <a:xfrm>
            <a:off x="6464618" y="4455795"/>
            <a:ext cx="5193982" cy="1602105"/>
            <a:chOff x="6464618" y="4455795"/>
            <a:chExt cx="5193982" cy="1602105"/>
          </a:xfrm>
        </p:grpSpPr>
        <p:sp>
          <p:nvSpPr>
            <p:cNvPr id="46" name="Rectangle 46"/>
            <p:cNvSpPr/>
            <p:nvPr/>
          </p:nvSpPr>
          <p:spPr>
            <a:xfrm>
              <a:off x="6464618" y="4455795"/>
              <a:ext cx="519398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4142" y="458914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712268" y="466534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77825" y="470106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指令与数据分开存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04648" y="5042535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图里的指令存储器和后面的数据存储器是两个部件。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一个部件一个周期只能做一件事，如果共用一块存储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器，取指和访存会在同一个周期里撞车。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01810" cy="909257"/>
            <a:chOff x="520446" y="342900"/>
            <a:chExt cx="79018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单周期数据通路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018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型指令：读两个寄存器，算一次，写回一个寄存器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graph-1"/>
          <p:cNvGrpSpPr/>
          <p:nvPr/>
        </p:nvGrpSpPr>
        <p:grpSpPr>
          <a:xfrm>
            <a:off x="809346" y="2251234"/>
            <a:ext cx="5046067" cy="3435190"/>
            <a:chOff x="809346" y="2251234"/>
            <a:chExt cx="5046067" cy="3435190"/>
          </a:xfrm>
        </p:grpSpPr>
        <p:sp>
          <p:nvSpPr>
            <p:cNvPr id="7" name="Freeform 7"/>
            <p:cNvSpPr/>
            <p:nvPr/>
          </p:nvSpPr>
          <p:spPr>
            <a:xfrm>
              <a:off x="1146810" y="3737610"/>
              <a:ext cx="784860" cy="9525"/>
            </a:xfrm>
            <a:custGeom>
              <a:avLst/>
              <a:gdLst/>
              <a:ahLst/>
              <a:cxnLst/>
              <a:rect l="l" t="t" r="r" b="b"/>
              <a:pathLst>
                <a:path w="784860" h="9525">
                  <a:moveTo>
                    <a:pt x="0" y="0"/>
                  </a:moveTo>
                  <a:lnTo>
                    <a:pt x="7848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931670" y="36899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150870" y="3194685"/>
              <a:ext cx="1013460" cy="349568"/>
            </a:xfrm>
            <a:custGeom>
              <a:avLst/>
              <a:gdLst/>
              <a:ahLst/>
              <a:cxnLst/>
              <a:rect l="l" t="t" r="r" b="b"/>
              <a:pathLst>
                <a:path w="1013460" h="349568">
                  <a:moveTo>
                    <a:pt x="0" y="349568"/>
                  </a:moveTo>
                  <a:lnTo>
                    <a:pt x="10134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149090" y="3149918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105727" y="14288"/>
                  </a:moveTo>
                  <a:lnTo>
                    <a:pt x="31432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588895" y="3408998"/>
              <a:ext cx="1997392" cy="1303020"/>
            </a:xfrm>
            <a:custGeom>
              <a:avLst/>
              <a:gdLst/>
              <a:ahLst/>
              <a:cxnLst/>
              <a:rect l="l" t="t" r="r" b="b"/>
              <a:pathLst>
                <a:path w="1997392" h="1303020">
                  <a:moveTo>
                    <a:pt x="0" y="871538"/>
                  </a:moveTo>
                  <a:lnTo>
                    <a:pt x="974408" y="1303020"/>
                  </a:lnTo>
                  <a:lnTo>
                    <a:pt x="199739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549140" y="3334702"/>
              <a:ext cx="96202" cy="103822"/>
            </a:xfrm>
            <a:custGeom>
              <a:avLst/>
              <a:gdLst/>
              <a:ahLst/>
              <a:cxnLst/>
              <a:rect l="l" t="t" r="r" b="b"/>
              <a:pathLst>
                <a:path w="96202" h="103822">
                  <a:moveTo>
                    <a:pt x="96202" y="0"/>
                  </a:moveTo>
                  <a:lnTo>
                    <a:pt x="74295" y="103822"/>
                  </a:lnTo>
                  <a:lnTo>
                    <a:pt x="0" y="4476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588895" y="3334702"/>
              <a:ext cx="2056447" cy="2351722"/>
            </a:xfrm>
            <a:custGeom>
              <a:avLst/>
              <a:gdLst/>
              <a:ahLst/>
              <a:cxnLst/>
              <a:rect l="l" t="t" r="r" b="b"/>
              <a:pathLst>
                <a:path w="2056447" h="2351722">
                  <a:moveTo>
                    <a:pt x="2056447" y="0"/>
                  </a:moveTo>
                  <a:lnTo>
                    <a:pt x="2056447" y="2351722"/>
                  </a:lnTo>
                  <a:lnTo>
                    <a:pt x="0" y="2351722"/>
                  </a:lnTo>
                  <a:lnTo>
                    <a:pt x="0" y="104108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541270" y="42805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035868" y="2489835"/>
              <a:ext cx="393382" cy="270510"/>
            </a:xfrm>
            <a:custGeom>
              <a:avLst/>
              <a:gdLst/>
              <a:ahLst/>
              <a:cxnLst/>
              <a:rect l="l" t="t" r="r" b="b"/>
              <a:pathLst>
                <a:path w="393382" h="270510">
                  <a:moveTo>
                    <a:pt x="0" y="270510"/>
                  </a:moveTo>
                  <a:lnTo>
                    <a:pt x="39338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401628" y="2435542"/>
              <a:ext cx="105728" cy="93345"/>
            </a:xfrm>
            <a:custGeom>
              <a:avLst/>
              <a:gdLst/>
              <a:ahLst/>
              <a:cxnLst/>
              <a:rect l="l" t="t" r="r" b="b"/>
              <a:pathLst>
                <a:path w="105728" h="93345">
                  <a:moveTo>
                    <a:pt x="105728" y="0"/>
                  </a:moveTo>
                  <a:lnTo>
                    <a:pt x="54292" y="93345"/>
                  </a:lnTo>
                  <a:lnTo>
                    <a:pt x="0" y="142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026920" y="3204210"/>
              <a:ext cx="1123950" cy="1066800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254818" y="2734628"/>
              <a:ext cx="781050" cy="590550"/>
            </a:xfrm>
            <a:prstGeom prst="roundRect">
              <a:avLst>
                <a:gd name="adj" fmla="val 16129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9346" y="36676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81631" y="36676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01626" y="2959894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90766" y="2251234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Zero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263015" y="3651885"/>
              <a:ext cx="6477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79207" y="36842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rs, rt, rd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462338" y="3268028"/>
              <a:ext cx="48196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483502" y="3300412"/>
              <a:ext cx="4396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读数据1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863340" y="3937635"/>
              <a:ext cx="48196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884505" y="3969068"/>
              <a:ext cx="4396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读数据2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435792" y="4424362"/>
              <a:ext cx="4191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458843" y="4456748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写数据</a:t>
              </a:r>
            </a:p>
          </p:txBody>
        </p:sp>
      </p:grpSp>
      <p:grpSp>
        <p:nvGrpSpPr>
          <p:cNvPr id="33" name="c1-text-2"/>
          <p:cNvGrpSpPr/>
          <p:nvPr/>
        </p:nvGrpSpPr>
        <p:grpSpPr>
          <a:xfrm>
            <a:off x="526923" y="6163151"/>
            <a:ext cx="4344894" cy="249364"/>
            <a:chOff x="526923" y="6163151"/>
            <a:chExt cx="4344894" cy="249364"/>
          </a:xfrm>
        </p:grpSpPr>
        <p:sp>
          <p:nvSpPr>
            <p:cNvPr id="32" name="TextBox 32"/>
            <p:cNvSpPr txBox="1"/>
            <p:nvPr/>
          </p:nvSpPr>
          <p:spPr>
            <a:xfrm>
              <a:off x="526923" y="6163151"/>
              <a:ext cx="43448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RegWrite = 1 时，时钟边沿把结果写进 rd 指定的寄存器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248400" y="1524000"/>
            <a:ext cx="5410200" cy="1720215"/>
            <a:chOff x="6248400" y="1524000"/>
            <a:chExt cx="5410200" cy="1720215"/>
          </a:xfrm>
        </p:grpSpPr>
        <p:sp>
          <p:nvSpPr>
            <p:cNvPr id="34" name="Rectangle 34"/>
            <p:cNvSpPr/>
            <p:nvPr/>
          </p:nvSpPr>
          <p:spPr>
            <a:xfrm>
              <a:off x="6248400" y="1524000"/>
              <a:ext cx="5410200" cy="1720215"/>
            </a:xfrm>
            <a:prstGeom prst="roundRect">
              <a:avLst>
                <a:gd name="adj" fmla="val 7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7925" y="1657350"/>
              <a:ext cx="47625" cy="14535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96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78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寄存器堆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80923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两个读端口，一个写端口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501765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59880" y="2129790"/>
              <a:ext cx="44879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读端口给出 5 位寄存器号，组合逻辑直接送出内容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501765" y="25279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59880" y="2465070"/>
              <a:ext cx="4774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写端口要 5 位寄存器号、32 位数据和 RegWrite 信号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501765" y="28632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59880" y="280035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写在时钟边沿发生，读在周期内随时有效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248400" y="3434715"/>
            <a:ext cx="5410200" cy="2055495"/>
            <a:chOff x="6248400" y="3434715"/>
            <a:chExt cx="5410200" cy="2055495"/>
          </a:xfrm>
        </p:grpSpPr>
        <p:sp>
          <p:nvSpPr>
            <p:cNvPr id="46" name="Rectangle 46"/>
            <p:cNvSpPr/>
            <p:nvPr/>
          </p:nvSpPr>
          <p:spPr>
            <a:xfrm>
              <a:off x="6248400" y="3434715"/>
              <a:ext cx="5410200" cy="205549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57925" y="3568065"/>
              <a:ext cx="47625" cy="17887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96050" y="364426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91160" y="367998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54202" y="3679508"/>
              <a:ext cx="18386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$t1, $t2, $t3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501765" y="410337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59880" y="4040505"/>
              <a:ext cx="29735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读寄存器 1 ← 指令[25:21] = $t2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501765" y="443865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59880" y="4375785"/>
              <a:ext cx="29735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读寄存器 2 ← 指令[20:16] = $t3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501765" y="477393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59880" y="4711065"/>
              <a:ext cx="2801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写寄存器 ← 指令[15:11] = $t1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501765" y="51092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59880" y="5046345"/>
              <a:ext cx="32482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 做加法，结果在周期末写进 $t1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51246" cy="909257"/>
            <a:chOff x="520446" y="342900"/>
            <a:chExt cx="59512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单周期数据通路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512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 与 sw：ALU 不做运算，改去算地址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graph-1"/>
          <p:cNvGrpSpPr/>
          <p:nvPr/>
        </p:nvGrpSpPr>
        <p:grpSpPr>
          <a:xfrm>
            <a:off x="713422" y="1728788"/>
            <a:ext cx="5108258" cy="4484369"/>
            <a:chOff x="713422" y="1728788"/>
            <a:chExt cx="5108258" cy="4484369"/>
          </a:xfrm>
        </p:grpSpPr>
        <p:sp>
          <p:nvSpPr>
            <p:cNvPr id="7" name="Freeform 7"/>
            <p:cNvSpPr/>
            <p:nvPr/>
          </p:nvSpPr>
          <p:spPr>
            <a:xfrm>
              <a:off x="1704022" y="3459480"/>
              <a:ext cx="1635443" cy="9525"/>
            </a:xfrm>
            <a:custGeom>
              <a:avLst/>
              <a:gdLst/>
              <a:ahLst/>
              <a:cxnLst/>
              <a:rect l="l" t="t" r="r" b="b"/>
              <a:pathLst>
                <a:path w="1635443" h="9525">
                  <a:moveTo>
                    <a:pt x="0" y="0"/>
                  </a:moveTo>
                  <a:lnTo>
                    <a:pt x="163544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339465" y="34118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668780" y="4811078"/>
              <a:ext cx="807720" cy="751522"/>
            </a:xfrm>
            <a:custGeom>
              <a:avLst/>
              <a:gdLst/>
              <a:ahLst/>
              <a:cxnLst/>
              <a:rect l="l" t="t" r="r" b="b"/>
              <a:pathLst>
                <a:path w="807720" h="751522">
                  <a:moveTo>
                    <a:pt x="0" y="751522"/>
                  </a:moveTo>
                  <a:lnTo>
                    <a:pt x="8077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444115" y="4746308"/>
              <a:ext cx="101917" cy="99060"/>
            </a:xfrm>
            <a:custGeom>
              <a:avLst/>
              <a:gdLst/>
              <a:ahLst/>
              <a:cxnLst/>
              <a:rect l="l" t="t" r="r" b="b"/>
              <a:pathLst>
                <a:path w="101917" h="99060">
                  <a:moveTo>
                    <a:pt x="101917" y="0"/>
                  </a:moveTo>
                  <a:lnTo>
                    <a:pt x="64770" y="99060"/>
                  </a:lnTo>
                  <a:lnTo>
                    <a:pt x="0" y="2952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208722" y="3926205"/>
              <a:ext cx="1241107" cy="559117"/>
            </a:xfrm>
            <a:custGeom>
              <a:avLst/>
              <a:gdLst/>
              <a:ahLst/>
              <a:cxnLst/>
              <a:rect l="l" t="t" r="r" b="b"/>
              <a:pathLst>
                <a:path w="1241107" h="559117">
                  <a:moveTo>
                    <a:pt x="0" y="0"/>
                  </a:moveTo>
                  <a:lnTo>
                    <a:pt x="1241107" y="5591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429828" y="4441508"/>
              <a:ext cx="106680" cy="86677"/>
            </a:xfrm>
            <a:custGeom>
              <a:avLst/>
              <a:gdLst/>
              <a:ahLst/>
              <a:cxnLst/>
              <a:rect l="l" t="t" r="r" b="b"/>
              <a:pathLst>
                <a:path w="106680" h="86677">
                  <a:moveTo>
                    <a:pt x="106680" y="82867"/>
                  </a:moveTo>
                  <a:lnTo>
                    <a:pt x="0" y="86677"/>
                  </a:lnTo>
                  <a:lnTo>
                    <a:pt x="3905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022282" y="3804285"/>
              <a:ext cx="445770" cy="469583"/>
            </a:xfrm>
            <a:custGeom>
              <a:avLst/>
              <a:gdLst/>
              <a:ahLst/>
              <a:cxnLst/>
              <a:rect l="l" t="t" r="r" b="b"/>
              <a:pathLst>
                <a:path w="445770" h="469583">
                  <a:moveTo>
                    <a:pt x="0" y="469583"/>
                  </a:moveTo>
                  <a:lnTo>
                    <a:pt x="4457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433762" y="3735705"/>
              <a:ext cx="100012" cy="101917"/>
            </a:xfrm>
            <a:custGeom>
              <a:avLst/>
              <a:gdLst/>
              <a:ahLst/>
              <a:cxnLst/>
              <a:rect l="l" t="t" r="r" b="b"/>
              <a:pathLst>
                <a:path w="100012" h="101917">
                  <a:moveTo>
                    <a:pt x="100012" y="0"/>
                  </a:moveTo>
                  <a:lnTo>
                    <a:pt x="69533" y="101917"/>
                  </a:lnTo>
                  <a:lnTo>
                    <a:pt x="0" y="361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158615" y="3459480"/>
              <a:ext cx="443865" cy="9525"/>
            </a:xfrm>
            <a:custGeom>
              <a:avLst/>
              <a:gdLst/>
              <a:ahLst/>
              <a:cxnLst/>
              <a:rect l="l" t="t" r="r" b="b"/>
              <a:pathLst>
                <a:path w="443865" h="9525">
                  <a:moveTo>
                    <a:pt x="0" y="0"/>
                  </a:moveTo>
                  <a:lnTo>
                    <a:pt x="4438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602480" y="34118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208722" y="1814512"/>
              <a:ext cx="4050983" cy="1302068"/>
            </a:xfrm>
            <a:custGeom>
              <a:avLst/>
              <a:gdLst/>
              <a:ahLst/>
              <a:cxnLst/>
              <a:rect l="l" t="t" r="r" b="b"/>
              <a:pathLst>
                <a:path w="4050983" h="1302068">
                  <a:moveTo>
                    <a:pt x="4050983" y="1302068"/>
                  </a:moveTo>
                  <a:lnTo>
                    <a:pt x="4050983" y="0"/>
                  </a:lnTo>
                  <a:lnTo>
                    <a:pt x="0" y="0"/>
                  </a:lnTo>
                  <a:lnTo>
                    <a:pt x="0" y="108299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161098" y="28975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13422" y="3002280"/>
              <a:ext cx="990600" cy="9144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19162" y="5562600"/>
              <a:ext cx="102870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546032" y="4257675"/>
              <a:ext cx="476250" cy="533400"/>
            </a:xfrm>
            <a:prstGeom prst="roundRect">
              <a:avLst>
                <a:gd name="adj" fmla="val 200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434715" y="3183255"/>
              <a:ext cx="723900" cy="552450"/>
            </a:xfrm>
            <a:prstGeom prst="roundRect">
              <a:avLst>
                <a:gd name="adj" fmla="val 17241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697730" y="3126105"/>
              <a:ext cx="1123950" cy="6667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1459" y="338947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6249" y="57116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符号扩展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68305" y="6036945"/>
              <a:ext cx="7304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 位 → 32 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29240" y="4454366"/>
              <a:ext cx="3098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Mux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52949" y="3389471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877054" y="338947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数据存储器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417445" y="3373755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443924" y="340614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基址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051810" y="3918585"/>
              <a:ext cx="45339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066288" y="3950970"/>
              <a:ext cx="4244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ALUSrc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275772" y="3373755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302252" y="340614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地址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909888" y="1728788"/>
              <a:ext cx="6477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926080" y="17602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读出的数据</a:t>
              </a:r>
            </a:p>
          </p:txBody>
        </p:sp>
      </p:grpSp>
      <p:grpSp>
        <p:nvGrpSpPr>
          <p:cNvPr id="56" name="c2-steps-1"/>
          <p:cNvGrpSpPr/>
          <p:nvPr/>
        </p:nvGrpSpPr>
        <p:grpSpPr>
          <a:xfrm>
            <a:off x="6464618" y="1533525"/>
            <a:ext cx="4394967" cy="2529173"/>
            <a:chOff x="6464618" y="1533525"/>
            <a:chExt cx="4394967" cy="2529173"/>
          </a:xfrm>
        </p:grpSpPr>
        <p:sp>
          <p:nvSpPr>
            <p:cNvPr id="39" name="Rectangle 39"/>
            <p:cNvSpPr/>
            <p:nvPr/>
          </p:nvSpPr>
          <p:spPr>
            <a:xfrm>
              <a:off x="6597968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64618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58241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64618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58241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64618" y="34861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58241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76098" y="15678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读基址寄存器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77241" y="1861661"/>
              <a:ext cx="30801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指令[25:21] 给出 $t2，读出 32 位基址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76098" y="221837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偏移量符号扩展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77241" y="251221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指令[15:0] 是 16 位补码，扩展成 32 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76098" y="2868930"/>
              <a:ext cx="10578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 做加法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77241" y="3162776"/>
              <a:ext cx="3982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 = 基址 + 偏移量，ALUSrc 选中扩展后的立即数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76098" y="352044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访问数据存储器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77241" y="3813334"/>
              <a:ext cx="38210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 读出后写回寄存器；sw 把读数据 2 写进存储器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464618" y="4241482"/>
            <a:ext cx="5193982" cy="1602105"/>
            <a:chOff x="6464618" y="4241482"/>
            <a:chExt cx="5193982" cy="1602105"/>
          </a:xfrm>
        </p:grpSpPr>
        <p:sp>
          <p:nvSpPr>
            <p:cNvPr id="57" name="Rectangle 57"/>
            <p:cNvSpPr/>
            <p:nvPr/>
          </p:nvSpPr>
          <p:spPr>
            <a:xfrm>
              <a:off x="6464618" y="4241482"/>
              <a:ext cx="519398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74142" y="4374832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712268" y="4451032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85724" y="448675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容易错的地方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04648" y="4828222"/>
              <a:ext cx="4339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偏移量必须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符号扩展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，不能补零。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lw $t1, -8($t2)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里的 -8 在 16 位补码里是 0xFFF8，补零会变成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65528。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28915" cy="909257"/>
            <a:chOff x="520446" y="342900"/>
            <a:chExt cx="82289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单周期数据通路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289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beq：ALU 去做减法判零，目标地址由另一个加法器算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graph-1"/>
          <p:cNvGrpSpPr/>
          <p:nvPr/>
        </p:nvGrpSpPr>
        <p:grpSpPr>
          <a:xfrm>
            <a:off x="814388" y="2107882"/>
            <a:ext cx="5057381" cy="4068128"/>
            <a:chOff x="814388" y="2107882"/>
            <a:chExt cx="5057381" cy="4068128"/>
          </a:xfrm>
        </p:grpSpPr>
        <p:sp>
          <p:nvSpPr>
            <p:cNvPr id="7" name="Freeform 7"/>
            <p:cNvSpPr/>
            <p:nvPr/>
          </p:nvSpPr>
          <p:spPr>
            <a:xfrm>
              <a:off x="1747838" y="4524375"/>
              <a:ext cx="524828" cy="9525"/>
            </a:xfrm>
            <a:custGeom>
              <a:avLst/>
              <a:gdLst/>
              <a:ahLst/>
              <a:cxnLst/>
              <a:rect l="l" t="t" r="r" b="b"/>
              <a:pathLst>
                <a:path w="524828" h="9525">
                  <a:moveTo>
                    <a:pt x="0" y="0"/>
                  </a:moveTo>
                  <a:lnTo>
                    <a:pt x="52482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272665" y="4476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991802" y="3300412"/>
              <a:ext cx="1010602" cy="1033462"/>
            </a:xfrm>
            <a:custGeom>
              <a:avLst/>
              <a:gdLst/>
              <a:ahLst/>
              <a:cxnLst/>
              <a:rect l="l" t="t" r="r" b="b"/>
              <a:pathLst>
                <a:path w="1010602" h="1033462">
                  <a:moveTo>
                    <a:pt x="0" y="1033462"/>
                  </a:moveTo>
                  <a:lnTo>
                    <a:pt x="101060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968115" y="323278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965" y="0"/>
                  </a:moveTo>
                  <a:lnTo>
                    <a:pt x="68580" y="100965"/>
                  </a:lnTo>
                  <a:lnTo>
                    <a:pt x="0" y="3524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818322" y="2395538"/>
              <a:ext cx="1857375" cy="430530"/>
            </a:xfrm>
            <a:custGeom>
              <a:avLst/>
              <a:gdLst/>
              <a:ahLst/>
              <a:cxnLst/>
              <a:rect l="l" t="t" r="r" b="b"/>
              <a:pathLst>
                <a:path w="1857375" h="430530">
                  <a:moveTo>
                    <a:pt x="0" y="0"/>
                  </a:moveTo>
                  <a:lnTo>
                    <a:pt x="1857375" y="4305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664268" y="2779395"/>
              <a:ext cx="103823" cy="93345"/>
            </a:xfrm>
            <a:custGeom>
              <a:avLst/>
              <a:gdLst/>
              <a:ahLst/>
              <a:cxnLst/>
              <a:rect l="l" t="t" r="r" b="b"/>
              <a:pathLst>
                <a:path w="103823" h="93345">
                  <a:moveTo>
                    <a:pt x="103823" y="68580"/>
                  </a:moveTo>
                  <a:lnTo>
                    <a:pt x="0" y="93345"/>
                  </a:lnTo>
                  <a:lnTo>
                    <a:pt x="2190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872990" y="2975610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147310" y="29279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766888" y="5975985"/>
              <a:ext cx="900112" cy="9525"/>
            </a:xfrm>
            <a:custGeom>
              <a:avLst/>
              <a:gdLst/>
              <a:ahLst/>
              <a:cxnLst/>
              <a:rect l="l" t="t" r="r" b="b"/>
              <a:pathLst>
                <a:path w="900112" h="9525">
                  <a:moveTo>
                    <a:pt x="0" y="0"/>
                  </a:moveTo>
                  <a:lnTo>
                    <a:pt x="9001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667000" y="59283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714750" y="5975985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572000" y="59283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80122" y="2107882"/>
              <a:ext cx="838200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33438" y="4333875"/>
              <a:ext cx="914400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367915" y="4333875"/>
              <a:ext cx="876300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768090" y="2718435"/>
              <a:ext cx="1104900" cy="514350"/>
            </a:xfrm>
            <a:prstGeom prst="roundRect">
              <a:avLst>
                <a:gd name="adj" fmla="val 18519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14388" y="5775960"/>
              <a:ext cx="952500" cy="4000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762250" y="5775960"/>
              <a:ext cx="952500" cy="4000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59324" y="2228374"/>
              <a:ext cx="4797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 + 4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3374" y="44543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符号扩展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83158" y="4454366"/>
              <a:ext cx="645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左移 2 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37889" y="29056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分支加法器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57241" y="29056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分支目标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3374" y="590597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18918" y="5905976"/>
              <a:ext cx="639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 减法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79236" y="5905976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Zero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248400" y="1524000"/>
            <a:ext cx="5410200" cy="1326832"/>
            <a:chOff x="6248400" y="1524000"/>
            <a:chExt cx="5410200" cy="1326832"/>
          </a:xfrm>
        </p:grpSpPr>
        <p:sp>
          <p:nvSpPr>
            <p:cNvPr id="34" name="Rectangle 34"/>
            <p:cNvSpPr/>
            <p:nvPr/>
          </p:nvSpPr>
          <p:spPr>
            <a:xfrm>
              <a:off x="6248400" y="1524000"/>
              <a:ext cx="5410200" cy="1326832"/>
            </a:xfrm>
            <a:prstGeom prst="roundRect">
              <a:avLst>
                <a:gd name="adj" fmla="val 100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7925" y="1657350"/>
              <a:ext cx="47625" cy="106013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960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695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目标地址公式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88430" y="2110740"/>
              <a:ext cx="4608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分支目标 = (PC + 4) + 4 × 符号扩展(指令[15:0])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89573" y="2442686"/>
              <a:ext cx="43724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偏移量以指令条数为单位，左移 2 位就是乘 4 换算成字节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248400" y="3041332"/>
            <a:ext cx="5410200" cy="2016442"/>
            <a:chOff x="6248400" y="3041332"/>
            <a:chExt cx="5410200" cy="2016442"/>
          </a:xfrm>
        </p:grpSpPr>
        <p:sp>
          <p:nvSpPr>
            <p:cNvPr id="41" name="Rectangle 41"/>
            <p:cNvSpPr/>
            <p:nvPr/>
          </p:nvSpPr>
          <p:spPr>
            <a:xfrm>
              <a:off x="6248400" y="3041332"/>
              <a:ext cx="5410200" cy="2016442"/>
            </a:xfrm>
            <a:prstGeom prst="roundRect">
              <a:avLst>
                <a:gd name="adj" fmla="val 66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7925" y="3174682"/>
              <a:ext cx="47625" cy="17497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96050" y="325088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86258" y="32866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97078" y="3286125"/>
              <a:ext cx="17856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40: beq $1, $3, 7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96050" y="3633788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57899" y="3676078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97040" y="3647122"/>
              <a:ext cx="1935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 + 4 = 40 + 4 = 44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96050" y="3969068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57899" y="4011358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97040" y="3982402"/>
              <a:ext cx="2175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偏移量 7 左移 2 位得 28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96050" y="4304348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57899" y="4346638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97040" y="4317682"/>
              <a:ext cx="21970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目标地址 = 44 + 28 =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89573" y="4649629"/>
              <a:ext cx="36056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正好是源课件里那段代码的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72: lw $4, 50($7)</a:t>
              </a:r>
            </a:p>
          </p:txBody>
        </p:sp>
      </p:grpSp>
      <p:grpSp>
        <p:nvGrpSpPr>
          <p:cNvPr id="63" name="c2-callout-3"/>
          <p:cNvGrpSpPr/>
          <p:nvPr/>
        </p:nvGrpSpPr>
        <p:grpSpPr>
          <a:xfrm>
            <a:off x="6248400" y="5248275"/>
            <a:ext cx="5410200" cy="782955"/>
            <a:chOff x="6248400" y="5248275"/>
            <a:chExt cx="5410200" cy="782955"/>
          </a:xfrm>
        </p:grpSpPr>
        <p:sp>
          <p:nvSpPr>
            <p:cNvPr id="57" name="Rectangle 57"/>
            <p:cNvSpPr/>
            <p:nvPr/>
          </p:nvSpPr>
          <p:spPr>
            <a:xfrm>
              <a:off x="6248400" y="524827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53188" y="5539740"/>
              <a:ext cx="200026" cy="200025"/>
              <a:chOff x="6453188" y="5539740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453188" y="55397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492926" y="55841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527642" y="56953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55130" y="5396865"/>
              <a:ext cx="43205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分支是否发生由 Zero 决定，目标地址却与 Zero 无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关，两条路可以并行算，不互相等待。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单周期数据通路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把四类指令的需求叠在一起，就是单周期数据通路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1049493" cy="308039"/>
            <a:chOff x="525399" y="1550194"/>
            <a:chExt cx="1104949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104949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部件只有一套，不同指令靠多选器挑数据来源。三个 Mux 分别决定 ALU 的第二操作数、写回的数据和下条指令地址。</a:t>
              </a:r>
            </a:p>
          </p:txBody>
        </p:sp>
      </p:grpSp>
      <p:grpSp>
        <p:nvGrpSpPr>
          <p:cNvPr id="78" name="c1-graph-1"/>
          <p:cNvGrpSpPr/>
          <p:nvPr/>
        </p:nvGrpSpPr>
        <p:grpSpPr>
          <a:xfrm>
            <a:off x="644842" y="2070735"/>
            <a:ext cx="10568940" cy="3322319"/>
            <a:chOff x="644842" y="2070735"/>
            <a:chExt cx="10568940" cy="3322319"/>
          </a:xfrm>
        </p:grpSpPr>
        <p:sp>
          <p:nvSpPr>
            <p:cNvPr id="9" name="Freeform 9"/>
            <p:cNvSpPr/>
            <p:nvPr/>
          </p:nvSpPr>
          <p:spPr>
            <a:xfrm>
              <a:off x="1187768" y="3859530"/>
              <a:ext cx="516255" cy="9525"/>
            </a:xfrm>
            <a:custGeom>
              <a:avLst/>
              <a:gdLst/>
              <a:ahLst/>
              <a:cxnLst/>
              <a:rect l="l" t="t" r="r" b="b"/>
              <a:pathLst>
                <a:path w="516255" h="9525">
                  <a:moveTo>
                    <a:pt x="0" y="0"/>
                  </a:moveTo>
                  <a:lnTo>
                    <a:pt x="5162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04022" y="38119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827972" y="3859530"/>
              <a:ext cx="916305" cy="9525"/>
            </a:xfrm>
            <a:custGeom>
              <a:avLst/>
              <a:gdLst/>
              <a:ahLst/>
              <a:cxnLst/>
              <a:rect l="l" t="t" r="r" b="b"/>
              <a:pathLst>
                <a:path w="916305" h="9525">
                  <a:moveTo>
                    <a:pt x="0" y="0"/>
                  </a:moveTo>
                  <a:lnTo>
                    <a:pt x="9163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744278" y="38119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792028" y="3859530"/>
              <a:ext cx="1997392" cy="9525"/>
            </a:xfrm>
            <a:custGeom>
              <a:avLst/>
              <a:gdLst/>
              <a:ahLst/>
              <a:cxnLst/>
              <a:rect l="l" t="t" r="r" b="b"/>
              <a:pathLst>
                <a:path w="1997392" h="9525">
                  <a:moveTo>
                    <a:pt x="0" y="0"/>
                  </a:moveTo>
                  <a:lnTo>
                    <a:pt x="199739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789420" y="38119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315778" y="3888105"/>
              <a:ext cx="1238250" cy="381000"/>
            </a:xfrm>
            <a:custGeom>
              <a:avLst/>
              <a:gdLst/>
              <a:ahLst/>
              <a:cxnLst/>
              <a:rect l="l" t="t" r="r" b="b"/>
              <a:pathLst>
                <a:path w="1238250" h="381000">
                  <a:moveTo>
                    <a:pt x="0" y="381000"/>
                  </a:moveTo>
                  <a:lnTo>
                    <a:pt x="12382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539740" y="3842385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17145"/>
                  </a:moveTo>
                  <a:lnTo>
                    <a:pt x="28575" y="91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928235" y="4167188"/>
              <a:ext cx="661988" cy="716280"/>
            </a:xfrm>
            <a:custGeom>
              <a:avLst/>
              <a:gdLst/>
              <a:ahLst/>
              <a:cxnLst/>
              <a:rect l="l" t="t" r="r" b="b"/>
              <a:pathLst>
                <a:path w="661988" h="716280">
                  <a:moveTo>
                    <a:pt x="0" y="716280"/>
                  </a:moveTo>
                  <a:lnTo>
                    <a:pt x="66198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554980" y="4096702"/>
              <a:ext cx="99060" cy="102870"/>
            </a:xfrm>
            <a:custGeom>
              <a:avLst/>
              <a:gdLst/>
              <a:ahLst/>
              <a:cxnLst/>
              <a:rect l="l" t="t" r="r" b="b"/>
              <a:pathLst>
                <a:path w="99060" h="102870">
                  <a:moveTo>
                    <a:pt x="99060" y="0"/>
                  </a:moveTo>
                  <a:lnTo>
                    <a:pt x="69532" y="10287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6092190" y="3859530"/>
              <a:ext cx="697230" cy="9525"/>
            </a:xfrm>
            <a:custGeom>
              <a:avLst/>
              <a:gdLst/>
              <a:ahLst/>
              <a:cxnLst/>
              <a:rect l="l" t="t" r="r" b="b"/>
              <a:pathLst>
                <a:path w="697230" h="9525">
                  <a:moveTo>
                    <a:pt x="0" y="0"/>
                  </a:moveTo>
                  <a:lnTo>
                    <a:pt x="6972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789420" y="38119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7532370" y="3859530"/>
              <a:ext cx="735330" cy="9525"/>
            </a:xfrm>
            <a:custGeom>
              <a:avLst/>
              <a:gdLst/>
              <a:ahLst/>
              <a:cxnLst/>
              <a:rect l="l" t="t" r="r" b="b"/>
              <a:pathLst>
                <a:path w="735330" h="9525">
                  <a:moveTo>
                    <a:pt x="0" y="0"/>
                  </a:moveTo>
                  <a:lnTo>
                    <a:pt x="7353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267700" y="38119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9391650" y="3859530"/>
              <a:ext cx="728662" cy="9525"/>
            </a:xfrm>
            <a:custGeom>
              <a:avLst/>
              <a:gdLst/>
              <a:ahLst/>
              <a:cxnLst/>
              <a:rect l="l" t="t" r="r" b="b"/>
              <a:pathLst>
                <a:path w="728662" h="9525">
                  <a:moveTo>
                    <a:pt x="0" y="0"/>
                  </a:moveTo>
                  <a:lnTo>
                    <a:pt x="7286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0120312" y="38119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7208520" y="4140518"/>
              <a:ext cx="3133725" cy="373380"/>
            </a:xfrm>
            <a:custGeom>
              <a:avLst/>
              <a:gdLst/>
              <a:ahLst/>
              <a:cxnLst/>
              <a:rect l="l" t="t" r="r" b="b"/>
              <a:pathLst>
                <a:path w="3133725" h="373380">
                  <a:moveTo>
                    <a:pt x="0" y="33338"/>
                  </a:moveTo>
                  <a:lnTo>
                    <a:pt x="1668780" y="373380"/>
                  </a:lnTo>
                  <a:lnTo>
                    <a:pt x="31337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0330815" y="4094798"/>
              <a:ext cx="103823" cy="92393"/>
            </a:xfrm>
            <a:custGeom>
              <a:avLst/>
              <a:gdLst/>
              <a:ahLst/>
              <a:cxnLst/>
              <a:rect l="l" t="t" r="r" b="b"/>
              <a:pathLst>
                <a:path w="103823" h="92393">
                  <a:moveTo>
                    <a:pt x="103823" y="21908"/>
                  </a:moveTo>
                  <a:lnTo>
                    <a:pt x="23812" y="92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315778" y="4116705"/>
              <a:ext cx="6118860" cy="1154430"/>
            </a:xfrm>
            <a:custGeom>
              <a:avLst/>
              <a:gdLst/>
              <a:ahLst/>
              <a:cxnLst/>
              <a:rect l="l" t="t" r="r" b="b"/>
              <a:pathLst>
                <a:path w="6118860" h="1154430">
                  <a:moveTo>
                    <a:pt x="6118860" y="0"/>
                  </a:moveTo>
                  <a:lnTo>
                    <a:pt x="6118860" y="1154430"/>
                  </a:lnTo>
                  <a:lnTo>
                    <a:pt x="0" y="1154430"/>
                  </a:lnTo>
                  <a:lnTo>
                    <a:pt x="0" y="2476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268152" y="42691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2313622" y="4183380"/>
              <a:ext cx="1884998" cy="881063"/>
            </a:xfrm>
            <a:custGeom>
              <a:avLst/>
              <a:gdLst/>
              <a:ahLst/>
              <a:cxnLst/>
              <a:rect l="l" t="t" r="r" b="b"/>
              <a:pathLst>
                <a:path w="1884998" h="881063">
                  <a:moveTo>
                    <a:pt x="0" y="0"/>
                  </a:moveTo>
                  <a:lnTo>
                    <a:pt x="889635" y="881063"/>
                  </a:lnTo>
                  <a:lnTo>
                    <a:pt x="1884998" y="88106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4198620" y="50168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78218" y="2776538"/>
              <a:ext cx="1038225" cy="816292"/>
            </a:xfrm>
            <a:custGeom>
              <a:avLst/>
              <a:gdLst/>
              <a:ahLst/>
              <a:cxnLst/>
              <a:rect l="l" t="t" r="r" b="b"/>
              <a:pathLst>
                <a:path w="1038225" h="816292">
                  <a:moveTo>
                    <a:pt x="0" y="816292"/>
                  </a:moveTo>
                  <a:lnTo>
                    <a:pt x="10382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986915" y="2718435"/>
              <a:ext cx="103823" cy="96203"/>
            </a:xfrm>
            <a:custGeom>
              <a:avLst/>
              <a:gdLst/>
              <a:ahLst/>
              <a:cxnLst/>
              <a:rect l="l" t="t" r="r" b="b"/>
              <a:pathLst>
                <a:path w="103823" h="96203">
                  <a:moveTo>
                    <a:pt x="103823" y="0"/>
                  </a:moveTo>
                  <a:lnTo>
                    <a:pt x="59055" y="96203"/>
                  </a:lnTo>
                  <a:lnTo>
                    <a:pt x="0" y="2095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2313622" y="2753678"/>
              <a:ext cx="1914525" cy="782002"/>
            </a:xfrm>
            <a:custGeom>
              <a:avLst/>
              <a:gdLst/>
              <a:ahLst/>
              <a:cxnLst/>
              <a:rect l="l" t="t" r="r" b="b"/>
              <a:pathLst>
                <a:path w="1914525" h="782002">
                  <a:moveTo>
                    <a:pt x="0" y="782002"/>
                  </a:moveTo>
                  <a:lnTo>
                    <a:pt x="19145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4210050" y="2709862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105728" y="8572"/>
                  </a:moveTo>
                  <a:lnTo>
                    <a:pt x="36195" y="885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2490788" y="2518410"/>
              <a:ext cx="4108132" cy="9525"/>
            </a:xfrm>
            <a:custGeom>
              <a:avLst/>
              <a:gdLst/>
              <a:ahLst/>
              <a:cxnLst/>
              <a:rect l="l" t="t" r="r" b="b"/>
              <a:pathLst>
                <a:path w="4108132" h="9525">
                  <a:moveTo>
                    <a:pt x="0" y="0"/>
                  </a:moveTo>
                  <a:lnTo>
                    <a:pt x="410813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598920" y="24707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5217795" y="5064442"/>
              <a:ext cx="758190" cy="9525"/>
            </a:xfrm>
            <a:custGeom>
              <a:avLst/>
              <a:gdLst/>
              <a:ahLst/>
              <a:cxnLst/>
              <a:rect l="l" t="t" r="r" b="b"/>
              <a:pathLst>
                <a:path w="758190" h="9525">
                  <a:moveTo>
                    <a:pt x="0" y="0"/>
                  </a:moveTo>
                  <a:lnTo>
                    <a:pt x="7581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5975985" y="50168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6318885" y="2806065"/>
              <a:ext cx="853440" cy="2067877"/>
            </a:xfrm>
            <a:custGeom>
              <a:avLst/>
              <a:gdLst/>
              <a:ahLst/>
              <a:cxnLst/>
              <a:rect l="l" t="t" r="r" b="b"/>
              <a:pathLst>
                <a:path w="853440" h="2067877">
                  <a:moveTo>
                    <a:pt x="0" y="2067877"/>
                  </a:moveTo>
                  <a:lnTo>
                    <a:pt x="8534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128510" y="2718435"/>
              <a:ext cx="87630" cy="105728"/>
            </a:xfrm>
            <a:custGeom>
              <a:avLst/>
              <a:gdLst/>
              <a:ahLst/>
              <a:cxnLst/>
              <a:rect l="l" t="t" r="r" b="b"/>
              <a:pathLst>
                <a:path w="87630" h="105728">
                  <a:moveTo>
                    <a:pt x="80010" y="0"/>
                  </a:moveTo>
                  <a:lnTo>
                    <a:pt x="87630" y="105728"/>
                  </a:lnTo>
                  <a:lnTo>
                    <a:pt x="0" y="6953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7722870" y="2518410"/>
              <a:ext cx="1173480" cy="9525"/>
            </a:xfrm>
            <a:custGeom>
              <a:avLst/>
              <a:gdLst/>
              <a:ahLst/>
              <a:cxnLst/>
              <a:rect l="l" t="t" r="r" b="b"/>
              <a:pathLst>
                <a:path w="1173480" h="9525">
                  <a:moveTo>
                    <a:pt x="0" y="0"/>
                  </a:moveTo>
                  <a:lnTo>
                    <a:pt x="11734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896350" y="24707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2090738" y="2070735"/>
              <a:ext cx="7119938" cy="247650"/>
            </a:xfrm>
            <a:custGeom>
              <a:avLst/>
              <a:gdLst/>
              <a:ahLst/>
              <a:cxnLst/>
              <a:rect l="l" t="t" r="r" b="b"/>
              <a:pathLst>
                <a:path w="7119938" h="247650">
                  <a:moveTo>
                    <a:pt x="0" y="247650"/>
                  </a:moveTo>
                  <a:lnTo>
                    <a:pt x="0" y="0"/>
                  </a:lnTo>
                  <a:lnTo>
                    <a:pt x="7119938" y="0"/>
                  </a:lnTo>
                  <a:lnTo>
                    <a:pt x="7119938" y="952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163050" y="21659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644842" y="2518410"/>
              <a:ext cx="10568940" cy="1252538"/>
            </a:xfrm>
            <a:custGeom>
              <a:avLst/>
              <a:gdLst/>
              <a:ahLst/>
              <a:cxnLst/>
              <a:rect l="l" t="t" r="r" b="b"/>
              <a:pathLst>
                <a:path w="10568940" h="1252538">
                  <a:moveTo>
                    <a:pt x="8794432" y="0"/>
                  </a:moveTo>
                  <a:lnTo>
                    <a:pt x="10568940" y="0"/>
                  </a:lnTo>
                  <a:lnTo>
                    <a:pt x="10568940" y="1031558"/>
                  </a:lnTo>
                  <a:lnTo>
                    <a:pt x="0" y="1031558"/>
                  </a:lnTo>
                  <a:lnTo>
                    <a:pt x="80962" y="12525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681990" y="3753802"/>
              <a:ext cx="88583" cy="105727"/>
            </a:xfrm>
            <a:custGeom>
              <a:avLst/>
              <a:gdLst/>
              <a:ahLst/>
              <a:cxnLst/>
              <a:rect l="l" t="t" r="r" b="b"/>
              <a:pathLst>
                <a:path w="88583" h="105727">
                  <a:moveTo>
                    <a:pt x="77153" y="105727"/>
                  </a:moveTo>
                  <a:lnTo>
                    <a:pt x="0" y="33338"/>
                  </a:lnTo>
                  <a:lnTo>
                    <a:pt x="8858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68668" y="3602355"/>
              <a:ext cx="419100" cy="514350"/>
            </a:xfrm>
            <a:prstGeom prst="roundRect">
              <a:avLst>
                <a:gd name="adj" fmla="val 22727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799272" y="3545205"/>
              <a:ext cx="1028700" cy="628650"/>
            </a:xfrm>
            <a:prstGeom prst="roundRect">
              <a:avLst>
                <a:gd name="adj" fmla="val 1515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3839528" y="3459480"/>
              <a:ext cx="952500" cy="800100"/>
            </a:xfrm>
            <a:prstGeom prst="roundRect">
              <a:avLst>
                <a:gd name="adj" fmla="val 1190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654040" y="3611880"/>
              <a:ext cx="438150" cy="49530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84670" y="3554730"/>
              <a:ext cx="647700" cy="609600"/>
            </a:xfrm>
            <a:prstGeom prst="roundRect">
              <a:avLst>
                <a:gd name="adj" fmla="val 15625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362950" y="3545205"/>
              <a:ext cx="1028700" cy="628650"/>
            </a:xfrm>
            <a:prstGeom prst="roundRect">
              <a:avLst>
                <a:gd name="adj" fmla="val 1515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215562" y="3611880"/>
              <a:ext cx="438150" cy="49530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4303395" y="4883468"/>
              <a:ext cx="914400" cy="361950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071235" y="4883468"/>
              <a:ext cx="495300" cy="361950"/>
            </a:xfrm>
            <a:prstGeom prst="roundRect">
              <a:avLst>
                <a:gd name="adj" fmla="val 2631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690688" y="2327910"/>
              <a:ext cx="800100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3858578" y="2327910"/>
              <a:ext cx="914400" cy="381000"/>
            </a:xfrm>
            <a:prstGeom prst="roundRect">
              <a:avLst>
                <a:gd name="adj" fmla="val 25000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694170" y="2327910"/>
              <a:ext cx="1028700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991600" y="2270760"/>
              <a:ext cx="438150" cy="49530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80502" y="378952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PC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930972" y="378952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指令存储器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008514" y="37895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718197" y="3789521"/>
              <a:ext cx="3098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Mux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64804" y="3789521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494649" y="378952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数据存储器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279720" y="3789521"/>
              <a:ext cx="3098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Mux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453331" y="49944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符号扩展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158815" y="4994434"/>
              <a:ext cx="320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&lt;&lt; 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850839" y="2448401"/>
              <a:ext cx="4797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 + 4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008514" y="24484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控制单元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825869" y="24484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分支加法器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055757" y="2448401"/>
              <a:ext cx="3098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Mux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165658" y="5185410"/>
              <a:ext cx="4191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188708" y="521684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写数据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596326" y="3187541"/>
              <a:ext cx="553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ALUSrc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043594" y="3187541"/>
              <a:ext cx="7820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MemtoReg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647589" y="2121694"/>
              <a:ext cx="4615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PCSrc</a:t>
              </a:r>
            </a:p>
          </p:txBody>
        </p:sp>
      </p:grpSp>
      <p:grpSp>
        <p:nvGrpSpPr>
          <p:cNvPr id="84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79" name="Rectangle 79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040130" y="5728335"/>
              <a:ext cx="99021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第四个多选器 RegDst 在寄存器堆的写端口一侧，为了不挡住主干线路没有画进图里。其余部件每条指令都在用，只是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结果被不被采纳。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24813" cy="909257"/>
            <a:chOff x="520446" y="342900"/>
            <a:chExt cx="73248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单周期数据通路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248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 控制：两级译码，先看 ALUOp 再看 funct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9" name="c1-table-1"/>
          <p:cNvGrpSpPr/>
          <p:nvPr/>
        </p:nvGrpSpPr>
        <p:grpSpPr>
          <a:xfrm>
            <a:off x="533400" y="1524000"/>
            <a:ext cx="6059805" cy="4039553"/>
            <a:chOff x="533400" y="1524000"/>
            <a:chExt cx="6059805" cy="4039553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35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05330" y="1659731"/>
              <a:ext cx="5708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ALUOp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65160" y="1659731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funct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67766" y="1659731"/>
              <a:ext cx="730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ALU 动作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14156" y="1659731"/>
              <a:ext cx="9026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ALU 控制线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108359"/>
              <a:ext cx="2029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89513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55468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不关心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54157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69473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416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42125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2556986"/>
              <a:ext cx="2481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89513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55468" y="25569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不关心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54157" y="25569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69473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8660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005614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beq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89513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55468" y="30056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不关心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54157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69473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0110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3147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319462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3454241"/>
              <a:ext cx="7005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型 add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89513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29621" y="345424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100000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354157" y="34542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69473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7633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1223" y="3903821"/>
              <a:ext cx="7005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型 sub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189513" y="390382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029621" y="390382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100010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54157" y="39038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69473" y="390382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0110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21195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3400" y="4216718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1223" y="4352449"/>
              <a:ext cx="7005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型 and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189513" y="435244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029621" y="435244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100100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440314" y="435244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669473" y="435244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46605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1223" y="4801076"/>
              <a:ext cx="6010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型 or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189513" y="480107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029621" y="480107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100101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440314" y="480107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669473" y="480107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51101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3400" y="511492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1223" y="5249704"/>
              <a:ext cx="6553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型 slt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189513" y="524970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029621" y="5249704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101010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194767" y="524970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小于置 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669473" y="524970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0111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1524000"/>
              <a:ext cx="6059805" cy="40395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1862138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2709862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3921442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133975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9" name="c2-card-1"/>
          <p:cNvGrpSpPr/>
          <p:nvPr/>
        </p:nvGrpSpPr>
        <p:grpSpPr>
          <a:xfrm>
            <a:off x="6898005" y="1524000"/>
            <a:ext cx="4760595" cy="1947862"/>
            <a:chOff x="6898005" y="1524000"/>
            <a:chExt cx="4760595" cy="1947862"/>
          </a:xfrm>
        </p:grpSpPr>
        <p:sp>
          <p:nvSpPr>
            <p:cNvPr id="70" name="Rectangle 70"/>
            <p:cNvSpPr/>
            <p:nvPr/>
          </p:nvSpPr>
          <p:spPr>
            <a:xfrm>
              <a:off x="6898005" y="1524000"/>
              <a:ext cx="4760595" cy="1947862"/>
            </a:xfrm>
            <a:prstGeom prst="roundRect">
              <a:avLst>
                <a:gd name="adj" fmla="val 68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907530" y="1657350"/>
              <a:ext cx="47625" cy="168116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145655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219112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为什么要两级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7151370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309485" y="2110740"/>
              <a:ext cx="4194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主控制单元只看 6 位操作码，给出 2 位 ALUOp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7151370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309485" y="2446020"/>
              <a:ext cx="3863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funct 字段只有 R 型指令才有意义，交给一个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小的组合逻辑单独译码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139178" y="306371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好处是主控制单元的输出位数少，逻辑简单</a:t>
              </a:r>
            </a:p>
          </p:txBody>
        </p:sp>
      </p:grpSp>
      <p:grpSp>
        <p:nvGrpSpPr>
          <p:cNvPr id="85" name="c2-card-2"/>
          <p:cNvGrpSpPr/>
          <p:nvPr/>
        </p:nvGrpSpPr>
        <p:grpSpPr>
          <a:xfrm>
            <a:off x="6898005" y="3662362"/>
            <a:ext cx="4760595" cy="1901190"/>
            <a:chOff x="6898005" y="3662362"/>
            <a:chExt cx="4760595" cy="1901190"/>
          </a:xfrm>
        </p:grpSpPr>
        <p:sp>
          <p:nvSpPr>
            <p:cNvPr id="80" name="Rectangle 80"/>
            <p:cNvSpPr/>
            <p:nvPr/>
          </p:nvSpPr>
          <p:spPr>
            <a:xfrm>
              <a:off x="6898005" y="3662362"/>
              <a:ext cx="4760595" cy="1901190"/>
            </a:xfrm>
            <a:prstGeom prst="roundRect">
              <a:avLst>
                <a:gd name="adj" fmla="val 70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6907530" y="3795712"/>
              <a:ext cx="47625" cy="16344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7145655" y="3871912"/>
              <a:ext cx="1541145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194619" y="3907631"/>
              <a:ext cx="1443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完整的 ALU 控制编码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138035" y="4249102"/>
              <a:ext cx="41109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与、0001 或、0010 加、0110 减、0111 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于置 1、1100 或非。这 6 种覆盖了本章讨论的全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部指令。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单周期数据通路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控制单元的输入只有操作码，字段位置却是固定的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cells-1"/>
          <p:cNvGrpSpPr/>
          <p:nvPr/>
        </p:nvGrpSpPr>
        <p:grpSpPr>
          <a:xfrm>
            <a:off x="528638" y="1524000"/>
            <a:ext cx="5610224" cy="2061210"/>
            <a:chOff x="528638" y="1524000"/>
            <a:chExt cx="5610224" cy="2061210"/>
          </a:xfrm>
        </p:grpSpPr>
        <p:sp>
          <p:nvSpPr>
            <p:cNvPr id="7" name="TextBox 7"/>
            <p:cNvSpPr txBox="1"/>
            <p:nvPr/>
          </p:nvSpPr>
          <p:spPr>
            <a:xfrm>
              <a:off x="528638" y="1668780"/>
              <a:ext cx="2449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 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14412" y="1524000"/>
              <a:ext cx="854392" cy="40195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33626" y="1668780"/>
              <a:ext cx="4169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 6 位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868805" y="1524000"/>
              <a:ext cx="854392" cy="40195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87066" y="1668780"/>
              <a:ext cx="4169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 5 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723198" y="1524000"/>
              <a:ext cx="854392" cy="40195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941458" y="1668780"/>
              <a:ext cx="4169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 5 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576638" y="1524000"/>
              <a:ext cx="854392" cy="40195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94898" y="1668780"/>
              <a:ext cx="4169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 5 位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431030" y="1524000"/>
              <a:ext cx="854392" cy="40195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31616" y="1668780"/>
              <a:ext cx="6522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shamt 5 位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284470" y="1524000"/>
              <a:ext cx="854392" cy="40195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398730" y="1668780"/>
              <a:ext cx="6268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funct 6 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8638" y="2222182"/>
              <a:ext cx="3784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lw/sw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014412" y="2077402"/>
              <a:ext cx="794385" cy="40195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68161" y="2222182"/>
              <a:ext cx="4868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 或 43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809750" y="2077402"/>
              <a:ext cx="794385" cy="40195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998483" y="2222182"/>
              <a:ext cx="4169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 5 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604135" y="2077402"/>
              <a:ext cx="794385" cy="40195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792868" y="2222182"/>
              <a:ext cx="4169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 5 位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398520" y="2077402"/>
              <a:ext cx="794385" cy="40195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501079" y="2222182"/>
              <a:ext cx="5892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 16 位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192905" y="2077402"/>
              <a:ext cx="794385" cy="40195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87290" y="2077402"/>
              <a:ext cx="794385" cy="40195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8638" y="2775585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beq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14412" y="2630805"/>
              <a:ext cx="794385" cy="40195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371858" y="277558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809750" y="2630805"/>
              <a:ext cx="794385" cy="40195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998483" y="2775585"/>
              <a:ext cx="4169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 5 位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604135" y="2630805"/>
              <a:ext cx="794385" cy="40195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792868" y="2775585"/>
              <a:ext cx="4169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 5 位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398520" y="2630805"/>
              <a:ext cx="794385" cy="40195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501079" y="2775585"/>
              <a:ext cx="5892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 16 位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192905" y="2630805"/>
              <a:ext cx="794385" cy="40195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4987290" y="2630805"/>
              <a:ext cx="794385" cy="40195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8638" y="3328988"/>
              <a:ext cx="47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14412" y="3183255"/>
              <a:ext cx="794385" cy="40195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371858" y="33289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809750" y="3183255"/>
              <a:ext cx="794385" cy="40195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912309" y="3328988"/>
              <a:ext cx="5892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 26 位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604135" y="3183255"/>
              <a:ext cx="794385" cy="40195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3398520" y="3183255"/>
              <a:ext cx="794385" cy="40195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4192905" y="3183255"/>
              <a:ext cx="794385" cy="40195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4987290" y="3183255"/>
              <a:ext cx="794385" cy="40195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</p:grpSp>
      <p:grpSp>
        <p:nvGrpSpPr>
          <p:cNvPr id="57" name="c1-card-2"/>
          <p:cNvGrpSpPr/>
          <p:nvPr/>
        </p:nvGrpSpPr>
        <p:grpSpPr>
          <a:xfrm>
            <a:off x="533400" y="3755708"/>
            <a:ext cx="5842635" cy="1185862"/>
            <a:chOff x="533400" y="3755708"/>
            <a:chExt cx="5842635" cy="1185862"/>
          </a:xfrm>
        </p:grpSpPr>
        <p:sp>
          <p:nvSpPr>
            <p:cNvPr id="52" name="Rectangle 52"/>
            <p:cNvSpPr/>
            <p:nvPr/>
          </p:nvSpPr>
          <p:spPr>
            <a:xfrm>
              <a:off x="533400" y="3755708"/>
              <a:ext cx="584263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542925" y="3889058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58190" y="394239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50862" y="397525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位序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1332" y="4287202"/>
              <a:ext cx="51829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从左到右依次是 31:26、25:21、20:16、15:11、10:6、5:0。四种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格式的前三个字段位置完全一致，这是 MIPS 规整性的直接体现。</a:t>
              </a:r>
            </a:p>
          </p:txBody>
        </p:sp>
      </p:grpSp>
      <p:grpSp>
        <p:nvGrpSpPr>
          <p:cNvPr id="62" name="c1-card-3"/>
          <p:cNvGrpSpPr/>
          <p:nvPr/>
        </p:nvGrpSpPr>
        <p:grpSpPr>
          <a:xfrm>
            <a:off x="533400" y="5111115"/>
            <a:ext cx="5842635" cy="1185862"/>
            <a:chOff x="533400" y="5111115"/>
            <a:chExt cx="5842635" cy="1185862"/>
          </a:xfrm>
        </p:grpSpPr>
        <p:sp>
          <p:nvSpPr>
            <p:cNvPr id="58" name="Rectangle 58"/>
            <p:cNvSpPr/>
            <p:nvPr/>
          </p:nvSpPr>
          <p:spPr>
            <a:xfrm>
              <a:off x="533400" y="5111115"/>
              <a:ext cx="5842635" cy="1185862"/>
            </a:xfrm>
            <a:prstGeom prst="roundRect">
              <a:avLst>
                <a:gd name="adj" fmla="val 1124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20090" y="5297805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93458" y="533066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译码前就能动手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3232" y="5642610"/>
              <a:ext cx="51229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因为 rs、rt 的位置固定，硬件可以不等操作码译完就把这两个字段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送进寄存器堆的读端口。译码与读寄存器因此能挤进同一段。</a:t>
              </a:r>
            </a:p>
          </p:txBody>
        </p:sp>
      </p:grpSp>
      <p:grpSp>
        <p:nvGrpSpPr>
          <p:cNvPr id="80" name="c2-kv-1"/>
          <p:cNvGrpSpPr/>
          <p:nvPr/>
        </p:nvGrpSpPr>
        <p:grpSpPr>
          <a:xfrm>
            <a:off x="6673977" y="1545907"/>
            <a:ext cx="4984623" cy="2226184"/>
            <a:chOff x="6673977" y="1545907"/>
            <a:chExt cx="4984623" cy="2226184"/>
          </a:xfrm>
        </p:grpSpPr>
        <p:sp>
          <p:nvSpPr>
            <p:cNvPr id="63" name="TextBox 63"/>
            <p:cNvSpPr txBox="1"/>
            <p:nvPr/>
          </p:nvSpPr>
          <p:spPr>
            <a:xfrm>
              <a:off x="6673977" y="1545907"/>
              <a:ext cx="11118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指令[31:26]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000810" y="1545907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操作码，送进主控制单元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680835" y="183261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673977" y="1938338"/>
              <a:ext cx="11118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指令[25:21]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000810" y="1938338"/>
              <a:ext cx="2349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一直送到寄存器堆的读端口 1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680835" y="222504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673977" y="2330768"/>
              <a:ext cx="11118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指令[20:16]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000810" y="2330768"/>
              <a:ext cx="3139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送读端口 2；lw 时又是写目标寄存器号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680835" y="261747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673977" y="2723198"/>
              <a:ext cx="11118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指令[15:11]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000810" y="2723198"/>
              <a:ext cx="21760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型指令的写目标寄存器号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680835" y="30099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673977" y="3115627"/>
              <a:ext cx="10069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指令[15:0]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000810" y="3115627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符号扩展后作立即数或分支偏移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680835" y="340233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673977" y="3508058"/>
              <a:ext cx="901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指令[5:0]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000810" y="3508058"/>
              <a:ext cx="20904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funct 字段，送 ALU 控制</a:t>
              </a:r>
            </a:p>
          </p:txBody>
        </p:sp>
      </p:grpSp>
      <p:grpSp>
        <p:nvGrpSpPr>
          <p:cNvPr id="85" name="c2-card-2"/>
          <p:cNvGrpSpPr/>
          <p:nvPr/>
        </p:nvGrpSpPr>
        <p:grpSpPr>
          <a:xfrm>
            <a:off x="6680835" y="3889058"/>
            <a:ext cx="4977765" cy="2407920"/>
            <a:chOff x="6680835" y="3889058"/>
            <a:chExt cx="4977765" cy="2407920"/>
          </a:xfrm>
        </p:grpSpPr>
        <p:sp>
          <p:nvSpPr>
            <p:cNvPr id="81" name="Rectangle 81"/>
            <p:cNvSpPr/>
            <p:nvPr/>
          </p:nvSpPr>
          <p:spPr>
            <a:xfrm>
              <a:off x="6680835" y="3889058"/>
              <a:ext cx="4977765" cy="2407920"/>
            </a:xfrm>
            <a:prstGeom prst="roundRect">
              <a:avLst>
                <a:gd name="adj" fmla="val 553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867525" y="4075748"/>
              <a:ext cx="130206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930215" y="4108609"/>
              <a:ext cx="11776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RegDst 存在的理由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860667" y="4420552"/>
              <a:ext cx="42999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 型指令的目标寄存器号在 15:11 位，lw 的却在 20:16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位。一个多选器就解决了这个位置差异，不必为此增设第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二套译码线路。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单周期数据通路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主控制单元真值表：把四类指令的信号一次填完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177153" cy="293370"/>
            <a:chOff x="525780" y="1548765"/>
            <a:chExt cx="617715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1771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表中的 X 表示这条指令不关心该信号，硬件取 0 或 1 都不影响结果。</a:t>
              </a:r>
            </a:p>
          </p:txBody>
        </p:sp>
      </p:grpSp>
      <p:grpSp>
        <p:nvGrpSpPr>
          <p:cNvPr id="81" name="c1-table-1"/>
          <p:cNvGrpSpPr/>
          <p:nvPr/>
        </p:nvGrpSpPr>
        <p:grpSpPr>
          <a:xfrm>
            <a:off x="533400" y="1954530"/>
            <a:ext cx="6276022" cy="4301490"/>
            <a:chOff x="533400" y="1954530"/>
            <a:chExt cx="6276022" cy="4301490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276022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46226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控制信号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56362" y="2085975"/>
              <a:ext cx="3260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 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68205" y="2085975"/>
              <a:ext cx="190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lw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50950" y="2085975"/>
              <a:ext cx="2327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sw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72839" y="208597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beq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8746" y="2515552"/>
              <a:ext cx="5825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RegDst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6887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1283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14265" y="251555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65837" y="251555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0987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814638"/>
              <a:ext cx="627602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2946082"/>
              <a:ext cx="5930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ALUSrc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6887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1283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1677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6835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4040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746" y="3376612"/>
              <a:ext cx="8378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MemtoReg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68879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12832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14265" y="337661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65837" y="337661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66998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674745"/>
              <a:ext cx="627602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8746" y="3806190"/>
              <a:ext cx="7604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RegWrite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68879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912832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514850" y="3684270"/>
              <a:ext cx="1104900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016779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638800" y="3684270"/>
              <a:ext cx="1161098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68352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10051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8746" y="4236720"/>
              <a:ext cx="744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MemRead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768879" y="423672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912832" y="423672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16779" y="423672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68352" y="423672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453104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33400" y="4535805"/>
              <a:ext cx="627602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8746" y="4666298"/>
              <a:ext cx="829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MemWrite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768879" y="466629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912832" y="466629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514850" y="4545330"/>
              <a:ext cx="110490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016779" y="466629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168352" y="466629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496062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8746" y="5096828"/>
              <a:ext cx="577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Branch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768879" y="509682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912832" y="509682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016779" y="509682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638800" y="4974908"/>
              <a:ext cx="1161098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168352" y="509682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33400" y="53911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33400" y="5395912"/>
              <a:ext cx="627602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8746" y="5527358"/>
              <a:ext cx="63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ALUOp1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768879" y="552735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912832" y="552735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016779" y="552735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168352" y="552735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33400" y="58207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38746" y="5956935"/>
              <a:ext cx="63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ALUOp0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768879" y="59569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912832" y="59569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016779" y="59569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168352" y="59569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33400" y="1954530"/>
              <a:ext cx="6276022" cy="43014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2212658" y="1954530"/>
              <a:ext cx="9525" cy="43014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3416618" y="1954530"/>
              <a:ext cx="9525" cy="43014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4500562" y="1954530"/>
              <a:ext cx="9525" cy="43014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5624512" y="1954530"/>
              <a:ext cx="9525" cy="43014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6" name="c2-kv-1"/>
          <p:cNvGrpSpPr/>
          <p:nvPr/>
        </p:nvGrpSpPr>
        <p:grpSpPr>
          <a:xfrm>
            <a:off x="7106984" y="1977866"/>
            <a:ext cx="4551616" cy="1965580"/>
            <a:chOff x="7106984" y="1977866"/>
            <a:chExt cx="4551616" cy="1965580"/>
          </a:xfrm>
        </p:grpSpPr>
        <p:sp>
          <p:nvSpPr>
            <p:cNvPr id="82" name="TextBox 82"/>
            <p:cNvSpPr txBox="1"/>
            <p:nvPr/>
          </p:nvSpPr>
          <p:spPr>
            <a:xfrm>
              <a:off x="7106984" y="1977866"/>
              <a:ext cx="6893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RegDst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301418" y="1977866"/>
              <a:ext cx="31495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写目标寄存器号取 15:11 还是 20:16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7114222" y="228409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106984" y="2399824"/>
              <a:ext cx="7018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ALUSrc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301418" y="2399824"/>
              <a:ext cx="32757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 第二个操作数取寄存器还是立即数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7114222" y="270510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106984" y="2821781"/>
              <a:ext cx="9915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MemtoReg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301418" y="2821781"/>
              <a:ext cx="30845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写回寄存器的数据取存储器还是 ALU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7114222" y="312705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106984" y="3242786"/>
              <a:ext cx="899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RegWrite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301418" y="324278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本周期是否写寄存器堆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7114222" y="354901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106984" y="3664744"/>
              <a:ext cx="6830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Branch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301418" y="3664744"/>
              <a:ext cx="26211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Zero 相与后决定 PC 的来源</a:t>
              </a:r>
            </a:p>
          </p:txBody>
        </p:sp>
      </p:grpSp>
      <p:grpSp>
        <p:nvGrpSpPr>
          <p:cNvPr id="102" name="c2-card-2"/>
          <p:cNvGrpSpPr/>
          <p:nvPr/>
        </p:nvGrpSpPr>
        <p:grpSpPr>
          <a:xfrm>
            <a:off x="7114222" y="4072890"/>
            <a:ext cx="4544378" cy="2183130"/>
            <a:chOff x="7114222" y="4072890"/>
            <a:chExt cx="4544378" cy="2183130"/>
          </a:xfrm>
        </p:grpSpPr>
        <p:sp>
          <p:nvSpPr>
            <p:cNvPr id="97" name="Rectangle 97"/>
            <p:cNvSpPr/>
            <p:nvPr/>
          </p:nvSpPr>
          <p:spPr>
            <a:xfrm>
              <a:off x="7114222" y="4072890"/>
              <a:ext cx="4544378" cy="2183130"/>
            </a:xfrm>
            <a:prstGeom prst="roundRect">
              <a:avLst>
                <a:gd name="adj" fmla="val 61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7123748" y="4206240"/>
              <a:ext cx="47625" cy="19164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7356158" y="427672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7424712" y="43124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写信号必须准确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348918" y="4649629"/>
              <a:ext cx="382866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RegWrite 和 MemWrite 是仅有的两个会改变机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器状态的信号，取 X 会把不该写的地方写坏，所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以表里它们永远是确定值。</a:t>
              </a:r>
            </a:p>
          </p:txBody>
        </p:sp>
      </p:grpSp>
      <p:grpSp>
        <p:nvGrpSpPr>
          <p:cNvPr id="10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3" name="TextBox 10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42882" cy="909257"/>
            <a:chOff x="520446" y="342900"/>
            <a:chExt cx="54428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单周期数据通路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428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走一遍 add 和 lw，看信号怎样配合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card-1"/>
          <p:cNvGrpSpPr/>
          <p:nvPr/>
        </p:nvGrpSpPr>
        <p:grpSpPr>
          <a:xfrm>
            <a:off x="533400" y="1524000"/>
            <a:ext cx="5410200" cy="2923222"/>
            <a:chOff x="533400" y="1524000"/>
            <a:chExt cx="5410200" cy="29232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923222"/>
            </a:xfrm>
            <a:prstGeom prst="roundRect">
              <a:avLst>
                <a:gd name="adj" fmla="val 456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65652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791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742" y="176926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6838" y="1768792"/>
              <a:ext cx="18386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$t1, $t2, $t3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11645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129790"/>
              <a:ext cx="39837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取指：PC → 指令存储器，同时算出 PC + 4。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45173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465070"/>
              <a:ext cx="42961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译码：读出 $t2 和 $t3；控制单元给出各信号。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278701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2800350"/>
              <a:ext cx="4444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执行：ALU 控制由 funct = 100000 定为 0010，做加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法。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1050" y="340804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2899" y="34503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2040" y="3421380"/>
              <a:ext cx="4034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写回：RegDst = 1 选中指令[15:11]，即 $t1，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RegWrite = 1 在边沿写入。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573" y="4039076"/>
              <a:ext cx="46999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数据存储器这一路的结果被 MemtoReg = 0 挡在了写端口之外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4637722"/>
            <a:ext cx="5410200" cy="1355408"/>
            <a:chOff x="533400" y="4637722"/>
            <a:chExt cx="5410200" cy="1355408"/>
          </a:xfrm>
        </p:grpSpPr>
        <p:sp>
          <p:nvSpPr>
            <p:cNvPr id="26" name="Rectangle 26"/>
            <p:cNvSpPr/>
            <p:nvPr/>
          </p:nvSpPr>
          <p:spPr>
            <a:xfrm>
              <a:off x="533400" y="4637722"/>
              <a:ext cx="5410200" cy="1355408"/>
            </a:xfrm>
            <a:prstGeom prst="roundRect">
              <a:avLst>
                <a:gd name="adj" fmla="val 98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4771072"/>
              <a:ext cx="47625" cy="10887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81050" y="4847272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54507" y="488299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控制信号取值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3430" y="5224462"/>
              <a:ext cx="4425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RegDst 1，ALUSrc 0，MemtoReg 0，RegWrite 1，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MemRead 0，MemWrite 0，Branch 0，ALUOp 10</a:t>
              </a:r>
            </a:p>
          </p:txBody>
        </p:sp>
      </p:grpSp>
      <p:grpSp>
        <p:nvGrpSpPr>
          <p:cNvPr id="52" name="c2-card-1"/>
          <p:cNvGrpSpPr/>
          <p:nvPr/>
        </p:nvGrpSpPr>
        <p:grpSpPr>
          <a:xfrm>
            <a:off x="6248400" y="1524000"/>
            <a:ext cx="5410200" cy="2962275"/>
            <a:chOff x="6248400" y="1524000"/>
            <a:chExt cx="5410200" cy="2962275"/>
          </a:xfrm>
        </p:grpSpPr>
        <p:sp>
          <p:nvSpPr>
            <p:cNvPr id="32" name="Rectangle 32"/>
            <p:cNvSpPr/>
            <p:nvPr/>
          </p:nvSpPr>
          <p:spPr>
            <a:xfrm>
              <a:off x="6248400" y="1524000"/>
              <a:ext cx="5410200" cy="2962275"/>
            </a:xfrm>
            <a:prstGeom prst="roundRect">
              <a:avLst>
                <a:gd name="adj" fmla="val 45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57925" y="1657350"/>
              <a:ext cx="47625" cy="26955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96050" y="1733550"/>
              <a:ext cx="4791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86742" y="176926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81838" y="1768792"/>
              <a:ext cx="1531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 $t1, 8($t2)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96050" y="211645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57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97040" y="212979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取指：同上。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96050" y="245173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57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97040" y="2465070"/>
              <a:ext cx="43062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译码：读出 $t2；指令[15:0] = 8 送符号扩展。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96050" y="278701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57899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97040" y="2800350"/>
              <a:ext cx="4215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执行：ALUSrc = 1 选立即数，ALU 算出地址 $t2 +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8。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96050" y="340804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57899" y="34503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97040" y="3421380"/>
              <a:ext cx="40631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访存：MemRead = 1，按该地址读出一个字。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96050" y="374332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57899" y="37856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97040" y="3756660"/>
              <a:ext cx="4415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写回：MemtoReg = 1 选存储器数据，RegDst = 0 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指令[20:16]，写进 $t1。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248400" y="4676775"/>
            <a:ext cx="5410200" cy="1316355"/>
            <a:chOff x="6248400" y="4676775"/>
            <a:chExt cx="5410200" cy="1316355"/>
          </a:xfrm>
        </p:grpSpPr>
        <p:sp>
          <p:nvSpPr>
            <p:cNvPr id="53" name="Rectangle 53"/>
            <p:cNvSpPr/>
            <p:nvPr/>
          </p:nvSpPr>
          <p:spPr>
            <a:xfrm>
              <a:off x="6248400" y="4676775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57925" y="481012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96050" y="488632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69507" y="49220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控制信号取值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88430" y="5263515"/>
              <a:ext cx="4425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RegDst 0，ALUSrc 1，MemtoReg 1，RegWrite 1，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MemRead 1，MemWrite 0，Branch 0，ALUOp 00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33427" cy="909257"/>
            <a:chOff x="520446" y="342900"/>
            <a:chExt cx="51334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单周期数据通路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334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走一遍 beq 和 j，看 PC 从哪里来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ard-1"/>
          <p:cNvGrpSpPr/>
          <p:nvPr/>
        </p:nvGrpSpPr>
        <p:grpSpPr>
          <a:xfrm>
            <a:off x="533400" y="1524000"/>
            <a:ext cx="5410200" cy="2962275"/>
            <a:chOff x="533400" y="1524000"/>
            <a:chExt cx="5410200" cy="29622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962275"/>
            </a:xfrm>
            <a:prstGeom prst="roundRect">
              <a:avLst>
                <a:gd name="adj" fmla="val 45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6955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791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742" y="176926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6838" y="1768792"/>
              <a:ext cx="21885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beq $t1, $t2, offset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11645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129790"/>
              <a:ext cx="2292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取指，同时算出 PC + 4。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45173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465070"/>
              <a:ext cx="16710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读出 $t1 和 $t2。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278701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2800350"/>
              <a:ext cx="4330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 做减法（ALUOp = 01，控制线 0110），只用它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Zero 输出。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1050" y="340804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2899" y="34503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2040" y="3421380"/>
              <a:ext cx="37502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另一个加法器算 (PC + 4) + 4 × offset。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1050" y="374332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2899" y="37856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2040" y="3756660"/>
              <a:ext cx="4110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PCSrc = Branch AND Zero，为 1 时 PC 取分支目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标，否则取 PC + 4。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4676775"/>
            <a:ext cx="5410200" cy="1602105"/>
            <a:chOff x="533400" y="4676775"/>
            <a:chExt cx="5410200" cy="1602105"/>
          </a:xfrm>
        </p:grpSpPr>
        <p:sp>
          <p:nvSpPr>
            <p:cNvPr id="28" name="Rectangle 28"/>
            <p:cNvSpPr/>
            <p:nvPr/>
          </p:nvSpPr>
          <p:spPr>
            <a:xfrm>
              <a:off x="533400" y="467677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81012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81050" y="488632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3359" y="49220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信号特点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3430" y="5263515"/>
              <a:ext cx="4720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beq 不写寄存器也不写存储器，RegWrite 与 MemWrite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都是 0；RegDst 与 MemtoReg 取 X。整条指令唯一改变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的状态就是 PC。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248400" y="1524000"/>
            <a:ext cx="5410200" cy="2962275"/>
            <a:chOff x="6248400" y="1524000"/>
            <a:chExt cx="5410200" cy="2962275"/>
          </a:xfrm>
        </p:grpSpPr>
        <p:sp>
          <p:nvSpPr>
            <p:cNvPr id="34" name="Rectangle 34"/>
            <p:cNvSpPr/>
            <p:nvPr/>
          </p:nvSpPr>
          <p:spPr>
            <a:xfrm>
              <a:off x="6248400" y="1524000"/>
              <a:ext cx="5410200" cy="2962275"/>
            </a:xfrm>
            <a:prstGeom prst="roundRect">
              <a:avLst>
                <a:gd name="adj" fmla="val 45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7925" y="1657350"/>
              <a:ext cx="47625" cy="26955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96050" y="1733550"/>
              <a:ext cx="4791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86742" y="176926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81838" y="1768792"/>
              <a:ext cx="2161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指令的目标地址怎么拼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96050" y="211645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57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97040" y="2129790"/>
              <a:ext cx="37105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操作码 000010，指令低 26 位是字地址。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96050" y="245173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57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97040" y="2465070"/>
              <a:ext cx="41662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 = PC+4 的高 4 位 : 26 位地址 : 两个 0。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96050" y="278701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57899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97040" y="2800350"/>
              <a:ext cx="4225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设这条 j 的地址为 0x00400020，26 位地址字段为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0x0100004。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96050" y="340804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57899" y="34503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97040" y="3421380"/>
              <a:ext cx="4291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左移 2 位得 0x0400010（28 位），高 4 位取 PC+4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0x00400024 的 0x0。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96050" y="402907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57899" y="40713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97040" y="4042410"/>
              <a:ext cx="22213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目标地址 =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0x00400010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6248400" y="4676775"/>
            <a:ext cx="5410200" cy="1602105"/>
            <a:chOff x="6248400" y="4676775"/>
            <a:chExt cx="5410200" cy="1602105"/>
          </a:xfrm>
        </p:grpSpPr>
        <p:sp>
          <p:nvSpPr>
            <p:cNvPr id="55" name="Rectangle 55"/>
            <p:cNvSpPr/>
            <p:nvPr/>
          </p:nvSpPr>
          <p:spPr>
            <a:xfrm>
              <a:off x="6248400" y="467677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57925" y="481012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96050" y="488632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86258" y="49220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88430" y="5263515"/>
              <a:ext cx="4725829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源课件写作“原 PC 的高四位”。严格说拼接用的是 </a:t>
              </a:r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 +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的高 4 位，因为取指阶段 PC 已经更新。两者在同一个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 MB 块内结果相同，跨块时才有差别。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单周期数据通路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单周期为什么不划算：周期被最慢的指令绑架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c1-table-1"/>
          <p:cNvGrpSpPr/>
          <p:nvPr/>
        </p:nvGrpSpPr>
        <p:grpSpPr>
          <a:xfrm>
            <a:off x="527685" y="1524000"/>
            <a:ext cx="6065520" cy="2539842"/>
            <a:chOff x="527685" y="1524000"/>
            <a:chExt cx="6065520" cy="25398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989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8141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2255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读寄存器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01002" y="1659731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ALU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1601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5715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写寄存器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4102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1223" y="2108359"/>
              <a:ext cx="2029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11572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25019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16559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46174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59622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655945" y="1982152"/>
              <a:ext cx="92773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50557" y="2108359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800 ps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416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242125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2556986"/>
              <a:ext cx="2481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11572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25019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16559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46174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50557" y="2556986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700 ps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28660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223" y="3005614"/>
              <a:ext cx="347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11572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25019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316559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59622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50557" y="3005614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600 ps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3147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3319462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223" y="345424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beq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11572" y="34542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425019" y="34542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316559" y="34542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850557" y="3454241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 ps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1524000"/>
              <a:ext cx="605980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27920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203073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310705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381476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456533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64165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7685" y="3843814"/>
              <a:ext cx="2634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各段延时按源课件给定的假设，单位 ps</a:t>
              </a:r>
            </a:p>
          </p:txBody>
        </p:sp>
      </p:grpSp>
      <p:grpSp>
        <p:nvGrpSpPr>
          <p:cNvPr id="58" name="c1-card-2"/>
          <p:cNvGrpSpPr/>
          <p:nvPr/>
        </p:nvGrpSpPr>
        <p:grpSpPr>
          <a:xfrm>
            <a:off x="533400" y="4210050"/>
            <a:ext cx="6059805" cy="1602105"/>
            <a:chOff x="533400" y="4210050"/>
            <a:chExt cx="6059805" cy="1602105"/>
          </a:xfrm>
        </p:grpSpPr>
        <p:sp>
          <p:nvSpPr>
            <p:cNvPr id="54" name="Rectangle 54"/>
            <p:cNvSpPr/>
            <p:nvPr/>
          </p:nvSpPr>
          <p:spPr>
            <a:xfrm>
              <a:off x="533400" y="4210050"/>
              <a:ext cx="6059805" cy="1602105"/>
            </a:xfrm>
            <a:prstGeom prst="roundRect">
              <a:avLst>
                <a:gd name="adj" fmla="val 832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42950" y="44196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33158" y="44553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5330" y="4796790"/>
              <a:ext cx="53968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时钟周期必须取 800 ps，哪怕 beq 只要 500 ps 也得占满一个周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期。指令平均延时被拉高了 30% 以上，违反了“加速常用操作”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的设计原则。</a:t>
              </a:r>
            </a:p>
          </p:txBody>
        </p:sp>
      </p:grpSp>
      <p:grpSp>
        <p:nvGrpSpPr>
          <p:cNvPr id="65" name="c2-bullets-1"/>
          <p:cNvGrpSpPr/>
          <p:nvPr/>
        </p:nvGrpSpPr>
        <p:grpSpPr>
          <a:xfrm>
            <a:off x="6898005" y="1548765"/>
            <a:ext cx="4474845" cy="1840230"/>
            <a:chOff x="6898005" y="1548765"/>
            <a:chExt cx="4474845" cy="1840230"/>
          </a:xfrm>
        </p:grpSpPr>
        <p:sp>
          <p:nvSpPr>
            <p:cNvPr id="59" name="Freeform 59"/>
            <p:cNvSpPr/>
            <p:nvPr/>
          </p:nvSpPr>
          <p:spPr>
            <a:xfrm>
              <a:off x="6898005" y="158496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38035" y="154876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为不同指令设不同周期长度在硬件上不可行，时钟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必须满足最坏情况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6898005" y="221551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138035" y="217932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每个部件一个周期只能用一次，想复用就得多花周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6898005" y="284607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38035" y="2809875"/>
              <a:ext cx="4234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关键路径上串了 5 个功能单元，任何一个变慢都直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接拉长周期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6898005" y="3520440"/>
            <a:ext cx="4760595" cy="2291715"/>
            <a:chOff x="6898005" y="3520440"/>
            <a:chExt cx="4760595" cy="2291715"/>
          </a:xfrm>
        </p:grpSpPr>
        <p:sp>
          <p:nvSpPr>
            <p:cNvPr id="66" name="Rectangle 66"/>
            <p:cNvSpPr/>
            <p:nvPr/>
          </p:nvSpPr>
          <p:spPr>
            <a:xfrm>
              <a:off x="6898005" y="3520440"/>
              <a:ext cx="4760595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907530" y="3653790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145655" y="372999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235863" y="37657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出路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138035" y="4107180"/>
              <a:ext cx="4044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把这条 800 ps 的长路切成 5 段，每段 200 ps，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 5 条指令同时待在不同段里。这就是流水线。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469130" cy="2997517"/>
            <a:chOff x="667512" y="1835468"/>
            <a:chExt cx="446913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流水线的基本思想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每条指令没变快，单位时间出来的指令变多了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五段划分与时空图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吞吐率、加速比怎么算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9933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ISA 怎样为流水线让路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17041" cy="909257"/>
            <a:chOff x="520446" y="342900"/>
            <a:chExt cx="81170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流水线的基本思想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170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洗衣房类比：四个人洗衣服，要 8 小时还是 3.5 小时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533400" y="1524000"/>
            <a:ext cx="4977765" cy="3357087"/>
            <a:chOff x="533400" y="1524000"/>
            <a:chExt cx="4977765" cy="3357087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9255" r="0" b="9255"/>
            <a:stretch>
              <a:fillRect/>
            </a:stretch>
          </p:blipFill>
          <p:spPr>
            <a:xfrm>
              <a:off x="533400" y="1524000"/>
              <a:ext cx="4977765" cy="3042285"/>
            </a:xfrm>
            <a:prstGeom prst="roundRect">
              <a:avLst>
                <a:gd name="adj" fmla="val 4383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734985" y="4661059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洗、烘、叠、收四个工位同时都有活干</a:t>
              </a:r>
            </a:p>
          </p:txBody>
        </p:sp>
      </p:grpSp>
      <p:grpSp>
        <p:nvGrpSpPr>
          <p:cNvPr id="15" name="c1-card-2"/>
          <p:cNvGrpSpPr/>
          <p:nvPr/>
        </p:nvGrpSpPr>
        <p:grpSpPr>
          <a:xfrm>
            <a:off x="533400" y="5046345"/>
            <a:ext cx="4977765" cy="1316355"/>
            <a:chOff x="533400" y="5046345"/>
            <a:chExt cx="4977765" cy="1316355"/>
          </a:xfrm>
        </p:grpSpPr>
        <p:sp>
          <p:nvSpPr>
            <p:cNvPr id="10" name="Rectangle 10"/>
            <p:cNvSpPr/>
            <p:nvPr/>
          </p:nvSpPr>
          <p:spPr>
            <a:xfrm>
              <a:off x="533400" y="5046345"/>
              <a:ext cx="497776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517969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81050" y="52558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71258" y="52916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5633085"/>
              <a:ext cx="4253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每件衣服要洗、烘、叠、收四步，每步 0.5 小时，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一件衣服从头到尾 2 小时。</a:t>
              </a:r>
            </a:p>
          </p:txBody>
        </p:sp>
      </p:grpSp>
      <p:grpSp>
        <p:nvGrpSpPr>
          <p:cNvPr id="32" name="c2-table-1"/>
          <p:cNvGrpSpPr/>
          <p:nvPr/>
        </p:nvGrpSpPr>
        <p:grpSpPr>
          <a:xfrm>
            <a:off x="5815965" y="1524000"/>
            <a:ext cx="5842635" cy="1346835"/>
            <a:chOff x="5815965" y="1524000"/>
            <a:chExt cx="5842635" cy="1346835"/>
          </a:xfrm>
        </p:grpSpPr>
        <p:sp>
          <p:nvSpPr>
            <p:cNvPr id="16" name="Rectangle 16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2302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06947" y="1659731"/>
              <a:ext cx="1028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 件衣服用时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7777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23788" y="21083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一件做完再做下一件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95488" y="2108359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小时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62363" y="2108359"/>
              <a:ext cx="796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× 2 小时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815965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815965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23788" y="255698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四个工位同时开工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997190" y="2430780"/>
              <a:ext cx="164782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95488" y="2556986"/>
              <a:ext cx="69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 小时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62363" y="2556986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+ 3 × 0.5 小时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815965" y="1524000"/>
              <a:ext cx="5842635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982902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649778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formula3"/>
              <p:cNvSpPr txBox="1">
                <a:spLocks noGrp="1"/>
              </p:cNvSpPr>
              <p:nvPr/>
            </p:nvSpPr>
            <p:spPr>
              <a:xfrm>
                <a:off x="5815965" y="3061335"/>
                <a:ext cx="5842635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加速比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8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3.5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2.29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3" name="c2-card-3"/>
          <p:cNvGrpSpPr/>
          <p:nvPr/>
        </p:nvGrpSpPr>
        <p:grpSpPr>
          <a:xfrm>
            <a:off x="5815965" y="3817620"/>
            <a:ext cx="5842635" cy="2272665"/>
            <a:chOff x="5815965" y="3817620"/>
            <a:chExt cx="5842635" cy="2272665"/>
          </a:xfrm>
        </p:grpSpPr>
        <p:sp>
          <p:nvSpPr>
            <p:cNvPr id="34" name="Rectangle 34"/>
            <p:cNvSpPr/>
            <p:nvPr/>
          </p:nvSpPr>
          <p:spPr>
            <a:xfrm>
              <a:off x="5815965" y="3817620"/>
              <a:ext cx="5842635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25490" y="395097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63615" y="402717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41021" y="406288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更正与澄清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55995" y="4404360"/>
              <a:ext cx="504491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源课件把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2.3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≈ 4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并排写在一页，容易误以为同一批衣服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有两个答案。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069330" y="50882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27445" y="5025390"/>
              <a:ext cx="4596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件衣服的加速比是 2n / (0.5n + 1.5)，n = 4 时算出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2.29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069330" y="57092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27445" y="5646420"/>
              <a:ext cx="41951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趋向很大时它才趋近 4，也就是流水线的段数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67886" cy="909257"/>
            <a:chOff x="520446" y="342900"/>
            <a:chExt cx="81678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流水线的基本思想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678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五段流水线：一条指令走五步，五条指令并排走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c1-graph-1"/>
          <p:cNvGrpSpPr/>
          <p:nvPr/>
        </p:nvGrpSpPr>
        <p:grpSpPr>
          <a:xfrm>
            <a:off x="874395" y="1553051"/>
            <a:ext cx="10666095" cy="2217230"/>
            <a:chOff x="874395" y="1553051"/>
            <a:chExt cx="10666095" cy="2217230"/>
          </a:xfrm>
        </p:grpSpPr>
        <p:sp>
          <p:nvSpPr>
            <p:cNvPr id="7" name="Freeform 7"/>
            <p:cNvSpPr/>
            <p:nvPr/>
          </p:nvSpPr>
          <p:spPr>
            <a:xfrm>
              <a:off x="1750695" y="2509838"/>
              <a:ext cx="575310" cy="9525"/>
            </a:xfrm>
            <a:custGeom>
              <a:avLst/>
              <a:gdLst/>
              <a:ahLst/>
              <a:cxnLst/>
              <a:rect l="l" t="t" r="r" b="b"/>
              <a:pathLst>
                <a:path w="575310" h="9525">
                  <a:moveTo>
                    <a:pt x="0" y="0"/>
                  </a:moveTo>
                  <a:lnTo>
                    <a:pt x="5753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326005" y="24622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649855" y="2509838"/>
              <a:ext cx="687705" cy="9525"/>
            </a:xfrm>
            <a:custGeom>
              <a:avLst/>
              <a:gdLst/>
              <a:ahLst/>
              <a:cxnLst/>
              <a:rect l="l" t="t" r="r" b="b"/>
              <a:pathLst>
                <a:path w="687705" h="9525">
                  <a:moveTo>
                    <a:pt x="0" y="0"/>
                  </a:moveTo>
                  <a:lnTo>
                    <a:pt x="6877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337560" y="24622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309110" y="2509838"/>
              <a:ext cx="576262" cy="9525"/>
            </a:xfrm>
            <a:custGeom>
              <a:avLst/>
              <a:gdLst/>
              <a:ahLst/>
              <a:cxnLst/>
              <a:rect l="l" t="t" r="r" b="b"/>
              <a:pathLst>
                <a:path w="576262" h="9525">
                  <a:moveTo>
                    <a:pt x="0" y="0"/>
                  </a:moveTo>
                  <a:lnTo>
                    <a:pt x="5762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885372" y="24622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209222" y="2509838"/>
              <a:ext cx="576262" cy="9525"/>
            </a:xfrm>
            <a:custGeom>
              <a:avLst/>
              <a:gdLst/>
              <a:ahLst/>
              <a:cxnLst/>
              <a:rect l="l" t="t" r="r" b="b"/>
              <a:pathLst>
                <a:path w="576262" h="9525">
                  <a:moveTo>
                    <a:pt x="0" y="0"/>
                  </a:moveTo>
                  <a:lnTo>
                    <a:pt x="5762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785485" y="24622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6757035" y="2509838"/>
              <a:ext cx="575310" cy="9525"/>
            </a:xfrm>
            <a:custGeom>
              <a:avLst/>
              <a:gdLst/>
              <a:ahLst/>
              <a:cxnLst/>
              <a:rect l="l" t="t" r="r" b="b"/>
              <a:pathLst>
                <a:path w="575310" h="9525">
                  <a:moveTo>
                    <a:pt x="0" y="0"/>
                  </a:moveTo>
                  <a:lnTo>
                    <a:pt x="5753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7332345" y="24622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7656195" y="2509838"/>
              <a:ext cx="659130" cy="9525"/>
            </a:xfrm>
            <a:custGeom>
              <a:avLst/>
              <a:gdLst/>
              <a:ahLst/>
              <a:cxnLst/>
              <a:rect l="l" t="t" r="r" b="b"/>
              <a:pathLst>
                <a:path w="659130" h="9525">
                  <a:moveTo>
                    <a:pt x="0" y="0"/>
                  </a:moveTo>
                  <a:lnTo>
                    <a:pt x="6591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315325" y="24622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9344025" y="2509838"/>
              <a:ext cx="547688" cy="9525"/>
            </a:xfrm>
            <a:custGeom>
              <a:avLst/>
              <a:gdLst/>
              <a:ahLst/>
              <a:cxnLst/>
              <a:rect l="l" t="t" r="r" b="b"/>
              <a:pathLst>
                <a:path w="547688" h="9525">
                  <a:moveTo>
                    <a:pt x="0" y="0"/>
                  </a:moveTo>
                  <a:lnTo>
                    <a:pt x="54768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9891712" y="24622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0215562" y="2509838"/>
              <a:ext cx="353377" cy="9525"/>
            </a:xfrm>
            <a:custGeom>
              <a:avLst/>
              <a:gdLst/>
              <a:ahLst/>
              <a:cxnLst/>
              <a:rect l="l" t="t" r="r" b="b"/>
              <a:pathLst>
                <a:path w="353377" h="9525">
                  <a:moveTo>
                    <a:pt x="0" y="0"/>
                  </a:moveTo>
                  <a:lnTo>
                    <a:pt x="35337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0568940" y="24622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74395" y="2100262"/>
              <a:ext cx="876300" cy="819150"/>
            </a:xfrm>
            <a:prstGeom prst="roundRect">
              <a:avLst>
                <a:gd name="adj" fmla="val 11628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421255" y="1900238"/>
              <a:ext cx="228600" cy="1219200"/>
            </a:xfrm>
            <a:prstGeom prst="roundRect">
              <a:avLst>
                <a:gd name="adj" fmla="val 41667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432810" y="2100262"/>
              <a:ext cx="876300" cy="819150"/>
            </a:xfrm>
            <a:prstGeom prst="roundRect">
              <a:avLst>
                <a:gd name="adj" fmla="val 11628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980622" y="1900238"/>
              <a:ext cx="228600" cy="1219200"/>
            </a:xfrm>
            <a:prstGeom prst="roundRect">
              <a:avLst>
                <a:gd name="adj" fmla="val 41667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880735" y="2100262"/>
              <a:ext cx="876300" cy="819150"/>
            </a:xfrm>
            <a:prstGeom prst="roundRect">
              <a:avLst>
                <a:gd name="adj" fmla="val 11628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427595" y="1900238"/>
              <a:ext cx="228600" cy="1219200"/>
            </a:xfrm>
            <a:prstGeom prst="roundRect">
              <a:avLst>
                <a:gd name="adj" fmla="val 41667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410575" y="2100262"/>
              <a:ext cx="933450" cy="819150"/>
            </a:xfrm>
            <a:prstGeom prst="roundRect">
              <a:avLst>
                <a:gd name="adj" fmla="val 11628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9986962" y="1900238"/>
              <a:ext cx="228600" cy="1219200"/>
            </a:xfrm>
            <a:prstGeom prst="roundRect">
              <a:avLst>
                <a:gd name="adj" fmla="val 41667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664190" y="2100262"/>
              <a:ext cx="876300" cy="819150"/>
            </a:xfrm>
            <a:prstGeom prst="roundRect">
              <a:avLst>
                <a:gd name="adj" fmla="val 11628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235738" y="2439829"/>
              <a:ext cx="153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94153" y="2439829"/>
              <a:ext cx="153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21169" y="243982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00129" y="2439829"/>
              <a:ext cx="354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987897" y="243982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341656" y="1553051"/>
              <a:ext cx="387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IF/ID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80115" y="1553051"/>
              <a:ext cx="429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ID/EX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26723" y="1553051"/>
              <a:ext cx="630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EX/MEM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69363" y="1553051"/>
              <a:ext cx="663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MEM/WB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33754" y="29637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取指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692169" y="29637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译码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40094" y="29637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98509" y="29637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923549" y="29637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写回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976243" y="3301841"/>
              <a:ext cx="42395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深色竖条是流水线寄存器，存住本段算出的结果和后面几段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还要用的控制信号</a:t>
              </a:r>
            </a:p>
          </p:txBody>
        </p:sp>
      </p:grpSp>
      <p:grpSp>
        <p:nvGrpSpPr>
          <p:cNvPr id="62" name="c1-kv-2"/>
          <p:cNvGrpSpPr/>
          <p:nvPr/>
        </p:nvGrpSpPr>
        <p:grpSpPr>
          <a:xfrm>
            <a:off x="525780" y="3930015"/>
            <a:ext cx="11132820" cy="2053590"/>
            <a:chOff x="525780" y="3930015"/>
            <a:chExt cx="11132820" cy="2053590"/>
          </a:xfrm>
        </p:grpSpPr>
        <p:sp>
          <p:nvSpPr>
            <p:cNvPr id="48" name="TextBox 48"/>
            <p:cNvSpPr txBox="1"/>
            <p:nvPr/>
          </p:nvSpPr>
          <p:spPr>
            <a:xfrm>
              <a:off x="525780" y="3930015"/>
              <a:ext cx="2056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200150" y="3930015"/>
              <a:ext cx="3866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PC 从指令存储器取指令，同时算 PC + 4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2500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5780" y="4370070"/>
              <a:ext cx="2056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200150" y="4370070"/>
              <a:ext cx="52250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译码，并按 rs、rt 读寄存器堆；偏移量符号扩展也在这里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469011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25780" y="481012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200150" y="4810125"/>
              <a:ext cx="52776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 运算，或为访存指令算出地址，或为分支算出目标地址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513016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5780" y="5250180"/>
              <a:ext cx="4744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200150" y="5250180"/>
              <a:ext cx="52553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 读数据存储器，sw 写数据存储器，其余指令什么都不做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55702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5780" y="5690235"/>
              <a:ext cx="306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200150" y="569023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把结果写回寄存器堆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56790" cy="909257"/>
            <a:chOff x="520446" y="342900"/>
            <a:chExt cx="67567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流水线的基本思想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567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 lw：单周期 2400 ps，流水线 1400 ps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1" name="c1-cells-1"/>
          <p:cNvGrpSpPr/>
          <p:nvPr/>
        </p:nvGrpSpPr>
        <p:grpSpPr>
          <a:xfrm>
            <a:off x="528066" y="1524000"/>
            <a:ext cx="4764976" cy="1348740"/>
            <a:chOff x="528066" y="1524000"/>
            <a:chExt cx="4764976" cy="1348740"/>
          </a:xfrm>
        </p:grpSpPr>
        <p:sp>
          <p:nvSpPr>
            <p:cNvPr id="7" name="TextBox 7"/>
            <p:cNvSpPr txBox="1"/>
            <p:nvPr/>
          </p:nvSpPr>
          <p:spPr>
            <a:xfrm>
              <a:off x="528066" y="16068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283970" y="1524000"/>
              <a:ext cx="572452" cy="29527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23571" y="1606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856422" y="1524000"/>
              <a:ext cx="572452" cy="29527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96976" y="1606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428875" y="1524000"/>
              <a:ext cx="572452" cy="29527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669428" y="1606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002280" y="1524000"/>
              <a:ext cx="572452" cy="29527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241881" y="1606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574732" y="1524000"/>
              <a:ext cx="572452" cy="29527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815286" y="1606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147185" y="1524000"/>
              <a:ext cx="572452" cy="29527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387738" y="1606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720590" y="1524000"/>
              <a:ext cx="572452" cy="29527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961143" y="1606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8066" y="1957388"/>
              <a:ext cx="664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lw 第 1 条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283970" y="1875472"/>
              <a:ext cx="572452" cy="29527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97738" y="1957388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856422" y="1875472"/>
              <a:ext cx="572452" cy="29527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071143" y="1957388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428875" y="1875472"/>
              <a:ext cx="572452" cy="29527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623993" y="195738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002280" y="1875472"/>
              <a:ext cx="572452" cy="29527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121956" y="1957388"/>
              <a:ext cx="332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574732" y="1875472"/>
              <a:ext cx="572452" cy="29527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754168" y="195738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147185" y="1875472"/>
              <a:ext cx="572452" cy="29527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720590" y="1875472"/>
              <a:ext cx="572452" cy="29527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8066" y="2308860"/>
              <a:ext cx="664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lw 第 2 条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283970" y="2225992"/>
              <a:ext cx="572452" cy="29527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856422" y="2225992"/>
              <a:ext cx="572452" cy="29527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071143" y="2308860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428875" y="2225992"/>
              <a:ext cx="572452" cy="29527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643595" y="2308860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002280" y="2225992"/>
              <a:ext cx="572452" cy="29527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196445" y="230886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574732" y="2225992"/>
              <a:ext cx="572452" cy="29527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695361" y="2308860"/>
              <a:ext cx="332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147185" y="2225992"/>
              <a:ext cx="572452" cy="29527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326621" y="230886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720590" y="2225992"/>
              <a:ext cx="572452" cy="29527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8066" y="2659380"/>
              <a:ext cx="664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lw 第 3 条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283970" y="2577465"/>
              <a:ext cx="572452" cy="29527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856422" y="2577465"/>
              <a:ext cx="572452" cy="29527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2428875" y="2577465"/>
              <a:ext cx="572452" cy="29527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643595" y="2659380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002280" y="2577465"/>
              <a:ext cx="572452" cy="29527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216048" y="2659380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574732" y="2577465"/>
              <a:ext cx="572452" cy="29527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769850" y="265938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147185" y="2577465"/>
              <a:ext cx="572452" cy="29527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267813" y="2659380"/>
              <a:ext cx="332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720590" y="2577465"/>
              <a:ext cx="572452" cy="2952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900026" y="265938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</p:grpSp>
      <p:grpSp>
        <p:nvGrpSpPr>
          <p:cNvPr id="78" name="c1-table-2"/>
          <p:cNvGrpSpPr/>
          <p:nvPr/>
        </p:nvGrpSpPr>
        <p:grpSpPr>
          <a:xfrm>
            <a:off x="533400" y="3058478"/>
            <a:ext cx="6276022" cy="1290638"/>
            <a:chOff x="533400" y="3058478"/>
            <a:chExt cx="6276022" cy="1290638"/>
          </a:xfrm>
        </p:grpSpPr>
        <p:sp>
          <p:nvSpPr>
            <p:cNvPr id="62" name="Rectangle 62"/>
            <p:cNvSpPr/>
            <p:nvPr/>
          </p:nvSpPr>
          <p:spPr>
            <a:xfrm>
              <a:off x="533400" y="3058478"/>
              <a:ext cx="6276022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177671" y="31899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实现方式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048381" y="31899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时钟周期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000434" y="3189922"/>
              <a:ext cx="10824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 条 lw 总用时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38746" y="361950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单周期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585657" y="361950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800 ps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380166" y="3619500"/>
              <a:ext cx="13206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× 800 = 2400 ps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33400" y="391382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533400" y="3918585"/>
              <a:ext cx="627602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38746" y="405003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五段流水线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585657" y="405003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 ps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4284345" y="3928110"/>
              <a:ext cx="2515552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380166" y="4050030"/>
              <a:ext cx="13206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× 200 = 1400 ps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33400" y="3058478"/>
              <a:ext cx="6276022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2475548" y="3058478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4270058" y="3058478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4" name="c1-card-3"/>
          <p:cNvGrpSpPr/>
          <p:nvPr/>
        </p:nvGrpSpPr>
        <p:grpSpPr>
          <a:xfrm>
            <a:off x="533400" y="4533900"/>
            <a:ext cx="6276022" cy="1481138"/>
            <a:chOff x="533400" y="4533900"/>
            <a:chExt cx="6276022" cy="1481138"/>
          </a:xfrm>
        </p:grpSpPr>
        <p:sp>
          <p:nvSpPr>
            <p:cNvPr id="79" name="Rectangle 79"/>
            <p:cNvSpPr/>
            <p:nvPr/>
          </p:nvSpPr>
          <p:spPr>
            <a:xfrm>
              <a:off x="533400" y="4533900"/>
              <a:ext cx="6276022" cy="1481138"/>
            </a:xfrm>
            <a:prstGeom prst="roundRect">
              <a:avLst>
                <a:gd name="adj" fmla="val 90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542925" y="4667250"/>
              <a:ext cx="47625" cy="12144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775335" y="4737735"/>
              <a:ext cx="184785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25273" y="4773454"/>
              <a:ext cx="17479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时钟周期为什么是 200 ps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68096" y="5110639"/>
              <a:ext cx="547878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五段里最慢的是取指、ALU 和访存，各 200 ps。时钟周期取最慢那一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段，读写寄存器那两段只用 100 ps，剩下的 100 ps 只能空等。</a:t>
              </a:r>
            </a:p>
          </p:txBody>
        </p:sp>
      </p:grpSp>
      <p:grpSp>
        <p:nvGrpSpPr>
          <p:cNvPr id="91" name="c2-card-1"/>
          <p:cNvGrpSpPr/>
          <p:nvPr/>
        </p:nvGrpSpPr>
        <p:grpSpPr>
          <a:xfrm>
            <a:off x="7114222" y="1524000"/>
            <a:ext cx="4544378" cy="1827848"/>
            <a:chOff x="7114222" y="1524000"/>
            <a:chExt cx="4544378" cy="1827848"/>
          </a:xfrm>
        </p:grpSpPr>
        <p:sp>
          <p:nvSpPr>
            <p:cNvPr id="85" name="Rectangle 85"/>
            <p:cNvSpPr/>
            <p:nvPr/>
          </p:nvSpPr>
          <p:spPr>
            <a:xfrm>
              <a:off x="7114222" y="1524000"/>
              <a:ext cx="4544378" cy="1827848"/>
            </a:xfrm>
            <a:prstGeom prst="roundRect">
              <a:avLst>
                <a:gd name="adj" fmla="val 72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7123748" y="1657350"/>
              <a:ext cx="47625" cy="156114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7356158" y="172783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429614" y="176355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周期数怎么数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348918" y="2100739"/>
              <a:ext cx="373849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段流水线处理 n 条指令，用 k + (n − 1) 个周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期：第 1 条要走满 k 段，之后每个周期出来一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条。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350062" y="2960370"/>
              <a:ext cx="28149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本例 k = 5，n = 3，共 5 + 2 = 7 个周期</a:t>
              </a:r>
            </a:p>
          </p:txBody>
        </p:sp>
      </p:grpSp>
      <p:grpSp>
        <p:nvGrpSpPr>
          <p:cNvPr id="96" name="c2-card-2"/>
          <p:cNvGrpSpPr/>
          <p:nvPr/>
        </p:nvGrpSpPr>
        <p:grpSpPr>
          <a:xfrm>
            <a:off x="7114222" y="3536632"/>
            <a:ext cx="4544378" cy="1274445"/>
            <a:chOff x="7114222" y="3536632"/>
            <a:chExt cx="4544378" cy="1274445"/>
          </a:xfrm>
        </p:grpSpPr>
        <p:sp>
          <p:nvSpPr>
            <p:cNvPr id="92" name="Rectangle 92"/>
            <p:cNvSpPr/>
            <p:nvPr/>
          </p:nvSpPr>
          <p:spPr>
            <a:xfrm>
              <a:off x="7114222" y="3536632"/>
              <a:ext cx="4544378" cy="1274445"/>
            </a:xfrm>
            <a:prstGeom prst="roundRect">
              <a:avLst>
                <a:gd name="adj" fmla="val 1046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7318058" y="374046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404316" y="377618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加速比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310818" y="4113371"/>
              <a:ext cx="388277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2400 / 1400 ≈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1.71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。指令条数越多，加速比越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接近 800 / 200 = 4，也就是两个时钟周期之比。</a:t>
              </a:r>
            </a:p>
          </p:txBody>
        </p:sp>
      </p:grpSp>
      <p:grpSp>
        <p:nvGrpSpPr>
          <p:cNvPr id="103" name="c2-callout-3"/>
          <p:cNvGrpSpPr/>
          <p:nvPr/>
        </p:nvGrpSpPr>
        <p:grpSpPr>
          <a:xfrm>
            <a:off x="7114222" y="4996815"/>
            <a:ext cx="4544378" cy="1018222"/>
            <a:chOff x="7114222" y="4996815"/>
            <a:chExt cx="4544378" cy="1018222"/>
          </a:xfrm>
        </p:grpSpPr>
        <p:sp>
          <p:nvSpPr>
            <p:cNvPr id="97" name="Rectangle 97"/>
            <p:cNvSpPr/>
            <p:nvPr/>
          </p:nvSpPr>
          <p:spPr>
            <a:xfrm>
              <a:off x="7114222" y="4996815"/>
              <a:ext cx="4544378" cy="1018222"/>
            </a:xfrm>
            <a:prstGeom prst="roundRect">
              <a:avLst>
                <a:gd name="adj" fmla="val 112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01" name="Group 101"/>
            <p:cNvGrpSpPr/>
            <p:nvPr/>
          </p:nvGrpSpPr>
          <p:grpSpPr>
            <a:xfrm>
              <a:off x="7306952" y="5402698"/>
              <a:ext cx="224134" cy="192560"/>
              <a:chOff x="7306952" y="5402698"/>
              <a:chExt cx="224134" cy="192560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7419023" y="547306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7306952" y="540269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7419023" y="55508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02" name="TextBox 102"/>
            <p:cNvSpPr txBox="1"/>
            <p:nvPr/>
          </p:nvSpPr>
          <p:spPr>
            <a:xfrm>
              <a:off x="7621334" y="5143976"/>
              <a:ext cx="3594227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每条 lw 仍然要 1000 ps 才能走完五段，比单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周期的 800 ps 还长。流水线提高的是吞吐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率，不是单条指令的延迟。</a:t>
              </a:r>
            </a:p>
          </p:txBody>
        </p:sp>
      </p:grpSp>
      <p:grpSp>
        <p:nvGrpSpPr>
          <p:cNvPr id="10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4" name="TextBox 10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流水线的基本思想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加速比的两个公式：一个理想值，一个实际值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335405"/>
            <a:chOff x="533400" y="1524000"/>
            <a:chExt cx="5410200" cy="13354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理想情况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各段延时完全相等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每段耗时相同、没有任何停顿时，流水线时钟周期是非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流水线的 1/k。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6"/>
              <p:cNvSpPr txBox="1">
                <a:spLocks noGrp="1"/>
              </p:cNvSpPr>
              <p:nvPr/>
            </p:nvSpPr>
            <p:spPr>
              <a:xfrm>
                <a:off x="533400" y="3049905"/>
                <a:ext cx="5410200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流水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 m:val="on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非流水</m:t>
                              </m:r>
                            </m:sub>
                          </m:sSub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0" name="c1-card-3"/>
          <p:cNvGrpSpPr/>
          <p:nvPr/>
        </p:nvGrpSpPr>
        <p:grpSpPr>
          <a:xfrm>
            <a:off x="533400" y="3857625"/>
            <a:ext cx="5410200" cy="1887855"/>
            <a:chOff x="533400" y="3857625"/>
            <a:chExt cx="5410200" cy="1887855"/>
          </a:xfrm>
        </p:grpSpPr>
        <p:sp>
          <p:nvSpPr>
            <p:cNvPr id="15" name="Rectangle 15"/>
            <p:cNvSpPr/>
            <p:nvPr/>
          </p:nvSpPr>
          <p:spPr>
            <a:xfrm>
              <a:off x="533400" y="3857625"/>
              <a:ext cx="5410200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990975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406717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4507" y="41028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各段不平衡时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4444365"/>
              <a:ext cx="47015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时钟周期由最慢的一段决定，其余各段空等。本章的例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子里 lw 五段是 200、100、200、200、100 ps，时钟只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能取 200 ps，总延时 1000 ps 比理论下限 800 ps 多出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25%。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524000"/>
            <a:ext cx="5410200" cy="1316355"/>
            <a:chOff x="6248400" y="1524000"/>
            <a:chExt cx="5410200" cy="1316355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57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96050" y="173355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56705" y="176926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按周期数算的加速比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8430" y="2110740"/>
              <a:ext cx="4768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非流水线处理 n 条指令要 Te = nk 个周期，k 段流水线要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Tk = k + (n − 1) 个周期。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7"/>
              <p:cNvSpPr txBox="1">
                <a:spLocks noGrp="1"/>
              </p:cNvSpPr>
              <p:nvPr/>
            </p:nvSpPr>
            <p:spPr>
              <a:xfrm>
                <a:off x="6248400" y="3030855"/>
                <a:ext cx="5410200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nk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5" name="c2-card-3"/>
          <p:cNvGrpSpPr/>
          <p:nvPr/>
        </p:nvGrpSpPr>
        <p:grpSpPr>
          <a:xfrm>
            <a:off x="6248400" y="3838575"/>
            <a:ext cx="5410200" cy="1906905"/>
            <a:chOff x="6248400" y="3838575"/>
            <a:chExt cx="5410200" cy="1906905"/>
          </a:xfrm>
        </p:grpSpPr>
        <p:sp>
          <p:nvSpPr>
            <p:cNvPr id="28" name="Rectangle 28"/>
            <p:cNvSpPr/>
            <p:nvPr/>
          </p:nvSpPr>
          <p:spPr>
            <a:xfrm>
              <a:off x="6248400" y="3838575"/>
              <a:ext cx="5410200" cy="1906905"/>
            </a:xfrm>
            <a:prstGeom prst="roundRect">
              <a:avLst>
                <a:gd name="adj" fmla="val 699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57950" y="404812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40259" y="40838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两个极端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63665" y="448818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21780" y="4425315"/>
              <a:ext cx="29912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1 时 Ck = 1，流水线毫无用处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63665" y="482346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21780" y="4760595"/>
              <a:ext cx="43765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远大于 k 时 Ck 趋近 k，段数就是加速比的上界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79746" cy="909257"/>
            <a:chOff x="520446" y="342900"/>
            <a:chExt cx="56797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流水线的基本思想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797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例题：20 条指令连续进入五段流水线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890286" cy="278702"/>
            <a:chOff x="526161" y="1547336"/>
            <a:chExt cx="789028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8902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时钟周期 100 ns。求时空图、吞吐率和加速比。下图画出前 6 条指令在前 10 个周期的位置。</a:t>
              </a:r>
            </a:p>
          </p:txBody>
        </p:sp>
      </p:grpSp>
      <p:grpSp>
        <p:nvGrpSpPr>
          <p:cNvPr id="126" name="c1-cells-1"/>
          <p:cNvGrpSpPr/>
          <p:nvPr/>
        </p:nvGrpSpPr>
        <p:grpSpPr>
          <a:xfrm>
            <a:off x="528066" y="1941195"/>
            <a:ext cx="5898452" cy="2514600"/>
            <a:chOff x="528066" y="1941195"/>
            <a:chExt cx="5898452" cy="2514600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204120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52512" y="1941195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74968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89722" y="1941195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12178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126932" y="1941195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349388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665095" y="1941195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87551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202305" y="1941195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424761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739515" y="1941195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61971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276725" y="1941195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499181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813935" y="1941195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036391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52098" y="1941195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574553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889308" y="1941195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70948" y="204120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8066" y="2405062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指令 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052512" y="2306002"/>
              <a:ext cx="53721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249135" y="2405062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589722" y="2306002"/>
              <a:ext cx="53721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786345" y="2405062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126932" y="2306002"/>
              <a:ext cx="53721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303953" y="240506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665095" y="2306002"/>
              <a:ext cx="53721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767626" y="2405062"/>
              <a:ext cx="332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202305" y="2306002"/>
              <a:ext cx="537210" cy="32956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363643" y="2405062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739515" y="2306002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4276725" y="2306002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4813935" y="2306002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52098" y="2306002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889308" y="2306002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8066" y="2768918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指令 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52512" y="2669858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589722" y="2669858"/>
              <a:ext cx="53721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786345" y="2768918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126932" y="2669858"/>
              <a:ext cx="53721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323555" y="2768918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2665095" y="2669858"/>
              <a:ext cx="53721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842115" y="276891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3202305" y="2669858"/>
              <a:ext cx="53721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304836" y="2768918"/>
              <a:ext cx="332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739515" y="2669858"/>
              <a:ext cx="537210" cy="32956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900853" y="276891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276725" y="2669858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4813935" y="2669858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5352098" y="2669858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5889308" y="2669858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28066" y="3132773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指令 3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052512" y="3033712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1589722" y="3033712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2126932" y="3033712"/>
              <a:ext cx="53721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2323555" y="3132773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2665095" y="3033712"/>
              <a:ext cx="53721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2861718" y="3132773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3202305" y="3033712"/>
              <a:ext cx="53721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3379325" y="313277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3739515" y="3033712"/>
              <a:ext cx="53721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3842046" y="3132773"/>
              <a:ext cx="332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4276725" y="3033712"/>
              <a:ext cx="537210" cy="32956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438063" y="3132773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4813935" y="3033712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5352098" y="3033712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5889308" y="3033712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28066" y="349758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指令 4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052512" y="3397568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1589722" y="3397568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2126932" y="3397568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2665095" y="3397568"/>
              <a:ext cx="53721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2861718" y="3497580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3202305" y="3397568"/>
              <a:ext cx="53721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3398928" y="3497580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3739515" y="3397568"/>
              <a:ext cx="53721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3916535" y="349758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4276725" y="3397568"/>
              <a:ext cx="53721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4379256" y="3497580"/>
              <a:ext cx="332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4813935" y="3397568"/>
              <a:ext cx="537210" cy="32956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4975273" y="349758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5352098" y="3397568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5889308" y="3397568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528066" y="3861435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指令 5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1052512" y="3761422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6" name="Rectangle 96"/>
            <p:cNvSpPr/>
            <p:nvPr/>
          </p:nvSpPr>
          <p:spPr>
            <a:xfrm>
              <a:off x="1589722" y="3761422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2126932" y="3761422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2665095" y="3761422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3202305" y="3761422"/>
              <a:ext cx="53721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3398928" y="3861435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3739515" y="3761422"/>
              <a:ext cx="53721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3936138" y="3861435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4276725" y="3761422"/>
              <a:ext cx="53721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4453745" y="386143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4813935" y="3761422"/>
              <a:ext cx="53721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4916466" y="3861435"/>
              <a:ext cx="332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5352098" y="3761422"/>
              <a:ext cx="537210" cy="32956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5513436" y="386143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5889308" y="3761422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528066" y="422529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指令 6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1052512" y="4126230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1589722" y="4126230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2126932" y="4126230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2665095" y="4126230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3202305" y="4126230"/>
              <a:ext cx="537210" cy="32956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3739515" y="4126230"/>
              <a:ext cx="53721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3936138" y="4225290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4276725" y="4126230"/>
              <a:ext cx="53721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4473348" y="4225290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4813935" y="4126230"/>
              <a:ext cx="53721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4990955" y="422529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5352098" y="4126230"/>
              <a:ext cx="537210" cy="32956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5454628" y="4225290"/>
              <a:ext cx="332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5889308" y="4126230"/>
              <a:ext cx="537210" cy="32956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6050646" y="42252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</p:grpSp>
      <p:grpSp>
        <p:nvGrpSpPr>
          <p:cNvPr id="135" name="c1-kv-2"/>
          <p:cNvGrpSpPr/>
          <p:nvPr/>
        </p:nvGrpSpPr>
        <p:grpSpPr>
          <a:xfrm>
            <a:off x="526542" y="4652962"/>
            <a:ext cx="11132058" cy="1059371"/>
            <a:chOff x="526542" y="4652962"/>
            <a:chExt cx="11132058" cy="1059371"/>
          </a:xfrm>
        </p:grpSpPr>
        <p:sp>
          <p:nvSpPr>
            <p:cNvPr id="127" name="TextBox 127"/>
            <p:cNvSpPr txBox="1"/>
            <p:nvPr/>
          </p:nvSpPr>
          <p:spPr>
            <a:xfrm>
              <a:off x="526542" y="465296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横轴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309497" y="4652962"/>
              <a:ext cx="26216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时钟周期序号，一格就是 100 ns</a:t>
              </a:r>
            </a:p>
          </p:txBody>
        </p:sp>
        <p:sp>
          <p:nvSpPr>
            <p:cNvPr id="129" name="Rectangle 129"/>
            <p:cNvSpPr/>
            <p:nvPr/>
          </p:nvSpPr>
          <p:spPr>
            <a:xfrm>
              <a:off x="533400" y="494157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526542" y="505015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纵轴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1309497" y="5050155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指令的进入顺序，每条指令占一行，逐行右移一格</a:t>
              </a:r>
            </a:p>
          </p:txBody>
        </p:sp>
        <p:sp>
          <p:nvSpPr>
            <p:cNvPr id="132" name="Rectangle 132"/>
            <p:cNvSpPr/>
            <p:nvPr/>
          </p:nvSpPr>
          <p:spPr>
            <a:xfrm>
              <a:off x="533400" y="53397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526542" y="544830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高亮格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1309497" y="5448300"/>
              <a:ext cx="41027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该条指令写回结束的周期，第 i 条落在第 i + 4 周期</a:t>
              </a:r>
            </a:p>
          </p:txBody>
        </p:sp>
      </p:grpSp>
      <p:grpSp>
        <p:nvGrpSpPr>
          <p:cNvPr id="141" name="c1-callout-3"/>
          <p:cNvGrpSpPr/>
          <p:nvPr/>
        </p:nvGrpSpPr>
        <p:grpSpPr>
          <a:xfrm>
            <a:off x="533400" y="5834062"/>
            <a:ext cx="11125200" cy="528638"/>
            <a:chOff x="533400" y="5834062"/>
            <a:chExt cx="11125200" cy="528638"/>
          </a:xfrm>
        </p:grpSpPr>
        <p:sp>
          <p:nvSpPr>
            <p:cNvPr id="136" name="Rectangle 136"/>
            <p:cNvSpPr/>
            <p:nvPr/>
          </p:nvSpPr>
          <p:spPr>
            <a:xfrm>
              <a:off x="533400" y="5834062"/>
              <a:ext cx="11125200" cy="528638"/>
            </a:xfrm>
            <a:prstGeom prst="roundRect">
              <a:avLst>
                <a:gd name="adj" fmla="val 2162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39" name="Group 139"/>
            <p:cNvGrpSpPr/>
            <p:nvPr/>
          </p:nvGrpSpPr>
          <p:grpSpPr>
            <a:xfrm>
              <a:off x="738188" y="5998847"/>
              <a:ext cx="200023" cy="200023"/>
              <a:chOff x="738188" y="5998847"/>
              <a:chExt cx="200023" cy="200023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738188" y="59988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8" name="Freeform 138"/>
              <p:cNvSpPr/>
              <p:nvPr/>
            </p:nvSpPr>
            <p:spPr>
              <a:xfrm>
                <a:off x="871538" y="60655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40" name="TextBox 140"/>
            <p:cNvSpPr txBox="1"/>
            <p:nvPr/>
          </p:nvSpPr>
          <p:spPr>
            <a:xfrm>
              <a:off x="1040892" y="6004560"/>
              <a:ext cx="7146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i = 20 代进去，最后一条指令在第 24 个周期结束，这就是下一页算吞吐率要用的 24。</a:t>
              </a:r>
            </a:p>
          </p:txBody>
        </p:sp>
      </p:grpSp>
      <p:grpSp>
        <p:nvGrpSpPr>
          <p:cNvPr id="1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2" name="TextBox 14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流水线的基本思想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例题续：两个吞吐率和一个加速比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4722266" cy="3031236"/>
            <a:chOff x="533400" y="1533525"/>
            <a:chExt cx="4722266" cy="303123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4831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755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956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0166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905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1566386"/>
              <a:ext cx="20761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20 个周期完成多少条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1846898"/>
              <a:ext cx="43092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条在第 i + 4 周期完成，i + 4 ≤ 20 得 i ≤ 16，完成 16 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187416"/>
              <a:ext cx="16938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20 周期的吞吐率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2467927"/>
              <a:ext cx="38165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÷ (20 × 100 ns) = 8 × 10⁶ 条/s = 4/5 × 10⁷ 条/s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280844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全部完成需要多少周期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088957"/>
              <a:ext cx="27576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Tk = k + (n − 1) = 5 + 19 = 24 个周期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342947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全程吞吐率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3709988"/>
              <a:ext cx="4083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÷ (24 × 100 ns) ≈ 8.33 × 10⁶ 条/s = 5/6 × 10⁷ 条/s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404955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加速比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4330065"/>
              <a:ext cx="29392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Ck = nk / (k + n − 1) = 100 / 24 ≈ 4.17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4741545"/>
            <a:ext cx="5626418" cy="1545908"/>
            <a:chOff x="533400" y="4741545"/>
            <a:chExt cx="5626418" cy="1545908"/>
          </a:xfrm>
        </p:grpSpPr>
        <p:sp>
          <p:nvSpPr>
            <p:cNvPr id="29" name="Rectangle 29"/>
            <p:cNvSpPr/>
            <p:nvPr/>
          </p:nvSpPr>
          <p:spPr>
            <a:xfrm>
              <a:off x="533400" y="4741545"/>
              <a:ext cx="5626418" cy="1545908"/>
            </a:xfrm>
            <a:prstGeom prst="roundRect">
              <a:avLst>
                <a:gd name="adj" fmla="val 862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37235" y="494538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6742" y="498109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离上界还差多少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9996" y="5318284"/>
              <a:ext cx="494677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段数 k = 5 是加速比的上界，这里拿到 4.17，损失来自填满和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排空流水线的那 4 个周期。指令数再翻一倍到 40 条，加速比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就升到 200/44 ≈ 4.55。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464618" y="1524000"/>
            <a:ext cx="5193982" cy="2137410"/>
            <a:chOff x="6464618" y="1524000"/>
            <a:chExt cx="5193982" cy="2137410"/>
          </a:xfrm>
        </p:grpSpPr>
        <p:sp>
          <p:nvSpPr>
            <p:cNvPr id="34" name="Rectangle 34"/>
            <p:cNvSpPr/>
            <p:nvPr/>
          </p:nvSpPr>
          <p:spPr>
            <a:xfrm>
              <a:off x="6464618" y="1524000"/>
              <a:ext cx="5193982" cy="2137410"/>
            </a:xfrm>
            <a:prstGeom prst="roundRect">
              <a:avLst>
                <a:gd name="adj" fmla="val 62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4142" y="1657350"/>
              <a:ext cx="47625" cy="187071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06552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9771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99314" y="2100739"/>
              <a:ext cx="432144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源课件把吞吐率写成 </a:t>
              </a:r>
              <a:r>
                <a:rPr lang="en-US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16/20×100ns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，按字面算出来是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80 ns，量纲不对。正确写法是 </a:t>
              </a:r>
              <a:r>
                <a:rPr lang="en-US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16 ÷ (20 × 100 ns)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 4/5 × 10⁷ 条指令/s 本身没错。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99314" y="2963704"/>
              <a:ext cx="430657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加速比那一行写作 nk/k+(n-1)，分母缺括号，应写成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nk / [k + (n − 1)]。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464618" y="3847148"/>
            <a:ext cx="5193982" cy="2440305"/>
            <a:chOff x="6464618" y="3847148"/>
            <a:chExt cx="5193982" cy="2440305"/>
          </a:xfrm>
        </p:grpSpPr>
        <p:sp>
          <p:nvSpPr>
            <p:cNvPr id="41" name="Rectangle 41"/>
            <p:cNvSpPr/>
            <p:nvPr/>
          </p:nvSpPr>
          <p:spPr>
            <a:xfrm>
              <a:off x="6464618" y="3847148"/>
              <a:ext cx="5193982" cy="2440305"/>
            </a:xfrm>
            <a:prstGeom prst="roundRect">
              <a:avLst>
                <a:gd name="adj" fmla="val 546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68452" y="4050982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25158" y="408670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两个吞吐率为什么不同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61214" y="4423886"/>
              <a:ext cx="454101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 20 个周期里流水线还有 4 条指令没走完，分母算了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 个周期却只收获 16 条。指令条数越多，两个数越接近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段数带来的上限。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08200" cy="909257"/>
            <a:chOff x="520446" y="342900"/>
            <a:chExt cx="61082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流水线的基本思想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082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的指令集本来就是为流水线设计的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table-1"/>
          <p:cNvGrpSpPr/>
          <p:nvPr/>
        </p:nvGrpSpPr>
        <p:grpSpPr>
          <a:xfrm>
            <a:off x="533400" y="1524000"/>
            <a:ext cx="5410200" cy="2150745"/>
            <a:chOff x="533400" y="1524000"/>
            <a:chExt cx="5410200" cy="21507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01176" y="1655445"/>
              <a:ext cx="6399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ISA 特征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54755" y="165544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对流水线的好处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8746" y="2085022"/>
              <a:ext cx="14313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所有指令定长 32 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15209" y="2085022"/>
              <a:ext cx="2470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一个周期取完一条，IF 段不必变长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8746" y="251555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指令格式少而规整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15209" y="2515552"/>
              <a:ext cx="25213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译码和读寄存器能在 ID 段一步完成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8746" y="2946082"/>
              <a:ext cx="12520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lw/sw 访存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15209" y="2946082"/>
              <a:ext cx="27523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 段算地址，MEM 段访存，分工固定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394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24421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8746" y="33756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存储器操作数要求对齐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15209" y="33756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一次访存一个周期就够，不会跨行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41020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705100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0" name="c1-card-2"/>
          <p:cNvGrpSpPr/>
          <p:nvPr/>
        </p:nvGrpSpPr>
        <p:grpSpPr>
          <a:xfrm>
            <a:off x="533400" y="3860482"/>
            <a:ext cx="5410200" cy="2402205"/>
            <a:chOff x="533400" y="3860482"/>
            <a:chExt cx="5410200" cy="2402205"/>
          </a:xfrm>
        </p:grpSpPr>
        <p:sp>
          <p:nvSpPr>
            <p:cNvPr id="26" name="Rectangle 26"/>
            <p:cNvSpPr/>
            <p:nvPr/>
          </p:nvSpPr>
          <p:spPr>
            <a:xfrm>
              <a:off x="533400" y="3860482"/>
              <a:ext cx="5410200" cy="2402205"/>
            </a:xfrm>
            <a:prstGeom prst="roundRect">
              <a:avLst>
                <a:gd name="adj" fmla="val 555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37235" y="406431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7443" y="41000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9996" y="4437221"/>
              <a:ext cx="466725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x86 指令长度从 1 字节到 17 字节，取指段自己就要先判断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这条指令有多长，流水线前端复杂度远高于 MIPS。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524000"/>
            <a:ext cx="5410200" cy="1545908"/>
            <a:chOff x="6248400" y="1524000"/>
            <a:chExt cx="5410200" cy="1545908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90335" y="17278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7742" y="17635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定长的价值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3096" y="2100739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 + 4 这件事之所以能在 IF 段用一个加法器解决，全靠指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令定长。指令变长的机器必须先译码才知道下一条在哪，取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指和译码就串起来了。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248400" y="3255645"/>
            <a:ext cx="5410200" cy="1545908"/>
            <a:chOff x="6248400" y="3255645"/>
            <a:chExt cx="5410200" cy="1545908"/>
          </a:xfrm>
        </p:grpSpPr>
        <p:sp>
          <p:nvSpPr>
            <p:cNvPr id="37" name="Rectangle 37"/>
            <p:cNvSpPr/>
            <p:nvPr/>
          </p:nvSpPr>
          <p:spPr>
            <a:xfrm>
              <a:off x="6248400" y="3255645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3388995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90335" y="345948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54940" y="349519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寄存器号位置固定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83096" y="3832384"/>
              <a:ext cx="477545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型和 I 型指令的 rs、rt 都在 25:21 和 20:16 位。ID 段可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以不等译码结果就把这两个字段送进寄存器堆读端口，省下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一级延迟。</a:t>
              </a:r>
            </a:p>
          </p:txBody>
        </p:sp>
      </p:grpSp>
      <p:grpSp>
        <p:nvGrpSpPr>
          <p:cNvPr id="48" name="c2-card-3"/>
          <p:cNvGrpSpPr/>
          <p:nvPr/>
        </p:nvGrpSpPr>
        <p:grpSpPr>
          <a:xfrm>
            <a:off x="6248400" y="4987290"/>
            <a:ext cx="5410200" cy="1274445"/>
            <a:chOff x="6248400" y="4987290"/>
            <a:chExt cx="5410200" cy="1274445"/>
          </a:xfrm>
        </p:grpSpPr>
        <p:sp>
          <p:nvSpPr>
            <p:cNvPr id="43" name="Rectangle 43"/>
            <p:cNvSpPr/>
            <p:nvPr/>
          </p:nvSpPr>
          <p:spPr>
            <a:xfrm>
              <a:off x="6248400" y="4987290"/>
              <a:ext cx="541020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57925" y="512064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90335" y="519112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72644" y="52268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记忆线索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83096" y="5564029"/>
              <a:ext cx="47213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凡是能让“下一步该做什么”在更早的阶段确定下来的 ISA 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征，都对流水线有利。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469130" cy="2997517"/>
            <a:chOff x="667512" y="1835468"/>
            <a:chExt cx="446913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三类冒险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下一个周期里下一条指令开不了工，就叫冒险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结构冒险：抢硬件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数据冒险：等数据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控制冒险：不知道取哪条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三类冒险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三类冒险对照：成因不同，对策也不同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table-1"/>
          <p:cNvGrpSpPr/>
          <p:nvPr/>
        </p:nvGrpSpPr>
        <p:grpSpPr>
          <a:xfrm>
            <a:off x="533400" y="1524000"/>
            <a:ext cx="11125200" cy="3150870"/>
            <a:chOff x="533400" y="1524000"/>
            <a:chExt cx="11125200" cy="31508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4424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6928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5633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典型场景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0331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主要对策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1786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残余代价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结构冒险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21446" y="2108359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两条指令同一周期要用同一个部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91303" y="222170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单一存储器同时取指和访存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39228" y="2108359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分离指令与数据存储器或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90174" y="22217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消除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6431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647950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28970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数据冒险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21446" y="2783681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后一条指令要用前一条还没写回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的结果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91303" y="2783681"/>
              <a:ext cx="19961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之后紧跟 sub 用同一个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39228" y="289702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转发（旁路）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90174" y="28970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消除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3194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572351"/>
              <a:ext cx="11627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load-use 冒险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21446" y="3459004"/>
              <a:ext cx="223189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数据要等 MEM 段读出，转发也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来不及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91303" y="3459004"/>
              <a:ext cx="202057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 之后紧跟用该寄存器的指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39228" y="3572351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阻塞 1 个周期加转发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16941" y="3572351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周期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9947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999548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42476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控制冒险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21446" y="424767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取下一条指令要等分支结果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91303" y="4247674"/>
              <a:ext cx="1899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beq 后面的指令取哪一条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39228" y="424767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提前判定加分支预测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87864" y="4134326"/>
              <a:ext cx="136220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预测错时 1 到 3 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11125200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08860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78718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426642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873615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1-callout-2"/>
          <p:cNvGrpSpPr/>
          <p:nvPr/>
        </p:nvGrpSpPr>
        <p:grpSpPr>
          <a:xfrm>
            <a:off x="533400" y="4865370"/>
            <a:ext cx="11125200" cy="1497330"/>
            <a:chOff x="533400" y="4865370"/>
            <a:chExt cx="11125200" cy="1497330"/>
          </a:xfrm>
        </p:grpSpPr>
        <p:sp>
          <p:nvSpPr>
            <p:cNvPr id="44" name="Rectangle 44"/>
            <p:cNvSpPr/>
            <p:nvPr/>
          </p:nvSpPr>
          <p:spPr>
            <a:xfrm>
              <a:off x="533400" y="4865370"/>
              <a:ext cx="11125200" cy="1497330"/>
            </a:xfrm>
            <a:prstGeom prst="roundRect">
              <a:avLst>
                <a:gd name="adj" fmla="val 763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514025"/>
              <a:ext cx="200023" cy="200023"/>
              <a:chOff x="738188" y="5514025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5140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55806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509260"/>
              <a:ext cx="96278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冒险不改变程序的正确性，硬件保证结果一定对，代价体现在 CPI 上。CPI = 1 + 各类阻塞带来的附加周期。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三类冒险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结构冒险：一块存储器不够两条指令用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3" name="c1-cells-1"/>
          <p:cNvGrpSpPr/>
          <p:nvPr/>
        </p:nvGrpSpPr>
        <p:grpSpPr>
          <a:xfrm>
            <a:off x="528066" y="1524000"/>
            <a:ext cx="4404931" cy="1572197"/>
            <a:chOff x="528066" y="1524000"/>
            <a:chExt cx="4404931" cy="1572197"/>
          </a:xfrm>
        </p:grpSpPr>
        <p:sp>
          <p:nvSpPr>
            <p:cNvPr id="7" name="TextBox 7"/>
            <p:cNvSpPr txBox="1"/>
            <p:nvPr/>
          </p:nvSpPr>
          <p:spPr>
            <a:xfrm>
              <a:off x="528066" y="159734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52512" y="1524000"/>
              <a:ext cx="554355" cy="2771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83541" y="159734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606868" y="1524000"/>
              <a:ext cx="554355" cy="2771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37896" y="159734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161222" y="1524000"/>
              <a:ext cx="554355" cy="2771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392251" y="159734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715578" y="1524000"/>
              <a:ext cx="554355" cy="2771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946606" y="159734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269932" y="1524000"/>
              <a:ext cx="554355" cy="2771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500961" y="159734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824288" y="1524000"/>
              <a:ext cx="554355" cy="2771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055316" y="159734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378642" y="1524000"/>
              <a:ext cx="554355" cy="2771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09671" y="159734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8066" y="1920240"/>
              <a:ext cx="1665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lw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052512" y="1846898"/>
              <a:ext cx="554355" cy="27717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57708" y="1920240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606868" y="1846898"/>
              <a:ext cx="554355" cy="27717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812063" y="1920240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161222" y="1846898"/>
              <a:ext cx="554355" cy="27717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346815" y="192024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715578" y="1846898"/>
              <a:ext cx="554355" cy="27717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826681" y="1920240"/>
              <a:ext cx="332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269932" y="1846898"/>
              <a:ext cx="554355" cy="27717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439843" y="192024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824288" y="1846898"/>
              <a:ext cx="554355" cy="2771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378642" y="1846898"/>
              <a:ext cx="554355" cy="2771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8066" y="224409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指令 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52512" y="2170748"/>
              <a:ext cx="554355" cy="2771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606868" y="2170748"/>
              <a:ext cx="554355" cy="27717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812063" y="2244090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161222" y="2170748"/>
              <a:ext cx="554355" cy="27717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366418" y="2244090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715578" y="2170748"/>
              <a:ext cx="554355" cy="27717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901170" y="224409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269932" y="2170748"/>
              <a:ext cx="554355" cy="27717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381036" y="2244090"/>
              <a:ext cx="332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824288" y="2170748"/>
              <a:ext cx="554355" cy="27717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994198" y="22440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378642" y="2170748"/>
              <a:ext cx="554355" cy="2771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8066" y="2566988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指令 3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52512" y="2493645"/>
              <a:ext cx="554355" cy="2771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606868" y="2493645"/>
              <a:ext cx="554355" cy="2771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2161222" y="2493645"/>
              <a:ext cx="554355" cy="27717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366418" y="2566988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715578" y="2493645"/>
              <a:ext cx="554355" cy="27717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920773" y="2566988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269932" y="2493645"/>
              <a:ext cx="554355" cy="27717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455525" y="256698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824288" y="2493645"/>
              <a:ext cx="554355" cy="27717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935391" y="2566988"/>
              <a:ext cx="332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378642" y="2493645"/>
              <a:ext cx="554355" cy="27717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548553" y="256698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28066" y="2890838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指令 4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052512" y="2817495"/>
              <a:ext cx="554355" cy="2771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1606868" y="2817495"/>
              <a:ext cx="554355" cy="2771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2161222" y="2817495"/>
              <a:ext cx="554355" cy="27717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2715578" y="2817495"/>
              <a:ext cx="554355" cy="27717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2846070" y="28908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气泡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3269932" y="2817495"/>
              <a:ext cx="554355" cy="27717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3475128" y="2890838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3824288" y="2817495"/>
              <a:ext cx="554355" cy="27717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4029483" y="2890838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4378642" y="2817495"/>
              <a:ext cx="554355" cy="27717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4564235" y="289083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</p:grpSp>
      <p:grpSp>
        <p:nvGrpSpPr>
          <p:cNvPr id="79" name="c1-card-2"/>
          <p:cNvGrpSpPr/>
          <p:nvPr/>
        </p:nvGrpSpPr>
        <p:grpSpPr>
          <a:xfrm>
            <a:off x="533400" y="3280410"/>
            <a:ext cx="5842635" cy="2982278"/>
            <a:chOff x="533400" y="3280410"/>
            <a:chExt cx="5842635" cy="2982278"/>
          </a:xfrm>
        </p:grpSpPr>
        <p:sp>
          <p:nvSpPr>
            <p:cNvPr id="74" name="Rectangle 74"/>
            <p:cNvSpPr/>
            <p:nvPr/>
          </p:nvSpPr>
          <p:spPr>
            <a:xfrm>
              <a:off x="533400" y="3280410"/>
              <a:ext cx="5842635" cy="2982278"/>
            </a:xfrm>
            <a:prstGeom prst="roundRect">
              <a:avLst>
                <a:gd name="adj" fmla="val 44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542925" y="3413760"/>
              <a:ext cx="47625" cy="271557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775335" y="348424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65543" y="35199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68096" y="3857149"/>
              <a:ext cx="505498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个周期里 lw 要读数据，指令 4 要取指，同一块存储器只能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满足一个。指令 4 被迫推迟一拍，后面所有指令跟着顺延。</a:t>
              </a:r>
            </a:p>
          </p:txBody>
        </p:sp>
      </p:grpSp>
      <p:grpSp>
        <p:nvGrpSpPr>
          <p:cNvPr id="85" name="c2-card-1"/>
          <p:cNvGrpSpPr/>
          <p:nvPr/>
        </p:nvGrpSpPr>
        <p:grpSpPr>
          <a:xfrm>
            <a:off x="6680835" y="1524000"/>
            <a:ext cx="4977765" cy="1545908"/>
            <a:chOff x="6680835" y="1524000"/>
            <a:chExt cx="4977765" cy="1545908"/>
          </a:xfrm>
        </p:grpSpPr>
        <p:sp>
          <p:nvSpPr>
            <p:cNvPr id="80" name="Rectangle 80"/>
            <p:cNvSpPr/>
            <p:nvPr/>
          </p:nvSpPr>
          <p:spPr>
            <a:xfrm>
              <a:off x="6680835" y="1524000"/>
              <a:ext cx="4977765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6690360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922770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013931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成因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915531" y="2100739"/>
              <a:ext cx="427951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流水线同时有 5 条指令在跑。如果指令和数据放在同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一块存储器，访存指令进 MEM 段的那个周期，后面第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条指令的 IF 就必须让路。</a:t>
              </a:r>
            </a:p>
          </p:txBody>
        </p:sp>
      </p:grpSp>
      <p:grpSp>
        <p:nvGrpSpPr>
          <p:cNvPr id="90" name="c2-card-2"/>
          <p:cNvGrpSpPr/>
          <p:nvPr/>
        </p:nvGrpSpPr>
        <p:grpSpPr>
          <a:xfrm>
            <a:off x="6680835" y="3255645"/>
            <a:ext cx="4977765" cy="1274445"/>
            <a:chOff x="6680835" y="3255645"/>
            <a:chExt cx="4977765" cy="1274445"/>
          </a:xfrm>
        </p:grpSpPr>
        <p:sp>
          <p:nvSpPr>
            <p:cNvPr id="86" name="Rectangle 86"/>
            <p:cNvSpPr/>
            <p:nvPr/>
          </p:nvSpPr>
          <p:spPr>
            <a:xfrm>
              <a:off x="6680835" y="3255645"/>
              <a:ext cx="4977765" cy="1274445"/>
            </a:xfrm>
            <a:prstGeom prst="roundRect">
              <a:avLst>
                <a:gd name="adj" fmla="val 1046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6884670" y="345948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966979" y="34951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代价估算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877431" y="3832384"/>
              <a:ext cx="436067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设访存指令占 30%，则每 100 条指令多出 30 个停顿周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期，CPI 从 1 升到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1.30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96" name="c2-card-3"/>
          <p:cNvGrpSpPr/>
          <p:nvPr/>
        </p:nvGrpSpPr>
        <p:grpSpPr>
          <a:xfrm>
            <a:off x="6680835" y="4715828"/>
            <a:ext cx="4977765" cy="1545908"/>
            <a:chOff x="6680835" y="4715828"/>
            <a:chExt cx="4977765" cy="1545908"/>
          </a:xfrm>
        </p:grpSpPr>
        <p:sp>
          <p:nvSpPr>
            <p:cNvPr id="91" name="Rectangle 91"/>
            <p:cNvSpPr/>
            <p:nvPr/>
          </p:nvSpPr>
          <p:spPr>
            <a:xfrm>
              <a:off x="6680835" y="4715828"/>
              <a:ext cx="4977765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6690360" y="4849178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6922770" y="491966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005079" y="49553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标准做法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915531" y="5292566"/>
              <a:ext cx="426148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指令和数据分开存储，或者把一级 Cache 拆成指令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与数据 Cache。MIPS 流水线因此从一开始就画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成两块存储器。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三类冒险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数据冒险：结果还在路上，下一条指令已经要用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907732"/>
            <a:chOff x="533400" y="1524000"/>
            <a:chExt cx="5626418" cy="9077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354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相邻两条指令共用 $s0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1419606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add  $s0, $t0, $t1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sub  $t2, $s0, $t3</a:t>
              </a:r>
            </a:p>
          </p:txBody>
        </p:sp>
      </p:grpSp>
      <p:grpSp>
        <p:nvGrpSpPr>
          <p:cNvPr id="72" name="c1-cells-2"/>
          <p:cNvGrpSpPr/>
          <p:nvPr/>
        </p:nvGrpSpPr>
        <p:grpSpPr>
          <a:xfrm>
            <a:off x="528447" y="2617470"/>
            <a:ext cx="4757928" cy="1145858"/>
            <a:chOff x="528447" y="2617470"/>
            <a:chExt cx="4757928" cy="1145858"/>
          </a:xfrm>
        </p:grpSpPr>
        <p:sp>
          <p:nvSpPr>
            <p:cNvPr id="11" name="TextBox 11"/>
            <p:cNvSpPr txBox="1"/>
            <p:nvPr/>
          </p:nvSpPr>
          <p:spPr>
            <a:xfrm>
              <a:off x="528447" y="26855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295400" y="2617470"/>
              <a:ext cx="499110" cy="25908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00955" y="26855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793558" y="2617470"/>
              <a:ext cx="499110" cy="25908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000065" y="26855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292668" y="2617470"/>
              <a:ext cx="499110" cy="25908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499175" y="26855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791778" y="2617470"/>
              <a:ext cx="499110" cy="25908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98285" y="26855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90888" y="2617470"/>
              <a:ext cx="499110" cy="25908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497395" y="26855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789998" y="2617470"/>
              <a:ext cx="499110" cy="25908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995553" y="26855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288155" y="2617470"/>
              <a:ext cx="499110" cy="25908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94663" y="26855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787265" y="2617470"/>
              <a:ext cx="499110" cy="25908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993773" y="26855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8447" y="298180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add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295400" y="2912745"/>
              <a:ext cx="499110" cy="25908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476844" y="2981801"/>
              <a:ext cx="1343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793558" y="2912745"/>
              <a:ext cx="499110" cy="25908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975954" y="2981801"/>
              <a:ext cx="1343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292668" y="2912745"/>
              <a:ext cx="499110" cy="25908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456769" y="298180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791778" y="2912745"/>
              <a:ext cx="499110" cy="25908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886355" y="2981801"/>
              <a:ext cx="309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290888" y="2912745"/>
              <a:ext cx="499110" cy="25908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440352" y="298180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789998" y="2912745"/>
              <a:ext cx="499110" cy="25908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4288155" y="2912745"/>
              <a:ext cx="499110" cy="25908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4787265" y="2912745"/>
              <a:ext cx="499110" cy="25908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8447" y="3277076"/>
              <a:ext cx="6758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sub 无转发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295400" y="3208020"/>
              <a:ext cx="499110" cy="25908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793558" y="3208020"/>
              <a:ext cx="499110" cy="25908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975954" y="3277076"/>
              <a:ext cx="1343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292668" y="3208020"/>
              <a:ext cx="499110" cy="25908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475064" y="3277076"/>
              <a:ext cx="1343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791778" y="3208020"/>
              <a:ext cx="499110" cy="25908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904452" y="327707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气泡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290888" y="3208020"/>
              <a:ext cx="499110" cy="25908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403562" y="327707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气泡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789998" y="3208020"/>
              <a:ext cx="499110" cy="25908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953146" y="327707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288155" y="3208020"/>
              <a:ext cx="499110" cy="25908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382733" y="3277076"/>
              <a:ext cx="309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787265" y="3208020"/>
              <a:ext cx="499110" cy="25908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936730" y="327707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28447" y="3572351"/>
              <a:ext cx="6758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sub 有转发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295400" y="3504248"/>
              <a:ext cx="499110" cy="25908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793558" y="3504248"/>
              <a:ext cx="499110" cy="25908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975954" y="3572351"/>
              <a:ext cx="1343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2292668" y="3504248"/>
              <a:ext cx="499110" cy="25908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2475064" y="3572351"/>
              <a:ext cx="1343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2791778" y="3504248"/>
              <a:ext cx="499110" cy="25908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2955879" y="357235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3290888" y="3504248"/>
              <a:ext cx="499110" cy="25908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385465" y="3572351"/>
              <a:ext cx="309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3789998" y="3504248"/>
              <a:ext cx="499110" cy="25908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3938510" y="35723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288155" y="3504248"/>
              <a:ext cx="499110" cy="25908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4787265" y="3504248"/>
              <a:ext cx="499110" cy="25908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</p:grpSp>
      <p:grpSp>
        <p:nvGrpSpPr>
          <p:cNvPr id="78" name="c1-card-3"/>
          <p:cNvGrpSpPr/>
          <p:nvPr/>
        </p:nvGrpSpPr>
        <p:grpSpPr>
          <a:xfrm>
            <a:off x="533400" y="3948112"/>
            <a:ext cx="5626418" cy="2372678"/>
            <a:chOff x="533400" y="3948112"/>
            <a:chExt cx="5626418" cy="2372678"/>
          </a:xfrm>
        </p:grpSpPr>
        <p:sp>
          <p:nvSpPr>
            <p:cNvPr id="73" name="Rectangle 73"/>
            <p:cNvSpPr/>
            <p:nvPr/>
          </p:nvSpPr>
          <p:spPr>
            <a:xfrm>
              <a:off x="533400" y="3948112"/>
              <a:ext cx="5626418" cy="2372678"/>
            </a:xfrm>
            <a:prstGeom prst="roundRect">
              <a:avLst>
                <a:gd name="adj" fmla="val 56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542925" y="4081462"/>
              <a:ext cx="47625" cy="210597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775335" y="415194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65543" y="41876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68096" y="4524851"/>
              <a:ext cx="491972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第二行是没有转发通路时的样子，sub 要等 add 写回；第三行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装上转发通路后，sub 的 EX 回到第 4 周期，一拍都不用停。</a:t>
              </a:r>
            </a:p>
          </p:txBody>
        </p:sp>
      </p:grpSp>
      <p:grpSp>
        <p:nvGrpSpPr>
          <p:cNvPr id="84" name="c2-card-1"/>
          <p:cNvGrpSpPr/>
          <p:nvPr/>
        </p:nvGrpSpPr>
        <p:grpSpPr>
          <a:xfrm>
            <a:off x="6464618" y="1524000"/>
            <a:ext cx="5193982" cy="1274445"/>
            <a:chOff x="6464618" y="1524000"/>
            <a:chExt cx="5193982" cy="1274445"/>
          </a:xfrm>
        </p:grpSpPr>
        <p:sp>
          <p:nvSpPr>
            <p:cNvPr id="79" name="Rectangle 79"/>
            <p:cNvSpPr/>
            <p:nvPr/>
          </p:nvSpPr>
          <p:spPr>
            <a:xfrm>
              <a:off x="6464618" y="1524000"/>
              <a:ext cx="5193982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6474142" y="165735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706552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788861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冒险窗口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699314" y="2100739"/>
              <a:ext cx="455002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在第 3 周期末才算出 $s0，第 5 周期才写回。sub 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在第 4 周期就要在 EX 段用它。</a:t>
              </a:r>
            </a:p>
          </p:txBody>
        </p:sp>
      </p:grpSp>
      <p:grpSp>
        <p:nvGrpSpPr>
          <p:cNvPr id="93" name="c2-card-2"/>
          <p:cNvGrpSpPr/>
          <p:nvPr/>
        </p:nvGrpSpPr>
        <p:grpSpPr>
          <a:xfrm>
            <a:off x="6464618" y="2984182"/>
            <a:ext cx="5193982" cy="1604962"/>
            <a:chOff x="6464618" y="2984182"/>
            <a:chExt cx="5193982" cy="1604962"/>
          </a:xfrm>
        </p:grpSpPr>
        <p:sp>
          <p:nvSpPr>
            <p:cNvPr id="85" name="Rectangle 85"/>
            <p:cNvSpPr/>
            <p:nvPr/>
          </p:nvSpPr>
          <p:spPr>
            <a:xfrm>
              <a:off x="6464618" y="2984182"/>
              <a:ext cx="5193982" cy="1604962"/>
            </a:xfrm>
            <a:prstGeom prst="roundRect">
              <a:avLst>
                <a:gd name="adj" fmla="val 830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668452" y="3188018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741909" y="322373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两个关键时刻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6676072" y="362140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832664" y="3560921"/>
              <a:ext cx="37668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产生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的时刻：EX 段结束，即第 3 周期末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6676072" y="394144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832664" y="3880961"/>
              <a:ext cx="45824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结果被</a:t>
              </a:r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需要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的时刻：sub 的 EX 段开始，即第 4 周期初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662356" y="4197668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产生早于需要，所以不必等写回，把值直接送过去就行</a:t>
              </a:r>
            </a:p>
          </p:txBody>
        </p:sp>
      </p:grpSp>
      <p:grpSp>
        <p:nvGrpSpPr>
          <p:cNvPr id="99" name="c2-card-3"/>
          <p:cNvGrpSpPr/>
          <p:nvPr/>
        </p:nvGrpSpPr>
        <p:grpSpPr>
          <a:xfrm>
            <a:off x="6464618" y="4773930"/>
            <a:ext cx="5193982" cy="1545908"/>
            <a:chOff x="6464618" y="4773930"/>
            <a:chExt cx="5193982" cy="1545908"/>
          </a:xfrm>
        </p:grpSpPr>
        <p:sp>
          <p:nvSpPr>
            <p:cNvPr id="94" name="Rectangle 94"/>
            <p:cNvSpPr/>
            <p:nvPr/>
          </p:nvSpPr>
          <p:spPr>
            <a:xfrm>
              <a:off x="6464618" y="4773930"/>
              <a:ext cx="5193982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6474142" y="490728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6706552" y="4977765"/>
              <a:ext cx="1377315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770755" y="501348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为什么是 2 个气泡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699314" y="5350669"/>
              <a:ext cx="455002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寄存器堆写在周期前半拍、读在后半拍，sub 可以在第 5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周期的 ID 段读到新值，EX 推到第 6 周期，停顿 2 拍。若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没有这个半拍技巧，要停 3 拍。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0" name="TextBox 10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75311" cy="909257"/>
            <a:chOff x="520446" y="342900"/>
            <a:chExt cx="63753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三类冒险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753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转发：结果一算出来就直接送回 ALU 输入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533400" y="1524000"/>
            <a:ext cx="4977765" cy="3071337"/>
            <a:chOff x="533400" y="1524000"/>
            <a:chExt cx="4977765" cy="3071337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13082" r="0" b="13082"/>
            <a:stretch>
              <a:fillRect/>
            </a:stretch>
          </p:blipFill>
          <p:spPr>
            <a:xfrm>
              <a:off x="533400" y="1524000"/>
              <a:ext cx="4977765" cy="2756535"/>
            </a:xfrm>
            <a:prstGeom prst="roundRect">
              <a:avLst>
                <a:gd name="adj" fmla="val 4837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282662" y="4375309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左边的锅直接倒进右边的碗，不先放到身后的台面上</a:t>
              </a:r>
            </a:p>
          </p:txBody>
        </p:sp>
      </p:grpSp>
      <p:grpSp>
        <p:nvGrpSpPr>
          <p:cNvPr id="15" name="c1-card-2"/>
          <p:cNvGrpSpPr/>
          <p:nvPr/>
        </p:nvGrpSpPr>
        <p:grpSpPr>
          <a:xfrm>
            <a:off x="533400" y="4760595"/>
            <a:ext cx="4977765" cy="1602105"/>
            <a:chOff x="533400" y="4760595"/>
            <a:chExt cx="4977765" cy="1602105"/>
          </a:xfrm>
        </p:grpSpPr>
        <p:sp>
          <p:nvSpPr>
            <p:cNvPr id="10" name="Rectangle 10"/>
            <p:cNvSpPr/>
            <p:nvPr/>
          </p:nvSpPr>
          <p:spPr>
            <a:xfrm>
              <a:off x="533400" y="4760595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489394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81050" y="497014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71258" y="50058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类比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5347335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寄存器堆相当于那条台面。转发就是绕过它，把值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从流水线寄存器直接接到下一条指令的 ALU 输入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端。</a:t>
              </a:r>
            </a:p>
          </p:txBody>
        </p:sp>
      </p:grpSp>
      <p:grpSp>
        <p:nvGrpSpPr>
          <p:cNvPr id="48" name="c2-graph-1"/>
          <p:cNvGrpSpPr/>
          <p:nvPr/>
        </p:nvGrpSpPr>
        <p:grpSpPr>
          <a:xfrm>
            <a:off x="6152198" y="1642110"/>
            <a:ext cx="5349856" cy="3145631"/>
            <a:chOff x="6152198" y="1642110"/>
            <a:chExt cx="5349856" cy="3145631"/>
          </a:xfrm>
        </p:grpSpPr>
        <p:sp>
          <p:nvSpPr>
            <p:cNvPr id="16" name="Freeform 16"/>
            <p:cNvSpPr/>
            <p:nvPr/>
          </p:nvSpPr>
          <p:spPr>
            <a:xfrm>
              <a:off x="6647498" y="2636520"/>
              <a:ext cx="537210" cy="361950"/>
            </a:xfrm>
            <a:custGeom>
              <a:avLst/>
              <a:gdLst/>
              <a:ahLst/>
              <a:cxnLst/>
              <a:rect l="l" t="t" r="r" b="b"/>
              <a:pathLst>
                <a:path w="537210" h="361950">
                  <a:moveTo>
                    <a:pt x="0" y="361950"/>
                  </a:moveTo>
                  <a:lnTo>
                    <a:pt x="5372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158038" y="2583180"/>
              <a:ext cx="105728" cy="92392"/>
            </a:xfrm>
            <a:custGeom>
              <a:avLst/>
              <a:gdLst/>
              <a:ahLst/>
              <a:cxnLst/>
              <a:rect l="l" t="t" r="r" b="b"/>
              <a:pathLst>
                <a:path w="105728" h="92392">
                  <a:moveTo>
                    <a:pt x="105728" y="0"/>
                  </a:moveTo>
                  <a:lnTo>
                    <a:pt x="53340" y="92392"/>
                  </a:lnTo>
                  <a:lnTo>
                    <a:pt x="0" y="133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6647498" y="3276600"/>
              <a:ext cx="529590" cy="238125"/>
            </a:xfrm>
            <a:custGeom>
              <a:avLst/>
              <a:gdLst/>
              <a:ahLst/>
              <a:cxnLst/>
              <a:rect l="l" t="t" r="r" b="b"/>
              <a:pathLst>
                <a:path w="529590" h="238125">
                  <a:moveTo>
                    <a:pt x="0" y="0"/>
                  </a:moveTo>
                  <a:lnTo>
                    <a:pt x="529590" y="2381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7157085" y="3470910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106680" y="82868"/>
                  </a:moveTo>
                  <a:lnTo>
                    <a:pt x="0" y="86678"/>
                  </a:lnTo>
                  <a:lnTo>
                    <a:pt x="3905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7873365" y="2532698"/>
              <a:ext cx="561975" cy="287655"/>
            </a:xfrm>
            <a:custGeom>
              <a:avLst/>
              <a:gdLst/>
              <a:ahLst/>
              <a:cxnLst/>
              <a:rect l="l" t="t" r="r" b="b"/>
              <a:pathLst>
                <a:path w="561975" h="287655">
                  <a:moveTo>
                    <a:pt x="0" y="0"/>
                  </a:moveTo>
                  <a:lnTo>
                    <a:pt x="561975" y="2876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8414385" y="2777490"/>
              <a:ext cx="105728" cy="85725"/>
            </a:xfrm>
            <a:custGeom>
              <a:avLst/>
              <a:gdLst/>
              <a:ahLst/>
              <a:cxnLst/>
              <a:rect l="l" t="t" r="r" b="b"/>
              <a:pathLst>
                <a:path w="105728" h="85725">
                  <a:moveTo>
                    <a:pt x="105728" y="85725"/>
                  </a:moveTo>
                  <a:lnTo>
                    <a:pt x="0" y="84772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873365" y="3247072"/>
              <a:ext cx="561975" cy="287655"/>
            </a:xfrm>
            <a:custGeom>
              <a:avLst/>
              <a:gdLst/>
              <a:ahLst/>
              <a:cxnLst/>
              <a:rect l="l" t="t" r="r" b="b"/>
              <a:pathLst>
                <a:path w="561975" h="287655">
                  <a:moveTo>
                    <a:pt x="0" y="287655"/>
                  </a:moveTo>
                  <a:lnTo>
                    <a:pt x="5619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8414385" y="3204210"/>
              <a:ext cx="105728" cy="85725"/>
            </a:xfrm>
            <a:custGeom>
              <a:avLst/>
              <a:gdLst/>
              <a:ahLst/>
              <a:cxnLst/>
              <a:rect l="l" t="t" r="r" b="b"/>
              <a:pathLst>
                <a:path w="105728" h="85725">
                  <a:moveTo>
                    <a:pt x="105728" y="0"/>
                  </a:moveTo>
                  <a:lnTo>
                    <a:pt x="42862" y="8572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9186862" y="3070860"/>
              <a:ext cx="464820" cy="52388"/>
            </a:xfrm>
            <a:custGeom>
              <a:avLst/>
              <a:gdLst/>
              <a:ahLst/>
              <a:cxnLst/>
              <a:rect l="l" t="t" r="r" b="b"/>
              <a:pathLst>
                <a:path w="464820" h="52388">
                  <a:moveTo>
                    <a:pt x="0" y="0"/>
                  </a:moveTo>
                  <a:lnTo>
                    <a:pt x="464820" y="523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9645968" y="3076575"/>
              <a:ext cx="100012" cy="94297"/>
            </a:xfrm>
            <a:custGeom>
              <a:avLst/>
              <a:gdLst/>
              <a:ahLst/>
              <a:cxnLst/>
              <a:rect l="l" t="t" r="r" b="b"/>
              <a:pathLst>
                <a:path w="100012" h="94297">
                  <a:moveTo>
                    <a:pt x="100012" y="57150"/>
                  </a:moveTo>
                  <a:lnTo>
                    <a:pt x="0" y="94297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0298430" y="3165158"/>
              <a:ext cx="501968" cy="9525"/>
            </a:xfrm>
            <a:custGeom>
              <a:avLst/>
              <a:gdLst/>
              <a:ahLst/>
              <a:cxnLst/>
              <a:rect l="l" t="t" r="r" b="b"/>
              <a:pathLst>
                <a:path w="501968" h="9525">
                  <a:moveTo>
                    <a:pt x="0" y="0"/>
                  </a:moveTo>
                  <a:lnTo>
                    <a:pt x="50196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0800398" y="31175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7568565" y="1721168"/>
              <a:ext cx="2453640" cy="815340"/>
            </a:xfrm>
            <a:custGeom>
              <a:avLst/>
              <a:gdLst/>
              <a:ahLst/>
              <a:cxnLst/>
              <a:rect l="l" t="t" r="r" b="b"/>
              <a:pathLst>
                <a:path w="2453640" h="815340">
                  <a:moveTo>
                    <a:pt x="2453640" y="815340"/>
                  </a:moveTo>
                  <a:lnTo>
                    <a:pt x="2453640" y="0"/>
                  </a:lnTo>
                  <a:lnTo>
                    <a:pt x="0" y="0"/>
                  </a:lnTo>
                  <a:lnTo>
                    <a:pt x="0" y="34194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520940" y="20631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7568565" y="3793808"/>
              <a:ext cx="3622358" cy="881062"/>
            </a:xfrm>
            <a:custGeom>
              <a:avLst/>
              <a:gdLst/>
              <a:ahLst/>
              <a:cxnLst/>
              <a:rect l="l" t="t" r="r" b="b"/>
              <a:pathLst>
                <a:path w="3622358" h="881062">
                  <a:moveTo>
                    <a:pt x="3622358" y="0"/>
                  </a:moveTo>
                  <a:lnTo>
                    <a:pt x="3622358" y="881062"/>
                  </a:lnTo>
                  <a:lnTo>
                    <a:pt x="0" y="881062"/>
                  </a:lnTo>
                  <a:lnTo>
                    <a:pt x="0" y="21050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520940" y="39090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152198" y="2546032"/>
              <a:ext cx="495300" cy="1238250"/>
            </a:xfrm>
            <a:prstGeom prst="roundRect">
              <a:avLst>
                <a:gd name="adj" fmla="val 19231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263765" y="2167890"/>
              <a:ext cx="609600" cy="419100"/>
            </a:xfrm>
            <a:prstGeom prst="roundRect">
              <a:avLst>
                <a:gd name="adj" fmla="val 22727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263765" y="3480435"/>
              <a:ext cx="609600" cy="419100"/>
            </a:xfrm>
            <a:prstGeom prst="roundRect">
              <a:avLst>
                <a:gd name="adj" fmla="val 22727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520112" y="2738438"/>
              <a:ext cx="666750" cy="590550"/>
            </a:xfrm>
            <a:prstGeom prst="roundRect">
              <a:avLst>
                <a:gd name="adj" fmla="val 16129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745980" y="2546032"/>
              <a:ext cx="552450" cy="1238250"/>
            </a:xfrm>
            <a:prstGeom prst="roundRect">
              <a:avLst>
                <a:gd name="adj" fmla="val 17241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895648" y="2546032"/>
              <a:ext cx="590550" cy="1238250"/>
            </a:xfrm>
            <a:prstGeom prst="roundRect">
              <a:avLst>
                <a:gd name="adj" fmla="val 16129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98489" y="3099435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ID/EX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80088" y="2311718"/>
              <a:ext cx="376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MuxA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80088" y="3625215"/>
              <a:ext cx="376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MuxB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18777" y="2968943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26755" y="3099435"/>
              <a:ext cx="590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EX/MEM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879790" y="3099435"/>
              <a:ext cx="6222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MEM/WB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700135" y="1642110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729909" y="167211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284018" y="4596765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314744" y="46258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5815965" y="4996815"/>
            <a:ext cx="5842635" cy="1365885"/>
            <a:chOff x="5815965" y="4996815"/>
            <a:chExt cx="5842635" cy="1365885"/>
          </a:xfrm>
        </p:grpSpPr>
        <p:sp>
          <p:nvSpPr>
            <p:cNvPr id="49" name="Rectangle 49"/>
            <p:cNvSpPr/>
            <p:nvPr/>
          </p:nvSpPr>
          <p:spPr>
            <a:xfrm>
              <a:off x="5815965" y="4996815"/>
              <a:ext cx="5842635" cy="1365885"/>
            </a:xfrm>
            <a:prstGeom prst="roundRect">
              <a:avLst>
                <a:gd name="adj" fmla="val 976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025515" y="520636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98972" y="524208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两条转发通路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031230" y="564642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189345" y="5583555"/>
              <a:ext cx="5406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上一条指令的 ALU 结果从 EX/MEM 回到 ALU 输入，编码 10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031230" y="598170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189345" y="5918835"/>
              <a:ext cx="40850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上上条指令的结果从 MEM/WB 回来，编码 01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79103" cy="909257"/>
            <a:chOff x="520446" y="342900"/>
            <a:chExt cx="67791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三类冒险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791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load-use 冒险：转发解决不了时间上的倒退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cells-1"/>
          <p:cNvGrpSpPr/>
          <p:nvPr/>
        </p:nvGrpSpPr>
        <p:grpSpPr>
          <a:xfrm>
            <a:off x="528447" y="1524000"/>
            <a:ext cx="4996053" cy="895350"/>
            <a:chOff x="528447" y="1524000"/>
            <a:chExt cx="4996053" cy="895350"/>
          </a:xfrm>
        </p:grpSpPr>
        <p:sp>
          <p:nvSpPr>
            <p:cNvPr id="7" name="TextBox 7"/>
            <p:cNvSpPr txBox="1"/>
            <p:nvPr/>
          </p:nvSpPr>
          <p:spPr>
            <a:xfrm>
              <a:off x="528447" y="159686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790700" y="1524000"/>
              <a:ext cx="533400" cy="2667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014353" y="159686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324100" y="1524000"/>
              <a:ext cx="533400" cy="2667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547753" y="159686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857500" y="1524000"/>
              <a:ext cx="533400" cy="2667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081153" y="159686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390900" y="1524000"/>
              <a:ext cx="533400" cy="2667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14553" y="159686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924300" y="1524000"/>
              <a:ext cx="533400" cy="2667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147953" y="159686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57700" y="1524000"/>
              <a:ext cx="533400" cy="2667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681353" y="159686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991100" y="1524000"/>
              <a:ext cx="533400" cy="2667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14753" y="159686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8447" y="1911191"/>
              <a:ext cx="10765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lw $s0, 20($t1)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790700" y="1838325"/>
              <a:ext cx="533400" cy="2667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990242" y="1911191"/>
              <a:ext cx="1343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324100" y="1838325"/>
              <a:ext cx="533400" cy="2667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523642" y="1911191"/>
              <a:ext cx="1343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857500" y="1838325"/>
              <a:ext cx="533400" cy="2667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038746" y="191119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390900" y="1838325"/>
              <a:ext cx="533400" cy="2667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502623" y="1911191"/>
              <a:ext cx="309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924300" y="1838325"/>
              <a:ext cx="533400" cy="2667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090910" y="191119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457700" y="1838325"/>
              <a:ext cx="533400" cy="2667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991100" y="1838325"/>
              <a:ext cx="533400" cy="2667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8447" y="2225516"/>
              <a:ext cx="12012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sub $t2, $s0, $t3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790700" y="2152650"/>
              <a:ext cx="533400" cy="2667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324100" y="2152650"/>
              <a:ext cx="533400" cy="2667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523642" y="2225516"/>
              <a:ext cx="1343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857500" y="2152650"/>
              <a:ext cx="533400" cy="2667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057042" y="2225516"/>
              <a:ext cx="1343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390900" y="2152650"/>
              <a:ext cx="533400" cy="2667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520719" y="22255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气泡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924300" y="2152650"/>
              <a:ext cx="533400" cy="2667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105546" y="222551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457700" y="2152650"/>
              <a:ext cx="533400" cy="2667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569423" y="2225516"/>
              <a:ext cx="309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991100" y="2152650"/>
              <a:ext cx="533400" cy="2667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157710" y="222551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</p:grpSp>
      <p:grpSp>
        <p:nvGrpSpPr>
          <p:cNvPr id="54" name="c1-card-2"/>
          <p:cNvGrpSpPr/>
          <p:nvPr/>
        </p:nvGrpSpPr>
        <p:grpSpPr>
          <a:xfrm>
            <a:off x="533400" y="2609850"/>
            <a:ext cx="5842635" cy="3265170"/>
            <a:chOff x="533400" y="2609850"/>
            <a:chExt cx="5842635" cy="3265170"/>
          </a:xfrm>
        </p:grpSpPr>
        <p:sp>
          <p:nvSpPr>
            <p:cNvPr id="50" name="Rectangle 50"/>
            <p:cNvSpPr/>
            <p:nvPr/>
          </p:nvSpPr>
          <p:spPr>
            <a:xfrm>
              <a:off x="533400" y="2609850"/>
              <a:ext cx="5842635" cy="3265170"/>
            </a:xfrm>
            <a:prstGeom prst="roundRect">
              <a:avLst>
                <a:gd name="adj" fmla="val 408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42950" y="281940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20356" y="285511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时间对不上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5330" y="3196590"/>
              <a:ext cx="51301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lw 的数据在第 4 周期末才从存储器读出来，而 sub 原本在第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 周期初就要用。转发只能把值往右送，不能往回送到已经过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去的周期。</a:t>
              </a:r>
            </a:p>
          </p:txBody>
        </p:sp>
      </p:grpSp>
      <p:grpSp>
        <p:nvGrpSpPr>
          <p:cNvPr id="68" name="c2-card-1"/>
          <p:cNvGrpSpPr/>
          <p:nvPr/>
        </p:nvGrpSpPr>
        <p:grpSpPr>
          <a:xfrm>
            <a:off x="6680835" y="1524000"/>
            <a:ext cx="4977765" cy="2558415"/>
            <a:chOff x="6680835" y="1524000"/>
            <a:chExt cx="4977765" cy="2558415"/>
          </a:xfrm>
        </p:grpSpPr>
        <p:sp>
          <p:nvSpPr>
            <p:cNvPr id="55" name="Rectangle 55"/>
            <p:cNvSpPr/>
            <p:nvPr/>
          </p:nvSpPr>
          <p:spPr>
            <a:xfrm>
              <a:off x="6680835" y="1524000"/>
              <a:ext cx="4977765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690360" y="1657350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928485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06844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硬件怎么做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928485" y="209740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990334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29475" y="2110740"/>
              <a:ext cx="3920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ID 段检测：前一条是 lw，且它的 rt 等于本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条的 rs 或 rt。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928485" y="271843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90334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229475" y="2731770"/>
              <a:ext cx="3863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检测到就把 ID/EX 里的控制信号全清零，EX、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MEM、WB 三段做空操作。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928485" y="333946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990334" y="33817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229475" y="3352800"/>
              <a:ext cx="3930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同时禁止 PC 和 IF/ID 更新，让本条指令下个周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期重新译码。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6680835" y="4272915"/>
            <a:ext cx="4977765" cy="1602105"/>
            <a:chOff x="6680835" y="4272915"/>
            <a:chExt cx="4977765" cy="1602105"/>
          </a:xfrm>
        </p:grpSpPr>
        <p:sp>
          <p:nvSpPr>
            <p:cNvPr id="69" name="Rectangle 69"/>
            <p:cNvSpPr/>
            <p:nvPr/>
          </p:nvSpPr>
          <p:spPr>
            <a:xfrm>
              <a:off x="6680835" y="4272915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690360" y="440626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928485" y="448246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006844" y="451818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停一拍就够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920865" y="4859655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推迟一个周期后，lw 的 MEM 结果正好可以从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MEM/WB 转发给 sub 的 EX。代价固定是 1 个周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期，与后面还有多少条指令无关。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三类冒险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调整指令顺序，两个阻塞周期就没有了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249906" cy="308039"/>
            <a:chOff x="525399" y="1550194"/>
            <a:chExt cx="624990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24990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 语句 A = B + E; C = B + F; 编译出七条指令，$t0 是数组基址。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410200" cy="1922145"/>
            <a:chOff x="533400" y="1967865"/>
            <a:chExt cx="5410200" cy="192214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2866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原始顺序 · 13 个周期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2329942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lw   $t1, 0($t0)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lw   $t2, 4($t0)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add  $t3, $t1, $t2   # 停 1 拍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sw   $t3, 12($t0)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lw   $t4, 8($t0)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add  $t5, $t1, $t4   # 停 1 拍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sw   $t5, 16($t0)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080510"/>
            <a:ext cx="5410200" cy="2133600"/>
            <a:chOff x="533400" y="4080510"/>
            <a:chExt cx="5410200" cy="2133600"/>
          </a:xfrm>
        </p:grpSpPr>
        <p:sp>
          <p:nvSpPr>
            <p:cNvPr id="13" name="Rectangle 13"/>
            <p:cNvSpPr/>
            <p:nvPr/>
          </p:nvSpPr>
          <p:spPr>
            <a:xfrm>
              <a:off x="533400" y="4080510"/>
              <a:ext cx="5410200" cy="2133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213860"/>
              <a:ext cx="47625" cy="18669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429006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8457" y="432577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问题出在哪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4667250"/>
              <a:ext cx="46729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 add 都紧跟在为它提供数据的 lw 后面，各停 1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拍。转发已经装好了，仍然救不了这种紧邻的 load-use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依赖。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6248400" y="1967865"/>
            <a:ext cx="5410200" cy="1922145"/>
            <a:chOff x="6248400" y="1967865"/>
            <a:chExt cx="5410200" cy="1922145"/>
          </a:xfrm>
        </p:grpSpPr>
        <p:sp>
          <p:nvSpPr>
            <p:cNvPr id="19" name="Rectangle 19"/>
            <p:cNvSpPr/>
            <p:nvPr/>
          </p:nvSpPr>
          <p:spPr>
            <a:xfrm>
              <a:off x="6248400" y="1967865"/>
              <a:ext cx="5410200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797" y="2119789"/>
              <a:ext cx="11547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重排后 · 11 个周期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76035" y="2381726"/>
              <a:ext cx="1419606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lw   $t1, 0($t0)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lw   $t2, 4($t0)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lw   $t4, 8($t0)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add  $t3, $t1, $t2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sw   $t3, 12($t0)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add  $t5, $t1, $t4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sw   $t5, 16($t0)</a:t>
              </a:r>
            </a:p>
          </p:txBody>
        </p:sp>
      </p:grpSp>
      <p:grpSp>
        <p:nvGrpSpPr>
          <p:cNvPr id="28" name="c2-card-2"/>
          <p:cNvGrpSpPr/>
          <p:nvPr/>
        </p:nvGrpSpPr>
        <p:grpSpPr>
          <a:xfrm>
            <a:off x="6248400" y="4080510"/>
            <a:ext cx="5410200" cy="2133600"/>
            <a:chOff x="6248400" y="4080510"/>
            <a:chExt cx="5410200" cy="2133600"/>
          </a:xfrm>
        </p:grpSpPr>
        <p:sp>
          <p:nvSpPr>
            <p:cNvPr id="23" name="Rectangle 23"/>
            <p:cNvSpPr/>
            <p:nvPr/>
          </p:nvSpPr>
          <p:spPr>
            <a:xfrm>
              <a:off x="6248400" y="4080510"/>
              <a:ext cx="5410200" cy="2133600"/>
            </a:xfrm>
            <a:prstGeom prst="roundRect">
              <a:avLst>
                <a:gd name="adj" fmla="val 625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57950" y="429006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48158" y="43257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50330" y="4667250"/>
              <a:ext cx="4740592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7 条指令无阻塞时需要 5 + (7 − 1) =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11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个周期，重排后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正好达到这个下限；原顺序多出 2 个阻塞周期，共 13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51473" y="5569744"/>
              <a:ext cx="46702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把第三条 lw 提前，是因为它与前两条不相关，可以填进等待的空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档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三类冒险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控制冒险：分支还没算完，下一条指令取哪个地址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4" name="c1-cells-1"/>
          <p:cNvGrpSpPr/>
          <p:nvPr/>
        </p:nvGrpSpPr>
        <p:grpSpPr>
          <a:xfrm>
            <a:off x="528638" y="1524000"/>
            <a:ext cx="4453890" cy="815340"/>
            <a:chOff x="528638" y="1524000"/>
            <a:chExt cx="4453890" cy="815340"/>
          </a:xfrm>
        </p:grpSpPr>
        <p:sp>
          <p:nvSpPr>
            <p:cNvPr id="7" name="TextBox 7"/>
            <p:cNvSpPr txBox="1"/>
            <p:nvPr/>
          </p:nvSpPr>
          <p:spPr>
            <a:xfrm>
              <a:off x="528638" y="158972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238250" y="1524000"/>
              <a:ext cx="467678" cy="24288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32818" y="158972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705928" y="1524000"/>
              <a:ext cx="467678" cy="24288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00496" y="158972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174558" y="1524000"/>
              <a:ext cx="467678" cy="24288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368173" y="158972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642235" y="1524000"/>
              <a:ext cx="467678" cy="24288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836803" y="158972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110865" y="1524000"/>
              <a:ext cx="467678" cy="24288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304481" y="158972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578542" y="1524000"/>
              <a:ext cx="467678" cy="24288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773111" y="158972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046220" y="1524000"/>
              <a:ext cx="467678" cy="24288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240788" y="158972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514850" y="1524000"/>
              <a:ext cx="467678" cy="24288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08466" y="158972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8638" y="1875472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beq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238250" y="1809750"/>
              <a:ext cx="467678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410675" y="1875472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705928" y="1809750"/>
              <a:ext cx="467678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78353" y="1875472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174558" y="1809750"/>
              <a:ext cx="467678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329228" y="1875472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642235" y="1809750"/>
              <a:ext cx="467678" cy="24288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734010" y="1875472"/>
              <a:ext cx="2850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110865" y="1809750"/>
              <a:ext cx="467678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252094" y="1875472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578542" y="1809750"/>
              <a:ext cx="467678" cy="24288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046220" y="1809750"/>
              <a:ext cx="467678" cy="24288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514850" y="1809750"/>
              <a:ext cx="467678" cy="24288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8638" y="2161222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等分支结果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238250" y="2096452"/>
              <a:ext cx="467678" cy="24288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705928" y="2096452"/>
              <a:ext cx="467678" cy="24288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814322" y="216122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气泡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174558" y="2096452"/>
              <a:ext cx="467678" cy="24288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282000" y="216122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气泡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642235" y="2096452"/>
              <a:ext cx="467678" cy="24288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750629" y="216122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气泡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110865" y="2096452"/>
              <a:ext cx="467678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282338" y="2161222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578542" y="2096452"/>
              <a:ext cx="467678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750968" y="2161222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046220" y="2096452"/>
              <a:ext cx="467678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201843" y="2161222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514850" y="2096452"/>
              <a:ext cx="467678" cy="242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605673" y="2161222"/>
              <a:ext cx="2850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</p:grpSp>
      <p:grpSp>
        <p:nvGrpSpPr>
          <p:cNvPr id="60" name="c1-card-2"/>
          <p:cNvGrpSpPr/>
          <p:nvPr/>
        </p:nvGrpSpPr>
        <p:grpSpPr>
          <a:xfrm>
            <a:off x="533400" y="2513648"/>
            <a:ext cx="5842635" cy="3805238"/>
            <a:chOff x="533400" y="2513648"/>
            <a:chExt cx="5842635" cy="3805238"/>
          </a:xfrm>
        </p:grpSpPr>
        <p:sp>
          <p:nvSpPr>
            <p:cNvPr id="55" name="Rectangle 55"/>
            <p:cNvSpPr/>
            <p:nvPr/>
          </p:nvSpPr>
          <p:spPr>
            <a:xfrm>
              <a:off x="533400" y="2513648"/>
              <a:ext cx="5842635" cy="3805238"/>
            </a:xfrm>
            <a:prstGeom prst="roundRect">
              <a:avLst>
                <a:gd name="adj" fmla="val 3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42925" y="2646998"/>
              <a:ext cx="47625" cy="35385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63905" y="270605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55345" y="274034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7047" y="3063240"/>
              <a:ext cx="509720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分支在 MEM 段才判定，后面三个周期取到的指令都要作废。若什么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都不做地干等，每条分支固定赔上 3 个周期。</a:t>
              </a:r>
            </a:p>
          </p:txBody>
        </p:sp>
      </p:grpSp>
      <p:grpSp>
        <p:nvGrpSpPr>
          <p:cNvPr id="71" name="c2-card-1"/>
          <p:cNvGrpSpPr/>
          <p:nvPr/>
        </p:nvGrpSpPr>
        <p:grpSpPr>
          <a:xfrm>
            <a:off x="6680835" y="1524000"/>
            <a:ext cx="4977765" cy="1768792"/>
            <a:chOff x="6680835" y="1524000"/>
            <a:chExt cx="4977765" cy="1768792"/>
          </a:xfrm>
        </p:grpSpPr>
        <p:sp>
          <p:nvSpPr>
            <p:cNvPr id="61" name="Rectangle 61"/>
            <p:cNvSpPr/>
            <p:nvPr/>
          </p:nvSpPr>
          <p:spPr>
            <a:xfrm>
              <a:off x="6680835" y="1524000"/>
              <a:ext cx="4977765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690360" y="1657350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911340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994779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两个办法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911340" y="206121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967018" y="20995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192137" y="2072640"/>
              <a:ext cx="40599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把比较和目标地址计算提前到 ID 段，惩罚从 3 拍降到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 拍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911340" y="2620327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967018" y="26587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192137" y="2632710"/>
              <a:ext cx="40256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预测分支不发生，照常按 PC + 4 取指；预测对了完全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不停，预测错了再清除已取的指令。</a:t>
              </a:r>
            </a:p>
          </p:txBody>
        </p:sp>
      </p:grpSp>
      <p:grpSp>
        <p:nvGrpSpPr>
          <p:cNvPr id="76" name="c2-card-2"/>
          <p:cNvGrpSpPr/>
          <p:nvPr/>
        </p:nvGrpSpPr>
        <p:grpSpPr>
          <a:xfrm>
            <a:off x="6680835" y="3468052"/>
            <a:ext cx="4977765" cy="1209675"/>
            <a:chOff x="6680835" y="3468052"/>
            <a:chExt cx="4977765" cy="1209675"/>
          </a:xfrm>
        </p:grpSpPr>
        <p:sp>
          <p:nvSpPr>
            <p:cNvPr id="72" name="Rectangle 72"/>
            <p:cNvSpPr/>
            <p:nvPr/>
          </p:nvSpPr>
          <p:spPr>
            <a:xfrm>
              <a:off x="6680835" y="3468052"/>
              <a:ext cx="4977765" cy="1209675"/>
            </a:xfrm>
            <a:prstGeom prst="roundRect">
              <a:avLst>
                <a:gd name="adj" fmla="val 1102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873240" y="3660458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944678" y="369474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预测为什么划算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866382" y="4017645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阻塞是每次都付出的固定代价，预测只在猜错时才付。只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要猜对的比例过半，平均代价就比一直阻塞低。</a:t>
              </a:r>
            </a:p>
          </p:txBody>
        </p:sp>
      </p:grpSp>
      <p:grpSp>
        <p:nvGrpSpPr>
          <p:cNvPr id="82" name="c2-card-3"/>
          <p:cNvGrpSpPr/>
          <p:nvPr/>
        </p:nvGrpSpPr>
        <p:grpSpPr>
          <a:xfrm>
            <a:off x="6680835" y="4852988"/>
            <a:ext cx="4977765" cy="1466850"/>
            <a:chOff x="6680835" y="4852988"/>
            <a:chExt cx="4977765" cy="1466850"/>
          </a:xfrm>
        </p:grpSpPr>
        <p:sp>
          <p:nvSpPr>
            <p:cNvPr id="77" name="Rectangle 77"/>
            <p:cNvSpPr/>
            <p:nvPr/>
          </p:nvSpPr>
          <p:spPr>
            <a:xfrm>
              <a:off x="6680835" y="4852988"/>
              <a:ext cx="497776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6690360" y="4986338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911340" y="5045392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982778" y="5079683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清除指令怎么做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904482" y="5401628"/>
              <a:ext cx="42999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把已经进入流水线的错误指令的控制信号全部置 0，它们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就变成不写寄存器、不写存储器的空操作，效果等同于没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执行过。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4882896" cy="2643187"/>
            <a:chOff x="667512" y="1835468"/>
            <a:chExt cx="4882896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流水线数据通路与控制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把单周期通路切成五段，中间插上寄存器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流水线寄存器存什么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控制信号怎样跟着指令走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流水线数据通路与控制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流水线寄存器：让每一段都记得自己算出了什么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table-1"/>
          <p:cNvGrpSpPr/>
          <p:nvPr/>
        </p:nvGrpSpPr>
        <p:grpSpPr>
          <a:xfrm>
            <a:off x="533400" y="1524000"/>
            <a:ext cx="4977765" cy="2790825"/>
            <a:chOff x="533400" y="1524000"/>
            <a:chExt cx="4977765" cy="27908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2206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寄存器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90316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8746" y="2085022"/>
              <a:ext cx="415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IF/ID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33182" y="2085022"/>
              <a:ext cx="18955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取出的 32 位指令、PC + 4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793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84108"/>
              <a:ext cx="497776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8746" y="2622232"/>
              <a:ext cx="460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ID/EX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33182" y="2515552"/>
              <a:ext cx="3060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读出的两个寄存器值、符号扩展后的立即数、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rs/rt/rd 号、后三段的控制信号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2323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8746" y="3266122"/>
              <a:ext cx="6753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EX/MEM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33182" y="3159442"/>
              <a:ext cx="33573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 结果、要写存储器的数据、目标寄存器号、后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两段的控制信号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66617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670935"/>
              <a:ext cx="497776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8746" y="3909060"/>
              <a:ext cx="7111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MEM/WB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33182" y="3802380"/>
              <a:ext cx="32049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存储器读出的数据、ALU 结果、目标寄存器号、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 段的控制信号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4977765" cy="2790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723072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1" name="c2-card-1"/>
          <p:cNvGrpSpPr/>
          <p:nvPr/>
        </p:nvGrpSpPr>
        <p:grpSpPr>
          <a:xfrm>
            <a:off x="5815965" y="1524000"/>
            <a:ext cx="5842635" cy="1545908"/>
            <a:chOff x="5815965" y="1524000"/>
            <a:chExt cx="5842635" cy="1545908"/>
          </a:xfrm>
        </p:grpSpPr>
        <p:sp>
          <p:nvSpPr>
            <p:cNvPr id="26" name="Rectangle 26"/>
            <p:cNvSpPr/>
            <p:nvPr/>
          </p:nvSpPr>
          <p:spPr>
            <a:xfrm>
              <a:off x="5815965" y="1524000"/>
              <a:ext cx="5842635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825490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57900" y="172783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131357" y="176355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为什么必须有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50661" y="2100739"/>
              <a:ext cx="50639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每段的组合逻辑在一个周期内完成，结果必须在周期边沿被存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住，否则下一个周期这段就要为下一条指令服务，旧值立刻被冲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掉。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5815965" y="3255645"/>
            <a:ext cx="5842635" cy="1545908"/>
            <a:chOff x="5815965" y="3255645"/>
            <a:chExt cx="5842635" cy="1545908"/>
          </a:xfrm>
        </p:grpSpPr>
        <p:sp>
          <p:nvSpPr>
            <p:cNvPr id="32" name="Rectangle 32"/>
            <p:cNvSpPr/>
            <p:nvPr/>
          </p:nvSpPr>
          <p:spPr>
            <a:xfrm>
              <a:off x="5815965" y="3255645"/>
              <a:ext cx="5842635" cy="1545908"/>
            </a:xfrm>
            <a:prstGeom prst="roundRect">
              <a:avLst>
                <a:gd name="adj" fmla="val 862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19800" y="345948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01156" y="34951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宽度不小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2561" y="3832384"/>
              <a:ext cx="512711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ID/EX 要存两个 32 位数据、一个 32 位立即数、三个 5 位寄存器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号和近十位控制信号，宽度超过 100 位。流水线越深，这部分面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积和功耗越可观。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5815965" y="4987290"/>
            <a:ext cx="5842635" cy="1274445"/>
            <a:chOff x="5815965" y="4987290"/>
            <a:chExt cx="5842635" cy="1274445"/>
          </a:xfrm>
        </p:grpSpPr>
        <p:sp>
          <p:nvSpPr>
            <p:cNvPr id="37" name="Rectangle 37"/>
            <p:cNvSpPr/>
            <p:nvPr/>
          </p:nvSpPr>
          <p:spPr>
            <a:xfrm>
              <a:off x="5815965" y="4987290"/>
              <a:ext cx="5842635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825490" y="512064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57900" y="5191125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13653" y="522684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唯一没有寄存器的地方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50661" y="5564029"/>
              <a:ext cx="517220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 段之后直接写回寄存器堆，不再需要第五个流水线寄存器，因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为寄存器堆本身就是状态单元。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83295" cy="909257"/>
            <a:chOff x="520446" y="342900"/>
            <a:chExt cx="50832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流水线数据通路与控制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832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 lw 在五个周期里各做了什么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33400" y="1524000"/>
            <a:ext cx="6059805" cy="3146108"/>
            <a:chOff x="533400" y="1524000"/>
            <a:chExt cx="6059805" cy="31461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67532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7578" y="1659731"/>
              <a:ext cx="1755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28484" y="177307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56802" y="17730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66463" y="177307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存进流水线寄存器的内容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9102" y="233505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37262" y="2335054"/>
              <a:ext cx="1677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31836" y="2335054"/>
              <a:ext cx="19207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PC 取指令，算 PC + 4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55948" y="2335054"/>
              <a:ext cx="1039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指令、PC + 4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431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47950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9102" y="289702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37262" y="2897029"/>
              <a:ext cx="1677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31836" y="2783681"/>
              <a:ext cx="195554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译码，读 $t2，立即数符号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55948" y="2783681"/>
              <a:ext cx="21831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$t2 的值、立即数、rt 号、控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制信号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3194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9102" y="34590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14504" y="3459004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31836" y="3459004"/>
              <a:ext cx="19877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 算地址 $t2 + offset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55948" y="3459004"/>
              <a:ext cx="23219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地址、rt 号、后两段控制信号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7680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772852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9102" y="39076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8022" y="3907631"/>
              <a:ext cx="3861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31836" y="390763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按地址读数据存储器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55948" y="3907631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读出的数据、rt 号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21671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19102" y="435721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96297" y="4357211"/>
              <a:ext cx="2496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31836" y="4357211"/>
              <a:ext cx="69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写回 $t1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155948" y="435721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6059805" cy="3146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13460" y="1524000"/>
              <a:ext cx="9525" cy="3146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1619250" y="1524000"/>
              <a:ext cx="9525" cy="3146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043362" y="1524000"/>
              <a:ext cx="9525" cy="3146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1-card-2"/>
          <p:cNvGrpSpPr/>
          <p:nvPr/>
        </p:nvGrpSpPr>
        <p:grpSpPr>
          <a:xfrm>
            <a:off x="533400" y="4860608"/>
            <a:ext cx="6059805" cy="1326832"/>
            <a:chOff x="533400" y="4860608"/>
            <a:chExt cx="6059805" cy="1326832"/>
          </a:xfrm>
        </p:grpSpPr>
        <p:sp>
          <p:nvSpPr>
            <p:cNvPr id="43" name="Rectangle 43"/>
            <p:cNvSpPr/>
            <p:nvPr/>
          </p:nvSpPr>
          <p:spPr>
            <a:xfrm>
              <a:off x="533400" y="4860608"/>
              <a:ext cx="6059805" cy="1326832"/>
            </a:xfrm>
            <a:prstGeom prst="roundRect">
              <a:avLst>
                <a:gd name="adj" fmla="val 1005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42950" y="5070158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99655" y="510587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从右往左的数据要当心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5330" y="5447348"/>
              <a:ext cx="5273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整张图里只有两处数据是往回走的：WB 段写寄存器堆，和分支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目标写 PC。这两处正好就是数据冒险和控制冒险的来源。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898005" y="1524000"/>
            <a:ext cx="4760595" cy="1621155"/>
            <a:chOff x="6898005" y="1524000"/>
            <a:chExt cx="4760595" cy="1621155"/>
          </a:xfrm>
        </p:grpSpPr>
        <p:sp>
          <p:nvSpPr>
            <p:cNvPr id="48" name="Rectangle 48"/>
            <p:cNvSpPr/>
            <p:nvPr/>
          </p:nvSpPr>
          <p:spPr>
            <a:xfrm>
              <a:off x="6898005" y="1524000"/>
              <a:ext cx="476059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907530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145655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214210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源课件指出的坑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57248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写回时用哪个寄存器号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38035" y="2129790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 段要写的寄存器号来自指令的 20:16 位，可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这时 IF/ID 里装的已经是第 5 条指令了。直接去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 IF/ID 会写到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完全无关的寄存器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6898005" y="3335655"/>
            <a:ext cx="4760595" cy="1602105"/>
            <a:chOff x="6898005" y="3335655"/>
            <a:chExt cx="4760595" cy="1602105"/>
          </a:xfrm>
        </p:grpSpPr>
        <p:sp>
          <p:nvSpPr>
            <p:cNvPr id="55" name="Rectangle 55"/>
            <p:cNvSpPr/>
            <p:nvPr/>
          </p:nvSpPr>
          <p:spPr>
            <a:xfrm>
              <a:off x="6898005" y="3335655"/>
              <a:ext cx="476059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907530" y="346900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145655" y="354520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27011" y="35809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修正办法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38035" y="3922395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把目标寄存器号和指令一起沿流水线往下传：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ID/EX、EX/MEM、MEM/WB 各存一份，WB 段用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MEM/WB 里那一份。</a:t>
              </a:r>
            </a:p>
          </p:txBody>
        </p:sp>
      </p:grpSp>
      <p:grpSp>
        <p:nvGrpSpPr>
          <p:cNvPr id="66" name="c2-callout-3"/>
          <p:cNvGrpSpPr/>
          <p:nvPr/>
        </p:nvGrpSpPr>
        <p:grpSpPr>
          <a:xfrm>
            <a:off x="6898005" y="5128260"/>
            <a:ext cx="4760595" cy="1059180"/>
            <a:chOff x="6898005" y="5128260"/>
            <a:chExt cx="4760595" cy="1059180"/>
          </a:xfrm>
        </p:grpSpPr>
        <p:sp>
          <p:nvSpPr>
            <p:cNvPr id="61" name="Rectangle 61"/>
            <p:cNvSpPr/>
            <p:nvPr/>
          </p:nvSpPr>
          <p:spPr>
            <a:xfrm>
              <a:off x="6898005" y="5128260"/>
              <a:ext cx="4760595" cy="1059180"/>
            </a:xfrm>
            <a:prstGeom prst="roundRect">
              <a:avLst>
                <a:gd name="adj" fmla="val 10791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102793" y="5557840"/>
              <a:ext cx="200023" cy="200023"/>
              <a:chOff x="7102793" y="5557840"/>
              <a:chExt cx="200023" cy="20002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102793" y="55578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236143" y="56245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7404735" y="5276850"/>
              <a:ext cx="3825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凡是后面某一段还要用的信息，都必须跟着指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令一起往下走，不能回头去读前面的流水线寄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存器。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流水线数据通路与控制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控制信号也分段传递，用完一批丢一批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842635" cy="1697355"/>
            <a:chOff x="533400" y="1524000"/>
            <a:chExt cx="5842635" cy="1697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5154" y="165258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99335" y="165258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用到的控制信号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12030" y="165258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从哪个寄存器取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889" y="207645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54087" y="2076450"/>
              <a:ext cx="19297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ALUSrc、ALUOp、RegDst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92562" y="2076450"/>
              <a:ext cx="438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ID/EX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6791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72678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5889" y="2501265"/>
              <a:ext cx="3795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54087" y="2501265"/>
              <a:ext cx="23492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MemRead、MemWrite、Branch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92562" y="2501265"/>
              <a:ext cx="643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EX/MEM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9273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889" y="2926080"/>
              <a:ext cx="245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54087" y="2926080"/>
              <a:ext cx="16727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MemtoReg、RegWrite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92562" y="292608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MEM/WB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842635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346835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385310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2" name="c1-card-2"/>
          <p:cNvGrpSpPr/>
          <p:nvPr/>
        </p:nvGrpSpPr>
        <p:grpSpPr>
          <a:xfrm>
            <a:off x="533400" y="3402330"/>
            <a:ext cx="5842635" cy="1522095"/>
            <a:chOff x="533400" y="3402330"/>
            <a:chExt cx="5842635" cy="1522095"/>
          </a:xfrm>
        </p:grpSpPr>
        <p:sp>
          <p:nvSpPr>
            <p:cNvPr id="27" name="Rectangle 27"/>
            <p:cNvSpPr/>
            <p:nvPr/>
          </p:nvSpPr>
          <p:spPr>
            <a:xfrm>
              <a:off x="533400" y="3402330"/>
              <a:ext cx="5842635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353568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9620" y="3600450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3057" y="363474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产生的时刻只有一个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381" y="3960971"/>
              <a:ext cx="514515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所有控制信号仍然在 ID 段由主控制单元一次产生，和单周期完全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一样。区别只是产生之后要在流水线寄存器里排队，等轮到自己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那一段才被取出使用。</a:t>
              </a:r>
            </a:p>
          </p:txBody>
        </p:sp>
      </p:grpSp>
      <p:grpSp>
        <p:nvGrpSpPr>
          <p:cNvPr id="38" name="c1-card-3"/>
          <p:cNvGrpSpPr/>
          <p:nvPr/>
        </p:nvGrpSpPr>
        <p:grpSpPr>
          <a:xfrm>
            <a:off x="533400" y="5104448"/>
            <a:ext cx="5842635" cy="1250632"/>
            <a:chOff x="533400" y="5104448"/>
            <a:chExt cx="5842635" cy="1250632"/>
          </a:xfrm>
        </p:grpSpPr>
        <p:sp>
          <p:nvSpPr>
            <p:cNvPr id="33" name="Rectangle 33"/>
            <p:cNvSpPr/>
            <p:nvPr/>
          </p:nvSpPr>
          <p:spPr>
            <a:xfrm>
              <a:off x="533400" y="5104448"/>
              <a:ext cx="5842635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5237798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9620" y="5302568"/>
              <a:ext cx="16764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25056" y="533685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为什么不在各段各译各的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381" y="5663089"/>
              <a:ext cx="515416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指令本身只在 IF/ID 里存一份，往后各段看不到它。要让 MEM 段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还能知道自己该不该写存储器，只能把信号提前译好带在身上。</a:t>
              </a:r>
            </a:p>
          </p:txBody>
        </p:sp>
      </p:grpSp>
      <p:grpSp>
        <p:nvGrpSpPr>
          <p:cNvPr id="51" name="c2-bullets-1"/>
          <p:cNvGrpSpPr/>
          <p:nvPr/>
        </p:nvGrpSpPr>
        <p:grpSpPr>
          <a:xfrm>
            <a:off x="6681788" y="1535430"/>
            <a:ext cx="4169827" cy="1270731"/>
            <a:chOff x="6681788" y="1535430"/>
            <a:chExt cx="4169827" cy="1270731"/>
          </a:xfrm>
        </p:grpSpPr>
        <p:sp>
          <p:nvSpPr>
            <p:cNvPr id="39" name="Ellipse 39"/>
            <p:cNvSpPr/>
            <p:nvPr/>
          </p:nvSpPr>
          <p:spPr>
            <a:xfrm>
              <a:off x="6681788" y="153543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40132" y="15748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71729" y="1547336"/>
              <a:ext cx="31349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 段产生全部 9 个信号，存进 ID/EX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681788" y="1862138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40132" y="190152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71729" y="1874044"/>
              <a:ext cx="36476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 段取走 3 个，把剩下 6 个交给 EX/MEM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681788" y="2188845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40132" y="222823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71729" y="2200751"/>
              <a:ext cx="38798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 段取走 3 个，把剩下 3 个交给 MEM/WB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681788" y="251555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40132" y="255493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71729" y="2527459"/>
              <a:ext cx="36160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 段取走最后 2 个，控制信号在这里耗尽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680835" y="2930842"/>
            <a:ext cx="4977765" cy="1522095"/>
            <a:chOff x="6680835" y="2930842"/>
            <a:chExt cx="4977765" cy="1522095"/>
          </a:xfrm>
        </p:grpSpPr>
        <p:sp>
          <p:nvSpPr>
            <p:cNvPr id="52" name="Rectangle 52"/>
            <p:cNvSpPr/>
            <p:nvPr/>
          </p:nvSpPr>
          <p:spPr>
            <a:xfrm>
              <a:off x="6680835" y="2930842"/>
              <a:ext cx="4977765" cy="1522095"/>
            </a:xfrm>
            <a:prstGeom prst="roundRect">
              <a:avLst>
                <a:gd name="adj" fmla="val 876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878955" y="3128962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38391" y="31632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插气泡为什么这么简单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71716" y="3489484"/>
              <a:ext cx="436067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只要把 ID/EX 里这一批控制信号全部清零，这条指令后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面三段就既不写寄存器也不写存储器，等于凭空插进一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条空操作。</a:t>
              </a:r>
            </a:p>
          </p:txBody>
        </p:sp>
      </p:grpSp>
      <p:grpSp>
        <p:nvGrpSpPr>
          <p:cNvPr id="62" name="c2-card-3"/>
          <p:cNvGrpSpPr/>
          <p:nvPr/>
        </p:nvGrpSpPr>
        <p:grpSpPr>
          <a:xfrm>
            <a:off x="6680835" y="4632960"/>
            <a:ext cx="4977765" cy="1722120"/>
            <a:chOff x="6680835" y="4632960"/>
            <a:chExt cx="4977765" cy="1722120"/>
          </a:xfrm>
        </p:grpSpPr>
        <p:sp>
          <p:nvSpPr>
            <p:cNvPr id="57" name="Rectangle 57"/>
            <p:cNvSpPr/>
            <p:nvPr/>
          </p:nvSpPr>
          <p:spPr>
            <a:xfrm>
              <a:off x="6680835" y="4632960"/>
              <a:ext cx="4977765" cy="1722120"/>
            </a:xfrm>
            <a:prstGeom prst="roundRect">
              <a:avLst>
                <a:gd name="adj" fmla="val 77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690360" y="4766310"/>
              <a:ext cx="47625" cy="14554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917055" y="4831080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984492" y="486537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同一套办法用三次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909816" y="5191601"/>
              <a:ext cx="43426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load-use 阻塞、分支预测错误的清除、异常发生时的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清除，做的都是同一件事：把某几条指令的控制信号置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0。硬件因此可以共用一套清零逻辑。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913376" cy="2997517"/>
            <a:chOff x="667512" y="1835468"/>
            <a:chExt cx="491337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转发与阻塞的硬件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用寄存器号比对，判断该不该把结果抄近路送回去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889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 冒险与 MEM 冒险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双重冒险取最新的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721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load-use 检测单元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转发与阻塞的硬件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转发条件：拿前面指令的目标寄存器号比对当前的源寄存器号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2019300"/>
            <a:chOff x="533400" y="1524000"/>
            <a:chExt cx="5842635" cy="20193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019300"/>
            </a:xfrm>
            <a:prstGeom prst="roundRect">
              <a:avLst>
                <a:gd name="adj" fmla="val 47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3911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EX 冒险（转发上一条指令的 ALU 结果）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384423" cy="1532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(EX/MEM.RegWrite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and EX/MEM.RegisterRd != 0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and EX/MEM.RegisterRd == ID/EX.RegisterRs)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ForwardA = 10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(EX/MEM.RegWrite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and EX/MEM.RegisterRd != 0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and EX/MEM.RegisterRd == ID/EX.RegisterRt)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ForwardB = 10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717608"/>
            <a:ext cx="5842635" cy="2019300"/>
            <a:chOff x="533400" y="3717608"/>
            <a:chExt cx="5842635" cy="2019300"/>
          </a:xfrm>
        </p:grpSpPr>
        <p:sp>
          <p:nvSpPr>
            <p:cNvPr id="11" name="Rectangle 11"/>
            <p:cNvSpPr/>
            <p:nvPr/>
          </p:nvSpPr>
          <p:spPr>
            <a:xfrm>
              <a:off x="533400" y="3717608"/>
              <a:ext cx="5842635" cy="2019300"/>
            </a:xfrm>
            <a:prstGeom prst="roundRect">
              <a:avLst>
                <a:gd name="adj" fmla="val 47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869531"/>
              <a:ext cx="22008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MEM 冒险（转发上上条指令的结果）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416" y="4130993"/>
              <a:ext cx="3384423" cy="1532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(MEM/WB.RegWrite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and MEM/WB.RegisterRd != 0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and MEM/WB.RegisterRd == ID/EX.RegisterRs)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ForwardA = 01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(MEM/WB.RegWrite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and MEM/WB.RegisterRd != 0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and MEM/WB.RegisterRd == ID/EX.RegisterRt)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ForwardB = 01</a:t>
              </a:r>
            </a:p>
          </p:txBody>
        </p:sp>
      </p:grpSp>
      <p:grpSp>
        <p:nvGrpSpPr>
          <p:cNvPr id="22" name="c2-card-1"/>
          <p:cNvGrpSpPr/>
          <p:nvPr/>
        </p:nvGrpSpPr>
        <p:grpSpPr>
          <a:xfrm>
            <a:off x="6680835" y="1524000"/>
            <a:ext cx="4977765" cy="1511618"/>
            <a:chOff x="6680835" y="1524000"/>
            <a:chExt cx="4977765" cy="1511618"/>
          </a:xfrm>
        </p:grpSpPr>
        <p:sp>
          <p:nvSpPr>
            <p:cNvPr id="15" name="Rectangle 15"/>
            <p:cNvSpPr/>
            <p:nvPr/>
          </p:nvSpPr>
          <p:spPr>
            <a:xfrm>
              <a:off x="6680835" y="1524000"/>
              <a:ext cx="4977765" cy="1511618"/>
            </a:xfrm>
            <a:prstGeom prst="roundRect">
              <a:avLst>
                <a:gd name="adj" fmla="val 8822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873240" y="171640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40677" y="175069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两个前提缺一不可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881812" y="212883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37832" y="2072640"/>
              <a:ext cx="4329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前面那条指令</a:t>
              </a: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确实要写寄存器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，否则 Rd 字段里是垃圾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881812" y="243173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37832" y="2375535"/>
              <a:ext cx="422324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目标寄存器</a:t>
              </a: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不是 $zero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，因为写 $zero 是无效操作，转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发过去会把 0 换成别的值</a:t>
              </a:r>
            </a:p>
          </p:txBody>
        </p:sp>
      </p:grpSp>
      <p:grpSp>
        <p:nvGrpSpPr>
          <p:cNvPr id="28" name="c2-card-2"/>
          <p:cNvGrpSpPr/>
          <p:nvPr/>
        </p:nvGrpSpPr>
        <p:grpSpPr>
          <a:xfrm>
            <a:off x="6680835" y="3210878"/>
            <a:ext cx="4977765" cy="1466850"/>
            <a:chOff x="6680835" y="3210878"/>
            <a:chExt cx="4977765" cy="1466850"/>
          </a:xfrm>
        </p:grpSpPr>
        <p:sp>
          <p:nvSpPr>
            <p:cNvPr id="23" name="Rectangle 23"/>
            <p:cNvSpPr/>
            <p:nvPr/>
          </p:nvSpPr>
          <p:spPr>
            <a:xfrm>
              <a:off x="6680835" y="3210878"/>
              <a:ext cx="497776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690360" y="3344228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911340" y="3403282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82778" y="3437573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寄存器号怎么来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04482" y="3760470"/>
              <a:ext cx="427424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 段把 rs、rt、rd 三个号一起存进 ID/EX，再逐段往下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传。转发单元在 EX 段同时看到三个流水线寄存器里的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号，做两次比较。</a:t>
              </a:r>
            </a:p>
          </p:txBody>
        </p:sp>
      </p:grpSp>
      <p:grpSp>
        <p:nvGrpSpPr>
          <p:cNvPr id="34" name="c2-card-3"/>
          <p:cNvGrpSpPr/>
          <p:nvPr/>
        </p:nvGrpSpPr>
        <p:grpSpPr>
          <a:xfrm>
            <a:off x="6680835" y="4852988"/>
            <a:ext cx="4977765" cy="1209675"/>
            <a:chOff x="6680835" y="4852988"/>
            <a:chExt cx="4977765" cy="1209675"/>
          </a:xfrm>
        </p:grpSpPr>
        <p:sp>
          <p:nvSpPr>
            <p:cNvPr id="29" name="Rectangle 29"/>
            <p:cNvSpPr/>
            <p:nvPr/>
          </p:nvSpPr>
          <p:spPr>
            <a:xfrm>
              <a:off x="6680835" y="4852988"/>
              <a:ext cx="497776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90360" y="4986338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911340" y="504539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94779" y="507968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判断口诀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04482" y="5401628"/>
              <a:ext cx="43256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三问：前面那条要不要写寄存器，写的是不是 0 号，写的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号和我要读的号一样不一样。三个都成立才转发。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77605" cy="909257"/>
            <a:chOff x="520446" y="342900"/>
            <a:chExt cx="57776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转发与阻塞的硬件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776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ForwardA 与 ForwardB 的三种取值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33400" y="1524000"/>
            <a:ext cx="6276022" cy="2840355"/>
            <a:chOff x="533400" y="1524000"/>
            <a:chExt cx="6276022" cy="2840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4176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多选器控制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9687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数据来源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3270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111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ForwardA = 00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39315" y="2054066"/>
              <a:ext cx="4097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ID/EX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68980" y="2054066"/>
              <a:ext cx="21791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 ALU 操作数取自寄存器堆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2345055"/>
              <a:ext cx="148685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3412" y="2459831"/>
              <a:ext cx="111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ForwardA = 10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39315" y="2459831"/>
              <a:ext cx="6008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EX/MEM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68980" y="2459831"/>
              <a:ext cx="18776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取自上一条指令的 ALU 结果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73653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2865596"/>
              <a:ext cx="111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ForwardA = 01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39315" y="2865596"/>
              <a:ext cx="6327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MEM/WB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68980" y="286559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取自上上条指令的结果或存储器读出的数据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4229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147060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3271361"/>
              <a:ext cx="111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ForwardB = 00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39315" y="3271361"/>
              <a:ext cx="4097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ID/EX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68980" y="3271361"/>
              <a:ext cx="21791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第二个 ALU 操作数取自寄存器堆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5480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3562350"/>
              <a:ext cx="148685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3677126"/>
              <a:ext cx="111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ForwardB = 10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39315" y="3677126"/>
              <a:ext cx="6008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EX/MEM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268980" y="3677126"/>
              <a:ext cx="18776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取自上一条指令的 ALU 结果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9538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3958590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3412" y="4082891"/>
              <a:ext cx="111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ForwardB = 01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139315" y="4082891"/>
              <a:ext cx="6327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MEM/WB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268980" y="4082891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取自上上条指令的结果或存储器读出的数据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6276022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2034540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164205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1-card-2"/>
          <p:cNvGrpSpPr/>
          <p:nvPr/>
        </p:nvGrpSpPr>
        <p:grpSpPr>
          <a:xfrm>
            <a:off x="533400" y="4539615"/>
            <a:ext cx="6276022" cy="1477328"/>
            <a:chOff x="533400" y="4539615"/>
            <a:chExt cx="6276022" cy="1477328"/>
          </a:xfrm>
        </p:grpSpPr>
        <p:sp>
          <p:nvSpPr>
            <p:cNvPr id="43" name="Rectangle 43"/>
            <p:cNvSpPr/>
            <p:nvPr/>
          </p:nvSpPr>
          <p:spPr>
            <a:xfrm>
              <a:off x="533400" y="4539615"/>
              <a:ext cx="6276022" cy="1477328"/>
            </a:xfrm>
            <a:prstGeom prst="roundRect">
              <a:avLst>
                <a:gd name="adj" fmla="val 902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25805" y="4732020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93242" y="476631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两个信号互相独立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8947" y="5088255"/>
              <a:ext cx="557726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ForwardA 管 ALU 的第一个操作数，对应 rs；ForwardB 管第二个，对应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rt。一条指令完全可能一个要转发、另一个不用。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7114222" y="1524000"/>
            <a:ext cx="4544378" cy="1209675"/>
            <a:chOff x="7114222" y="1524000"/>
            <a:chExt cx="4544378" cy="1209675"/>
          </a:xfrm>
        </p:grpSpPr>
        <p:sp>
          <p:nvSpPr>
            <p:cNvPr id="48" name="Rectangle 48"/>
            <p:cNvSpPr/>
            <p:nvPr/>
          </p:nvSpPr>
          <p:spPr>
            <a:xfrm>
              <a:off x="7114222" y="1524000"/>
              <a:ext cx="4544378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123748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344728" y="171640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420166" y="175069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编码容易记反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37870" y="2072640"/>
              <a:ext cx="38293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距离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的 EX/MEM 是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，距离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MEM/WB 是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01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。不少同学按“近的编号小”去记，结果全填反。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7114222" y="2908935"/>
            <a:ext cx="4544378" cy="1466850"/>
            <a:chOff x="7114222" y="2908935"/>
            <a:chExt cx="4544378" cy="1466850"/>
          </a:xfrm>
        </p:grpSpPr>
        <p:sp>
          <p:nvSpPr>
            <p:cNvPr id="54" name="Rectangle 54"/>
            <p:cNvSpPr/>
            <p:nvPr/>
          </p:nvSpPr>
          <p:spPr>
            <a:xfrm>
              <a:off x="7114222" y="2908935"/>
              <a:ext cx="4544378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123748" y="3042285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344728" y="3101340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404164" y="313563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相隔三条以上不用转发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37870" y="3457575"/>
              <a:ext cx="39570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条指令的 ID 段与第 1 条的 WB 段落在同一个周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期，寄存器堆写在前半拍、读在后半拍，正常读就能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拿到新值。</a:t>
              </a:r>
            </a:p>
          </p:txBody>
        </p:sp>
      </p:grpSp>
      <p:grpSp>
        <p:nvGrpSpPr>
          <p:cNvPr id="65" name="c2-card-3"/>
          <p:cNvGrpSpPr/>
          <p:nvPr/>
        </p:nvGrpSpPr>
        <p:grpSpPr>
          <a:xfrm>
            <a:off x="7114222" y="4550092"/>
            <a:ext cx="4544378" cy="1466850"/>
            <a:chOff x="7114222" y="4550092"/>
            <a:chExt cx="4544378" cy="1466850"/>
          </a:xfrm>
        </p:grpSpPr>
        <p:sp>
          <p:nvSpPr>
            <p:cNvPr id="60" name="Rectangle 60"/>
            <p:cNvSpPr/>
            <p:nvPr/>
          </p:nvSpPr>
          <p:spPr>
            <a:xfrm>
              <a:off x="7114222" y="4550092"/>
              <a:ext cx="4544378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123748" y="4683442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344728" y="4742498"/>
              <a:ext cx="1100138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416874" y="4776788"/>
              <a:ext cx="9548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sw 要不要转发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37870" y="5099685"/>
              <a:ext cx="32712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要。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sw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写进存储器的数据来自 rt，同样走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ForwardB 这条通路。它的地址用 rs，走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ForwardA。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转发与阻塞的硬件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例题：判断这五条指令各自要不要转发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977765" cy="1516380"/>
            <a:chOff x="533400" y="1524000"/>
            <a:chExt cx="4977765" cy="15163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6323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汇编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1341374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sub  $2,  $1, $3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and  $12, $2, $5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or   $13, $6, $2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add  $14, $2, $2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sw   $15, 100($2)</a:t>
              </a:r>
            </a:p>
          </p:txBody>
        </p:sp>
      </p:grpSp>
      <p:grpSp>
        <p:nvGrpSpPr>
          <p:cNvPr id="15" name="c1-card-2"/>
          <p:cNvGrpSpPr/>
          <p:nvPr/>
        </p:nvGrpSpPr>
        <p:grpSpPr>
          <a:xfrm>
            <a:off x="533400" y="3230880"/>
            <a:ext cx="4977765" cy="3000375"/>
            <a:chOff x="533400" y="3230880"/>
            <a:chExt cx="4977765" cy="3000375"/>
          </a:xfrm>
        </p:grpSpPr>
        <p:sp>
          <p:nvSpPr>
            <p:cNvPr id="11" name="Rectangle 11"/>
            <p:cNvSpPr/>
            <p:nvPr/>
          </p:nvSpPr>
          <p:spPr>
            <a:xfrm>
              <a:off x="533400" y="3230880"/>
              <a:ext cx="4977765" cy="3000375"/>
            </a:xfrm>
            <a:prstGeom prst="roundRect">
              <a:avLst>
                <a:gd name="adj" fmla="val 444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42950" y="344043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5259" y="347614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判断依据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5330" y="3817620"/>
              <a:ext cx="43014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以 </a:t>
              </a:r>
              <a:r>
                <a:rPr lang="en-US" sz="150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sub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为准：它在 EX 段算出 $2。与它相隔 1 条的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指令走 EX/MEM 通路，相隔 2 条的走 MEM/WB 通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路，相隔 3 条及以上正常读寄存器堆。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5815965" y="1524000"/>
            <a:ext cx="5842635" cy="2244090"/>
            <a:chOff x="5815965" y="1524000"/>
            <a:chExt cx="5842635" cy="2244090"/>
          </a:xfrm>
        </p:grpSpPr>
        <p:sp>
          <p:nvSpPr>
            <p:cNvPr id="16" name="Rectangle 16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7062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06840" y="1659731"/>
              <a:ext cx="9369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 sub 相隔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86044" y="1659731"/>
              <a:ext cx="8570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ForwardA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82397" y="1659731"/>
              <a:ext cx="8570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ForwardB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23788" y="2108359"/>
              <a:ext cx="13699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and $12, $2, $5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09465" y="2108359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条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075420" y="1982152"/>
              <a:ext cx="127730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613298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09651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815965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815965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23788" y="2556986"/>
              <a:ext cx="12704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 $13, $6, $2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09465" y="2556986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13298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0371772" y="2430780"/>
              <a:ext cx="127730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09651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815965" y="2866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23788" y="3005614"/>
              <a:ext cx="13699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$14, $2, $2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09465" y="3005614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13298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909651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815965" y="33147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815965" y="331946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23788" y="3454241"/>
              <a:ext cx="14513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 $15, 100($2)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09465" y="3454241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613298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909651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815965" y="1524000"/>
              <a:ext cx="584263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67905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06113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35748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2-card-2"/>
          <p:cNvGrpSpPr/>
          <p:nvPr/>
        </p:nvGrpSpPr>
        <p:grpSpPr>
          <a:xfrm>
            <a:off x="5815965" y="3958590"/>
            <a:ext cx="5842635" cy="2272665"/>
            <a:chOff x="5815965" y="3958590"/>
            <a:chExt cx="5842635" cy="2272665"/>
          </a:xfrm>
        </p:grpSpPr>
        <p:sp>
          <p:nvSpPr>
            <p:cNvPr id="49" name="Rectangle 49"/>
            <p:cNvSpPr/>
            <p:nvPr/>
          </p:nvSpPr>
          <p:spPr>
            <a:xfrm>
              <a:off x="5815965" y="3958590"/>
              <a:ext cx="5842635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825490" y="409194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63615" y="416814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44971" y="42038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逐条说明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069330" y="46081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27445" y="454533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and 的 rs 是 $2，命中 EX 冒险，ForwardA = 10；rt 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$5，无关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069330" y="52292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227445" y="5166360"/>
              <a:ext cx="45075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 的 rt 是 $2，命中 MEM 冒险，ForwardB = 01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069330" y="55645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27445" y="5501640"/>
              <a:ext cx="4872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的两个源都是 $2，但已相隔 3 条，写读半拍错开，不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必转发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转发与阻塞的硬件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双重数据冒险：两条通路同时命中，要取最新的那个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193982" cy="1072515"/>
            <a:chOff x="533400" y="1524000"/>
            <a:chExt cx="5193982" cy="10725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三条指令连写同一个寄存器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1110806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add  $1, $1, $2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add  $1, $1, $3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add  $1, $1, $4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2770822"/>
            <a:ext cx="5193982" cy="1511618"/>
            <a:chOff x="533400" y="2770822"/>
            <a:chExt cx="5193982" cy="1511618"/>
          </a:xfrm>
        </p:grpSpPr>
        <p:sp>
          <p:nvSpPr>
            <p:cNvPr id="11" name="Rectangle 11"/>
            <p:cNvSpPr/>
            <p:nvPr/>
          </p:nvSpPr>
          <p:spPr>
            <a:xfrm>
              <a:off x="533400" y="2770822"/>
              <a:ext cx="5193982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2904172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3905" y="2963228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1342" y="299751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第三条指令的处境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3320415"/>
              <a:ext cx="45485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EX/MEM 里是第二条 add 的结果，MEM/WB 里是第一条的结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果，两边的 Rd 都等于 $1，EX 冒险和 MEM 冒险同时成立。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047" y="3879532"/>
              <a:ext cx="39289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EX/MEM 里那个才是最新的值，必须选它。</a:t>
              </a:r>
            </a:p>
          </p:txBody>
        </p:sp>
      </p:grpSp>
      <p:grpSp>
        <p:nvGrpSpPr>
          <p:cNvPr id="26" name="c1-card-3"/>
          <p:cNvGrpSpPr/>
          <p:nvPr/>
        </p:nvGrpSpPr>
        <p:grpSpPr>
          <a:xfrm>
            <a:off x="533400" y="4458652"/>
            <a:ext cx="5193982" cy="1511618"/>
            <a:chOff x="533400" y="4458652"/>
            <a:chExt cx="5193982" cy="1511618"/>
          </a:xfrm>
        </p:grpSpPr>
        <p:sp>
          <p:nvSpPr>
            <p:cNvPr id="18" name="Rectangle 18"/>
            <p:cNvSpPr/>
            <p:nvPr/>
          </p:nvSpPr>
          <p:spPr>
            <a:xfrm>
              <a:off x="533400" y="4458652"/>
              <a:ext cx="5193982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592002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3905" y="4651058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3343" y="468534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逐条跟一遍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72478" y="506349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8497" y="5007292"/>
              <a:ext cx="4637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第二条 add：只有第一条在 EX/MEM 里，ForwardA = 10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72478" y="536638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8497" y="5310188"/>
              <a:ext cx="43256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第三条 add：第二条在 EX/MEM，第一条在 MEM/WB，两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条都命中，取 ForwardA = 10</a:t>
              </a:r>
            </a:p>
          </p:txBody>
        </p:sp>
      </p:grpSp>
      <p:grpSp>
        <p:nvGrpSpPr>
          <p:cNvPr id="30" name="c2-code-1"/>
          <p:cNvGrpSpPr/>
          <p:nvPr/>
        </p:nvGrpSpPr>
        <p:grpSpPr>
          <a:xfrm>
            <a:off x="6032182" y="1524000"/>
            <a:ext cx="5626418" cy="1829752"/>
            <a:chOff x="6032182" y="1524000"/>
            <a:chExt cx="5626418" cy="1829752"/>
          </a:xfrm>
        </p:grpSpPr>
        <p:sp>
          <p:nvSpPr>
            <p:cNvPr id="27" name="Rectangle 27"/>
            <p:cNvSpPr/>
            <p:nvPr/>
          </p:nvSpPr>
          <p:spPr>
            <a:xfrm>
              <a:off x="6032182" y="1524000"/>
              <a:ext cx="5626418" cy="1829752"/>
            </a:xfrm>
            <a:prstGeom prst="roundRect">
              <a:avLst>
                <a:gd name="adj" fmla="val 52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60580" y="1675924"/>
              <a:ext cx="14531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修订后的 MEM 冒险条件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60198" y="1937385"/>
              <a:ext cx="4044506" cy="1342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(MEM/WB.RegWrite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and MEM/WB.RegisterRd != 0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and not (EX/MEM.RegWrite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and EX/MEM.RegisterRd != 0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and EX/MEM.RegisterRd == ID/EX.RegisterRs)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and MEM/WB.RegisterRd == ID/EX.RegisterRs)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ForwardA = 01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6032182" y="3529012"/>
            <a:ext cx="5626418" cy="2441258"/>
            <a:chOff x="6032182" y="3529012"/>
            <a:chExt cx="5626418" cy="2441258"/>
          </a:xfrm>
        </p:grpSpPr>
        <p:sp>
          <p:nvSpPr>
            <p:cNvPr id="31" name="Rectangle 31"/>
            <p:cNvSpPr/>
            <p:nvPr/>
          </p:nvSpPr>
          <p:spPr>
            <a:xfrm>
              <a:off x="6032182" y="3529012"/>
              <a:ext cx="5626418" cy="2441258"/>
            </a:xfrm>
            <a:prstGeom prst="roundRect">
              <a:avLst>
                <a:gd name="adj" fmla="val 5462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24588" y="3721418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04026" y="375570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改动的实质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17730" y="4077652"/>
              <a:ext cx="46771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给 MEM 冒险加一条否定前提：只在 EX 冒险不成立时才走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MEM/WB 通路。ForwardB 的条件同样处理，把 Rs 换成 Rt。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74613" cy="909257"/>
            <a:chOff x="520446" y="342900"/>
            <a:chExt cx="76746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转发与阻塞的硬件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746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load-use 检测单元装在 ID 段，代价固定一个周期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1209675"/>
            <a:chOff x="533400" y="1524000"/>
            <a:chExt cx="5626418" cy="1209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09675"/>
            </a:xfrm>
            <a:prstGeom prst="roundRect">
              <a:avLst>
                <a:gd name="adj" fmla="val 78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检测条件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432556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(ID/EX.MemRead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and (ID/EX.RegisterRt == IF/ID.RegisterRs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or ID/EX.RegisterRt == IF/ID.RegisterRt))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stall</a:t>
              </a:r>
            </a:p>
          </p:txBody>
        </p:sp>
      </p:grpSp>
      <p:grpSp>
        <p:nvGrpSpPr>
          <p:cNvPr id="20" name="c1-bullets-2"/>
          <p:cNvGrpSpPr/>
          <p:nvPr/>
        </p:nvGrpSpPr>
        <p:grpSpPr>
          <a:xfrm>
            <a:off x="533400" y="2907982"/>
            <a:ext cx="4937120" cy="847058"/>
            <a:chOff x="533400" y="2907982"/>
            <a:chExt cx="4937120" cy="847058"/>
          </a:xfrm>
        </p:grpSpPr>
        <p:sp>
          <p:nvSpPr>
            <p:cNvPr id="11" name="Ellipse 11"/>
            <p:cNvSpPr/>
            <p:nvPr/>
          </p:nvSpPr>
          <p:spPr>
            <a:xfrm>
              <a:off x="533400" y="290798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5307" y="29436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3148" y="2918936"/>
              <a:ext cx="29314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ID/EX.MemRead = 1 说明上一条是 lw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0135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85307" y="32369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3148" y="3212306"/>
              <a:ext cx="46423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 的目标寄存器是它的 rt，所以拿 ID/EX.RegisterRt 去比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49472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5307" y="352939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3148" y="3505676"/>
              <a:ext cx="46673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当前指令的两个源寄存器号在 IF/ID 里，还没译码完就能取到</a:t>
              </a:r>
            </a:p>
          </p:txBody>
        </p:sp>
      </p:grpSp>
      <p:grpSp>
        <p:nvGrpSpPr>
          <p:cNvPr id="26" name="c1-card-3"/>
          <p:cNvGrpSpPr/>
          <p:nvPr/>
        </p:nvGrpSpPr>
        <p:grpSpPr>
          <a:xfrm>
            <a:off x="533400" y="3869055"/>
            <a:ext cx="5626418" cy="1143952"/>
            <a:chOff x="533400" y="3869055"/>
            <a:chExt cx="5626418" cy="1143952"/>
          </a:xfrm>
        </p:grpSpPr>
        <p:sp>
          <p:nvSpPr>
            <p:cNvPr id="21" name="Rectangle 21"/>
            <p:cNvSpPr/>
            <p:nvPr/>
          </p:nvSpPr>
          <p:spPr>
            <a:xfrm>
              <a:off x="533400" y="3869055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002405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2475" y="4050030"/>
              <a:ext cx="114585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8077" y="4082891"/>
              <a:ext cx="10137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为什么放在 ID 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5998" y="4390549"/>
              <a:ext cx="49547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要赶在这条指令进入 EX 之前把它拦住。等它进了 EX 再发现来不及，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就得把已经开始的运算撤回来，硬件复杂得多。</a:t>
              </a:r>
            </a:p>
          </p:txBody>
        </p:sp>
      </p:grpSp>
      <p:grpSp>
        <p:nvGrpSpPr>
          <p:cNvPr id="32" name="c1-card-4"/>
          <p:cNvGrpSpPr/>
          <p:nvPr/>
        </p:nvGrpSpPr>
        <p:grpSpPr>
          <a:xfrm>
            <a:off x="533400" y="5178742"/>
            <a:ext cx="5626418" cy="1143952"/>
            <a:chOff x="533400" y="5178742"/>
            <a:chExt cx="5626418" cy="1143952"/>
          </a:xfrm>
        </p:grpSpPr>
        <p:sp>
          <p:nvSpPr>
            <p:cNvPr id="27" name="Rectangle 27"/>
            <p:cNvSpPr/>
            <p:nvPr/>
          </p:nvSpPr>
          <p:spPr>
            <a:xfrm>
              <a:off x="533400" y="5178742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5312092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2475" y="5359718"/>
              <a:ext cx="105441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6690" y="5392579"/>
              <a:ext cx="9050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只看 rt 够不够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5998" y="5699284"/>
              <a:ext cx="4849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够。会引起 load-use 冒险的只有 lw，而 lw 的目标寄存器号一定在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 字段，所以拿 ID/EX.RegisterRt 去比就行，不必看 rd。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464618" y="1524000"/>
            <a:ext cx="5193982" cy="1714500"/>
            <a:chOff x="6464618" y="1524000"/>
            <a:chExt cx="5193982" cy="1714500"/>
          </a:xfrm>
        </p:grpSpPr>
        <p:sp>
          <p:nvSpPr>
            <p:cNvPr id="33" name="Rectangle 33"/>
            <p:cNvSpPr/>
            <p:nvPr/>
          </p:nvSpPr>
          <p:spPr>
            <a:xfrm>
              <a:off x="6464618" y="1524000"/>
              <a:ext cx="5193982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4142" y="1657350"/>
              <a:ext cx="47625" cy="144780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83692" y="1704975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58013" y="173783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阻塞的三个动作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683692" y="203358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35599" y="20692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54393" y="2045494"/>
              <a:ext cx="42151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ID/EX 的控制信号全部清零，本条指令的 EX、MEM、WB 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成空操作。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683692" y="25622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35599" y="259689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54393" y="2573179"/>
              <a:ext cx="34241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保持 PC 不变，下个周期重新取同一条指令。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83692" y="284702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35599" y="288264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54393" y="2857976"/>
              <a:ext cx="38058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保持 IF/ID 不变，下个周期重新译码同一条指令。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464618" y="3403282"/>
            <a:ext cx="5193982" cy="1143952"/>
            <a:chOff x="6464618" y="3403282"/>
            <a:chExt cx="5193982" cy="1143952"/>
          </a:xfrm>
        </p:grpSpPr>
        <p:sp>
          <p:nvSpPr>
            <p:cNvPr id="47" name="Rectangle 47"/>
            <p:cNvSpPr/>
            <p:nvPr/>
          </p:nvSpPr>
          <p:spPr>
            <a:xfrm>
              <a:off x="6464618" y="3403282"/>
              <a:ext cx="5193982" cy="1143952"/>
            </a:xfrm>
            <a:prstGeom prst="roundRect">
              <a:avLst>
                <a:gd name="adj" fmla="val 1165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645592" y="3584258"/>
              <a:ext cx="96869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15242" y="3617119"/>
              <a:ext cx="8303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 CPI 的影响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39116" y="3923824"/>
              <a:ext cx="45321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 lw 占指令总数 25%，其中一半紧跟着被使用，则每条指令平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均多出 0.25 × 0.5 =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0.125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个周期。</a:t>
              </a:r>
            </a:p>
          </p:txBody>
        </p:sp>
      </p:grpSp>
      <p:grpSp>
        <p:nvGrpSpPr>
          <p:cNvPr id="57" name="c2-card-3"/>
          <p:cNvGrpSpPr/>
          <p:nvPr/>
        </p:nvGrpSpPr>
        <p:grpSpPr>
          <a:xfrm>
            <a:off x="6464618" y="4712018"/>
            <a:ext cx="5193982" cy="1610678"/>
            <a:chOff x="6464618" y="4712018"/>
            <a:chExt cx="5193982" cy="1610678"/>
          </a:xfrm>
        </p:grpSpPr>
        <p:sp>
          <p:nvSpPr>
            <p:cNvPr id="52" name="Rectangle 52"/>
            <p:cNvSpPr/>
            <p:nvPr/>
          </p:nvSpPr>
          <p:spPr>
            <a:xfrm>
              <a:off x="6464618" y="4712018"/>
              <a:ext cx="5193982" cy="1610678"/>
            </a:xfrm>
            <a:prstGeom prst="roundRect">
              <a:avLst>
                <a:gd name="adj" fmla="val 82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74142" y="4845368"/>
              <a:ext cx="47625" cy="13439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683692" y="4892992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61112" y="492585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编译器能帮忙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77216" y="5232559"/>
              <a:ext cx="45077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把一条与 lw 无关的指令调度到它后面，这一拍就被填满。前面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代码重排的例子就是这么省下 2 个周期的。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63694" cy="909257"/>
            <a:chOff x="520446" y="342900"/>
            <a:chExt cx="45636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转发与阻塞的硬件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636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算一次带冒险的 CPI 与加速比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794872" cy="278702"/>
            <a:chOff x="526161" y="1547336"/>
            <a:chExt cx="879487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7948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假设 lw 占 25%，其中一半紧跟着被使用；分支占 20%，其中 60% 实际发生；分支判定已提前到 ID 段。</a:t>
              </a:r>
            </a:p>
          </p:txBody>
        </p:sp>
      </p:grpSp>
      <p:grpSp>
        <p:nvGrpSpPr>
          <p:cNvPr id="30" name="c1-steps-1"/>
          <p:cNvGrpSpPr/>
          <p:nvPr/>
        </p:nvGrpSpPr>
        <p:grpSpPr>
          <a:xfrm>
            <a:off x="533400" y="1950720"/>
            <a:ext cx="2905054" cy="2867502"/>
            <a:chOff x="533400" y="1950720"/>
            <a:chExt cx="2905054" cy="2867502"/>
          </a:xfrm>
        </p:grpSpPr>
        <p:sp>
          <p:nvSpPr>
            <p:cNvPr id="9" name="Rectangle 9"/>
            <p:cNvSpPr/>
            <p:nvPr/>
          </p:nvSpPr>
          <p:spPr>
            <a:xfrm>
              <a:off x="666750" y="2093595"/>
              <a:ext cx="19050" cy="23479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5072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3841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612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2515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98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7118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7857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29863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3724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1983105"/>
              <a:ext cx="14080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load-use 的贡献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250281"/>
              <a:ext cx="2491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 × 0.5 × 1 = 0.125 个周期/指令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256984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分支预测错的贡献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2837021"/>
              <a:ext cx="2491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 × 0.60 × 1 = 0.12 个周期/指令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156585"/>
              <a:ext cx="7199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 CPI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3424714"/>
              <a:ext cx="1775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+ 0.125 + 0.12 = 1.245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374332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单条指令平均用时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011454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1.245 × 200 ps = 249 ps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642" y="4331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相对单周期的加速比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785" y="4598194"/>
              <a:ext cx="16096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800 ps ÷ 249 ps ≈ 3.21</a:t>
              </a:r>
            </a:p>
          </p:txBody>
        </p:sp>
      </p:grpSp>
      <p:grpSp>
        <p:nvGrpSpPr>
          <p:cNvPr id="36" name="c1-card-2"/>
          <p:cNvGrpSpPr/>
          <p:nvPr/>
        </p:nvGrpSpPr>
        <p:grpSpPr>
          <a:xfrm>
            <a:off x="533400" y="4987290"/>
            <a:ext cx="5842635" cy="1209675"/>
            <a:chOff x="533400" y="4987290"/>
            <a:chExt cx="5842635" cy="1209675"/>
          </a:xfrm>
        </p:grpSpPr>
        <p:sp>
          <p:nvSpPr>
            <p:cNvPr id="31" name="Rectangle 31"/>
            <p:cNvSpPr/>
            <p:nvPr/>
          </p:nvSpPr>
          <p:spPr>
            <a:xfrm>
              <a:off x="533400" y="4987290"/>
              <a:ext cx="584263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512064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63905" y="517969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1342" y="521398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换个假设再算一次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7047" y="5535930"/>
              <a:ext cx="509720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若结构冒险没有消除，访存指令占 30% 时还要再加 0.30，CPI 变成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1.545，加速比掉到 800 ÷ 309 ≈ 2.59。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680835" y="1941195"/>
            <a:ext cx="4977765" cy="1209675"/>
            <a:chOff x="6680835" y="1941195"/>
            <a:chExt cx="4977765" cy="1209675"/>
          </a:xfrm>
        </p:grpSpPr>
        <p:sp>
          <p:nvSpPr>
            <p:cNvPr id="37" name="Rectangle 37"/>
            <p:cNvSpPr/>
            <p:nvPr/>
          </p:nvSpPr>
          <p:spPr>
            <a:xfrm>
              <a:off x="6680835" y="1941195"/>
              <a:ext cx="4977765" cy="1209675"/>
            </a:xfrm>
            <a:prstGeom prst="roundRect">
              <a:avLst>
                <a:gd name="adj" fmla="val 1102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73240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64680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66382" y="2490788"/>
              <a:ext cx="437883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理想流水线的加速比上界是 4，实际只拿到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3.21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，冒险吃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掉了两成左右的性能。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680835" y="3326130"/>
            <a:ext cx="4977765" cy="1466850"/>
            <a:chOff x="6680835" y="3326130"/>
            <a:chExt cx="4977765" cy="1466850"/>
          </a:xfrm>
        </p:grpSpPr>
        <p:sp>
          <p:nvSpPr>
            <p:cNvPr id="42" name="Rectangle 42"/>
            <p:cNvSpPr/>
            <p:nvPr/>
          </p:nvSpPr>
          <p:spPr>
            <a:xfrm>
              <a:off x="6680835" y="3326130"/>
              <a:ext cx="497776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90360" y="345948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911340" y="351853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78777" y="355282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哪一项更值得优化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04482" y="3874770"/>
              <a:ext cx="428282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分支那一项 0.12 与 load-use 的 0.125 相当。若分支仍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MEM 段判定，惩罚是 3 拍，这一项会涨到 0.36，CPI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变成 1.485，加速比掉到 2.69。</a:t>
              </a:r>
            </a:p>
          </p:txBody>
        </p:sp>
      </p:grpSp>
      <p:grpSp>
        <p:nvGrpSpPr>
          <p:cNvPr id="54" name="c2-callout-3"/>
          <p:cNvGrpSpPr/>
          <p:nvPr/>
        </p:nvGrpSpPr>
        <p:grpSpPr>
          <a:xfrm>
            <a:off x="6680835" y="4968240"/>
            <a:ext cx="4977765" cy="1228725"/>
            <a:chOff x="6680835" y="4968240"/>
            <a:chExt cx="4977765" cy="1228725"/>
          </a:xfrm>
        </p:grpSpPr>
        <p:sp>
          <p:nvSpPr>
            <p:cNvPr id="48" name="Rectangle 48"/>
            <p:cNvSpPr/>
            <p:nvPr/>
          </p:nvSpPr>
          <p:spPr>
            <a:xfrm>
              <a:off x="6680835" y="4968240"/>
              <a:ext cx="4977765" cy="1228725"/>
            </a:xfrm>
            <a:prstGeom prst="roundRect">
              <a:avLst>
                <a:gd name="adj" fmla="val 930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885623" y="5482590"/>
              <a:ext cx="200026" cy="200025"/>
              <a:chOff x="6885623" y="5482590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885623" y="54825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925361" y="55270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960077" y="56381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7188327" y="5363528"/>
              <a:ext cx="399992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做这类题先把每类冒险的“发生频率 × 每次罚多少拍”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列清楚，再统一加到 1 上面。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429000" cy="2997517"/>
            <a:chOff x="667512" y="1835468"/>
            <a:chExt cx="342900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分支预测与异常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猜对了不花钱，猜错了才付账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位与 2 位预测位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分支目标缓存与延迟槽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精确异常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00476" cy="909257"/>
            <a:chOff x="520446" y="342900"/>
            <a:chExt cx="71004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分支预测与异常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004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把比较和地址计算提前到 ID 段，惩罚降到一拍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1604962"/>
            <a:chOff x="533400" y="1524000"/>
            <a:chExt cx="5410200" cy="16049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04962"/>
            </a:xfrm>
            <a:prstGeom prst="roundRect">
              <a:avLst>
                <a:gd name="adj" fmla="val 8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826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4842" y="176355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需要增加的硬件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2955" y="216122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9546" y="2100739"/>
              <a:ext cx="33659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一个专门的目标地址加法器，放在 ID 段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48126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420779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一个寄存器比较器，直接判断两个寄存器是否相等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9239" y="2737485"/>
              <a:ext cx="2735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ALU 在 EX 段的减法不再用于分支判定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313748"/>
            <a:ext cx="5410200" cy="1274445"/>
            <a:chOff x="533400" y="3313748"/>
            <a:chExt cx="5410200" cy="1274445"/>
          </a:xfrm>
        </p:grpSpPr>
        <p:sp>
          <p:nvSpPr>
            <p:cNvPr id="17" name="Rectangle 17"/>
            <p:cNvSpPr/>
            <p:nvPr/>
          </p:nvSpPr>
          <p:spPr>
            <a:xfrm>
              <a:off x="533400" y="3313748"/>
              <a:ext cx="5410200" cy="1274445"/>
            </a:xfrm>
            <a:prstGeom prst="roundRect">
              <a:avLst>
                <a:gd name="adj" fmla="val 1046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7235" y="351758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9544" y="3553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代价对照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9996" y="3890486"/>
              <a:ext cx="475336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分支在 MEM 段判定：错了要清除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3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条指令。提前到 ID 段：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只清除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1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条。</a:t>
              </a:r>
            </a:p>
          </p:txBody>
        </p:sp>
      </p:grpSp>
      <p:grpSp>
        <p:nvGrpSpPr>
          <p:cNvPr id="25" name="c1-code-3"/>
          <p:cNvGrpSpPr/>
          <p:nvPr/>
        </p:nvGrpSpPr>
        <p:grpSpPr>
          <a:xfrm>
            <a:off x="533400" y="4773930"/>
            <a:ext cx="5410200" cy="1516380"/>
            <a:chOff x="533400" y="4773930"/>
            <a:chExt cx="5410200" cy="1516380"/>
          </a:xfrm>
        </p:grpSpPr>
        <p:sp>
          <p:nvSpPr>
            <p:cNvPr id="22" name="Rectangle 22"/>
            <p:cNvSpPr/>
            <p:nvPr/>
          </p:nvSpPr>
          <p:spPr>
            <a:xfrm>
              <a:off x="533400" y="4773930"/>
              <a:ext cx="5410200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1797" y="492585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源课件的例子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1035" y="5188744"/>
              <a:ext cx="1576070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36: sub  $10, $4, $8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40: beq  $1,  $3, 7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44: and  $12, $2, $5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...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72: lw   $4, 50($7)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248400" y="1524000"/>
            <a:ext cx="5410200" cy="1274445"/>
            <a:chOff x="6248400" y="1524000"/>
            <a:chExt cx="5410200" cy="1274445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165735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90335" y="172783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63792" y="176355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目标地址复核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83096" y="2100739"/>
              <a:ext cx="477635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PC + 4 = 44，偏移量 7 左移 2 位是 28，44 + 28 =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72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，与代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码里 72 号地址的 </a:t>
              </a:r>
              <a:r>
                <a:rPr lang="en-US" sz="14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lw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吻合。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248400" y="2984182"/>
            <a:ext cx="5410200" cy="1274445"/>
            <a:chOff x="6248400" y="2984182"/>
            <a:chExt cx="5410200" cy="1274445"/>
          </a:xfrm>
        </p:grpSpPr>
        <p:sp>
          <p:nvSpPr>
            <p:cNvPr id="32" name="Rectangle 32"/>
            <p:cNvSpPr/>
            <p:nvPr/>
          </p:nvSpPr>
          <p:spPr>
            <a:xfrm>
              <a:off x="6248400" y="2984182"/>
              <a:ext cx="541020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57925" y="3117532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90335" y="3188018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50990" y="322373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提前判定带来新问题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3096" y="3560921"/>
              <a:ext cx="473036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 段就要用到寄存器的值，而前一两条指令可能还没算完。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分支自己也会遇到数据冒险，下一页专门看它。</a:t>
              </a:r>
            </a:p>
          </p:txBody>
        </p:sp>
      </p:grpSp>
      <p:grpSp>
        <p:nvGrpSpPr>
          <p:cNvPr id="43" name="c2-card-3"/>
          <p:cNvGrpSpPr/>
          <p:nvPr/>
        </p:nvGrpSpPr>
        <p:grpSpPr>
          <a:xfrm>
            <a:off x="6248400" y="4444365"/>
            <a:ext cx="5410200" cy="1845945"/>
            <a:chOff x="6248400" y="4444365"/>
            <a:chExt cx="5410200" cy="1845945"/>
          </a:xfrm>
        </p:grpSpPr>
        <p:sp>
          <p:nvSpPr>
            <p:cNvPr id="38" name="Rectangle 38"/>
            <p:cNvSpPr/>
            <p:nvPr/>
          </p:nvSpPr>
          <p:spPr>
            <a:xfrm>
              <a:off x="6248400" y="4444365"/>
              <a:ext cx="5410200" cy="1845945"/>
            </a:xfrm>
            <a:prstGeom prst="roundRect">
              <a:avLst>
                <a:gd name="adj" fmla="val 7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57925" y="4577715"/>
              <a:ext cx="47625" cy="15792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90335" y="464820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67742" y="468391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还要清一条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83096" y="5021104"/>
              <a:ext cx="464921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分支发生时，44 号那条 </a:t>
              </a:r>
              <a:r>
                <a:rPr lang="en-US" sz="14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and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已经被取进流水线，必须把它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清除掉，做法仍然是把它的控制信号置 0。这就是剩下那 1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拍惩罚的来源。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分支预测与异常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分支自己也会撞上数据冒险，停一拍还是两拍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11125200" cy="2244090"/>
            <a:chOff x="533400" y="1524000"/>
            <a:chExt cx="11125200" cy="22440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29334" y="16597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分支操作数的来源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74381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需要停顿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8706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23385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前第二条或前第三条 ALU 指令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29055" y="2108359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80938" y="2108359"/>
              <a:ext cx="30339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结果已算出，转发到 ID 段的比较器即可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13046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前一条 ALU 指令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29055" y="2556986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80938" y="2556986"/>
              <a:ext cx="31971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该指令刚进 EX，结果要等这一拍结束才有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5614"/>
              <a:ext cx="1345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前第二条 lw 指令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29055" y="3005614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80938" y="3005614"/>
              <a:ext cx="17016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数据要等 MEM 段读出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47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1946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454241"/>
              <a:ext cx="1173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前一条 lw 指令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325302" y="3328988"/>
              <a:ext cx="153828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929055" y="3454241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80938" y="345424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数据最早在两拍后才能到比较器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524000"/>
              <a:ext cx="111252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31101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86835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c1-cells-2"/>
          <p:cNvGrpSpPr/>
          <p:nvPr/>
        </p:nvGrpSpPr>
        <p:grpSpPr>
          <a:xfrm>
            <a:off x="527685" y="3958590"/>
            <a:ext cx="8231505" cy="1123950"/>
            <a:chOff x="527685" y="3958590"/>
            <a:chExt cx="8231505" cy="1123950"/>
          </a:xfrm>
        </p:grpSpPr>
        <p:sp>
          <p:nvSpPr>
            <p:cNvPr id="33" name="TextBox 33"/>
            <p:cNvSpPr txBox="1"/>
            <p:nvPr/>
          </p:nvSpPr>
          <p:spPr>
            <a:xfrm>
              <a:off x="527685" y="40600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824990" y="3958590"/>
              <a:ext cx="990600" cy="3429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271039" y="4060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815590" y="3958590"/>
              <a:ext cx="990600" cy="3429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261639" y="4060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806190" y="3958590"/>
              <a:ext cx="990600" cy="3429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252239" y="4060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796790" y="3958590"/>
              <a:ext cx="990600" cy="3429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42839" y="4060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787390" y="3958590"/>
              <a:ext cx="990600" cy="3429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33439" y="4060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777990" y="3958590"/>
              <a:ext cx="990600" cy="3429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24039" y="4060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768590" y="3958590"/>
              <a:ext cx="990600" cy="3429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214639" y="4060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27685" y="4450556"/>
              <a:ext cx="882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lw $1, addr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824990" y="4349115"/>
              <a:ext cx="99060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243483" y="4450556"/>
              <a:ext cx="153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815590" y="4349115"/>
              <a:ext cx="99060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234083" y="4450556"/>
              <a:ext cx="153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806190" y="4349115"/>
              <a:ext cx="99060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203774" y="445055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796790" y="4349115"/>
              <a:ext cx="990600" cy="3429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114919" y="4450556"/>
              <a:ext cx="354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787390" y="4349115"/>
              <a:ext cx="99060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168247" y="4450556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WB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777990" y="4349115"/>
              <a:ext cx="990600" cy="3429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768590" y="4349115"/>
              <a:ext cx="990600" cy="3429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27685" y="4841081"/>
              <a:ext cx="12391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beq $1, $0, 目标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824990" y="4739640"/>
              <a:ext cx="990600" cy="3429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2815590" y="4739640"/>
              <a:ext cx="99060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234083" y="4841081"/>
              <a:ext cx="153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3806190" y="4739640"/>
              <a:ext cx="990600" cy="3429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224683" y="4841081"/>
              <a:ext cx="153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4796790" y="4739640"/>
              <a:ext cx="990600" cy="3429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215283" y="4841081"/>
              <a:ext cx="153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787390" y="4739640"/>
              <a:ext cx="99060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205883" y="4841081"/>
              <a:ext cx="153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777990" y="4739640"/>
              <a:ext cx="99060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175574" y="484108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768590" y="4739640"/>
              <a:ext cx="99060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086719" y="4841081"/>
              <a:ext cx="354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</a:t>
              </a:r>
            </a:p>
          </p:txBody>
        </p:sp>
      </p:grpSp>
      <p:grpSp>
        <p:nvGrpSpPr>
          <p:cNvPr id="81" name="c1-callout-3"/>
          <p:cNvGrpSpPr/>
          <p:nvPr/>
        </p:nvGrpSpPr>
        <p:grpSpPr>
          <a:xfrm>
            <a:off x="533400" y="5273040"/>
            <a:ext cx="11125200" cy="1089660"/>
            <a:chOff x="533400" y="5273040"/>
            <a:chExt cx="11125200" cy="1089660"/>
          </a:xfrm>
        </p:grpSpPr>
        <p:sp>
          <p:nvSpPr>
            <p:cNvPr id="76" name="Rectangle 76"/>
            <p:cNvSpPr/>
            <p:nvPr/>
          </p:nvSpPr>
          <p:spPr>
            <a:xfrm>
              <a:off x="533400" y="5273040"/>
              <a:ext cx="11125200" cy="1089660"/>
            </a:xfrm>
            <a:prstGeom prst="roundRect">
              <a:avLst>
                <a:gd name="adj" fmla="val 1049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38188" y="5717860"/>
              <a:ext cx="200023" cy="200023"/>
              <a:chOff x="738188" y="5717860"/>
              <a:chExt cx="200023" cy="200023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38188" y="57178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71538" y="57845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0130" y="5713095"/>
              <a:ext cx="98153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把分支判定提前到 ID 段省下了预测错误的两拍，却把分支的数据依赖也提前了两段，这是一次有代价的交换。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24782" cy="909257"/>
            <a:chOff x="520446" y="342900"/>
            <a:chExt cx="58247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分支预测与异常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247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位预测位：在循环边界上一次错两回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1662112"/>
            <a:chOff x="533400" y="1524000"/>
            <a:chExt cx="5410200" cy="16621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62112"/>
            </a:xfrm>
            <a:prstGeom prst="roundRect">
              <a:avLst>
                <a:gd name="adj" fmla="val 8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9541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8792" y="176355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分支预测缓存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45386" y="1767364"/>
              <a:ext cx="21484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又叫分支历史记录表 BHT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217932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119789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按分支地址低位索引，每项存上次是否发生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249936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2439829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取指时查表，按上次的结果决定往哪取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2955" y="281940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546" y="2759869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猜错就清除错误指令，预测位取反，回到正确地址重取</a:t>
              </a:r>
            </a:p>
          </p:txBody>
        </p:sp>
      </p:grpSp>
      <p:grpSp>
        <p:nvGrpSpPr>
          <p:cNvPr id="22" name="c1-code-2"/>
          <p:cNvGrpSpPr/>
          <p:nvPr/>
        </p:nvGrpSpPr>
        <p:grpSpPr>
          <a:xfrm>
            <a:off x="533400" y="3370898"/>
            <a:ext cx="5410200" cy="1516380"/>
            <a:chOff x="533400" y="3370898"/>
            <a:chExt cx="5410200" cy="1516380"/>
          </a:xfrm>
        </p:grpSpPr>
        <p:sp>
          <p:nvSpPr>
            <p:cNvPr id="19" name="Rectangle 19"/>
            <p:cNvSpPr/>
            <p:nvPr/>
          </p:nvSpPr>
          <p:spPr>
            <a:xfrm>
              <a:off x="533400" y="3370898"/>
              <a:ext cx="5410200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1797" y="352282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一个两层循环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1035" y="3785711"/>
              <a:ext cx="2123694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outer:  ...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inner:  ...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beq ..., ..., inner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...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beq ..., ..., outer</a:t>
              </a:r>
            </a:p>
          </p:txBody>
        </p:sp>
      </p:grpSp>
      <p:grpSp>
        <p:nvGrpSpPr>
          <p:cNvPr id="28" name="c1-card-3"/>
          <p:cNvGrpSpPr/>
          <p:nvPr/>
        </p:nvGrpSpPr>
        <p:grpSpPr>
          <a:xfrm>
            <a:off x="533400" y="5073015"/>
            <a:ext cx="5410200" cy="1274445"/>
            <a:chOff x="533400" y="5073015"/>
            <a:chExt cx="5410200" cy="1274445"/>
          </a:xfrm>
        </p:grpSpPr>
        <p:sp>
          <p:nvSpPr>
            <p:cNvPr id="23" name="Rectangle 23"/>
            <p:cNvSpPr/>
            <p:nvPr/>
          </p:nvSpPr>
          <p:spPr>
            <a:xfrm>
              <a:off x="533400" y="5073015"/>
              <a:ext cx="541020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5206365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75335" y="52768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5543" y="53125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别名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8096" y="564975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表项不做标记比对，两条地址低位相同的分支会共用一项、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互相干扰。把表做大可以减少这种别名。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248400" y="1524000"/>
            <a:ext cx="5410200" cy="3048952"/>
            <a:chOff x="6248400" y="1524000"/>
            <a:chExt cx="5410200" cy="3048952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3048952"/>
            </a:xfrm>
            <a:prstGeom prst="roundRect">
              <a:avLst>
                <a:gd name="adj" fmla="val 43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1657350"/>
              <a:ext cx="47625" cy="2782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90335" y="1727835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42138" y="176355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算一算内层分支的正确率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3096" y="2100739"/>
              <a:ext cx="464921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设内层循环每次执行 10 次迭代，分支发生 9 次、不发生 1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次，实际发生比例 90%。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90335" y="2680335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48680" y="27197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81229" y="2692241"/>
              <a:ext cx="413524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最后一次迭代要退出，预测发生而实际不发生，错 1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次，预测位翻成不发生。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90335" y="3271838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48680" y="331122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81229" y="3283744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下次再进内层循环，第一次迭代预测不发生而实际发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生，又错 1 次。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90335" y="386334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48680" y="390272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81229" y="3875246"/>
              <a:ext cx="426013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每趟 10 次分支错 2 次，正确率只有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80%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，比 90% 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低。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248400" y="4758690"/>
            <a:ext cx="5410200" cy="1588770"/>
            <a:chOff x="6248400" y="4758690"/>
            <a:chExt cx="5410200" cy="1588770"/>
          </a:xfrm>
        </p:grpSpPr>
        <p:sp>
          <p:nvSpPr>
            <p:cNvPr id="44" name="Rectangle 44"/>
            <p:cNvSpPr/>
            <p:nvPr/>
          </p:nvSpPr>
          <p:spPr>
            <a:xfrm>
              <a:off x="6248400" y="4758690"/>
              <a:ext cx="5410200" cy="1588770"/>
            </a:xfrm>
            <a:prstGeom prst="roundRect">
              <a:avLst>
                <a:gd name="adj" fmla="val 83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57925" y="4892040"/>
              <a:ext cx="47625" cy="132207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90335" y="496252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67742" y="49982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问题的根源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83096" y="5335429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只存一位历史，循环出口那一次反例立刻把预测位翻掉，污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染了下一趟的第一次预测。一个反例带来两次代价，循环越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短损失比例越大。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38220" cy="909257"/>
            <a:chOff x="520446" y="342900"/>
            <a:chExt cx="513822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分支预测与异常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382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位预测位：连错两次才肯改主意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graph-1"/>
          <p:cNvGrpSpPr/>
          <p:nvPr/>
        </p:nvGrpSpPr>
        <p:grpSpPr>
          <a:xfrm>
            <a:off x="761251" y="1809750"/>
            <a:ext cx="10628439" cy="1524000"/>
            <a:chOff x="761251" y="1809750"/>
            <a:chExt cx="10628439" cy="1524000"/>
          </a:xfrm>
        </p:grpSpPr>
        <p:sp>
          <p:nvSpPr>
            <p:cNvPr id="7" name="Freeform 7"/>
            <p:cNvSpPr/>
            <p:nvPr/>
          </p:nvSpPr>
          <p:spPr>
            <a:xfrm>
              <a:off x="1979295" y="2828925"/>
              <a:ext cx="2691765" cy="504825"/>
            </a:xfrm>
            <a:custGeom>
              <a:avLst/>
              <a:gdLst/>
              <a:ahLst/>
              <a:cxnLst/>
              <a:rect l="l" t="t" r="r" b="b"/>
              <a:pathLst>
                <a:path w="2691765" h="504825">
                  <a:moveTo>
                    <a:pt x="0" y="0"/>
                  </a:moveTo>
                  <a:lnTo>
                    <a:pt x="1335405" y="504825"/>
                  </a:lnTo>
                  <a:lnTo>
                    <a:pt x="2691765" y="314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655820" y="2815590"/>
              <a:ext cx="104775" cy="89535"/>
            </a:xfrm>
            <a:custGeom>
              <a:avLst/>
              <a:gdLst/>
              <a:ahLst/>
              <a:cxnLst/>
              <a:rect l="l" t="t" r="r" b="b"/>
              <a:pathLst>
                <a:path w="104775" h="89535">
                  <a:moveTo>
                    <a:pt x="104775" y="13335"/>
                  </a:moveTo>
                  <a:lnTo>
                    <a:pt x="30480" y="89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760595" y="2828925"/>
              <a:ext cx="2691765" cy="504825"/>
            </a:xfrm>
            <a:custGeom>
              <a:avLst/>
              <a:gdLst/>
              <a:ahLst/>
              <a:cxnLst/>
              <a:rect l="l" t="t" r="r" b="b"/>
              <a:pathLst>
                <a:path w="2691765" h="504825">
                  <a:moveTo>
                    <a:pt x="0" y="0"/>
                  </a:moveTo>
                  <a:lnTo>
                    <a:pt x="1335405" y="504825"/>
                  </a:lnTo>
                  <a:lnTo>
                    <a:pt x="2691765" y="314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7437120" y="2815590"/>
              <a:ext cx="104775" cy="89535"/>
            </a:xfrm>
            <a:custGeom>
              <a:avLst/>
              <a:gdLst/>
              <a:ahLst/>
              <a:cxnLst/>
              <a:rect l="l" t="t" r="r" b="b"/>
              <a:pathLst>
                <a:path w="104775" h="89535">
                  <a:moveTo>
                    <a:pt x="104775" y="13335"/>
                  </a:moveTo>
                  <a:lnTo>
                    <a:pt x="30480" y="89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541895" y="2828925"/>
              <a:ext cx="2358390" cy="504825"/>
            </a:xfrm>
            <a:custGeom>
              <a:avLst/>
              <a:gdLst/>
              <a:ahLst/>
              <a:cxnLst/>
              <a:rect l="l" t="t" r="r" b="b"/>
              <a:pathLst>
                <a:path w="2358390" h="504825">
                  <a:moveTo>
                    <a:pt x="0" y="0"/>
                  </a:moveTo>
                  <a:lnTo>
                    <a:pt x="1112520" y="504825"/>
                  </a:lnTo>
                  <a:lnTo>
                    <a:pt x="2358390" y="333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9884092" y="2818448"/>
              <a:ext cx="105727" cy="88583"/>
            </a:xfrm>
            <a:custGeom>
              <a:avLst/>
              <a:gdLst/>
              <a:ahLst/>
              <a:cxnLst/>
              <a:rect l="l" t="t" r="r" b="b"/>
              <a:pathLst>
                <a:path w="105727" h="88583">
                  <a:moveTo>
                    <a:pt x="105727" y="10478"/>
                  </a:moveTo>
                  <a:lnTo>
                    <a:pt x="33338" y="885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070735" y="1809750"/>
              <a:ext cx="2689860" cy="409575"/>
            </a:xfrm>
            <a:custGeom>
              <a:avLst/>
              <a:gdLst/>
              <a:ahLst/>
              <a:cxnLst/>
              <a:rect l="l" t="t" r="r" b="b"/>
              <a:pathLst>
                <a:path w="2689860" h="409575">
                  <a:moveTo>
                    <a:pt x="2689860" y="409575"/>
                  </a:moveTo>
                  <a:lnTo>
                    <a:pt x="1243965" y="0"/>
                  </a:lnTo>
                  <a:lnTo>
                    <a:pt x="0" y="3819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979295" y="2145982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0" y="73342"/>
                  </a:moveTo>
                  <a:lnTo>
                    <a:pt x="77152" y="0"/>
                  </a:lnTo>
                  <a:lnTo>
                    <a:pt x="105727" y="904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852035" y="1809750"/>
              <a:ext cx="2689860" cy="409575"/>
            </a:xfrm>
            <a:custGeom>
              <a:avLst/>
              <a:gdLst/>
              <a:ahLst/>
              <a:cxnLst/>
              <a:rect l="l" t="t" r="r" b="b"/>
              <a:pathLst>
                <a:path w="2689860" h="409575">
                  <a:moveTo>
                    <a:pt x="2689860" y="409575"/>
                  </a:moveTo>
                  <a:lnTo>
                    <a:pt x="1243965" y="0"/>
                  </a:lnTo>
                  <a:lnTo>
                    <a:pt x="0" y="3819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760595" y="2145982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0" y="73342"/>
                  </a:moveTo>
                  <a:lnTo>
                    <a:pt x="77152" y="0"/>
                  </a:lnTo>
                  <a:lnTo>
                    <a:pt x="105727" y="904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7631430" y="1809750"/>
              <a:ext cx="2358390" cy="409575"/>
            </a:xfrm>
            <a:custGeom>
              <a:avLst/>
              <a:gdLst/>
              <a:ahLst/>
              <a:cxnLst/>
              <a:rect l="l" t="t" r="r" b="b"/>
              <a:pathLst>
                <a:path w="2358390" h="409575">
                  <a:moveTo>
                    <a:pt x="2358390" y="409575"/>
                  </a:moveTo>
                  <a:lnTo>
                    <a:pt x="1022985" y="0"/>
                  </a:lnTo>
                  <a:lnTo>
                    <a:pt x="0" y="3762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7541895" y="2142172"/>
              <a:ext cx="106680" cy="88582"/>
            </a:xfrm>
            <a:custGeom>
              <a:avLst/>
              <a:gdLst/>
              <a:ahLst/>
              <a:cxnLst/>
              <a:rect l="l" t="t" r="r" b="b"/>
              <a:pathLst>
                <a:path w="106680" h="88582">
                  <a:moveTo>
                    <a:pt x="0" y="77152"/>
                  </a:moveTo>
                  <a:lnTo>
                    <a:pt x="73343" y="0"/>
                  </a:lnTo>
                  <a:lnTo>
                    <a:pt x="106680" y="8858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942975" y="2125028"/>
              <a:ext cx="502920" cy="798195"/>
            </a:xfrm>
            <a:custGeom>
              <a:avLst/>
              <a:gdLst/>
              <a:ahLst/>
              <a:cxnLst/>
              <a:rect l="l" t="t" r="r" b="b"/>
              <a:pathLst>
                <a:path w="502920" h="798195">
                  <a:moveTo>
                    <a:pt x="502920" y="266700"/>
                  </a:moveTo>
                  <a:cubicBezTo>
                    <a:pt x="0" y="0"/>
                    <a:pt x="0" y="798195"/>
                    <a:pt x="502920" y="53149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350645" y="2656522"/>
              <a:ext cx="95250" cy="78105"/>
            </a:xfrm>
            <a:custGeom>
              <a:avLst/>
              <a:gdLst/>
              <a:ahLst/>
              <a:cxnLst/>
              <a:rect l="l" t="t" r="r" b="b"/>
              <a:pathLst>
                <a:path w="95250" h="78105">
                  <a:moveTo>
                    <a:pt x="95250" y="0"/>
                  </a:moveTo>
                  <a:lnTo>
                    <a:pt x="40005" y="78105"/>
                  </a:lnTo>
                  <a:lnTo>
                    <a:pt x="0" y="285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0580370" y="2125028"/>
              <a:ext cx="520065" cy="798195"/>
            </a:xfrm>
            <a:custGeom>
              <a:avLst/>
              <a:gdLst/>
              <a:ahLst/>
              <a:cxnLst/>
              <a:rect l="l" t="t" r="r" b="b"/>
              <a:pathLst>
                <a:path w="520065" h="798195">
                  <a:moveTo>
                    <a:pt x="0" y="266700"/>
                  </a:moveTo>
                  <a:cubicBezTo>
                    <a:pt x="520065" y="0"/>
                    <a:pt x="520065" y="798195"/>
                    <a:pt x="0" y="53149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0580370" y="2656522"/>
              <a:ext cx="96203" cy="78105"/>
            </a:xfrm>
            <a:custGeom>
              <a:avLst/>
              <a:gdLst/>
              <a:ahLst/>
              <a:cxnLst/>
              <a:rect l="l" t="t" r="r" b="b"/>
              <a:pathLst>
                <a:path w="96203" h="78105">
                  <a:moveTo>
                    <a:pt x="0" y="0"/>
                  </a:moveTo>
                  <a:lnTo>
                    <a:pt x="96203" y="953"/>
                  </a:lnTo>
                  <a:lnTo>
                    <a:pt x="57150" y="7810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445895" y="2228850"/>
              <a:ext cx="1066800" cy="590550"/>
            </a:xfrm>
            <a:prstGeom prst="roundRect">
              <a:avLst>
                <a:gd name="adj" fmla="val 16129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227195" y="2228850"/>
              <a:ext cx="1066800" cy="590550"/>
            </a:xfrm>
            <a:prstGeom prst="roundRect">
              <a:avLst>
                <a:gd name="adj" fmla="val 16129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951345" y="2228850"/>
              <a:ext cx="1181100" cy="590550"/>
            </a:xfrm>
            <a:prstGeom prst="roundRect">
              <a:avLst>
                <a:gd name="adj" fmla="val 16129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399270" y="2228850"/>
              <a:ext cx="1181100" cy="590550"/>
            </a:xfrm>
            <a:prstGeom prst="roundRect">
              <a:avLst>
                <a:gd name="adj" fmla="val 16129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620584" y="24584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强预测发生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01884" y="24584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弱预测发生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12508" y="2458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弱预测不发生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60433" y="2458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强预测不发生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843338" y="3002280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867302" y="3032284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不发生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624638" y="3002280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48602" y="3032284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不发生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127808" y="3002280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51772" y="3032284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不发生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895725" y="1935480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922497" y="196548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发生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677025" y="1935480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03797" y="196548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发生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180195" y="1935480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06967" y="196548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发生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1251" y="248269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发生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049000" y="2482691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不发生</a:t>
              </a:r>
            </a:p>
          </p:txBody>
        </p:sp>
      </p:grpSp>
      <p:grpSp>
        <p:nvGrpSpPr>
          <p:cNvPr id="54" name="c1-kv-2"/>
          <p:cNvGrpSpPr/>
          <p:nvPr/>
        </p:nvGrpSpPr>
        <p:grpSpPr>
          <a:xfrm>
            <a:off x="525780" y="4120515"/>
            <a:ext cx="11132820" cy="1173480"/>
            <a:chOff x="525780" y="4120515"/>
            <a:chExt cx="11132820" cy="1173480"/>
          </a:xfrm>
        </p:grpSpPr>
        <p:sp>
          <p:nvSpPr>
            <p:cNvPr id="46" name="TextBox 46"/>
            <p:cNvSpPr txBox="1"/>
            <p:nvPr/>
          </p:nvSpPr>
          <p:spPr>
            <a:xfrm>
              <a:off x="525780" y="41205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左边两个状态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361248" y="412051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预测这条分支会发生，按目标地址取指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44405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5780" y="456057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右边两个状态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361248" y="4560570"/>
              <a:ext cx="25580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预测不发生，按 PC + 4 取指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488061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5780" y="50006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回到上一题的循环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361248" y="5000625"/>
              <a:ext cx="82035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退出时从强发生退到弱发生，仍然预测发生，下次进入循环第一次就猜对，10 次里只错 1 次</a:t>
              </a:r>
            </a:p>
          </p:txBody>
        </p:sp>
      </p:grpSp>
      <p:grpSp>
        <p:nvGrpSpPr>
          <p:cNvPr id="60" name="c1-callout-3"/>
          <p:cNvGrpSpPr/>
          <p:nvPr/>
        </p:nvGrpSpPr>
        <p:grpSpPr>
          <a:xfrm>
            <a:off x="533400" y="5425440"/>
            <a:ext cx="11125200" cy="937260"/>
            <a:chOff x="533400" y="5425440"/>
            <a:chExt cx="11125200" cy="937260"/>
          </a:xfrm>
        </p:grpSpPr>
        <p:sp>
          <p:nvSpPr>
            <p:cNvPr id="55" name="Rectangle 55"/>
            <p:cNvSpPr/>
            <p:nvPr/>
          </p:nvSpPr>
          <p:spPr>
            <a:xfrm>
              <a:off x="533400" y="5425440"/>
              <a:ext cx="11125200" cy="937260"/>
            </a:xfrm>
            <a:prstGeom prst="roundRect">
              <a:avLst>
                <a:gd name="adj" fmla="val 1219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5794060"/>
              <a:ext cx="200023" cy="200023"/>
              <a:chOff x="738188" y="5794060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57940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58607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130" y="5789295"/>
              <a:ext cx="94251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两位预测位把正确率从 80% 提到 90%，代价只是每项多存一位。这是分支预测里性价比最高的一步改进。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分支预测与异常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预测对了还不够，目标地址也得提前拿到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2005965"/>
            <a:chOff x="533400" y="1524000"/>
            <a:chExt cx="5410200" cy="20059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05965"/>
            </a:xfrm>
            <a:prstGeom prst="roundRect">
              <a:avLst>
                <a:gd name="adj" fmla="val 66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3926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5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分支目标缓存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50720" y="1768792"/>
              <a:ext cx="22625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Branch Target Buffer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42146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PC 索引的一张表，存这条分支上次跳到哪里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46507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取指的同一个周期里查表，命中且预测发生就直接按表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里的目标地址取下一条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1489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08610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于是分支发生时也可以做到零延迟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720465"/>
            <a:ext cx="5410200" cy="1937385"/>
            <a:chOff x="533400" y="3720465"/>
            <a:chExt cx="5410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533400" y="372046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42950" y="3930015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9655" y="396573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为什么单有预测位不够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5330" y="4307205"/>
              <a:ext cx="4625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预测位只回答“跳不跳”，不回答“跳到哪”。目标地址要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 ID 段算完才有，中间那一拍仍然是空的。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524000"/>
            <a:ext cx="5410200" cy="2341245"/>
            <a:chOff x="6248400" y="1524000"/>
            <a:chExt cx="5410200" cy="2341245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2341245"/>
            </a:xfrm>
            <a:prstGeom prst="roundRect">
              <a:avLst>
                <a:gd name="adj" fmla="val 56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57925" y="1657350"/>
              <a:ext cx="47625" cy="20745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96050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6555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分支延迟时间片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07642" y="176879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延迟槽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8843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把分支后面那一拍明确规定为一条照常执行的指令，编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译器负责往里填东西。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501765" y="2813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59880" y="275082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从分支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之前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取一条与分支无关的指令填进去，最稳妥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501765" y="31489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59880" y="308610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目标处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取，适合分支多半发生的情形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501765" y="34842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59880" y="342138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落空处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取，适合分支多半不发生的情形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248400" y="4055745"/>
            <a:ext cx="5410200" cy="1602105"/>
            <a:chOff x="6248400" y="4055745"/>
            <a:chExt cx="5410200" cy="1602105"/>
          </a:xfrm>
        </p:grpSpPr>
        <p:sp>
          <p:nvSpPr>
            <p:cNvPr id="37" name="Rectangle 37"/>
            <p:cNvSpPr/>
            <p:nvPr/>
          </p:nvSpPr>
          <p:spPr>
            <a:xfrm>
              <a:off x="6248400" y="405574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418909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96050" y="426529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65557" y="430101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为什么现在少见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88430" y="4642485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延迟槽把流水线深度写进了指令集。流水线一加深，一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拍延迟槽就不够用，而指令集又不能改，所以后来的处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理器改用动态预测。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分支预测与异常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异常与中断：不在程序里写着，却必须改变控制流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5410200" cy="2924175"/>
            <a:chOff x="533400" y="1524000"/>
            <a:chExt cx="5410200" cy="29241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1805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25446" y="1659731"/>
              <a:ext cx="12679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异常 Exception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81894" y="1659731"/>
              <a:ext cx="12679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中断 Interrupt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由谁引起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39480" y="2108359"/>
              <a:ext cx="7126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内部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95928" y="2108359"/>
              <a:ext cx="12750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 I/O 控制器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6703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典型例子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39480" y="2556986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未定义指令、算术溢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出、系统调用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95928" y="2556986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键盘输入、磁盘完成、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定时器到时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232309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与当前指令的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39480" y="334565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由某条指令直接引发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95928" y="334565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与正在执行的指令无关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680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772852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0209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处理机制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39480" y="3907631"/>
              <a:ext cx="17360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 EPC 与 Cause 后跳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95928" y="402097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与异常相同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410200" cy="29241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826895" y="152400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883342" y="152400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2"/>
          <p:cNvGrpSpPr/>
          <p:nvPr/>
        </p:nvGrpSpPr>
        <p:grpSpPr>
          <a:xfrm>
            <a:off x="533400" y="4638675"/>
            <a:ext cx="5410200" cy="1602105"/>
            <a:chOff x="533400" y="4638675"/>
            <a:chExt cx="5410200" cy="1602105"/>
          </a:xfrm>
        </p:grpSpPr>
        <p:sp>
          <p:nvSpPr>
            <p:cNvPr id="32" name="Rectangle 32"/>
            <p:cNvSpPr/>
            <p:nvPr/>
          </p:nvSpPr>
          <p:spPr>
            <a:xfrm>
              <a:off x="533400" y="463867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477202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81050" y="484822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3359" y="48839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术语提醒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3430" y="5225415"/>
              <a:ext cx="47682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不同指令集对这两个词的划分并不一致。MIPS 把两者统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称为异常，x86 则区分中断与异常，做题时以题面给的定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义为准。</a:t>
              </a:r>
            </a:p>
          </p:txBody>
        </p:sp>
      </p:grpSp>
      <p:grpSp>
        <p:nvGrpSpPr>
          <p:cNvPr id="49" name="c2-kv-1"/>
          <p:cNvGrpSpPr/>
          <p:nvPr/>
        </p:nvGrpSpPr>
        <p:grpSpPr>
          <a:xfrm>
            <a:off x="6240780" y="1548765"/>
            <a:ext cx="5417820" cy="1613535"/>
            <a:chOff x="6240780" y="1548765"/>
            <a:chExt cx="5417820" cy="1613535"/>
          </a:xfrm>
        </p:grpSpPr>
        <p:sp>
          <p:nvSpPr>
            <p:cNvPr id="38" name="TextBox 38"/>
            <p:cNvSpPr txBox="1"/>
            <p:nvPr/>
          </p:nvSpPr>
          <p:spPr>
            <a:xfrm>
              <a:off x="6240780" y="154876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EPC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81862" y="154876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异常程序计数器，保存出错指令的地址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18688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40780" y="1988820"/>
              <a:ext cx="6049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Cause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81862" y="198882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状态寄存器，保存异常原因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23088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40780" y="24288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统一入口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81862" y="2428875"/>
              <a:ext cx="43341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所有异常跳到同一个地址，由软件读 Cause 分派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27489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40780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向量中断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81862" y="286893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不同原因跳到不同入口地址，省去软件判断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248400" y="3293745"/>
            <a:ext cx="5410200" cy="2947035"/>
            <a:chOff x="6248400" y="3293745"/>
            <a:chExt cx="5410200" cy="2947035"/>
          </a:xfrm>
        </p:grpSpPr>
        <p:sp>
          <p:nvSpPr>
            <p:cNvPr id="50" name="Rectangle 50"/>
            <p:cNvSpPr/>
            <p:nvPr/>
          </p:nvSpPr>
          <p:spPr>
            <a:xfrm>
              <a:off x="6248400" y="3293745"/>
              <a:ext cx="5410200" cy="2947035"/>
            </a:xfrm>
            <a:prstGeom prst="roundRect">
              <a:avLst>
                <a:gd name="adj" fmla="val 45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57925" y="3427095"/>
              <a:ext cx="47625" cy="26803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96050" y="35032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86258" y="35390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88430" y="3880485"/>
              <a:ext cx="460438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源课件写“异常处理系统跳转至统一的入口地址 </a:t>
              </a: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8000</a:t>
              </a:r>
              <a:br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00180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”，这是 9 位十六进制数。MIPS 的异常入口是</a:t>
              </a:r>
              <a:br/>
              <a:r>
                <a:rPr lang="en-US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0x8000 0180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，与后一页向量中断表里算术溢出那一项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分支预测与异常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流水线中的异常：当成一次特殊的分支预测错误来处理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4086298" cy="3179730"/>
            <a:chOff x="533400" y="1533525"/>
            <a:chExt cx="4086298" cy="3179730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6031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861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1367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2105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1861661"/>
              <a:ext cx="2260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 $1, $2, $1 在 EX 段溢出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218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保护现场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512219"/>
              <a:ext cx="27096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阻止这条 add 写 $1，防止破坏原值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286893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放行前面的指令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16277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比它早进入流水线的指令照常完成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52044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清除后面的指令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3813334"/>
              <a:ext cx="2916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把已经取进来的后续指令控制信号置 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41709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463891"/>
              <a:ext cx="3673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Cause 和 EPC，然后把 PC 换成异常入口地址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4892040"/>
            <a:ext cx="5626418" cy="1316355"/>
            <a:chOff x="533400" y="4892040"/>
            <a:chExt cx="5626418" cy="1316355"/>
          </a:xfrm>
        </p:grpSpPr>
        <p:sp>
          <p:nvSpPr>
            <p:cNvPr id="29" name="Rectangle 29"/>
            <p:cNvSpPr/>
            <p:nvPr/>
          </p:nvSpPr>
          <p:spPr>
            <a:xfrm>
              <a:off x="533400" y="4892040"/>
              <a:ext cx="5626418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502539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81050" y="510159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5655" y="513730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与分支清除的区别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3430" y="547878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分支猜错只需清掉分支后面已经取进来的指令；异常还要拦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住出错指令自己的写回，并且把 Cause 和 EPC 填对。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464618" y="1524000"/>
            <a:ext cx="5193982" cy="1316355"/>
            <a:chOff x="6464618" y="1524000"/>
            <a:chExt cx="5193982" cy="1316355"/>
          </a:xfrm>
        </p:grpSpPr>
        <p:sp>
          <p:nvSpPr>
            <p:cNvPr id="35" name="Rectangle 35"/>
            <p:cNvSpPr/>
            <p:nvPr/>
          </p:nvSpPr>
          <p:spPr>
            <a:xfrm>
              <a:off x="6464618" y="1524000"/>
              <a:ext cx="5193982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4142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12268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77825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可重新执行的异常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04648" y="211074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流水线先清除出错指令，处理完异常后再从头取一次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这条指令。要做到这一点，EPC 必须精确指向它。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464618" y="3030855"/>
            <a:ext cx="5193982" cy="1316355"/>
            <a:chOff x="6464618" y="3030855"/>
            <a:chExt cx="5193982" cy="1316355"/>
          </a:xfrm>
        </p:grpSpPr>
        <p:sp>
          <p:nvSpPr>
            <p:cNvPr id="41" name="Rectangle 41"/>
            <p:cNvSpPr/>
            <p:nvPr/>
          </p:nvSpPr>
          <p:spPr>
            <a:xfrm>
              <a:off x="6464618" y="3030855"/>
              <a:ext cx="5193982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4142" y="316420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712268" y="3240405"/>
              <a:ext cx="153257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49399" y="3276124"/>
              <a:ext cx="14592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EPC 里存的是 PC + 4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04648" y="3617595"/>
              <a:ext cx="4425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硬件顺手存的是已经加过 4 的值，所以异常处理程序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要先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减去 4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才能得到出错指令的地址。</a:t>
              </a:r>
            </a:p>
          </p:txBody>
        </p:sp>
      </p:grpSp>
      <p:grpSp>
        <p:nvGrpSpPr>
          <p:cNvPr id="51" name="c2-card-3"/>
          <p:cNvGrpSpPr/>
          <p:nvPr/>
        </p:nvGrpSpPr>
        <p:grpSpPr>
          <a:xfrm>
            <a:off x="6464618" y="4537710"/>
            <a:ext cx="5193982" cy="1670685"/>
            <a:chOff x="6464618" y="4537710"/>
            <a:chExt cx="5193982" cy="1670685"/>
          </a:xfrm>
        </p:grpSpPr>
        <p:sp>
          <p:nvSpPr>
            <p:cNvPr id="47" name="Rectangle 47"/>
            <p:cNvSpPr/>
            <p:nvPr/>
          </p:nvSpPr>
          <p:spPr>
            <a:xfrm>
              <a:off x="6464618" y="4537710"/>
              <a:ext cx="5193982" cy="1670685"/>
            </a:xfrm>
            <a:prstGeom prst="roundRect">
              <a:avLst>
                <a:gd name="adj" fmla="val 7982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674168" y="474726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56476" y="47829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精确异常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66548" y="512445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异常发生点之前的指令全部完成、之后的指令全部未生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效，这叫精确异常。一个周期里出现多个异常时，从最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早的那条指令开始处理。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分支预测与异常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精确与非精确：硬件简单和软件简单只能选一个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table-1"/>
          <p:cNvGrpSpPr/>
          <p:nvPr/>
        </p:nvGrpSpPr>
        <p:grpSpPr>
          <a:xfrm>
            <a:off x="533400" y="1524000"/>
            <a:ext cx="5410200" cy="3821430"/>
            <a:chOff x="533400" y="1524000"/>
            <a:chExt cx="5410200" cy="38214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998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7881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精确异常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8622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非精确异常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处理程序看到的状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64283" y="222170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干净，一眼能判断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12146" y="22217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要自己排查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出错指令之前的指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64283" y="28970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全部完成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12146" y="289702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不保证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459004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出错指令之后的指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64283" y="357235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全部未生效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12146" y="357235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不保证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947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999548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13432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64283" y="413432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要能按序清除和提交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12146" y="413432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只需停下并保存状态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4434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5839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64283" y="45839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12146" y="45839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8920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89680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503253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乱序多发射流水线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264283" y="50325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113848" y="4906328"/>
              <a:ext cx="182022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212146" y="50325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基本不可行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5410200" cy="38214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151698" y="1524000"/>
              <a:ext cx="9525" cy="38214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099560" y="1524000"/>
              <a:ext cx="9525" cy="38214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2-card-1"/>
          <p:cNvGrpSpPr/>
          <p:nvPr/>
        </p:nvGrpSpPr>
        <p:grpSpPr>
          <a:xfrm>
            <a:off x="6248400" y="1524000"/>
            <a:ext cx="5410200" cy="1602105"/>
            <a:chOff x="6248400" y="1524000"/>
            <a:chExt cx="5410200" cy="1602105"/>
          </a:xfrm>
        </p:grpSpPr>
        <p:sp>
          <p:nvSpPr>
            <p:cNvPr id="42" name="Rectangle 42"/>
            <p:cNvSpPr/>
            <p:nvPr/>
          </p:nvSpPr>
          <p:spPr>
            <a:xfrm>
              <a:off x="6248400" y="1524000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579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442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难在哪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50330" y="2110740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深流水线一个周期里有多条指令在跑，可能同时有几条出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异常，而且完成时间是乱序的。要保持“看上去按程序顺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序执行”，必须有重排序缓冲这类机构兜底。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248400" y="3316605"/>
            <a:ext cx="5410200" cy="1602105"/>
            <a:chOff x="6248400" y="3316605"/>
            <a:chExt cx="5410200" cy="1602105"/>
          </a:xfrm>
        </p:grpSpPr>
        <p:sp>
          <p:nvSpPr>
            <p:cNvPr id="47" name="Rectangle 47"/>
            <p:cNvSpPr/>
            <p:nvPr/>
          </p:nvSpPr>
          <p:spPr>
            <a:xfrm>
              <a:off x="6248400" y="331660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7925" y="344995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96050" y="352615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60655" y="356187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与分支的共用硬件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88430" y="3903345"/>
              <a:ext cx="46348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清除流水线、把控制信号置 0、改写 PC，这三件事和分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支预测错误的恢复完全一样，所以异常处理复用了同一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套清除逻辑。</a:t>
              </a:r>
            </a:p>
          </p:txBody>
        </p:sp>
      </p:grpSp>
      <p:grpSp>
        <p:nvGrpSpPr>
          <p:cNvPr id="59" name="c2-callout-3"/>
          <p:cNvGrpSpPr/>
          <p:nvPr/>
        </p:nvGrpSpPr>
        <p:grpSpPr>
          <a:xfrm>
            <a:off x="6248400" y="5109210"/>
            <a:ext cx="5410200" cy="533400"/>
            <a:chOff x="6248400" y="5109210"/>
            <a:chExt cx="5410200" cy="533400"/>
          </a:xfrm>
        </p:grpSpPr>
        <p:sp>
          <p:nvSpPr>
            <p:cNvPr id="53" name="Rectangle 53"/>
            <p:cNvSpPr/>
            <p:nvPr/>
          </p:nvSpPr>
          <p:spPr>
            <a:xfrm>
              <a:off x="6248400" y="5109210"/>
              <a:ext cx="5410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453188" y="5275898"/>
              <a:ext cx="200026" cy="200025"/>
              <a:chOff x="6453188" y="5275898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453188" y="52758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492926" y="53203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527642" y="54314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755130" y="527113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判断题常考：异常属于控制冒险的一种形式。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398264" cy="2997517"/>
            <a:chOff x="667512" y="1835468"/>
            <a:chExt cx="439826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第七部分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多发射与指令级并行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9363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一个周期发出多条指令，CPI 才能小于 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749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静态多发射与 VLIW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动态多发射与推测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真实流水线的样子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53223" cy="909257"/>
            <a:chOff x="520446" y="342900"/>
            <a:chExt cx="76532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多发射与指令级并行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532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提高 ILP 的两条路：流水线更深，或者一次发多条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09675"/>
            <a:chOff x="533400" y="1524000"/>
            <a:chExt cx="5410200" cy="1209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3343" y="175069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加深流水线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每段做的事更少，时钟周期更短。代价是分支惩罚和冒险窗口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都变长，寄存器和功耗都增加。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08935"/>
            <a:ext cx="5410200" cy="1209675"/>
            <a:chOff x="533400" y="2908935"/>
            <a:chExt cx="5410200" cy="1209675"/>
          </a:xfrm>
        </p:grpSpPr>
        <p:sp>
          <p:nvSpPr>
            <p:cNvPr id="13" name="Rectangle 13"/>
            <p:cNvSpPr/>
            <p:nvPr/>
          </p:nvSpPr>
          <p:spPr>
            <a:xfrm>
              <a:off x="533400" y="2908935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042285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" y="310134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1344" y="313563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多发射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3457575"/>
              <a:ext cx="47371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复制流水线的各段，一个周期发出多条指令。CPI 可以小于 1，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这时改用 IPC 来描述。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formula13"/>
              <p:cNvSpPr txBox="1">
                <a:spLocks noGrp="1"/>
              </p:cNvSpPr>
              <p:nvPr/>
            </p:nvSpPr>
            <p:spPr>
              <a:xfrm>
                <a:off x="533400" y="4292918"/>
                <a:ext cx="5410200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IPC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 m:val="on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CPI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7" name="c1-card-4"/>
          <p:cNvGrpSpPr/>
          <p:nvPr/>
        </p:nvGrpSpPr>
        <p:grpSpPr>
          <a:xfrm>
            <a:off x="533400" y="5033962"/>
            <a:ext cx="5410200" cy="1254442"/>
            <a:chOff x="533400" y="5033962"/>
            <a:chExt cx="5410200" cy="1254442"/>
          </a:xfrm>
        </p:grpSpPr>
        <p:sp>
          <p:nvSpPr>
            <p:cNvPr id="20" name="Rectangle 20"/>
            <p:cNvSpPr/>
            <p:nvPr/>
          </p:nvSpPr>
          <p:spPr>
            <a:xfrm>
              <a:off x="533400" y="503396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25805" y="5226368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93242" y="526065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两条路都有天花板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34378" y="563880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90397" y="5582602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加深：每多一段，分支猜错就多清一条指令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34378" y="594169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90397" y="588549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加宽：能找出的无关指令有限，发射槽常空着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248400" y="1524000"/>
            <a:ext cx="5410200" cy="1831658"/>
            <a:chOff x="6248400" y="1524000"/>
            <a:chExt cx="5410200" cy="1831658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1657350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8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70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62597" y="1756410"/>
              <a:ext cx="22415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GHz 的 4 路多发射处理器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78905" y="207835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34583" y="21167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59702" y="2090738"/>
              <a:ext cx="44965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峰值速率 = 4 × 10⁹ × 4 = 16 × 10⁹ 条/s，即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16 BIPS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78905" y="238029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34583" y="24196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59702" y="2392680"/>
              <a:ext cx="32644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峰值 IPC = 4，峰值 CPI = 1/4 = 0.25。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78905" y="268319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34583" y="272157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59702" y="2695575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实际达不到：指令间的相关性、访存延迟和分支都会让发射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槽空着。</a:t>
              </a:r>
            </a:p>
          </p:txBody>
        </p:sp>
      </p:grpSp>
      <p:grpSp>
        <p:nvGrpSpPr>
          <p:cNvPr id="63" name="c2-compare-2"/>
          <p:cNvGrpSpPr/>
          <p:nvPr/>
        </p:nvGrpSpPr>
        <p:grpSpPr>
          <a:xfrm>
            <a:off x="6248400" y="3530918"/>
            <a:ext cx="5410200" cy="2757488"/>
            <a:chOff x="6248400" y="3530918"/>
            <a:chExt cx="5410200" cy="2757488"/>
          </a:xfrm>
        </p:grpSpPr>
        <p:sp>
          <p:nvSpPr>
            <p:cNvPr id="43" name="Rectangle 43"/>
            <p:cNvSpPr/>
            <p:nvPr/>
          </p:nvSpPr>
          <p:spPr>
            <a:xfrm>
              <a:off x="6248400" y="3530918"/>
              <a:ext cx="2495550" cy="2757488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57925" y="3664268"/>
              <a:ext cx="47625" cy="24907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72047" y="374523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静态多发射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87478" y="412146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43497" y="406527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编译器分组打包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87478" y="442436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43497" y="436816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编译器负责避开冒险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87478" y="472630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43497" y="467010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硬件简单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163050" y="3530918"/>
              <a:ext cx="2495550" cy="2757488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9172575" y="3664268"/>
              <a:ext cx="47625" cy="249078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386697" y="374523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动态多发射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9402128" y="412146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558147" y="4065270"/>
              <a:ext cx="1478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每周期挑指令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9402128" y="442436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558147" y="436816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硬件消除部分冒险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9402128" y="472630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558147" y="467010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编译器调度仍有帮助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8791575" y="474821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868046" y="484870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51669" cy="909257"/>
            <a:chOff x="520446" y="342900"/>
            <a:chExt cx="76516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多发射与指令级并行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516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静态双发射：一条 ALU 或分支，配一条访存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1925002"/>
            <a:chOff x="533400" y="1524000"/>
            <a:chExt cx="5410200" cy="19250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25002"/>
            </a:xfrm>
            <a:prstGeom prst="roundRect">
              <a:avLst>
                <a:gd name="adj" fmla="val 69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5830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8792" y="176355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发射包的规矩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2955" y="216122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9546" y="2100739"/>
              <a:ext cx="26333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一个包 64 位对齐，装两条指令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48126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420779"/>
              <a:ext cx="44068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前一条是 ALU 运算或分支，后一条是 load 或 store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280130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2740819"/>
              <a:ext cx="23561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配不出第二条时用 </a:t>
              </a:r>
              <a:r>
                <a:rPr lang="en-US" sz="14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nop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占位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9239" y="3057525"/>
              <a:ext cx="40355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一个发射包可以看成一条超长指令，这就是 VLIW 的思路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633788"/>
            <a:ext cx="5410200" cy="2684145"/>
            <a:chOff x="533400" y="3633788"/>
            <a:chExt cx="5410200" cy="2684145"/>
          </a:xfrm>
        </p:grpSpPr>
        <p:sp>
          <p:nvSpPr>
            <p:cNvPr id="19" name="Rectangle 19"/>
            <p:cNvSpPr/>
            <p:nvPr/>
          </p:nvSpPr>
          <p:spPr>
            <a:xfrm>
              <a:off x="533400" y="3633788"/>
              <a:ext cx="5410200" cy="2684145"/>
            </a:xfrm>
            <a:prstGeom prst="roundRect">
              <a:avLst>
                <a:gd name="adj" fmla="val 49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767138"/>
              <a:ext cx="47625" cy="24174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75335" y="3837622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8792" y="387334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新出现的限制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8096" y="4210526"/>
              <a:ext cx="465823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同一个包里的 load/store 不能用同一包中 ALU 指令的结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果。</a:t>
              </a:r>
              <a:r>
                <a:rPr lang="en-US" sz="14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add $t0,$s0,$s1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后面紧跟 </a:t>
              </a:r>
              <a:r>
                <a:rPr lang="en-US" sz="14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lw $s2,0($t0)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必须拆成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两个包。</a:t>
              </a:r>
            </a:p>
          </p:txBody>
        </p:sp>
      </p:grpSp>
      <p:grpSp>
        <p:nvGrpSpPr>
          <p:cNvPr id="28" name="c2-code-1"/>
          <p:cNvGrpSpPr/>
          <p:nvPr/>
        </p:nvGrpSpPr>
        <p:grpSpPr>
          <a:xfrm>
            <a:off x="6248400" y="1524000"/>
            <a:ext cx="5410200" cy="1516380"/>
            <a:chOff x="6248400" y="1524000"/>
            <a:chExt cx="5410200" cy="151638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76797" y="16759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待调度的循环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76035" y="1937861"/>
              <a:ext cx="2123694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Loop: lw   $t0, 0($s1)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addu $t0, $t0, $s2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sw   $t0, 0($s1)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addi $s1, $s1, -4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bne  $s1, $zero, Loop</a:t>
              </a:r>
            </a:p>
          </p:txBody>
        </p:sp>
      </p:grpSp>
      <p:grpSp>
        <p:nvGrpSpPr>
          <p:cNvPr id="53" name="c2-table-2"/>
          <p:cNvGrpSpPr/>
          <p:nvPr/>
        </p:nvGrpSpPr>
        <p:grpSpPr>
          <a:xfrm>
            <a:off x="6248400" y="3226118"/>
            <a:ext cx="5410200" cy="2150745"/>
            <a:chOff x="6248400" y="3226118"/>
            <a:chExt cx="5410200" cy="2150745"/>
          </a:xfrm>
        </p:grpSpPr>
        <p:sp>
          <p:nvSpPr>
            <p:cNvPr id="29" name="Rectangle 29"/>
            <p:cNvSpPr/>
            <p:nvPr/>
          </p:nvSpPr>
          <p:spPr>
            <a:xfrm>
              <a:off x="6248400" y="3226118"/>
              <a:ext cx="5410200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05562" y="33566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22893" y="3356610"/>
              <a:ext cx="7295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ALU/分支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00335" y="33566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20461" y="37871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03352" y="378714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nop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83649" y="378714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 $t0, 0($s1)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40814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48400" y="408622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20461" y="421767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03352" y="4217670"/>
              <a:ext cx="13610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addi $s1, $s1, -4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83649" y="421767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nop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45110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20461" y="464724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03352" y="4647248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addu $t0, $t0, $s2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83649" y="4647248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nop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49415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48400" y="4946332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20461" y="507777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03352" y="5077778"/>
              <a:ext cx="16758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bne $s1, $zero, Loop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83649" y="5077778"/>
              <a:ext cx="12076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 $t0, 4($s1)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3226118"/>
              <a:ext cx="541020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93242" y="3226118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273540" y="3226118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2-callout-3"/>
          <p:cNvGrpSpPr/>
          <p:nvPr/>
        </p:nvGrpSpPr>
        <p:grpSpPr>
          <a:xfrm>
            <a:off x="6248400" y="5561648"/>
            <a:ext cx="5410200" cy="756285"/>
            <a:chOff x="6248400" y="5561648"/>
            <a:chExt cx="5410200" cy="756285"/>
          </a:xfrm>
        </p:grpSpPr>
        <p:sp>
          <p:nvSpPr>
            <p:cNvPr id="54" name="Rectangle 54"/>
            <p:cNvSpPr/>
            <p:nvPr/>
          </p:nvSpPr>
          <p:spPr>
            <a:xfrm>
              <a:off x="6248400" y="5561648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453188" y="5839780"/>
              <a:ext cx="200023" cy="200023"/>
              <a:chOff x="6453188" y="5839780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453188" y="583978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586538" y="59064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755511" y="5708809"/>
              <a:ext cx="446887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 条指令占 4 个周期，IPC = 5/4 = 1.25，离峰值 2 还差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不少。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多发射与指令级并行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循环展开：把四趟循环合成一趟，空槽被填满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0" name="c1-table-1"/>
          <p:cNvGrpSpPr/>
          <p:nvPr/>
        </p:nvGrpSpPr>
        <p:grpSpPr>
          <a:xfrm>
            <a:off x="533400" y="1524000"/>
            <a:ext cx="5842635" cy="3432810"/>
            <a:chOff x="533400" y="1524000"/>
            <a:chExt cx="5842635" cy="34328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913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42073" y="1641157"/>
              <a:ext cx="6383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ALU/分支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4442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9668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11961" y="2023110"/>
              <a:ext cx="1268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addi $s1, $s1, -16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99916" y="2023110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 $t0, 0($s1)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79668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11961" y="24041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99916" y="2404110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 $t1, 12($s1)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9668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11961" y="2785110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addu $t0, $t0, $s2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99916" y="2785110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 $t2, 8($s1)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79668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11961" y="316706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addu $t1, $t1, $s2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99916" y="3167062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 $t3, 4($s1)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9668" y="3548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11961" y="354806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addu $t2, $t2, $s2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99916" y="3548062"/>
              <a:ext cx="11344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 $t0, 16($s1)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807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811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9668" y="3930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26808" y="3821430"/>
              <a:ext cx="266890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211961" y="3930015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addu $t3, $t3, $s2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899916" y="3930015"/>
              <a:ext cx="11344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 $t1, 12($s1)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1890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79668" y="4311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11961" y="431101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nop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899916" y="4311015"/>
              <a:ext cx="10566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 $t2, 8($s1)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5700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4574858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79668" y="4692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11961" y="4692015"/>
              <a:ext cx="14663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bne $s1, $zero, Loop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899916" y="4692015"/>
              <a:ext cx="10566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 $t3, 4($s1)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1524000"/>
              <a:ext cx="5842635" cy="3432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112520" y="1524000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3800475" y="1524000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1-card-2"/>
          <p:cNvGrpSpPr/>
          <p:nvPr/>
        </p:nvGrpSpPr>
        <p:grpSpPr>
          <a:xfrm>
            <a:off x="533400" y="5121592"/>
            <a:ext cx="5842635" cy="1143952"/>
            <a:chOff x="533400" y="5121592"/>
            <a:chExt cx="5842635" cy="1143952"/>
          </a:xfrm>
        </p:grpSpPr>
        <p:sp>
          <p:nvSpPr>
            <p:cNvPr id="51" name="Rectangle 51"/>
            <p:cNvSpPr/>
            <p:nvPr/>
          </p:nvSpPr>
          <p:spPr>
            <a:xfrm>
              <a:off x="533400" y="5121592"/>
              <a:ext cx="584263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542925" y="5254942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52475" y="530256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29894" y="533542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偏移量对不对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5998" y="5642134"/>
              <a:ext cx="51823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周期的 lw 用旧的 $s1，之后各条用已经减了 16 的 $s1，所以 12、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8、4 这三个偏移量刚好对应原来的 −4、−8、−12 三个单元。</a:t>
              </a:r>
            </a:p>
          </p:txBody>
        </p:sp>
      </p:grpSp>
      <p:grpSp>
        <p:nvGrpSpPr>
          <p:cNvPr id="61" name="c2-card-1"/>
          <p:cNvGrpSpPr/>
          <p:nvPr/>
        </p:nvGrpSpPr>
        <p:grpSpPr>
          <a:xfrm>
            <a:off x="6680835" y="1524000"/>
            <a:ext cx="4977765" cy="1143952"/>
            <a:chOff x="6680835" y="1524000"/>
            <a:chExt cx="4977765" cy="1143952"/>
          </a:xfrm>
        </p:grpSpPr>
        <p:sp>
          <p:nvSpPr>
            <p:cNvPr id="57" name="Rectangle 57"/>
            <p:cNvSpPr/>
            <p:nvPr/>
          </p:nvSpPr>
          <p:spPr>
            <a:xfrm>
              <a:off x="6680835" y="1524000"/>
              <a:ext cx="4977765" cy="1143952"/>
            </a:xfrm>
            <a:prstGeom prst="roundRect">
              <a:avLst>
                <a:gd name="adj" fmla="val 1165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861810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54482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复核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55333" y="2045494"/>
              <a:ext cx="44345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有效指令 14 条（6 条 ALU/分支 + 8 条访存），占 8 个周期，</a:t>
              </a:r>
              <a:br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IPC = 14/8 =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1.75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。不展开时 4 趟要 16 个周期。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680835" y="2832735"/>
            <a:ext cx="4977765" cy="1386840"/>
            <a:chOff x="6680835" y="2832735"/>
            <a:chExt cx="4977765" cy="1386840"/>
          </a:xfrm>
        </p:grpSpPr>
        <p:sp>
          <p:nvSpPr>
            <p:cNvPr id="62" name="Rectangle 62"/>
            <p:cNvSpPr/>
            <p:nvPr/>
          </p:nvSpPr>
          <p:spPr>
            <a:xfrm>
              <a:off x="6680835" y="2832735"/>
              <a:ext cx="4977765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690360" y="2966085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899910" y="301371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992582" y="304657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893433" y="3354229"/>
              <a:ext cx="4289501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源课件第 6 周期写作 </a:t>
              </a:r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addu $t3, $t4, $s2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，但 $t4 在这段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代码里从未被赋值。应为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addu $t3, $t3, $s2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，与前三条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addu 的写法一致。</a:t>
              </a:r>
            </a:p>
          </p:txBody>
        </p:sp>
      </p:grpSp>
      <p:grpSp>
        <p:nvGrpSpPr>
          <p:cNvPr id="73" name="c2-card-3"/>
          <p:cNvGrpSpPr/>
          <p:nvPr/>
        </p:nvGrpSpPr>
        <p:grpSpPr>
          <a:xfrm>
            <a:off x="6680835" y="4384358"/>
            <a:ext cx="4977765" cy="1880235"/>
            <a:chOff x="6680835" y="4384358"/>
            <a:chExt cx="4977765" cy="1880235"/>
          </a:xfrm>
        </p:grpSpPr>
        <p:sp>
          <p:nvSpPr>
            <p:cNvPr id="68" name="Rectangle 68"/>
            <p:cNvSpPr/>
            <p:nvPr/>
          </p:nvSpPr>
          <p:spPr>
            <a:xfrm>
              <a:off x="6680835" y="4384358"/>
              <a:ext cx="4977765" cy="1880235"/>
            </a:xfrm>
            <a:prstGeom prst="roundRect">
              <a:avLst>
                <a:gd name="adj" fmla="val 70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690360" y="4517708"/>
              <a:ext cx="47625" cy="16135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899910" y="456533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992582" y="459819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893433" y="4905851"/>
              <a:ext cx="44020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每份副本要用不同的寄存器，这叫寄存器重命名，目的是避开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store 后紧跟 load 复用同名寄存器造成的反相关。代价是占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用更多寄存器，代码也变长。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多发射与指令级并行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动态多发射：硬件自己乱序执行，按序提交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flow-1"/>
          <p:cNvGrpSpPr/>
          <p:nvPr/>
        </p:nvGrpSpPr>
        <p:grpSpPr>
          <a:xfrm>
            <a:off x="730568" y="1815465"/>
            <a:ext cx="5232082" cy="4256722"/>
            <a:chOff x="730568" y="1815465"/>
            <a:chExt cx="5232082" cy="4256722"/>
          </a:xfrm>
        </p:grpSpPr>
        <p:sp>
          <p:nvSpPr>
            <p:cNvPr id="7" name="Freeform 7"/>
            <p:cNvSpPr/>
            <p:nvPr/>
          </p:nvSpPr>
          <p:spPr>
            <a:xfrm>
              <a:off x="1940242" y="2200275"/>
              <a:ext cx="1406842" cy="381953"/>
            </a:xfrm>
            <a:custGeom>
              <a:avLst/>
              <a:gdLst/>
              <a:ahLst/>
              <a:cxnLst/>
              <a:rect l="l" t="t" r="r" b="b"/>
              <a:pathLst>
                <a:path w="1406842" h="381953">
                  <a:moveTo>
                    <a:pt x="1406842" y="0"/>
                  </a:moveTo>
                  <a:lnTo>
                    <a:pt x="1406842" y="243840"/>
                  </a:lnTo>
                  <a:lnTo>
                    <a:pt x="0" y="243840"/>
                  </a:lnTo>
                  <a:lnTo>
                    <a:pt x="0" y="38195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887855" y="25822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347085" y="2200275"/>
              <a:ext cx="1405890" cy="381953"/>
            </a:xfrm>
            <a:custGeom>
              <a:avLst/>
              <a:gdLst/>
              <a:ahLst/>
              <a:cxnLst/>
              <a:rect l="l" t="t" r="r" b="b"/>
              <a:pathLst>
                <a:path w="1405890" h="381953">
                  <a:moveTo>
                    <a:pt x="0" y="0"/>
                  </a:moveTo>
                  <a:lnTo>
                    <a:pt x="0" y="243840"/>
                  </a:lnTo>
                  <a:lnTo>
                    <a:pt x="1405890" y="243840"/>
                  </a:lnTo>
                  <a:lnTo>
                    <a:pt x="1405890" y="38195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700588" y="25822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940242" y="3264218"/>
              <a:ext cx="1406842" cy="285750"/>
            </a:xfrm>
            <a:custGeom>
              <a:avLst/>
              <a:gdLst/>
              <a:ahLst/>
              <a:cxnLst/>
              <a:rect l="l" t="t" r="r" b="b"/>
              <a:pathLst>
                <a:path w="1406842" h="285750">
                  <a:moveTo>
                    <a:pt x="0" y="0"/>
                  </a:moveTo>
                  <a:lnTo>
                    <a:pt x="0" y="195262"/>
                  </a:lnTo>
                  <a:lnTo>
                    <a:pt x="1406842" y="195262"/>
                  </a:lnTo>
                  <a:lnTo>
                    <a:pt x="1406842" y="285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294698" y="35499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347085" y="3264218"/>
              <a:ext cx="1405890" cy="285750"/>
            </a:xfrm>
            <a:custGeom>
              <a:avLst/>
              <a:gdLst/>
              <a:ahLst/>
              <a:cxnLst/>
              <a:rect l="l" t="t" r="r" b="b"/>
              <a:pathLst>
                <a:path w="1405890" h="285750">
                  <a:moveTo>
                    <a:pt x="1405890" y="0"/>
                  </a:moveTo>
                  <a:lnTo>
                    <a:pt x="1405890" y="195262"/>
                  </a:lnTo>
                  <a:lnTo>
                    <a:pt x="0" y="195262"/>
                  </a:lnTo>
                  <a:lnTo>
                    <a:pt x="0" y="285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294698" y="35499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347085" y="4231958"/>
              <a:ext cx="9525" cy="381952"/>
            </a:xfrm>
            <a:custGeom>
              <a:avLst/>
              <a:gdLst/>
              <a:ahLst/>
              <a:cxnLst/>
              <a:rect l="l" t="t" r="r" b="b"/>
              <a:pathLst>
                <a:path w="9525" h="381952">
                  <a:moveTo>
                    <a:pt x="0" y="0"/>
                  </a:moveTo>
                  <a:lnTo>
                    <a:pt x="0" y="3819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294698" y="46139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347085" y="5103495"/>
              <a:ext cx="9525" cy="478155"/>
            </a:xfrm>
            <a:custGeom>
              <a:avLst/>
              <a:gdLst/>
              <a:ahLst/>
              <a:cxnLst/>
              <a:rect l="l" t="t" r="r" b="b"/>
              <a:pathLst>
                <a:path w="9525" h="478155">
                  <a:moveTo>
                    <a:pt x="0" y="0"/>
                  </a:moveTo>
                  <a:lnTo>
                    <a:pt x="0" y="4781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294698" y="55816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27735" y="1815465"/>
              <a:ext cx="4838700" cy="385762"/>
            </a:xfrm>
            <a:prstGeom prst="roundRect">
              <a:avLst>
                <a:gd name="adj" fmla="val 4987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0568" y="2687002"/>
              <a:ext cx="2419350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543300" y="2687002"/>
              <a:ext cx="2419350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927735" y="3654742"/>
              <a:ext cx="4838700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927735" y="4718685"/>
              <a:ext cx="4838700" cy="385762"/>
            </a:xfrm>
            <a:prstGeom prst="roundRect">
              <a:avLst>
                <a:gd name="adj" fmla="val 24691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927735" y="5686425"/>
              <a:ext cx="4838700" cy="385762"/>
            </a:xfrm>
            <a:prstGeom prst="roundRect">
              <a:avLst>
                <a:gd name="adj" fmla="val 4987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964434" y="192928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取指与译码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50047" y="2800826"/>
              <a:ext cx="58039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保留站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（整数）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62780" y="2800826"/>
              <a:ext cx="58039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保留站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（访存）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56890" y="3768566"/>
              <a:ext cx="58039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功能部件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乱序执行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964434" y="483250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重排序缓冲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13660" y="580024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按序写回寄存器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464618" y="1524000"/>
            <a:ext cx="5193982" cy="1443038"/>
            <a:chOff x="6464618" y="1524000"/>
            <a:chExt cx="5193982" cy="1443038"/>
          </a:xfrm>
        </p:grpSpPr>
        <p:sp>
          <p:nvSpPr>
            <p:cNvPr id="32" name="Rectangle 32"/>
            <p:cNvSpPr/>
            <p:nvPr/>
          </p:nvSpPr>
          <p:spPr>
            <a:xfrm>
              <a:off x="6464618" y="1524000"/>
              <a:ext cx="5193982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4142" y="1657350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89408" y="171069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66827" y="174355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为什么能乱序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82549" y="2054542"/>
              <a:ext cx="460000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lw $t0, 20($s2)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后面的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addu $t1, $t0, $t2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要等数据，但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再后面的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sub $s4, $s4, $t3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与它们无关，可以先算。结果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按原顺序提交，程序看不出乱序。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464618" y="3136582"/>
            <a:ext cx="5193982" cy="1785938"/>
            <a:chOff x="6464618" y="3136582"/>
            <a:chExt cx="5193982" cy="1785938"/>
          </a:xfrm>
        </p:grpSpPr>
        <p:sp>
          <p:nvSpPr>
            <p:cNvPr id="38" name="Rectangle 38"/>
            <p:cNvSpPr/>
            <p:nvPr/>
          </p:nvSpPr>
          <p:spPr>
            <a:xfrm>
              <a:off x="6464618" y="3136582"/>
              <a:ext cx="5193982" cy="1785938"/>
            </a:xfrm>
            <a:prstGeom prst="roundRect">
              <a:avLst>
                <a:gd name="adj" fmla="val 746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51308" y="3323272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17525" y="335613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保留站与重排序缓冲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659880" y="372427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15899" y="3668077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保留站存住挂起的操作和已经到手的操作数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59880" y="402431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15899" y="3968115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操作数可用时立刻复制进保留站，寄存器堆里那份就可以被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覆盖，这就实现了寄存器重命名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659880" y="458152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15899" y="452532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重排序缓冲保证提交顺序与程序顺序一致</a:t>
              </a:r>
            </a:p>
          </p:txBody>
        </p:sp>
      </p:grpSp>
      <p:grpSp>
        <p:nvGrpSpPr>
          <p:cNvPr id="53" name="c2-card-3"/>
          <p:cNvGrpSpPr/>
          <p:nvPr/>
        </p:nvGrpSpPr>
        <p:grpSpPr>
          <a:xfrm>
            <a:off x="6464618" y="5093018"/>
            <a:ext cx="5193982" cy="1185862"/>
            <a:chOff x="6464618" y="5093018"/>
            <a:chExt cx="5193982" cy="1185862"/>
          </a:xfrm>
        </p:grpSpPr>
        <p:sp>
          <p:nvSpPr>
            <p:cNvPr id="48" name="Rectangle 48"/>
            <p:cNvSpPr/>
            <p:nvPr/>
          </p:nvSpPr>
          <p:spPr>
            <a:xfrm>
              <a:off x="6464618" y="5093018"/>
              <a:ext cx="5193982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74142" y="5226368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89408" y="5279708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52527" y="531256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为什么不全交给编译器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82549" y="5623560"/>
              <a:ext cx="44799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缺失这类停顿编译期无法预知，分支结果也要运行时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才知道，而同一个指令集的不同实现延迟还不一样。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 · 多发射与指令级并行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真实的流水线：更深、更宽，也更耗电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table-1"/>
          <p:cNvGrpSpPr/>
          <p:nvPr/>
        </p:nvGrpSpPr>
        <p:grpSpPr>
          <a:xfrm>
            <a:off x="533400" y="1524000"/>
            <a:ext cx="6059805" cy="3432810"/>
            <a:chOff x="533400" y="1524000"/>
            <a:chExt cx="6059805" cy="34328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9540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64723" y="1641157"/>
              <a:ext cx="10942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ARM Cortex-A8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37648" y="1641157"/>
              <a:ext cx="1188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Intel Core i7 920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23819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移动设备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73408" y="2023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服务器与云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87039" y="2404110"/>
              <a:ext cx="2496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W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25161" y="2404110"/>
              <a:ext cx="4139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130 W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63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785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23165" y="2785110"/>
              <a:ext cx="377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GHz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22415" y="2785110"/>
              <a:ext cx="619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2.66 GHz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045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049905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167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67649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87914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426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54806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每周期峰值指令数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367649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87914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807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811905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393001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流水线段数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328778" y="3930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49043" y="3930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1890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078" y="43110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调度方式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123819" y="43110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静态按序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32058" y="431101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动态乱序加推测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5700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574858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8078" y="46920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分支预测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265170" y="46920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两级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385435" y="46920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两级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524000"/>
              <a:ext cx="6059805" cy="3432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2346008" y="1524000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467225" y="1524000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1-card-2"/>
          <p:cNvGrpSpPr/>
          <p:nvPr/>
        </p:nvGrpSpPr>
        <p:grpSpPr>
          <a:xfrm>
            <a:off x="533400" y="5121592"/>
            <a:ext cx="6059805" cy="1143952"/>
            <a:chOff x="533400" y="5121592"/>
            <a:chExt cx="6059805" cy="1143952"/>
          </a:xfrm>
        </p:grpSpPr>
        <p:sp>
          <p:nvSpPr>
            <p:cNvPr id="50" name="Rectangle 50"/>
            <p:cNvSpPr/>
            <p:nvPr/>
          </p:nvSpPr>
          <p:spPr>
            <a:xfrm>
              <a:off x="533400" y="5121592"/>
              <a:ext cx="605980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42925" y="5254942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52475" y="530256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29894" y="533542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两者的共同点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5998" y="5642134"/>
              <a:ext cx="54424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段数都是 14，分支预测都是两级。真正拉开差距的是发射宽度、调度方式和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核数，而这三项都要用功耗去换。</a:t>
              </a:r>
            </a:p>
          </p:txBody>
        </p:sp>
      </p:grpSp>
      <p:grpSp>
        <p:nvGrpSpPr>
          <p:cNvPr id="60" name="c2-card-1"/>
          <p:cNvGrpSpPr/>
          <p:nvPr/>
        </p:nvGrpSpPr>
        <p:grpSpPr>
          <a:xfrm>
            <a:off x="6898005" y="1524000"/>
            <a:ext cx="4760595" cy="1386840"/>
            <a:chOff x="6898005" y="1524000"/>
            <a:chExt cx="4760595" cy="1386840"/>
          </a:xfrm>
        </p:grpSpPr>
        <p:sp>
          <p:nvSpPr>
            <p:cNvPr id="56" name="Rectangle 56"/>
            <p:cNvSpPr/>
            <p:nvPr/>
          </p:nvSpPr>
          <p:spPr>
            <a:xfrm>
              <a:off x="6898005" y="1524000"/>
              <a:ext cx="4760595" cy="1386840"/>
            </a:xfrm>
            <a:prstGeom prst="roundRect">
              <a:avLst>
                <a:gd name="adj" fmla="val 961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078980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163549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功耗效率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72503" y="2045494"/>
              <a:ext cx="419074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 i486 的 5 W、5 段流水线，到 P4 Prescott 的 103 W、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31 段流水线，性能的提升远跟不上功耗的增长。复杂的动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态调度和推测要为此付出大量电力。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6898005" y="3075622"/>
            <a:ext cx="4760595" cy="1143952"/>
            <a:chOff x="6898005" y="3075622"/>
            <a:chExt cx="4760595" cy="1143952"/>
          </a:xfrm>
        </p:grpSpPr>
        <p:sp>
          <p:nvSpPr>
            <p:cNvPr id="61" name="Rectangle 61"/>
            <p:cNvSpPr/>
            <p:nvPr/>
          </p:nvSpPr>
          <p:spPr>
            <a:xfrm>
              <a:off x="6898005" y="3075622"/>
              <a:ext cx="476059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907530" y="3208972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117080" y="325659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97598" y="328945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后来的转向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110603" y="3597116"/>
              <a:ext cx="41744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Core 系列把段数从 31 降回 14，改为增加核数。用多个简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单核代替一个极复杂的核，是 2006 年之后的主流选择。</a:t>
              </a:r>
            </a:p>
          </p:txBody>
        </p:sp>
      </p:grpSp>
      <p:grpSp>
        <p:nvGrpSpPr>
          <p:cNvPr id="75" name="c2-card-3"/>
          <p:cNvGrpSpPr/>
          <p:nvPr/>
        </p:nvGrpSpPr>
        <p:grpSpPr>
          <a:xfrm>
            <a:off x="6898005" y="4384358"/>
            <a:ext cx="4760595" cy="1880235"/>
            <a:chOff x="6898005" y="4384358"/>
            <a:chExt cx="4760595" cy="1880235"/>
          </a:xfrm>
        </p:grpSpPr>
        <p:sp>
          <p:nvSpPr>
            <p:cNvPr id="67" name="Rectangle 67"/>
            <p:cNvSpPr/>
            <p:nvPr/>
          </p:nvSpPr>
          <p:spPr>
            <a:xfrm>
              <a:off x="6898005" y="4384358"/>
              <a:ext cx="4760595" cy="1880235"/>
            </a:xfrm>
            <a:prstGeom prst="roundRect">
              <a:avLst>
                <a:gd name="adj" fmla="val 70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907530" y="4517708"/>
              <a:ext cx="47625" cy="16135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7117080" y="456533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197598" y="459819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谬误与陷阱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7126605" y="495776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282053" y="490585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流水线的想法简单，难的全在细节，比如冒险检测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7126605" y="524351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282053" y="5190649"/>
              <a:ext cx="39143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指令集设计会反过来影响流水线，复杂寻址方式和寄存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器副作用都让流水变难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428750"/>
            <a:chOff x="533400" y="1524000"/>
            <a:chExt cx="5410200" cy="14287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7898" y="2045494"/>
              <a:ext cx="48305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beq 的 RegWrite 和 MemWrite 取什么值，为什么不能写 X？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898" y="2330291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都取 0。它们是仅有的两个改变机器状态的信号，取 X 会误写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寄存器或存储器。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117532"/>
            <a:ext cx="5410200" cy="1185862"/>
            <a:chOff x="533400" y="3117532"/>
            <a:chExt cx="5410200" cy="1185862"/>
          </a:xfrm>
        </p:grpSpPr>
        <p:sp>
          <p:nvSpPr>
            <p:cNvPr id="13" name="Rectangle 13"/>
            <p:cNvSpPr/>
            <p:nvPr/>
          </p:nvSpPr>
          <p:spPr>
            <a:xfrm>
              <a:off x="533400" y="3117532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4375" y="32985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3832" y="33313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898" y="3639026"/>
              <a:ext cx="46180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beq 位于地址 40，偏移量字段为 7，目标地址是多少？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898" y="3923824"/>
              <a:ext cx="45275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 + 4 = 44，7 左移 2 位得 28，目标 = 44 + 28 = 72。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469130"/>
            <a:ext cx="5410200" cy="1428750"/>
            <a:chOff x="533400" y="4469130"/>
            <a:chExt cx="5410200" cy="1428750"/>
          </a:xfrm>
        </p:grpSpPr>
        <p:sp>
          <p:nvSpPr>
            <p:cNvPr id="19" name="Rectangle 19"/>
            <p:cNvSpPr/>
            <p:nvPr/>
          </p:nvSpPr>
          <p:spPr>
            <a:xfrm>
              <a:off x="533400" y="4469130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14375" y="465010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3832" y="468296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7898" y="4989671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单周期实现为什么必须把指令存储器和数据存储器分开？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7898" y="5275421"/>
              <a:ext cx="46215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一个部件一个周期只能用一次，lw 同一周期既要取指又要访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428750"/>
            <a:chOff x="6248400" y="1524000"/>
            <a:chExt cx="5410200" cy="142875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29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18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2898" y="2045494"/>
              <a:ext cx="43716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 指令的 RegDst、ALUSrc、MemtoReg 各取什么值？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2898" y="2330291"/>
              <a:ext cx="47840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RegDst = 0（目标寄存器号在 20:16 位），ALUSrc = 1（第二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操作数取立即数），MemtoReg = 1（写回的数据来自存储器）。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117532"/>
            <a:ext cx="5410200" cy="1185862"/>
            <a:chOff x="6248400" y="3117532"/>
            <a:chExt cx="5410200" cy="1185862"/>
          </a:xfrm>
        </p:grpSpPr>
        <p:sp>
          <p:nvSpPr>
            <p:cNvPr id="31" name="Rectangle 31"/>
            <p:cNvSpPr/>
            <p:nvPr/>
          </p:nvSpPr>
          <p:spPr>
            <a:xfrm>
              <a:off x="6248400" y="3117532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29375" y="32985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18832" y="33313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2898" y="3639026"/>
              <a:ext cx="44560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五段流水线处理 12 条指令需要几个周期？加速比是多少？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2898" y="3923824"/>
              <a:ext cx="51439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Tk = 5 + 11 = 16 个周期；Ck = 12 × 5 / 16 = 60/16 = 3.75。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469130"/>
            <a:ext cx="5410200" cy="1428750"/>
            <a:chOff x="6248400" y="4469130"/>
            <a:chExt cx="5410200" cy="1428750"/>
          </a:xfrm>
        </p:grpSpPr>
        <p:sp>
          <p:nvSpPr>
            <p:cNvPr id="37" name="Rectangle 37"/>
            <p:cNvSpPr/>
            <p:nvPr/>
          </p:nvSpPr>
          <p:spPr>
            <a:xfrm>
              <a:off x="6248400" y="4469130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29375" y="465010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18832" y="468296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2898" y="4989671"/>
              <a:ext cx="3558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ALU 控制为什么要分 ALUOp 和 funct 两级？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2898" y="5275421"/>
              <a:ext cx="48247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主控制单元只看操作码给出 2 位 ALUOp，funct 只对 R 型有意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义，单独译码可减少主控制单元的输出位数。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428750"/>
            <a:chOff x="533400" y="1524000"/>
            <a:chExt cx="5410200" cy="14287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7898" y="2045494"/>
              <a:ext cx="466054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 $2,$1,$3 后紧跟 and $12,$2,$5，and 的转发信号取什么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898" y="2573179"/>
              <a:ext cx="51686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ForwardA = 10（走 EX/MEM）；ForwardB = 00，rt 是 $5。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117532"/>
            <a:ext cx="5410200" cy="1428750"/>
            <a:chOff x="533400" y="3117532"/>
            <a:chExt cx="5410200" cy="1428750"/>
          </a:xfrm>
        </p:grpSpPr>
        <p:sp>
          <p:nvSpPr>
            <p:cNvPr id="13" name="Rectangle 13"/>
            <p:cNvSpPr/>
            <p:nvPr/>
          </p:nvSpPr>
          <p:spPr>
            <a:xfrm>
              <a:off x="533400" y="3117532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4375" y="32985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3832" y="33313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898" y="3639026"/>
              <a:ext cx="47899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一条分支 90% 会发生，1 位预测位的正确率为什么只有 80%？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898" y="3923824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循环退出时错一次并翻转预测位，下次进入循环第一次又错一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次；10 次迭代错 2 次。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712018"/>
            <a:ext cx="5410200" cy="1428750"/>
            <a:chOff x="533400" y="4712018"/>
            <a:chExt cx="5410200" cy="1428750"/>
          </a:xfrm>
        </p:grpSpPr>
        <p:sp>
          <p:nvSpPr>
            <p:cNvPr id="19" name="Rectangle 19"/>
            <p:cNvSpPr/>
            <p:nvPr/>
          </p:nvSpPr>
          <p:spPr>
            <a:xfrm>
              <a:off x="533400" y="4712018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14375" y="489299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3832" y="492585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7898" y="5232559"/>
              <a:ext cx="3353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异常处理程序为什么要把 EPC 里的值减 4？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7898" y="5518309"/>
              <a:ext cx="47190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硬件存进 EPC 的是已经加过 4 的 PC，减 4 才是出错指令本身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的地址。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428750"/>
            <a:chOff x="6248400" y="1524000"/>
            <a:chExt cx="5410200" cy="142875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29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18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2898" y="2045494"/>
              <a:ext cx="38016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 load-use 冒险必须停一拍，转发救不了？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2898" y="2330291"/>
              <a:ext cx="48409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 的数据要到 MEM 段结束才读出，而下一条的 EX 段更早，转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发不能把值送回已经过去的周期。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117532"/>
            <a:ext cx="5410200" cy="1428750"/>
            <a:chOff x="6248400" y="3117532"/>
            <a:chExt cx="5410200" cy="1428750"/>
          </a:xfrm>
        </p:grpSpPr>
        <p:sp>
          <p:nvSpPr>
            <p:cNvPr id="31" name="Rectangle 31"/>
            <p:cNvSpPr/>
            <p:nvPr/>
          </p:nvSpPr>
          <p:spPr>
            <a:xfrm>
              <a:off x="6248400" y="3117532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29375" y="32985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18832" y="33313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2898" y="3639026"/>
              <a:ext cx="47373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CPI = 1 + 0.1 + 0.15，周期 200 ps，相对 800 ps 单周期的加速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2898" y="4166711"/>
              <a:ext cx="49702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CPI = 1.25，每条指令 250 ps，加速比 = 800 / 250 = 3.2。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712018"/>
            <a:ext cx="5410200" cy="1428750"/>
            <a:chOff x="6248400" y="4712018"/>
            <a:chExt cx="5410200" cy="1428750"/>
          </a:xfrm>
        </p:grpSpPr>
        <p:sp>
          <p:nvSpPr>
            <p:cNvPr id="37" name="Rectangle 37"/>
            <p:cNvSpPr/>
            <p:nvPr/>
          </p:nvSpPr>
          <p:spPr>
            <a:xfrm>
              <a:off x="6248400" y="4712018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29375" y="489299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18832" y="492585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2898" y="5232559"/>
              <a:ext cx="45325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静态双发射中，同一个包里的 lw 能用本包 ALU 的结果吗？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2898" y="5518309"/>
              <a:ext cx="45756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不能，两条同周期进 EX，来不及转发，要拆成两个包。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第4章 处理器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bullets-1"/>
          <p:cNvGrpSpPr/>
          <p:nvPr/>
        </p:nvGrpSpPr>
        <p:grpSpPr>
          <a:xfrm>
            <a:off x="533400" y="1534478"/>
            <a:ext cx="5292281" cy="1466088"/>
            <a:chOff x="533400" y="1534478"/>
            <a:chExt cx="5292281" cy="1466088"/>
          </a:xfrm>
        </p:grpSpPr>
        <p:sp>
          <p:nvSpPr>
            <p:cNvPr id="7" name="Ellipse 7"/>
            <p:cNvSpPr/>
            <p:nvPr/>
          </p:nvSpPr>
          <p:spPr>
            <a:xfrm>
              <a:off x="533400" y="153447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907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4197" y="1545907"/>
              <a:ext cx="48465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单周期实现 CPI = 1，但时钟周期被最慢的 lw 绑定在 800 ps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44993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18843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1857375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数据通路的灵活性全靠三个多选器和一张控制真值表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5646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19484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168842"/>
              <a:ext cx="50114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段流水线跑 n 条指令要 k + (n − 1) 个周期，加速比上界是 k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67927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25063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2479358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三类冒险：结构靠分离存储器消除，数据靠转发消除，控制靠提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前判定加预测缓解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123248"/>
            <a:ext cx="5410200" cy="2328862"/>
            <a:chOff x="533400" y="3123248"/>
            <a:chExt cx="5410200" cy="2328862"/>
          </a:xfrm>
        </p:grpSpPr>
        <p:sp>
          <p:nvSpPr>
            <p:cNvPr id="20" name="Rectangle 20"/>
            <p:cNvSpPr/>
            <p:nvPr/>
          </p:nvSpPr>
          <p:spPr>
            <a:xfrm>
              <a:off x="533400" y="3123248"/>
              <a:ext cx="5410200" cy="2328862"/>
            </a:xfrm>
            <a:prstGeom prst="roundRect">
              <a:avLst>
                <a:gd name="adj" fmla="val 572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25805" y="3315652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9241" y="3349943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两条必须会算的式子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34378" y="372808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90397" y="3671888"/>
              <a:ext cx="44028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周期数 Tk = k + (n − 1)，吞吐率 = 指令数 ÷ (周期数 × 时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钟周期)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34378" y="428815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90397" y="4231958"/>
              <a:ext cx="44156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CPI = 1 + Σ（某类冒险的出现频率 × 每次罚的周期数）</a:t>
              </a:r>
            </a:p>
          </p:txBody>
        </p:sp>
      </p:grpSp>
      <p:grpSp>
        <p:nvGrpSpPr>
          <p:cNvPr id="40" name="c2-bullets-1"/>
          <p:cNvGrpSpPr/>
          <p:nvPr/>
        </p:nvGrpSpPr>
        <p:grpSpPr>
          <a:xfrm>
            <a:off x="6248400" y="1534478"/>
            <a:ext cx="5393950" cy="1723263"/>
            <a:chOff x="6248400" y="1534478"/>
            <a:chExt cx="5393950" cy="1723263"/>
          </a:xfrm>
        </p:grpSpPr>
        <p:sp>
          <p:nvSpPr>
            <p:cNvPr id="28" name="Ellipse 28"/>
            <p:cNvSpPr/>
            <p:nvPr/>
          </p:nvSpPr>
          <p:spPr>
            <a:xfrm>
              <a:off x="6248400" y="153447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407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29197" y="1545907"/>
              <a:ext cx="4786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转发编码 EX/MEM 是 10，MEM/WB 是 01，双重冒险取 EX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248400" y="1844993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04078" y="18843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29197" y="1857375"/>
              <a:ext cx="47971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load-use 必停 1 拍，条件是 ID/EX.MemRead 且 rt 撞上 rs 或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248400" y="241363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04078" y="245202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29197" y="2426018"/>
              <a:ext cx="47885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位预测位连错两次才改主意，循环出口的偶发反例不再污染下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一趟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248400" y="2982277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04078" y="30206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29197" y="2993708"/>
              <a:ext cx="51131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多发射把 CPI 压到 1 以下，但相关性和访存延迟限制了实际 IPC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248400" y="3380422"/>
            <a:ext cx="5410200" cy="2071688"/>
            <a:chOff x="6248400" y="3380422"/>
            <a:chExt cx="5410200" cy="2071688"/>
          </a:xfrm>
        </p:grpSpPr>
        <p:sp>
          <p:nvSpPr>
            <p:cNvPr id="41" name="Rectangle 41"/>
            <p:cNvSpPr/>
            <p:nvPr/>
          </p:nvSpPr>
          <p:spPr>
            <a:xfrm>
              <a:off x="6248400" y="3380422"/>
              <a:ext cx="5410200" cy="2071688"/>
            </a:xfrm>
            <a:prstGeom prst="roundRect">
              <a:avLst>
                <a:gd name="adj" fmla="val 64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7925" y="3513772"/>
              <a:ext cx="47625" cy="18049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78905" y="3572828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46342" y="360711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本章更正过的三处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87478" y="398526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43497" y="3929062"/>
              <a:ext cx="41970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吞吐率写成 16/20×100ns，量纲不对，应是 16 ÷ (20 ×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ns)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487478" y="45453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43497" y="4489132"/>
              <a:ext cx="3766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异常入口写成 8000 00180，应为 0x8000 0180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87478" y="484727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43497" y="4791075"/>
              <a:ext cx="44542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循环展开第 6 周期的 addu $t3, $t4, $s2 应为 addu $t3,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$t3, $s2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2" name="Rectangle 5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892" y="6023610"/>
              <a:ext cx="83736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遇到流水线性能题，先确认段数与指令数，再逐项加上冒险带来的附加周期，最后才算吞吐率和加速比。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第4章 处理器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oa_ch4">
  <a:themeElements>
    <a:clrScheme name="coa_ch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oa_ch4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a_ch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2026-09-19T08:47:59Z</dcterms:created>
  <dcterms:modified xsi:type="dcterms:W3CDTF">2026-09-19T08:47:59Z</dcterms:modified>
  <cp:category/>
  <cp:contentStatus/>
</cp:coreProperties>
</file>