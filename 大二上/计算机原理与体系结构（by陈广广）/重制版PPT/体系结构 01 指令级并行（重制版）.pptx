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oa_arch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oa_arch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3aac1f784bb9201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f53f3c7d4cde8f2.png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d07c31472eb717e.png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359146" cy="3437763"/>
            <a:chOff x="666750" y="1619250"/>
            <a:chExt cx="535914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884170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74714" y="1718310"/>
              <a:ext cx="27063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计算机原理与体系结构 · 体系结构 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指令级并行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编译器调度与硬件动态调度如何挖掘指令间的并行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循环展开与指令调度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5917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Tomasulo 动态调度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728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BHT 与 BTB 分支预测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335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ROB 与前瞻执行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6180639" cy="205359"/>
            <a:chOff x="680466" y="6192202"/>
            <a:chExt cx="6180639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61806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自学复习版｜据吉林大学《计算机系统结构》指令级并行课件（2022 年秋季学期）整理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复习与概念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五段流水线的三类冒险；相关与冲突；两类解决思路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基本编译技术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循环展开、寄存器换名与指令调度，四种情况的周期数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22195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动态调度与 Tomasulo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1588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乱序执行、保留站与 CDB、三个阶段、两道周期表例题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动态分支预测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1549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位与 2 位 BHT、BTB 的结构与 CPI 计算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前瞻执行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090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ROB 的字段、确认阶段、带 ROB 的例题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区分数据相关、反相关、输出相关，说出各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自可能引起的 RAW、WAR、WAW 冲突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按延迟表排出循环代码的流出时钟，算出每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个元素平均用几个周期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25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手工推演 Tomasulo 算法，写出指令时钟周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期表和保留站、寄存器状态表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 2 位分支预测状态图，用 BTB 的命中率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和预测精度算 CPI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 ROB 怎样做到乱序执行、顺序确认和精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确异常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开始之前：五段流水线各段做什么，冒险有哪几类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5951220" cy="3372802"/>
            <a:chOff x="533400" y="1524000"/>
            <a:chExt cx="5951220" cy="33728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7954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2335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10990" y="16597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各类指令的操作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754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55598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指令存储器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64333" y="2108359"/>
              <a:ext cx="3209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各类指令相同：取指令送 IR，PC ← PC + 4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1754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55598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64333" y="255698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各类指令相同：译码，读通用寄存器取操作数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11896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55598" y="3118961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64333" y="3005614"/>
              <a:ext cx="34673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运算指令做 ALU 运算；访存指令算有效地址；分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支指令算目标地址并判断是否成功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139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46158"/>
              <a:ext cx="595122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794284"/>
              <a:ext cx="4048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55598" y="379428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数据存储器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64333" y="3680936"/>
              <a:ext cx="34267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访存指令读或写存储器；分支指令把目标地址送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PC；运算指令空闲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1671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470559"/>
              <a:ext cx="261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55598" y="44705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64333" y="4357211"/>
              <a:ext cx="35242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运算结果或 load 读出的数写回寄存器；store 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分支指令空闲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5951220" cy="337280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243012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551748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llout-2"/>
          <p:cNvGrpSpPr/>
          <p:nvPr/>
        </p:nvGrpSpPr>
        <p:grpSpPr>
          <a:xfrm>
            <a:off x="533400" y="5087302"/>
            <a:ext cx="5951220" cy="782955"/>
            <a:chOff x="533400" y="5087302"/>
            <a:chExt cx="5951220" cy="782955"/>
          </a:xfrm>
        </p:grpSpPr>
        <p:sp>
          <p:nvSpPr>
            <p:cNvPr id="36" name="Rectangle 36"/>
            <p:cNvSpPr/>
            <p:nvPr/>
          </p:nvSpPr>
          <p:spPr>
            <a:xfrm>
              <a:off x="533400" y="5087302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378768"/>
              <a:ext cx="200026" cy="200025"/>
              <a:chOff x="738188" y="5378768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3787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7926" y="54232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2642" y="55343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130" y="5235892"/>
              <a:ext cx="48920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分支判断如果提前到 ID 段完成，控制冲突只需停顿 1 拍；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 MEM 段才改 PC 则要停顿 3 拍。</a:t>
              </a:r>
            </a:p>
          </p:txBody>
        </p:sp>
      </p:grpSp>
      <p:grpSp>
        <p:nvGrpSpPr>
          <p:cNvPr id="75" name="c2-tree-1"/>
          <p:cNvGrpSpPr/>
          <p:nvPr/>
        </p:nvGrpSpPr>
        <p:grpSpPr>
          <a:xfrm>
            <a:off x="6789420" y="1613535"/>
            <a:ext cx="4869180" cy="3686175"/>
            <a:chOff x="6789420" y="1613535"/>
            <a:chExt cx="4869180" cy="3686175"/>
          </a:xfrm>
        </p:grpSpPr>
        <p:sp>
          <p:nvSpPr>
            <p:cNvPr id="43" name="Freeform 43"/>
            <p:cNvSpPr/>
            <p:nvPr/>
          </p:nvSpPr>
          <p:spPr>
            <a:xfrm>
              <a:off x="9895522" y="1800225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0" y="276225"/>
                  </a:moveTo>
                  <a:lnTo>
                    <a:pt x="209550" y="27622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895522" y="2076450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0" y="0"/>
                  </a:moveTo>
                  <a:lnTo>
                    <a:pt x="209550" y="0"/>
                  </a:lnTo>
                  <a:lnTo>
                    <a:pt x="209550" y="276225"/>
                  </a:lnTo>
                  <a:lnTo>
                    <a:pt x="419100" y="2762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895522" y="2904172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0" y="276225"/>
                  </a:moveTo>
                  <a:lnTo>
                    <a:pt x="209550" y="27622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895522" y="3180398"/>
              <a:ext cx="419100" cy="276225"/>
            </a:xfrm>
            <a:custGeom>
              <a:avLst/>
              <a:gdLst/>
              <a:ahLst/>
              <a:cxnLst/>
              <a:rect l="l" t="t" r="r" b="b"/>
              <a:pathLst>
                <a:path w="419100" h="276225">
                  <a:moveTo>
                    <a:pt x="0" y="0"/>
                  </a:moveTo>
                  <a:lnTo>
                    <a:pt x="209550" y="0"/>
                  </a:lnTo>
                  <a:lnTo>
                    <a:pt x="209550" y="276225"/>
                  </a:lnTo>
                  <a:lnTo>
                    <a:pt x="419100" y="2762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895522" y="4009072"/>
              <a:ext cx="419100" cy="551498"/>
            </a:xfrm>
            <a:custGeom>
              <a:avLst/>
              <a:gdLst/>
              <a:ahLst/>
              <a:cxnLst/>
              <a:rect l="l" t="t" r="r" b="b"/>
              <a:pathLst>
                <a:path w="419100" h="551498">
                  <a:moveTo>
                    <a:pt x="0" y="551498"/>
                  </a:moveTo>
                  <a:lnTo>
                    <a:pt x="209550" y="55149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895522" y="456057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895522" y="4560570"/>
              <a:ext cx="419100" cy="552450"/>
            </a:xfrm>
            <a:custGeom>
              <a:avLst/>
              <a:gdLst/>
              <a:ahLst/>
              <a:cxnLst/>
              <a:rect l="l" t="t" r="r" b="b"/>
              <a:pathLst>
                <a:path w="419100" h="552450">
                  <a:moveTo>
                    <a:pt x="0" y="0"/>
                  </a:moveTo>
                  <a:lnTo>
                    <a:pt x="209550" y="0"/>
                  </a:lnTo>
                  <a:lnTo>
                    <a:pt x="209550" y="552450"/>
                  </a:lnTo>
                  <a:lnTo>
                    <a:pt x="419100" y="55245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133398" y="2076450"/>
              <a:ext cx="419100" cy="1242060"/>
            </a:xfrm>
            <a:custGeom>
              <a:avLst/>
              <a:gdLst/>
              <a:ahLst/>
              <a:cxnLst/>
              <a:rect l="l" t="t" r="r" b="b"/>
              <a:pathLst>
                <a:path w="419100" h="1242060">
                  <a:moveTo>
                    <a:pt x="0" y="1242060"/>
                  </a:moveTo>
                  <a:lnTo>
                    <a:pt x="209550" y="124206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133398" y="3180398"/>
              <a:ext cx="419100" cy="138112"/>
            </a:xfrm>
            <a:custGeom>
              <a:avLst/>
              <a:gdLst/>
              <a:ahLst/>
              <a:cxnLst/>
              <a:rect l="l" t="t" r="r" b="b"/>
              <a:pathLst>
                <a:path w="419100" h="138112">
                  <a:moveTo>
                    <a:pt x="0" y="138112"/>
                  </a:moveTo>
                  <a:lnTo>
                    <a:pt x="209550" y="13811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133398" y="3318510"/>
              <a:ext cx="419100" cy="1242060"/>
            </a:xfrm>
            <a:custGeom>
              <a:avLst/>
              <a:gdLst/>
              <a:ahLst/>
              <a:cxnLst/>
              <a:rect l="l" t="t" r="r" b="b"/>
              <a:pathLst>
                <a:path w="419100" h="1242060">
                  <a:moveTo>
                    <a:pt x="0" y="0"/>
                  </a:moveTo>
                  <a:lnTo>
                    <a:pt x="209550" y="0"/>
                  </a:lnTo>
                  <a:lnTo>
                    <a:pt x="209550" y="1242060"/>
                  </a:lnTo>
                  <a:lnTo>
                    <a:pt x="419100" y="124206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314622" y="1613535"/>
              <a:ext cx="134397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314622" y="2165985"/>
              <a:ext cx="134397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552498" y="1889760"/>
              <a:ext cx="1343978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314622" y="2507932"/>
              <a:ext cx="1343978" cy="793432"/>
            </a:xfrm>
            <a:prstGeom prst="roundRect">
              <a:avLst>
                <a:gd name="adj" fmla="val 1200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314622" y="3165158"/>
              <a:ext cx="1343978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552498" y="2994660"/>
              <a:ext cx="1343978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314622" y="3717608"/>
              <a:ext cx="1343978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314622" y="4374832"/>
              <a:ext cx="134397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314622" y="4927282"/>
              <a:ext cx="134397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8552498" y="4374832"/>
              <a:ext cx="1343978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789420" y="3131820"/>
              <a:ext cx="1343978" cy="372428"/>
            </a:xfrm>
            <a:prstGeom prst="roundRect">
              <a:avLst>
                <a:gd name="adj" fmla="val 2557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403396" y="171116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重复设置资源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403396" y="22636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阻塞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641270" y="19873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结构冒险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403396" y="2604611"/>
              <a:ext cx="980186" cy="670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旁路：R-R 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邻、R-R 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L-R 隔一条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403396" y="3261836"/>
              <a:ext cx="98831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阻塞：L-R 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邻及其他原因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641270" y="30913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数据冒险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403396" y="3814286"/>
              <a:ext cx="98831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假定分支不发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403396" y="447151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缩短分支延迟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403396" y="502396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阻塞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641270" y="44715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控制冒险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78193" y="322945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流水线冒险</a:t>
              </a:r>
            </a:p>
          </p:txBody>
        </p:sp>
      </p:grpSp>
      <p:grpSp>
        <p:nvGrpSpPr>
          <p:cNvPr id="82" name="c2-callout-2"/>
          <p:cNvGrpSpPr/>
          <p:nvPr/>
        </p:nvGrpSpPr>
        <p:grpSpPr>
          <a:xfrm>
            <a:off x="6789420" y="5579745"/>
            <a:ext cx="4869180" cy="782955"/>
            <a:chOff x="6789420" y="5579745"/>
            <a:chExt cx="4869180" cy="782955"/>
          </a:xfrm>
        </p:grpSpPr>
        <p:sp>
          <p:nvSpPr>
            <p:cNvPr id="76" name="Rectangle 76"/>
            <p:cNvSpPr/>
            <p:nvPr/>
          </p:nvSpPr>
          <p:spPr>
            <a:xfrm>
              <a:off x="6789420" y="5579745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6994208" y="5871210"/>
              <a:ext cx="200026" cy="200026"/>
              <a:chOff x="6994208" y="5871210"/>
              <a:chExt cx="200026" cy="200026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699420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09422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08310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7296150" y="5728335"/>
              <a:ext cx="3987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L-R 相邻必须停顿：load 的数据在 MEM 段末才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得到，下一条指令在 EX 段开头就要用。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01868" cy="3351847"/>
            <a:chOff x="667512" y="1835468"/>
            <a:chExt cx="580186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概念与基本编译技术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先弄清相关和冲突的关系，再看编译器怎样靠调度减少空转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397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ILP 的含义与开发它的原因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三类相关与三类冲突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两类解决思路与开发方法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例题：循环展开 + 换名 + 指令调度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54558" cy="909257"/>
            <a:chOff x="520446" y="342900"/>
            <a:chExt cx="84545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7087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615" y="407194"/>
              <a:ext cx="3089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概念与基本编译技术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545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指令级并行（ILP）：由硬件和编译器自动挖掘的并行性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085398" cy="2213610"/>
            <a:chOff x="533400" y="1524000"/>
            <a:chExt cx="5085398" cy="22136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2213610"/>
            </a:xfrm>
            <a:prstGeom prst="roundRect">
              <a:avLst>
                <a:gd name="adj" fmla="val 6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4691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218498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指令级并行 ILP（Instruction-Level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Parallelism）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22245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存在于指令一级，即指令之间的并行性，主要指机器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语言一级，例如访存指令、整型指令、浮点指令之间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的并行。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928110"/>
            <a:ext cx="5085398" cy="1612582"/>
            <a:chOff x="533400" y="3928110"/>
            <a:chExt cx="5085398" cy="1612582"/>
          </a:xfrm>
        </p:grpSpPr>
        <p:sp>
          <p:nvSpPr>
            <p:cNvPr id="14" name="Rectangle 14"/>
            <p:cNvSpPr/>
            <p:nvPr/>
          </p:nvSpPr>
          <p:spPr>
            <a:xfrm>
              <a:off x="533400" y="3928110"/>
              <a:ext cx="5085398" cy="1612582"/>
            </a:xfrm>
            <a:prstGeom prst="roundRect">
              <a:avLst>
                <a:gd name="adj" fmla="val 826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42950" y="413766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5259" y="41733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主要特点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514850"/>
              <a:ext cx="4434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并行性由 </a:t>
              </a: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处理器硬件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编译程序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自动识别和利用，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程序员不需要对顺序程序做任何修改。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6473" y="5132546"/>
              <a:ext cx="3768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正因如此，ILP 的发展和处理器的发展紧密相连。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5923598" y="1524000"/>
            <a:ext cx="5735002" cy="2882265"/>
            <a:chOff x="5923598" y="1524000"/>
            <a:chExt cx="5735002" cy="2882265"/>
          </a:xfrm>
        </p:grpSpPr>
        <p:sp>
          <p:nvSpPr>
            <p:cNvPr id="20" name="Rectangle 20"/>
            <p:cNvSpPr/>
            <p:nvPr/>
          </p:nvSpPr>
          <p:spPr>
            <a:xfrm>
              <a:off x="5923598" y="1524000"/>
              <a:ext cx="5735002" cy="2882265"/>
            </a:xfrm>
            <a:prstGeom prst="roundRect">
              <a:avLst>
                <a:gd name="adj" fmla="val 46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933122" y="1657350"/>
              <a:ext cx="47625" cy="261556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171248" y="1733550"/>
              <a:ext cx="131730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29204" y="1769269"/>
              <a:ext cx="1200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为什么要开发 ILP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95235" y="1768792"/>
              <a:ext cx="26615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 CPI 往往远大于理想 CPI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2"/>
                <p:cNvSpPr txBox="1">
                  <a:spLocks noGrp="1"/>
                </p:cNvSpPr>
                <p:nvPr/>
              </p:nvSpPr>
              <p:spPr>
                <a:xfrm>
                  <a:off x="6171248" y="2105025"/>
                  <a:ext cx="5277802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CPI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pipeline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CPI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ideal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struct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data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control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6" name="Ellipse 26"/>
            <p:cNvSpPr/>
            <p:nvPr/>
          </p:nvSpPr>
          <p:spPr>
            <a:xfrm>
              <a:off x="6176962" y="27832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5078" y="2720340"/>
              <a:ext cx="49811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理想 CPI：没有任何冲突时的 CPI，是流水线性能的上限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176962" y="31184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5078" y="3055620"/>
              <a:ext cx="4882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S：每条指令平均因结构、数据、控制冲突而停顿的时钟周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期数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176962" y="37395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5078" y="3676650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减小右边各项，CPI 就下降，IPC（Instructions Per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Cycle，每个时钟周期完成的指令条数）随之提高</a:t>
              </a:r>
            </a:p>
          </p:txBody>
        </p:sp>
      </p:grpSp>
      <p:grpSp>
        <p:nvGrpSpPr>
          <p:cNvPr id="39" name="c2-callout-2"/>
          <p:cNvGrpSpPr/>
          <p:nvPr/>
        </p:nvGrpSpPr>
        <p:grpSpPr>
          <a:xfrm>
            <a:off x="5923598" y="4596765"/>
            <a:ext cx="5735002" cy="782955"/>
            <a:chOff x="5923598" y="4596765"/>
            <a:chExt cx="5735002" cy="782955"/>
          </a:xfrm>
        </p:grpSpPr>
        <p:sp>
          <p:nvSpPr>
            <p:cNvPr id="33" name="Rectangle 33"/>
            <p:cNvSpPr/>
            <p:nvPr/>
          </p:nvSpPr>
          <p:spPr>
            <a:xfrm>
              <a:off x="5923598" y="4596765"/>
              <a:ext cx="573500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128385" y="4888230"/>
              <a:ext cx="200026" cy="200025"/>
              <a:chOff x="6128385" y="4888230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128385" y="48882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168124" y="49326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202839" y="50438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430328" y="4745355"/>
              <a:ext cx="4768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本讲各项技术针对的项：编译调度和 Tomasulo 减小数据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冲突停顿，分支预测和前瞻执行减小控制冲突停顿。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7087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615" y="407194"/>
              <a:ext cx="3089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概念与基本编译技术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相关：两条指令之间的依赖关系，分三类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11125200" cy="3377565"/>
            <a:chOff x="533400" y="1524000"/>
            <a:chExt cx="11125200" cy="33775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004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03946" y="1659731"/>
              <a:ext cx="21797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定义（指令 i 在前，j 在后）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0785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25063" y="16597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可能引起的冲突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数据相关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32888" y="2108359"/>
              <a:ext cx="2857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读 i 写的名，先生产后消费，又称真数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据相关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70448" y="2108359"/>
              <a:ext cx="122402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L.D F0,0(R1)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ADD.D F4,F0,F2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18498" y="2221706"/>
              <a:ext cx="17829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数据冲突：写后读 RAW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431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47950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289702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名相关：反相关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32888" y="2897029"/>
              <a:ext cx="14517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写的名 = i 读的名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870448" y="2783681"/>
              <a:ext cx="122402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DADDU R6,R5,R2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DADDU R5,R1,R2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18498" y="2897029"/>
              <a:ext cx="16105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乱序时：读后写 WAR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3194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68569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名相关：输出相关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32888" y="3685699"/>
              <a:ext cx="14517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写的名 = i 写的名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70448" y="3459004"/>
              <a:ext cx="1224026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DADDU R5,R3,R2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DADDU R5,R1,R2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18498" y="3685699"/>
              <a:ext cx="16470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乱序时：写后写 WAW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2214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226242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4743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控制相关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32888" y="4361021"/>
              <a:ext cx="29390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由分支指令引起，后面的指令执行与否取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决于分支结果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870448" y="4361021"/>
              <a:ext cx="122402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BEQZ R1,name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ADD.D F7,F3,F4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18498" y="44743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控制冲突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11125200" cy="33775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420302" y="1524000"/>
              <a:ext cx="9525" cy="3377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757862" y="1524000"/>
              <a:ext cx="9525" cy="3377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205912" y="1524000"/>
              <a:ext cx="9525" cy="3377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callout-2"/>
          <p:cNvGrpSpPr/>
          <p:nvPr/>
        </p:nvGrpSpPr>
        <p:grpSpPr>
          <a:xfrm>
            <a:off x="533400" y="5092065"/>
            <a:ext cx="11125200" cy="782955"/>
            <a:chOff x="533400" y="5092065"/>
            <a:chExt cx="11125200" cy="782955"/>
          </a:xfrm>
        </p:grpSpPr>
        <p:sp>
          <p:nvSpPr>
            <p:cNvPr id="38" name="Rectangle 38"/>
            <p:cNvSpPr/>
            <p:nvPr/>
          </p:nvSpPr>
          <p:spPr>
            <a:xfrm>
              <a:off x="533400" y="509206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5383530"/>
              <a:ext cx="200026" cy="200026"/>
              <a:chOff x="738188" y="5383530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3835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54502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27088" y="548354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130" y="5240655"/>
              <a:ext cx="9921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名相关的两条指令之间没有数据传递，只是用了同一个寄存器名或存储单元名，换个名字就能消除；数据相关有真实的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数据流动，换名消除不了。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7087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615" y="407194"/>
              <a:ext cx="3089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概念与基本编译技术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相关是程序的属性，冲突是流水线的属性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graph-1"/>
          <p:cNvGrpSpPr/>
          <p:nvPr/>
        </p:nvGrpSpPr>
        <p:grpSpPr>
          <a:xfrm>
            <a:off x="1009650" y="1553051"/>
            <a:ext cx="4574858" cy="3342323"/>
            <a:chOff x="1009650" y="1553051"/>
            <a:chExt cx="4574858" cy="3342323"/>
          </a:xfrm>
        </p:grpSpPr>
        <p:sp>
          <p:nvSpPr>
            <p:cNvPr id="7" name="Freeform 7"/>
            <p:cNvSpPr/>
            <p:nvPr/>
          </p:nvSpPr>
          <p:spPr>
            <a:xfrm>
              <a:off x="2438400" y="2139315"/>
              <a:ext cx="955358" cy="9525"/>
            </a:xfrm>
            <a:custGeom>
              <a:avLst/>
              <a:gdLst/>
              <a:ahLst/>
              <a:cxnLst/>
              <a:rect l="l" t="t" r="r" b="b"/>
              <a:pathLst>
                <a:path w="955358" h="9525">
                  <a:moveTo>
                    <a:pt x="0" y="0"/>
                  </a:moveTo>
                  <a:lnTo>
                    <a:pt x="95535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393758" y="20916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438400" y="2790825"/>
              <a:ext cx="955358" cy="9525"/>
            </a:xfrm>
            <a:custGeom>
              <a:avLst/>
              <a:gdLst/>
              <a:ahLst/>
              <a:cxnLst/>
              <a:rect l="l" t="t" r="r" b="b"/>
              <a:pathLst>
                <a:path w="955358" h="9525">
                  <a:moveTo>
                    <a:pt x="0" y="0"/>
                  </a:moveTo>
                  <a:lnTo>
                    <a:pt x="95535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393758" y="27432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438400" y="3442335"/>
              <a:ext cx="955358" cy="9525"/>
            </a:xfrm>
            <a:custGeom>
              <a:avLst/>
              <a:gdLst/>
              <a:ahLst/>
              <a:cxnLst/>
              <a:rect l="l" t="t" r="r" b="b"/>
              <a:pathLst>
                <a:path w="955358" h="9525">
                  <a:moveTo>
                    <a:pt x="0" y="0"/>
                  </a:moveTo>
                  <a:lnTo>
                    <a:pt x="95535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393758" y="33947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438400" y="4093845"/>
              <a:ext cx="955358" cy="9525"/>
            </a:xfrm>
            <a:custGeom>
              <a:avLst/>
              <a:gdLst/>
              <a:ahLst/>
              <a:cxnLst/>
              <a:rect l="l" t="t" r="r" b="b"/>
              <a:pathLst>
                <a:path w="955358" h="9525">
                  <a:moveTo>
                    <a:pt x="0" y="0"/>
                  </a:moveTo>
                  <a:lnTo>
                    <a:pt x="95535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393758" y="40462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438400" y="4745355"/>
              <a:ext cx="955358" cy="9525"/>
            </a:xfrm>
            <a:custGeom>
              <a:avLst/>
              <a:gdLst/>
              <a:ahLst/>
              <a:cxnLst/>
              <a:rect l="l" t="t" r="r" b="b"/>
              <a:pathLst>
                <a:path w="955358" h="9525">
                  <a:moveTo>
                    <a:pt x="0" y="0"/>
                  </a:moveTo>
                  <a:lnTo>
                    <a:pt x="95535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3393758" y="46977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09650" y="1988820"/>
              <a:ext cx="142875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09650" y="2640330"/>
              <a:ext cx="142875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09650" y="3291840"/>
              <a:ext cx="142875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09650" y="3944302"/>
              <a:ext cx="142875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009650" y="4594860"/>
              <a:ext cx="142875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489008" y="1988820"/>
              <a:ext cx="2095500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489008" y="2640330"/>
              <a:ext cx="2095500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489008" y="3291840"/>
              <a:ext cx="2095500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489008" y="3944302"/>
              <a:ext cx="2095500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489008" y="4594860"/>
              <a:ext cx="2095500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416761" y="20693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数据相关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92148" y="272081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反相关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16761" y="33723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输出相关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16761" y="402383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控制相关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65987" y="467534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硬件资源不足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32482" y="2069306"/>
              <a:ext cx="1608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数据冲突 · 写后读 RAW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32482" y="2720816"/>
              <a:ext cx="1608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数据冲突 · 读后写 WAR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15755" y="3372326"/>
              <a:ext cx="16420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数据冲突 · 写后写 WAW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29494" y="402383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控制冲突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29494" y="46753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结构冲突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15212" y="155305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相关（程序固有）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77170" y="155305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冲突（由流水线决定）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248400" y="1524000"/>
            <a:ext cx="5410200" cy="1602105"/>
            <a:chOff x="6248400" y="1524000"/>
            <a:chExt cx="5410200" cy="1602105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96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7345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流水线冲突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88430" y="211074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对具体的流水线，由于相关等原因，指令流中的下一条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指令不能在指定的时钟周期执行。分为结构冲突、数据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冲突、控制冲突三类。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248400" y="3316605"/>
            <a:ext cx="5410200" cy="2183130"/>
            <a:chOff x="6248400" y="3316605"/>
            <a:chExt cx="5410200" cy="2183130"/>
          </a:xfrm>
        </p:grpSpPr>
        <p:sp>
          <p:nvSpPr>
            <p:cNvPr id="46" name="Rectangle 46"/>
            <p:cNvSpPr/>
            <p:nvPr/>
          </p:nvSpPr>
          <p:spPr>
            <a:xfrm>
              <a:off x="6248400" y="3316605"/>
              <a:ext cx="5410200" cy="2183130"/>
            </a:xfrm>
            <a:prstGeom prst="roundRect">
              <a:avLst>
                <a:gd name="adj" fmla="val 610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57950" y="352615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35356" y="356187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小结与比较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63665" y="396621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21780" y="390334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相关是程序固有的属性，反映指令之间的依赖关系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63665" y="430149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21780" y="423862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一次相关会不会真的引起冲突、停顿多久，取决于流水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51473" y="4856321"/>
              <a:ext cx="47759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例：同一条分支，第 4 段才判断并算出目标地址要延迟 3 个周期；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提前到第 2 段完成只延迟 1 个周期。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5" name="Rectangle 5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130" y="5991225"/>
              <a:ext cx="9909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相关是冲突的主要原因，但不是唯一原因：结构冲突没有对应的相关，它来自硬件资源满足不了指令重叠执行。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09942" cy="909257"/>
            <a:chOff x="520446" y="342900"/>
            <a:chExt cx="73099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7087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615" y="407194"/>
              <a:ext cx="3089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概念与基本编译技术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099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两类解决思路，以及开发 ILP 的软件、硬件方法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544378" cy="1335405"/>
            <a:chOff x="533400" y="1524000"/>
            <a:chExt cx="4544378" cy="1335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保持相关，但避免发生冲突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指令调度：由编译器静态调度，让相关的指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令之间隔开足够的周期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049905"/>
            <a:ext cx="4544378" cy="1335405"/>
            <a:chOff x="533400" y="3049905"/>
            <a:chExt cx="4544378" cy="1335405"/>
          </a:xfrm>
        </p:grpSpPr>
        <p:sp>
          <p:nvSpPr>
            <p:cNvPr id="15" name="Rectangle 15"/>
            <p:cNvSpPr/>
            <p:nvPr/>
          </p:nvSpPr>
          <p:spPr>
            <a:xfrm>
              <a:off x="533400" y="3049905"/>
              <a:ext cx="4544378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183255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325945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7308" y="329517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24000" y="329469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通过代码变换，消除相关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371856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3655695"/>
              <a:ext cx="3606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寄存器换名：消除读后写（WAR）和写后写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（WAW）</a:t>
              </a:r>
            </a:p>
          </p:txBody>
        </p:sp>
      </p:grpSp>
      <p:grpSp>
        <p:nvGrpSpPr>
          <p:cNvPr id="28" name="c1-callout-3"/>
          <p:cNvGrpSpPr/>
          <p:nvPr/>
        </p:nvGrpSpPr>
        <p:grpSpPr>
          <a:xfrm>
            <a:off x="533400" y="4575810"/>
            <a:ext cx="4544378" cy="782955"/>
            <a:chOff x="533400" y="4575810"/>
            <a:chExt cx="4544378" cy="782955"/>
          </a:xfrm>
        </p:grpSpPr>
        <p:sp>
          <p:nvSpPr>
            <p:cNvPr id="23" name="Rectangle 23"/>
            <p:cNvSpPr/>
            <p:nvPr/>
          </p:nvSpPr>
          <p:spPr>
            <a:xfrm>
              <a:off x="533400" y="4575810"/>
              <a:ext cx="4544378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4867277"/>
              <a:ext cx="200023" cy="200023"/>
              <a:chOff x="738188" y="4867277"/>
              <a:chExt cx="200023" cy="20002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86727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71538" y="4933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4724400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只有硬件技术和软件技术互相配合，才能最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大限度地挖掘出程序中存在的指令级并行。</a:t>
              </a:r>
            </a:p>
          </p:txBody>
        </p:sp>
      </p:grpSp>
      <p:grpSp>
        <p:nvGrpSpPr>
          <p:cNvPr id="67" name="c2-tree-1"/>
          <p:cNvGrpSpPr/>
          <p:nvPr/>
        </p:nvGrpSpPr>
        <p:grpSpPr>
          <a:xfrm>
            <a:off x="5382578" y="1579245"/>
            <a:ext cx="6276022" cy="4727258"/>
            <a:chOff x="5382578" y="1579245"/>
            <a:chExt cx="6276022" cy="4727258"/>
          </a:xfrm>
        </p:grpSpPr>
        <p:sp>
          <p:nvSpPr>
            <p:cNvPr id="29" name="Freeform 29"/>
            <p:cNvSpPr/>
            <p:nvPr/>
          </p:nvSpPr>
          <p:spPr>
            <a:xfrm>
              <a:off x="9426892" y="1765935"/>
              <a:ext cx="419100" cy="725805"/>
            </a:xfrm>
            <a:custGeom>
              <a:avLst/>
              <a:gdLst/>
              <a:ahLst/>
              <a:cxnLst/>
              <a:rect l="l" t="t" r="r" b="b"/>
              <a:pathLst>
                <a:path w="419100" h="725805">
                  <a:moveTo>
                    <a:pt x="0" y="725805"/>
                  </a:moveTo>
                  <a:lnTo>
                    <a:pt x="209550" y="72580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426892" y="2249805"/>
              <a:ext cx="419100" cy="241935"/>
            </a:xfrm>
            <a:custGeom>
              <a:avLst/>
              <a:gdLst/>
              <a:ahLst/>
              <a:cxnLst/>
              <a:rect l="l" t="t" r="r" b="b"/>
              <a:pathLst>
                <a:path w="419100" h="241935">
                  <a:moveTo>
                    <a:pt x="0" y="241935"/>
                  </a:moveTo>
                  <a:lnTo>
                    <a:pt x="209550" y="24193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426892" y="2491740"/>
              <a:ext cx="419100" cy="241935"/>
            </a:xfrm>
            <a:custGeom>
              <a:avLst/>
              <a:gdLst/>
              <a:ahLst/>
              <a:cxnLst/>
              <a:rect l="l" t="t" r="r" b="b"/>
              <a:pathLst>
                <a:path w="419100" h="241935">
                  <a:moveTo>
                    <a:pt x="0" y="0"/>
                  </a:moveTo>
                  <a:lnTo>
                    <a:pt x="209550" y="0"/>
                  </a:lnTo>
                  <a:lnTo>
                    <a:pt x="209550" y="241935"/>
                  </a:lnTo>
                  <a:lnTo>
                    <a:pt x="419100" y="24193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426892" y="2491740"/>
              <a:ext cx="419100" cy="725805"/>
            </a:xfrm>
            <a:custGeom>
              <a:avLst/>
              <a:gdLst/>
              <a:ahLst/>
              <a:cxnLst/>
              <a:rect l="l" t="t" r="r" b="b"/>
              <a:pathLst>
                <a:path w="419100" h="725805">
                  <a:moveTo>
                    <a:pt x="0" y="0"/>
                  </a:moveTo>
                  <a:lnTo>
                    <a:pt x="209550" y="0"/>
                  </a:lnTo>
                  <a:lnTo>
                    <a:pt x="209550" y="725805"/>
                  </a:lnTo>
                  <a:lnTo>
                    <a:pt x="419100" y="72580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426892" y="3701415"/>
              <a:ext cx="419100" cy="967740"/>
            </a:xfrm>
            <a:custGeom>
              <a:avLst/>
              <a:gdLst/>
              <a:ahLst/>
              <a:cxnLst/>
              <a:rect l="l" t="t" r="r" b="b"/>
              <a:pathLst>
                <a:path w="419100" h="967740">
                  <a:moveTo>
                    <a:pt x="0" y="967740"/>
                  </a:moveTo>
                  <a:lnTo>
                    <a:pt x="209550" y="96774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426892" y="4185285"/>
              <a:ext cx="419100" cy="483870"/>
            </a:xfrm>
            <a:custGeom>
              <a:avLst/>
              <a:gdLst/>
              <a:ahLst/>
              <a:cxnLst/>
              <a:rect l="l" t="t" r="r" b="b"/>
              <a:pathLst>
                <a:path w="419100" h="483870">
                  <a:moveTo>
                    <a:pt x="0" y="483870"/>
                  </a:moveTo>
                  <a:lnTo>
                    <a:pt x="209550" y="48387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426892" y="466915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426892" y="4669155"/>
              <a:ext cx="419100" cy="483870"/>
            </a:xfrm>
            <a:custGeom>
              <a:avLst/>
              <a:gdLst/>
              <a:ahLst/>
              <a:cxnLst/>
              <a:rect l="l" t="t" r="r" b="b"/>
              <a:pathLst>
                <a:path w="419100" h="483870">
                  <a:moveTo>
                    <a:pt x="0" y="0"/>
                  </a:moveTo>
                  <a:lnTo>
                    <a:pt x="209550" y="0"/>
                  </a:lnTo>
                  <a:lnTo>
                    <a:pt x="209550" y="483870"/>
                  </a:lnTo>
                  <a:lnTo>
                    <a:pt x="419100" y="48387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426892" y="4669155"/>
              <a:ext cx="419100" cy="967740"/>
            </a:xfrm>
            <a:custGeom>
              <a:avLst/>
              <a:gdLst/>
              <a:ahLst/>
              <a:cxnLst/>
              <a:rect l="l" t="t" r="r" b="b"/>
              <a:pathLst>
                <a:path w="419100" h="967740">
                  <a:moveTo>
                    <a:pt x="0" y="0"/>
                  </a:moveTo>
                  <a:lnTo>
                    <a:pt x="209550" y="0"/>
                  </a:lnTo>
                  <a:lnTo>
                    <a:pt x="209550" y="967740"/>
                  </a:lnTo>
                  <a:lnTo>
                    <a:pt x="419100" y="96774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195185" y="2491740"/>
              <a:ext cx="419100" cy="1814512"/>
            </a:xfrm>
            <a:custGeom>
              <a:avLst/>
              <a:gdLst/>
              <a:ahLst/>
              <a:cxnLst/>
              <a:rect l="l" t="t" r="r" b="b"/>
              <a:pathLst>
                <a:path w="419100" h="1814512">
                  <a:moveTo>
                    <a:pt x="0" y="1814512"/>
                  </a:moveTo>
                  <a:lnTo>
                    <a:pt x="209550" y="181451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195185" y="4306252"/>
              <a:ext cx="419100" cy="362902"/>
            </a:xfrm>
            <a:custGeom>
              <a:avLst/>
              <a:gdLst/>
              <a:ahLst/>
              <a:cxnLst/>
              <a:rect l="l" t="t" r="r" b="b"/>
              <a:pathLst>
                <a:path w="419100" h="362902">
                  <a:moveTo>
                    <a:pt x="0" y="0"/>
                  </a:moveTo>
                  <a:lnTo>
                    <a:pt x="209550" y="0"/>
                  </a:lnTo>
                  <a:lnTo>
                    <a:pt x="209550" y="362902"/>
                  </a:lnTo>
                  <a:lnTo>
                    <a:pt x="419100" y="36290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195185" y="4306252"/>
              <a:ext cx="419100" cy="1814512"/>
            </a:xfrm>
            <a:custGeom>
              <a:avLst/>
              <a:gdLst/>
              <a:ahLst/>
              <a:cxnLst/>
              <a:rect l="l" t="t" r="r" b="b"/>
              <a:pathLst>
                <a:path w="419100" h="1814512">
                  <a:moveTo>
                    <a:pt x="0" y="0"/>
                  </a:moveTo>
                  <a:lnTo>
                    <a:pt x="209550" y="0"/>
                  </a:lnTo>
                  <a:lnTo>
                    <a:pt x="209550" y="1814512"/>
                  </a:lnTo>
                  <a:lnTo>
                    <a:pt x="419100" y="181451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845992" y="1579245"/>
              <a:ext cx="181260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845992" y="1958340"/>
              <a:ext cx="1812608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845992" y="2546985"/>
              <a:ext cx="181260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9845992" y="3030855"/>
              <a:ext cx="181260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614285" y="2305050"/>
              <a:ext cx="1812608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845992" y="3514725"/>
              <a:ext cx="181260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845992" y="3998595"/>
              <a:ext cx="181260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845992" y="4482465"/>
              <a:ext cx="181260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845992" y="4966335"/>
              <a:ext cx="181260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845992" y="5450205"/>
              <a:ext cx="181260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614285" y="4482465"/>
              <a:ext cx="1812608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614285" y="5934075"/>
              <a:ext cx="181260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82578" y="4119562"/>
              <a:ext cx="1812608" cy="372428"/>
            </a:xfrm>
            <a:prstGeom prst="roundRect">
              <a:avLst>
                <a:gd name="adj" fmla="val 2557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934766" y="167687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编译器指令调度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934766" y="2055019"/>
              <a:ext cx="147599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静态分支预测（成功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/失败）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934766" y="264461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分支延迟槽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934766" y="31284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循环展开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03058" y="240268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基于软件的静态方法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934766" y="361235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记分牌算法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34766" y="4096226"/>
              <a:ext cx="1164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Tomasulo 算法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34766" y="4580096"/>
              <a:ext cx="12295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分支历史表 BHT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934766" y="5063966"/>
              <a:ext cx="15741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分支目标缓冲器 BTB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934766" y="554783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基于硬件的前瞻执行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03058" y="458009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基于硬件的动态方法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703058" y="6031706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 + 硬件结合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471351" y="4217194"/>
              <a:ext cx="12568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开发 ILP 的方法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7087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615" y="407194"/>
              <a:ext cx="3089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概念与基本编译技术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基本编译技术：循环展开，再换名和调度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0632"/>
            <a:chOff x="533400" y="1524000"/>
            <a:chExt cx="5410200" cy="1250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充分开发指令之间的并行性，找出不相关的指令序列，让它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们在流水线上重叠并行执行。</a:t>
              </a:r>
            </a:p>
          </p:txBody>
        </p:sp>
      </p:grpSp>
      <p:grpSp>
        <p:nvGrpSpPr>
          <p:cNvPr id="26" name="c1-steps-2"/>
          <p:cNvGrpSpPr/>
          <p:nvPr/>
        </p:nvGrpSpPr>
        <p:grpSpPr>
          <a:xfrm>
            <a:off x="533400" y="2965132"/>
            <a:ext cx="4948428" cy="1781556"/>
            <a:chOff x="533400" y="2965132"/>
            <a:chExt cx="4948428" cy="1781556"/>
          </a:xfrm>
        </p:grpSpPr>
        <p:sp>
          <p:nvSpPr>
            <p:cNvPr id="13" name="Rectangle 13"/>
            <p:cNvSpPr/>
            <p:nvPr/>
          </p:nvSpPr>
          <p:spPr>
            <a:xfrm>
              <a:off x="666750" y="3108008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29651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038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58140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6552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1986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2724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99799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开发循环级并行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278505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循环的不同迭代之间往往互不相关，这是最简单、最常用的来源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61426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循环展开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894772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把循环体复制多份并调整结束条件，给调度留出空间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4231481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换名 + 指令调度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4511992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各副本用不同寄存器，再重排指令，填掉空转周期</a:t>
              </a:r>
            </a:p>
          </p:txBody>
        </p:sp>
      </p:grpSp>
      <p:grpSp>
        <p:nvGrpSpPr>
          <p:cNvPr id="35" name="c1-card-3"/>
          <p:cNvGrpSpPr/>
          <p:nvPr/>
        </p:nvGrpSpPr>
        <p:grpSpPr>
          <a:xfrm>
            <a:off x="533400" y="4917758"/>
            <a:ext cx="5410200" cy="1297305"/>
            <a:chOff x="533400" y="4917758"/>
            <a:chExt cx="5410200" cy="1297305"/>
          </a:xfrm>
        </p:grpSpPr>
        <p:sp>
          <p:nvSpPr>
            <p:cNvPr id="27" name="Rectangle 27"/>
            <p:cNvSpPr/>
            <p:nvPr/>
          </p:nvSpPr>
          <p:spPr>
            <a:xfrm>
              <a:off x="533400" y="4917758"/>
              <a:ext cx="5410200" cy="1297305"/>
            </a:xfrm>
            <a:prstGeom prst="roundRect">
              <a:avLst>
                <a:gd name="adj" fmla="val 102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5051108"/>
              <a:ext cx="47625" cy="10306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9620" y="5115878"/>
              <a:ext cx="20764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3054" y="5150168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编译器调度能力受两个因素限制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77240" y="553688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3831" y="547639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程序固有的指令级并行性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77240" y="585406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3831" y="579453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流水线功能部件的执行延迟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6243066" y="1524000"/>
            <a:ext cx="5415534" cy="2401824"/>
            <a:chOff x="6243066" y="1524000"/>
            <a:chExt cx="5415534" cy="2401824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50355" y="165258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产生结果的指令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52510" y="165258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使用结果的指令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64927" y="165258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延迟（周期）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50889" y="2076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浮点计算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98752" y="207645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另一个浮点计算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05134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23679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48400" y="237267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50889" y="250126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浮点计算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98752" y="2501265"/>
              <a:ext cx="14327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 store（S.D）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05134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27927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50889" y="2926080"/>
              <a:ext cx="13357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 load（L.D）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98752" y="29260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浮点计算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905134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32165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48400" y="322135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50889" y="3349942"/>
              <a:ext cx="13357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 load（L.D）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98752" y="3349942"/>
              <a:ext cx="14327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 store（S.D）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905134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1524000"/>
              <a:ext cx="5410200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191500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246995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243066" y="3720465"/>
              <a:ext cx="467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本节浮点流水线的延迟：两条相关指令的流出时钟之间至少要空出的周期数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6248400" y="4065270"/>
            <a:ext cx="5410200" cy="2149792"/>
            <a:chOff x="6248400" y="4065270"/>
            <a:chExt cx="5410200" cy="2149792"/>
          </a:xfrm>
        </p:grpSpPr>
        <p:sp>
          <p:nvSpPr>
            <p:cNvPr id="62" name="Rectangle 62"/>
            <p:cNvSpPr/>
            <p:nvPr/>
          </p:nvSpPr>
          <p:spPr>
            <a:xfrm>
              <a:off x="6248400" y="4065270"/>
              <a:ext cx="5410200" cy="2149792"/>
            </a:xfrm>
            <a:prstGeom prst="roundRect">
              <a:avLst>
                <a:gd name="adj" fmla="val 62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257925" y="4198620"/>
              <a:ext cx="47625" cy="18830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84620" y="4263390"/>
              <a:ext cx="179451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24835" y="4297680"/>
              <a:ext cx="1714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采用 MIPS 五段整数流水线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492240" y="468344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48831" y="4623911"/>
              <a:ext cx="455002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分支延迟 1 个时钟周期：分支指令后面紧跟的一拍是延迟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槽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492240" y="527304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648831" y="5212556"/>
              <a:ext cx="30156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 load 指令的延迟 1 个时钟周期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492240" y="559022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648831" y="5530691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整数运算部件全流水，或重复设置了足够的份数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09016" cy="909257"/>
            <a:chOff x="520446" y="342900"/>
            <a:chExt cx="69090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7087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615" y="407194"/>
              <a:ext cx="3089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概念与基本编译技术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090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例题：把向量加常数的循环翻译成 MIPS 汇编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977765" cy="2605088"/>
            <a:chOff x="533400" y="1524000"/>
            <a:chExt cx="4977765" cy="26050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605088"/>
            </a:xfrm>
            <a:prstGeom prst="roundRect">
              <a:avLst>
                <a:gd name="adj" fmla="val 51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383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3491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对下面的源代码，转换成 MIPS 汇编语言，分别在不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进行指令调度和进行指令调度两种情况下，分析一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次循环所需的执行时间。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81050" y="2992755"/>
              <a:ext cx="4520565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9447" y="314467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8685" y="3406616"/>
              <a:ext cx="2123694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&lt;= 1000; i++)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x[i] = x[i] + s;</a:t>
              </a:r>
            </a:p>
          </p:txBody>
        </p:sp>
      </p:grpSp>
      <p:grpSp>
        <p:nvGrpSpPr>
          <p:cNvPr id="27" name="c1-kv-2"/>
          <p:cNvGrpSpPr/>
          <p:nvPr/>
        </p:nvGrpSpPr>
        <p:grpSpPr>
          <a:xfrm>
            <a:off x="525780" y="4344352"/>
            <a:ext cx="4985385" cy="1613536"/>
            <a:chOff x="525780" y="4344352"/>
            <a:chExt cx="4985385" cy="1613536"/>
          </a:xfrm>
        </p:grpSpPr>
        <p:sp>
          <p:nvSpPr>
            <p:cNvPr id="16" name="TextBox 16"/>
            <p:cNvSpPr txBox="1"/>
            <p:nvPr/>
          </p:nvSpPr>
          <p:spPr>
            <a:xfrm>
              <a:off x="525780" y="4344352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46835" y="4344352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指向当前元素，初值为向量中地址最高的元素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6643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4784408"/>
              <a:ext cx="6313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8(R2)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46835" y="4784408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最后一个要处理的元素（地址最低）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510444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5780" y="5224462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F2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46835" y="5224462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保存常数 s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55445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5780" y="566451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步长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46835" y="5664518"/>
              <a:ext cx="4012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双精度数占 8 字节，每处理一个元素 R1 减 8</a:t>
              </a:r>
            </a:p>
          </p:txBody>
        </p:sp>
      </p:grpSp>
      <p:grpSp>
        <p:nvGrpSpPr>
          <p:cNvPr id="31" name="c2-code-1"/>
          <p:cNvGrpSpPr/>
          <p:nvPr/>
        </p:nvGrpSpPr>
        <p:grpSpPr>
          <a:xfrm>
            <a:off x="5815965" y="1524000"/>
            <a:ext cx="5842635" cy="1516380"/>
            <a:chOff x="5815965" y="1524000"/>
            <a:chExt cx="5842635" cy="1516380"/>
          </a:xfrm>
        </p:grpSpPr>
        <p:sp>
          <p:nvSpPr>
            <p:cNvPr id="28" name="Rectangle 28"/>
            <p:cNvSpPr/>
            <p:nvPr/>
          </p:nvSpPr>
          <p:spPr>
            <a:xfrm>
              <a:off x="5815965" y="1524000"/>
              <a:ext cx="5842635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44362" y="1675924"/>
              <a:ext cx="19516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汇编（一次处理一个元素）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43600" y="1937861"/>
              <a:ext cx="3474974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Loop: L.D    F0,0(R1)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F0 = x[i]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ADD.D  F4,F0,F2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F4 = x[i] + s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S.D    F4,0(R1)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x[i] = F4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DADDIU R1,R1,#-8    // 指向下一个元素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BNE    R1,R2,Loop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R1 ≠ R2 继续循环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5815965" y="3230880"/>
            <a:ext cx="5842635" cy="1602105"/>
            <a:chOff x="5815965" y="3230880"/>
            <a:chExt cx="5842635" cy="1602105"/>
          </a:xfrm>
        </p:grpSpPr>
        <p:sp>
          <p:nvSpPr>
            <p:cNvPr id="32" name="Rectangle 32"/>
            <p:cNvSpPr/>
            <p:nvPr/>
          </p:nvSpPr>
          <p:spPr>
            <a:xfrm>
              <a:off x="5815965" y="3230880"/>
              <a:ext cx="584263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825490" y="336423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63615" y="344043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53823" y="34761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55995" y="3817620"/>
              <a:ext cx="51682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原课件一处写"R1 的初值指向第一个元素"，与后面"初值为向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量中最高端元素的地址"矛盾。R1 每次减 8、减到 R2 为止，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应从地址最高的元素开始。</a:t>
              </a:r>
            </a:p>
          </p:txBody>
        </p:sp>
      </p:grpSp>
      <p:grpSp>
        <p:nvGrpSpPr>
          <p:cNvPr id="44" name="c2-callout-3"/>
          <p:cNvGrpSpPr/>
          <p:nvPr/>
        </p:nvGrpSpPr>
        <p:grpSpPr>
          <a:xfrm>
            <a:off x="5815965" y="5023485"/>
            <a:ext cx="5842635" cy="782955"/>
            <a:chOff x="5815965" y="5023485"/>
            <a:chExt cx="5842635" cy="782955"/>
          </a:xfrm>
        </p:grpSpPr>
        <p:sp>
          <p:nvSpPr>
            <p:cNvPr id="38" name="Rectangle 38"/>
            <p:cNvSpPr/>
            <p:nvPr/>
          </p:nvSpPr>
          <p:spPr>
            <a:xfrm>
              <a:off x="5815965" y="502348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020753" y="5314950"/>
              <a:ext cx="200026" cy="200025"/>
              <a:chOff x="6020753" y="5314950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020753" y="53149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060491" y="53594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095207" y="54705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322695" y="5172075"/>
              <a:ext cx="4939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 条指令里只有 L.D、ADD.D、S.D 是有效操作，DADDIU 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BNE 是循环控制开销。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4322" cy="909257"/>
            <a:chOff x="520446" y="342900"/>
            <a:chExt cx="86043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7087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615" y="407194"/>
              <a:ext cx="3089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概念与基本编译技术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43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 I 与情况 II：调度让每个元素从 10 个周期降到 6 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ode-1"/>
          <p:cNvGrpSpPr/>
          <p:nvPr/>
        </p:nvGrpSpPr>
        <p:grpSpPr>
          <a:xfrm>
            <a:off x="533400" y="1524000"/>
            <a:ext cx="5951220" cy="2264092"/>
            <a:chOff x="533400" y="1524000"/>
            <a:chExt cx="5951220" cy="22640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3404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情况 I：不调度（左列为指令流出时钟）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075498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426970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2602230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129915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52450" y="3481388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1935956"/>
              <a:ext cx="3469894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  Loop: L.D    F0,0(R1)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2        (空转)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load→浮点计算 延迟 1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3        ADD.D  F4,F0,F2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4        (空转)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浮点计算→S.D 延迟 2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5        (空转)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6        S.D    F4,0(R1)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7        DADDIU R1,R1,#-8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8        (空转)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BNE 要用新的 R1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9        BNE    R1,R2,Loop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10        (空转)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分支延迟 1 个周期</a:t>
              </a:r>
            </a:p>
          </p:txBody>
        </p:sp>
      </p:grpSp>
      <p:grpSp>
        <p:nvGrpSpPr>
          <p:cNvPr id="20" name="c1-code-2"/>
          <p:cNvGrpSpPr/>
          <p:nvPr/>
        </p:nvGrpSpPr>
        <p:grpSpPr>
          <a:xfrm>
            <a:off x="533400" y="3958590"/>
            <a:ext cx="5951220" cy="1561148"/>
            <a:chOff x="533400" y="3958590"/>
            <a:chExt cx="5951220" cy="1561148"/>
          </a:xfrm>
        </p:grpSpPr>
        <p:sp>
          <p:nvSpPr>
            <p:cNvPr id="16" name="Rectangle 16"/>
            <p:cNvSpPr/>
            <p:nvPr/>
          </p:nvSpPr>
          <p:spPr>
            <a:xfrm>
              <a:off x="533400" y="3958590"/>
              <a:ext cx="5951220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1797" y="4110514"/>
              <a:ext cx="9332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情况 II：调度后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52450" y="4861560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1797" y="4370546"/>
              <a:ext cx="3071622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  Loop: L.D    F0,0(R1)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2        DADDIU R1,R1,#-8    // 填进原来的空转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3        ADD.D  F4,F0,F2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4        (空转)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5        BNE    R1,R2,Loop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6        S.D    F4,8(R1)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放进分支延迟槽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789420" y="1524000"/>
            <a:ext cx="4869180" cy="2300288"/>
            <a:chOff x="6789420" y="1524000"/>
            <a:chExt cx="4869180" cy="2300288"/>
          </a:xfrm>
        </p:grpSpPr>
        <p:sp>
          <p:nvSpPr>
            <p:cNvPr id="21" name="Rectangle 21"/>
            <p:cNvSpPr/>
            <p:nvPr/>
          </p:nvSpPr>
          <p:spPr>
            <a:xfrm>
              <a:off x="6789420" y="1524000"/>
              <a:ext cx="4869180" cy="2300288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798945" y="1657350"/>
              <a:ext cx="47625" cy="20335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014210" y="1710690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87578" y="174355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调度做了三件事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014210" y="204311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69888" y="20814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95007" y="2054542"/>
              <a:ext cx="38713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DADDIU 与 L.D、ADD.D 无关，提前到第 2 拍，填掉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L.D 与 ADD.D 之间的空转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014210" y="260032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69888" y="263871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95007" y="2612708"/>
              <a:ext cx="38627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S.D 与 BNE 无关，挪到 BNE 后面的分支延迟槽里执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014210" y="315753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69888" y="319592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95007" y="3169920"/>
              <a:ext cx="39913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 已先减 8，S.D 的偏移量从 0 改成 8，访问的仍是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同一个元素</a:t>
              </a:r>
            </a:p>
          </p:txBody>
        </p:sp>
      </p:grpSp>
      <p:grpSp>
        <p:nvGrpSpPr>
          <p:cNvPr id="51" name="c2-table-2"/>
          <p:cNvGrpSpPr/>
          <p:nvPr/>
        </p:nvGrpSpPr>
        <p:grpSpPr>
          <a:xfrm>
            <a:off x="6789420" y="3994785"/>
            <a:ext cx="4869180" cy="1200150"/>
            <a:chOff x="6789420" y="3994785"/>
            <a:chExt cx="4869180" cy="1200150"/>
          </a:xfrm>
        </p:grpSpPr>
        <p:sp>
          <p:nvSpPr>
            <p:cNvPr id="35" name="Rectangle 35"/>
            <p:cNvSpPr/>
            <p:nvPr/>
          </p:nvSpPr>
          <p:spPr>
            <a:xfrm>
              <a:off x="6789420" y="3994785"/>
              <a:ext cx="486918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08278" y="41162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63829" y="4116229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周期 / 元素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14101" y="411622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其中空转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86575" y="4516279"/>
              <a:ext cx="9158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 I 不调度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73482" y="451627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74187" y="45162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789420" y="479012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89420" y="4794885"/>
              <a:ext cx="486918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86575" y="4916329"/>
              <a:ext cx="8152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 II 调度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549640" y="4804410"/>
              <a:ext cx="1625918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314945" y="491632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874187" y="491632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789420" y="3994785"/>
              <a:ext cx="4869180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535352" y="3994785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180320" y="3994785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callout-3"/>
          <p:cNvGrpSpPr/>
          <p:nvPr/>
        </p:nvGrpSpPr>
        <p:grpSpPr>
          <a:xfrm>
            <a:off x="6789420" y="5364480"/>
            <a:ext cx="4869180" cy="978218"/>
            <a:chOff x="6789420" y="5364480"/>
            <a:chExt cx="4869180" cy="978218"/>
          </a:xfrm>
        </p:grpSpPr>
        <p:sp>
          <p:nvSpPr>
            <p:cNvPr id="52" name="Rectangle 52"/>
            <p:cNvSpPr/>
            <p:nvPr/>
          </p:nvSpPr>
          <p:spPr>
            <a:xfrm>
              <a:off x="6789420" y="5364480"/>
              <a:ext cx="4869180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994208" y="5753100"/>
              <a:ext cx="200026" cy="200026"/>
              <a:chOff x="6994208" y="5753100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994208" y="57531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094220" y="5819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083108" y="58531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7296912" y="5510212"/>
              <a:ext cx="399992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 II 第 4 拍仍要空转：S.D 必须在 ADD.D（第 3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拍）之后隔 2 拍，最早第 6 拍；它占延迟槽，BNE 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能在第 5 拍。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88040" cy="909257"/>
            <a:chOff x="520446" y="342900"/>
            <a:chExt cx="50880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7087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615" y="407194"/>
              <a:ext cx="3089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概念与基本编译技术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880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 III：每 4 次循环展开成 1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212969" cy="2764440"/>
            <a:chOff x="533400" y="1533525"/>
            <a:chExt cx="5212969" cy="2764440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204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1470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复制循环体 4 份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32914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每份都是 L.D、ADD.D、S.D 三条有效指令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去掉多余的循环控制语句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30794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只留一组 DADDIU 和 BNE，R1 每遍减 32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8689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寄存器换名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162776"/>
              <a:ext cx="48003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2～4 份依次改用 F6/F8、F10/F12、F14/F16，避免副本之间出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现名相关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7547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修改下标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048601"/>
              <a:ext cx="4691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份（k = 0～3）的偏移量改为 -8k，即 0、-8、-16、-24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475798"/>
            <a:ext cx="5410200" cy="1059180"/>
            <a:chOff x="533400" y="4475798"/>
            <a:chExt cx="5410200" cy="1059180"/>
          </a:xfrm>
        </p:grpSpPr>
        <p:sp>
          <p:nvSpPr>
            <p:cNvPr id="25" name="Rectangle 25"/>
            <p:cNvSpPr/>
            <p:nvPr/>
          </p:nvSpPr>
          <p:spPr>
            <a:xfrm>
              <a:off x="533400" y="4475798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4905375"/>
              <a:ext cx="200026" cy="200026"/>
              <a:chOff x="738188" y="4905375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49053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4972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7088" y="50053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4624388"/>
              <a:ext cx="44253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个元素正好是 4 的倍数，展开后循环 250 遍；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元素个数不是 4 的倍数时，还要补一段处理剩余元素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的代码。</a:t>
              </a:r>
            </a:p>
          </p:txBody>
        </p:sp>
      </p:grpSp>
      <p:grpSp>
        <p:nvGrpSpPr>
          <p:cNvPr id="37" name="c2-code-1"/>
          <p:cNvGrpSpPr/>
          <p:nvPr/>
        </p:nvGrpSpPr>
        <p:grpSpPr>
          <a:xfrm>
            <a:off x="6248400" y="1524000"/>
            <a:ext cx="5410200" cy="3342322"/>
            <a:chOff x="6248400" y="1524000"/>
            <a:chExt cx="5410200" cy="3342322"/>
          </a:xfrm>
        </p:grpSpPr>
        <p:sp>
          <p:nvSpPr>
            <p:cNvPr id="32" name="Rectangle 32"/>
            <p:cNvSpPr/>
            <p:nvPr/>
          </p:nvSpPr>
          <p:spPr>
            <a:xfrm>
              <a:off x="6248400" y="1524000"/>
              <a:ext cx="5410200" cy="3342322"/>
            </a:xfrm>
            <a:prstGeom prst="roundRect">
              <a:avLst>
                <a:gd name="adj" fmla="val 28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76797" y="16759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展开后的循环体（尚未调度）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67450" y="4330065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67450" y="4532948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76035" y="1937861"/>
              <a:ext cx="1888998" cy="2857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Loop: L.D    F0,0(R1)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ADD.D  F4,F0,F2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S.D    F4,0(R1)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L.D    F6,-8(R1)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ADD.D  F8,F6,F2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S.D    F8,-8(R1)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L.D    F10,-16(R1)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ADD.D  F12,F10,F2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S.D    F12,-16(R1)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L.D    F14,-24(R1)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ADD.D  F16,F14,F2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S.D    F16,-24(R1)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DADDIU R1,R1,#-32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BNE    R1,R2,Loop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8" name="Rectangle 3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130" y="5991225"/>
              <a:ext cx="10343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展开本身不减少数据相关造成的空转，它把 4 份互不相关的指令放进同一个循环体，给下一步调度留出重排的余地。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63774" cy="909257"/>
            <a:chOff x="520446" y="342900"/>
            <a:chExt cx="68637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7087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615" y="407194"/>
              <a:ext cx="3089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概念与基本编译技术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63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 III 的时序：28 个周期里有 14 个在空转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0" name="c1-table-1"/>
          <p:cNvGrpSpPr/>
          <p:nvPr/>
        </p:nvGrpSpPr>
        <p:grpSpPr>
          <a:xfrm>
            <a:off x="527685" y="1524000"/>
            <a:ext cx="6281737" cy="2993232"/>
            <a:chOff x="527685" y="1524000"/>
            <a:chExt cx="6281737" cy="29932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286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副本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19100" y="1659731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L.D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3219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62696" y="1659731"/>
              <a:ext cx="538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ADD.D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0096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99472" y="1659731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S.D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2108359"/>
              <a:ext cx="21067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份（F0→F4，偏移 0）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2942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5712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7816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92351" y="210835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4、5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0980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42125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2556986"/>
              <a:ext cx="22062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份（F6→F8，偏移 -8）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2942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57127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7816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97579" y="2556986"/>
              <a:ext cx="5643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10、11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62416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8660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005614"/>
              <a:ext cx="1841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份（F10→F12，偏移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-16）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382043" y="31189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09741" y="31189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30783" y="31189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97579" y="3118961"/>
              <a:ext cx="5643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16、17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62416" y="31189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54139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546158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1223" y="3680936"/>
              <a:ext cx="1841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份（F14→F16，偏移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-24）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382043" y="379428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009741" y="379428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30783" y="379428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97579" y="3794284"/>
              <a:ext cx="5643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22、23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62416" y="379428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1524000"/>
              <a:ext cx="6276022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3164205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791902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419600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235892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114098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7685" y="4297204"/>
              <a:ext cx="4655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循环控制：DADDIU 第 25 拍，空转 26，BNE 第 27 拍，延迟槽空转 28</a:t>
              </a:r>
            </a:p>
          </p:txBody>
        </p:sp>
      </p:grpSp>
      <p:grpSp>
        <p:nvGrpSpPr>
          <p:cNvPr id="109" name="c1-cells-2"/>
          <p:cNvGrpSpPr/>
          <p:nvPr/>
        </p:nvGrpSpPr>
        <p:grpSpPr>
          <a:xfrm>
            <a:off x="527685" y="4663440"/>
            <a:ext cx="4550093" cy="819150"/>
            <a:chOff x="527685" y="4663440"/>
            <a:chExt cx="4550093" cy="819150"/>
          </a:xfrm>
        </p:grpSpPr>
        <p:sp>
          <p:nvSpPr>
            <p:cNvPr id="51" name="TextBox 51"/>
            <p:cNvSpPr txBox="1"/>
            <p:nvPr/>
          </p:nvSpPr>
          <p:spPr>
            <a:xfrm>
              <a:off x="527685" y="4755356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1–14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77278" y="4663440"/>
              <a:ext cx="285750" cy="3238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168437" y="47553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363028" y="4663440"/>
              <a:ext cx="28575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456651" y="4755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648778" y="4663440"/>
              <a:ext cx="285750" cy="3238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739937" y="47553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934528" y="4663440"/>
              <a:ext cx="28575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028151" y="4755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2220278" y="4663440"/>
              <a:ext cx="28575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313901" y="4755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2506028" y="4663440"/>
              <a:ext cx="285750" cy="3238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597187" y="47553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2791778" y="4663440"/>
              <a:ext cx="285750" cy="3238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882937" y="47553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3077528" y="4663440"/>
              <a:ext cx="28575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171151" y="4755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3363278" y="4663440"/>
              <a:ext cx="285750" cy="3238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3454437" y="47553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3649028" y="4663440"/>
              <a:ext cx="28575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3742651" y="4755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3934778" y="4663440"/>
              <a:ext cx="28575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028401" y="4755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4220528" y="4663440"/>
              <a:ext cx="285750" cy="3238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4311687" y="47553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4506278" y="4663440"/>
              <a:ext cx="285750" cy="3238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4597437" y="47553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4792028" y="4663440"/>
              <a:ext cx="28575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4885651" y="4755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27685" y="525065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15–28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1077278" y="5158740"/>
              <a:ext cx="285750" cy="3238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168437" y="52506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1363028" y="5158740"/>
              <a:ext cx="28575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456651" y="52506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1648778" y="5158740"/>
              <a:ext cx="28575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742401" y="52506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1934528" y="5158740"/>
              <a:ext cx="285750" cy="3238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2025687" y="52506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2220278" y="5158740"/>
              <a:ext cx="285750" cy="3238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2311437" y="52506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2506028" y="5158740"/>
              <a:ext cx="28575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2599651" y="52506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2791778" y="5158740"/>
              <a:ext cx="285750" cy="3238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2882937" y="52506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3077528" y="5158740"/>
              <a:ext cx="28575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3171151" y="52506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3363278" y="5158740"/>
              <a:ext cx="28575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3456901" y="52506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3649028" y="5158740"/>
              <a:ext cx="285750" cy="3238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3740187" y="52506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3934778" y="5158740"/>
              <a:ext cx="285750" cy="323850"/>
            </a:xfrm>
            <a:prstGeom prst="rect">
              <a:avLst/>
            </a:prstGeom>
            <a:solidFill>
              <a:srgbClr val="F26B3A"/>
            </a:solidFill>
            <a:ln w="15240">
              <a:solidFill>
                <a:srgbClr val="F26B3A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4025937" y="52506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4220528" y="5158740"/>
              <a:ext cx="28575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4314151" y="52506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4506278" y="5158740"/>
              <a:ext cx="285750" cy="323850"/>
            </a:xfrm>
            <a:prstGeom prst="rect">
              <a:avLst/>
            </a:prstGeom>
            <a:solidFill>
              <a:srgbClr val="F26B3A"/>
            </a:solidFill>
            <a:ln w="15240">
              <a:solidFill>
                <a:srgbClr val="F26B3A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4597437" y="52506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4792028" y="5158740"/>
              <a:ext cx="28575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4885651" y="52506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</p:grpSp>
      <p:grpSp>
        <p:nvGrpSpPr>
          <p:cNvPr id="111" name="c1-text-3"/>
          <p:cNvGrpSpPr/>
          <p:nvPr/>
        </p:nvGrpSpPr>
        <p:grpSpPr>
          <a:xfrm>
            <a:off x="526923" y="5694521"/>
            <a:ext cx="5016876" cy="249364"/>
            <a:chOff x="526923" y="5694521"/>
            <a:chExt cx="5016876" cy="249364"/>
          </a:xfrm>
        </p:grpSpPr>
        <p:sp>
          <p:nvSpPr>
            <p:cNvPr id="110" name="TextBox 110"/>
            <p:cNvSpPr txBox="1"/>
            <p:nvPr/>
          </p:nvSpPr>
          <p:spPr>
            <a:xfrm>
              <a:off x="526923" y="5694521"/>
              <a:ext cx="50168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 = L.D，A = ADD.D，S = S.D，D = DADDIU，B = BNE，· = 空转</a:t>
              </a:r>
            </a:p>
          </p:txBody>
        </p:sp>
      </p:grpSp>
      <p:grpSp>
        <p:nvGrpSpPr>
          <p:cNvPr id="123" name="c2-card-1"/>
          <p:cNvGrpSpPr/>
          <p:nvPr/>
        </p:nvGrpSpPr>
        <p:grpSpPr>
          <a:xfrm>
            <a:off x="7114222" y="1524000"/>
            <a:ext cx="4544378" cy="2893695"/>
            <a:chOff x="7114222" y="1524000"/>
            <a:chExt cx="4544378" cy="2893695"/>
          </a:xfrm>
        </p:grpSpPr>
        <p:sp>
          <p:nvSpPr>
            <p:cNvPr id="112" name="Rectangle 112"/>
            <p:cNvSpPr/>
            <p:nvPr/>
          </p:nvSpPr>
          <p:spPr>
            <a:xfrm>
              <a:off x="7114222" y="1524000"/>
              <a:ext cx="4544378" cy="2893695"/>
            </a:xfrm>
            <a:prstGeom prst="roundRect">
              <a:avLst>
                <a:gd name="adj" fmla="val 460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73237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74051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结果分析</a:t>
              </a:r>
            </a:p>
          </p:txBody>
        </p:sp>
        <p:sp>
          <p:nvSpPr>
            <p:cNvPr id="115" name="Ellipse 115"/>
            <p:cNvSpPr/>
            <p:nvPr/>
          </p:nvSpPr>
          <p:spPr>
            <a:xfrm>
              <a:off x="7329488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7487602" y="2110740"/>
              <a:ext cx="34177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每遍循环用 28 个周期，完成 4 个元素</a:t>
              </a:r>
            </a:p>
          </p:txBody>
        </p:sp>
        <p:sp>
          <p:nvSpPr>
            <p:cNvPr id="117" name="Ellipse 117"/>
            <p:cNvSpPr/>
            <p:nvPr/>
          </p:nvSpPr>
          <p:spPr>
            <a:xfrm>
              <a:off x="7329488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7487602" y="2446020"/>
              <a:ext cx="3653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平均每个元素 28 / 4 = 7 个周期，原始循环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 10 个</a:t>
              </a:r>
            </a:p>
          </p:txBody>
        </p:sp>
        <p:sp>
          <p:nvSpPr>
            <p:cNvPr id="119" name="Ellipse 119"/>
            <p:cNvSpPr/>
            <p:nvPr/>
          </p:nvSpPr>
          <p:spPr>
            <a:xfrm>
              <a:off x="7329488" y="312991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7487602" y="3067050"/>
              <a:ext cx="3796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节省的时间来自循环控制开销：4 个元素只做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次 DADDIU 和 BNE</a:t>
              </a:r>
            </a:p>
          </p:txBody>
        </p:sp>
        <p:sp>
          <p:nvSpPr>
            <p:cNvPr id="121" name="Ellipse 121"/>
            <p:cNvSpPr/>
            <p:nvPr/>
          </p:nvSpPr>
          <p:spPr>
            <a:xfrm>
              <a:off x="7329488" y="375094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7487602" y="368808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实际指令只有 14 条，另外 14 个周期都在空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转，效率仍然不高</a:t>
              </a:r>
            </a:p>
          </p:txBody>
        </p:sp>
      </p:grpSp>
      <p:grpSp>
        <p:nvGrpSpPr>
          <p:cNvPr id="130" name="c2-callout-2"/>
          <p:cNvGrpSpPr/>
          <p:nvPr/>
        </p:nvGrpSpPr>
        <p:grpSpPr>
          <a:xfrm>
            <a:off x="7114222" y="4608195"/>
            <a:ext cx="4544378" cy="1059180"/>
            <a:chOff x="7114222" y="4608195"/>
            <a:chExt cx="4544378" cy="1059180"/>
          </a:xfrm>
        </p:grpSpPr>
        <p:sp>
          <p:nvSpPr>
            <p:cNvPr id="124" name="Rectangle 124"/>
            <p:cNvSpPr/>
            <p:nvPr/>
          </p:nvSpPr>
          <p:spPr>
            <a:xfrm>
              <a:off x="7114222" y="4608195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28" name="Group 128"/>
            <p:cNvGrpSpPr/>
            <p:nvPr/>
          </p:nvGrpSpPr>
          <p:grpSpPr>
            <a:xfrm>
              <a:off x="7306952" y="5034081"/>
              <a:ext cx="224134" cy="192560"/>
              <a:chOff x="7306952" y="5034081"/>
              <a:chExt cx="224134" cy="192560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7419023" y="51044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26" name="Freeform 126"/>
              <p:cNvSpPr/>
              <p:nvPr/>
            </p:nvSpPr>
            <p:spPr>
              <a:xfrm>
                <a:off x="7306952" y="50340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27" name="Freeform 127"/>
              <p:cNvSpPr/>
              <p:nvPr/>
            </p:nvSpPr>
            <p:spPr>
              <a:xfrm>
                <a:off x="7419023" y="51822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29" name="TextBox 129"/>
            <p:cNvSpPr txBox="1"/>
            <p:nvPr/>
          </p:nvSpPr>
          <p:spPr>
            <a:xfrm>
              <a:off x="7620952" y="4756785"/>
              <a:ext cx="35966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空转都出在每份副本内部：L.D → ADD.D →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S.D 仍按原顺序紧挨着排，每份都要空转 3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拍。</a:t>
              </a:r>
            </a:p>
          </p:txBody>
        </p:sp>
      </p:grpSp>
      <p:grpSp>
        <p:nvGrpSpPr>
          <p:cNvPr id="1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1" name="TextBox 131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34126" cy="909257"/>
            <a:chOff x="520446" y="342900"/>
            <a:chExt cx="78341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7087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615" y="407194"/>
              <a:ext cx="3089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概念与基本编译技术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341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 IV：对展开后的循环调度，14 个周期没有空转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4977765" cy="3154680"/>
            <a:chOff x="533400" y="1524000"/>
            <a:chExt cx="4977765" cy="31546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3154680"/>
            </a:xfrm>
            <a:prstGeom prst="roundRect">
              <a:avLst>
                <a:gd name="adj" fmla="val 301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932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情况 IV（左列为指令流出时钟）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790950"/>
              <a:ext cx="493966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980498"/>
              <a:ext cx="493966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416" y="1937385"/>
              <a:ext cx="2064258" cy="26694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  Loop: L.D    F0,0(R1)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2        L.D    F6,-8(R1)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3        L.D    F10,-16(R1)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4        L.D    F14,-24(R1)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5        ADD.D  F4,F0,F2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6        ADD.D  F8,F6,F2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7        ADD.D  F12,F10,F2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8        ADD.D  F16,F14,F2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9        S.D    F4,0(R1)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10        S.D    F8,-8(R1)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11        DADDIU R1,R1,#-32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12        S.D    F12,16(R1)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13        BNE    R1,R2,Loop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14        S.D    F16,8(R1)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5815965" y="1524000"/>
            <a:ext cx="5842635" cy="2122170"/>
            <a:chOff x="5815965" y="1524000"/>
            <a:chExt cx="5842635" cy="2122170"/>
          </a:xfrm>
        </p:grpSpPr>
        <p:sp>
          <p:nvSpPr>
            <p:cNvPr id="13" name="Rectangle 13"/>
            <p:cNvSpPr/>
            <p:nvPr/>
          </p:nvSpPr>
          <p:spPr>
            <a:xfrm>
              <a:off x="5815965" y="1524000"/>
              <a:ext cx="584263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90513" y="165258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检查相关的指令对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83359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流出时钟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9646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4802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18454" y="2076450"/>
              <a:ext cx="17058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L.D F14 → ADD.D F16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24710" y="2076450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→ 8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13582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896486" y="2076450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815965" y="23679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815965" y="2372678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18454" y="2501265"/>
              <a:ext cx="15086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ADD.D F4 → S.D F4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24710" y="2501265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→ 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913582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896486" y="2501265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815965" y="279273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18454" y="2926080"/>
              <a:ext cx="17058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ADD.D F12 → S.D F12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80285" y="292608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→ 12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13582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896486" y="2926080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2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815965" y="32165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15965" y="3221355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18454" y="3349942"/>
              <a:ext cx="10606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DADDIU → BNE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35860" y="3349942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→ 13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13582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96486" y="3349942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1524000"/>
              <a:ext cx="5842635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264842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550718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367962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rd-2"/>
          <p:cNvGrpSpPr/>
          <p:nvPr/>
        </p:nvGrpSpPr>
        <p:grpSpPr>
          <a:xfrm>
            <a:off x="5815965" y="3826192"/>
            <a:ext cx="5842635" cy="1793558"/>
            <a:chOff x="5815965" y="3826192"/>
            <a:chExt cx="5842635" cy="1793558"/>
          </a:xfrm>
        </p:grpSpPr>
        <p:sp>
          <p:nvSpPr>
            <p:cNvPr id="44" name="Rectangle 44"/>
            <p:cNvSpPr/>
            <p:nvPr/>
          </p:nvSpPr>
          <p:spPr>
            <a:xfrm>
              <a:off x="5815965" y="3826192"/>
              <a:ext cx="5842635" cy="1793558"/>
            </a:xfrm>
            <a:prstGeom prst="roundRect">
              <a:avLst>
                <a:gd name="adj" fmla="val 74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825490" y="3959542"/>
              <a:ext cx="47625" cy="15268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52185" y="402431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43625" y="40586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44946" y="4384834"/>
              <a:ext cx="5100066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原课件标为 DADDIU 第 12 拍、S.D F12,16(R1) 第 11 拍。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16(R1) 按减 32 后的 R1 计算，S.D 必须排在 DADDIU 之后；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DADDIU 在第 12 拍也与 BNE 之间没空出 1 拍。应为 DADDIU 11、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S.D 12。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5815965" y="5800725"/>
            <a:ext cx="5842635" cy="503872"/>
            <a:chOff x="5815965" y="5800725"/>
            <a:chExt cx="5842635" cy="503872"/>
          </a:xfrm>
        </p:grpSpPr>
        <p:sp>
          <p:nvSpPr>
            <p:cNvPr id="50" name="Rectangle 50"/>
            <p:cNvSpPr/>
            <p:nvPr/>
          </p:nvSpPr>
          <p:spPr>
            <a:xfrm>
              <a:off x="5815965" y="5800725"/>
              <a:ext cx="5842635" cy="503872"/>
            </a:xfrm>
            <a:prstGeom prst="roundRect">
              <a:avLst>
                <a:gd name="adj" fmla="val 22684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020753" y="5952173"/>
              <a:ext cx="200026" cy="200026"/>
              <a:chOff x="6020753" y="5952173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020753" y="59521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087428" y="602996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323076" y="5952649"/>
              <a:ext cx="51949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每遍 14 个周期完成 4 个元素，平均 3.5 个周期，没有空转。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7087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615" y="407194"/>
              <a:ext cx="3089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概念与基本编译技术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四种情况对比，以及展开和调度时要注意什么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28066" y="1524000"/>
            <a:ext cx="4874514" cy="2588514"/>
            <a:chOff x="528066" y="1524000"/>
            <a:chExt cx="4874514" cy="25885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675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2405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25156" y="1652588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周期 / 元素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08729" y="1652588"/>
              <a:ext cx="9208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1000 个元素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1416" y="2076450"/>
              <a:ext cx="65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7879" y="20764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不调度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56927" y="20764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6717" y="207645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10 000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6791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72678"/>
              <a:ext cx="486918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4532" y="2501265"/>
              <a:ext cx="1197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17879" y="250126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只调度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01352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1142" y="2501265"/>
              <a:ext cx="416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6 000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9273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7649" y="2926080"/>
              <a:ext cx="1734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III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17879" y="292608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 4 次，不调度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01352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61142" y="2926080"/>
              <a:ext cx="416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7 000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1659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221355"/>
              <a:ext cx="486918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92129" y="3349942"/>
              <a:ext cx="164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IV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17879" y="3349942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 + 换名 + 调度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77515" y="3230880"/>
              <a:ext cx="1149668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412503" y="334994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146232" y="3230880"/>
              <a:ext cx="1246822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61142" y="3349942"/>
              <a:ext cx="416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3 500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524000"/>
              <a:ext cx="4869180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210628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963228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131945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8066" y="3720465"/>
              <a:ext cx="457790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1000 个元素的周期数 = 每遍周期数 × 遍数（1000 或 250），未计循环前后的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少量周期</a:t>
              </a:r>
            </a:p>
          </p:txBody>
        </p:sp>
      </p:grpSp>
      <p:grpSp>
        <p:nvGrpSpPr>
          <p:cNvPr id="46" name="c1-callout-2"/>
          <p:cNvGrpSpPr/>
          <p:nvPr/>
        </p:nvGrpSpPr>
        <p:grpSpPr>
          <a:xfrm>
            <a:off x="533400" y="4251960"/>
            <a:ext cx="4869180" cy="756285"/>
            <a:chOff x="533400" y="4251960"/>
            <a:chExt cx="4869180" cy="756285"/>
          </a:xfrm>
        </p:grpSpPr>
        <p:sp>
          <p:nvSpPr>
            <p:cNvPr id="41" name="Rectangle 41"/>
            <p:cNvSpPr/>
            <p:nvPr/>
          </p:nvSpPr>
          <p:spPr>
            <a:xfrm>
              <a:off x="533400" y="4251960"/>
              <a:ext cx="4869180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4530092"/>
              <a:ext cx="200023" cy="200023"/>
              <a:chOff x="738188" y="4530092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453009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1538" y="45967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511" y="4399121"/>
              <a:ext cx="383768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情况 IV 相对情况 I 的加速比为 10 / 3.5 ≈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2.86；单独调度或单独展开都达不到这个效果。</a:t>
              </a:r>
            </a:p>
          </p:txBody>
        </p:sp>
      </p:grpSp>
      <p:grpSp>
        <p:nvGrpSpPr>
          <p:cNvPr id="60" name="c2-bullets-1"/>
          <p:cNvGrpSpPr/>
          <p:nvPr/>
        </p:nvGrpSpPr>
        <p:grpSpPr>
          <a:xfrm>
            <a:off x="5700141" y="1547336"/>
            <a:ext cx="5676138" cy="3062859"/>
            <a:chOff x="5700141" y="1547336"/>
            <a:chExt cx="5676138" cy="3062859"/>
          </a:xfrm>
        </p:grpSpPr>
        <p:sp>
          <p:nvSpPr>
            <p:cNvPr id="47" name="TextBox 47"/>
            <p:cNvSpPr txBox="1"/>
            <p:nvPr/>
          </p:nvSpPr>
          <p:spPr>
            <a:xfrm>
              <a:off x="5700141" y="1547336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循环展开和指令调度时的注意事项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5707380" y="1913572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51601" y="1883569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保证正确性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：尤其是循环控制和操作数偏移量的修改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5707380" y="224028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51601" y="2210276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注意有效性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：只有不同循环体之间互不相关，展开才有效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5707380" y="2566988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51601" y="2536984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各副本使用不同的寄存器，否则可能产生新的冲突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5707380" y="2893695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951601" y="2863691"/>
              <a:ext cx="54246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删除多余的测试指令和分支指令，并修正循环结束代码和新循环体的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5707380" y="3491865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951601" y="3461861"/>
              <a:ext cx="535254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分析存储器数据的相关性：load 和 store 在不同迭代中访问的地址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不同，就互相独立，可以对调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5707380" y="4090035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951601" y="4060031"/>
              <a:ext cx="54246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注意新的相关性：原循环不同次的迭代展开后到了同一个循环体里，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可能带来新的相关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5707380" y="4733925"/>
            <a:ext cx="5951220" cy="1522095"/>
            <a:chOff x="5707380" y="4733925"/>
            <a:chExt cx="5951220" cy="1522095"/>
          </a:xfrm>
        </p:grpSpPr>
        <p:sp>
          <p:nvSpPr>
            <p:cNvPr id="61" name="Rectangle 61"/>
            <p:cNvSpPr/>
            <p:nvPr/>
          </p:nvSpPr>
          <p:spPr>
            <a:xfrm>
              <a:off x="5707380" y="4733925"/>
              <a:ext cx="5951220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5716905" y="4867275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943600" y="4932045"/>
              <a:ext cx="18097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995035" y="4966335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反例：迭代之间有数据相关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936361" y="5292566"/>
              <a:ext cx="525335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若循环体是 x[i] = x[i−1] + s，第 i 次迭代要读第 i−1 次刚写入的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x[i−1]，展开后的各份副本之间有数据相关，就不能像例题那样把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条 L.D 排在最前面。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35499" cy="3351847"/>
            <a:chOff x="667512" y="1835468"/>
            <a:chExt cx="513549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动态调度解决数据冒险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让无关的指令先执行，再用换名堵住乱序带来的漏洞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静态调度与动态调度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乱序执行引出的名相关问题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9801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Tomasulo 算法的结构与三个阶段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实例演示与两道周期表例题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回顾：各类相关引起什么冲突，静态方法怎样应对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6276022" cy="2973705"/>
            <a:chOff x="533400" y="1524000"/>
            <a:chExt cx="6276022" cy="29737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19187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21876" y="16525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引起的冲突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87709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静态对策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889" y="207645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（无对应相关）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41792" y="2076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结构冲突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26852" y="207645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停顿；重复设置资源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6791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72678"/>
              <a:ext cx="6276022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889" y="26079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数据相关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41792" y="2607945"/>
              <a:ext cx="16715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数据冲突：写后读 RAW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26852" y="2501265"/>
              <a:ext cx="19552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定向（旁路 forwarding）；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编译器指令调度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060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313944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反相关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41792" y="3139440"/>
              <a:ext cx="16715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数据冲突：读后写 WAR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6852" y="313944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编译器静态调度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995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434715"/>
              <a:ext cx="627602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356330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输出相关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41792" y="3563302"/>
              <a:ext cx="1705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数据冲突：写后写 WAW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26852" y="356330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编译器静态调度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8547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889" y="409479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控制相关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41792" y="409479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控制冲突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6852" y="3988118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预测分支失败；预测分支成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功；延迟分支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276022" cy="29737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034540" y="1524000"/>
              <a:ext cx="9525" cy="2973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419600" y="1524000"/>
              <a:ext cx="9525" cy="2973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card-2"/>
          <p:cNvGrpSpPr/>
          <p:nvPr/>
        </p:nvGrpSpPr>
        <p:grpSpPr>
          <a:xfrm>
            <a:off x="533400" y="4677728"/>
            <a:ext cx="6276022" cy="1250632"/>
            <a:chOff x="533400" y="4677728"/>
            <a:chExt cx="6276022" cy="1250632"/>
          </a:xfrm>
        </p:grpSpPr>
        <p:sp>
          <p:nvSpPr>
            <p:cNvPr id="36" name="Rectangle 36"/>
            <p:cNvSpPr/>
            <p:nvPr/>
          </p:nvSpPr>
          <p:spPr>
            <a:xfrm>
              <a:off x="533400" y="4677728"/>
              <a:ext cx="6276022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811078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9620" y="487584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1060" y="49101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2381" y="5236369"/>
              <a:ext cx="546074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原课件此页把"停顿、重复设置资源"列在第一个"控制冲突"下面，它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们是结构冲突的对策，控制冲突的对策在表的最后一行。</a:t>
              </a:r>
            </a:p>
          </p:txBody>
        </p:sp>
      </p:grpSp>
      <p:grpSp>
        <p:nvGrpSpPr>
          <p:cNvPr id="50" name="c2-kv-1"/>
          <p:cNvGrpSpPr/>
          <p:nvPr/>
        </p:nvGrpSpPr>
        <p:grpSpPr>
          <a:xfrm>
            <a:off x="7106984" y="1547336"/>
            <a:ext cx="4551616" cy="1915097"/>
            <a:chOff x="7106984" y="1547336"/>
            <a:chExt cx="4551616" cy="1915097"/>
          </a:xfrm>
        </p:grpSpPr>
        <p:sp>
          <p:nvSpPr>
            <p:cNvPr id="42" name="TextBox 42"/>
            <p:cNvSpPr txBox="1"/>
            <p:nvPr/>
          </p:nvSpPr>
          <p:spPr>
            <a:xfrm>
              <a:off x="7106984" y="1547336"/>
              <a:ext cx="4068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RAW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58494" y="1547336"/>
              <a:ext cx="3684397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 After Write：j 要读 i 写的结果，i 还没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 j 就去读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114222" y="211836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06984" y="2231231"/>
              <a:ext cx="4068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WAR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58494" y="2231231"/>
              <a:ext cx="3684397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 After Read：j 写 i 要读的名，乱序时 j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先写，i 读到新值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114222" y="280225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06984" y="2916079"/>
              <a:ext cx="449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WAW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58494" y="2916079"/>
              <a:ext cx="3738499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 After Write：i、j 写同一个名，乱序时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先写 i 后写，最后留下 i 的值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7114222" y="3586162"/>
            <a:ext cx="4544378" cy="1018222"/>
            <a:chOff x="7114222" y="3586162"/>
            <a:chExt cx="4544378" cy="1018222"/>
          </a:xfrm>
        </p:grpSpPr>
        <p:sp>
          <p:nvSpPr>
            <p:cNvPr id="51" name="Rectangle 51"/>
            <p:cNvSpPr/>
            <p:nvPr/>
          </p:nvSpPr>
          <p:spPr>
            <a:xfrm>
              <a:off x="7114222" y="3586162"/>
              <a:ext cx="4544378" cy="1018222"/>
            </a:xfrm>
            <a:prstGeom prst="roundRect">
              <a:avLst>
                <a:gd name="adj" fmla="val 1122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19010" y="3995740"/>
              <a:ext cx="200023" cy="200023"/>
              <a:chOff x="7319010" y="3995740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19010" y="39957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452360" y="40624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621334" y="3733324"/>
              <a:ext cx="362127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静态方法在编译时或靠固定的流水线结构处理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相关。编译时情况不明的相关（例如访存地址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的相关）只能在执行过程中用硬件调度。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静态调度与动态调度，顺序执行与乱序执行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1760220"/>
            <a:chOff x="533400" y="1524000"/>
            <a:chExt cx="5410200" cy="17602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558" y="174355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调度发生的时间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46720" y="1745932"/>
              <a:ext cx="1792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静态调度 vs 动态调度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12788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07168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静态调度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：依靠编译器，在代码执行之前调度；把相关的指令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拉开距离，减少可能产生的停顿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6850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62890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动态调度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：在程序执行过程中，依靠专门硬件调度，减少数据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相关导致的停顿</a:t>
              </a:r>
            </a:p>
          </p:txBody>
        </p:sp>
      </p:grpSp>
      <p:grpSp>
        <p:nvGrpSpPr>
          <p:cNvPr id="45" name="c1-table-2"/>
          <p:cNvGrpSpPr/>
          <p:nvPr/>
        </p:nvGrpSpPr>
        <p:grpSpPr>
          <a:xfrm>
            <a:off x="533400" y="3453765"/>
            <a:ext cx="5410200" cy="2600325"/>
            <a:chOff x="533400" y="3453765"/>
            <a:chExt cx="5410200" cy="2600325"/>
          </a:xfrm>
        </p:grpSpPr>
        <p:sp>
          <p:nvSpPr>
            <p:cNvPr id="17" name="Rectangle 17"/>
            <p:cNvSpPr/>
            <p:nvPr/>
          </p:nvSpPr>
          <p:spPr>
            <a:xfrm>
              <a:off x="533400" y="3453765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13053" y="357520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95981" y="35752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静态调度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89551" y="35752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动态调度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0555" y="39752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由谁调度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53615" y="397525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47185" y="39752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专门硬件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2491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253865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0555" y="43753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何时调度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53615" y="437530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代码执行之前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47185" y="437530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程序执行过程中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6491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0555" y="4775359"/>
              <a:ext cx="12915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编译时情况不明的相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53615" y="487537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处理不了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47185" y="4775359"/>
              <a:ext cx="1433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能处理（如访存地址相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2492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525399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0555" y="537543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代码换一种流水线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53615" y="537543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可能不再最优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47185" y="537543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仍能高效执行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6492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0555" y="57754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253615" y="57754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编译时间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147185" y="577548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硬件复杂性显著增加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3453765"/>
              <a:ext cx="5410200" cy="26003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2151698" y="3453765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045268" y="3453765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rd-1"/>
          <p:cNvGrpSpPr/>
          <p:nvPr/>
        </p:nvGrpSpPr>
        <p:grpSpPr>
          <a:xfrm>
            <a:off x="6248400" y="1524000"/>
            <a:ext cx="5410200" cy="1503045"/>
            <a:chOff x="6248400" y="1524000"/>
            <a:chExt cx="5410200" cy="1503045"/>
          </a:xfrm>
        </p:grpSpPr>
        <p:sp>
          <p:nvSpPr>
            <p:cNvPr id="46" name="Rectangle 46"/>
            <p:cNvSpPr/>
            <p:nvPr/>
          </p:nvSpPr>
          <p:spPr>
            <a:xfrm>
              <a:off x="6248400" y="1524000"/>
              <a:ext cx="5410200" cy="1503045"/>
            </a:xfrm>
            <a:prstGeom prst="roundRect">
              <a:avLst>
                <a:gd name="adj" fmla="val 88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57925" y="1657350"/>
              <a:ext cx="47625" cy="12363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3190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4660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完成的顺序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12164" y="1745932"/>
              <a:ext cx="1792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顺序执行 vs 乱序执行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81762" y="212788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37782" y="207168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顺序执行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：指令放入流水线的顺序和完成的顺序一致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481762" y="242792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37782" y="2371725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乱序执行：两者不一致，有些指令进入流水线后被阻塞，后进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入的指令反而先完成</a:t>
              </a:r>
            </a:p>
          </p:txBody>
        </p:sp>
      </p:grpSp>
      <p:grpSp>
        <p:nvGrpSpPr>
          <p:cNvPr id="70" name="c2-cells-2"/>
          <p:cNvGrpSpPr/>
          <p:nvPr/>
        </p:nvGrpSpPr>
        <p:grpSpPr>
          <a:xfrm>
            <a:off x="6243066" y="3196590"/>
            <a:ext cx="2446591" cy="888683"/>
            <a:chOff x="6243066" y="3196590"/>
            <a:chExt cx="2446591" cy="888683"/>
          </a:xfrm>
        </p:grpSpPr>
        <p:sp>
          <p:nvSpPr>
            <p:cNvPr id="56" name="TextBox 56"/>
            <p:cNvSpPr txBox="1"/>
            <p:nvPr/>
          </p:nvSpPr>
          <p:spPr>
            <a:xfrm>
              <a:off x="6243066" y="33156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进入顺序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915150" y="3196590"/>
              <a:ext cx="59150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22925" y="3315652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506652" y="3196590"/>
              <a:ext cx="59150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14427" y="3315652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指令2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098155" y="3196590"/>
              <a:ext cx="59150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205930" y="3315652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43066" y="383571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完成顺序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915150" y="3716655"/>
              <a:ext cx="59150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022925" y="3835718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指令1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506652" y="3716655"/>
              <a:ext cx="591502" cy="368618"/>
            </a:xfrm>
            <a:prstGeom prst="rect">
              <a:avLst/>
            </a:prstGeom>
            <a:solidFill>
              <a:srgbClr val="F26B3A"/>
            </a:solidFill>
            <a:ln w="15240">
              <a:solidFill>
                <a:srgbClr val="F26B3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614427" y="3835718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指令3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098155" y="3716655"/>
              <a:ext cx="59150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205930" y="3835718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指令2</a:t>
              </a:r>
            </a:p>
          </p:txBody>
        </p:sp>
      </p:grpSp>
      <p:grpSp>
        <p:nvGrpSpPr>
          <p:cNvPr id="76" name="c2-card-3"/>
          <p:cNvGrpSpPr/>
          <p:nvPr/>
        </p:nvGrpSpPr>
        <p:grpSpPr>
          <a:xfrm>
            <a:off x="6248400" y="4254818"/>
            <a:ext cx="5410200" cy="1185862"/>
            <a:chOff x="6248400" y="4254818"/>
            <a:chExt cx="5410200" cy="1185862"/>
          </a:xfrm>
        </p:grpSpPr>
        <p:sp>
          <p:nvSpPr>
            <p:cNvPr id="71" name="Rectangle 71"/>
            <p:cNvSpPr/>
            <p:nvPr/>
          </p:nvSpPr>
          <p:spPr>
            <a:xfrm>
              <a:off x="6248400" y="4254818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257925" y="438816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473190" y="444150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557759" y="447436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注意区分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66332" y="4786312"/>
              <a:ext cx="48057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乱序执行不等于乱序流出。后面的 Tomasulo 算法中，指令仍按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程序顺序流出，变的是开始执行和完成的顺序。</a:t>
              </a:r>
            </a:p>
          </p:txBody>
        </p:sp>
      </p:grpSp>
      <p:grpSp>
        <p:nvGrpSpPr>
          <p:cNvPr id="83" name="c2-callout-4"/>
          <p:cNvGrpSpPr/>
          <p:nvPr/>
        </p:nvGrpSpPr>
        <p:grpSpPr>
          <a:xfrm>
            <a:off x="6248400" y="5610225"/>
            <a:ext cx="5410200" cy="729615"/>
            <a:chOff x="6248400" y="5610225"/>
            <a:chExt cx="5410200" cy="729615"/>
          </a:xfrm>
        </p:grpSpPr>
        <p:sp>
          <p:nvSpPr>
            <p:cNvPr id="77" name="Rectangle 77"/>
            <p:cNvSpPr/>
            <p:nvPr/>
          </p:nvSpPr>
          <p:spPr>
            <a:xfrm>
              <a:off x="6248400" y="561022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6441129" y="5871328"/>
              <a:ext cx="224134" cy="192560"/>
              <a:chOff x="6441129" y="5871328"/>
              <a:chExt cx="224134" cy="19256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6553200" y="594169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441129" y="587132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6553200" y="60194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6755892" y="5756910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动态调度一定会带来乱序执行。后面两页先看它解决了什么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问题，再看它引出的新问题。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19478" cy="909257"/>
            <a:chOff x="520446" y="342900"/>
            <a:chExt cx="66194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194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问题一：与谁都无关的指令 3 也被堵在后面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3" name="c1-table-1"/>
          <p:cNvGrpSpPr/>
          <p:nvPr/>
        </p:nvGrpSpPr>
        <p:grpSpPr>
          <a:xfrm>
            <a:off x="527685" y="1524000"/>
            <a:ext cx="11130915" cy="2091214"/>
            <a:chOff x="527685" y="1524000"/>
            <a:chExt cx="11130915" cy="20912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85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86090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09037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32937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5588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7883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01780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4727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48627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7157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44767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67714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90662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223" y="2108359"/>
              <a:ext cx="18965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指令1 DIV.D F4,F0,F2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58467" y="2108359"/>
              <a:ext cx="1677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81414" y="2108359"/>
              <a:ext cx="1677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82556" y="2108359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19022" y="2108359"/>
              <a:ext cx="3861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10244" y="2108359"/>
              <a:ext cx="2496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24212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2556986"/>
              <a:ext cx="20494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指令2 SUB.D F10,F4,F6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81414" y="2556986"/>
              <a:ext cx="1677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36745" y="2430780"/>
              <a:ext cx="70389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32625" y="2556986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159692" y="2430780"/>
              <a:ext cx="70389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455572" y="2556986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82640" y="2430780"/>
              <a:ext cx="70389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78520" y="2556986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74157" y="2556986"/>
              <a:ext cx="1677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74346" y="2556986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11764" y="2556986"/>
              <a:ext cx="3861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02987" y="2556986"/>
              <a:ext cx="2496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2866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1223" y="3005614"/>
              <a:ext cx="21545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指令3 ADD.D F12,F6,F14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606540" y="2880360"/>
              <a:ext cx="70389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74157" y="3005614"/>
              <a:ext cx="1677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97104" y="3005614"/>
              <a:ext cx="1677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98246" y="300561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34712" y="3005614"/>
              <a:ext cx="3861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25934" y="3005614"/>
              <a:ext cx="2496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1524000"/>
              <a:ext cx="11125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297656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369951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422458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14540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86835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59225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31520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038148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76109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48404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20794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93089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27685" y="3395186"/>
              <a:ext cx="78589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无定向的 MIPS 五段流水线（S = 停顿）：指令2 关于 F4 与指令1 数据相关，要等指令1 写回；指令3 第 6 拍才能取指</a:t>
              </a:r>
            </a:p>
          </p:txBody>
        </p:sp>
      </p:grpSp>
      <p:grpSp>
        <p:nvGrpSpPr>
          <p:cNvPr id="110" name="c1-table-2"/>
          <p:cNvGrpSpPr/>
          <p:nvPr/>
        </p:nvGrpSpPr>
        <p:grpSpPr>
          <a:xfrm>
            <a:off x="527685" y="3761422"/>
            <a:ext cx="11130915" cy="1641635"/>
            <a:chOff x="527685" y="3761422"/>
            <a:chExt cx="11130915" cy="1641635"/>
          </a:xfrm>
        </p:grpSpPr>
        <p:sp>
          <p:nvSpPr>
            <p:cNvPr id="64" name="Rectangle 64"/>
            <p:cNvSpPr/>
            <p:nvPr/>
          </p:nvSpPr>
          <p:spPr>
            <a:xfrm>
              <a:off x="533400" y="3761422"/>
              <a:ext cx="11125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320102" y="389620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动态调度后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286090" y="389620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009037" y="389620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732937" y="389620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455885" y="389620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178832" y="389620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901780" y="389620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624727" y="389620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348627" y="389620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071575" y="389620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744767" y="389620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467714" y="389620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190662" y="389620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41223" y="4345781"/>
              <a:ext cx="20494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指令2 SUB.D F10,F4,F6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3981414" y="4345781"/>
              <a:ext cx="1677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732625" y="4345781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455572" y="4345781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178520" y="4345781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874157" y="4345781"/>
              <a:ext cx="1677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574346" y="4345781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211764" y="4345781"/>
              <a:ext cx="3861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002987" y="4345781"/>
              <a:ext cx="2496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33400" y="46539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533400" y="4658678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41223" y="4794409"/>
              <a:ext cx="21545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指令3 ADD.D F12,F6,F14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4705314" y="4794409"/>
              <a:ext cx="1677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5428262" y="4794409"/>
              <a:ext cx="1677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128451" y="4794409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764917" y="4794409"/>
              <a:ext cx="3861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7329488" y="4668202"/>
              <a:ext cx="70389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556139" y="4794409"/>
              <a:ext cx="2496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533400" y="3761422"/>
              <a:ext cx="11125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2976562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3699510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4422458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5145405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5868352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6592252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7315200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8038148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8761095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9484042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10207942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10930890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527685" y="5183029"/>
              <a:ext cx="6901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示意（画法同下一页课件的动态调度时序）：指令3 越过被阻塞的指令2，第 7 拍就完成，比原来早 3 拍</a:t>
              </a:r>
            </a:p>
          </p:txBody>
        </p:sp>
      </p:grpSp>
      <p:grpSp>
        <p:nvGrpSpPr>
          <p:cNvPr id="116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111" name="Rectangle 111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14" name="Group 114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15" name="TextBox 115"/>
            <p:cNvSpPr txBox="1"/>
            <p:nvPr/>
          </p:nvSpPr>
          <p:spPr>
            <a:xfrm>
              <a:off x="1040130" y="5728335"/>
              <a:ext cx="97402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动态调度把 ID 段拆成流出 IS（译码，检查结构冲突）和读操作数 RO（检查数据冲突，有冲突就等）两段：指令2 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 等 F4 时，指令3 可以越过它先执行。</a:t>
              </a:r>
            </a:p>
          </p:txBody>
        </p:sp>
      </p:grpSp>
      <p:grpSp>
        <p:nvGrpSpPr>
          <p:cNvPr id="1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7" name="TextBox 117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问题二：乱序执行后，反相关变成读后写错误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3" name="c1-table-1"/>
          <p:cNvGrpSpPr/>
          <p:nvPr/>
        </p:nvGrpSpPr>
        <p:grpSpPr>
          <a:xfrm>
            <a:off x="528066" y="1524000"/>
            <a:ext cx="11130534" cy="1977961"/>
            <a:chOff x="528066" y="1524000"/>
            <a:chExt cx="11130534" cy="197796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47406" y="16525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无动态调度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89581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12528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36428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59376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8232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05271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8218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52118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75066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51367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74315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97262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5889" y="2076450"/>
              <a:ext cx="17780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指令1 DIV.D F4,F0,F2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63684" y="2076450"/>
              <a:ext cx="157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86632" y="2076450"/>
              <a:ext cx="157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89196" y="207645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12143" y="207645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35091" y="207645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76961" y="2076450"/>
              <a:ext cx="3621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63917" y="2076450"/>
              <a:ext cx="234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23679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2372678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5889" y="2501265"/>
              <a:ext cx="19213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指令2 SUB.D F10,F4,F6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86632" y="2501265"/>
              <a:ext cx="157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36135" y="250126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59082" y="250126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82030" y="250126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04977" y="250126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7925" y="250126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26222" y="2501265"/>
              <a:ext cx="157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27833" y="2501265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669704" y="2501265"/>
              <a:ext cx="3621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56659" y="2501265"/>
              <a:ext cx="234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279273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5889" y="2926080"/>
              <a:ext cx="20199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指令3 ADD.D F6,F12,F14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26222" y="2926080"/>
              <a:ext cx="157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49169" y="2926080"/>
              <a:ext cx="157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50781" y="292608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92651" y="2926080"/>
              <a:ext cx="3621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179607" y="2926080"/>
              <a:ext cx="234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1524000"/>
              <a:ext cx="11125200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2976562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3699510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422458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145405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868352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592252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315200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038148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761095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484042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207942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930890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28066" y="3296602"/>
              <a:ext cx="68580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除法执行 3 个周期；指令2 读 F6 在前，指令3 写 F6 在后，二者是反相关。按顺序执行只是慢一些，结果正确</a:t>
              </a:r>
            </a:p>
          </p:txBody>
        </p:sp>
      </p:grpSp>
      <p:grpSp>
        <p:nvGrpSpPr>
          <p:cNvPr id="122" name="c1-table-2"/>
          <p:cNvGrpSpPr/>
          <p:nvPr/>
        </p:nvGrpSpPr>
        <p:grpSpPr>
          <a:xfrm>
            <a:off x="528066" y="3640455"/>
            <a:ext cx="11130534" cy="1977962"/>
            <a:chOff x="528066" y="3640455"/>
            <a:chExt cx="11130534" cy="1977962"/>
          </a:xfrm>
        </p:grpSpPr>
        <p:sp>
          <p:nvSpPr>
            <p:cNvPr id="64" name="Rectangle 64"/>
            <p:cNvSpPr/>
            <p:nvPr/>
          </p:nvSpPr>
          <p:spPr>
            <a:xfrm>
              <a:off x="533400" y="3640455"/>
              <a:ext cx="11125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428178" y="37690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动态调度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289581" y="37690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012528" y="37690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736428" y="37690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459376" y="37690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182323" y="37690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905271" y="37690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628218" y="37690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352118" y="37690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075066" y="37690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751367" y="37690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474315" y="37690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197262" y="37690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35889" y="4192905"/>
              <a:ext cx="17780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指令1 DIV.D F4,F0,F2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3263684" y="4192905"/>
              <a:ext cx="157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3986632" y="4192905"/>
              <a:ext cx="157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689196" y="4192905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412143" y="4192905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135091" y="4192905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776961" y="4192905"/>
              <a:ext cx="3621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563917" y="4192905"/>
              <a:ext cx="234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533400" y="448437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533400" y="4489132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35889" y="4617720"/>
              <a:ext cx="19213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指令2 SUB.D F10,F4,F6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3986632" y="4617720"/>
              <a:ext cx="157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4736135" y="461772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5459082" y="461772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182030" y="461772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904977" y="461772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627925" y="461772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8052435" y="4498658"/>
              <a:ext cx="703898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326222" y="4617720"/>
              <a:ext cx="157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027833" y="461772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669704" y="4617720"/>
              <a:ext cx="3621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456659" y="4617720"/>
              <a:ext cx="234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533400" y="49091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35889" y="5042535"/>
              <a:ext cx="20199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指令3 ADD.D F6,F12,F14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4710532" y="5042535"/>
              <a:ext cx="157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5433479" y="5042535"/>
              <a:ext cx="1572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135091" y="5042535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776961" y="5042535"/>
              <a:ext cx="3621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7329488" y="4923472"/>
              <a:ext cx="703898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7563917" y="5042535"/>
              <a:ext cx="234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533400" y="3640455"/>
              <a:ext cx="11125200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2976562" y="364045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3699510" y="364045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4422458" y="364045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5145405" y="364045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5868352" y="364045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6592252" y="364045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7315200" y="364045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8038148" y="364045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8761095" y="364045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9484042" y="364045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10207942" y="364045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10930890" y="364045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528066" y="5413058"/>
              <a:ext cx="62030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指令3 越过指令2 先执行，第 7 拍把新值写入 F6；指令2 第 8 拍才读 F6，读到的是新值，结果错误</a:t>
              </a:r>
            </a:p>
          </p:txBody>
        </p:sp>
      </p:grpSp>
      <p:grpSp>
        <p:nvGrpSpPr>
          <p:cNvPr id="129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123" name="Rectangle 123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27" name="Group 127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124" name="Freeform 124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25" name="Freeform 125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26" name="Freeform 126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28" name="TextBox 128"/>
            <p:cNvSpPr txBox="1"/>
            <p:nvPr/>
          </p:nvSpPr>
          <p:spPr>
            <a:xfrm>
              <a:off x="1040511" y="6011704"/>
              <a:ext cx="94044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动态调度导致乱序执行，乱序执行又让有反相关、输出相关的指令产生读后写（WAR）和写后写（WAW）冲突。</a:t>
              </a:r>
            </a:p>
          </p:txBody>
        </p:sp>
      </p:grpSp>
      <p:grpSp>
        <p:nvGrpSpPr>
          <p:cNvPr id="1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0" name="TextBox 130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解决问题二靠寄存器换名；动态调度的得与失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4977765" cy="1922145"/>
            <a:chOff x="533400" y="1524000"/>
            <a:chExt cx="4977765" cy="1922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523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换名前 → 换名后（课件写法）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909888"/>
              <a:ext cx="493966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035" y="1937861"/>
              <a:ext cx="3432302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指令1  DIV.D  F4,F0,F2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指令2  SUB.D  F10,F4,F6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指令3  ADD.D  F6,F12,F14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指令1  DIV.D  F4,F0,F2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指令2  SUB.D  F10,F4,S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S 存着 F6 的旧值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指令3  ADD.D  F6,F12,F14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636645"/>
            <a:ext cx="4977765" cy="2468880"/>
            <a:chOff x="533400" y="3636645"/>
            <a:chExt cx="4977765" cy="2468880"/>
          </a:xfrm>
        </p:grpSpPr>
        <p:sp>
          <p:nvSpPr>
            <p:cNvPr id="12" name="Rectangle 12"/>
            <p:cNvSpPr/>
            <p:nvPr/>
          </p:nvSpPr>
          <p:spPr>
            <a:xfrm>
              <a:off x="533400" y="3636645"/>
              <a:ext cx="4977765" cy="2468880"/>
            </a:xfrm>
            <a:prstGeom prst="roundRect">
              <a:avLst>
                <a:gd name="adj" fmla="val 54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3769995"/>
              <a:ext cx="47625" cy="22021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81050" y="384619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0557" y="388191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两种等价的换名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428625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4223385"/>
              <a:ext cx="4120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课件写法：指令2 流出时把 F6 的当前值存进暂存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 S，之后只读 S，指令3 写 F6 不再影响它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490728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4844415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另一种写法：把指令3 的目标改为 S（ADD.D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S,F12,F14），之后读 F6 的指令都改读 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4573" y="5462111"/>
              <a:ext cx="43451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Tomasulo 算法用的是第一种思路：操作数在流出时就被取进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保留站。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5815965" y="1524000"/>
            <a:ext cx="5842635" cy="1986915"/>
            <a:chOff x="5815965" y="1524000"/>
            <a:chExt cx="5842635" cy="1986915"/>
          </a:xfrm>
        </p:grpSpPr>
        <p:sp>
          <p:nvSpPr>
            <p:cNvPr id="22" name="Rectangle 22"/>
            <p:cNvSpPr/>
            <p:nvPr/>
          </p:nvSpPr>
          <p:spPr>
            <a:xfrm>
              <a:off x="5815965" y="1524000"/>
              <a:ext cx="5842635" cy="1986915"/>
            </a:xfrm>
            <a:prstGeom prst="roundRect">
              <a:avLst>
                <a:gd name="adj" fmla="val 671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25515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81268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动态调度基本思想小结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031230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89345" y="2110740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在指令执行过程中调度，无关的指令得以先执行，减少阻塞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031230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89345" y="244602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能处理编译时情况不明的相关，例如存储器访问的相关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031230" y="28441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89345" y="278130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面向某一流水线优化编译的代码，在其他（动态调度）流水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线上也能高效执行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5815965" y="3701415"/>
            <a:ext cx="5842635" cy="2404110"/>
            <a:chOff x="5815965" y="3701415"/>
            <a:chExt cx="5842635" cy="2404110"/>
          </a:xfrm>
        </p:grpSpPr>
        <p:sp>
          <p:nvSpPr>
            <p:cNvPr id="32" name="Rectangle 32"/>
            <p:cNvSpPr/>
            <p:nvPr/>
          </p:nvSpPr>
          <p:spPr>
            <a:xfrm>
              <a:off x="5815965" y="3701415"/>
              <a:ext cx="5842635" cy="2404110"/>
            </a:xfrm>
            <a:prstGeom prst="roundRect">
              <a:avLst>
                <a:gd name="adj" fmla="val 55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825490" y="3834765"/>
              <a:ext cx="47625" cy="21374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63615" y="39109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53823" y="39466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069330" y="43510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27445" y="4288155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引起指令乱序执行，必须用换名技术消除名相关（反相关和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输出相关）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069330" y="497205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27445" y="490918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指令乱序完成，使异常处理变得困难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069330" y="530733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27445" y="524446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以硬件复杂性的显著增加为代价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094087" cy="909257"/>
            <a:chOff x="520446" y="342900"/>
            <a:chExt cx="110940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10940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Tomasulo 算法的核心思想：操作数就绪就执行，换名消除 WAR 和 WAW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760595" cy="1651635"/>
            <a:chOff x="533400" y="1524000"/>
            <a:chExt cx="4760595" cy="1651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651635"/>
            </a:xfrm>
            <a:prstGeom prst="roundRect">
              <a:avLst>
                <a:gd name="adj" fmla="val 807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52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核心思想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42950" y="209740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47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3940" y="211074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记录和检测指令相关，操作数一旦就绪就立即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执行，把发生 RAW 冲突的可能性减到最小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42950" y="27184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4799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3940" y="2731770"/>
              <a:ext cx="41323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通过寄存器换名来消除 WAR 冲突和 WAW 冲突</a:t>
              </a:r>
            </a:p>
          </p:txBody>
        </p:sp>
      </p:grpSp>
      <p:grpSp>
        <p:nvGrpSpPr>
          <p:cNvPr id="25" name="c1-kv-2"/>
          <p:cNvGrpSpPr/>
          <p:nvPr/>
        </p:nvGrpSpPr>
        <p:grpSpPr>
          <a:xfrm>
            <a:off x="525780" y="3390900"/>
            <a:ext cx="4768596" cy="1737360"/>
            <a:chOff x="525780" y="3390900"/>
            <a:chExt cx="4768596" cy="1737360"/>
          </a:xfrm>
        </p:grpSpPr>
        <p:sp>
          <p:nvSpPr>
            <p:cNvPr id="17" name="TextBox 17"/>
            <p:cNvSpPr txBox="1"/>
            <p:nvPr/>
          </p:nvSpPr>
          <p:spPr>
            <a:xfrm>
              <a:off x="525780" y="3390900"/>
              <a:ext cx="9346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反相关 F8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59280" y="3390900"/>
              <a:ext cx="32918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ADD.D 读 F8，后面的 SUB.D 写 F8，可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 WAR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99288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5780" y="4112895"/>
              <a:ext cx="9346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反相关 F6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59280" y="4112895"/>
              <a:ext cx="31203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S.D 读 F6，后面的 MUL.D 写 F6，可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 WAR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71487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5780" y="4834890"/>
              <a:ext cx="11365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输出相关 F6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59280" y="4834890"/>
              <a:ext cx="3435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ADD.D 和 MUL.D 都写 F6，可能 WAW</a:t>
              </a:r>
            </a:p>
          </p:txBody>
        </p:sp>
      </p:grpSp>
      <p:grpSp>
        <p:nvGrpSpPr>
          <p:cNvPr id="32" name="c1-callout-3"/>
          <p:cNvGrpSpPr/>
          <p:nvPr/>
        </p:nvGrpSpPr>
        <p:grpSpPr>
          <a:xfrm>
            <a:off x="533400" y="5259705"/>
            <a:ext cx="4760595" cy="1059180"/>
            <a:chOff x="533400" y="5259705"/>
            <a:chExt cx="4760595" cy="1059180"/>
          </a:xfrm>
        </p:grpSpPr>
        <p:sp>
          <p:nvSpPr>
            <p:cNvPr id="26" name="Rectangle 26"/>
            <p:cNvSpPr/>
            <p:nvPr/>
          </p:nvSpPr>
          <p:spPr>
            <a:xfrm>
              <a:off x="533400" y="5259705"/>
              <a:ext cx="476059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689283"/>
              <a:ext cx="200026" cy="200025"/>
              <a:chOff x="738188" y="5689283"/>
              <a:chExt cx="200026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6892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77926" y="57337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12642" y="58448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5408295"/>
              <a:ext cx="38728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换名后，后面凡是读 F8 的指令都要改读 T；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 F6 的指令读到的仍是 MUL.D 的结果，程序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语义不变。</a:t>
              </a:r>
            </a:p>
          </p:txBody>
        </p:sp>
      </p:grpSp>
      <p:grpSp>
        <p:nvGrpSpPr>
          <p:cNvPr id="36" name="c2-code-1"/>
          <p:cNvGrpSpPr/>
          <p:nvPr/>
        </p:nvGrpSpPr>
        <p:grpSpPr>
          <a:xfrm>
            <a:off x="5598795" y="1524000"/>
            <a:ext cx="6059805" cy="1516380"/>
            <a:chOff x="5598795" y="1524000"/>
            <a:chExt cx="6059805" cy="1516380"/>
          </a:xfrm>
        </p:grpSpPr>
        <p:sp>
          <p:nvSpPr>
            <p:cNvPr id="33" name="Rectangle 33"/>
            <p:cNvSpPr/>
            <p:nvPr/>
          </p:nvSpPr>
          <p:spPr>
            <a:xfrm>
              <a:off x="5598795" y="1524000"/>
              <a:ext cx="6059805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27192" y="16759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换名前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26430" y="1937861"/>
              <a:ext cx="1341374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DIV.D  F0,F2,F4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ADD.D  F6,F0,F8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S.D    F6,0(R1)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SUB.D  F8,F10,F14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MUL.D  F6,F10,F8</a:t>
              </a:r>
            </a:p>
          </p:txBody>
        </p:sp>
      </p:grpSp>
      <p:grpSp>
        <p:nvGrpSpPr>
          <p:cNvPr id="44" name="c2-code-2"/>
          <p:cNvGrpSpPr/>
          <p:nvPr/>
        </p:nvGrpSpPr>
        <p:grpSpPr>
          <a:xfrm>
            <a:off x="5598795" y="3230880"/>
            <a:ext cx="6059805" cy="1516380"/>
            <a:chOff x="5598795" y="3230880"/>
            <a:chExt cx="6059805" cy="1516380"/>
          </a:xfrm>
        </p:grpSpPr>
        <p:sp>
          <p:nvSpPr>
            <p:cNvPr id="37" name="Rectangle 37"/>
            <p:cNvSpPr/>
            <p:nvPr/>
          </p:nvSpPr>
          <p:spPr>
            <a:xfrm>
              <a:off x="5598795" y="3230880"/>
              <a:ext cx="6059805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727192" y="3382804"/>
              <a:ext cx="1885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换名后：引入临时寄存器 S 和 T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617845" y="3805238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617845" y="4008120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617845" y="4211002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617845" y="4413885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726430" y="3644741"/>
              <a:ext cx="2706878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DIV.D  F0,F2,F4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ADD.D  S,F0,F8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F6 换名为 S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S.D    S,0(R1)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F6 换名为 S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SUB.D  T,F10,F14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F8 换名为 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MUL.D  F6,F10,T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F8 换名为 T</a:t>
              </a:r>
            </a:p>
          </p:txBody>
        </p:sp>
      </p:grpSp>
      <p:grpSp>
        <p:nvGrpSpPr>
          <p:cNvPr id="50" name="c2-callout-3"/>
          <p:cNvGrpSpPr/>
          <p:nvPr/>
        </p:nvGrpSpPr>
        <p:grpSpPr>
          <a:xfrm>
            <a:off x="5598795" y="4937760"/>
            <a:ext cx="6059805" cy="782955"/>
            <a:chOff x="5598795" y="4937760"/>
            <a:chExt cx="6059805" cy="782955"/>
          </a:xfrm>
        </p:grpSpPr>
        <p:sp>
          <p:nvSpPr>
            <p:cNvPr id="45" name="Rectangle 45"/>
            <p:cNvSpPr/>
            <p:nvPr/>
          </p:nvSpPr>
          <p:spPr>
            <a:xfrm>
              <a:off x="5598795" y="4937760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5803583" y="5229225"/>
              <a:ext cx="200026" cy="200026"/>
              <a:chOff x="5803583" y="5229225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5803583" y="52292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5870258" y="530701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105525" y="5086350"/>
              <a:ext cx="51396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 消除 ADD.D 与 MUL.D 的 WAW（顺带消除 S.D 与 MUL.D 的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反相关），T 消除 ADD.D 与 SUB.D 的 WAR。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30241" cy="909257"/>
            <a:chOff x="520446" y="342900"/>
            <a:chExt cx="34302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302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Tomasulo 的基本结构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c1-flow-1"/>
          <p:cNvGrpSpPr/>
          <p:nvPr/>
        </p:nvGrpSpPr>
        <p:grpSpPr>
          <a:xfrm>
            <a:off x="666750" y="1733550"/>
            <a:ext cx="6867524" cy="3867150"/>
            <a:chOff x="666750" y="1733550"/>
            <a:chExt cx="6867524" cy="3867150"/>
          </a:xfrm>
        </p:grpSpPr>
        <p:sp>
          <p:nvSpPr>
            <p:cNvPr id="7" name="Freeform 7"/>
            <p:cNvSpPr/>
            <p:nvPr/>
          </p:nvSpPr>
          <p:spPr>
            <a:xfrm>
              <a:off x="1399222" y="2171700"/>
              <a:ext cx="1730693" cy="314325"/>
            </a:xfrm>
            <a:custGeom>
              <a:avLst/>
              <a:gdLst/>
              <a:ahLst/>
              <a:cxnLst/>
              <a:rect l="l" t="t" r="r" b="b"/>
              <a:pathLst>
                <a:path w="1730693" h="314325">
                  <a:moveTo>
                    <a:pt x="1730693" y="0"/>
                  </a:moveTo>
                  <a:lnTo>
                    <a:pt x="1730693" y="209550"/>
                  </a:lnTo>
                  <a:lnTo>
                    <a:pt x="0" y="209550"/>
                  </a:lnTo>
                  <a:lnTo>
                    <a:pt x="0" y="3143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346835" y="24860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129915" y="2171700"/>
              <a:ext cx="1731645" cy="1076325"/>
            </a:xfrm>
            <a:custGeom>
              <a:avLst/>
              <a:gdLst/>
              <a:ahLst/>
              <a:cxnLst/>
              <a:rect l="l" t="t" r="r" b="b"/>
              <a:pathLst>
                <a:path w="1731645" h="1076325">
                  <a:moveTo>
                    <a:pt x="0" y="0"/>
                  </a:moveTo>
                  <a:lnTo>
                    <a:pt x="0" y="590550"/>
                  </a:lnTo>
                  <a:lnTo>
                    <a:pt x="1731645" y="590550"/>
                  </a:lnTo>
                  <a:lnTo>
                    <a:pt x="1731645" y="10763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809172" y="32480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6593205" y="2171700"/>
              <a:ext cx="9525" cy="1076325"/>
            </a:xfrm>
            <a:custGeom>
              <a:avLst/>
              <a:gdLst/>
              <a:ahLst/>
              <a:cxnLst/>
              <a:rect l="l" t="t" r="r" b="b"/>
              <a:pathLst>
                <a:path w="9525" h="1076325">
                  <a:moveTo>
                    <a:pt x="0" y="0"/>
                  </a:moveTo>
                  <a:lnTo>
                    <a:pt x="0" y="10763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540818" y="32480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399222" y="3028950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0"/>
                  </a:moveTo>
                  <a:lnTo>
                    <a:pt x="0" y="3143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346835" y="33432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131695" y="2809875"/>
              <a:ext cx="998220" cy="533400"/>
            </a:xfrm>
            <a:custGeom>
              <a:avLst/>
              <a:gdLst/>
              <a:ahLst/>
              <a:cxnLst/>
              <a:rect l="l" t="t" r="r" b="b"/>
              <a:pathLst>
                <a:path w="998220" h="533400">
                  <a:moveTo>
                    <a:pt x="0" y="0"/>
                  </a:moveTo>
                  <a:lnTo>
                    <a:pt x="209550" y="0"/>
                  </a:lnTo>
                  <a:lnTo>
                    <a:pt x="998220" y="0"/>
                  </a:lnTo>
                  <a:lnTo>
                    <a:pt x="998220" y="428625"/>
                  </a:lnTo>
                  <a:lnTo>
                    <a:pt x="998220" y="5334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077528" y="33432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363980" y="3886200"/>
              <a:ext cx="901065" cy="314325"/>
            </a:xfrm>
            <a:custGeom>
              <a:avLst/>
              <a:gdLst/>
              <a:ahLst/>
              <a:cxnLst/>
              <a:rect l="l" t="t" r="r" b="b"/>
              <a:pathLst>
                <a:path w="901065" h="314325">
                  <a:moveTo>
                    <a:pt x="35243" y="0"/>
                  </a:moveTo>
                  <a:lnTo>
                    <a:pt x="35243" y="209550"/>
                  </a:lnTo>
                  <a:lnTo>
                    <a:pt x="0" y="209550"/>
                  </a:lnTo>
                  <a:lnTo>
                    <a:pt x="901065" y="209550"/>
                  </a:lnTo>
                  <a:lnTo>
                    <a:pt x="901065" y="3143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212658" y="42005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265045" y="3886200"/>
              <a:ext cx="864870" cy="314325"/>
            </a:xfrm>
            <a:custGeom>
              <a:avLst/>
              <a:gdLst/>
              <a:ahLst/>
              <a:cxnLst/>
              <a:rect l="l" t="t" r="r" b="b"/>
              <a:pathLst>
                <a:path w="864870" h="314325">
                  <a:moveTo>
                    <a:pt x="864870" y="0"/>
                  </a:moveTo>
                  <a:lnTo>
                    <a:pt x="864870" y="209550"/>
                  </a:lnTo>
                  <a:lnTo>
                    <a:pt x="830580" y="209550"/>
                  </a:lnTo>
                  <a:lnTo>
                    <a:pt x="0" y="209550"/>
                  </a:lnTo>
                  <a:lnTo>
                    <a:pt x="0" y="3143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212658" y="42005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861560" y="3981450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809172" y="42005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6593205" y="3981450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540818" y="42005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2265045" y="4743450"/>
              <a:ext cx="1730692" cy="314325"/>
            </a:xfrm>
            <a:custGeom>
              <a:avLst/>
              <a:gdLst/>
              <a:ahLst/>
              <a:cxnLst/>
              <a:rect l="l" t="t" r="r" b="b"/>
              <a:pathLst>
                <a:path w="1730692" h="314325">
                  <a:moveTo>
                    <a:pt x="0" y="0"/>
                  </a:moveTo>
                  <a:lnTo>
                    <a:pt x="0" y="209550"/>
                  </a:lnTo>
                  <a:lnTo>
                    <a:pt x="1730692" y="209550"/>
                  </a:lnTo>
                  <a:lnTo>
                    <a:pt x="1730692" y="3143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943350" y="50577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3995738" y="4743450"/>
              <a:ext cx="865822" cy="314325"/>
            </a:xfrm>
            <a:custGeom>
              <a:avLst/>
              <a:gdLst/>
              <a:ahLst/>
              <a:cxnLst/>
              <a:rect l="l" t="t" r="r" b="b"/>
              <a:pathLst>
                <a:path w="865822" h="314325">
                  <a:moveTo>
                    <a:pt x="865822" y="0"/>
                  </a:moveTo>
                  <a:lnTo>
                    <a:pt x="865822" y="209550"/>
                  </a:lnTo>
                  <a:lnTo>
                    <a:pt x="0" y="209550"/>
                  </a:lnTo>
                  <a:lnTo>
                    <a:pt x="0" y="3143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3943350" y="50577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3995738" y="4743450"/>
              <a:ext cx="2597468" cy="314325"/>
            </a:xfrm>
            <a:custGeom>
              <a:avLst/>
              <a:gdLst/>
              <a:ahLst/>
              <a:cxnLst/>
              <a:rect l="l" t="t" r="r" b="b"/>
              <a:pathLst>
                <a:path w="2597468" h="314325">
                  <a:moveTo>
                    <a:pt x="2597468" y="0"/>
                  </a:moveTo>
                  <a:lnTo>
                    <a:pt x="2597468" y="209550"/>
                  </a:lnTo>
                  <a:lnTo>
                    <a:pt x="0" y="209550"/>
                  </a:lnTo>
                  <a:lnTo>
                    <a:pt x="0" y="3143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3943350" y="50577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973252" y="1952625"/>
              <a:ext cx="561022" cy="3429000"/>
            </a:xfrm>
            <a:custGeom>
              <a:avLst/>
              <a:gdLst/>
              <a:ahLst/>
              <a:cxnLst/>
              <a:rect l="l" t="t" r="r" b="b"/>
              <a:pathLst>
                <a:path w="561022" h="3429000">
                  <a:moveTo>
                    <a:pt x="0" y="3429000"/>
                  </a:moveTo>
                  <a:lnTo>
                    <a:pt x="209550" y="3429000"/>
                  </a:lnTo>
                  <a:lnTo>
                    <a:pt x="416242" y="3429000"/>
                  </a:lnTo>
                  <a:lnTo>
                    <a:pt x="561022" y="3429000"/>
                  </a:lnTo>
                  <a:lnTo>
                    <a:pt x="561022" y="0"/>
                  </a:lnTo>
                  <a:lnTo>
                    <a:pt x="456247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324725" y="19002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398395" y="1733550"/>
              <a:ext cx="1464945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60732" y="1733550"/>
              <a:ext cx="1464945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6750" y="2590800"/>
              <a:ext cx="146494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6750" y="3448050"/>
              <a:ext cx="146494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398395" y="3448050"/>
              <a:ext cx="146494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129088" y="3352800"/>
              <a:ext cx="146494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860732" y="3352800"/>
              <a:ext cx="146494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75335" y="4305300"/>
              <a:ext cx="297751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4129088" y="4305300"/>
              <a:ext cx="1464945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60732" y="4305300"/>
              <a:ext cx="1464945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18222" y="5162550"/>
              <a:ext cx="5955982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778811" y="18635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指令队列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28497" y="1863566"/>
              <a:ext cx="11294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浮点寄存器 FP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48118" y="27208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地址部件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1497" y="3578066"/>
              <a:ext cx="10554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store 缓冲器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671115" y="3578066"/>
              <a:ext cx="917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 缓冲器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326763" y="3468529"/>
              <a:ext cx="10695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保留站 Add1～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99048" y="3468529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保留站 Mult1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～2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913941" y="44353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存储部件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424299" y="443531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浮点加法器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55944" y="443531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浮点乘法器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285928" y="5292566"/>
              <a:ext cx="14196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公共数据总线 CDB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866900" y="2165032"/>
              <a:ext cx="79533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888665" y="219170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load/store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681412" y="2546032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707702" y="25727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浮点操作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621780" y="2669858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45021" y="26965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操作数</a:t>
              </a:r>
            </a:p>
          </p:txBody>
        </p:sp>
      </p:grpSp>
      <p:grpSp>
        <p:nvGrpSpPr>
          <p:cNvPr id="79" name="c2-kv-1"/>
          <p:cNvGrpSpPr/>
          <p:nvPr/>
        </p:nvGrpSpPr>
        <p:grpSpPr>
          <a:xfrm>
            <a:off x="7755255" y="1548765"/>
            <a:ext cx="3903345" cy="4185285"/>
            <a:chOff x="7755255" y="1548765"/>
            <a:chExt cx="3903345" cy="4185285"/>
          </a:xfrm>
        </p:grpSpPr>
        <p:sp>
          <p:nvSpPr>
            <p:cNvPr id="62" name="TextBox 62"/>
            <p:cNvSpPr txBox="1"/>
            <p:nvPr/>
          </p:nvSpPr>
          <p:spPr>
            <a:xfrm>
              <a:off x="7755255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指令队列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158288" y="1548765"/>
              <a:ext cx="2301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指令部件送来的指令，按先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进先出顺序流出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762875" y="2150745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755255" y="227076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保留站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158288" y="2270760"/>
              <a:ext cx="2301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存放已流出、等待执行的指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令及其操作数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762875" y="2872740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755255" y="2992755"/>
              <a:ext cx="1065371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load/store</a:t>
              </a:r>
              <a:br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缓冲器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158288" y="29927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存放访存指令的地址和数据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762875" y="3594735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755255" y="3714750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CDB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158288" y="3714750"/>
              <a:ext cx="236791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把结果播送到寄存器、各保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留站和 store 缓冲器（图中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省略了后两类连线）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762875" y="4598670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755255" y="47186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运算部件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158288" y="4718685"/>
              <a:ext cx="2301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浮点加法器做加减，浮点乘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法器做乘除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762875" y="5320665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755255" y="544068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浮点寄存器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158288" y="5440680"/>
              <a:ext cx="23646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F0、F2、…、F30 共 16 个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96536" cy="909257"/>
            <a:chOff x="520446" y="342900"/>
            <a:chExt cx="69965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965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保留站、CDB 和 load/store 缓冲器各管什么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3505200" cy="3129915"/>
            <a:chOff x="533400" y="1524000"/>
            <a:chExt cx="3505200" cy="3129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3129915"/>
            </a:xfrm>
            <a:prstGeom prst="roundRect">
              <a:avLst>
                <a:gd name="adj" fmla="val 42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8632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12979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2503" y="1769269"/>
              <a:ext cx="2046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保留站 reservation station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2682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保存一条已经流出、等待到本功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能部件执行的指令的信息：操作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码、操作数、检测和解决冲突用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的信息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33661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30327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流出时源操作数已在寄存器中就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绪：把 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操作数本身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取进保留站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9871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92430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操作数还没算出来：记下将产生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它的 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保留站标识</a:t>
              </a:r>
            </a:p>
          </p:txBody>
        </p:sp>
      </p:grpSp>
      <p:grpSp>
        <p:nvGrpSpPr>
          <p:cNvPr id="30" name="c1-cells-2"/>
          <p:cNvGrpSpPr/>
          <p:nvPr/>
        </p:nvGrpSpPr>
        <p:grpSpPr>
          <a:xfrm>
            <a:off x="527685" y="4844415"/>
            <a:ext cx="2294572" cy="1009650"/>
            <a:chOff x="527685" y="4844415"/>
            <a:chExt cx="2294572" cy="1009650"/>
          </a:xfrm>
        </p:grpSpPr>
        <p:sp>
          <p:nvSpPr>
            <p:cNvPr id="18" name="TextBox 18"/>
            <p:cNvSpPr txBox="1"/>
            <p:nvPr/>
          </p:nvSpPr>
          <p:spPr>
            <a:xfrm>
              <a:off x="527685" y="49839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加法器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93470" y="4844415"/>
              <a:ext cx="5762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97980" y="4983956"/>
              <a:ext cx="366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669732" y="4844415"/>
              <a:ext cx="5762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774242" y="4983956"/>
              <a:ext cx="366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245995" y="4844415"/>
              <a:ext cx="5762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350505" y="4983956"/>
              <a:ext cx="366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7685" y="55745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乘法器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93470" y="5434965"/>
              <a:ext cx="65055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96763" y="5574506"/>
              <a:ext cx="444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744028" y="5434965"/>
              <a:ext cx="65055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847320" y="5574506"/>
              <a:ext cx="444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Mult2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4343400" y="1524000"/>
            <a:ext cx="3505200" cy="4681538"/>
            <a:chOff x="4343400" y="1524000"/>
            <a:chExt cx="3505200" cy="4681538"/>
          </a:xfrm>
        </p:grpSpPr>
        <p:sp>
          <p:nvSpPr>
            <p:cNvPr id="31" name="Rectangle 31"/>
            <p:cNvSpPr/>
            <p:nvPr/>
          </p:nvSpPr>
          <p:spPr>
            <a:xfrm>
              <a:off x="4343400" y="1524000"/>
              <a:ext cx="3505200" cy="4681538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352925" y="1657350"/>
              <a:ext cx="47625" cy="441483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591050" y="1733550"/>
              <a:ext cx="1354455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47147" y="1769269"/>
              <a:ext cx="1242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公共数据总线 CDB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459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754880" y="2110740"/>
              <a:ext cx="2682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所有功能部件的计算结果都送上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CDB，由它直接播送到各个需要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该结果的地方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4596765" y="30803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754880" y="3017520"/>
              <a:ext cx="2854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从存储器读出的数据也送到 CDB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4596765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754880" y="3352800"/>
              <a:ext cx="2596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连到除 load 缓冲器以外的所有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部件的入口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4596765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754880" y="3973830"/>
              <a:ext cx="2682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浮点寄存器经一对总线连到功能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部件，经 CDB 连到 store 缓冲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4596765" y="494347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754880" y="488061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多个执行部件、每拍流出多条指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令的流水线，需要多条 CDB</a:t>
              </a:r>
            </a:p>
          </p:txBody>
        </p:sp>
      </p:grpSp>
      <p:grpSp>
        <p:nvGrpSpPr>
          <p:cNvPr id="60" name="c3-table-1"/>
          <p:cNvGrpSpPr/>
          <p:nvPr/>
        </p:nvGrpSpPr>
        <p:grpSpPr>
          <a:xfrm>
            <a:off x="8153400" y="1524000"/>
            <a:ext cx="3505200" cy="3155632"/>
            <a:chOff x="8153400" y="1524000"/>
            <a:chExt cx="3505200" cy="3155632"/>
          </a:xfrm>
        </p:grpSpPr>
        <p:sp>
          <p:nvSpPr>
            <p:cNvPr id="46" name="Rectangle 46"/>
            <p:cNvSpPr/>
            <p:nvPr/>
          </p:nvSpPr>
          <p:spPr>
            <a:xfrm>
              <a:off x="8153400" y="1524000"/>
              <a:ext cx="3505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1207" y="1659731"/>
              <a:ext cx="9369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load 缓冲器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241435" y="1659731"/>
              <a:ext cx="1081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store 缓冲器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61223" y="2108359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存放计算有效地址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的分量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013823" y="2108359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存放计算有效地址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的分量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153400" y="2643188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153400" y="2647950"/>
              <a:ext cx="3505200" cy="112871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261223" y="2897029"/>
              <a:ext cx="1305306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记录正在进行的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load，等待存储器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响应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13823" y="2783681"/>
              <a:ext cx="1313434" cy="92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保存正在进行的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store 的目标地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址，等待要存的数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据到达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153400" y="3772852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261223" y="4025741"/>
              <a:ext cx="13540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保存已取回的数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据，等待 CDB 传送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013823" y="3912394"/>
              <a:ext cx="1370330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 store 的地址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和数据，直到存储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部件接收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153400" y="1524000"/>
              <a:ext cx="3505200" cy="315563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9901238" y="1524000"/>
              <a:ext cx="9525" cy="31556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c3-callout-2"/>
          <p:cNvGrpSpPr/>
          <p:nvPr/>
        </p:nvGrpSpPr>
        <p:grpSpPr>
          <a:xfrm>
            <a:off x="8153400" y="4870132"/>
            <a:ext cx="3505200" cy="1335405"/>
            <a:chOff x="8153400" y="4870132"/>
            <a:chExt cx="3505200" cy="1335405"/>
          </a:xfrm>
        </p:grpSpPr>
        <p:sp>
          <p:nvSpPr>
            <p:cNvPr id="61" name="Rectangle 61"/>
            <p:cNvSpPr/>
            <p:nvPr/>
          </p:nvSpPr>
          <p:spPr>
            <a:xfrm>
              <a:off x="8153400" y="4870132"/>
              <a:ext cx="3505200" cy="1335405"/>
            </a:xfrm>
            <a:prstGeom prst="roundRect">
              <a:avLst>
                <a:gd name="adj" fmla="val 85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8358188" y="5437823"/>
              <a:ext cx="200026" cy="200025"/>
              <a:chOff x="8358188" y="5437823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358188" y="543782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97926" y="548227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432642" y="559339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8660130" y="5018722"/>
              <a:ext cx="268224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结果不经寄存器中转，等它的保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留站在下一拍就能用上，这是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Tomasulo 减少 RAW 停顿的关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键。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换名由保留站完成；算法分流出、执行、写结果三步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951220" cy="2436495"/>
            <a:chOff x="533400" y="1524000"/>
            <a:chExt cx="5951220" cy="2436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436495"/>
            </a:xfrm>
            <a:prstGeom prst="roundRect">
              <a:avLst>
                <a:gd name="adj" fmla="val 547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4957" y="175641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寄存器换名如何实现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39140" y="214312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95731" y="208264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由保留站和流出逻辑共同完成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39140" y="246030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5731" y="2400776"/>
              <a:ext cx="517220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指令流出时操作数还没算出来，就把指令中的寄存器号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换名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为将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产生该操作数的保留站标识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9140" y="304990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5731" y="2989421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流出后，操作数要么换成了数据本身，要么换成了保留站标识，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与寄存器不再有关系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5424" y="3575685"/>
              <a:ext cx="4307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所以后面指令对该寄存器的写入，不可能再造成 WAR 冲突。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141470"/>
            <a:ext cx="5951220" cy="1904048"/>
            <a:chOff x="533400" y="4141470"/>
            <a:chExt cx="5951220" cy="1904048"/>
          </a:xfrm>
        </p:grpSpPr>
        <p:sp>
          <p:nvSpPr>
            <p:cNvPr id="18" name="Rectangle 18"/>
            <p:cNvSpPr/>
            <p:nvPr/>
          </p:nvSpPr>
          <p:spPr>
            <a:xfrm>
              <a:off x="533400" y="4141470"/>
              <a:ext cx="5951220" cy="1904048"/>
            </a:xfrm>
            <a:prstGeom prst="roundRect">
              <a:avLst>
                <a:gd name="adj" fmla="val 70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274820"/>
              <a:ext cx="47625" cy="16373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9620" y="433959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1058" y="437388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目标寄存器预约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381" y="4700111"/>
              <a:ext cx="518121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流出时把寄存器状态表 Qi 中目标寄存器一项改成本保留站。写结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果时只写 Qi 仍指向自己的寄存器，被后面指令重新预约过的寄存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器不写，WAW 冲突随之消除。</a:t>
              </a:r>
            </a:p>
          </p:txBody>
        </p:sp>
      </p:grpSp>
      <p:grpSp>
        <p:nvGrpSpPr>
          <p:cNvPr id="37" name="c2-steps-1"/>
          <p:cNvGrpSpPr/>
          <p:nvPr/>
        </p:nvGrpSpPr>
        <p:grpSpPr>
          <a:xfrm>
            <a:off x="6789420" y="1533525"/>
            <a:ext cx="4786884" cy="2002536"/>
            <a:chOff x="6789420" y="1533525"/>
            <a:chExt cx="4786884" cy="2002536"/>
          </a:xfrm>
        </p:grpSpPr>
        <p:sp>
          <p:nvSpPr>
            <p:cNvPr id="24" name="Rectangle 24"/>
            <p:cNvSpPr/>
            <p:nvPr/>
          </p:nvSpPr>
          <p:spPr>
            <a:xfrm>
              <a:off x="6922770" y="1676400"/>
              <a:ext cx="19050" cy="14544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789420" y="23717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83044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789420" y="29879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83044" y="30618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01281" y="1566386"/>
              <a:ext cx="9651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流出 Issue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02424" y="1846898"/>
              <a:ext cx="42793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从指令队列头部取一条指令；有空闲保留站就送进去，取操作数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或记下提供者标识，预约目标寄存器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01281" y="2404586"/>
              <a:ext cx="12365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 Execute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02424" y="2685098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两个操作数都就绪后开始执行；load、store 先计算有效地址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01281" y="3020854"/>
              <a:ext cx="187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写结果 Write Result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02424" y="3301365"/>
              <a:ext cx="4222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结果放上 CDB，写入等待它的寄存器和保留站，释放保留站</a:t>
              </a:r>
            </a:p>
          </p:txBody>
        </p:sp>
      </p:grpSp>
      <p:grpSp>
        <p:nvGrpSpPr>
          <p:cNvPr id="52" name="c2-table-2"/>
          <p:cNvGrpSpPr/>
          <p:nvPr/>
        </p:nvGrpSpPr>
        <p:grpSpPr>
          <a:xfrm>
            <a:off x="6789420" y="3707130"/>
            <a:ext cx="4869180" cy="2337435"/>
            <a:chOff x="6789420" y="3707130"/>
            <a:chExt cx="4869180" cy="2337435"/>
          </a:xfrm>
        </p:grpSpPr>
        <p:sp>
          <p:nvSpPr>
            <p:cNvPr id="38" name="Rectangle 38"/>
            <p:cNvSpPr/>
            <p:nvPr/>
          </p:nvSpPr>
          <p:spPr>
            <a:xfrm>
              <a:off x="6789420" y="3707130"/>
              <a:ext cx="486918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05662" y="38357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17164" y="383571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会改动的表项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91909" y="436721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60626" y="4260532"/>
              <a:ext cx="28696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保留站的 Busy、Op、Vj/Qj、Vk/Qk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（load/store 还有 A）；目标寄存器的 Qi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89420" y="476535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89420" y="4770120"/>
              <a:ext cx="486918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91909" y="50044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60626" y="4897755"/>
              <a:ext cx="33192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load/store 的 A 由偏移量改为有效地址；运算部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件开始计算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789420" y="540258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91909" y="56426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写结果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60626" y="5535930"/>
              <a:ext cx="33497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等它的寄存器 Regs 与 Qi；等它的保留站 Vj/Qj、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Vk/Qk；自己的 Busy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789420" y="3707130"/>
              <a:ext cx="4869180" cy="23374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953375" y="3707130"/>
              <a:ext cx="9525" cy="2337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13599" cy="909257"/>
            <a:chOff x="520446" y="342900"/>
            <a:chExt cx="79135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135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一个简单例子：MUL F0,F2,F4 与 ADD F2,F0,F6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able-1"/>
          <p:cNvGrpSpPr/>
          <p:nvPr/>
        </p:nvGrpSpPr>
        <p:grpSpPr>
          <a:xfrm>
            <a:off x="533400" y="1524000"/>
            <a:ext cx="11125200" cy="3771900"/>
            <a:chOff x="533400" y="1524000"/>
            <a:chExt cx="11125200" cy="3771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1348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48150" y="16630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发生了什么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08595" y="16630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保留站内容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86467" y="1663065"/>
              <a:ext cx="13192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寄存器状态 Qi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0080" y="2417445"/>
              <a:ext cx="832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(a) 初始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20302" y="2150745"/>
              <a:ext cx="44729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F2 = a，F4 = b，F6 = c；保留站全空。简化结构图中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增加寄存器状态表 Qi，每个寄存器一项，指出哪个保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留站将产生它的值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15200" y="24174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40240" y="2417445"/>
              <a:ext cx="590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全为 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279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032760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080" y="3171825"/>
              <a:ext cx="1406842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(b) MUL 流出到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20302" y="3171825"/>
              <a:ext cx="44729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 已就绪，直接取进 Mult1；此后执行时只用保留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站里的数，与 F2、F4 无关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15200" y="3305175"/>
              <a:ext cx="15112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Mult1：MUL a b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443085" y="3042285"/>
              <a:ext cx="2205990" cy="7353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540240" y="3305175"/>
              <a:ext cx="1037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F0 = Mult1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823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0080" y="3926205"/>
              <a:ext cx="1366838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(c) ADD 流出到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20302" y="3926205"/>
              <a:ext cx="42633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就绪，取进 Add1；F0 还没算出，取来提供者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Mult1 的标识。现在有两个地方在等 Mult1 的结果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15200" y="4059555"/>
              <a:ext cx="18118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Add1：ADD Mult1 c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443085" y="3796665"/>
              <a:ext cx="2205990" cy="7353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40240" y="3926205"/>
              <a:ext cx="9582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F0 = Mult1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F2 = Add1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5367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4541520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0080" y="4680585"/>
              <a:ext cx="1386364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(d) Mult1 算出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20302" y="4680585"/>
              <a:ext cx="44919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放上 CDB 广播，等待它的地方都自动取走：F0 写入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e，Add1 得到 e 后马上开始执行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15200" y="4813935"/>
              <a:ext cx="13692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Add1：ADD e c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40240" y="4680585"/>
              <a:ext cx="14725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F0 = 0（值为 e）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F2 = Add1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524000"/>
              <a:ext cx="11125200" cy="37719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308860" y="1524000"/>
              <a:ext cx="9525" cy="37719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03758" y="1524000"/>
              <a:ext cx="9525" cy="37719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428798" y="1524000"/>
              <a:ext cx="9525" cy="37719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0" name="Rectangle 40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5728335"/>
              <a:ext cx="99021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(b) 预约 F0：结果只写回仍被 Mult1 预约的寄存器，消除 WAW；(c) ADD 要改写 F2，而 MUL 早已把 a 取进保留站，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F2 的 WAR 被换名消除。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19770" cy="909257"/>
            <a:chOff x="520446" y="342900"/>
            <a:chExt cx="65197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197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Tomasulo 的两个优点，以及算法里的符号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328160" cy="1956435"/>
            <a:chOff x="533400" y="1524000"/>
            <a:chExt cx="4328160" cy="1956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793" y="17692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优点 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8760" y="1768792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冲突检测和指令执行控制是分布的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每个功能部件保留站中的信息，决定指令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什么时候可以在该部件开始执行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750820"/>
              <a:ext cx="3491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结果经 CDB 从产生它的保留站直接送到所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有需要它的部件，不经过寄存器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670935"/>
            <a:ext cx="4328160" cy="2636520"/>
            <a:chOff x="533400" y="3670935"/>
            <a:chExt cx="4328160" cy="2636520"/>
          </a:xfrm>
        </p:grpSpPr>
        <p:sp>
          <p:nvSpPr>
            <p:cNvPr id="17" name="Rectangle 17"/>
            <p:cNvSpPr/>
            <p:nvPr/>
          </p:nvSpPr>
          <p:spPr>
            <a:xfrm>
              <a:off x="533400" y="3670935"/>
              <a:ext cx="4328160" cy="2636520"/>
            </a:xfrm>
            <a:prstGeom prst="roundRect">
              <a:avLst>
                <a:gd name="adj" fmla="val 50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804285"/>
              <a:ext cx="47625" cy="23698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3880485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7793" y="391620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优点 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4257675"/>
              <a:ext cx="3379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消除了 WAW 和 WAR 冲突导致的停顿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467487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461200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用保留站进行寄存器换名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6765" y="501015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4880" y="4947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操作数一旦就绪，就放进保留站</a:t>
              </a:r>
            </a:p>
          </p:txBody>
        </p:sp>
      </p:grpSp>
      <p:grpSp>
        <p:nvGrpSpPr>
          <p:cNvPr id="56" name="c2-kv-1"/>
          <p:cNvGrpSpPr/>
          <p:nvPr/>
        </p:nvGrpSpPr>
        <p:grpSpPr>
          <a:xfrm>
            <a:off x="5158740" y="1548765"/>
            <a:ext cx="6499860" cy="4817745"/>
            <a:chOff x="5158740" y="1548765"/>
            <a:chExt cx="6499860" cy="4817745"/>
          </a:xfrm>
        </p:grpSpPr>
        <p:sp>
          <p:nvSpPr>
            <p:cNvPr id="27" name="TextBox 27"/>
            <p:cNvSpPr txBox="1"/>
            <p:nvPr/>
          </p:nvSpPr>
          <p:spPr>
            <a:xfrm>
              <a:off x="5158740" y="15487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6998" y="154876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分配给当前指令的保留站或缓冲器单元编号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166360" y="186880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158740" y="1988820"/>
              <a:ext cx="11187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rs、rt、rd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56998" y="1988820"/>
              <a:ext cx="3832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指令的寄存器字段，含义同 MIPS 指令格式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166360" y="230886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158740" y="2428875"/>
              <a:ext cx="3968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imm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56998" y="2428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符号扩展后的立即数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166360" y="274891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158740" y="2868930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56998" y="2868930"/>
              <a:ext cx="26312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保留站；Regs[ ] 为寄存器组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166360" y="318897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158740" y="3308985"/>
              <a:ext cx="6619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result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56998" y="3308985"/>
              <a:ext cx="3155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浮点部件或 load 缓冲器返回的结果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66360" y="362902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158740" y="3749040"/>
              <a:ext cx="2986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56998" y="374904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当前指令的操作码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166360" y="406908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158740" y="4189095"/>
              <a:ext cx="2441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Qi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56998" y="4189095"/>
              <a:ext cx="49396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寄存器状态表：0 表示寄存器中的数据就绪，正整数表示在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等该编号的保留站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166360" y="479107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158740" y="4911090"/>
              <a:ext cx="6314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Vj、Qj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56998" y="4911090"/>
              <a:ext cx="48348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rs 对应：Qj 为 0 时 Vj 中的操作数就绪，否则 Qj 是提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供者编号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166360" y="551307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158740" y="5633085"/>
              <a:ext cx="740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Vk、Qk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56998" y="5633085"/>
              <a:ext cx="19739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rt 对应，含义同上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166360" y="595312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158740" y="607314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56998" y="6073140"/>
              <a:ext cx="39629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load/store 的立即数，执行时改为有效地址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41187" cy="909257"/>
            <a:chOff x="520446" y="342900"/>
            <a:chExt cx="75411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411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流出 ①：浮点运算指令，就绪取值、未就绪记编号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966085"/>
            <a:chOff x="533400" y="1524000"/>
            <a:chExt cx="6059805" cy="29660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966085"/>
            </a:xfrm>
            <a:prstGeom prst="roundRect">
              <a:avLst>
                <a:gd name="adj" fmla="val 32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1065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进入条件：有空闲保留站（设为 r）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544443" cy="2479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(Qi[rs] == 0) {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第一操作数就绪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RS[r].Vj ← Regs[rs];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取值到 Vj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RS[r].Qj ← 0;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RS[r].Qj ← Qi[rs];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换名：记下提供者编号</a:t>
              </a:r>
              <a:br/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(Qi[rt] == 0) {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第二操作数就绪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RS[r].Vk ← Regs[rt];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RS[r].Qk ← 0;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RS[r].Qk ← Qi[rt];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RS[r].Busy ← yes;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置保留站为忙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RS[r].Op   ← Op;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设置操作码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Qi[rd]     ← r;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预约目标寄存器 rd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670108"/>
            <a:ext cx="6059805" cy="1683068"/>
            <a:chOff x="533400" y="4670108"/>
            <a:chExt cx="6059805" cy="1683068"/>
          </a:xfrm>
        </p:grpSpPr>
        <p:sp>
          <p:nvSpPr>
            <p:cNvPr id="11" name="Rectangle 11"/>
            <p:cNvSpPr/>
            <p:nvPr/>
          </p:nvSpPr>
          <p:spPr>
            <a:xfrm>
              <a:off x="533400" y="4670108"/>
              <a:ext cx="6059805" cy="1683068"/>
            </a:xfrm>
            <a:prstGeom prst="roundRect">
              <a:avLst>
                <a:gd name="adj" fmla="val 79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803458"/>
              <a:ext cx="47625" cy="14163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9620" y="4868228"/>
              <a:ext cx="3237548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1352" y="4902518"/>
              <a:ext cx="32931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例：实例第 3 拍，MUL.D F0,F2,F4 流出到 Mult1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528923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5228749"/>
              <a:ext cx="46187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 = F2：Qi[F2] = Load2，未就绪，所以 Qj = Load2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7240" y="560641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3831" y="5546884"/>
              <a:ext cx="51286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 = F4：Qi[F4] = 0，就绪，所以 Vk = Regs[F4]，Qk = 0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77240" y="592455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3831" y="5864066"/>
              <a:ext cx="44533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 = F0：Qi[F0] ← Mult1，Busy = yes，Op = MUL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6892671" y="1524000"/>
            <a:ext cx="4765929" cy="2804731"/>
            <a:chOff x="6892671" y="1524000"/>
            <a:chExt cx="4765929" cy="2804731"/>
          </a:xfrm>
        </p:grpSpPr>
        <p:sp>
          <p:nvSpPr>
            <p:cNvPr id="22" name="Rectangle 22"/>
            <p:cNvSpPr/>
            <p:nvPr/>
          </p:nvSpPr>
          <p:spPr>
            <a:xfrm>
              <a:off x="6898005" y="1524000"/>
              <a:ext cx="476059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4378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3441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12773" y="1652588"/>
              <a:ext cx="921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第一操作数 j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81242" y="1652588"/>
              <a:ext cx="964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第二操作数 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00494" y="2076450"/>
              <a:ext cx="716280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MUL.D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F4,F0,F2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28292" y="2183130"/>
              <a:ext cx="563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 = F4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80792" y="2183130"/>
              <a:ext cx="563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 = F0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70464" y="2183130"/>
              <a:ext cx="563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 = F2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898005" y="258127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898005" y="2586038"/>
              <a:ext cx="476059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00494" y="2821305"/>
              <a:ext cx="1248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L.D F2,45(R3)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28292" y="2821305"/>
              <a:ext cx="563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 = F2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80792" y="2714625"/>
              <a:ext cx="8275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 = R3（基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70464" y="282130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898005" y="321945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00494" y="3459480"/>
              <a:ext cx="1248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S.D F3,40(R4)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28292" y="34594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80792" y="3352800"/>
              <a:ext cx="8275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 = R4（基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70464" y="3352800"/>
              <a:ext cx="8275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 = F3（要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存的数）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898005" y="1524000"/>
              <a:ext cx="4760595" cy="23374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321040" y="1524000"/>
              <a:ext cx="9525" cy="2337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273540" y="1524000"/>
              <a:ext cx="9525" cy="2337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463212" y="1524000"/>
              <a:ext cx="9525" cy="2337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92671" y="3936682"/>
              <a:ext cx="447122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三类指令的字段对应：j 对应 Vj、Qj，k 对应 Vk、Qk；load、store 的 imm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放进 A</a:t>
              </a:r>
            </a:p>
          </p:txBody>
        </p:sp>
      </p:grpSp>
      <p:grpSp>
        <p:nvGrpSpPr>
          <p:cNvPr id="70" name="c2-cells-2"/>
          <p:cNvGrpSpPr/>
          <p:nvPr/>
        </p:nvGrpSpPr>
        <p:grpSpPr>
          <a:xfrm>
            <a:off x="6893052" y="4467225"/>
            <a:ext cx="3589210" cy="949642"/>
            <a:chOff x="6893052" y="4467225"/>
            <a:chExt cx="3589210" cy="949642"/>
          </a:xfrm>
        </p:grpSpPr>
        <p:sp>
          <p:nvSpPr>
            <p:cNvPr id="48" name="TextBox 48"/>
            <p:cNvSpPr txBox="1"/>
            <p:nvPr/>
          </p:nvSpPr>
          <p:spPr>
            <a:xfrm>
              <a:off x="6893052" y="4603909"/>
              <a:ext cx="2296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 型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266622" y="4467225"/>
              <a:ext cx="80391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528564" y="4603909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 6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070532" y="4467225"/>
              <a:ext cx="80391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32474" y="4603909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 5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874442" y="4467225"/>
              <a:ext cx="80391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136384" y="4603909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 5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678352" y="4467225"/>
              <a:ext cx="80391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780496" y="4603909"/>
              <a:ext cx="5996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立即数 16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93052" y="5158264"/>
              <a:ext cx="2662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 型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266622" y="5022532"/>
              <a:ext cx="50292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378069" y="5158264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 6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768590" y="5022532"/>
              <a:ext cx="50292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880036" y="5158264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 5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271510" y="5022532"/>
              <a:ext cx="50292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382956" y="5158264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 5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774430" y="5022532"/>
              <a:ext cx="50292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884924" y="5158264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 5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276398" y="5022532"/>
              <a:ext cx="50292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387844" y="5158264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 5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779318" y="5022532"/>
              <a:ext cx="50292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889811" y="5158264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fn 6</a:t>
              </a:r>
            </a:p>
          </p:txBody>
        </p:sp>
      </p:grpSp>
      <p:grpSp>
        <p:nvGrpSpPr>
          <p:cNvPr id="77" name="c2-callout-3"/>
          <p:cNvGrpSpPr/>
          <p:nvPr/>
        </p:nvGrpSpPr>
        <p:grpSpPr>
          <a:xfrm>
            <a:off x="6898005" y="5596890"/>
            <a:ext cx="4760595" cy="756285"/>
            <a:chOff x="6898005" y="5596890"/>
            <a:chExt cx="4760595" cy="756285"/>
          </a:xfrm>
        </p:grpSpPr>
        <p:sp>
          <p:nvSpPr>
            <p:cNvPr id="71" name="Rectangle 71"/>
            <p:cNvSpPr/>
            <p:nvPr/>
          </p:nvSpPr>
          <p:spPr>
            <a:xfrm>
              <a:off x="6898005" y="5596890"/>
              <a:ext cx="476059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102793" y="5875020"/>
              <a:ext cx="200026" cy="200025"/>
              <a:chOff x="7102793" y="5875020"/>
              <a:chExt cx="200026" cy="200025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102793" y="58750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142531" y="59194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177247" y="60305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7405116" y="5744051"/>
              <a:ext cx="38016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这一段同时完成了取操作数和寄存器换名：取进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保留站的要么是数值，要么是提供者编号。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10465" cy="909257"/>
            <a:chOff x="520446" y="342900"/>
            <a:chExt cx="44104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104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流出 ②：load 和 store 指令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264092"/>
            <a:chOff x="533400" y="1524000"/>
            <a:chExt cx="5410200" cy="22640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3803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进入条件：缓冲器有空闲单元 r（例：L.D F2,45(R3)）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140075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(Qi[rs] == 0) {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基址寄存器就绪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RS[r].Vj ← Regs[rs];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RS[r].Qj ←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RS[r].Qj ← Qi[rs];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换名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RS[r].Busy ← yes;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RS[r].A    ← imm;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偏移量放进 A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仅 load 指令：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Qi[rt] ← r;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预约目标寄存器 rt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958590"/>
            <a:ext cx="5410200" cy="2020252"/>
            <a:chOff x="533400" y="3958590"/>
            <a:chExt cx="5410200" cy="2020252"/>
          </a:xfrm>
        </p:grpSpPr>
        <p:sp>
          <p:nvSpPr>
            <p:cNvPr id="11" name="Rectangle 11"/>
            <p:cNvSpPr/>
            <p:nvPr/>
          </p:nvSpPr>
          <p:spPr>
            <a:xfrm>
              <a:off x="533400" y="3958590"/>
              <a:ext cx="5410200" cy="2020252"/>
            </a:xfrm>
            <a:prstGeom prst="roundRect">
              <a:avLst>
                <a:gd name="adj" fmla="val 66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091940"/>
              <a:ext cx="47625" cy="17535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8190" y="4145280"/>
              <a:ext cx="294417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4408" y="4178141"/>
              <a:ext cx="29707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例：实例第 2 拍，L.D F2,45(R3) 流出到 Load2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45453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4489132"/>
              <a:ext cx="47825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 = R3：Qi[R3] = 0，就绪，所以 Vj = Regs[R3]，Qj = 0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484536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4789170"/>
              <a:ext cx="2428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imm = 45 写入 A；Busy = yes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6762" y="514635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2782" y="5090160"/>
              <a:ext cx="46709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 = F2：Qi[F2] ← Load2，之后读 F2 的指令都等 Load2</a:t>
              </a:r>
            </a:p>
          </p:txBody>
        </p:sp>
      </p:grpSp>
      <p:grpSp>
        <p:nvGrpSpPr>
          <p:cNvPr id="25" name="c2-code-1"/>
          <p:cNvGrpSpPr/>
          <p:nvPr/>
        </p:nvGrpSpPr>
        <p:grpSpPr>
          <a:xfrm>
            <a:off x="6248400" y="1524000"/>
            <a:ext cx="5410200" cy="1384935"/>
            <a:chOff x="6248400" y="1524000"/>
            <a:chExt cx="5410200" cy="1384935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797" y="1675924"/>
              <a:ext cx="31573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store 指令还要取要存的数（例：S.D F3,40(R4)）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6797" y="1935956"/>
              <a:ext cx="2934716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(Qi[rt] == 0) {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要存的数据就绪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RS[r].Vk ← Regs[rt];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RS[r].Qk ←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RS[r].Qk ← Qi[rt];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换名</a:t>
              </a:r>
            </a:p>
          </p:txBody>
        </p:sp>
      </p:grpSp>
      <p:grpSp>
        <p:nvGrpSpPr>
          <p:cNvPr id="50" name="c2-table-2"/>
          <p:cNvGrpSpPr/>
          <p:nvPr/>
        </p:nvGrpSpPr>
        <p:grpSpPr>
          <a:xfrm>
            <a:off x="6248400" y="3079432"/>
            <a:ext cx="5410200" cy="2000250"/>
            <a:chOff x="6248400" y="3079432"/>
            <a:chExt cx="5410200" cy="2000250"/>
          </a:xfrm>
        </p:grpSpPr>
        <p:sp>
          <p:nvSpPr>
            <p:cNvPr id="26" name="Rectangle 26"/>
            <p:cNvSpPr/>
            <p:nvPr/>
          </p:nvSpPr>
          <p:spPr>
            <a:xfrm>
              <a:off x="6248400" y="3079432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6505" y="320087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流出时写的字段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05691" y="3200876"/>
              <a:ext cx="1625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load：L.D F2,45(R3)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35936" y="3200876"/>
              <a:ext cx="1751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store：S.D F3,40(R4)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45555" y="3600926"/>
              <a:ext cx="13326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Vj / Qj（rs 基址）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68615" y="3600926"/>
              <a:ext cx="1442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Regs[R3] 或 Qi[R3]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62185" y="3600926"/>
              <a:ext cx="1442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Regs[R4] 或 Qi[R4]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38747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48400" y="387953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5555" y="4000976"/>
              <a:ext cx="1065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Vk / Qk（rt）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68615" y="400097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不使用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62185" y="4000976"/>
              <a:ext cx="1442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Regs[F3] 或 Qi[F3]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42748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5555" y="440102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68615" y="4401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62185" y="4401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46748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467963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5555" y="4801076"/>
              <a:ext cx="5332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Qi[rt]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68615" y="4801076"/>
              <a:ext cx="12803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Qi[F2] ← 缓冲器 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62185" y="480107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不修改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3079432"/>
              <a:ext cx="5410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866698" y="307943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760268" y="307943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llout-3"/>
          <p:cNvGrpSpPr/>
          <p:nvPr/>
        </p:nvGrpSpPr>
        <p:grpSpPr>
          <a:xfrm>
            <a:off x="6248400" y="5249228"/>
            <a:ext cx="5410200" cy="729615"/>
            <a:chOff x="6248400" y="5249228"/>
            <a:chExt cx="5410200" cy="729615"/>
          </a:xfrm>
        </p:grpSpPr>
        <p:sp>
          <p:nvSpPr>
            <p:cNvPr id="51" name="Rectangle 51"/>
            <p:cNvSpPr/>
            <p:nvPr/>
          </p:nvSpPr>
          <p:spPr>
            <a:xfrm>
              <a:off x="6248400" y="524922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453188" y="5514023"/>
              <a:ext cx="200026" cy="200026"/>
              <a:chOff x="6453188" y="5514023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453188" y="55140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53200" y="55806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42088" y="561403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755892" y="5395912"/>
              <a:ext cx="43685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store 不写寄存器，所以流出时不修改 Qi；它的结果去向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是存储器，由 A 字段给出地址。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96582" cy="909257"/>
            <a:chOff x="520446" y="342900"/>
            <a:chExt cx="95965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965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执行：操作数就绪才开始，load 和 store 按先进先出次序访存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2530792"/>
            <a:chOff x="533400" y="1524000"/>
            <a:chExt cx="5951220" cy="2530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530792"/>
            </a:xfrm>
            <a:prstGeom prst="roundRect">
              <a:avLst>
                <a:gd name="adj" fmla="val 37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执行阶段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524758" cy="2045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① 浮点操作指令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进入条件：RS[r].Qj == 0 且 RS[r].Qk == 0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操作：进行计算，产生结果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② load / store 指令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进入条件：RS[r].Qj == 0 且 r 成为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 load/store 缓冲队列的头部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RS[r].A ← RS[r].Vj + RS[r].A;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计算有效地址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仅 load：完成地址计算后还要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从 Mem[RS[r].A] 读取数据;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245292"/>
            <a:ext cx="5951220" cy="1915478"/>
            <a:chOff x="533400" y="4245292"/>
            <a:chExt cx="5951220" cy="1915478"/>
          </a:xfrm>
        </p:grpSpPr>
        <p:sp>
          <p:nvSpPr>
            <p:cNvPr id="11" name="Rectangle 11"/>
            <p:cNvSpPr/>
            <p:nvPr/>
          </p:nvSpPr>
          <p:spPr>
            <a:xfrm>
              <a:off x="533400" y="4245292"/>
              <a:ext cx="5951220" cy="1915478"/>
            </a:xfrm>
            <a:prstGeom prst="roundRect">
              <a:avLst>
                <a:gd name="adj" fmla="val 696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378642"/>
              <a:ext cx="47625" cy="16487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4454842"/>
              <a:ext cx="14744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2189" y="4490561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对照例题 1（下文）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489489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4832032"/>
              <a:ext cx="4134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R2,(R1)：第 2 拍算地址，第 3～5 拍访存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523017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5167312"/>
              <a:ext cx="4930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R2,(R1)：基址就绪，第 4 拍就算好地址；但它排在 LD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之后，又要等 MUL 送来数据，第 18～20 拍才写存储器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789420" y="1524000"/>
            <a:ext cx="4869180" cy="2272665"/>
            <a:chOff x="6789420" y="1524000"/>
            <a:chExt cx="4869180" cy="2272665"/>
          </a:xfrm>
        </p:grpSpPr>
        <p:sp>
          <p:nvSpPr>
            <p:cNvPr id="20" name="Rectangle 20"/>
            <p:cNvSpPr/>
            <p:nvPr/>
          </p:nvSpPr>
          <p:spPr>
            <a:xfrm>
              <a:off x="6789420" y="1524000"/>
              <a:ext cx="4869180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798945" y="16573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03707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0657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容易忽视的细节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04278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00900" y="2110740"/>
              <a:ext cx="4306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 在该阶段完成两件事：计算访存地址，访存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04278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00900" y="2446020"/>
              <a:ext cx="4025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store 在该阶段只需要第一个操作数（基址）就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绪，不用等要存的数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042785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00900" y="3067050"/>
              <a:ext cx="4082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 和 store 在同一个队列中，按 FIFO 次序访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789420" y="3987165"/>
            <a:ext cx="4869180" cy="2173605"/>
            <a:chOff x="6789420" y="3987165"/>
            <a:chExt cx="4869180" cy="2173605"/>
          </a:xfrm>
        </p:grpSpPr>
        <p:sp>
          <p:nvSpPr>
            <p:cNvPr id="31" name="Rectangle 31"/>
            <p:cNvSpPr/>
            <p:nvPr/>
          </p:nvSpPr>
          <p:spPr>
            <a:xfrm>
              <a:off x="6789420" y="3987165"/>
              <a:ext cx="4869180" cy="2173605"/>
            </a:xfrm>
            <a:prstGeom prst="roundRect">
              <a:avLst>
                <a:gd name="adj" fmla="val 61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798945" y="4120515"/>
              <a:ext cx="47625" cy="19069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037070" y="4196715"/>
              <a:ext cx="308229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50055" y="4232434"/>
              <a:ext cx="3056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思考：为什么 load 和 store 要按顺序访存？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29450" y="4573905"/>
              <a:ext cx="4206240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程序里若先 store 写地址 X、后 load 读地址 X，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乱序访存时 load 可能先读到旧值；两个 store 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同一地址时，乱序会让最后留下的值出错。按程序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顺序访存，就避开了存储器单元上的 WAR 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WAW。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88749" cy="909257"/>
            <a:chOff x="520446" y="342900"/>
            <a:chExt cx="56887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887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写结果：经 CDB 广播，再释放保留站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791778"/>
            <a:chOff x="533400" y="1524000"/>
            <a:chExt cx="6059805" cy="27917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3026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① 浮点运算和 load（保留站 r 执行结束，且 CDB 就绪）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625469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∀x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(Qi[x] == r)) {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等该结果的寄存器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Regs[x] ← result;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Qi[x]   ← 0;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置为数据就绪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∀x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(RS[x].Qj == r)) {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以它为第一操作数的保留站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RS[x].Vj ← result;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RS[x].Qj ←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∀x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(RS[x].Qk == r)) {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以它为第二操作数的保留站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RS[x].Vk ← result;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RS[x].Qk ←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RS[r].Busy ← no;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释放当前保留站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486275"/>
            <a:ext cx="6059805" cy="1528762"/>
            <a:chOff x="533400" y="4486275"/>
            <a:chExt cx="6059805" cy="1528762"/>
          </a:xfrm>
        </p:grpSpPr>
        <p:sp>
          <p:nvSpPr>
            <p:cNvPr id="11" name="Rectangle 11"/>
            <p:cNvSpPr/>
            <p:nvPr/>
          </p:nvSpPr>
          <p:spPr>
            <a:xfrm>
              <a:off x="533400" y="4486275"/>
              <a:ext cx="6059805" cy="1528762"/>
            </a:xfrm>
            <a:prstGeom prst="roundRect">
              <a:avLst>
                <a:gd name="adj" fmla="val 8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619625"/>
              <a:ext cx="47625" cy="12620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8190" y="4672965"/>
              <a:ext cx="242792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5351" y="4705826"/>
              <a:ext cx="23926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例：实例第 5 拍，Load2 写结果 M(A2)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507301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5016818"/>
              <a:ext cx="3640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Qi[F2] = Load2：F2 ← M(A2)，Qi[F2] ← 0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537305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5316855"/>
              <a:ext cx="5469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Mult1.Qj = Load2：Vj ← M(A2)；Add1.Qk = Load2：Vk ← M(A2)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6762" y="567309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2782" y="5616892"/>
              <a:ext cx="939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Load2 释放</a:t>
              </a:r>
            </a:p>
          </p:txBody>
        </p:sp>
      </p:grpSp>
      <p:grpSp>
        <p:nvGrpSpPr>
          <p:cNvPr id="25" name="c2-code-1"/>
          <p:cNvGrpSpPr/>
          <p:nvPr/>
        </p:nvGrpSpPr>
        <p:grpSpPr>
          <a:xfrm>
            <a:off x="6898005" y="1524000"/>
            <a:ext cx="4760595" cy="858202"/>
            <a:chOff x="6898005" y="1524000"/>
            <a:chExt cx="4760595" cy="858202"/>
          </a:xfrm>
        </p:grpSpPr>
        <p:sp>
          <p:nvSpPr>
            <p:cNvPr id="22" name="Rectangle 22"/>
            <p:cNvSpPr/>
            <p:nvPr/>
          </p:nvSpPr>
          <p:spPr>
            <a:xfrm>
              <a:off x="6898005" y="1524000"/>
              <a:ext cx="4760595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26402" y="1675924"/>
              <a:ext cx="25880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② store（执行结束，且 RS[r].Qk == 0）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26402" y="1935956"/>
              <a:ext cx="2934716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Mem[RS[r].A] ← RS[r].Vk;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写入存储器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RS[r].Busy   ← no;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释放缓冲器单元</a:t>
              </a:r>
            </a:p>
          </p:txBody>
        </p:sp>
      </p:grpSp>
      <p:grpSp>
        <p:nvGrpSpPr>
          <p:cNvPr id="32" name="c2-callout-2"/>
          <p:cNvGrpSpPr/>
          <p:nvPr/>
        </p:nvGrpSpPr>
        <p:grpSpPr>
          <a:xfrm>
            <a:off x="6898005" y="2551748"/>
            <a:ext cx="4760595" cy="729615"/>
            <a:chOff x="6898005" y="2551748"/>
            <a:chExt cx="4760595" cy="729615"/>
          </a:xfrm>
        </p:grpSpPr>
        <p:sp>
          <p:nvSpPr>
            <p:cNvPr id="26" name="Rectangle 26"/>
            <p:cNvSpPr/>
            <p:nvPr/>
          </p:nvSpPr>
          <p:spPr>
            <a:xfrm>
              <a:off x="6898005" y="2551748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090734" y="2812851"/>
              <a:ext cx="224134" cy="192560"/>
              <a:chOff x="7090734" y="2812851"/>
              <a:chExt cx="224134" cy="19256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202805" y="288321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090734" y="281285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02805" y="296100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405497" y="2697480"/>
              <a:ext cx="379418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store 在执行阶段只要基址就绪，到写结果阶段才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要求要存的数就绪（Qk = 0）。</a:t>
              </a:r>
            </a:p>
          </p:txBody>
        </p:sp>
      </p:grpSp>
      <p:grpSp>
        <p:nvGrpSpPr>
          <p:cNvPr id="41" name="c2-card-3"/>
          <p:cNvGrpSpPr/>
          <p:nvPr/>
        </p:nvGrpSpPr>
        <p:grpSpPr>
          <a:xfrm>
            <a:off x="6898005" y="3450908"/>
            <a:ext cx="4760595" cy="2564130"/>
            <a:chOff x="6898005" y="3450908"/>
            <a:chExt cx="4760595" cy="2564130"/>
          </a:xfrm>
        </p:grpSpPr>
        <p:sp>
          <p:nvSpPr>
            <p:cNvPr id="33" name="Rectangle 33"/>
            <p:cNvSpPr/>
            <p:nvPr/>
          </p:nvSpPr>
          <p:spPr>
            <a:xfrm>
              <a:off x="6898005" y="3450908"/>
              <a:ext cx="4760595" cy="2564130"/>
            </a:xfrm>
            <a:prstGeom prst="roundRect">
              <a:avLst>
                <a:gd name="adj" fmla="val 52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907530" y="3584258"/>
              <a:ext cx="47625" cy="22974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122795" y="363759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00214" y="367045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读代码时留意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131367" y="403860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87387" y="3982402"/>
              <a:ext cx="393134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 x 只在 Qi[x] 仍等于 r 时才被写入。若后面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的指令已重新预约 x，本结果只送给保留站，不写寄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存器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131367" y="485298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87387" y="4796790"/>
              <a:ext cx="40256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一个时钟周期只打通一个存储部件到另一个存储部件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的通路：第 t 拍写上 CDB 的结果，等它的指令最早第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+ 1 拍开始执行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三类指令各阶段的进入条件与任务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33400" y="1524000"/>
            <a:ext cx="11125200" cy="3835718"/>
            <a:chOff x="533400" y="1524000"/>
            <a:chExt cx="11125200" cy="38357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61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4633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9426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5267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6969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写结果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448401"/>
              <a:ext cx="88468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 ALU 指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65186" y="2335054"/>
              <a:ext cx="196367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条件：保留站有空闲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任务：进入保留站，换名，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预约目标寄存器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01668" y="2335054"/>
              <a:ext cx="212623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条件：两个操作数就绪，且部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件不冲突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任务：浮点运算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60083" y="25617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18498" y="2108359"/>
              <a:ext cx="2077466" cy="11561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条件：功能部件执行结束，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CDB 就绪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任务：经 CDB 写寄存器和保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留站，修改 Qi、Qj、Qk，释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放保留站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3232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328035"/>
              <a:ext cx="11125200" cy="112871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803809"/>
              <a:ext cx="8163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 指令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65186" y="3577114"/>
              <a:ext cx="196367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条件：L/S 缓冲区有空闲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任务：进入缓冲区，立即数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写入 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01668" y="3577114"/>
              <a:ext cx="212623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条件：基址寄存器就绪，计算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部件不冲突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任务：计算访存地址，写入 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60083" y="3577114"/>
              <a:ext cx="216687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条件：位于 L/S 队列头部，地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址已算好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任务：访存，结果放到 CDB 上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18498" y="3463766"/>
              <a:ext cx="2077466" cy="92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条件：访存结束，CDB 就绪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任务：经 CDB 写寄存器和保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留站，修改 Qi、Qj、Qk，释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放缓冲区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4529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4819174"/>
              <a:ext cx="9156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Store 指令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65186" y="4592479"/>
              <a:ext cx="196367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条件：L/S 缓冲区有空闲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任务：进入缓冲区，立即数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写入 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01668" y="4592479"/>
              <a:ext cx="212623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条件：基址寄存器就绪，计算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部件不冲突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任务：计算访存地址，写入 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60083" y="4592479"/>
              <a:ext cx="216687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条件：位于 L/S 队列头部，地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址已算好，要写的数据就绪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任务：写入存储器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18498" y="481917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（访存就是它的写结果阶段）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1524000"/>
              <a:ext cx="11125200" cy="3835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752600" y="1524000"/>
              <a:ext cx="9525" cy="3835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089082" y="1524000"/>
              <a:ext cx="9525" cy="3835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47498" y="1524000"/>
              <a:ext cx="9525" cy="3835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205912" y="1524000"/>
              <a:ext cx="9525" cy="3835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7" name="Rectangle 3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130" y="5991225"/>
              <a:ext cx="9304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判断任何指令的任何阶段能否开始，唯一标准是进入条件是否满足；另有一个隐含条件：没有结构冲突。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实例演示：题设与完整的时间表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328160" cy="1793558"/>
            <a:chOff x="533400" y="1524000"/>
            <a:chExt cx="4328160" cy="17935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1793558"/>
            </a:xfrm>
            <a:prstGeom prst="roundRect">
              <a:avLst>
                <a:gd name="adj" fmla="val 74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268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3693414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执行时间：load 2 个周期，加法 2 个，乘法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个，除法 40 个。保留站 Add1～3、Mult1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～2，load 缓冲器 Load1～3，每拍流出一条指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令。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3498532"/>
            <a:ext cx="4328160" cy="1640205"/>
            <a:chOff x="533400" y="3498532"/>
            <a:chExt cx="4328160" cy="1640205"/>
          </a:xfrm>
        </p:grpSpPr>
        <p:sp>
          <p:nvSpPr>
            <p:cNvPr id="13" name="Rectangle 13"/>
            <p:cNvSpPr/>
            <p:nvPr/>
          </p:nvSpPr>
          <p:spPr>
            <a:xfrm>
              <a:off x="533400" y="3498532"/>
              <a:ext cx="4328160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65045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指令序列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416" y="3911918"/>
              <a:ext cx="1404176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  L.D    F6,34(R2)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  L.D    F2,45(R3)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3  MUL.D  F0,F2,F4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4  SUB.D  F8,F6,F2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5  DIV.D  F10,F0,F6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6  ADD.D  F6,F8,F2</a:t>
              </a:r>
            </a:p>
          </p:txBody>
        </p:sp>
      </p:grpSp>
      <p:grpSp>
        <p:nvGrpSpPr>
          <p:cNvPr id="23" name="c1-callout-3"/>
          <p:cNvGrpSpPr/>
          <p:nvPr/>
        </p:nvGrpSpPr>
        <p:grpSpPr>
          <a:xfrm>
            <a:off x="533400" y="5318760"/>
            <a:ext cx="4328160" cy="756285"/>
            <a:chOff x="533400" y="5318760"/>
            <a:chExt cx="4328160" cy="756285"/>
          </a:xfrm>
        </p:grpSpPr>
        <p:sp>
          <p:nvSpPr>
            <p:cNvPr id="17" name="Rectangle 17"/>
            <p:cNvSpPr/>
            <p:nvPr/>
          </p:nvSpPr>
          <p:spPr>
            <a:xfrm>
              <a:off x="533400" y="5318760"/>
              <a:ext cx="432816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596890"/>
              <a:ext cx="200026" cy="200026"/>
              <a:chOff x="738188" y="5596890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5968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56635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088" y="56969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511" y="5465921"/>
              <a:ext cx="339585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M(A1)、M(A2) 表示两条 L.D 从存储器取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出的数，R(F4) 表示寄存器 F4 原有的值。</a:t>
              </a:r>
            </a:p>
          </p:txBody>
        </p:sp>
      </p:grpSp>
      <p:grpSp>
        <p:nvGrpSpPr>
          <p:cNvPr id="85" name="c2-table-1"/>
          <p:cNvGrpSpPr/>
          <p:nvPr/>
        </p:nvGrpSpPr>
        <p:grpSpPr>
          <a:xfrm>
            <a:off x="5161026" y="1524000"/>
            <a:ext cx="6497574" cy="3250501"/>
            <a:chOff x="5161026" y="1524000"/>
            <a:chExt cx="6497574" cy="3250501"/>
          </a:xfrm>
        </p:grpSpPr>
        <p:sp>
          <p:nvSpPr>
            <p:cNvPr id="24" name="Rectangle 24"/>
            <p:cNvSpPr/>
            <p:nvPr/>
          </p:nvSpPr>
          <p:spPr>
            <a:xfrm>
              <a:off x="5166360" y="1524000"/>
              <a:ext cx="649224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8071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1893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892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开始执行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77606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执行完成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203246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写结果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2073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等的是谁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68849" y="2076450"/>
              <a:ext cx="5588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L.D F6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36054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47584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56269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01137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43719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166360" y="236791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166360" y="2372678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68849" y="2501265"/>
              <a:ext cx="5588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L.D F2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36054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47584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56269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01137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943719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166360" y="279273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68849" y="2926080"/>
              <a:ext cx="7918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MUL.D F0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36054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47584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11845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071610" y="2807018"/>
              <a:ext cx="76009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56712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943719" y="2926080"/>
              <a:ext cx="15315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F2：Load2 第 5 拍写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166360" y="32165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166360" y="3221355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68849" y="3349942"/>
              <a:ext cx="755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SUB.D F8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36054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47584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556269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01137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43719" y="3349942"/>
              <a:ext cx="15315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F2：Load2 第 5 拍写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166360" y="364140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268849" y="3774757"/>
              <a:ext cx="8097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DIV.D F10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36054" y="377475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603160" y="3774757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511845" y="3774757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071610" y="3655695"/>
              <a:ext cx="76009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356712" y="3774757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943719" y="3774757"/>
              <a:ext cx="1612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F0：Mult1 第 16 拍写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166360" y="40662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166360" y="4070985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268849" y="4198620"/>
              <a:ext cx="755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ADD.D F6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836054" y="419862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647584" y="419862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511845" y="419862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9071610" y="4080510"/>
              <a:ext cx="760095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356712" y="419862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943719" y="4198620"/>
              <a:ext cx="14433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F8：Add1 第 8 拍写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166360" y="1524000"/>
              <a:ext cx="6492240" cy="29708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6524625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7239000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8147685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9057322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9836468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161026" y="4569142"/>
              <a:ext cx="55233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课件的表只列流出、执行完成、写结果三列；开始执行和等待关系是按进入条件推出来的</a:t>
              </a:r>
            </a:p>
          </p:txBody>
        </p:sp>
      </p:grpSp>
      <p:grpSp>
        <p:nvGrpSpPr>
          <p:cNvPr id="91" name="c2-callout-2"/>
          <p:cNvGrpSpPr/>
          <p:nvPr/>
        </p:nvGrpSpPr>
        <p:grpSpPr>
          <a:xfrm>
            <a:off x="5166360" y="4913948"/>
            <a:ext cx="6492240" cy="756285"/>
            <a:chOff x="5166360" y="4913948"/>
            <a:chExt cx="6492240" cy="756285"/>
          </a:xfrm>
        </p:grpSpPr>
        <p:sp>
          <p:nvSpPr>
            <p:cNvPr id="86" name="Rectangle 86"/>
            <p:cNvSpPr/>
            <p:nvPr/>
          </p:nvSpPr>
          <p:spPr>
            <a:xfrm>
              <a:off x="5166360" y="4913948"/>
              <a:ext cx="6492240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5371148" y="5192080"/>
              <a:ext cx="200023" cy="200023"/>
              <a:chOff x="5371148" y="5192080"/>
              <a:chExt cx="200023" cy="200023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5371148" y="519208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5504498" y="52587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5673471" y="5061109"/>
              <a:ext cx="521728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流出按顺序（1～6），执行和完成乱序：ADD.D 第 11 拍就写完，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MUL.D 第 16 拍、DIV.D 第 57 拍才写完。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79746" cy="909257"/>
            <a:chOff x="520446" y="342900"/>
            <a:chExt cx="56797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797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 1～6：依次流出，边流出边换名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5951220" cy="4000500"/>
            <a:chOff x="533400" y="1524000"/>
            <a:chExt cx="5951220" cy="4000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457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89188" y="164544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流出的指令及保留站填写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39640" y="16454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同一拍的其他事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1809" y="2145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84922" y="2045494"/>
              <a:ext cx="263575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L.D F6 → Load1，写入偏移 34；Qi[F6] =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58665" y="21455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193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24125"/>
              <a:ext cx="595122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1809" y="27455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84922" y="2645569"/>
              <a:ext cx="263575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L.D F2 → Load2，写入偏移 45；Qi[F2] =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58665" y="2645569"/>
              <a:ext cx="172542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Load1 开始执行，写入地址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34+R2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194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1809" y="33456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84922" y="3245644"/>
              <a:ext cx="28206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MUL.D → Mult1：Qj = Load2，Vk = R(F4)；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Qi[F0] = Mult1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58665" y="3345656"/>
              <a:ext cx="10808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Load1 执行完成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195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24275"/>
              <a:ext cx="595122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1809" y="39457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84922" y="3845719"/>
              <a:ext cx="2749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SUB.D → Add1：Vj = M(A1)，Qk = Load2；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Qi[F8] = Add1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58665" y="3845719"/>
              <a:ext cx="12915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Load1 写结果：F6 =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M(A1)，Load1 清空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3195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1809" y="45458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84922" y="4445794"/>
              <a:ext cx="277799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DIV.D → Mult2：Qj = Mult1，Vk = M(A1)；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Qi[F10] = Mult2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58665" y="4445794"/>
              <a:ext cx="161874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Load2 写结果 M(A2)：写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 F2、Mult1 和 Add1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9196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924425"/>
              <a:ext cx="595122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11809" y="51458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84922" y="5045869"/>
              <a:ext cx="267131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ADD.D → Add2：Qj = Add1，Vk = M(A2)；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Qi[F6] = Add2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58665" y="5145881"/>
              <a:ext cx="17211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MUL.D、SUB.D 开始执行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5951220" cy="4000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183005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456748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3" name="c2-table-1"/>
          <p:cNvGrpSpPr/>
          <p:nvPr/>
        </p:nvGrpSpPr>
        <p:grpSpPr>
          <a:xfrm>
            <a:off x="6784467" y="1524000"/>
            <a:ext cx="4874133" cy="2663856"/>
            <a:chOff x="6784467" y="1524000"/>
            <a:chExt cx="4874133" cy="2663856"/>
          </a:xfrm>
        </p:grpSpPr>
        <p:sp>
          <p:nvSpPr>
            <p:cNvPr id="41" name="Rectangle 41"/>
            <p:cNvSpPr/>
            <p:nvPr/>
          </p:nvSpPr>
          <p:spPr>
            <a:xfrm>
              <a:off x="6789420" y="1524000"/>
              <a:ext cx="486918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6997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保留站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94864" y="1645444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Busy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48612" y="1645444"/>
              <a:ext cx="2230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24393" y="1645444"/>
              <a:ext cx="1498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Vj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342243" y="1645444"/>
              <a:ext cx="190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Vk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166416" y="1645444"/>
              <a:ext cx="182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Qj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86575" y="2045494"/>
              <a:ext cx="366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44737" y="2045494"/>
              <a:ext cx="2649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38198" y="2045494"/>
              <a:ext cx="361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77350" y="2045494"/>
              <a:ext cx="481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M(A1)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115550" y="2045494"/>
              <a:ext cx="481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M(A2)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789420" y="231933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789420" y="2324100"/>
              <a:ext cx="486918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86575" y="2445544"/>
              <a:ext cx="366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44737" y="2445544"/>
              <a:ext cx="2649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438198" y="2445544"/>
              <a:ext cx="361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15550" y="2445544"/>
              <a:ext cx="481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M(A2)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954703" y="2445544"/>
              <a:ext cx="349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789420" y="271938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886575" y="2845594"/>
              <a:ext cx="366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86200" y="2845594"/>
              <a:ext cx="1819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789420" y="311943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789420" y="3124200"/>
              <a:ext cx="486918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886575" y="3245644"/>
              <a:ext cx="444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844737" y="3245644"/>
              <a:ext cx="2649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38198" y="3245644"/>
              <a:ext cx="481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MULTD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277350" y="3245644"/>
              <a:ext cx="481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M(A2)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115550" y="3245644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R(F4)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789420" y="351948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886575" y="3645694"/>
              <a:ext cx="444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844737" y="3645694"/>
              <a:ext cx="2649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438198" y="3645694"/>
              <a:ext cx="3220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DIVD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115550" y="3645694"/>
              <a:ext cx="481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M(A1)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954703" y="3645694"/>
              <a:ext cx="424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Mult1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789420" y="1524000"/>
              <a:ext cx="486918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760952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8336280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917543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1001363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10852785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784467" y="3997166"/>
              <a:ext cx="40250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6 拍结束时的保留站（Qk 列均为空，已省略；Load1～3 均空闲）</a:t>
              </a:r>
            </a:p>
          </p:txBody>
        </p:sp>
      </p:grpSp>
      <p:grpSp>
        <p:nvGrpSpPr>
          <p:cNvPr id="106" name="c2-table-2"/>
          <p:cNvGrpSpPr/>
          <p:nvPr/>
        </p:nvGrpSpPr>
        <p:grpSpPr>
          <a:xfrm>
            <a:off x="6789420" y="4319588"/>
            <a:ext cx="4869180" cy="800100"/>
            <a:chOff x="6789420" y="4319588"/>
            <a:chExt cx="4869180" cy="800100"/>
          </a:xfrm>
        </p:grpSpPr>
        <p:sp>
          <p:nvSpPr>
            <p:cNvPr id="84" name="Rectangle 84"/>
            <p:cNvSpPr/>
            <p:nvPr/>
          </p:nvSpPr>
          <p:spPr>
            <a:xfrm>
              <a:off x="6789420" y="4319588"/>
              <a:ext cx="486918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174488" y="4441031"/>
              <a:ext cx="182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Qi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023299" y="44410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F0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660522" y="44410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F2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178682" y="44410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F4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779709" y="44410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F6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462652" y="44410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F8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135789" y="4441031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F10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886575" y="4841081"/>
              <a:ext cx="645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6 拍末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908874" y="4841081"/>
              <a:ext cx="424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Mult1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711060" y="48410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229220" y="48410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702729" y="4841081"/>
              <a:ext cx="349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Add2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385671" y="4841081"/>
              <a:ext cx="349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Add1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067364" y="4841081"/>
              <a:ext cx="424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Mult2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6789420" y="4319588"/>
              <a:ext cx="4869180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7737158" y="431958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8494395" y="431958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9012555" y="431958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9531668" y="431958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10213658" y="431958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10896600" y="4319588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2" name="c2-callout-3"/>
          <p:cNvGrpSpPr/>
          <p:nvPr/>
        </p:nvGrpSpPr>
        <p:grpSpPr>
          <a:xfrm>
            <a:off x="6789420" y="5290185"/>
            <a:ext cx="4869180" cy="978218"/>
            <a:chOff x="6789420" y="5290185"/>
            <a:chExt cx="4869180" cy="978218"/>
          </a:xfrm>
        </p:grpSpPr>
        <p:sp>
          <p:nvSpPr>
            <p:cNvPr id="107" name="Rectangle 107"/>
            <p:cNvSpPr/>
            <p:nvPr/>
          </p:nvSpPr>
          <p:spPr>
            <a:xfrm>
              <a:off x="6789420" y="5290185"/>
              <a:ext cx="4869180" cy="978218"/>
            </a:xfrm>
            <a:prstGeom prst="roundRect">
              <a:avLst>
                <a:gd name="adj" fmla="val 1168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10" name="Group 110"/>
            <p:cNvGrpSpPr/>
            <p:nvPr/>
          </p:nvGrpSpPr>
          <p:grpSpPr>
            <a:xfrm>
              <a:off x="6994208" y="5678807"/>
              <a:ext cx="200023" cy="200023"/>
              <a:chOff x="6994208" y="5678807"/>
              <a:chExt cx="200023" cy="200023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6994208" y="56788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7127558" y="57454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11" name="TextBox 111"/>
            <p:cNvSpPr txBox="1"/>
            <p:nvPr/>
          </p:nvSpPr>
          <p:spPr>
            <a:xfrm>
              <a:off x="7296912" y="5435918"/>
              <a:ext cx="389705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F6 已被 ADD.D 预约，但 DIV.D 第 5 拍流出时已把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F6 的旧值 M(A1) 取进 Mult2，之后 F6 被改写也不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影响它。</a:t>
              </a:r>
            </a:p>
          </p:txBody>
        </p:sp>
      </p:grpSp>
      <p:grpSp>
        <p:nvGrpSpPr>
          <p:cNvPr id="11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3" name="TextBox 113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64553" cy="909257"/>
            <a:chOff x="520446" y="342900"/>
            <a:chExt cx="65645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645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 7～57：短指令先写完，长指令最后写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able-1"/>
          <p:cNvGrpSpPr/>
          <p:nvPr/>
        </p:nvGrpSpPr>
        <p:grpSpPr>
          <a:xfrm>
            <a:off x="533400" y="1524000"/>
            <a:ext cx="5998439" cy="4039553"/>
            <a:chOff x="533400" y="1524000"/>
            <a:chExt cx="5998439" cy="4039553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85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0646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53417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93723" y="2108359"/>
              <a:ext cx="12575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SUB.D 执行完成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53417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93723" y="2556986"/>
              <a:ext cx="43454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SUB.D 写结果：F8 = M(A1) − M(A2)，Add2 的 Qj 清 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750" y="3005614"/>
              <a:ext cx="4838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9～10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93723" y="3005614"/>
              <a:ext cx="20673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ADD.D 执行，第 10 拍完成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470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19462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3662" y="34542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93723" y="3454241"/>
              <a:ext cx="4653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ADD.D 写结果：F6 = M(A1) − M(A2) + M(A2)，Add2 清空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332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7994" y="3903821"/>
              <a:ext cx="583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12～15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93723" y="3903821"/>
              <a:ext cx="24484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MUL.D 继续执行，第 15 拍完成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21195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216718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3662" y="435244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93723" y="4352449"/>
              <a:ext cx="49381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MUL.D 写结果：F0 = M(A2) × R(F4)，Mult2 的 Vj 得到被除数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66058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7994" y="4801076"/>
              <a:ext cx="583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17～56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93723" y="4801076"/>
              <a:ext cx="16772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DIV.D 执行 40 个周期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1101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5114925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3662" y="524970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93723" y="5249704"/>
              <a:ext cx="47566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DIV.D 写结果：F10 = M(A2) × R(F4) ÷ M(A1)，Mult2 清空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5951220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481138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table-1"/>
          <p:cNvGrpSpPr/>
          <p:nvPr/>
        </p:nvGrpSpPr>
        <p:grpSpPr>
          <a:xfrm>
            <a:off x="6783705" y="1524000"/>
            <a:ext cx="4874895" cy="1642587"/>
            <a:chOff x="6783705" y="1524000"/>
            <a:chExt cx="4874895" cy="1642587"/>
          </a:xfrm>
        </p:grpSpPr>
        <p:sp>
          <p:nvSpPr>
            <p:cNvPr id="40" name="Rectangle 40"/>
            <p:cNvSpPr/>
            <p:nvPr/>
          </p:nvSpPr>
          <p:spPr>
            <a:xfrm>
              <a:off x="6789420" y="1524000"/>
              <a:ext cx="486918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4072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保留站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77469" y="1659731"/>
              <a:ext cx="416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Busy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61321" y="1659731"/>
              <a:ext cx="254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931894" y="1659731"/>
              <a:ext cx="1710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Vj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23076" y="1659731"/>
              <a:ext cx="2176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Vk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97243" y="2108359"/>
              <a:ext cx="7379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 4 个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81853" y="2108359"/>
              <a:ext cx="2078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789420" y="241649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789420" y="2421255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97243" y="2556986"/>
              <a:ext cx="5083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34467" y="2556986"/>
              <a:ext cx="3026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55558" y="2556986"/>
              <a:ext cx="3679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DIVD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38500" y="2556986"/>
              <a:ext cx="12601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M(A2) × R(F4)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912983" y="2556986"/>
              <a:ext cx="550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M(A1)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789420" y="1524000"/>
              <a:ext cx="486918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818120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542972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225915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800398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83705" y="2946559"/>
              <a:ext cx="34277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16 拍结束时的保留站：DIV.D 的操作数都已就绪</a:t>
              </a:r>
            </a:p>
          </p:txBody>
        </p:sp>
      </p:grpSp>
      <p:grpSp>
        <p:nvGrpSpPr>
          <p:cNvPr id="76" name="c2-table-2"/>
          <p:cNvGrpSpPr/>
          <p:nvPr/>
        </p:nvGrpSpPr>
        <p:grpSpPr>
          <a:xfrm>
            <a:off x="6789420" y="3312795"/>
            <a:ext cx="4869180" cy="1795462"/>
            <a:chOff x="6789420" y="3312795"/>
            <a:chExt cx="4869180" cy="1795462"/>
          </a:xfrm>
        </p:grpSpPr>
        <p:sp>
          <p:nvSpPr>
            <p:cNvPr id="62" name="Rectangle 62"/>
            <p:cNvSpPr/>
            <p:nvPr/>
          </p:nvSpPr>
          <p:spPr>
            <a:xfrm>
              <a:off x="6789420" y="3312795"/>
              <a:ext cx="486918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387438" y="344757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409767" y="3447574"/>
              <a:ext cx="135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16 拍末的内容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97243" y="389620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624126" y="3896201"/>
              <a:ext cx="12601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M(A2) × R(F4)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789420" y="420528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789420" y="4210050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897243" y="434578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F6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624126" y="4345781"/>
              <a:ext cx="20430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M(A1) − M(A2) + M(A2)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789420" y="465391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97243" y="4794409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F10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624126" y="4794409"/>
              <a:ext cx="18999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Qi = Mult2，等待 DIV.D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789420" y="3312795"/>
              <a:ext cx="486918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8511540" y="331279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2" name="c2-callout-3"/>
          <p:cNvGrpSpPr/>
          <p:nvPr/>
        </p:nvGrpSpPr>
        <p:grpSpPr>
          <a:xfrm>
            <a:off x="6789420" y="5297805"/>
            <a:ext cx="4869180" cy="1059180"/>
            <a:chOff x="6789420" y="5297805"/>
            <a:chExt cx="4869180" cy="1059180"/>
          </a:xfrm>
        </p:grpSpPr>
        <p:sp>
          <p:nvSpPr>
            <p:cNvPr id="77" name="Rectangle 77"/>
            <p:cNvSpPr/>
            <p:nvPr/>
          </p:nvSpPr>
          <p:spPr>
            <a:xfrm>
              <a:off x="6789420" y="5297805"/>
              <a:ext cx="4869180" cy="1059180"/>
            </a:xfrm>
            <a:prstGeom prst="roundRect">
              <a:avLst>
                <a:gd name="adj" fmla="val 1079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6994208" y="5727383"/>
              <a:ext cx="200026" cy="200026"/>
              <a:chOff x="6994208" y="5727383"/>
              <a:chExt cx="200026" cy="200026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6994208" y="57273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060883" y="580517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7296150" y="5446395"/>
              <a:ext cx="38347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DIV.D 的除数是流出时取到的 M(A1)，不是第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11 拍写入 F6 的新值，所以 ADD.D 不必等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DIV.D。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78328" cy="909257"/>
            <a:chOff x="520446" y="342900"/>
            <a:chExt cx="72783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783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 1：给出 Tomasulo 调度的指令时钟周期表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2557462"/>
            <a:chOff x="533400" y="1524000"/>
            <a:chExt cx="5193982" cy="2557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557462"/>
            </a:xfrm>
            <a:prstGeom prst="roundRect">
              <a:avLst>
                <a:gd name="adj" fmla="val 52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07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608576" cy="1292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单流出处理器采用基于 Tomasulo 算法的指令调度。有 1 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LSU 部件（内有加法器），2 个 LS 缓冲器（私有时间戳实现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FIFO），1 个加/减法运算部件，1 个乘/除法运算部件，2 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 保留站。指令序列执行前，指令均未流出，所有缓冲器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和保留站均空闲。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3384232"/>
              <a:ext cx="2730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给出指令执行状态时钟周期表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332" y="3684270"/>
              <a:ext cx="3403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给出第 14 周期末尾各个状态表的内容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4251960"/>
            <a:ext cx="5193982" cy="2043112"/>
            <a:chOff x="533400" y="4251960"/>
            <a:chExt cx="5193982" cy="2043112"/>
          </a:xfrm>
        </p:grpSpPr>
        <p:sp>
          <p:nvSpPr>
            <p:cNvPr id="15" name="Rectangle 15"/>
            <p:cNvSpPr/>
            <p:nvPr/>
          </p:nvSpPr>
          <p:spPr>
            <a:xfrm>
              <a:off x="533400" y="4251960"/>
              <a:ext cx="5193982" cy="2043112"/>
            </a:xfrm>
            <a:prstGeom prst="roundRect">
              <a:avLst>
                <a:gd name="adj" fmla="val 65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385310"/>
              <a:ext cx="47625" cy="17764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8190" y="4438650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9155" y="4471511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解题约定（与课件答案一致）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6762" y="483870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2782" y="4782502"/>
              <a:ext cx="4262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t 拍写上 CDB 的结果，等待者第 t + 1 拍才能使用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6762" y="51387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2782" y="5082540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保留站在写结果那一拍结束后释放，下一拍才能流出新指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6762" y="569595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2782" y="5639752"/>
              <a:ext cx="42913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指令按顺序流出，每拍最多流出一条；CDB 每拍只传一个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6027230" y="1524000"/>
            <a:ext cx="5631370" cy="1063656"/>
            <a:chOff x="6027230" y="1524000"/>
            <a:chExt cx="5631370" cy="1063656"/>
          </a:xfrm>
        </p:grpSpPr>
        <p:sp>
          <p:nvSpPr>
            <p:cNvPr id="26" name="Rectangle 26"/>
            <p:cNvSpPr/>
            <p:nvPr/>
          </p:nvSpPr>
          <p:spPr>
            <a:xfrm>
              <a:off x="6032182" y="1524000"/>
              <a:ext cx="562641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25433" y="1645444"/>
              <a:ext cx="411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Issue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14917" y="1645444"/>
              <a:ext cx="499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WtCDB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92817" y="1645444"/>
              <a:ext cx="3420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28137" y="16454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18687" y="16454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03241" y="1645444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76659" y="1645444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ADD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46684" y="1645444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MUL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8410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17540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16687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78675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69225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99780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73197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18487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32182" y="1524000"/>
              <a:ext cx="5626418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826568" y="152400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693342" y="152400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425815" y="152400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016365" y="152400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605962" y="152400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279380" y="152400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951845" y="152400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27230" y="2396966"/>
              <a:ext cx="34972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各流水段占用的时钟周期数（LD～MUL 为各指令的执行段）</a:t>
              </a:r>
            </a:p>
          </p:txBody>
        </p:sp>
      </p:grpSp>
      <p:grpSp>
        <p:nvGrpSpPr>
          <p:cNvPr id="74" name="c2-table-2"/>
          <p:cNvGrpSpPr/>
          <p:nvPr/>
        </p:nvGrpSpPr>
        <p:grpSpPr>
          <a:xfrm>
            <a:off x="6032182" y="2719388"/>
            <a:ext cx="5626418" cy="2400300"/>
            <a:chOff x="6032182" y="2719388"/>
            <a:chExt cx="5626418" cy="2400300"/>
          </a:xfrm>
        </p:grpSpPr>
        <p:sp>
          <p:nvSpPr>
            <p:cNvPr id="53" name="Rectangle 53"/>
            <p:cNvSpPr/>
            <p:nvPr/>
          </p:nvSpPr>
          <p:spPr>
            <a:xfrm>
              <a:off x="6032182" y="2719388"/>
              <a:ext cx="562641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30631" y="28408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待执行指令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19704" y="2840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对应变量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129338" y="3240881"/>
              <a:ext cx="8896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R2,(R1)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492490" y="3240881"/>
              <a:ext cx="1898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 = R2，Rs = R1，Imm = 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032182" y="351472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032182" y="3519488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129338" y="3640931"/>
              <a:ext cx="1107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 R2,R2,#2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492490" y="3640931"/>
              <a:ext cx="18806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 = R2，Rs = R2，Rt = #2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032182" y="39147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29338" y="4040981"/>
              <a:ext cx="8896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R2,(R1)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92490" y="4040981"/>
              <a:ext cx="1898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 = R2，Rs = R1，Imm = 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032182" y="431482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032182" y="4319588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129338" y="4441031"/>
              <a:ext cx="10736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 R1,R1,#4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492490" y="4441031"/>
              <a:ext cx="18806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 = R1，Rs = R1，Rt = #4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032182" y="47148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129338" y="4841081"/>
              <a:ext cx="10736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R5,R3,R4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492490" y="4841081"/>
              <a:ext cx="1885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 = R5，Rs = R3，Rt = R4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032182" y="2719388"/>
              <a:ext cx="5626418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8390572" y="2719388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1" name="c2-callout-3"/>
          <p:cNvGrpSpPr/>
          <p:nvPr/>
        </p:nvGrpSpPr>
        <p:grpSpPr>
          <a:xfrm>
            <a:off x="6032182" y="5290185"/>
            <a:ext cx="5626418" cy="729615"/>
            <a:chOff x="6032182" y="5290185"/>
            <a:chExt cx="5626418" cy="729615"/>
          </a:xfrm>
        </p:grpSpPr>
        <p:sp>
          <p:nvSpPr>
            <p:cNvPr id="75" name="Rectangle 75"/>
            <p:cNvSpPr/>
            <p:nvPr/>
          </p:nvSpPr>
          <p:spPr>
            <a:xfrm>
              <a:off x="6032182" y="5290185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6236970" y="5554028"/>
              <a:ext cx="200026" cy="200025"/>
              <a:chOff x="6236970" y="5554028"/>
              <a:chExt cx="200026" cy="200025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6236970" y="55540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276709" y="55984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311424" y="57096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6539674" y="5435918"/>
              <a:ext cx="465143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LD、ST 占用 LS 缓冲器，MUL、SUB、ADD 共用 2 个 ALU 保留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站。先数清每类资源，再逐拍推。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解题：逐条指令推出每个时钟周期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33400" y="1524000"/>
            <a:ext cx="11125200" cy="4046220"/>
            <a:chOff x="533400" y="1524000"/>
            <a:chExt cx="11125200" cy="40462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29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24636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483555" y="16559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推导过程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47681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4746" y="2246471"/>
              <a:ext cx="11278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R2,(R1)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14968" y="2246471"/>
              <a:ext cx="68547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拍流出到 Load1；R1 就绪，第 2 拍算地址；第 3～5 拍访存；第 6 拍写 CDB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534906" y="2119789"/>
              <a:ext cx="1736725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 1，EX 2，MEM 3～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5，CDB 6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993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04148"/>
              <a:ext cx="11125200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4746" y="2962751"/>
              <a:ext cx="1403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 R2,R2,#2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14968" y="2836069"/>
              <a:ext cx="6434582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拍流出到 ALU1，R2 要等 LD；LD 第 6 拍上 CDB，第 7～16 拍做乘法；第 17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拍写 CDB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534906" y="2836069"/>
              <a:ext cx="1709674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 2，EX 7～16，CDB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41566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4746" y="3679031"/>
              <a:ext cx="11278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R2,(R1)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14968" y="3552349"/>
              <a:ext cx="6614922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拍流出到 Load2；基址 R1 就绪，第 4 拍算地址；要存的 R2 等 MUL，第 17 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才到，第 18～20 拍写存储器；store 不上 CDB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534906" y="3552349"/>
              <a:ext cx="1835912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 3，EX 4，MEM 18～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1328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137660"/>
              <a:ext cx="11125200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746" y="4396264"/>
              <a:ext cx="13611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 R1,R1,#4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14968" y="4269581"/>
              <a:ext cx="6605905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拍流出到 ALU2，Qi[R1] 改为 ALU2；操作数就绪，第 5～8 拍做减法；第 9 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CDB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34906" y="4396264"/>
              <a:ext cx="19352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 4，EX 5～8，CDB 9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8491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746" y="5112544"/>
              <a:ext cx="13611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R5,R3,R4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14968" y="4985861"/>
              <a:ext cx="6073902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拍两个 ALU 保留站被 MUL、SUB 占着，流不出去；SUB 第 9 拍写完释放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ALU2，第 10 拍流出；加法部件空闲，第 11～14 拍执行；第 15 拍写 CDB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443085" y="4863465"/>
              <a:ext cx="2205990" cy="6972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34906" y="4985861"/>
              <a:ext cx="1610487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 10，EX 11～14，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CDB 15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11125200" cy="40462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308860" y="1524000"/>
              <a:ext cx="9525" cy="40462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428798" y="1524000"/>
              <a:ext cx="9525" cy="40462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7" name="Rectangle 37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511" y="6011704"/>
              <a:ext cx="97319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ST 流出时直接取走了 R1 的当前值，所以 SUB 随后改写 R1 不影响 ST 的访存地址；这正是换名消除 WAR 的效果。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32288" cy="909257"/>
            <a:chOff x="520446" y="342900"/>
            <a:chExt cx="633228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322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答案与挑错：ADD 为什么不能第 5 拍流出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6" name="c1-table-1"/>
          <p:cNvGrpSpPr/>
          <p:nvPr/>
        </p:nvGrpSpPr>
        <p:grpSpPr>
          <a:xfrm>
            <a:off x="527685" y="1524000"/>
            <a:ext cx="11130915" cy="2988469"/>
            <a:chOff x="527685" y="1524000"/>
            <a:chExt cx="11130915" cy="298846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5568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93601" y="1659731"/>
              <a:ext cx="1754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82224" y="165973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25871" y="1659731"/>
              <a:ext cx="4048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66828" y="1659731"/>
              <a:ext cx="5708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WtCDB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1936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备注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904458" y="1659731"/>
              <a:ext cx="8374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14 拍末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1223" y="2108359"/>
              <a:ext cx="1016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R2,(R1)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2746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3998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40891" y="210835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3～5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9839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96566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已完成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24212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2556986"/>
              <a:ext cx="12651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 R2,R2,#2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27462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59052" y="2556986"/>
              <a:ext cx="4695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7～16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73281" y="2556986"/>
              <a:ext cx="3100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51011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1634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数据相关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96566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正在执行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2866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3005614"/>
              <a:ext cx="1016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R2,(R1)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27462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39982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46119" y="3005614"/>
              <a:ext cx="5643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18～20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97244" y="3005614"/>
              <a:ext cx="3100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16343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数据相关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96566" y="30056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地址已算好，等数据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3147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331946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223" y="3454241"/>
              <a:ext cx="12268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 R1,R1,#4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927462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06439" y="3454241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5～8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73281" y="3454241"/>
              <a:ext cx="3100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98397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16343" y="3454241"/>
              <a:ext cx="7847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 已换名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96566" y="34542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已写结果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37633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1223" y="3903821"/>
              <a:ext cx="12268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R5,R3,R4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545080" y="3777615"/>
              <a:ext cx="87058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880076" y="39038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435668" y="3777615"/>
              <a:ext cx="131635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811666" y="3903821"/>
              <a:ext cx="5643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11～14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73281" y="3903821"/>
              <a:ext cx="3100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105525" y="3777615"/>
              <a:ext cx="109347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51011" y="39038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16343" y="390382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保留站冲突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96566" y="3903821"/>
              <a:ext cx="14018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执行完，等写 CDB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1524000"/>
              <a:ext cx="11125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253079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42138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75583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9123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20375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98398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27685" y="4292441"/>
              <a:ext cx="53479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课件"第 14 拍末"一列把 MUL、ST、ADD 都写作"已执行"，这里按实际进度细分</a:t>
              </a:r>
            </a:p>
          </p:txBody>
        </p:sp>
      </p:grpSp>
      <p:grpSp>
        <p:nvGrpSpPr>
          <p:cNvPr id="81" name="c1-compare-2"/>
          <p:cNvGrpSpPr/>
          <p:nvPr/>
        </p:nvGrpSpPr>
        <p:grpSpPr>
          <a:xfrm>
            <a:off x="533400" y="4658678"/>
            <a:ext cx="11125200" cy="1653540"/>
            <a:chOff x="533400" y="4658678"/>
            <a:chExt cx="11125200" cy="1653540"/>
          </a:xfrm>
        </p:grpSpPr>
        <p:sp>
          <p:nvSpPr>
            <p:cNvPr id="67" name="Rectangle 67"/>
            <p:cNvSpPr/>
            <p:nvPr/>
          </p:nvSpPr>
          <p:spPr>
            <a:xfrm>
              <a:off x="533400" y="4658678"/>
              <a:ext cx="5391150" cy="165354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542925" y="4792028"/>
              <a:ext cx="47625" cy="13868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73430" y="4892992"/>
              <a:ext cx="24696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课件"请挑错"中的错误答案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86765" y="531018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44880" y="5247322"/>
              <a:ext cx="47296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ADD：IS 5，EX 9～13，WtCDB 14，备注“结构冲突”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267450" y="4658678"/>
              <a:ext cx="5391150" cy="165354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6276975" y="4792028"/>
              <a:ext cx="47625" cy="138684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507480" y="489299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错在哪里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520815" y="531018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678930" y="5247322"/>
              <a:ext cx="4453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拍 2 个 ALU 保留站分别被 MUL、SUB 占着，ADD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无处可去，要等 SUB 第 9 拍写完释放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520815" y="593121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678930" y="5868352"/>
              <a:ext cx="34985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加法只需 4 个周期，9～13 是 5 个周期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5934075" y="532352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004415" y="541972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728194" cy="909257"/>
            <a:chOff x="520446" y="342900"/>
            <a:chExt cx="37281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7281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14 周期末尾的状态表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c1-table-1"/>
          <p:cNvGrpSpPr/>
          <p:nvPr/>
        </p:nvGrpSpPr>
        <p:grpSpPr>
          <a:xfrm>
            <a:off x="527685" y="1524000"/>
            <a:ext cx="6714173" cy="2734152"/>
            <a:chOff x="527685" y="1524000"/>
            <a:chExt cx="6714173" cy="27341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7329" y="1663065"/>
              <a:ext cx="5513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Label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97033" y="1663065"/>
              <a:ext cx="488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Busy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96695" y="1663065"/>
              <a:ext cx="2986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19218" y="1663065"/>
              <a:ext cx="2005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Vj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66410" y="1663065"/>
              <a:ext cx="25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50435" y="1663065"/>
              <a:ext cx="2986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36372" y="166306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0080" y="2150745"/>
              <a:ext cx="606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74888" y="215074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49459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499360"/>
              <a:ext cx="6708458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0080" y="2638425"/>
              <a:ext cx="606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4888" y="263842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21064" y="2638425"/>
              <a:ext cx="249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87992" y="2638425"/>
              <a:ext cx="81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Reg[R1]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57456" y="2638425"/>
              <a:ext cx="4846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75070" y="2638425"/>
              <a:ext cx="81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Reg[R1]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98227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0080" y="3126105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74888" y="312610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41054" y="3126105"/>
              <a:ext cx="409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890838" y="2996565"/>
              <a:ext cx="1457325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987992" y="3126105"/>
              <a:ext cx="12053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M[Reg[R1]]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64368" y="312610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46995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474720"/>
              <a:ext cx="6708458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0080" y="3613785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74888" y="3613785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62390" y="3613785"/>
              <a:ext cx="367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87992" y="3613785"/>
              <a:ext cx="81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Reg[R3]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64368" y="3613785"/>
              <a:ext cx="81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Reg[R4]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6708458" cy="2438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467802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205990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2876550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352925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426392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163628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7685" y="4038124"/>
              <a:ext cx="58816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保留站 / LS 缓冲器状态表（Vj、Vk 对应 rs、rt，A 对应 Imm；Qj 列均为空，已省略）</a:t>
              </a:r>
            </a:p>
          </p:txBody>
        </p:sp>
      </p:grpSp>
      <p:grpSp>
        <p:nvGrpSpPr>
          <p:cNvPr id="65" name="c1-table-2"/>
          <p:cNvGrpSpPr/>
          <p:nvPr/>
        </p:nvGrpSpPr>
        <p:grpSpPr>
          <a:xfrm>
            <a:off x="527685" y="4404360"/>
            <a:ext cx="6714173" cy="1193007"/>
            <a:chOff x="527685" y="4404360"/>
            <a:chExt cx="6714173" cy="1193007"/>
          </a:xfrm>
        </p:grpSpPr>
        <p:sp>
          <p:nvSpPr>
            <p:cNvPr id="48" name="Rectangle 48"/>
            <p:cNvSpPr/>
            <p:nvPr/>
          </p:nvSpPr>
          <p:spPr>
            <a:xfrm>
              <a:off x="533400" y="4404360"/>
              <a:ext cx="670845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0915" y="454009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229624" y="454009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329762" y="454009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428947" y="454009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434787" y="454009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33972" y="454009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1223" y="4988719"/>
              <a:ext cx="2083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Qi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234632" y="4988719"/>
              <a:ext cx="4135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38842" y="4988719"/>
              <a:ext cx="4135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4404360"/>
              <a:ext cx="6708458" cy="897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834515" y="440436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2839402" y="440436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032885" y="440436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038725" y="440436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043612" y="440436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27685" y="537733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寄存器状态表</a:t>
              </a:r>
            </a:p>
          </p:txBody>
        </p:sp>
      </p:grpSp>
      <p:grpSp>
        <p:nvGrpSpPr>
          <p:cNvPr id="77" name="c2-kv-1"/>
          <p:cNvGrpSpPr/>
          <p:nvPr/>
        </p:nvGrpSpPr>
        <p:grpSpPr>
          <a:xfrm>
            <a:off x="7539038" y="1548765"/>
            <a:ext cx="4119562" cy="2459355"/>
            <a:chOff x="7539038" y="1548765"/>
            <a:chExt cx="4119562" cy="2459355"/>
          </a:xfrm>
        </p:grpSpPr>
        <p:sp>
          <p:nvSpPr>
            <p:cNvPr id="66" name="TextBox 66"/>
            <p:cNvSpPr txBox="1"/>
            <p:nvPr/>
          </p:nvSpPr>
          <p:spPr>
            <a:xfrm>
              <a:off x="7539038" y="1548765"/>
              <a:ext cx="606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Load2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360092" y="1548765"/>
              <a:ext cx="30727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的基址是 SUB 改写前的旧 R1，地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址已放进 A；要存的数在等 ALU1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546658" y="2150745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539038" y="2270760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ALU1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360092" y="2270760"/>
              <a:ext cx="263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 正在执行，第 16 拍结束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546658" y="2590800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539038" y="2710815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ALU2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360092" y="2710815"/>
              <a:ext cx="29013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先后装过 SUB 和 ADD；ADD 已执行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完，第 15 拍写 CDB 后释放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546658" y="3312795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539038" y="3432810"/>
              <a:ext cx="2441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Qi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360092" y="3432810"/>
              <a:ext cx="30441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 在第 9 拍由 SUB 写回后清空；R2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MUL 预约，R5 由 ADD 预约</a:t>
              </a:r>
            </a:p>
          </p:txBody>
        </p:sp>
      </p:grpSp>
      <p:grpSp>
        <p:nvGrpSpPr>
          <p:cNvPr id="83" name="c2-card-2"/>
          <p:cNvGrpSpPr/>
          <p:nvPr/>
        </p:nvGrpSpPr>
        <p:grpSpPr>
          <a:xfrm>
            <a:off x="7546658" y="4139565"/>
            <a:ext cx="4111942" cy="1887855"/>
            <a:chOff x="7546658" y="4139565"/>
            <a:chExt cx="4111942" cy="1887855"/>
          </a:xfrm>
        </p:grpSpPr>
        <p:sp>
          <p:nvSpPr>
            <p:cNvPr id="78" name="Rectangle 78"/>
            <p:cNvSpPr/>
            <p:nvPr/>
          </p:nvSpPr>
          <p:spPr>
            <a:xfrm>
              <a:off x="7546658" y="4139565"/>
              <a:ext cx="4111942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7556182" y="4272915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7794308" y="43491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885468" y="43848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786688" y="4726305"/>
              <a:ext cx="34728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课件把 ALU1 的 Vj 写作 Reg[R2]。LD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结果经 CDB 直接送进 ALU1，而 R2 已被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 预约（Qi[R2] = ALU1），LD 不写寄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存器 R2，Vj 实际是 M[Reg[R1]]。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63051" cy="909257"/>
            <a:chOff x="520446" y="342900"/>
            <a:chExt cx="68630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动态调度解决数据冒险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630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Tomasulo 要点总结：能做什么，不能做什么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bullets-1"/>
          <p:cNvGrpSpPr/>
          <p:nvPr/>
        </p:nvGrpSpPr>
        <p:grpSpPr>
          <a:xfrm>
            <a:off x="533400" y="1535430"/>
            <a:ext cx="6256591" cy="2738533"/>
            <a:chOff x="533400" y="1535430"/>
            <a:chExt cx="6256591" cy="2738533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1745" y="15748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4293" y="1547336"/>
              <a:ext cx="5749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指令按程序原有顺序进入和流出指令队列，但不一定按原有顺序执行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62138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1745" y="190152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4293" y="1874044"/>
              <a:ext cx="55581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操作数未就绪的指令在保留站等待，操作数就绪的指令可以先执行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88845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1745" y="222823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4293" y="2200751"/>
              <a:ext cx="59656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换名消除名相关，解决读后写和写后写冲突：流出到保留站的指令，操作数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寄存器被换成了操作数本身，或产生该操作数的保留站号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787015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1745" y="282640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293" y="2798921"/>
              <a:ext cx="59404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流出、执行、写结果各有进入条件，还有一个隐含条件：没有结构冲突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11372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1745" y="315310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4293" y="3125629"/>
              <a:ext cx="59656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只能处理结构冲突和数据冲突，不能处理异常和控制冲突：分支之后的指令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要等分支是否成功确定后才能流出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371189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1745" y="375127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4293" y="3723799"/>
              <a:ext cx="584847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两处容易忽视：load/store 按 FIFO 次序访存；store 执行阶段与写结果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阶段的进入条件不同</a:t>
              </a:r>
            </a:p>
          </p:txBody>
        </p:sp>
      </p:grpSp>
      <p:grpSp>
        <p:nvGrpSpPr>
          <p:cNvPr id="45" name="c1-table-2"/>
          <p:cNvGrpSpPr/>
          <p:nvPr/>
        </p:nvGrpSpPr>
        <p:grpSpPr>
          <a:xfrm>
            <a:off x="533400" y="4398645"/>
            <a:ext cx="6492240" cy="1910715"/>
            <a:chOff x="533400" y="4398645"/>
            <a:chExt cx="6492240" cy="1910715"/>
          </a:xfrm>
        </p:grpSpPr>
        <p:sp>
          <p:nvSpPr>
            <p:cNvPr id="26" name="Rectangle 26"/>
            <p:cNvSpPr/>
            <p:nvPr/>
          </p:nvSpPr>
          <p:spPr>
            <a:xfrm>
              <a:off x="533400" y="4398645"/>
              <a:ext cx="649224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7047" y="452628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进入条件速查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39187" y="452628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浮点运算指令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60374" y="4526280"/>
              <a:ext cx="10044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load / store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5889" y="495109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64639" y="495109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有空闲保留站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01122" y="495109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有空闲缓冲器单元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24256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5247322"/>
              <a:ext cx="649224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5889" y="54825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064639" y="5482590"/>
              <a:ext cx="12285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Qj = 0 且 Qk = 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01122" y="5375910"/>
              <a:ext cx="22829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Qj = 0 且到达 load/store 队列头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87978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5889" y="601313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写结果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064639" y="6013132"/>
              <a:ext cx="1527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执行结束且 CDB 就绪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01122" y="6013132"/>
              <a:ext cx="22242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 同左；store 要求 Qk = 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398645"/>
              <a:ext cx="6492240" cy="19107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957388" y="4398645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293870" y="4398645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rd-1"/>
          <p:cNvGrpSpPr/>
          <p:nvPr/>
        </p:nvGrpSpPr>
        <p:grpSpPr>
          <a:xfrm>
            <a:off x="7330440" y="1524000"/>
            <a:ext cx="4328160" cy="1615440"/>
            <a:chOff x="7330440" y="1524000"/>
            <a:chExt cx="4328160" cy="1615440"/>
          </a:xfrm>
        </p:grpSpPr>
        <p:sp>
          <p:nvSpPr>
            <p:cNvPr id="46" name="Rectangle 46"/>
            <p:cNvSpPr/>
            <p:nvPr/>
          </p:nvSpPr>
          <p:spPr>
            <a:xfrm>
              <a:off x="7330440" y="1524000"/>
              <a:ext cx="4328160" cy="1615440"/>
            </a:xfrm>
            <a:prstGeom prst="roundRect">
              <a:avLst>
                <a:gd name="adj" fmla="val 82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339965" y="1657350"/>
              <a:ext cx="47625" cy="134874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56666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65810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能做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574280" y="21431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730871" y="2082641"/>
              <a:ext cx="30059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 RAW 冲突：CDB 直接传送结果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574280" y="246030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730871" y="2400776"/>
              <a:ext cx="25738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消除 WAW 和 WAR 冲突：换名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574280" y="277844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730871" y="2717959"/>
              <a:ext cx="24135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浮点运算，load/store 运算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7330440" y="3319462"/>
            <a:ext cx="4328160" cy="2989898"/>
            <a:chOff x="7330440" y="3319462"/>
            <a:chExt cx="4328160" cy="2989898"/>
          </a:xfrm>
        </p:grpSpPr>
        <p:sp>
          <p:nvSpPr>
            <p:cNvPr id="57" name="Rectangle 57"/>
            <p:cNvSpPr/>
            <p:nvPr/>
          </p:nvSpPr>
          <p:spPr>
            <a:xfrm>
              <a:off x="7330440" y="3319462"/>
              <a:ext cx="4328160" cy="2989898"/>
            </a:xfrm>
            <a:prstGeom prst="roundRect">
              <a:avLst>
                <a:gd name="adj" fmla="val 44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339965" y="3452812"/>
              <a:ext cx="47625" cy="272319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566660" y="3517582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54100" y="355187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不能做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574280" y="393858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730871" y="387810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分支预测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574280" y="425577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730871" y="419623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处理异常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60564" y="4510088"/>
              <a:ext cx="36316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第三部分的 BHT、BTB 和前瞻执行（ROB）就是补这两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个缺口的。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579745" cy="2997517"/>
            <a:chOff x="667512" y="1835468"/>
            <a:chExt cx="5579745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动态调度解决控制冒险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先预测分支，再把前瞻执行的结果暂存起来，猜错就作废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4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 分支历史表 BHT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8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 分支目标缓冲器 BTB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24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 基于硬件的前瞻执行（ROB）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动态调度解决控制冒险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动态分支预测：按分支过去的表现预测下一次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43038"/>
            <a:chOff x="533400" y="1524000"/>
            <a:chExt cx="5410200" cy="14430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8459" y="174355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动态分支预测技术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通过硬件，在程序执行时根据每条转移指令过去的转移历史，预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测下一次转移的方向。提前预测分支方向，减少或消除控制相关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导致的流水线停顿。</a:t>
              </a:r>
            </a:p>
          </p:txBody>
        </p:sp>
      </p:grpSp>
      <p:grpSp>
        <p:nvGrpSpPr>
          <p:cNvPr id="31" name="c1-compare-2"/>
          <p:cNvGrpSpPr/>
          <p:nvPr/>
        </p:nvGrpSpPr>
        <p:grpSpPr>
          <a:xfrm>
            <a:off x="533400" y="3136582"/>
            <a:ext cx="5410200" cy="2038350"/>
            <a:chOff x="533400" y="3136582"/>
            <a:chExt cx="5410200" cy="2038350"/>
          </a:xfrm>
        </p:grpSpPr>
        <p:sp>
          <p:nvSpPr>
            <p:cNvPr id="13" name="Rectangle 13"/>
            <p:cNvSpPr/>
            <p:nvPr/>
          </p:nvSpPr>
          <p:spPr>
            <a:xfrm>
              <a:off x="533400" y="3136582"/>
              <a:ext cx="2533650" cy="2038350"/>
            </a:xfrm>
            <a:prstGeom prst="roundRect">
              <a:avLst>
                <a:gd name="adj" fmla="val 65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269932"/>
              <a:ext cx="47625" cy="17716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1332" y="334613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静态分支预测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6762" y="371856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2782" y="366236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操作事先预定好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6762" y="401955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2782" y="3963352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与分支的实际执行情况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无关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09950" y="3136582"/>
              <a:ext cx="2533650" cy="2038350"/>
            </a:xfrm>
            <a:prstGeom prst="roundRect">
              <a:avLst>
                <a:gd name="adj" fmla="val 65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419475" y="3269932"/>
              <a:ext cx="47625" cy="17716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627882" y="334613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动态分支预测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643312" y="371856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99332" y="3662362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运行时依据分支过去的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表现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643312" y="427672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99332" y="4220528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分支行为变了，预测跟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着变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643312" y="48339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99332" y="477774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准确度和适应性更好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3076575" y="399383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146915" y="409003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8" name="c1-callout-3"/>
          <p:cNvGrpSpPr/>
          <p:nvPr/>
        </p:nvGrpSpPr>
        <p:grpSpPr>
          <a:xfrm>
            <a:off x="533400" y="5345430"/>
            <a:ext cx="5410200" cy="978218"/>
            <a:chOff x="533400" y="5345430"/>
            <a:chExt cx="5410200" cy="978218"/>
          </a:xfrm>
        </p:grpSpPr>
        <p:sp>
          <p:nvSpPr>
            <p:cNvPr id="32" name="Rectangle 32"/>
            <p:cNvSpPr/>
            <p:nvPr/>
          </p:nvSpPr>
          <p:spPr>
            <a:xfrm>
              <a:off x="533400" y="5345430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734050"/>
              <a:ext cx="200026" cy="200026"/>
              <a:chOff x="738188" y="5734050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7340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58007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7088" y="58340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892" y="5491162"/>
              <a:ext cx="445427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由简到繁：分支历史表 BHT、分支目标缓冲器 BTB、基于硬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件的前瞻执行（ROB），性能随复杂性和硬件的增加而提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高。</a:t>
              </a:r>
            </a:p>
          </p:txBody>
        </p:sp>
      </p:grpSp>
      <p:grpSp>
        <p:nvGrpSpPr>
          <p:cNvPr id="65" name="c2-flow-1"/>
          <p:cNvGrpSpPr/>
          <p:nvPr/>
        </p:nvGrpSpPr>
        <p:grpSpPr>
          <a:xfrm>
            <a:off x="6381750" y="1664970"/>
            <a:ext cx="5143500" cy="1719262"/>
            <a:chOff x="6381750" y="1664970"/>
            <a:chExt cx="5143500" cy="1719262"/>
          </a:xfrm>
        </p:grpSpPr>
        <p:sp>
          <p:nvSpPr>
            <p:cNvPr id="39" name="Freeform 39"/>
            <p:cNvSpPr/>
            <p:nvPr/>
          </p:nvSpPr>
          <p:spPr>
            <a:xfrm>
              <a:off x="7467600" y="25241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629525" y="24717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277225" y="2154555"/>
              <a:ext cx="1352550" cy="177165"/>
            </a:xfrm>
            <a:custGeom>
              <a:avLst/>
              <a:gdLst/>
              <a:ahLst/>
              <a:cxnLst/>
              <a:rect l="l" t="t" r="r" b="b"/>
              <a:pathLst>
                <a:path w="1352550" h="177165">
                  <a:moveTo>
                    <a:pt x="0" y="177165"/>
                  </a:moveTo>
                  <a:lnTo>
                    <a:pt x="0" y="36195"/>
                  </a:lnTo>
                  <a:lnTo>
                    <a:pt x="1352550" y="36195"/>
                  </a:lnTo>
                  <a:lnTo>
                    <a:pt x="135255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42" name="Freeform 42"/>
            <p:cNvSpPr/>
            <p:nvPr/>
          </p:nvSpPr>
          <p:spPr>
            <a:xfrm>
              <a:off x="9577388" y="20497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10172700" y="18573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44" name="Freeform 44"/>
            <p:cNvSpPr/>
            <p:nvPr/>
          </p:nvSpPr>
          <p:spPr>
            <a:xfrm>
              <a:off x="10334625" y="1804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8277225" y="2716530"/>
              <a:ext cx="1352550" cy="177165"/>
            </a:xfrm>
            <a:custGeom>
              <a:avLst/>
              <a:gdLst/>
              <a:ahLst/>
              <a:cxnLst/>
              <a:rect l="l" t="t" r="r" b="b"/>
              <a:pathLst>
                <a:path w="1352550" h="177165">
                  <a:moveTo>
                    <a:pt x="0" y="0"/>
                  </a:moveTo>
                  <a:lnTo>
                    <a:pt x="0" y="140970"/>
                  </a:lnTo>
                  <a:lnTo>
                    <a:pt x="1352550" y="140970"/>
                  </a:lnTo>
                  <a:lnTo>
                    <a:pt x="1352550" y="1771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577388" y="28936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10172700" y="31908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334625" y="3138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381750" y="2331720"/>
              <a:ext cx="108585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734300" y="2331720"/>
              <a:ext cx="1085850" cy="385762"/>
            </a:xfrm>
            <a:prstGeom prst="roundRect">
              <a:avLst>
                <a:gd name="adj" fmla="val 24691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9086850" y="1664970"/>
              <a:ext cx="1085850" cy="385762"/>
            </a:xfrm>
            <a:prstGeom prst="roundRect">
              <a:avLst>
                <a:gd name="adj" fmla="val 24691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439400" y="1664970"/>
              <a:ext cx="1085850" cy="385762"/>
            </a:xfrm>
            <a:prstGeom prst="roundRect">
              <a:avLst>
                <a:gd name="adj" fmla="val 24691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086850" y="2998470"/>
              <a:ext cx="108585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439400" y="2998470"/>
              <a:ext cx="108585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13418" y="2445544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i−1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24729" y="2445544"/>
              <a:ext cx="7049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分支指令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518518" y="1778794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i+1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871068" y="1778794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i+2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99671" y="31122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p+1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52221" y="31122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p+2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677275" y="1994535"/>
              <a:ext cx="5524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706422" y="20173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猜测路径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677275" y="2661285"/>
              <a:ext cx="5524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706422" y="26841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实际路径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6248400" y="3693795"/>
            <a:ext cx="5410200" cy="2628900"/>
            <a:chOff x="6248400" y="3693795"/>
            <a:chExt cx="5410200" cy="2628900"/>
          </a:xfrm>
        </p:grpSpPr>
        <p:sp>
          <p:nvSpPr>
            <p:cNvPr id="66" name="Rectangle 66"/>
            <p:cNvSpPr/>
            <p:nvPr/>
          </p:nvSpPr>
          <p:spPr>
            <a:xfrm>
              <a:off x="6248400" y="3693795"/>
              <a:ext cx="5410200" cy="2628900"/>
            </a:xfrm>
            <a:prstGeom prst="roundRect">
              <a:avLst>
                <a:gd name="adj" fmla="val 507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35090" y="3880485"/>
              <a:ext cx="184689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485356" y="3913346"/>
              <a:ext cx="17454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什么是"分支指令过去的表现"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28232" y="4225290"/>
              <a:ext cx="483146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就是分支的历史信息。预测错误时要作废已经预取和分析的指令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（上图 i+1、i+2）、恢复现场，从另一条路径重新执行，所以在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执行预测的目标指令之前要先把现场保存起来。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动态调度解决控制冒险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预测效果取决于什么，要解决哪些关键问题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951220" cy="1743075"/>
            <a:chOff x="533400" y="1524000"/>
            <a:chExt cx="5951220" cy="17430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57829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7258" y="1743551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分支预测的有效性取决于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预测的准确性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4117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355532"/>
              <a:ext cx="517436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预测正确和不正确两种情况下的分支开销。开销由流水线结构（例如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五段流水线把分支处理从 MEM 段提到 ID 段）、预测方法、预测错误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时的恢复策略决定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436620"/>
            <a:ext cx="5951220" cy="1228725"/>
            <a:chOff x="533400" y="3436620"/>
            <a:chExt cx="5951220" cy="1228725"/>
          </a:xfrm>
        </p:grpSpPr>
        <p:sp>
          <p:nvSpPr>
            <p:cNvPr id="16" name="Rectangle 16"/>
            <p:cNvSpPr/>
            <p:nvPr/>
          </p:nvSpPr>
          <p:spPr>
            <a:xfrm>
              <a:off x="533400" y="3436620"/>
              <a:ext cx="5951220" cy="1228725"/>
            </a:xfrm>
            <a:prstGeom prst="roundRect">
              <a:avLst>
                <a:gd name="adj" fmla="val 108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569970"/>
              <a:ext cx="47625" cy="96202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8190" y="3623310"/>
              <a:ext cx="157829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7258" y="3656171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采用动态分支预测的目的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6762" y="402431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2782" y="396811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预测分支是否成功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6762" y="432435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2782" y="4268152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尽快找到分支目标地址或目标指令，避免控制相关造成流水线停顿</a:t>
              </a:r>
            </a:p>
          </p:txBody>
        </p:sp>
      </p:grpSp>
      <p:grpSp>
        <p:nvGrpSpPr>
          <p:cNvPr id="34" name="c1-card-3"/>
          <p:cNvGrpSpPr/>
          <p:nvPr/>
        </p:nvGrpSpPr>
        <p:grpSpPr>
          <a:xfrm>
            <a:off x="533400" y="4835842"/>
            <a:ext cx="5951220" cy="1228725"/>
            <a:chOff x="533400" y="4835842"/>
            <a:chExt cx="5951220" cy="1228725"/>
          </a:xfrm>
        </p:grpSpPr>
        <p:sp>
          <p:nvSpPr>
            <p:cNvPr id="25" name="Rectangle 25"/>
            <p:cNvSpPr/>
            <p:nvPr/>
          </p:nvSpPr>
          <p:spPr>
            <a:xfrm>
              <a:off x="533400" y="4835842"/>
              <a:ext cx="5951220" cy="1228725"/>
            </a:xfrm>
            <a:prstGeom prst="roundRect">
              <a:avLst>
                <a:gd name="adj" fmla="val 1085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20090" y="5022532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86308" y="505539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需要解决的关键问题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20090" y="535400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5768" y="53933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00887" y="536638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如何记录分支的历史信息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20090" y="565499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5768" y="569337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00887" y="5666423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如何根据这些历史信息预测分支的去向，甚至直接取到目标指令</a:t>
              </a:r>
            </a:p>
          </p:txBody>
        </p:sp>
      </p:grpSp>
      <p:grpSp>
        <p:nvGrpSpPr>
          <p:cNvPr id="37" name="c2-image-1"/>
          <p:cNvGrpSpPr/>
          <p:nvPr/>
        </p:nvGrpSpPr>
        <p:grpSpPr>
          <a:xfrm>
            <a:off x="6789420" y="1524000"/>
            <a:ext cx="4869180" cy="4858416"/>
            <a:chOff x="6789420" y="1524000"/>
            <a:chExt cx="4869180" cy="4858416"/>
          </a:xfrm>
        </p:grpSpPr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rcRect l="10088" t="0" r="10087" b="0"/>
            <a:stretch>
              <a:fillRect/>
            </a:stretch>
          </p:blipFill>
          <p:spPr>
            <a:xfrm>
              <a:off x="6789420" y="1524000"/>
              <a:ext cx="4869180" cy="4574858"/>
            </a:xfrm>
            <a:prstGeom prst="roundRect">
              <a:avLst>
                <a:gd name="adj" fmla="val 2914"/>
              </a:avLst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7569962" y="6191726"/>
              <a:ext cx="3308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不看路牌看足迹：分支以前多半往哪走，这次就先猜哪边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97278" cy="909257"/>
            <a:chOff x="520446" y="342900"/>
            <a:chExt cx="75972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动态调度解决控制冒险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972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分支历史表 BHT：1 位记录分支最近一次是否成功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43038"/>
            <a:chOff x="533400" y="1524000"/>
            <a:chExt cx="5410200" cy="14430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289750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3322" y="1743551"/>
              <a:ext cx="2887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4.1 分支历史表 BHT（Branch History Table）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又称分支预测缓冲器（Branch Prediction Buffer），是最简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单的动态分支预测方法：记录分支指令最近一次或几次的执行情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况（成功或不成功），据此预测。</a:t>
              </a:r>
            </a:p>
          </p:txBody>
        </p:sp>
      </p:grpSp>
      <p:grpSp>
        <p:nvGrpSpPr>
          <p:cNvPr id="33" name="c1-graph-2"/>
          <p:cNvGrpSpPr/>
          <p:nvPr/>
        </p:nvGrpSpPr>
        <p:grpSpPr>
          <a:xfrm>
            <a:off x="1800225" y="3448526"/>
            <a:ext cx="2876550" cy="1249870"/>
            <a:chOff x="1800225" y="3448526"/>
            <a:chExt cx="2876550" cy="1249870"/>
          </a:xfrm>
        </p:grpSpPr>
        <p:sp>
          <p:nvSpPr>
            <p:cNvPr id="13" name="Freeform 13"/>
            <p:cNvSpPr/>
            <p:nvPr/>
          </p:nvSpPr>
          <p:spPr>
            <a:xfrm>
              <a:off x="2386012" y="4337685"/>
              <a:ext cx="1619250" cy="298133"/>
            </a:xfrm>
            <a:custGeom>
              <a:avLst/>
              <a:gdLst/>
              <a:ahLst/>
              <a:cxnLst/>
              <a:rect l="l" t="t" r="r" b="b"/>
              <a:pathLst>
                <a:path w="1619250" h="298133">
                  <a:moveTo>
                    <a:pt x="0" y="0"/>
                  </a:moveTo>
                  <a:cubicBezTo>
                    <a:pt x="568325" y="283845"/>
                    <a:pt x="1108075" y="298133"/>
                    <a:pt x="1619250" y="4286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984308" y="4337685"/>
              <a:ext cx="106680" cy="84773"/>
            </a:xfrm>
            <a:custGeom>
              <a:avLst/>
              <a:gdLst/>
              <a:ahLst/>
              <a:cxnLst/>
              <a:rect l="l" t="t" r="r" b="b"/>
              <a:pathLst>
                <a:path w="106680" h="84773">
                  <a:moveTo>
                    <a:pt x="106680" y="0"/>
                  </a:moveTo>
                  <a:lnTo>
                    <a:pt x="41910" y="847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471738" y="3809365"/>
              <a:ext cx="1619250" cy="297815"/>
            </a:xfrm>
            <a:custGeom>
              <a:avLst/>
              <a:gdLst/>
              <a:ahLst/>
              <a:cxnLst/>
              <a:rect l="l" t="t" r="r" b="b"/>
              <a:pathLst>
                <a:path w="1619250" h="297815">
                  <a:moveTo>
                    <a:pt x="1619250" y="297815"/>
                  </a:moveTo>
                  <a:cubicBezTo>
                    <a:pt x="1050925" y="13970"/>
                    <a:pt x="511175" y="0"/>
                    <a:pt x="0" y="25590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386012" y="4022408"/>
              <a:ext cx="106680" cy="84772"/>
            </a:xfrm>
            <a:custGeom>
              <a:avLst/>
              <a:gdLst/>
              <a:ahLst/>
              <a:cxnLst/>
              <a:rect l="l" t="t" r="r" b="b"/>
              <a:pathLst>
                <a:path w="106680" h="84772">
                  <a:moveTo>
                    <a:pt x="0" y="84772"/>
                  </a:moveTo>
                  <a:lnTo>
                    <a:pt x="64770" y="0"/>
                  </a:lnTo>
                  <a:lnTo>
                    <a:pt x="106680" y="8477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800225" y="3483292"/>
              <a:ext cx="712470" cy="491490"/>
            </a:xfrm>
            <a:custGeom>
              <a:avLst/>
              <a:gdLst/>
              <a:ahLst/>
              <a:cxnLst/>
              <a:rect l="l" t="t" r="r" b="b"/>
              <a:pathLst>
                <a:path w="712470" h="491490">
                  <a:moveTo>
                    <a:pt x="244792" y="491490"/>
                  </a:moveTo>
                  <a:cubicBezTo>
                    <a:pt x="0" y="0"/>
                    <a:pt x="712470" y="0"/>
                    <a:pt x="467677" y="49149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267902" y="3879532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0" y="95250"/>
                  </a:moveTo>
                  <a:lnTo>
                    <a:pt x="0" y="0"/>
                  </a:lnTo>
                  <a:lnTo>
                    <a:pt x="76200" y="3810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964305" y="3483292"/>
              <a:ext cx="712470" cy="491490"/>
            </a:xfrm>
            <a:custGeom>
              <a:avLst/>
              <a:gdLst/>
              <a:ahLst/>
              <a:cxnLst/>
              <a:rect l="l" t="t" r="r" b="b"/>
              <a:pathLst>
                <a:path w="712470" h="491490">
                  <a:moveTo>
                    <a:pt x="244792" y="491490"/>
                  </a:moveTo>
                  <a:cubicBezTo>
                    <a:pt x="0" y="0"/>
                    <a:pt x="712470" y="0"/>
                    <a:pt x="467678" y="49149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431982" y="3879532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0" y="95250"/>
                  </a:moveTo>
                  <a:lnTo>
                    <a:pt x="0" y="0"/>
                  </a:lnTo>
                  <a:lnTo>
                    <a:pt x="76200" y="3810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908810" y="3974782"/>
              <a:ext cx="495300" cy="4953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072890" y="3974782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103718" y="414813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87652" y="450770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预测成功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67798" y="414813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85768" y="450770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预测不成功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888932" y="4457700"/>
              <a:ext cx="69818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903728" y="449246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分支不成功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951798" y="3801428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969692" y="383619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分支成功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87652" y="344852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分支成功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85768" y="344852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分支不成功</a:t>
              </a:r>
            </a:p>
          </p:txBody>
        </p:sp>
      </p:grpSp>
      <p:grpSp>
        <p:nvGrpSpPr>
          <p:cNvPr id="39" name="c1-card-3"/>
          <p:cNvGrpSpPr/>
          <p:nvPr/>
        </p:nvGrpSpPr>
        <p:grpSpPr>
          <a:xfrm>
            <a:off x="533400" y="5116830"/>
            <a:ext cx="5410200" cy="1185862"/>
            <a:chOff x="533400" y="5116830"/>
            <a:chExt cx="5410200" cy="1185862"/>
          </a:xfrm>
        </p:grpSpPr>
        <p:sp>
          <p:nvSpPr>
            <p:cNvPr id="34" name="Rectangle 34"/>
            <p:cNvSpPr/>
            <p:nvPr/>
          </p:nvSpPr>
          <p:spPr>
            <a:xfrm>
              <a:off x="533400" y="511683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525018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58190" y="530352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0862" y="533638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1332" y="5647373"/>
              <a:ext cx="46600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圆里的数是预测位，弧上的字是分支的实际结果。1 位 BHT 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记最近一次结果，所以出现一次相反的结果，预测就会翻转。</a:t>
              </a:r>
            </a:p>
          </p:txBody>
        </p:sp>
      </p:grpSp>
      <p:grpSp>
        <p:nvGrpSpPr>
          <p:cNvPr id="53" name="c2-steps-1"/>
          <p:cNvGrpSpPr/>
          <p:nvPr/>
        </p:nvGrpSpPr>
        <p:grpSpPr>
          <a:xfrm>
            <a:off x="6248400" y="1533525"/>
            <a:ext cx="4495724" cy="1685449"/>
            <a:chOff x="6248400" y="1533525"/>
            <a:chExt cx="4495724" cy="1685449"/>
          </a:xfrm>
        </p:grpSpPr>
        <p:sp>
          <p:nvSpPr>
            <p:cNvPr id="40" name="Rectangle 40"/>
            <p:cNvSpPr/>
            <p:nvPr/>
          </p:nvSpPr>
          <p:spPr>
            <a:xfrm>
              <a:off x="6381750" y="1676400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248400" y="21164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202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48400" y="26993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2024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0642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分支预测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1785" y="1833086"/>
              <a:ext cx="3132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预测位为 1，预测分支成功；为 0，预测不成功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0642" y="214788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修改预测位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61785" y="2416016"/>
              <a:ext cx="2077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本次分支成功置 1，不成功置 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0642" y="27308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预测错误时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61785" y="2998946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预测位被修改，并且要恢复现场，程序从分支指令处重新执行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248400" y="3382328"/>
            <a:ext cx="5410200" cy="2919412"/>
            <a:chOff x="6248400" y="3382328"/>
            <a:chExt cx="5410200" cy="2919412"/>
          </a:xfrm>
        </p:grpSpPr>
        <p:sp>
          <p:nvSpPr>
            <p:cNvPr id="54" name="Rectangle 54"/>
            <p:cNvSpPr/>
            <p:nvPr/>
          </p:nvSpPr>
          <p:spPr>
            <a:xfrm>
              <a:off x="6248400" y="3382328"/>
              <a:ext cx="5410200" cy="2919412"/>
            </a:xfrm>
            <a:prstGeom prst="roundRect">
              <a:avLst>
                <a:gd name="adj" fmla="val 45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57925" y="3515678"/>
              <a:ext cx="47625" cy="26527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73190" y="3569018"/>
              <a:ext cx="158496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24337" y="3601879"/>
              <a:ext cx="14826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BHT 只在一种情况下有用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481762" y="397002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37782" y="391382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判定分支是否成功所需的时间，大于确定分支目标地址所需的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481762" y="452723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37782" y="4471035"/>
              <a:ext cx="45399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前述五段经典流水线在 ID 段同时完成这两件事，BHT 对它没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有好处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67475" y="5024914"/>
              <a:ext cx="4804918" cy="635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研究表明：对 SPEC89，大小为 4K 的 BHT 预测准确率为 82%～99%，一般用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4K 就够。BHT 可以和分支指令一起放在指令 Cache 中，也可以用专门的硬件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实现。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07884" cy="909257"/>
            <a:chOff x="520446" y="342900"/>
            <a:chExt cx="66078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动态调度解决控制冒险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078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实例：1 位 BHT 预测一个执行 10 次的循环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4544378" cy="1719262"/>
            <a:chOff x="533400" y="1524000"/>
            <a:chExt cx="4544378" cy="17192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循环代码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707005"/>
              <a:ext cx="450627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035" y="1937861"/>
              <a:ext cx="1810766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Loop: L.D    F0,0(R1)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ADD.D  F4,F0,F2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S.D    F4,0(R1)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DADDIU R1,R1,#-1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BNE    R1,R2,Loop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L.D    F8,0(R1)</a:t>
              </a:r>
            </a:p>
          </p:txBody>
        </p:sp>
      </p:grpSp>
      <p:grpSp>
        <p:nvGrpSpPr>
          <p:cNvPr id="17" name="c1-kv-2"/>
          <p:cNvGrpSpPr/>
          <p:nvPr/>
        </p:nvGrpSpPr>
        <p:grpSpPr>
          <a:xfrm>
            <a:off x="525780" y="3458528"/>
            <a:ext cx="4551998" cy="1015364"/>
            <a:chOff x="525780" y="3458528"/>
            <a:chExt cx="4551998" cy="1015364"/>
          </a:xfrm>
        </p:grpSpPr>
        <p:sp>
          <p:nvSpPr>
            <p:cNvPr id="12" name="TextBox 12"/>
            <p:cNvSpPr txBox="1"/>
            <p:nvPr/>
          </p:nvSpPr>
          <p:spPr>
            <a:xfrm>
              <a:off x="525780" y="345852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初值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6862" y="3458528"/>
              <a:ext cx="3384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 = 1AH，R2 = 10H，BHT(BNE) = 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77856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80" y="389858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执行次数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66862" y="3898582"/>
              <a:ext cx="33013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 从 1AH 减到 10H，BNE 执行 10 次：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9 次成功，第 10 次不成功</a:t>
              </a:r>
            </a:p>
          </p:txBody>
        </p:sp>
      </p:grpSp>
      <p:grpSp>
        <p:nvGrpSpPr>
          <p:cNvPr id="64" name="c2-table-1"/>
          <p:cNvGrpSpPr/>
          <p:nvPr/>
        </p:nvGrpSpPr>
        <p:grpSpPr>
          <a:xfrm>
            <a:off x="5382578" y="1524000"/>
            <a:ext cx="6276022" cy="2244090"/>
            <a:chOff x="5382578" y="1524000"/>
            <a:chExt cx="6276022" cy="2244090"/>
          </a:xfrm>
        </p:grpSpPr>
        <p:sp>
          <p:nvSpPr>
            <p:cNvPr id="18" name="Rectangle 18"/>
            <p:cNvSpPr/>
            <p:nvPr/>
          </p:nvSpPr>
          <p:spPr>
            <a:xfrm>
              <a:off x="5382578" y="1524000"/>
              <a:ext cx="627602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58530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第几次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05906" y="1659731"/>
              <a:ext cx="797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执行后 R1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03458" y="1659731"/>
              <a:ext cx="730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BHT 预测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347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8819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740968" y="1659731"/>
              <a:ext cx="730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BHT 改为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94022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47990" y="2108359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83993" y="2108359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不成功（0）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34754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790748" y="1982152"/>
              <a:ext cx="75342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074351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5228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82578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82578" y="242125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94022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47990" y="2556986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70150" y="2556986"/>
              <a:ext cx="796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成功（1）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34754" y="25569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790748" y="2430780"/>
              <a:ext cx="75342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074351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52287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82578" y="28660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58110" y="3005614"/>
              <a:ext cx="3842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3～9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11628" y="3005614"/>
              <a:ext cx="786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17H～11H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70150" y="3005614"/>
              <a:ext cx="796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成功（1）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34754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790748" y="2880360"/>
              <a:ext cx="75342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074351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05228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82578" y="33147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82578" y="331946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744267" y="34542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47990" y="3454241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10H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70150" y="3454241"/>
              <a:ext cx="796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成功（1）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48598" y="345424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不成功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790748" y="3328988"/>
              <a:ext cx="75342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074351" y="34542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052287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82578" y="1524000"/>
              <a:ext cx="6276022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31317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48665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84110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77646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54893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c2-callout-2"/>
          <p:cNvGrpSpPr/>
          <p:nvPr/>
        </p:nvGrpSpPr>
        <p:grpSpPr>
          <a:xfrm>
            <a:off x="5382578" y="3958590"/>
            <a:ext cx="6276022" cy="782955"/>
            <a:chOff x="5382578" y="3958590"/>
            <a:chExt cx="6276022" cy="782955"/>
          </a:xfrm>
        </p:grpSpPr>
        <p:sp>
          <p:nvSpPr>
            <p:cNvPr id="65" name="Rectangle 65"/>
            <p:cNvSpPr/>
            <p:nvPr/>
          </p:nvSpPr>
          <p:spPr>
            <a:xfrm>
              <a:off x="5382578" y="3958590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5587365" y="4250057"/>
              <a:ext cx="200023" cy="200023"/>
              <a:chOff x="5587365" y="4250057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5587365" y="425005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5720715" y="43167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5889308" y="4107180"/>
              <a:ext cx="53111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 次预测错 2 次，准确率 80%。循环结束时 BHT 又回到 0，下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一次进入这个循环，第 1 次和第 10 次还会各错一次。</a:t>
              </a:r>
            </a:p>
          </p:txBody>
        </p:sp>
      </p:grpSp>
      <p:grpSp>
        <p:nvGrpSpPr>
          <p:cNvPr id="77" name="c2-callout-3"/>
          <p:cNvGrpSpPr/>
          <p:nvPr/>
        </p:nvGrpSpPr>
        <p:grpSpPr>
          <a:xfrm>
            <a:off x="5382578" y="4932045"/>
            <a:ext cx="6276022" cy="782955"/>
            <a:chOff x="5382578" y="4932045"/>
            <a:chExt cx="6276022" cy="782955"/>
          </a:xfrm>
        </p:grpSpPr>
        <p:sp>
          <p:nvSpPr>
            <p:cNvPr id="71" name="Rectangle 71"/>
            <p:cNvSpPr/>
            <p:nvPr/>
          </p:nvSpPr>
          <p:spPr>
            <a:xfrm>
              <a:off x="5382578" y="4932045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5587365" y="5223510"/>
              <a:ext cx="200026" cy="200025"/>
              <a:chOff x="5587365" y="5223510"/>
              <a:chExt cx="200026" cy="200025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5587365" y="52235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5627104" y="52679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5661819" y="53790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5889308" y="5080635"/>
              <a:ext cx="5368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 位 BHT 只记得最近一次：循环每执行一轮，在进入和退出时各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错一次。下一页的 2 位 BHT 能把它降到每轮 1 次。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67435" cy="909257"/>
            <a:chOff x="520446" y="342900"/>
            <a:chExt cx="65674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动态调度解决控制冒险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674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位 BHT：连续预测错两次才改变预测方向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0" name="c1-graph-1"/>
          <p:cNvGrpSpPr/>
          <p:nvPr/>
        </p:nvGrpSpPr>
        <p:grpSpPr>
          <a:xfrm>
            <a:off x="627698" y="1459706"/>
            <a:ext cx="5005387" cy="3281363"/>
            <a:chOff x="627698" y="1459706"/>
            <a:chExt cx="5005387" cy="3281363"/>
          </a:xfrm>
        </p:grpSpPr>
        <p:sp>
          <p:nvSpPr>
            <p:cNvPr id="7" name="Freeform 7"/>
            <p:cNvSpPr/>
            <p:nvPr/>
          </p:nvSpPr>
          <p:spPr>
            <a:xfrm>
              <a:off x="656272" y="3127058"/>
              <a:ext cx="4948238" cy="9525"/>
            </a:xfrm>
            <a:custGeom>
              <a:avLst/>
              <a:gdLst/>
              <a:ahLst/>
              <a:cxnLst/>
              <a:rect l="l" t="t" r="r" b="b"/>
              <a:pathLst>
                <a:path w="4948238" h="9525">
                  <a:moveTo>
                    <a:pt x="0" y="0"/>
                  </a:moveTo>
                  <a:lnTo>
                    <a:pt x="4948238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  <a:custDash>
                <a:ds d="500000" sp="333333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2247900" y="2371725"/>
              <a:ext cx="1675447" cy="222885"/>
            </a:xfrm>
            <a:custGeom>
              <a:avLst/>
              <a:gdLst/>
              <a:ahLst/>
              <a:cxnLst/>
              <a:rect l="l" t="t" r="r" b="b"/>
              <a:pathLst>
                <a:path w="1675447" h="222885">
                  <a:moveTo>
                    <a:pt x="0" y="0"/>
                  </a:moveTo>
                  <a:cubicBezTo>
                    <a:pt x="588010" y="212090"/>
                    <a:pt x="1146492" y="222885"/>
                    <a:pt x="1675447" y="3238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907155" y="2359342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12383"/>
                  </a:moveTo>
                  <a:lnTo>
                    <a:pt x="32385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337435" y="1962150"/>
              <a:ext cx="1675448" cy="222885"/>
            </a:xfrm>
            <a:custGeom>
              <a:avLst/>
              <a:gdLst/>
              <a:ahLst/>
              <a:cxnLst/>
              <a:rect l="l" t="t" r="r" b="b"/>
              <a:pathLst>
                <a:path w="1675448" h="222885">
                  <a:moveTo>
                    <a:pt x="1675448" y="222885"/>
                  </a:moveTo>
                  <a:cubicBezTo>
                    <a:pt x="1086802" y="10795"/>
                    <a:pt x="528320" y="0"/>
                    <a:pt x="0" y="19050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247900" y="2107882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0" y="77152"/>
                  </a:moveTo>
                  <a:lnTo>
                    <a:pt x="73342" y="0"/>
                  </a:lnTo>
                  <a:lnTo>
                    <a:pt x="105727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4272915" y="2554605"/>
              <a:ext cx="9525" cy="923925"/>
            </a:xfrm>
            <a:custGeom>
              <a:avLst/>
              <a:gdLst/>
              <a:ahLst/>
              <a:cxnLst/>
              <a:rect l="l" t="t" r="r" b="b"/>
              <a:pathLst>
                <a:path w="9525"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225290" y="34785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987868" y="2649855"/>
              <a:ext cx="9525" cy="923925"/>
            </a:xfrm>
            <a:custGeom>
              <a:avLst/>
              <a:gdLst/>
              <a:ahLst/>
              <a:cxnLst/>
              <a:rect l="l" t="t" r="r" b="b"/>
              <a:pathLst>
                <a:path w="9525" h="923925">
                  <a:moveTo>
                    <a:pt x="0" y="9239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940242" y="25546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247900" y="3943350"/>
              <a:ext cx="1675447" cy="222885"/>
            </a:xfrm>
            <a:custGeom>
              <a:avLst/>
              <a:gdLst/>
              <a:ahLst/>
              <a:cxnLst/>
              <a:rect l="l" t="t" r="r" b="b"/>
              <a:pathLst>
                <a:path w="1675447" h="222885">
                  <a:moveTo>
                    <a:pt x="0" y="0"/>
                  </a:moveTo>
                  <a:cubicBezTo>
                    <a:pt x="588010" y="212090"/>
                    <a:pt x="1146492" y="222885"/>
                    <a:pt x="1675447" y="3238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907155" y="3930968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12383"/>
                  </a:moveTo>
                  <a:lnTo>
                    <a:pt x="32385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337435" y="3533775"/>
              <a:ext cx="1675448" cy="222885"/>
            </a:xfrm>
            <a:custGeom>
              <a:avLst/>
              <a:gdLst/>
              <a:ahLst/>
              <a:cxnLst/>
              <a:rect l="l" t="t" r="r" b="b"/>
              <a:pathLst>
                <a:path w="1675448" h="222885">
                  <a:moveTo>
                    <a:pt x="1675448" y="222885"/>
                  </a:moveTo>
                  <a:cubicBezTo>
                    <a:pt x="1086802" y="10795"/>
                    <a:pt x="528320" y="0"/>
                    <a:pt x="0" y="19050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247900" y="3679508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0" y="77152"/>
                  </a:moveTo>
                  <a:lnTo>
                    <a:pt x="73342" y="0"/>
                  </a:lnTo>
                  <a:lnTo>
                    <a:pt x="105727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614488" y="1508760"/>
              <a:ext cx="746760" cy="502920"/>
            </a:xfrm>
            <a:custGeom>
              <a:avLst/>
              <a:gdLst/>
              <a:ahLst/>
              <a:cxnLst/>
              <a:rect l="l" t="t" r="r" b="b"/>
              <a:pathLst>
                <a:path w="746760" h="502920">
                  <a:moveTo>
                    <a:pt x="253365" y="502920"/>
                  </a:moveTo>
                  <a:cubicBezTo>
                    <a:pt x="0" y="0"/>
                    <a:pt x="746760" y="0"/>
                    <a:pt x="493395" y="50292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107882" y="1915478"/>
              <a:ext cx="76200" cy="96202"/>
            </a:xfrm>
            <a:custGeom>
              <a:avLst/>
              <a:gdLst/>
              <a:ahLst/>
              <a:cxnLst/>
              <a:rect l="l" t="t" r="r" b="b"/>
              <a:pathLst>
                <a:path w="76200" h="96202">
                  <a:moveTo>
                    <a:pt x="0" y="96202"/>
                  </a:moveTo>
                  <a:lnTo>
                    <a:pt x="0" y="0"/>
                  </a:lnTo>
                  <a:lnTo>
                    <a:pt x="76200" y="3905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3899535" y="4116705"/>
              <a:ext cx="746760" cy="502920"/>
            </a:xfrm>
            <a:custGeom>
              <a:avLst/>
              <a:gdLst/>
              <a:ahLst/>
              <a:cxnLst/>
              <a:rect l="l" t="t" r="r" b="b"/>
              <a:pathLst>
                <a:path w="746760" h="502920">
                  <a:moveTo>
                    <a:pt x="253365" y="0"/>
                  </a:moveTo>
                  <a:cubicBezTo>
                    <a:pt x="0" y="502920"/>
                    <a:pt x="746760" y="502920"/>
                    <a:pt x="493395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392930" y="4116705"/>
              <a:ext cx="77153" cy="96203"/>
            </a:xfrm>
            <a:custGeom>
              <a:avLst/>
              <a:gdLst/>
              <a:ahLst/>
              <a:cxnLst/>
              <a:rect l="l" t="t" r="r" b="b"/>
              <a:pathLst>
                <a:path w="77153" h="96203">
                  <a:moveTo>
                    <a:pt x="0" y="0"/>
                  </a:moveTo>
                  <a:lnTo>
                    <a:pt x="77153" y="57150"/>
                  </a:lnTo>
                  <a:lnTo>
                    <a:pt x="0" y="9620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721168" y="2011680"/>
              <a:ext cx="533400" cy="5334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006215" y="2011680"/>
              <a:ext cx="533400" cy="5334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721168" y="3583305"/>
              <a:ext cx="533400" cy="5334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006215" y="3583305"/>
              <a:ext cx="533400" cy="5334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627698" y="311753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5614035" y="311753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876056" y="2194560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61104" y="2194560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76056" y="376618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61104" y="376618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878455" y="2424112"/>
              <a:ext cx="502920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898038" y="246364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不成功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949892" y="1918335"/>
              <a:ext cx="360998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973426" y="19588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021455" y="2956560"/>
              <a:ext cx="502920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041038" y="299704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不成功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806892" y="2956560"/>
              <a:ext cx="360998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831378" y="29970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878455" y="3995738"/>
              <a:ext cx="502920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898038" y="40352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不成功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949892" y="3489960"/>
              <a:ext cx="360998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973426" y="35304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831378" y="14597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41038" y="452104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不成功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822651" y="28170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预测成功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747264" y="32885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预测不成功</a:t>
              </a:r>
            </a:p>
          </p:txBody>
        </p:sp>
      </p:grpSp>
      <p:grpSp>
        <p:nvGrpSpPr>
          <p:cNvPr id="52" name="c1-text-2"/>
          <p:cNvGrpSpPr/>
          <p:nvPr/>
        </p:nvGrpSpPr>
        <p:grpSpPr>
          <a:xfrm>
            <a:off x="526923" y="4879181"/>
            <a:ext cx="5003546" cy="500824"/>
            <a:chOff x="526923" y="4879181"/>
            <a:chExt cx="5003546" cy="500824"/>
          </a:xfrm>
        </p:grpSpPr>
        <p:sp>
          <p:nvSpPr>
            <p:cNvPr id="51" name="TextBox 51"/>
            <p:cNvSpPr txBox="1"/>
            <p:nvPr/>
          </p:nvSpPr>
          <p:spPr>
            <a:xfrm>
              <a:off x="526923" y="4879181"/>
              <a:ext cx="500354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状态的左边一位决定预测：1 预测成功，0 预测不成功。边上的字是本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次分支的实际结果。</a:t>
              </a:r>
            </a:p>
          </p:txBody>
        </p:sp>
      </p:grpSp>
      <p:grpSp>
        <p:nvGrpSpPr>
          <p:cNvPr id="59" name="c2-bullets-1"/>
          <p:cNvGrpSpPr/>
          <p:nvPr/>
        </p:nvGrpSpPr>
        <p:grpSpPr>
          <a:xfrm>
            <a:off x="6041708" y="1545431"/>
            <a:ext cx="5272786" cy="1103757"/>
            <a:chOff x="6041708" y="1545431"/>
            <a:chExt cx="5272786" cy="1103757"/>
          </a:xfrm>
        </p:grpSpPr>
        <p:sp>
          <p:nvSpPr>
            <p:cNvPr id="53" name="Ellipse 53"/>
            <p:cNvSpPr/>
            <p:nvPr/>
          </p:nvSpPr>
          <p:spPr>
            <a:xfrm>
              <a:off x="6041708" y="159734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97156" y="1545431"/>
              <a:ext cx="51173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处于 01：上一次已经预测错，这次仍预测不成功；若分支又成功（再错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一次），改为 11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041708" y="21459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97156" y="2094071"/>
              <a:ext cx="3312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 2 次预测错误才会在上下两半之间翻转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041708" y="245268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197156" y="2399824"/>
              <a:ext cx="45361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研究结果表明：2 位分支预测的性能与 n 位（n &gt; 2）差不多</a:t>
              </a:r>
            </a:p>
          </p:txBody>
        </p:sp>
      </p:grpSp>
      <p:grpSp>
        <p:nvGrpSpPr>
          <p:cNvPr id="88" name="c2-table-2"/>
          <p:cNvGrpSpPr/>
          <p:nvPr/>
        </p:nvGrpSpPr>
        <p:grpSpPr>
          <a:xfrm>
            <a:off x="6026467" y="2789872"/>
            <a:ext cx="5632133" cy="2521744"/>
            <a:chOff x="6026467" y="2789872"/>
            <a:chExt cx="5632133" cy="2521744"/>
          </a:xfrm>
        </p:grpSpPr>
        <p:sp>
          <p:nvSpPr>
            <p:cNvPr id="60" name="Rectangle 60"/>
            <p:cNvSpPr/>
            <p:nvPr/>
          </p:nvSpPr>
          <p:spPr>
            <a:xfrm>
              <a:off x="6032182" y="2789872"/>
              <a:ext cx="5626418" cy="67532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00203" y="303799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同一循环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437188" y="3037999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 次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37300" y="3037999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2 次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31719" y="2924651"/>
              <a:ext cx="577037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3～9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143967" y="3037999"/>
              <a:ext cx="665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10 次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28781" y="303799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错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140006" y="3599974"/>
              <a:ext cx="6631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首次进入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（00）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06759" y="3713321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 ✗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406872" y="3713321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 ✗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306984" y="3713321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✓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263294" y="3713321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✗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267552" y="37133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032182" y="41357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032182" y="4140518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140006" y="4276249"/>
              <a:ext cx="6631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再次进入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（10）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506759" y="4389596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✓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406872" y="4389596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✓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306984" y="4389596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✓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263294" y="4389596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✗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267552" y="438959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032182" y="2789872"/>
              <a:ext cx="5626418" cy="20269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7264718" y="2789872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8165782" y="2789872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9065895" y="2789872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9966008" y="2789872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10978515" y="2789872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026467" y="4891564"/>
              <a:ext cx="533120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补充对比：用上一页的循环，格中为预测时的状态，✗ 表示预测错；1 位 BHT 每轮都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错 2 次</a:t>
              </a:r>
            </a:p>
          </p:txBody>
        </p:sp>
      </p:grpSp>
      <p:grpSp>
        <p:nvGrpSpPr>
          <p:cNvPr id="95" name="c2-callout-3"/>
          <p:cNvGrpSpPr/>
          <p:nvPr/>
        </p:nvGrpSpPr>
        <p:grpSpPr>
          <a:xfrm>
            <a:off x="6032182" y="5457825"/>
            <a:ext cx="5626418" cy="782955"/>
            <a:chOff x="6032182" y="5457825"/>
            <a:chExt cx="5626418" cy="782955"/>
          </a:xfrm>
        </p:grpSpPr>
        <p:sp>
          <p:nvSpPr>
            <p:cNvPr id="89" name="Rectangle 89"/>
            <p:cNvSpPr/>
            <p:nvPr/>
          </p:nvSpPr>
          <p:spPr>
            <a:xfrm>
              <a:off x="6032182" y="5457825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6236970" y="5749290"/>
              <a:ext cx="200026" cy="200026"/>
              <a:chOff x="6236970" y="5749290"/>
              <a:chExt cx="200026" cy="200026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6236970" y="57492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6336983" y="58159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6325870" y="58493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6538912" y="5606415"/>
              <a:ext cx="4606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位 BHT 第一次进入循环要多错一次，之后每轮只在出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口错一次，适合长期反复执行的循环。</a:t>
              </a:r>
            </a:p>
          </p:txBody>
        </p:sp>
      </p:grpSp>
      <p:grpSp>
        <p:nvGrpSpPr>
          <p:cNvPr id="9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6" name="TextBox 96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61057" cy="909257"/>
            <a:chOff x="520446" y="342900"/>
            <a:chExt cx="62610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动态调度解决控制冒险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610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分支目标缓冲器 BTB：连目标地址一起存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193982" cy="2173605"/>
            <a:chOff x="533400" y="1524000"/>
            <a:chExt cx="5193982" cy="21736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173605"/>
            </a:xfrm>
            <a:prstGeom prst="roundRect">
              <a:avLst>
                <a:gd name="adj" fmla="val 61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069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背景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30090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高性能流水线，特别是多流出的处理器，只准确预测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分支方向还不够，还要提供足够的指令流：许多处理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器每个时钟周期要提供 4～8 条指令。这需要尽早知道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分支是否成功、尽早知道分支目标地址、尽早获得分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支目标指令。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3888105"/>
            <a:ext cx="5193982" cy="2131695"/>
            <a:chOff x="533400" y="3888105"/>
            <a:chExt cx="5193982" cy="2131695"/>
          </a:xfrm>
        </p:grpSpPr>
        <p:sp>
          <p:nvSpPr>
            <p:cNvPr id="13" name="Rectangle 13"/>
            <p:cNvSpPr/>
            <p:nvPr/>
          </p:nvSpPr>
          <p:spPr>
            <a:xfrm>
              <a:off x="533400" y="3888105"/>
              <a:ext cx="5193982" cy="2131695"/>
            </a:xfrm>
            <a:prstGeom prst="roundRect">
              <a:avLst>
                <a:gd name="adj" fmla="val 625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0976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3158" y="41333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474845"/>
              <a:ext cx="4587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把分支成功的分支指令的地址和它的分支目标地址都放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进一个缓冲区，缓冲区以分支指令的地址作为标识，称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为分支目标缓冲器 BTB（Branch-Target Buffer，或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Branch-Target Cache）。</a:t>
              </a:r>
            </a:p>
          </p:txBody>
        </p:sp>
      </p:grpSp>
      <p:grpSp>
        <p:nvGrpSpPr>
          <p:cNvPr id="37" name="c2-table-1"/>
          <p:cNvGrpSpPr/>
          <p:nvPr/>
        </p:nvGrpSpPr>
        <p:grpSpPr>
          <a:xfrm>
            <a:off x="6026467" y="1524000"/>
            <a:ext cx="5632133" cy="2539842"/>
            <a:chOff x="6026467" y="1524000"/>
            <a:chExt cx="5632133" cy="2539842"/>
          </a:xfrm>
        </p:grpSpPr>
        <p:sp>
          <p:nvSpPr>
            <p:cNvPr id="18" name="Rectangle 18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74435" y="165973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执行过的成功分支指令的地址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632747" y="16597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预测的分支目标地址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4336" y="2108359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08021" y="2108359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32182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32182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494336" y="2556986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08021" y="2556986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32182" y="2866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4708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60772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32182" y="33147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32182" y="3319462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99564" y="3454241"/>
              <a:ext cx="4027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Ak−1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13249" y="3454241"/>
              <a:ext cx="4027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Tk−1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032182" y="1524000"/>
              <a:ext cx="5626418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16590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26467" y="3843814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看成用专门硬件实现的一张表；第一列是匹配标识</a:t>
              </a:r>
            </a:p>
          </p:txBody>
        </p:sp>
      </p:grpSp>
      <p:grpSp>
        <p:nvGrpSpPr>
          <p:cNvPr id="56" name="c2-flow-2"/>
          <p:cNvGrpSpPr/>
          <p:nvPr/>
        </p:nvGrpSpPr>
        <p:grpSpPr>
          <a:xfrm>
            <a:off x="6165532" y="4129088"/>
            <a:ext cx="5359718" cy="1862137"/>
            <a:chOff x="6165532" y="4129088"/>
            <a:chExt cx="5359718" cy="1862137"/>
          </a:xfrm>
        </p:grpSpPr>
        <p:sp>
          <p:nvSpPr>
            <p:cNvPr id="38" name="Freeform 38"/>
            <p:cNvSpPr/>
            <p:nvPr/>
          </p:nvSpPr>
          <p:spPr>
            <a:xfrm>
              <a:off x="7774305" y="466248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936230" y="46101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9649778" y="466248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811702" y="46101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844915" y="5038725"/>
              <a:ext cx="9525" cy="33338"/>
            </a:xfrm>
            <a:custGeom>
              <a:avLst/>
              <a:gdLst/>
              <a:ahLst/>
              <a:cxnLst/>
              <a:rect l="l" t="t" r="r" b="b"/>
              <a:pathLst>
                <a:path w="9525" h="33338">
                  <a:moveTo>
                    <a:pt x="0" y="3333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792528" y="50387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165532" y="4443412"/>
              <a:ext cx="1608772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8041005" y="4252912"/>
              <a:ext cx="1608772" cy="819150"/>
            </a:xfrm>
            <a:custGeom>
              <a:avLst/>
              <a:gdLst/>
              <a:ahLst/>
              <a:cxnLst/>
              <a:rect l="l" t="t" r="r" b="b"/>
              <a:pathLst>
                <a:path w="1608772" h="819150">
                  <a:moveTo>
                    <a:pt x="803910" y="0"/>
                  </a:moveTo>
                  <a:lnTo>
                    <a:pt x="1608772" y="409575"/>
                  </a:lnTo>
                  <a:lnTo>
                    <a:pt x="803910" y="819150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916478" y="4129088"/>
              <a:ext cx="1608772" cy="1066800"/>
            </a:xfrm>
            <a:prstGeom prst="roundRect">
              <a:avLst>
                <a:gd name="adj" fmla="val 892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041005" y="5143500"/>
              <a:ext cx="1608772" cy="847725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12205" y="4573429"/>
              <a:ext cx="13144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当前取指令的 PC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50758" y="4463891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与表中某项匹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44950" y="4245769"/>
              <a:ext cx="1150874" cy="9065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认为是成功分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支，用表中目标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地址作为下一条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指令的 PC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69478" y="5259229"/>
              <a:ext cx="1150874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不是成功分支，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按普通指令顺序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668828" y="444627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707118" y="447294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873490" y="501586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896731" y="504253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91716" cy="909257"/>
            <a:chOff x="520446" y="342900"/>
            <a:chExt cx="80917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动态调度解决控制冒险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917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 BTB 后，流水线各段做什么、各种情况延迟几拍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7" name="c1-flow-1"/>
          <p:cNvGrpSpPr/>
          <p:nvPr/>
        </p:nvGrpSpPr>
        <p:grpSpPr>
          <a:xfrm>
            <a:off x="666750" y="1609725"/>
            <a:ext cx="6225540" cy="4048125"/>
            <a:chOff x="666750" y="1609725"/>
            <a:chExt cx="6225540" cy="4048125"/>
          </a:xfrm>
        </p:grpSpPr>
        <p:sp>
          <p:nvSpPr>
            <p:cNvPr id="7" name="Freeform 7"/>
            <p:cNvSpPr/>
            <p:nvPr/>
          </p:nvSpPr>
          <p:spPr>
            <a:xfrm>
              <a:off x="2967990" y="2209800"/>
              <a:ext cx="9525" cy="28575"/>
            </a:xfrm>
            <a:custGeom>
              <a:avLst/>
              <a:gdLst/>
              <a:ahLst/>
              <a:cxnLst/>
              <a:rect l="l" t="t" r="r" b="b"/>
              <a:pathLst>
                <a:path w="9525" h="28575">
                  <a:moveTo>
                    <a:pt x="0" y="285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915602" y="22098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344930" y="3105150"/>
              <a:ext cx="1623060" cy="66675"/>
            </a:xfrm>
            <a:custGeom>
              <a:avLst/>
              <a:gdLst/>
              <a:ahLst/>
              <a:cxnLst/>
              <a:rect l="l" t="t" r="r" b="b"/>
              <a:pathLst>
                <a:path w="1623060" h="66675">
                  <a:moveTo>
                    <a:pt x="1623060" y="28575"/>
                  </a:moveTo>
                  <a:lnTo>
                    <a:pt x="1623060" y="66675"/>
                  </a:lnTo>
                  <a:lnTo>
                    <a:pt x="0" y="6667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92542" y="31051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967990" y="3105150"/>
              <a:ext cx="1623060" cy="66675"/>
            </a:xfrm>
            <a:custGeom>
              <a:avLst/>
              <a:gdLst/>
              <a:ahLst/>
              <a:cxnLst/>
              <a:rect l="l" t="t" r="r" b="b"/>
              <a:pathLst>
                <a:path w="1623060" h="66675">
                  <a:moveTo>
                    <a:pt x="0" y="28575"/>
                  </a:moveTo>
                  <a:lnTo>
                    <a:pt x="0" y="66675"/>
                  </a:lnTo>
                  <a:lnTo>
                    <a:pt x="1623060" y="66675"/>
                  </a:lnTo>
                  <a:lnTo>
                    <a:pt x="162306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538662" y="31051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344930" y="3810000"/>
              <a:ext cx="9525" cy="28575"/>
            </a:xfrm>
            <a:custGeom>
              <a:avLst/>
              <a:gdLst/>
              <a:ahLst/>
              <a:cxnLst/>
              <a:rect l="l" t="t" r="r" b="b"/>
              <a:pathLst>
                <a:path w="9525" h="28575">
                  <a:moveTo>
                    <a:pt x="0" y="285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292542" y="38100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591050" y="3810000"/>
              <a:ext cx="9525" cy="28575"/>
            </a:xfrm>
            <a:custGeom>
              <a:avLst/>
              <a:gdLst/>
              <a:ahLst/>
              <a:cxnLst/>
              <a:rect l="l" t="t" r="r" b="b"/>
              <a:pathLst>
                <a:path w="9525" h="28575">
                  <a:moveTo>
                    <a:pt x="0" y="285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538662" y="38100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344930" y="4705350"/>
              <a:ext cx="9525" cy="28575"/>
            </a:xfrm>
            <a:custGeom>
              <a:avLst/>
              <a:gdLst/>
              <a:ahLst/>
              <a:cxnLst/>
              <a:rect l="l" t="t" r="r" b="b"/>
              <a:pathLst>
                <a:path w="9525" h="28575">
                  <a:moveTo>
                    <a:pt x="0" y="285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292542" y="47053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023110" y="4324350"/>
              <a:ext cx="944880" cy="271462"/>
            </a:xfrm>
            <a:custGeom>
              <a:avLst/>
              <a:gdLst/>
              <a:ahLst/>
              <a:cxnLst/>
              <a:rect l="l" t="t" r="r" b="b"/>
              <a:pathLst>
                <a:path w="944880" h="271462">
                  <a:moveTo>
                    <a:pt x="0" y="0"/>
                  </a:moveTo>
                  <a:lnTo>
                    <a:pt x="209550" y="0"/>
                  </a:lnTo>
                  <a:lnTo>
                    <a:pt x="944880" y="0"/>
                  </a:lnTo>
                  <a:lnTo>
                    <a:pt x="944880" y="166688"/>
                  </a:lnTo>
                  <a:lnTo>
                    <a:pt x="944880" y="2714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915602" y="45958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269230" y="432435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431155" y="42719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912870" y="4324350"/>
              <a:ext cx="1251585" cy="800100"/>
            </a:xfrm>
            <a:custGeom>
              <a:avLst/>
              <a:gdLst/>
              <a:ahLst/>
              <a:cxnLst/>
              <a:rect l="l" t="t" r="r" b="b"/>
              <a:pathLst>
                <a:path w="1251585" h="800100">
                  <a:moveTo>
                    <a:pt x="0" y="0"/>
                  </a:moveTo>
                  <a:lnTo>
                    <a:pt x="678180" y="0"/>
                  </a:lnTo>
                  <a:lnTo>
                    <a:pt x="678180" y="800100"/>
                  </a:lnTo>
                  <a:lnTo>
                    <a:pt x="1251585" y="8001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164455" y="50720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289810" y="1609725"/>
              <a:ext cx="1356360" cy="629602"/>
            </a:xfrm>
            <a:prstGeom prst="roundRect">
              <a:avLst>
                <a:gd name="adj" fmla="val 4992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2289810" y="2314575"/>
              <a:ext cx="1356360" cy="819150"/>
            </a:xfrm>
            <a:custGeom>
              <a:avLst/>
              <a:gdLst/>
              <a:ahLst/>
              <a:cxnLst/>
              <a:rect l="l" t="t" r="r" b="b"/>
              <a:pathLst>
                <a:path w="1356360" h="819150">
                  <a:moveTo>
                    <a:pt x="678180" y="0"/>
                  </a:moveTo>
                  <a:lnTo>
                    <a:pt x="1356360" y="409575"/>
                  </a:lnTo>
                  <a:lnTo>
                    <a:pt x="678180" y="819150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6750" y="3209925"/>
              <a:ext cx="135636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912870" y="3209925"/>
              <a:ext cx="1356360" cy="629602"/>
            </a:xfrm>
            <a:prstGeom prst="roundRect">
              <a:avLst>
                <a:gd name="adj" fmla="val 1512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66750" y="3914775"/>
              <a:ext cx="1356360" cy="819150"/>
            </a:xfrm>
            <a:custGeom>
              <a:avLst/>
              <a:gdLst/>
              <a:ahLst/>
              <a:cxnLst/>
              <a:rect l="l" t="t" r="r" b="b"/>
              <a:pathLst>
                <a:path w="1356360" h="819150">
                  <a:moveTo>
                    <a:pt x="678180" y="0"/>
                  </a:moveTo>
                  <a:lnTo>
                    <a:pt x="1356360" y="409575"/>
                  </a:lnTo>
                  <a:lnTo>
                    <a:pt x="678180" y="819150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3912870" y="3914775"/>
              <a:ext cx="1356360" cy="819150"/>
            </a:xfrm>
            <a:custGeom>
              <a:avLst/>
              <a:gdLst/>
              <a:ahLst/>
              <a:cxnLst/>
              <a:rect l="l" t="t" r="r" b="b"/>
              <a:pathLst>
                <a:path w="1356360" h="819150">
                  <a:moveTo>
                    <a:pt x="678180" y="0"/>
                  </a:moveTo>
                  <a:lnTo>
                    <a:pt x="1356360" y="409575"/>
                  </a:lnTo>
                  <a:lnTo>
                    <a:pt x="678180" y="819150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6750" y="4810125"/>
              <a:ext cx="1356360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289810" y="4700588"/>
              <a:ext cx="1356360" cy="847725"/>
            </a:xfrm>
            <a:prstGeom prst="roundRect">
              <a:avLst>
                <a:gd name="adj" fmla="val 8989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535930" y="4010025"/>
              <a:ext cx="1356360" cy="629602"/>
            </a:xfrm>
            <a:prstGeom prst="roundRect">
              <a:avLst>
                <a:gd name="adj" fmla="val 4992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912870" y="4591050"/>
              <a:ext cx="1356360" cy="1066800"/>
            </a:xfrm>
            <a:prstGeom prst="roundRect">
              <a:avLst>
                <a:gd name="adj" fmla="val 714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491308" y="1725454"/>
              <a:ext cx="95336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 PC 送存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储器和 BTB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59177" y="2525554"/>
              <a:ext cx="81762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BTB 中有匹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配项？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1733" y="3325654"/>
              <a:ext cx="8663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 NPC 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序取指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45661" y="3325654"/>
              <a:ext cx="89077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BTB 第二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字段作为 PC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2053" y="4125754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是成功分支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178173" y="4125754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当前分支成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0773" y="4925854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普通指令，继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续执行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477897" y="4816316"/>
              <a:ext cx="980186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 和目标地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址写入 BTB，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重新取指令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719953" y="4125754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预测正确，不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停顿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096893" y="4707731"/>
              <a:ext cx="988314" cy="9065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预测错误：清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除已取指令，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删除该项，重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新取指令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042160" y="295560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080451" y="298227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665220" y="295560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703510" y="298227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373505" y="467963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396746" y="47063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486025" y="410813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524316" y="41348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288280" y="410813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326571" y="41348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619625" y="463200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642866" y="465867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59" name="c1-text-2"/>
          <p:cNvGrpSpPr/>
          <p:nvPr/>
        </p:nvGrpSpPr>
        <p:grpSpPr>
          <a:xfrm>
            <a:off x="526923" y="5736431"/>
            <a:ext cx="6165850" cy="500824"/>
            <a:chOff x="526923" y="5736431"/>
            <a:chExt cx="6165850" cy="500824"/>
          </a:xfrm>
        </p:grpSpPr>
        <p:sp>
          <p:nvSpPr>
            <p:cNvPr id="58" name="TextBox 58"/>
            <p:cNvSpPr txBox="1"/>
            <p:nvPr/>
          </p:nvSpPr>
          <p:spPr>
            <a:xfrm>
              <a:off x="526923" y="5736431"/>
              <a:ext cx="616585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前三行在 IF 段完成，两个菱形判断在 ID 段；写入或删除 BTB 表项在 EX 段，重新取指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令在 MEM 段。</a:t>
              </a:r>
            </a:p>
          </p:txBody>
        </p:sp>
      </p:grpSp>
      <p:grpSp>
        <p:nvGrpSpPr>
          <p:cNvPr id="91" name="c2-table-1"/>
          <p:cNvGrpSpPr/>
          <p:nvPr/>
        </p:nvGrpSpPr>
        <p:grpSpPr>
          <a:xfrm>
            <a:off x="7324725" y="1524000"/>
            <a:ext cx="4333875" cy="2739866"/>
            <a:chOff x="7324725" y="1524000"/>
            <a:chExt cx="4333875" cy="2739866"/>
          </a:xfrm>
        </p:grpSpPr>
        <p:sp>
          <p:nvSpPr>
            <p:cNvPr id="60" name="Rectangle 60"/>
            <p:cNvSpPr/>
            <p:nvPr/>
          </p:nvSpPr>
          <p:spPr>
            <a:xfrm>
              <a:off x="7330440" y="1524000"/>
              <a:ext cx="432816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510076" y="1659731"/>
              <a:ext cx="11323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指令在 BTB 中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0347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预测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9961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75314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延迟周期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83614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034742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899612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05038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330440" y="241649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330440" y="2421255"/>
              <a:ext cx="432816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983614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034742" y="25569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813455" y="25569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不成功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560368" y="2430780"/>
              <a:ext cx="108870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1050382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330440" y="286607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897457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899612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0560368" y="2880360"/>
              <a:ext cx="108870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1050382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7330440" y="331470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7330440" y="3319462"/>
              <a:ext cx="432816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897457" y="3454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813455" y="345424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不成功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050382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7330440" y="1524000"/>
              <a:ext cx="432816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881729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960024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1054608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324725" y="3843814"/>
              <a:ext cx="38874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不在 BTB 中的指令有三种：之前不成功的分支、未执行过的分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支、普通指令</a:t>
              </a:r>
            </a:p>
          </p:txBody>
        </p:sp>
      </p:grpSp>
      <p:grpSp>
        <p:nvGrpSpPr>
          <p:cNvPr id="97" name="c2-card-2"/>
          <p:cNvGrpSpPr/>
          <p:nvPr/>
        </p:nvGrpSpPr>
        <p:grpSpPr>
          <a:xfrm>
            <a:off x="7330440" y="4410075"/>
            <a:ext cx="4328160" cy="1776412"/>
            <a:chOff x="7330440" y="4410075"/>
            <a:chExt cx="4328160" cy="1776412"/>
          </a:xfrm>
        </p:grpSpPr>
        <p:sp>
          <p:nvSpPr>
            <p:cNvPr id="92" name="Rectangle 92"/>
            <p:cNvSpPr/>
            <p:nvPr/>
          </p:nvSpPr>
          <p:spPr>
            <a:xfrm>
              <a:off x="7330440" y="4410075"/>
              <a:ext cx="4328160" cy="1776412"/>
            </a:xfrm>
            <a:prstGeom prst="roundRect">
              <a:avLst>
                <a:gd name="adj" fmla="val 75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7339965" y="4543425"/>
              <a:ext cx="47625" cy="15097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7578090" y="4619625"/>
              <a:ext cx="151923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637390" y="465534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为什么至少 2 个周期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570470" y="4996815"/>
              <a:ext cx="36728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预测错误或 BTB 中没有匹配项时：更新 BTB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表项要花 1 个周期；更新期间要停止取指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令，取新的指令又要花 1 个周期。</a:t>
              </a:r>
            </a:p>
          </p:txBody>
        </p:sp>
      </p:grpSp>
      <p:grpSp>
        <p:nvGrpSpPr>
          <p:cNvPr id="10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8" name="TextBox 98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20601" cy="909257"/>
            <a:chOff x="520446" y="342900"/>
            <a:chExt cx="54206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动态调度解决控制冒险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206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例题：采用 BTB 的程序 CPI 是多少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3129915"/>
            <a:chOff x="533400" y="1524000"/>
            <a:chExt cx="4977765" cy="3129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3129915"/>
            </a:xfrm>
            <a:prstGeom prst="roundRect">
              <a:avLst>
                <a:gd name="adj" fmla="val 42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8632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63390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一条长流水线，仅对条件转移指令使用分支目标缓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冲。分支预测错误的开销为 4 个时钟周期，缓冲不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命中的开销为 3 个时钟周期。命中率 90%，预测精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 90%，分支频率 15%，没有分支的基本 CPI 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3589020"/>
              <a:ext cx="1983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求程序执行的 CPI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3924300"/>
              <a:ext cx="4225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相对于固定 2 个时钟周期延迟的分支处理，哪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种方法更快？</a:t>
              </a:r>
            </a:p>
          </p:txBody>
        </p:sp>
      </p:grpSp>
      <p:grpSp>
        <p:nvGrpSpPr>
          <p:cNvPr id="29" name="c1-tree-2"/>
          <p:cNvGrpSpPr/>
          <p:nvPr/>
        </p:nvGrpSpPr>
        <p:grpSpPr>
          <a:xfrm>
            <a:off x="533400" y="4806315"/>
            <a:ext cx="4977764" cy="1594485"/>
            <a:chOff x="533400" y="4806315"/>
            <a:chExt cx="4977764" cy="1594485"/>
          </a:xfrm>
        </p:grpSpPr>
        <p:sp>
          <p:nvSpPr>
            <p:cNvPr id="15" name="Freeform 15"/>
            <p:cNvSpPr/>
            <p:nvPr/>
          </p:nvSpPr>
          <p:spPr>
            <a:xfrm>
              <a:off x="3711892" y="5097780"/>
              <a:ext cx="419100" cy="252412"/>
            </a:xfrm>
            <a:custGeom>
              <a:avLst/>
              <a:gdLst/>
              <a:ahLst/>
              <a:cxnLst/>
              <a:rect l="l" t="t" r="r" b="b"/>
              <a:pathLst>
                <a:path w="419100" h="252412">
                  <a:moveTo>
                    <a:pt x="0" y="252412"/>
                  </a:moveTo>
                  <a:lnTo>
                    <a:pt x="209550" y="25241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711892" y="5350192"/>
              <a:ext cx="419100" cy="253365"/>
            </a:xfrm>
            <a:custGeom>
              <a:avLst/>
              <a:gdLst/>
              <a:ahLst/>
              <a:cxnLst/>
              <a:rect l="l" t="t" r="r" b="b"/>
              <a:pathLst>
                <a:path w="419100" h="253365">
                  <a:moveTo>
                    <a:pt x="0" y="0"/>
                  </a:moveTo>
                  <a:lnTo>
                    <a:pt x="209550" y="0"/>
                  </a:lnTo>
                  <a:lnTo>
                    <a:pt x="209550" y="253365"/>
                  </a:lnTo>
                  <a:lnTo>
                    <a:pt x="419100" y="25336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913572" y="5350192"/>
              <a:ext cx="419100" cy="380047"/>
            </a:xfrm>
            <a:custGeom>
              <a:avLst/>
              <a:gdLst/>
              <a:ahLst/>
              <a:cxnLst/>
              <a:rect l="l" t="t" r="r" b="b"/>
              <a:pathLst>
                <a:path w="419100" h="380047">
                  <a:moveTo>
                    <a:pt x="0" y="380047"/>
                  </a:moveTo>
                  <a:lnTo>
                    <a:pt x="209550" y="38004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913572" y="5730240"/>
              <a:ext cx="419100" cy="379095"/>
            </a:xfrm>
            <a:custGeom>
              <a:avLst/>
              <a:gdLst/>
              <a:ahLst/>
              <a:cxnLst/>
              <a:rect l="l" t="t" r="r" b="b"/>
              <a:pathLst>
                <a:path w="419100" h="379095">
                  <a:moveTo>
                    <a:pt x="0" y="0"/>
                  </a:moveTo>
                  <a:lnTo>
                    <a:pt x="209550" y="0"/>
                  </a:lnTo>
                  <a:lnTo>
                    <a:pt x="209550" y="379095"/>
                  </a:lnTo>
                  <a:lnTo>
                    <a:pt x="419100" y="37909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130992" y="4806315"/>
              <a:ext cx="1380172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130992" y="5312092"/>
              <a:ext cx="1380172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332672" y="5164455"/>
              <a:ext cx="1380172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332672" y="5817870"/>
              <a:ext cx="1380172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5543550"/>
              <a:ext cx="1380172" cy="372428"/>
            </a:xfrm>
            <a:prstGeom prst="roundRect">
              <a:avLst>
                <a:gd name="adj" fmla="val 2557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19766" y="4902994"/>
              <a:ext cx="1012698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预测对 90%：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开销 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19766" y="5408771"/>
              <a:ext cx="1012698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预测错 10%：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开销 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21446" y="5261134"/>
              <a:ext cx="7465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命中 90%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21446" y="5915501"/>
              <a:ext cx="1012698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不命中 10%：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开销 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2173" y="5641181"/>
              <a:ext cx="10912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分支指令 15%</a:t>
              </a:r>
            </a:p>
          </p:txBody>
        </p:sp>
      </p:grpSp>
      <p:grpSp>
        <p:nvGrpSpPr>
          <p:cNvPr id="43" name="c2-steps-1"/>
          <p:cNvGrpSpPr/>
          <p:nvPr/>
        </p:nvGrpSpPr>
        <p:grpSpPr>
          <a:xfrm>
            <a:off x="5815965" y="1533525"/>
            <a:ext cx="4888499" cy="1878615"/>
            <a:chOff x="5815965" y="1533525"/>
            <a:chExt cx="4888499" cy="1878615"/>
          </a:xfrm>
        </p:grpSpPr>
        <p:sp>
          <p:nvSpPr>
            <p:cNvPr id="30" name="Rectangle 30"/>
            <p:cNvSpPr/>
            <p:nvPr/>
          </p:nvSpPr>
          <p:spPr>
            <a:xfrm>
              <a:off x="5949315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815965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0958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815965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0958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7445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额外开销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28588" y="1861661"/>
              <a:ext cx="44758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15% ×（90% × 10% × 4 + 10% × 3）= 15% × 0.66 = 0.099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27445" y="2218372"/>
              <a:ext cx="12694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采用 BTB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28588" y="2512219"/>
              <a:ext cx="19974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CPI = 1 + 0.099 = 1.099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27445" y="2868930"/>
              <a:ext cx="2086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固定延迟 2 个周期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28588" y="3162776"/>
              <a:ext cx="19428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CPI = 1 + 15% × 2 = 1.3</a:t>
              </a:r>
            </a:p>
          </p:txBody>
        </p:sp>
      </p:grpSp>
      <p:grpSp>
        <p:nvGrpSpPr>
          <p:cNvPr id="67" name="c2-table-2"/>
          <p:cNvGrpSpPr/>
          <p:nvPr/>
        </p:nvGrpSpPr>
        <p:grpSpPr>
          <a:xfrm>
            <a:off x="5815965" y="3590925"/>
            <a:ext cx="5842635" cy="1795462"/>
            <a:chOff x="5815965" y="3590925"/>
            <a:chExt cx="5842635" cy="1795462"/>
          </a:xfrm>
        </p:grpSpPr>
        <p:sp>
          <p:nvSpPr>
            <p:cNvPr id="44" name="Rectangle 44"/>
            <p:cNvSpPr/>
            <p:nvPr/>
          </p:nvSpPr>
          <p:spPr>
            <a:xfrm>
              <a:off x="5815965" y="3590925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38214" y="37257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07236" y="37257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占全部指令的比例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960572" y="37257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开销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895927" y="37257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贡献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923788" y="41743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命中但预测错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66917" y="4174331"/>
              <a:ext cx="207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15% × 90% × 10% = 1.35%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085499" y="417433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831309" y="417433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0.054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815965" y="448341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815965" y="4488180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923788" y="462391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缓冲不命中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72773" y="4623911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15% × 10% = 1.5%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085499" y="462391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831309" y="462391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0.045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815965" y="49320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23788" y="507253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0499408" y="4946332"/>
              <a:ext cx="114966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831309" y="507253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0.099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815965" y="3590925"/>
              <a:ext cx="584263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213282" y="35909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784080" y="35909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485120" y="35909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2-callout-3"/>
          <p:cNvGrpSpPr/>
          <p:nvPr/>
        </p:nvGrpSpPr>
        <p:grpSpPr>
          <a:xfrm>
            <a:off x="5815965" y="5575935"/>
            <a:ext cx="5842635" cy="782955"/>
            <a:chOff x="5815965" y="5575935"/>
            <a:chExt cx="5842635" cy="782955"/>
          </a:xfrm>
        </p:grpSpPr>
        <p:sp>
          <p:nvSpPr>
            <p:cNvPr id="68" name="Rectangle 68"/>
            <p:cNvSpPr/>
            <p:nvPr/>
          </p:nvSpPr>
          <p:spPr>
            <a:xfrm>
              <a:off x="5815965" y="557593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020753" y="5867400"/>
              <a:ext cx="200026" cy="200026"/>
              <a:chOff x="6020753" y="5867400"/>
              <a:chExt cx="200026" cy="2000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020753" y="58674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087428" y="594518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322695" y="5724525"/>
              <a:ext cx="47586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1.3 / 1.099 ≈ 1.18，采用分支目标缓冲的程序执行速度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快约 18%。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04338" cy="909257"/>
            <a:chOff x="520446" y="342900"/>
            <a:chExt cx="66043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动态调度解决控制冒险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043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BTB 的另一种形式：直接存放目标处的指令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185862"/>
            <a:chOff x="533400" y="1524000"/>
            <a:chExt cx="4977765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在分支目标缓冲器中存放一条或多条分支目标处的指令，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而不只是目标地址。</a:t>
              </a:r>
            </a:p>
          </p:txBody>
        </p:sp>
      </p:grpSp>
      <p:grpSp>
        <p:nvGrpSpPr>
          <p:cNvPr id="20" name="c1-bullets-2"/>
          <p:cNvGrpSpPr/>
          <p:nvPr/>
        </p:nvGrpSpPr>
        <p:grpSpPr>
          <a:xfrm>
            <a:off x="526542" y="2902268"/>
            <a:ext cx="4715256" cy="1711832"/>
            <a:chOff x="526542" y="2902268"/>
            <a:chExt cx="4715256" cy="1711832"/>
          </a:xfrm>
        </p:grpSpPr>
        <p:sp>
          <p:nvSpPr>
            <p:cNvPr id="13" name="TextBox 13"/>
            <p:cNvSpPr txBox="1"/>
            <p:nvPr/>
          </p:nvSpPr>
          <p:spPr>
            <a:xfrm>
              <a:off x="526542" y="29022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三个潜在的好处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324707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8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0382" y="32184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更快地获得分支目标处的指令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3400" y="355568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7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0382" y="352710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可以一次提供分支目标处的多条指令，这对多流出处理器很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有必要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3400" y="412146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8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0382" y="4092892"/>
              <a:ext cx="44628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可以进行分支折叠（branch folding）优化：实现零延迟无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条件分支，有时还能做到零延迟条件分支</a:t>
              </a:r>
            </a:p>
          </p:txBody>
        </p:sp>
      </p:grpSp>
      <p:grpSp>
        <p:nvGrpSpPr>
          <p:cNvPr id="36" name="c1-table-3"/>
          <p:cNvGrpSpPr/>
          <p:nvPr/>
        </p:nvGrpSpPr>
        <p:grpSpPr>
          <a:xfrm>
            <a:off x="533400" y="4731068"/>
            <a:ext cx="4977765" cy="1600200"/>
            <a:chOff x="533400" y="4731068"/>
            <a:chExt cx="4977765" cy="1600200"/>
          </a:xfrm>
        </p:grpSpPr>
        <p:sp>
          <p:nvSpPr>
            <p:cNvPr id="21" name="Rectangle 21"/>
            <p:cNvSpPr/>
            <p:nvPr/>
          </p:nvSpPr>
          <p:spPr>
            <a:xfrm>
              <a:off x="533400" y="4731068"/>
              <a:ext cx="497776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4128" y="48525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66404" y="485251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表项内容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82682" y="485251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命中后得到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0555" y="5352574"/>
              <a:ext cx="63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 BTB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24990" y="5352574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分支指令地址 + 目标地址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16655" y="5252561"/>
              <a:ext cx="149072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下一条的 PC，仍要去取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目标指令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72643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5731192"/>
              <a:ext cx="497776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0555" y="5952649"/>
              <a:ext cx="940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存指令的 BTB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24990" y="5852636"/>
              <a:ext cx="156895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分支指令地址 + BHT + 目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标处的指令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16655" y="5852636"/>
              <a:ext cx="15760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目标指令本身，可直接送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入流水线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731068"/>
              <a:ext cx="497776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723072" y="473106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614738" y="473106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table-1"/>
          <p:cNvGrpSpPr/>
          <p:nvPr/>
        </p:nvGrpSpPr>
        <p:grpSpPr>
          <a:xfrm>
            <a:off x="5811012" y="1524000"/>
            <a:ext cx="5847588" cy="2263806"/>
            <a:chOff x="5811012" y="1524000"/>
            <a:chExt cx="5847588" cy="2263806"/>
          </a:xfrm>
        </p:grpSpPr>
        <p:sp>
          <p:nvSpPr>
            <p:cNvPr id="37" name="Rectangle 37"/>
            <p:cNvSpPr/>
            <p:nvPr/>
          </p:nvSpPr>
          <p:spPr>
            <a:xfrm>
              <a:off x="5815965" y="1524000"/>
              <a:ext cx="584263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17069" y="16454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分支指令地址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48602" y="1645444"/>
              <a:ext cx="1091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分支历史表 BHT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21546" y="164544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分支目标处的若干条指令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1773" y="2045494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01010" y="2045494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81708" y="2045494"/>
              <a:ext cx="13496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I₀,₀ I₀,₁ … I₀,ₙ₋₁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815965" y="23193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815965" y="23241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81773" y="2445544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01010" y="2445544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81708" y="2445544"/>
              <a:ext cx="13496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I₁,₀ I₁,₁ … I₁,ₙ₋₁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15965" y="27193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27930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47167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209342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815965" y="31194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815965" y="31242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98847" y="3245644"/>
              <a:ext cx="352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Ak−1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18084" y="3245644"/>
              <a:ext cx="352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Tk−1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585691" y="3245644"/>
              <a:ext cx="13416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Iₖ₋₁,₀ … Iₖ₋₁,ₙ₋₁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815965" y="1524000"/>
              <a:ext cx="584263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330440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848725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811012" y="3597116"/>
              <a:ext cx="26215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用当前取指令的地址 PC 对第一列做相联查找</a:t>
              </a:r>
            </a:p>
          </p:txBody>
        </p:sp>
      </p:grpSp>
      <p:grpSp>
        <p:nvGrpSpPr>
          <p:cNvPr id="69" name="c2-callout-2"/>
          <p:cNvGrpSpPr/>
          <p:nvPr/>
        </p:nvGrpSpPr>
        <p:grpSpPr>
          <a:xfrm>
            <a:off x="5815965" y="3919538"/>
            <a:ext cx="5842635" cy="729615"/>
            <a:chOff x="5815965" y="3919538"/>
            <a:chExt cx="5842635" cy="729615"/>
          </a:xfrm>
        </p:grpSpPr>
        <p:sp>
          <p:nvSpPr>
            <p:cNvPr id="63" name="Rectangle 63"/>
            <p:cNvSpPr/>
            <p:nvPr/>
          </p:nvSpPr>
          <p:spPr>
            <a:xfrm>
              <a:off x="5815965" y="3919538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020753" y="4184333"/>
              <a:ext cx="200026" cy="200026"/>
              <a:chOff x="6020753" y="4184333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020753" y="41843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120765" y="42510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109653" y="428434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6323457" y="4066222"/>
              <a:ext cx="48571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分支折叠：无条件分支命中 BTB 时，直接用表中存着的目标指令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顶替这条分支指令送进流水线，分支本身不再占用一拍。</a:t>
              </a:r>
            </a:p>
          </p:txBody>
        </p:sp>
      </p:grpSp>
      <p:grpSp>
        <p:nvGrpSpPr>
          <p:cNvPr id="75" name="c2-card-3"/>
          <p:cNvGrpSpPr/>
          <p:nvPr/>
        </p:nvGrpSpPr>
        <p:grpSpPr>
          <a:xfrm>
            <a:off x="5815965" y="4818698"/>
            <a:ext cx="5842635" cy="1512570"/>
            <a:chOff x="5815965" y="4818698"/>
            <a:chExt cx="5842635" cy="1512570"/>
          </a:xfrm>
        </p:grpSpPr>
        <p:sp>
          <p:nvSpPr>
            <p:cNvPr id="70" name="Rectangle 70"/>
            <p:cNvSpPr/>
            <p:nvPr/>
          </p:nvSpPr>
          <p:spPr>
            <a:xfrm>
              <a:off x="5815965" y="4818698"/>
              <a:ext cx="5842635" cy="1512570"/>
            </a:xfrm>
            <a:prstGeom prst="roundRect">
              <a:avLst>
                <a:gd name="adj" fmla="val 8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5825490" y="4952048"/>
              <a:ext cx="47625" cy="12458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040755" y="5005388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106973" y="50382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条件分支折叠的前提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033897" y="5350192"/>
              <a:ext cx="48571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按表项中的 BHT 预测方向，预测成功才顶替；预测错误时与普通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BTB 一样作废已送入的指令，从正确地址重新取指。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53631" cy="909257"/>
            <a:chOff x="520446" y="342900"/>
            <a:chExt cx="80536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动态调度解决控制冒险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536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基于硬件的前瞻执行：先按猜测执行，结果暂存 ROB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6059805" cy="1898332"/>
            <a:chOff x="533400" y="1524000"/>
            <a:chExt cx="6059805" cy="18983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898332"/>
            </a:xfrm>
            <a:prstGeom prst="roundRect">
              <a:avLst>
                <a:gd name="adj" fmla="val 70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316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60318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7872" y="1769269"/>
              <a:ext cx="25485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前瞻执行（speculation）的基本思想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368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猜测分支结果并假设猜对，按猜测继续取出、流出和执行后续指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令。结果不写回寄存器或存储器，而是放进再定序缓冲器 ROB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（ReOrder Buffer），等指令得到确认（commit）后才写入。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3014186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目的：猜错时能恢复现场，因为此前没有做过不可恢复的写操作。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612832"/>
            <a:ext cx="6059805" cy="2283142"/>
            <a:chOff x="533400" y="3612832"/>
            <a:chExt cx="6059805" cy="2283142"/>
          </a:xfrm>
        </p:grpSpPr>
        <p:sp>
          <p:nvSpPr>
            <p:cNvPr id="14" name="Rectangle 14"/>
            <p:cNvSpPr/>
            <p:nvPr/>
          </p:nvSpPr>
          <p:spPr>
            <a:xfrm>
              <a:off x="533400" y="3612832"/>
              <a:ext cx="6059805" cy="2283142"/>
            </a:xfrm>
            <a:prstGeom prst="roundRect">
              <a:avLst>
                <a:gd name="adj" fmla="val 58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746182"/>
              <a:ext cx="47625" cy="20164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822382"/>
              <a:ext cx="2402205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344" y="3858101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动态预测 + 猜测执行 + 保留站技术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4186238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4228528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4199572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动态分支预测：选择后续执行的指令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1050" y="4521518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2899" y="4563808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2040" y="4534852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控制相关的结果出来之前，前瞻地执行后续指令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1050" y="4856798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2899" y="4899088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2040" y="4870132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动态调度：跨基本块调度（基本块指除入口和出口外不含其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他分支和转入点的一串代码）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4573" y="548782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实质是数据流执行：只要操作数有效，指令就执行。</a:t>
              </a:r>
            </a:p>
          </p:txBody>
        </p:sp>
      </p:grpSp>
      <p:grpSp>
        <p:nvGrpSpPr>
          <p:cNvPr id="31" name="c2-image-1"/>
          <p:cNvGrpSpPr/>
          <p:nvPr/>
        </p:nvGrpSpPr>
        <p:grpSpPr>
          <a:xfrm>
            <a:off x="6898005" y="1524000"/>
            <a:ext cx="4760595" cy="3614262"/>
            <a:chOff x="6898005" y="1524000"/>
            <a:chExt cx="4760595" cy="3614262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rcRect l="0" t="3795" r="0" b="3795"/>
            <a:stretch>
              <a:fillRect/>
            </a:stretch>
          </p:blipFill>
          <p:spPr>
            <a:xfrm>
              <a:off x="6898005" y="1524000"/>
              <a:ext cx="4760595" cy="3299460"/>
            </a:xfrm>
            <a:prstGeom prst="roundRect">
              <a:avLst>
                <a:gd name="adj" fmla="val 4041"/>
              </a:avLst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7991005" y="4918234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菜可以先后做好，但要按点单顺序上桌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6898005" y="5303520"/>
            <a:ext cx="4760595" cy="1059180"/>
            <a:chOff x="6898005" y="5303520"/>
            <a:chExt cx="4760595" cy="1059180"/>
          </a:xfrm>
        </p:grpSpPr>
        <p:sp>
          <p:nvSpPr>
            <p:cNvPr id="32" name="Rectangle 32"/>
            <p:cNvSpPr/>
            <p:nvPr/>
          </p:nvSpPr>
          <p:spPr>
            <a:xfrm>
              <a:off x="6898005" y="5303520"/>
              <a:ext cx="476059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102793" y="5733098"/>
              <a:ext cx="200026" cy="200025"/>
              <a:chOff x="7102793" y="5733098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102793" y="57330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142531" y="57775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177247" y="58886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404735" y="5452110"/>
              <a:ext cx="3634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预测正确就消除了控制相关的延迟；预测错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误，废弃已执行的指令，从另一分支重新开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始。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34053" cy="909257"/>
            <a:chOff x="520446" y="342900"/>
            <a:chExt cx="81340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动态调度解决控制冒险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340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Tomasulo 结构上加 ROB，写结果和确认分成两段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c1-flow-1"/>
          <p:cNvGrpSpPr/>
          <p:nvPr/>
        </p:nvGrpSpPr>
        <p:grpSpPr>
          <a:xfrm>
            <a:off x="666750" y="1509712"/>
            <a:ext cx="5865495" cy="4562475"/>
            <a:chOff x="666750" y="1509712"/>
            <a:chExt cx="5865495" cy="4562475"/>
          </a:xfrm>
        </p:grpSpPr>
        <p:sp>
          <p:nvSpPr>
            <p:cNvPr id="7" name="Freeform 7"/>
            <p:cNvSpPr/>
            <p:nvPr/>
          </p:nvSpPr>
          <p:spPr>
            <a:xfrm>
              <a:off x="1290638" y="2200275"/>
              <a:ext cx="1515428" cy="478155"/>
            </a:xfrm>
            <a:custGeom>
              <a:avLst/>
              <a:gdLst/>
              <a:ahLst/>
              <a:cxnLst/>
              <a:rect l="l" t="t" r="r" b="b"/>
              <a:pathLst>
                <a:path w="1515428" h="478155">
                  <a:moveTo>
                    <a:pt x="1515428" y="0"/>
                  </a:moveTo>
                  <a:lnTo>
                    <a:pt x="1515428" y="291465"/>
                  </a:lnTo>
                  <a:lnTo>
                    <a:pt x="0" y="291465"/>
                  </a:lnTo>
                  <a:lnTo>
                    <a:pt x="0" y="4781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238250" y="26784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806065" y="2200275"/>
              <a:ext cx="1514475" cy="1445895"/>
            </a:xfrm>
            <a:custGeom>
              <a:avLst/>
              <a:gdLst/>
              <a:ahLst/>
              <a:cxnLst/>
              <a:rect l="l" t="t" r="r" b="b"/>
              <a:pathLst>
                <a:path w="1514475" h="1445895">
                  <a:moveTo>
                    <a:pt x="0" y="0"/>
                  </a:moveTo>
                  <a:lnTo>
                    <a:pt x="0" y="775335"/>
                  </a:lnTo>
                  <a:lnTo>
                    <a:pt x="1514475" y="775335"/>
                  </a:lnTo>
                  <a:lnTo>
                    <a:pt x="1514475" y="14458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268152" y="36461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290638" y="3168015"/>
              <a:ext cx="9525" cy="478155"/>
            </a:xfrm>
            <a:custGeom>
              <a:avLst/>
              <a:gdLst/>
              <a:ahLst/>
              <a:cxnLst/>
              <a:rect l="l" t="t" r="r" b="b"/>
              <a:pathLst>
                <a:path w="9525" h="478155">
                  <a:moveTo>
                    <a:pt x="0" y="0"/>
                  </a:moveTo>
                  <a:lnTo>
                    <a:pt x="0" y="4781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38250" y="36461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290638" y="4135755"/>
              <a:ext cx="9525" cy="478155"/>
            </a:xfrm>
            <a:custGeom>
              <a:avLst/>
              <a:gdLst/>
              <a:ahLst/>
              <a:cxnLst/>
              <a:rect l="l" t="t" r="r" b="b"/>
              <a:pathLst>
                <a:path w="9525" h="478155">
                  <a:moveTo>
                    <a:pt x="0" y="0"/>
                  </a:moveTo>
                  <a:lnTo>
                    <a:pt x="0" y="4781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238250" y="46139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320540" y="4135755"/>
              <a:ext cx="9525" cy="478155"/>
            </a:xfrm>
            <a:custGeom>
              <a:avLst/>
              <a:gdLst/>
              <a:ahLst/>
              <a:cxnLst/>
              <a:rect l="l" t="t" r="r" b="b"/>
              <a:pathLst>
                <a:path w="9525" h="478155">
                  <a:moveTo>
                    <a:pt x="0" y="0"/>
                  </a:moveTo>
                  <a:lnTo>
                    <a:pt x="0" y="4781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268152" y="46139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5835015" y="4135755"/>
              <a:ext cx="9525" cy="478155"/>
            </a:xfrm>
            <a:custGeom>
              <a:avLst/>
              <a:gdLst/>
              <a:ahLst/>
              <a:cxnLst/>
              <a:rect l="l" t="t" r="r" b="b"/>
              <a:pathLst>
                <a:path w="9525" h="478155">
                  <a:moveTo>
                    <a:pt x="0" y="0"/>
                  </a:moveTo>
                  <a:lnTo>
                    <a:pt x="0" y="4781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782628" y="46139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290638" y="5103495"/>
              <a:ext cx="2272665" cy="478155"/>
            </a:xfrm>
            <a:custGeom>
              <a:avLst/>
              <a:gdLst/>
              <a:ahLst/>
              <a:cxnLst/>
              <a:rect l="l" t="t" r="r" b="b"/>
              <a:pathLst>
                <a:path w="2272665" h="478155">
                  <a:moveTo>
                    <a:pt x="0" y="0"/>
                  </a:moveTo>
                  <a:lnTo>
                    <a:pt x="0" y="291465"/>
                  </a:lnTo>
                  <a:lnTo>
                    <a:pt x="2272665" y="291465"/>
                  </a:lnTo>
                  <a:lnTo>
                    <a:pt x="2272665" y="4781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510915" y="55816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563302" y="5103495"/>
              <a:ext cx="757238" cy="478155"/>
            </a:xfrm>
            <a:custGeom>
              <a:avLst/>
              <a:gdLst/>
              <a:ahLst/>
              <a:cxnLst/>
              <a:rect l="l" t="t" r="r" b="b"/>
              <a:pathLst>
                <a:path w="757238" h="478155">
                  <a:moveTo>
                    <a:pt x="757238" y="0"/>
                  </a:moveTo>
                  <a:lnTo>
                    <a:pt x="757238" y="291465"/>
                  </a:lnTo>
                  <a:lnTo>
                    <a:pt x="0" y="291465"/>
                  </a:lnTo>
                  <a:lnTo>
                    <a:pt x="0" y="4781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510915" y="55816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563302" y="5103495"/>
              <a:ext cx="2271712" cy="478155"/>
            </a:xfrm>
            <a:custGeom>
              <a:avLst/>
              <a:gdLst/>
              <a:ahLst/>
              <a:cxnLst/>
              <a:rect l="l" t="t" r="r" b="b"/>
              <a:pathLst>
                <a:path w="2271712" h="478155">
                  <a:moveTo>
                    <a:pt x="2271712" y="0"/>
                  </a:moveTo>
                  <a:lnTo>
                    <a:pt x="2271712" y="291465"/>
                  </a:lnTo>
                  <a:lnTo>
                    <a:pt x="0" y="291465"/>
                  </a:lnTo>
                  <a:lnTo>
                    <a:pt x="0" y="4781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510915" y="55816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944428" y="200787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106352" y="19554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290060" y="1509712"/>
              <a:ext cx="2242185" cy="4369118"/>
            </a:xfrm>
            <a:custGeom>
              <a:avLst/>
              <a:gdLst/>
              <a:ahLst/>
              <a:cxnLst/>
              <a:rect l="l" t="t" r="r" b="b"/>
              <a:pathLst>
                <a:path w="2242185" h="4369118">
                  <a:moveTo>
                    <a:pt x="1878330" y="4369118"/>
                  </a:moveTo>
                  <a:lnTo>
                    <a:pt x="2087880" y="4369118"/>
                  </a:lnTo>
                  <a:lnTo>
                    <a:pt x="2242185" y="4369118"/>
                  </a:lnTo>
                  <a:lnTo>
                    <a:pt x="2242185" y="595312"/>
                  </a:lnTo>
                  <a:lnTo>
                    <a:pt x="0" y="595312"/>
                  </a:lnTo>
                  <a:lnTo>
                    <a:pt x="0" y="0"/>
                  </a:lnTo>
                  <a:lnTo>
                    <a:pt x="30480" y="0"/>
                  </a:lnTo>
                  <a:lnTo>
                    <a:pt x="30480" y="104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268152" y="1614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2019300" y="2007870"/>
              <a:ext cx="1677353" cy="3289935"/>
            </a:xfrm>
            <a:custGeom>
              <a:avLst/>
              <a:gdLst/>
              <a:ahLst/>
              <a:cxnLst/>
              <a:rect l="l" t="t" r="r" b="b"/>
              <a:pathLst>
                <a:path w="1677353" h="3289935">
                  <a:moveTo>
                    <a:pt x="1677353" y="0"/>
                  </a:moveTo>
                  <a:lnTo>
                    <a:pt x="1467803" y="0"/>
                  </a:lnTo>
                  <a:lnTo>
                    <a:pt x="1241108" y="0"/>
                  </a:lnTo>
                  <a:lnTo>
                    <a:pt x="1241108" y="3289935"/>
                  </a:lnTo>
                  <a:lnTo>
                    <a:pt x="104775" y="3289935"/>
                  </a:lnTo>
                  <a:lnTo>
                    <a:pt x="104775" y="2903220"/>
                  </a:lnTo>
                  <a:lnTo>
                    <a:pt x="0" y="29032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914525" y="48587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181225" y="1815465"/>
              <a:ext cx="1247775" cy="385762"/>
            </a:xfrm>
            <a:prstGeom prst="roundRect">
              <a:avLst>
                <a:gd name="adj" fmla="val 24691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696652" y="1719262"/>
              <a:ext cx="1247775" cy="578168"/>
            </a:xfrm>
            <a:prstGeom prst="roundRect">
              <a:avLst>
                <a:gd name="adj" fmla="val 16474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211128" y="1719262"/>
              <a:ext cx="1247775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6750" y="2783205"/>
              <a:ext cx="124777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6750" y="3750945"/>
              <a:ext cx="124777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696652" y="3750945"/>
              <a:ext cx="124777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211128" y="3750945"/>
              <a:ext cx="124777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66750" y="4718685"/>
              <a:ext cx="124777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3696652" y="4718685"/>
              <a:ext cx="1247775" cy="385762"/>
            </a:xfrm>
            <a:prstGeom prst="roundRect">
              <a:avLst>
                <a:gd name="adj" fmla="val 24691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211128" y="4718685"/>
              <a:ext cx="1247775" cy="385762"/>
            </a:xfrm>
            <a:prstGeom prst="roundRect">
              <a:avLst>
                <a:gd name="adj" fmla="val 24691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57262" y="5686425"/>
              <a:ext cx="5211128" cy="385762"/>
            </a:xfrm>
            <a:prstGeom prst="roundRect">
              <a:avLst>
                <a:gd name="adj" fmla="val 4987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498801" y="192928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指令队列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77437" y="1833086"/>
              <a:ext cx="886206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 再定序缓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473700" y="1833086"/>
              <a:ext cx="72263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浮点寄存器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FP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3374" y="289702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地址部件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9140" y="3864769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 缓冲器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862502" y="38647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保留站（加）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376977" y="38647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保留站（乘）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3374" y="48325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存储部件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937889" y="483250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浮点加法器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452364" y="483250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浮点乘法器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942172" y="5800249"/>
              <a:ext cx="1242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公共数据总线 CDB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700212" y="2295525"/>
              <a:ext cx="69532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725073" y="2318385"/>
              <a:ext cx="645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load/store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287078" y="2779395"/>
              <a:ext cx="5524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316224" y="280225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浮点操作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915852" y="1811655"/>
              <a:ext cx="3238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951857" y="183451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确认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288982" y="3573780"/>
              <a:ext cx="67246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312795" y="3596640"/>
              <a:ext cx="6213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store 确认</a:t>
              </a:r>
            </a:p>
          </p:txBody>
        </p:sp>
      </p:grpSp>
      <p:grpSp>
        <p:nvGrpSpPr>
          <p:cNvPr id="73" name="c2-card-1"/>
          <p:cNvGrpSpPr/>
          <p:nvPr/>
        </p:nvGrpSpPr>
        <p:grpSpPr>
          <a:xfrm>
            <a:off x="6898005" y="1524000"/>
            <a:ext cx="4760595" cy="2343150"/>
            <a:chOff x="6898005" y="1524000"/>
            <a:chExt cx="4760595" cy="2343150"/>
          </a:xfrm>
        </p:grpSpPr>
        <p:sp>
          <p:nvSpPr>
            <p:cNvPr id="62" name="Rectangle 62"/>
            <p:cNvSpPr/>
            <p:nvPr/>
          </p:nvSpPr>
          <p:spPr>
            <a:xfrm>
              <a:off x="6898005" y="1524000"/>
              <a:ext cx="4760595" cy="2343150"/>
            </a:xfrm>
            <a:prstGeom prst="roundRect">
              <a:avLst>
                <a:gd name="adj" fmla="val 569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084695" y="1710690"/>
              <a:ext cx="147828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43790" y="1743551"/>
              <a:ext cx="13600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相对 Tomasulo 的改动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093267" y="211074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49287" y="2054542"/>
              <a:ext cx="39827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增加 ROB：数据实际写入寄存器和存储器之前，先保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存在 ROB 中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093267" y="266890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249287" y="2612708"/>
              <a:ext cx="21258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store 缓冲区并入 ROB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093267" y="296894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249287" y="2912745"/>
              <a:ext cx="32102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ROB 编号进行换名和目标寄存器预约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7093267" y="326898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249287" y="3212782"/>
              <a:ext cx="40256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写结果段只写 ROB，并经 CDB 传给等待的指令；确认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段才写寄存器或存储器</a:t>
              </a:r>
            </a:p>
          </p:txBody>
        </p:sp>
      </p:grpSp>
      <p:grpSp>
        <p:nvGrpSpPr>
          <p:cNvPr id="92" name="c2-table-2"/>
          <p:cNvGrpSpPr/>
          <p:nvPr/>
        </p:nvGrpSpPr>
        <p:grpSpPr>
          <a:xfrm>
            <a:off x="6898005" y="4037648"/>
            <a:ext cx="4760595" cy="2200275"/>
            <a:chOff x="6898005" y="4037648"/>
            <a:chExt cx="4760595" cy="2200275"/>
          </a:xfrm>
        </p:grpSpPr>
        <p:sp>
          <p:nvSpPr>
            <p:cNvPr id="74" name="Rectangle 74"/>
            <p:cNvSpPr/>
            <p:nvPr/>
          </p:nvSpPr>
          <p:spPr>
            <a:xfrm>
              <a:off x="6898005" y="4037648"/>
              <a:ext cx="476059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179868" y="4159091"/>
              <a:ext cx="672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ROB 字段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740938" y="41590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995160" y="455914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指令类型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232458" y="4559141"/>
              <a:ext cx="27329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分支指令、store 指令或寄存器操作指令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898005" y="483298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898005" y="4837748"/>
              <a:ext cx="476059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995160" y="50592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目标地址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232458" y="4959191"/>
              <a:ext cx="31762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 和 ALU 指令：结果要写的寄存器号；store：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存储器单元地址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898005" y="543306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995160" y="55592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数据值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232458" y="555926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保存前瞻执行的结果，直到指令得到确认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898005" y="583311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6898005" y="5837872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995160" y="59593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232458" y="595931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指令是否已经执行完、数据是否就绪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898005" y="4037648"/>
              <a:ext cx="4760595" cy="2200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8130540" y="4037648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88355" cy="909257"/>
            <a:chOff x="520446" y="342900"/>
            <a:chExt cx="86883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动态调度解决控制冒险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883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前瞻执行的流出、执行、写结果：与 Tomasulo 逐项对比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11125200" cy="3377566"/>
            <a:chOff x="533400" y="1524000"/>
            <a:chExt cx="11125200" cy="337756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61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47336" y="1659731"/>
              <a:ext cx="2982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前瞻执行（在 Tomasulo 基础上改造）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86377" y="1659731"/>
              <a:ext cx="12048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Tomasulo 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33505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流出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66888" y="1982152"/>
              <a:ext cx="5543550" cy="882968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65186" y="2108359"/>
              <a:ext cx="501167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从指令队列头部取一条指令。有空闲保留站 r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且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有空闲 ROB 项 b，才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流出。操作数在寄存器 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 ROB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中就绪就取值到 r，否则写入产生它的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 编号；把 b 写入 r；用 b 预约目标寄存器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27786" y="2108359"/>
              <a:ext cx="391439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从指令队列头部取一条指令。所要求的保留站有空闲，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就送到保留站 r。操作数在寄存器中就绪就取值到 r，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否则送入产生它的保留站标识；完成目标寄存器预约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8698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874645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12372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65186" y="3010376"/>
              <a:ext cx="50441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有操作数未就绪就等待，并不断监测 CDB；两个操作数都在保留站中就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绪后执行。load 做有效地址运算并读数，store 只做有效地址运算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27786" y="312372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5461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91239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写结果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65186" y="3685699"/>
              <a:ext cx="5027930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结果连同流出时分配的 ROB 编号放上 CDB，写到 ROB 和所有等待它的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保留站，释放保留站。store 在本阶段把要存的数据写进自己的 ROB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项；数据未就绪就监测 CDB，等它播出后再写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27786" y="3685699"/>
              <a:ext cx="3922522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结果放上 CDB，写到所有等待它的寄存器和保留站；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store 在地址和数据齐备时完成存储器写入；释放保留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站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4481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452938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45877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65186" y="45877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见下一页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27786" y="45877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无此阶段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11125200" cy="33775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752600" y="1524000"/>
              <a:ext cx="9525" cy="3377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315200" y="1524000"/>
              <a:ext cx="9525" cy="3377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33" name="Rectangle 33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728335"/>
              <a:ext cx="100450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关键区别：Tomasulo 的写结果阶段就改写寄存器和存储器；前瞻执行把这一步推迟到确认阶段，所以猜错时还来得及作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废。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13584" cy="909257"/>
            <a:chOff x="520446" y="342900"/>
            <a:chExt cx="76135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动态调度解决控制冒险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135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确认：按 ROB 顺序写回，猜错或异常就清空 ROB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table-1"/>
          <p:cNvGrpSpPr/>
          <p:nvPr/>
        </p:nvGrpSpPr>
        <p:grpSpPr>
          <a:xfrm>
            <a:off x="533400" y="1524000"/>
            <a:ext cx="6059805" cy="3372802"/>
            <a:chOff x="533400" y="1524000"/>
            <a:chExt cx="6059805" cy="33728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097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08799" y="1659731"/>
              <a:ext cx="22044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到达 ROB 队列头部时的处理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其他指令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37626" y="2108359"/>
              <a:ext cx="377621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结果已就绪，就写入该指令的目标寄存器，并从 ROB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中删除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4795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783681"/>
              <a:ext cx="9094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store 指令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37626" y="278368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与上面类似，只是把结果写入存储器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92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23230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预测正确的分支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37626" y="323230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该指令执行完毕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413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546158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555682"/>
              <a:ext cx="1677352" cy="656272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79428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预测错误的分支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37626" y="3680936"/>
              <a:ext cx="39387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清空 ROB，从分支指令的另一个分支重新开始执行（错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误的前瞻执行被作废）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21671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231005"/>
              <a:ext cx="1677352" cy="656272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44705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引起异常的指令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37626" y="4357211"/>
              <a:ext cx="35892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到达头部之前不处理；到达头部时产生中断，清空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ROB，实现精确异常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059805" cy="337280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225040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llout-2"/>
          <p:cNvGrpSpPr/>
          <p:nvPr/>
        </p:nvGrpSpPr>
        <p:grpSpPr>
          <a:xfrm>
            <a:off x="533400" y="5087302"/>
            <a:ext cx="6059805" cy="782955"/>
            <a:chOff x="533400" y="5087302"/>
            <a:chExt cx="6059805" cy="782955"/>
          </a:xfrm>
        </p:grpSpPr>
        <p:sp>
          <p:nvSpPr>
            <p:cNvPr id="31" name="Rectangle 31"/>
            <p:cNvSpPr/>
            <p:nvPr/>
          </p:nvSpPr>
          <p:spPr>
            <a:xfrm>
              <a:off x="533400" y="5087302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26129" y="5375076"/>
              <a:ext cx="224134" cy="192560"/>
              <a:chOff x="726129" y="5375076"/>
              <a:chExt cx="224134" cy="1925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38200" y="544544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26129" y="537507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55232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235892"/>
              <a:ext cx="4996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只要刷新 ROB，指令队列也要一起刷新，因为队列里的指令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可能已经是错误路径上的指令流。</a:t>
              </a:r>
            </a:p>
          </p:txBody>
        </p:sp>
      </p:grpSp>
      <p:grpSp>
        <p:nvGrpSpPr>
          <p:cNvPr id="47" name="c2-bullets-1"/>
          <p:cNvGrpSpPr/>
          <p:nvPr/>
        </p:nvGrpSpPr>
        <p:grpSpPr>
          <a:xfrm>
            <a:off x="6890385" y="1548765"/>
            <a:ext cx="3706177" cy="1682115"/>
            <a:chOff x="6890385" y="1548765"/>
            <a:chExt cx="3706177" cy="1682115"/>
          </a:xfrm>
        </p:grpSpPr>
        <p:sp>
          <p:nvSpPr>
            <p:cNvPr id="38" name="TextBox 38"/>
            <p:cNvSpPr txBox="1"/>
            <p:nvPr/>
          </p:nvSpPr>
          <p:spPr>
            <a:xfrm>
              <a:off x="6890385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要点汇总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898005" y="193452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4292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48512" y="190309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顺序流出指令队列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6898005" y="2279332"/>
              <a:ext cx="143827" cy="117157"/>
            </a:xfrm>
            <a:custGeom>
              <a:avLst/>
              <a:gdLst/>
              <a:ahLst/>
              <a:cxnLst/>
              <a:rect l="l" t="t" r="r" b="b"/>
              <a:pathLst>
                <a:path w="143827" h="117157">
                  <a:moveTo>
                    <a:pt x="0" y="61912"/>
                  </a:moveTo>
                  <a:lnTo>
                    <a:pt x="54292" y="117157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48512" y="22479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沿猜测路径乱序执行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6898005" y="262413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4292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48512" y="259270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顺序确认，保证按顺序写回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6898005" y="296894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4292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48512" y="293751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猜错或发生异常时，没写回的全部作废</a:t>
              </a:r>
            </a:p>
          </p:txBody>
        </p:sp>
      </p:grpSp>
      <p:grpSp>
        <p:nvGrpSpPr>
          <p:cNvPr id="64" name="c2-compare-2"/>
          <p:cNvGrpSpPr/>
          <p:nvPr/>
        </p:nvGrpSpPr>
        <p:grpSpPr>
          <a:xfrm>
            <a:off x="6898005" y="3362325"/>
            <a:ext cx="4760595" cy="2507932"/>
            <a:chOff x="6898005" y="3362325"/>
            <a:chExt cx="4760595" cy="2507932"/>
          </a:xfrm>
        </p:grpSpPr>
        <p:sp>
          <p:nvSpPr>
            <p:cNvPr id="48" name="Rectangle 48"/>
            <p:cNvSpPr/>
            <p:nvPr/>
          </p:nvSpPr>
          <p:spPr>
            <a:xfrm>
              <a:off x="6898005" y="3362325"/>
              <a:ext cx="2208848" cy="2507932"/>
            </a:xfrm>
            <a:prstGeom prst="roundRect">
              <a:avLst>
                <a:gd name="adj" fmla="val 60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907530" y="3495675"/>
              <a:ext cx="47625" cy="22412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38035" y="35966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主要优点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151370" y="40138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09485" y="395097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动态调度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151370" y="43491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309485" y="42862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前瞻执行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151370" y="46843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09485" y="4621530"/>
              <a:ext cx="1348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容易推广到整数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寄存器和整数功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能部件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449752" y="3362325"/>
              <a:ext cx="2208848" cy="2507932"/>
            </a:xfrm>
            <a:prstGeom prst="roundRect">
              <a:avLst>
                <a:gd name="adj" fmla="val 60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9459278" y="3495675"/>
              <a:ext cx="47625" cy="22412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689782" y="35966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主要缺点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9703118" y="40138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861232" y="3950970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所需的硬件太复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杂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9116378" y="445484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186718" y="455104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99440" cy="909257"/>
            <a:chOff x="520446" y="342900"/>
            <a:chExt cx="70994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动态调度解决控制冒险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994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例题：MUL.D 即将确认时，各状态表是什么样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895725" cy="1793558"/>
            <a:chOff x="533400" y="1524000"/>
            <a:chExt cx="3895725" cy="17935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895725" cy="1793558"/>
            </a:xfrm>
            <a:prstGeom prst="roundRect">
              <a:avLst>
                <a:gd name="adj" fmla="val 74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268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3332734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浮点功能部件的延迟：加法 2 个时钟周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期，乘法 10 个，除法 40 个。对下面的代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码段，给出指令 MUL.D 即将确认时的状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态表内容。</a:t>
              </a:r>
            </a:p>
          </p:txBody>
        </p:sp>
      </p:grpSp>
      <p:grpSp>
        <p:nvGrpSpPr>
          <p:cNvPr id="17" name="c1-code-2"/>
          <p:cNvGrpSpPr/>
          <p:nvPr/>
        </p:nvGrpSpPr>
        <p:grpSpPr>
          <a:xfrm>
            <a:off x="533400" y="3498532"/>
            <a:ext cx="3895725" cy="1640205"/>
            <a:chOff x="533400" y="3498532"/>
            <a:chExt cx="3895725" cy="1640205"/>
          </a:xfrm>
        </p:grpSpPr>
        <p:sp>
          <p:nvSpPr>
            <p:cNvPr id="13" name="Rectangle 13"/>
            <p:cNvSpPr/>
            <p:nvPr/>
          </p:nvSpPr>
          <p:spPr>
            <a:xfrm>
              <a:off x="533400" y="3498532"/>
              <a:ext cx="3895725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650456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52450" y="4250055"/>
              <a:ext cx="385762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416" y="3911918"/>
              <a:ext cx="1184148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L.D    F6,34(R2)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L.D    F2,45(R3)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MUL.D  F0,F2,F4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SUB.D  F8,F6,F2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DIV.D  F10,F0,F6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ADD.D  F6,F8,F2</a:t>
              </a:r>
            </a:p>
          </p:txBody>
        </p:sp>
      </p:grpSp>
      <p:grpSp>
        <p:nvGrpSpPr>
          <p:cNvPr id="76" name="c2-table-1"/>
          <p:cNvGrpSpPr/>
          <p:nvPr/>
        </p:nvGrpSpPr>
        <p:grpSpPr>
          <a:xfrm>
            <a:off x="4728591" y="1524000"/>
            <a:ext cx="6930009" cy="3250501"/>
            <a:chOff x="4728591" y="1524000"/>
            <a:chExt cx="6930009" cy="3250501"/>
          </a:xfrm>
        </p:grpSpPr>
        <p:sp>
          <p:nvSpPr>
            <p:cNvPr id="18" name="Rectangle 18"/>
            <p:cNvSpPr/>
            <p:nvPr/>
          </p:nvSpPr>
          <p:spPr>
            <a:xfrm>
              <a:off x="4733925" y="1524000"/>
              <a:ext cx="692467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38273" y="1652588"/>
              <a:ext cx="343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03475" y="1652588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Busy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7797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2862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9062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60787" y="1652588"/>
              <a:ext cx="441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Value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57408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03850" y="20764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13704" y="2076450"/>
              <a:ext cx="11899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L.D F6,34(R2)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28622" y="2076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58288" y="207645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06509" y="2076450"/>
              <a:ext cx="1529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Mem[34+Regs[R2]]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733925" y="236791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733925" y="2372678"/>
              <a:ext cx="692467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957408" y="25012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03850" y="25012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3704" y="2501265"/>
              <a:ext cx="11899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L.D F2,45(R3)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28622" y="250126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58288" y="2501265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06509" y="2501265"/>
              <a:ext cx="1529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Mem[45+Regs[R3]]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733925" y="2792730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957408" y="29260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59425" y="292608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13704" y="2926080"/>
              <a:ext cx="1317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MUL.D F0,F2,F4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790498" y="2807018"/>
              <a:ext cx="811530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947850" y="292608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写结果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58288" y="292608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06509" y="2926080"/>
              <a:ext cx="1110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#2 × Regs[F4]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733925" y="321659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733925" y="3221355"/>
              <a:ext cx="692467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957408" y="33499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459425" y="334994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13704" y="3349942"/>
              <a:ext cx="12838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SUB.D F8,F6,F2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47850" y="334994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写结果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58288" y="3349942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06509" y="3349942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#1 − #2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733925" y="364140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957408" y="377475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459425" y="3774757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13704" y="3774757"/>
              <a:ext cx="13350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DIV.D F10,F0,F6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28622" y="377475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811349" y="3774757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F10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733925" y="406622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4733925" y="4070985"/>
              <a:ext cx="692467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957408" y="41986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459425" y="419862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013704" y="4198620"/>
              <a:ext cx="12838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ADD.D F6,F8,F2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47850" y="419862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写结果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858288" y="419862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406509" y="419862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#4 + #2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4733925" y="1524000"/>
              <a:ext cx="6924675" cy="29708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5282565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906452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776210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8606790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9299258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4728591" y="4569142"/>
              <a:ext cx="52035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ROB 表：#n 表示第 n 项 ROB 的数据值，例如 #1 − #2 就是两条 L.D 取出的数相减</a:t>
              </a:r>
            </a:p>
          </p:txBody>
        </p:sp>
      </p:grpSp>
      <p:grpSp>
        <p:nvGrpSpPr>
          <p:cNvPr id="85" name="c2-bullets-2"/>
          <p:cNvGrpSpPr/>
          <p:nvPr/>
        </p:nvGrpSpPr>
        <p:grpSpPr>
          <a:xfrm>
            <a:off x="4743450" y="4933950"/>
            <a:ext cx="4994834" cy="1097661"/>
            <a:chOff x="4743450" y="4933950"/>
            <a:chExt cx="4994834" cy="1097661"/>
          </a:xfrm>
        </p:grpSpPr>
        <p:sp>
          <p:nvSpPr>
            <p:cNvPr id="77" name="Ellipse 77"/>
            <p:cNvSpPr/>
            <p:nvPr/>
          </p:nvSpPr>
          <p:spPr>
            <a:xfrm>
              <a:off x="4743450" y="498157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4899279" y="4933950"/>
              <a:ext cx="4182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 L.D 早已确认，结果写进了 F6、F2，所以 Busy = no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4743450" y="526923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899279" y="5221605"/>
              <a:ext cx="35698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MUL.D 写完结果，已到 ROB 头部，下一步就确认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4743450" y="555688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4899279" y="5509260"/>
              <a:ext cx="48390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SUB.D、ADD.D 耗时短，早已写结果，但排在 MUL.D 后面，只能等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4743450" y="584454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4899279" y="5796915"/>
              <a:ext cx="39766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DIV.D 要用 MUL.D 的结果，刚开始执行，Value 还空着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动态调度解决控制冒险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例题（续）：保留站表与浮点寄存器状态表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able-1"/>
          <p:cNvGrpSpPr/>
          <p:nvPr/>
        </p:nvGrpSpPr>
        <p:grpSpPr>
          <a:xfrm>
            <a:off x="527685" y="1524000"/>
            <a:ext cx="7038975" cy="2091214"/>
            <a:chOff x="527685" y="1524000"/>
            <a:chExt cx="7038975" cy="20912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703326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089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保留站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61442" y="1659731"/>
              <a:ext cx="416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Busy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10051" y="1659731"/>
              <a:ext cx="254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88269" y="1659731"/>
              <a:ext cx="1710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Vj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70026" y="1659731"/>
              <a:ext cx="2176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06872" y="1659731"/>
              <a:ext cx="416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Dest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2108359"/>
              <a:ext cx="690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Add1～3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68508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16492"/>
              <a:ext cx="70332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21255"/>
              <a:ext cx="703326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2556986"/>
              <a:ext cx="5083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68508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62571" y="2556986"/>
              <a:ext cx="3497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62466" y="2556986"/>
              <a:ext cx="1631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Mem[45+Regs[R3]]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01768" y="2556986"/>
              <a:ext cx="7883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Regs[F4]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13938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2866072"/>
              <a:ext cx="70332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005614"/>
              <a:ext cx="5083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21122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03536" y="3005614"/>
              <a:ext cx="2678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62466" y="3005614"/>
              <a:ext cx="11847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#2 × Regs[F4]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01768" y="3005614"/>
              <a:ext cx="1631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Mem[34+Regs[R2]]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13938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1524000"/>
              <a:ext cx="703326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51352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216468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84988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88918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85895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7685" y="3395186"/>
              <a:ext cx="42518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保留站表：Dest 字段指出哪个 ROB 项接收该保留站产生的结果</a:t>
              </a:r>
            </a:p>
          </p:txBody>
        </p:sp>
      </p:grpSp>
      <p:grpSp>
        <p:nvGrpSpPr>
          <p:cNvPr id="69" name="c1-table-2"/>
          <p:cNvGrpSpPr/>
          <p:nvPr/>
        </p:nvGrpSpPr>
        <p:grpSpPr>
          <a:xfrm>
            <a:off x="527685" y="3761422"/>
            <a:ext cx="7038975" cy="1641635"/>
            <a:chOff x="527685" y="3761422"/>
            <a:chExt cx="7038975" cy="1641635"/>
          </a:xfrm>
        </p:grpSpPr>
        <p:sp>
          <p:nvSpPr>
            <p:cNvPr id="39" name="Rectangle 39"/>
            <p:cNvSpPr/>
            <p:nvPr/>
          </p:nvSpPr>
          <p:spPr>
            <a:xfrm>
              <a:off x="533400" y="3761422"/>
              <a:ext cx="703326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76592" y="38962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字段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163902" y="389620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113544" y="389620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015562" y="389620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64252" y="389620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960567" y="389620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04310" y="3896201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F10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1223" y="4345781"/>
              <a:ext cx="596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 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221659" y="434578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022009" y="434578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18324" y="434578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14639" y="434578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4653915"/>
              <a:ext cx="70332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3400" y="4658678"/>
              <a:ext cx="703326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1223" y="4794409"/>
              <a:ext cx="416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Busy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126887" y="479440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123916" y="479440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025933" y="479440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927237" y="479440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923552" y="479440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19867" y="479440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3761422"/>
              <a:ext cx="703326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772602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2768918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3670935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4572952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569268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565582" y="376142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27685" y="518302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浮点寄存器状态表</a:t>
              </a:r>
            </a:p>
          </p:txBody>
        </p:sp>
      </p:grpSp>
      <p:grpSp>
        <p:nvGrpSpPr>
          <p:cNvPr id="81" name="c2-kv-1"/>
          <p:cNvGrpSpPr/>
          <p:nvPr/>
        </p:nvGrpSpPr>
        <p:grpSpPr>
          <a:xfrm>
            <a:off x="7863840" y="1548765"/>
            <a:ext cx="3794760" cy="3305175"/>
            <a:chOff x="7863840" y="1548765"/>
            <a:chExt cx="3794760" cy="3305175"/>
          </a:xfrm>
        </p:grpSpPr>
        <p:sp>
          <p:nvSpPr>
            <p:cNvPr id="70" name="TextBox 70"/>
            <p:cNvSpPr txBox="1"/>
            <p:nvPr/>
          </p:nvSpPr>
          <p:spPr>
            <a:xfrm>
              <a:off x="7863840" y="1548765"/>
              <a:ext cx="5958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Mult1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674418" y="1548765"/>
              <a:ext cx="27679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MUL.D 写完结果后已释放（Busy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no），表中留着它最后的内容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871460" y="2150745"/>
              <a:ext cx="37871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863840" y="2270760"/>
              <a:ext cx="5958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Mult2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674418" y="2270760"/>
              <a:ext cx="27584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DIV.D 的 Vj 刚从 CDB 取到 ROB3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的值；Vk 是流出时 ROB1 已就绪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F6 旧值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871460" y="3154680"/>
              <a:ext cx="37871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863840" y="327469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F2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674418" y="3274695"/>
              <a:ext cx="28632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只被 L.D 预约过，ROB2 确认后清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除，Busy = no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7871460" y="3876675"/>
              <a:ext cx="37871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863840" y="3996690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F6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674418" y="3996690"/>
              <a:ext cx="27584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先被 ROB1 预约，后被 ADD.D 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约为 ROB6；ROB1 确认时不清除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别人的预约</a:t>
              </a:r>
            </a:p>
          </p:txBody>
        </p:sp>
      </p:grpSp>
      <p:grpSp>
        <p:nvGrpSpPr>
          <p:cNvPr id="87" name="c2-callout-2"/>
          <p:cNvGrpSpPr/>
          <p:nvPr/>
        </p:nvGrpSpPr>
        <p:grpSpPr>
          <a:xfrm>
            <a:off x="7871460" y="4985385"/>
            <a:ext cx="3787140" cy="1059180"/>
            <a:chOff x="7871460" y="4985385"/>
            <a:chExt cx="3787140" cy="1059180"/>
          </a:xfrm>
        </p:grpSpPr>
        <p:sp>
          <p:nvSpPr>
            <p:cNvPr id="82" name="Rectangle 82"/>
            <p:cNvSpPr/>
            <p:nvPr/>
          </p:nvSpPr>
          <p:spPr>
            <a:xfrm>
              <a:off x="7871460" y="4985385"/>
              <a:ext cx="3787140" cy="1059180"/>
            </a:xfrm>
            <a:prstGeom prst="roundRect">
              <a:avLst>
                <a:gd name="adj" fmla="val 10791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8076248" y="5414965"/>
              <a:ext cx="200023" cy="200023"/>
              <a:chOff x="8076248" y="5414965"/>
              <a:chExt cx="200023" cy="200023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8076248" y="541496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209598" y="54816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8378190" y="5133975"/>
              <a:ext cx="29203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ROB 编号换名后，DIV.D 读到的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F6 是 ROB1 的值，与 ADD.D 将来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写入的 F6 无关。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01140" cy="909257"/>
            <a:chOff x="520446" y="342900"/>
            <a:chExt cx="71011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动态调度解决控制冒险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011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 2：加入分支和 ROB 后的指令时钟周期表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2383155"/>
            <a:chOff x="533400" y="1524000"/>
            <a:chExt cx="5193982" cy="2383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383155"/>
            </a:xfrm>
            <a:prstGeom prst="roundRect">
              <a:avLst>
                <a:gd name="adj" fmla="val 55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164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513961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单流出处理器采用基于 Tomasulo 的前瞻执行算法调度。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硬件同例题 1（1 个 LSU 部件、2 个 LS 缓冲器、加法和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乘法 ALU 部件各 1 个、2 个 ALU 保留站）。总是预测分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支失败，分支指令由加法部件执行，ROB 空间足够。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3215164"/>
              <a:ext cx="445084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给出指令执行状态时钟周期表；(2) 给出第 16 周期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末尾各状态表的内容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4087178"/>
            <a:ext cx="5193982" cy="2158365"/>
            <a:chOff x="533400" y="4087178"/>
            <a:chExt cx="5193982" cy="2158365"/>
          </a:xfrm>
        </p:grpSpPr>
        <p:sp>
          <p:nvSpPr>
            <p:cNvPr id="14" name="Rectangle 14"/>
            <p:cNvSpPr/>
            <p:nvPr/>
          </p:nvSpPr>
          <p:spPr>
            <a:xfrm>
              <a:off x="533400" y="4087178"/>
              <a:ext cx="5193982" cy="2158365"/>
            </a:xfrm>
            <a:prstGeom prst="roundRect">
              <a:avLst>
                <a:gd name="adj" fmla="val 61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4220528"/>
              <a:ext cx="47625" cy="18916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9620" y="4285298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3057" y="431958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课件答案采用的约定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7240" y="470630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3831" y="4645819"/>
              <a:ext cx="433362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写结果（WtCDB）后清空保留站，确认后清空寄存器状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态表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7240" y="529494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3831" y="5235416"/>
              <a:ext cx="433362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也进保留站：等到数据后在 WtCDB 阶段写入自己的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 项，确认之后才写存储器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77240" y="588454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3831" y="5825014"/>
              <a:ext cx="28032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每拍只确认 ROB 头部的一条指令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032182" y="1524000"/>
            <a:ext cx="5626418" cy="1250632"/>
            <a:chOff x="6032182" y="1524000"/>
            <a:chExt cx="5626418" cy="1250632"/>
          </a:xfrm>
        </p:grpSpPr>
        <p:sp>
          <p:nvSpPr>
            <p:cNvPr id="25" name="Rectangle 25"/>
            <p:cNvSpPr/>
            <p:nvPr/>
          </p:nvSpPr>
          <p:spPr>
            <a:xfrm>
              <a:off x="6032182" y="1524000"/>
              <a:ext cx="5626418" cy="1250632"/>
            </a:xfrm>
            <a:prstGeom prst="roundRect">
              <a:avLst>
                <a:gd name="adj" fmla="val 1066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30302" y="172212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9738" y="175641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各段占用的时钟周期数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23064" y="2082641"/>
              <a:ext cx="489267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Issue、WtCDB、Commit 各 1 个，Mem 3 个；执行段 LD、ST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 1 个，SUB、BNEZ、ADD 各 4 个，MUL 10 个</a:t>
              </a:r>
            </a:p>
          </p:txBody>
        </p:sp>
      </p:grpSp>
      <p:grpSp>
        <p:nvGrpSpPr>
          <p:cNvPr id="56" name="c2-table-2"/>
          <p:cNvGrpSpPr/>
          <p:nvPr/>
        </p:nvGrpSpPr>
        <p:grpSpPr>
          <a:xfrm>
            <a:off x="6026848" y="2955608"/>
            <a:ext cx="5631752" cy="3250501"/>
            <a:chOff x="6026848" y="2955608"/>
            <a:chExt cx="5631752" cy="3250501"/>
          </a:xfrm>
        </p:grpSpPr>
        <p:sp>
          <p:nvSpPr>
            <p:cNvPr id="30" name="Rectangle 30"/>
            <p:cNvSpPr/>
            <p:nvPr/>
          </p:nvSpPr>
          <p:spPr>
            <a:xfrm>
              <a:off x="6032182" y="2955608"/>
              <a:ext cx="5626418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03326" y="308324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待执行指令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697784" y="30832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对应变量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34672" y="3508057"/>
              <a:ext cx="14698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Loop: LD R2,(R1)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97824" y="3508057"/>
              <a:ext cx="2034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 = R2，Rs = R1，Imm = 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32182" y="37995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32182" y="3804285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34672" y="3932872"/>
              <a:ext cx="1186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 R2,R2,#2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97824" y="3932872"/>
              <a:ext cx="20149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 = R2，Rs = R2，Rt = #2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42233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34672" y="4356735"/>
              <a:ext cx="9531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R2,(R1)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97824" y="4356735"/>
              <a:ext cx="2034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 = R2，Rs = R1，Imm = 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32182" y="46482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32182" y="4652962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34672" y="4781550"/>
              <a:ext cx="11502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 R1,R1,#4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97824" y="4781550"/>
              <a:ext cx="20149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 = R1，Rs = R1，Rt = #4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32182" y="507301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34672" y="5205412"/>
              <a:ext cx="11299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BNEZ R1,Loop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97824" y="5205412"/>
              <a:ext cx="1467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 = Loop，Rs = R1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32182" y="54968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032182" y="5501640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34672" y="5630228"/>
              <a:ext cx="11502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R5,R3,R4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97824" y="5630228"/>
              <a:ext cx="20200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 = R5，Rs = R3，Rt = R4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32182" y="2955608"/>
              <a:ext cx="5626418" cy="29708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390572" y="2955608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026848" y="6000750"/>
              <a:ext cx="46932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与例题 1 相比多了 BNEZ 和确认阶段；BNEZ 也要占 ALU 保留站和加法部件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88953" cy="909257"/>
            <a:chOff x="520446" y="342900"/>
            <a:chExt cx="68889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动态调度解决控制冒险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889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 2 答案：乱序执行，按 1～6 的顺序确认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3" name="c1-table-1"/>
          <p:cNvGrpSpPr/>
          <p:nvPr/>
        </p:nvGrpSpPr>
        <p:grpSpPr>
          <a:xfrm>
            <a:off x="533400" y="1524000"/>
            <a:ext cx="11125200" cy="3821430"/>
            <a:chOff x="533400" y="1524000"/>
            <a:chExt cx="11125200" cy="38214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8899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47831" y="1659731"/>
              <a:ext cx="1754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58324" y="165973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69548" y="1659731"/>
              <a:ext cx="4048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31423" y="1659731"/>
              <a:ext cx="5708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WtCDB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19006" y="1659731"/>
              <a:ext cx="353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Cmt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4705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推导要点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94030" y="1659731"/>
              <a:ext cx="8374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16 拍末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223" y="2108359"/>
              <a:ext cx="1016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 R2,(R1)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8169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1608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84569" y="210835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3～5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6299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4213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37198" y="2108359"/>
              <a:ext cx="26339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访存后上 CDB，第 7 拍在头部确认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74758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已确认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24212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2556986"/>
              <a:ext cx="12651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 R2,R2,#2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81692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35152" y="2556986"/>
              <a:ext cx="4695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7～16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16959" y="2556986"/>
              <a:ext cx="3100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15606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94751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37198" y="2556986"/>
              <a:ext cx="241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数据相关：等 LD 第 6 拍的结果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74758" y="2556986"/>
              <a:ext cx="15741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刚执行完，待写 CDB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2866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3118961"/>
              <a:ext cx="1016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 R2,(R1)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81692" y="311896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16082" y="311896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89796" y="3118961"/>
              <a:ext cx="5643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20～22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15606" y="31189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94751" y="31189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37198" y="3005614"/>
              <a:ext cx="27927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数据等 MUL（17 拍），18 拍写 ROB，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 拍确认后 20～22 拍写存储器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74758" y="311896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地址已算好，等数据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5413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3546158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1223" y="3794284"/>
              <a:ext cx="12268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 R1,R1,#4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481692" y="379428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182539" y="379428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5～8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216959" y="3794284"/>
              <a:ext cx="3100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62992" y="379428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72150" y="3555682"/>
              <a:ext cx="648652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94751" y="379428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37198" y="3680936"/>
              <a:ext cx="293090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 已换名；9 拍就写完，排队到 20 拍确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874758" y="37942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已写结果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42167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1223" y="4470559"/>
              <a:ext cx="12052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BNEZ R1,Loop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434306" y="44705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087766" y="4470559"/>
              <a:ext cx="5643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11～14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216959" y="4470559"/>
              <a:ext cx="3100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215606" y="44705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772150" y="4231005"/>
              <a:ext cx="648652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994751" y="44705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37198" y="4357211"/>
              <a:ext cx="284149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保留站要等 SUB 第 9 拍释放；预测分支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失败，猜对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74758" y="44705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已写结果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489204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33400" y="489680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41223" y="5032534"/>
              <a:ext cx="12268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R5,R3,R4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2211705" y="4906328"/>
              <a:ext cx="64865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2434306" y="503253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087766" y="5032534"/>
              <a:ext cx="5643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17～20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216959" y="5032534"/>
              <a:ext cx="3100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215606" y="503253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994751" y="503253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37198" y="5032534"/>
              <a:ext cx="2711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保留站冲突：等 BNEZ 第 15 拍释放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874758" y="50325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刚流出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33400" y="1524000"/>
              <a:ext cx="11125200" cy="38214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2197418" y="1524000"/>
              <a:ext cx="9525" cy="3821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2865120" y="1524000"/>
              <a:ext cx="9525" cy="3821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3866198" y="1524000"/>
              <a:ext cx="9525" cy="3821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4867275" y="1524000"/>
              <a:ext cx="9525" cy="3821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5757862" y="1524000"/>
              <a:ext cx="9525" cy="3821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424612" y="1524000"/>
              <a:ext cx="9525" cy="3821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9762172" y="1524000"/>
              <a:ext cx="9525" cy="3821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84" name="Rectangle 8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040130" y="5991225"/>
              <a:ext cx="83311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SUB 第 9 拍就写完结果，却要等到第 20 拍才确认：ROB 让执行乱序，确认必须按指令顺序。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50977" cy="909257"/>
            <a:chOff x="520446" y="342900"/>
            <a:chExt cx="57509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动态调度解决控制冒险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509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 2：第 16 周期末尾的三张状态表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28066" y="1524000"/>
            <a:ext cx="5631752" cy="2164651"/>
            <a:chOff x="528066" y="1524000"/>
            <a:chExt cx="5631752" cy="216465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7212" y="1652588"/>
              <a:ext cx="441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Label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62983" y="1652588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Busy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86532" y="1652588"/>
              <a:ext cx="2389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53512" y="1652588"/>
              <a:ext cx="1604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Vj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01367" y="1652588"/>
              <a:ext cx="204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99265" y="1652588"/>
              <a:ext cx="2389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27313" y="1652588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Dest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5889" y="2076450"/>
              <a:ext cx="4852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05267" y="207645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06028" y="207645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18054" y="2076450"/>
              <a:ext cx="6517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Reg[R1]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07813" y="2076450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11711" y="2076450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36791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2372678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5889" y="2501265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05267" y="250126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42020" y="2501265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18054" y="2501265"/>
              <a:ext cx="9642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M[Reg[R1]]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55352" y="25012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11711" y="2501265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279273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889" y="2926080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05267" y="292608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59089" y="292608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18054" y="2926080"/>
              <a:ext cx="6517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Reg[R3]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955352" y="2926080"/>
              <a:ext cx="6517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Reg[R4]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611711" y="2926080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ROB6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1524000"/>
              <a:ext cx="5626418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316355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991678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610802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848100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748212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79732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8066" y="3296602"/>
              <a:ext cx="531799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保留站状态表（Load1 空闲、Qj 列为空，均省略；Load2 的 A = Reg[R1]）；ALU2 先后装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过 SUB、BNEZ、ADD</a:t>
              </a:r>
            </a:p>
          </p:txBody>
        </p:sp>
      </p:grpSp>
      <p:grpSp>
        <p:nvGrpSpPr>
          <p:cNvPr id="69" name="c1-table-2"/>
          <p:cNvGrpSpPr/>
          <p:nvPr/>
        </p:nvGrpSpPr>
        <p:grpSpPr>
          <a:xfrm>
            <a:off x="528066" y="3827145"/>
            <a:ext cx="5631752" cy="1739837"/>
            <a:chOff x="528066" y="3827145"/>
            <a:chExt cx="5631752" cy="1739837"/>
          </a:xfrm>
        </p:grpSpPr>
        <p:sp>
          <p:nvSpPr>
            <p:cNvPr id="45" name="Rectangle 45"/>
            <p:cNvSpPr/>
            <p:nvPr/>
          </p:nvSpPr>
          <p:spPr>
            <a:xfrm>
              <a:off x="533400" y="3827145"/>
              <a:ext cx="5626418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9340" y="395573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994642" y="395573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989052" y="395573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879639" y="395573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667357" y="395573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557944" y="395573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5889" y="4379595"/>
              <a:ext cx="343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888388" y="4379595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882798" y="4379595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451691" y="4379595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ROB6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46710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33400" y="4675822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5889" y="4804410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Busy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046275" y="480441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040685" y="480441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09577" y="480441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3827145"/>
              <a:ext cx="5626418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1596390" y="3827145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2591752" y="3827145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3586162" y="3827145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4373880" y="3827145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160645" y="3827145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28066" y="5174933"/>
              <a:ext cx="537133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寄存器状态表：确认后才清除，R1 仍指向未确认的 ROB4。ALU1 的 Vj 课件写作 Reg[R2]，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LD 第 7 拍确认后两者相等</a:t>
              </a:r>
            </a:p>
          </p:txBody>
        </p:sp>
      </p:grpSp>
      <p:grpSp>
        <p:nvGrpSpPr>
          <p:cNvPr id="124" name="c2-table-1"/>
          <p:cNvGrpSpPr/>
          <p:nvPr/>
        </p:nvGrpSpPr>
        <p:grpSpPr>
          <a:xfrm>
            <a:off x="6464618" y="1524000"/>
            <a:ext cx="5193982" cy="2971800"/>
            <a:chOff x="6464618" y="1524000"/>
            <a:chExt cx="5193982" cy="2971800"/>
          </a:xfrm>
        </p:grpSpPr>
        <p:sp>
          <p:nvSpPr>
            <p:cNvPr id="70" name="Rectangle 70"/>
            <p:cNvSpPr/>
            <p:nvPr/>
          </p:nvSpPr>
          <p:spPr>
            <a:xfrm>
              <a:off x="6464618" y="1524000"/>
              <a:ext cx="5193982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630878" y="1652588"/>
              <a:ext cx="343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ROB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256088" y="1652588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Busy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955825" y="1652588"/>
              <a:ext cx="2389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773474" y="1652588"/>
              <a:ext cx="577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Target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035997" y="1652588"/>
              <a:ext cx="441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Value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975627" y="1652588"/>
              <a:ext cx="483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State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567106" y="2076450"/>
              <a:ext cx="442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398372" y="207645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865364" y="207645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489252" y="207645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878122" y="20764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已确认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464618" y="236791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464618" y="2372678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567106" y="2501265"/>
              <a:ext cx="442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ROB2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398372" y="250126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865364" y="2501265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489252" y="2501265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878122" y="250126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执行完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464618" y="27927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567106" y="2926080"/>
              <a:ext cx="442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ROB3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398372" y="292608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865364" y="292608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489252" y="2926080"/>
              <a:ext cx="1170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Mem(Reg[R1])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878122" y="292608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等数据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6464618" y="32165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6464618" y="3221355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567106" y="3349942"/>
              <a:ext cx="442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ROB4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398372" y="334994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865364" y="3349942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489252" y="3349942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838944" y="3349942"/>
              <a:ext cx="8344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Reg[R1]−4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878122" y="33499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已写结果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6464618" y="364140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567106" y="3774757"/>
              <a:ext cx="442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ROB5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398372" y="3774757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865364" y="3774757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BNEZ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489252" y="3774757"/>
              <a:ext cx="4627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#Loop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9745980" y="3655695"/>
              <a:ext cx="1020128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9838944" y="3774757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不跳转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0878122" y="377475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已写结果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6464618" y="40662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6464618" y="4070985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6567106" y="4198620"/>
              <a:ext cx="442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ROB6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7398372" y="419862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7865364" y="419862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8489252" y="419862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R5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0878122" y="419862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已流出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6464618" y="1524000"/>
              <a:ext cx="5193982" cy="29708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7135178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7758112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8382000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9731692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10770870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30" name="c2-card-2"/>
          <p:cNvGrpSpPr/>
          <p:nvPr/>
        </p:nvGrpSpPr>
        <p:grpSpPr>
          <a:xfrm>
            <a:off x="6464618" y="4674870"/>
            <a:ext cx="5193982" cy="1250632"/>
            <a:chOff x="6464618" y="4674870"/>
            <a:chExt cx="5193982" cy="1250632"/>
          </a:xfrm>
        </p:grpSpPr>
        <p:sp>
          <p:nvSpPr>
            <p:cNvPr id="125" name="Rectangle 125"/>
            <p:cNvSpPr/>
            <p:nvPr/>
          </p:nvSpPr>
          <p:spPr>
            <a:xfrm>
              <a:off x="6464618" y="4674870"/>
              <a:ext cx="5193982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6474142" y="480822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6700838" y="48729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6792278" y="49072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6693598" y="5234464"/>
              <a:ext cx="455002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 ROB5 的 Value 写作 Reg[R1]−4，那是 BNEZ 的操作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数，分支项应记录分支结果：不跳转。</a:t>
              </a:r>
            </a:p>
          </p:txBody>
        </p:sp>
      </p:grpSp>
      <p:grpSp>
        <p:nvGrpSpPr>
          <p:cNvPr id="1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1" name="TextBox 131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63051" cy="909257"/>
            <a:chOff x="520446" y="342900"/>
            <a:chExt cx="68630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动态调度解决控制冒险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630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自测题（一）：相关、编译调度与 Tomasulo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937385"/>
            <a:chOff x="533400" y="1524000"/>
            <a:chExt cx="5410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77869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为 ADD.D F6,F0,F8，其后 j 为 SUB.D F8,F10,F14。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二者是什么相关？乱序时会怎样？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4663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反相关（j 写的 F8 是 i 读的名）。j 若先执行，i 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到新值，产生 WAR 冲突；给 j 的目标换名即可消除。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51885"/>
            <a:ext cx="5410200" cy="1937385"/>
            <a:chOff x="533400" y="3651885"/>
            <a:chExt cx="5410200" cy="1937385"/>
          </a:xfrm>
        </p:grpSpPr>
        <p:sp>
          <p:nvSpPr>
            <p:cNvPr id="13" name="Rectangle 13"/>
            <p:cNvSpPr/>
            <p:nvPr/>
          </p:nvSpPr>
          <p:spPr>
            <a:xfrm>
              <a:off x="533400" y="365188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238625"/>
              <a:ext cx="466820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S.D F4,0(R1) 流出时 Qi[R1] = 0、Qi[F4] = Add2，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缓冲器单元 r 怎样填？要改 Qi 吗？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859655"/>
              <a:ext cx="4730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Vj = Regs[R1]、Qj = 0；Qk = Add2（Vk 暂空）；A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0；Busy = yes。store 不写寄存器，不改 Qi。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482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 IV 最后一条 S.D F16 为什么写成 8(R1) 而不是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-24(R1)？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731770"/>
              <a:ext cx="4692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它在 DADDIU R1,R1,#-32 之后的延迟槽里执行，R1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已减 32，-24 + 32 = 8。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51885"/>
            <a:ext cx="5410200" cy="1937385"/>
            <a:chOff x="6248400" y="3651885"/>
            <a:chExt cx="5410200" cy="193738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5188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238625"/>
              <a:ext cx="4641533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 1 若有 3 个 ALU 保留站，ADD 的 IS、EX、WtCDB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各在第几拍？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859655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 5；加法部件被 SUB 占到第 8 拍，EX 9～12；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WtCDB 13。这时才是部件冲突。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动态调度解决控制冒险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自测题（二）：分支预测与前瞻执行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937385"/>
            <a:chOff x="533400" y="1524000"/>
            <a:chExt cx="5410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76631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分支结果依次为成功、不成功、成功、不成功。1 位 BHT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（初值 0）和 2 位 BHT（初态 00）各错几次？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位 4 次全错；2 位错 2 次，状态 00→01→00→01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→00，只错第 1、3 次。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51885"/>
            <a:ext cx="5410200" cy="2223135"/>
            <a:chOff x="533400" y="3651885"/>
            <a:chExt cx="5410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65188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238625"/>
              <a:ext cx="43559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为什么在经典五段流水线上使用 BHT 没有好处？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573905"/>
              <a:ext cx="47682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它在 ID 段同时判定分支方向和算出目标地址，提前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知道方向也拿不到目标地址。BHT 只在判定方向比算目标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地址慢时有用。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74345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BTB 命中率 95%、预测精度 80%、分支频率 20%，预测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错开销 4、不命中开销 3，基本 CPI 为 1，CPI 是多少？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731770"/>
              <a:ext cx="4472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20% ×（95% × 20% × 4 + 5% × 3）= 0.182，CPI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1.182；固定延迟 2 拍时为 1.4。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51885"/>
            <a:ext cx="5410200" cy="2223135"/>
            <a:chOff x="6248400" y="3651885"/>
            <a:chExt cx="5410200" cy="222313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5188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23862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前瞻执行中，引起异常的指令什么时候处理异常？为什么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这样是精确异常？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859655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到达 ROB 头部时才产生中断并清空 ROB。此时它前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面的指令都已确认写回，后面的都没写回，现场与顺序执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行到它时一致。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325749" cy="909257"/>
            <a:chOff x="520446" y="342900"/>
            <a:chExt cx="33257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1279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66" y="407194"/>
              <a:ext cx="3240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· 指令级并行 · 动态调度解决控制冒险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bullets-1"/>
          <p:cNvGrpSpPr/>
          <p:nvPr/>
        </p:nvGrpSpPr>
        <p:grpSpPr>
          <a:xfrm>
            <a:off x="533400" y="1535430"/>
            <a:ext cx="5201602" cy="2356580"/>
            <a:chOff x="533400" y="1535430"/>
            <a:chExt cx="5201602" cy="2356580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1745" y="15748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4293" y="1547336"/>
              <a:ext cx="491070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相关是程序属性：数据相关引起 RAW，反相关、输出相关在乱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序时引起 WAR、WAW；冲突多长由流水线决定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3360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1745" y="217298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4293" y="2145506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编译器靠循环展开 + 换名 + 调度开发 ILP：例题每个元素从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个周期降到 3.5 个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73177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1745" y="277115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4293" y="2743676"/>
              <a:ext cx="479348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Tomasulo：保留站换名消除 WAR、WAW，CDB 直送结果减少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RAW 停顿；指令顺序流出、乱序执行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32994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1745" y="336932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293" y="3341846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推周期表时逐条检查进入条件：保留站是否空闲、操作数是否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就绪、部件和 CDB 是否空闲、LS 队列是否到头</a:t>
              </a:r>
            </a:p>
          </p:txBody>
        </p:sp>
      </p:grpSp>
      <p:grpSp>
        <p:nvGrpSpPr>
          <p:cNvPr id="34" name="c1-table-2"/>
          <p:cNvGrpSpPr/>
          <p:nvPr/>
        </p:nvGrpSpPr>
        <p:grpSpPr>
          <a:xfrm>
            <a:off x="533400" y="4016692"/>
            <a:ext cx="5410200" cy="2124075"/>
            <a:chOff x="533400" y="4016692"/>
            <a:chExt cx="5410200" cy="2124075"/>
          </a:xfrm>
        </p:grpSpPr>
        <p:sp>
          <p:nvSpPr>
            <p:cNvPr id="20" name="Rectangle 20"/>
            <p:cNvSpPr/>
            <p:nvPr/>
          </p:nvSpPr>
          <p:spPr>
            <a:xfrm>
              <a:off x="533400" y="4016692"/>
              <a:ext cx="5410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77671" y="414432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本讲的数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44315" y="414432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5889" y="4569142"/>
              <a:ext cx="1415415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循环例题（周期 / 元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83752" y="4675822"/>
              <a:ext cx="32753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不调度 10，调度 6，展开 7，展开 + 调度 3.5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50739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5078730"/>
              <a:ext cx="541020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5889" y="5313998"/>
              <a:ext cx="989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BTB 例题 CPI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83752" y="5207317"/>
              <a:ext cx="27858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+ 15% ×（90% × 10% × 4 + 10% × 3）=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1.099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711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889" y="5844540"/>
              <a:ext cx="11681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位 / 2 位 BHT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83752" y="5844540"/>
              <a:ext cx="30572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次循环每轮错 2 次 / 稳定后每轮错 1 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016692"/>
              <a:ext cx="5410200" cy="21240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476500" y="4016692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2-bullets-1"/>
          <p:cNvGrpSpPr/>
          <p:nvPr/>
        </p:nvGrpSpPr>
        <p:grpSpPr>
          <a:xfrm>
            <a:off x="6248400" y="1535430"/>
            <a:ext cx="5219637" cy="1758410"/>
            <a:chOff x="6248400" y="1535430"/>
            <a:chExt cx="5219637" cy="1758410"/>
          </a:xfrm>
        </p:grpSpPr>
        <p:sp>
          <p:nvSpPr>
            <p:cNvPr id="35" name="Ellipse 35"/>
            <p:cNvSpPr/>
            <p:nvPr/>
          </p:nvSpPr>
          <p:spPr>
            <a:xfrm>
              <a:off x="6248400" y="153543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06745" y="15748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39294" y="1547336"/>
              <a:ext cx="484759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BHT 记方向：1 位每轮循环错 2 次，2 位连续错两次才翻转；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只在判定方向比算目标地址慢时有用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248400" y="213360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06745" y="217298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39294" y="2145506"/>
              <a:ext cx="490169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BTB 连目标地址一起存：命中且预测对 0 延迟，预测错或不命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中至少 2 拍；CPI = 基本 CPI + 分支频率 × 期望开销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248400" y="273177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06745" y="277115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39294" y="2743676"/>
              <a:ext cx="492874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前瞻执行在 Tomasulo 上加 ROB：写结果只写 ROB，确认按序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写回；猜错或异常到头部时清空 ROB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248400" y="3418522"/>
            <a:ext cx="5410200" cy="2722245"/>
            <a:chOff x="6248400" y="3418522"/>
            <a:chExt cx="5410200" cy="2722245"/>
          </a:xfrm>
        </p:grpSpPr>
        <p:sp>
          <p:nvSpPr>
            <p:cNvPr id="45" name="Rectangle 45"/>
            <p:cNvSpPr/>
            <p:nvPr/>
          </p:nvSpPr>
          <p:spPr>
            <a:xfrm>
              <a:off x="6248400" y="3418522"/>
              <a:ext cx="5410200" cy="2722245"/>
            </a:xfrm>
            <a:prstGeom prst="roundRect">
              <a:avLst>
                <a:gd name="adj" fmla="val 48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3551872"/>
              <a:ext cx="47625" cy="24555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84620" y="3616642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0058" y="365093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本讲更正汇总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92240" y="403669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48831" y="3977164"/>
              <a:ext cx="446887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循环例题中 R1 的初值说明前后矛盾，应指向地址最高的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92240" y="462629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48831" y="4565809"/>
              <a:ext cx="42824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 IV 中 DADDIU 与 S.D F12 的时钟应为 11、12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492240" y="494347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48831" y="4883944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相关与冲突对照页中停顿、重复设置资源属于结构冲突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92240" y="526161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48831" y="5202079"/>
              <a:ext cx="456806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 1 中 ALU1 的 Vj 应为 M[Reg[R1]]；例题 2 中 ROB5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Value 应为分支结果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01 指令级并行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oa_arch1">
  <a:themeElements>
    <a:clrScheme name="coa_arch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a_arch1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a_arch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2026-09-17T08:11:27Z</dcterms:created>
  <dcterms:modified xsi:type="dcterms:W3CDTF">2026-09-17T08:11:27Z</dcterms:modified>
  <cp:category/>
  <cp:contentStatus/>
</cp:coreProperties>
</file>