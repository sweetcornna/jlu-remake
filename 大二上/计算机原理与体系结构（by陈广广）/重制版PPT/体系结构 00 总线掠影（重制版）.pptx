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coa_arch0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coa_arch0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92b4254cc987f52b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e2e56ee5820b3c3.png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8ef19c01b2a8a8d.png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3662934" cy="3437763"/>
            <a:chOff x="666750" y="1619250"/>
            <a:chExt cx="3662934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884170" cy="3429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74714" y="1718310"/>
              <a:ext cx="27063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计算机原理与体系结构 · 体系结构 00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2997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总线掠影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各部件怎样共享一组线路传送信息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总线的概念、结构与分类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系统总线的三类信号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集中式总线判优的三种方式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四种总线通信方式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6124099" cy="205359"/>
            <a:chOff x="680466" y="6192202"/>
            <a:chExt cx="6124099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6124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自学复习版｜据吉林大学《计算机原理与体系结构》体系结构部分“总线掠影”课件整理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7445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7548" y="407194"/>
              <a:ext cx="11852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00 总线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287453" cy="3689317"/>
            <a:chOff x="521970" y="1515428"/>
            <a:chExt cx="6287453" cy="3689317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总线是什么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7687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定义与共享特点、串行与并行传送、PCI 总线结构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总线的分类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片内总线、系统总线（数据、地址、控制）、通信总线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总线判优控制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主设备与从设备，链式查询、计数器定时查询、独立请求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总线通信控制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总线传输周期，同步、异步、半同步、分离式通信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自测与小结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4333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 道题覆盖控制线数、传输率、波特率等计算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7114222" y="1524000"/>
            <a:ext cx="4544378" cy="3630930"/>
            <a:chOff x="7114222" y="1524000"/>
            <a:chExt cx="4544378" cy="3630930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3630930"/>
            </a:xfrm>
            <a:prstGeom prst="roundRect">
              <a:avLst>
                <a:gd name="adj" fmla="val 36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336423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说出总线的定义，比较串行传送与并行传送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25088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244602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写出系统总线三类信号的方向，由地址线根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数算出寻址空间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12991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06705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画出三种集中式判优方式的连线，算出控制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线数并比较优缺点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375094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3688080"/>
              <a:ext cx="3529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读懂同步、半同步通信时序图，说明 WAIT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信号的作用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437197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430911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由字符格式算波特率和比特率，由时钟频率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算总线传输率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7605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00 总线掠影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801868" cy="3351847"/>
            <a:chOff x="667512" y="1835468"/>
            <a:chExt cx="5801868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总线是什么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791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先看信息怎样在共享线路上传送，再按连接范围给总线分类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总线的定义与共享特点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串行传送与并行传送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1953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总线结构举例：PCI 总线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片内总线、系统总线、通信总线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7605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00 总线掠影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5742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542" y="407194"/>
              <a:ext cx="21211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00 总线 · 总线是什么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总线：各部件共享的一组信息传输线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626418" cy="2446972"/>
            <a:chOff x="533400" y="1524000"/>
            <a:chExt cx="5626418" cy="244697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446972"/>
            </a:xfrm>
            <a:prstGeom prst="roundRect">
              <a:avLst>
                <a:gd name="adj" fmla="val 54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18027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06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52931" y="1756886"/>
              <a:ext cx="11103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总线（bus）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2100739"/>
              <a:ext cx="48836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总线是连接计算机各个部件的信息传输线，是各部件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共享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的传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输介质。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7240" y="274986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3831" y="2690336"/>
              <a:ext cx="480250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共享：CPU、主存、I/O 接口都挂在同一组线上，不必两两单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独连线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7240" y="333946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3831" y="3278981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分时：同一时刻只允许一个部件向总线发送信息，但可以有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多个部件同时接收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4151948"/>
            <a:ext cx="5626418" cy="1522095"/>
            <a:chOff x="533400" y="4151948"/>
            <a:chExt cx="5626418" cy="1522095"/>
          </a:xfrm>
        </p:grpSpPr>
        <p:sp>
          <p:nvSpPr>
            <p:cNvPr id="18" name="Rectangle 18"/>
            <p:cNvSpPr/>
            <p:nvPr/>
          </p:nvSpPr>
          <p:spPr>
            <a:xfrm>
              <a:off x="533400" y="4151948"/>
              <a:ext cx="5626418" cy="1522095"/>
            </a:xfrm>
            <a:prstGeom prst="roundRect">
              <a:avLst>
                <a:gd name="adj" fmla="val 87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4285298"/>
              <a:ext cx="47625" cy="125539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69620" y="435006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1060" y="438435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类比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381" y="4710589"/>
              <a:ext cx="488365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总线像一条公交干道，沿途各站（部件）共用这条路。同一段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路同一时刻只能走一辆车，谁先走要有人调度，这就是第二部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分的“总线判优”。</a:t>
              </a:r>
            </a:p>
          </p:txBody>
        </p:sp>
      </p:grpSp>
      <p:grpSp>
        <p:nvGrpSpPr>
          <p:cNvPr id="60" name="c2-graph-1"/>
          <p:cNvGrpSpPr/>
          <p:nvPr/>
        </p:nvGrpSpPr>
        <p:grpSpPr>
          <a:xfrm>
            <a:off x="6588442" y="1803082"/>
            <a:ext cx="4946333" cy="1728312"/>
            <a:chOff x="6588442" y="1803082"/>
            <a:chExt cx="4946333" cy="1728312"/>
          </a:xfrm>
        </p:grpSpPr>
        <p:sp>
          <p:nvSpPr>
            <p:cNvPr id="24" name="Freeform 24"/>
            <p:cNvSpPr/>
            <p:nvPr/>
          </p:nvSpPr>
          <p:spPr>
            <a:xfrm>
              <a:off x="6712268" y="2667000"/>
              <a:ext cx="4698682" cy="9525"/>
            </a:xfrm>
            <a:custGeom>
              <a:avLst/>
              <a:gdLst/>
              <a:ahLst/>
              <a:cxnLst/>
              <a:rect l="l" t="t" r="r" b="b"/>
              <a:pathLst>
                <a:path w="4698682" h="9525">
                  <a:moveTo>
                    <a:pt x="0" y="0"/>
                  </a:moveTo>
                  <a:lnTo>
                    <a:pt x="4698682" y="0"/>
                  </a:lnTo>
                </a:path>
              </a:pathLst>
            </a:custGeom>
            <a:noFill/>
            <a:ln w="66675">
              <a:solidFill>
                <a:srgbClr val="1F5FA8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11410950" y="26193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6617018" y="26193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7369492" y="2198370"/>
              <a:ext cx="9525" cy="316230"/>
            </a:xfrm>
            <a:custGeom>
              <a:avLst/>
              <a:gdLst/>
              <a:ahLst/>
              <a:cxnLst/>
              <a:rect l="l" t="t" r="r" b="b"/>
              <a:pathLst>
                <a:path w="9525" h="316230">
                  <a:moveTo>
                    <a:pt x="0" y="0"/>
                  </a:moveTo>
                  <a:lnTo>
                    <a:pt x="0" y="316230"/>
                  </a:lnTo>
                </a:path>
              </a:pathLst>
            </a:custGeom>
            <a:noFill/>
            <a:ln w="20955">
              <a:solidFill>
                <a:srgbClr val="1F5FA8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7321868" y="25146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7321868" y="210312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9055418" y="2198370"/>
              <a:ext cx="9525" cy="316230"/>
            </a:xfrm>
            <a:custGeom>
              <a:avLst/>
              <a:gdLst/>
              <a:ahLst/>
              <a:cxnLst/>
              <a:rect l="l" t="t" r="r" b="b"/>
              <a:pathLst>
                <a:path w="9525" h="316230">
                  <a:moveTo>
                    <a:pt x="0" y="0"/>
                  </a:moveTo>
                  <a:lnTo>
                    <a:pt x="0" y="316230"/>
                  </a:lnTo>
                </a:path>
              </a:pathLst>
            </a:custGeom>
            <a:noFill/>
            <a:ln w="20955">
              <a:solidFill>
                <a:srgbClr val="1F5FA8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9007792" y="25146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9007792" y="210312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10750868" y="2198370"/>
              <a:ext cx="9525" cy="316230"/>
            </a:xfrm>
            <a:custGeom>
              <a:avLst/>
              <a:gdLst/>
              <a:ahLst/>
              <a:cxnLst/>
              <a:rect l="l" t="t" r="r" b="b"/>
              <a:pathLst>
                <a:path w="9525" h="316230">
                  <a:moveTo>
                    <a:pt x="0" y="0"/>
                  </a:moveTo>
                  <a:lnTo>
                    <a:pt x="0" y="316230"/>
                  </a:lnTo>
                </a:path>
              </a:pathLst>
            </a:custGeom>
            <a:noFill/>
            <a:ln w="20955">
              <a:solidFill>
                <a:srgbClr val="1F5FA8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10703242" y="25146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10703242" y="210312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8179118" y="2819400"/>
              <a:ext cx="9525" cy="316230"/>
            </a:xfrm>
            <a:custGeom>
              <a:avLst/>
              <a:gdLst/>
              <a:ahLst/>
              <a:cxnLst/>
              <a:rect l="l" t="t" r="r" b="b"/>
              <a:pathLst>
                <a:path w="9525" h="316230">
                  <a:moveTo>
                    <a:pt x="0" y="316230"/>
                  </a:moveTo>
                  <a:lnTo>
                    <a:pt x="0" y="0"/>
                  </a:lnTo>
                </a:path>
              </a:pathLst>
            </a:custGeom>
            <a:noFill/>
            <a:ln w="20955">
              <a:solidFill>
                <a:srgbClr val="1F5FA8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8131492" y="27241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8131492" y="313563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9941242" y="2819400"/>
              <a:ext cx="9525" cy="316230"/>
            </a:xfrm>
            <a:custGeom>
              <a:avLst/>
              <a:gdLst/>
              <a:ahLst/>
              <a:cxnLst/>
              <a:rect l="l" t="t" r="r" b="b"/>
              <a:pathLst>
                <a:path w="9525" h="316230">
                  <a:moveTo>
                    <a:pt x="0" y="316230"/>
                  </a:moveTo>
                  <a:lnTo>
                    <a:pt x="0" y="0"/>
                  </a:lnTo>
                </a:path>
              </a:pathLst>
            </a:custGeom>
            <a:noFill/>
            <a:ln w="20955">
              <a:solidFill>
                <a:srgbClr val="1F5FA8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9893618" y="27241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9893618" y="313563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6588442" y="265747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11515725" y="265747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7321868" y="2619375"/>
              <a:ext cx="95250" cy="952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007792" y="2619375"/>
              <a:ext cx="95250" cy="952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10703242" y="2619375"/>
              <a:ext cx="95250" cy="952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8131492" y="2619375"/>
              <a:ext cx="95250" cy="952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9893618" y="2619375"/>
              <a:ext cx="95250" cy="952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132320" y="1803082"/>
              <a:ext cx="475298" cy="300038"/>
            </a:xfrm>
            <a:prstGeom prst="roundRect">
              <a:avLst>
                <a:gd name="adj" fmla="val 31746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8799195" y="1803082"/>
              <a:ext cx="513398" cy="300038"/>
            </a:xfrm>
            <a:prstGeom prst="roundRect">
              <a:avLst>
                <a:gd name="adj" fmla="val 31746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10288905" y="1803082"/>
              <a:ext cx="923925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7717155" y="3230880"/>
              <a:ext cx="923925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9479280" y="3230880"/>
              <a:ext cx="923925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225776" y="1882616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CPU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898928" y="188261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主存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368184" y="1882616"/>
              <a:ext cx="765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I/O 接口 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796434" y="3311366"/>
              <a:ext cx="765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I/O 接口 2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558559" y="3311366"/>
              <a:ext cx="765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I/O 接口 3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668834" y="28394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系统总线（共享）</a:t>
              </a:r>
            </a:p>
          </p:txBody>
        </p:sp>
      </p:grpSp>
      <p:grpSp>
        <p:nvGrpSpPr>
          <p:cNvPr id="67" name="c2-card-2"/>
          <p:cNvGrpSpPr/>
          <p:nvPr/>
        </p:nvGrpSpPr>
        <p:grpSpPr>
          <a:xfrm>
            <a:off x="6464618" y="3894772"/>
            <a:ext cx="5193982" cy="1779270"/>
            <a:chOff x="6464618" y="3894772"/>
            <a:chExt cx="5193982" cy="1779270"/>
          </a:xfrm>
        </p:grpSpPr>
        <p:sp>
          <p:nvSpPr>
            <p:cNvPr id="61" name="Rectangle 61"/>
            <p:cNvSpPr/>
            <p:nvPr/>
          </p:nvSpPr>
          <p:spPr>
            <a:xfrm>
              <a:off x="6464618" y="3894772"/>
              <a:ext cx="5193982" cy="1779270"/>
            </a:xfrm>
            <a:prstGeom prst="roundRect">
              <a:avLst>
                <a:gd name="adj" fmla="val 74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6474142" y="4028122"/>
              <a:ext cx="47625" cy="151257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700838" y="4092892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776276" y="412718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为什么要共享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693598" y="4453414"/>
              <a:ext cx="446887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个部件两两直连需要 n(n−1)/2 组线路：5 个部件就要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组，每组又包含许多根信号线。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694742" y="5039678"/>
              <a:ext cx="45596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改用总线后只要 1 组公共线路，新增部件时接到这组线上即可。</a:t>
              </a:r>
            </a:p>
          </p:txBody>
        </p:sp>
      </p:grpSp>
      <p:grpSp>
        <p:nvGrpSpPr>
          <p:cNvPr id="74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68" name="Rectangle 68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726129" y="6007536"/>
              <a:ext cx="224134" cy="192560"/>
              <a:chOff x="726129" y="6007536"/>
              <a:chExt cx="224134" cy="192560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838200" y="607790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726129" y="600753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38200" y="615569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1040511" y="6011704"/>
              <a:ext cx="82343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共享的代价：多个部件同时想发送时必须排队，所以总线要有判优（仲裁）规则和通信时序约定。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27605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00 总线掠影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90709" cy="909257"/>
            <a:chOff x="520446" y="342900"/>
            <a:chExt cx="66907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5742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542" y="407194"/>
              <a:ext cx="21211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00 总线 · 总线是什么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907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串行与并行：一次送 1 位，还是一次送 n 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7685" y="1542574"/>
            <a:ext cx="2877708" cy="220028"/>
            <a:chOff x="527685" y="1542574"/>
            <a:chExt cx="2877708" cy="220028"/>
          </a:xfrm>
        </p:grpSpPr>
        <p:sp>
          <p:nvSpPr>
            <p:cNvPr id="7" name="TextBox 7"/>
            <p:cNvSpPr txBox="1"/>
            <p:nvPr/>
          </p:nvSpPr>
          <p:spPr>
            <a:xfrm>
              <a:off x="527685" y="1542574"/>
              <a:ext cx="28777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例：传送字符 A = 0100 0001B（b7 … b0）</a:t>
              </a:r>
            </a:p>
          </p:txBody>
        </p:sp>
      </p:grpSp>
      <p:grpSp>
        <p:nvGrpSpPr>
          <p:cNvPr id="51" name="c1-cells-2"/>
          <p:cNvGrpSpPr/>
          <p:nvPr/>
        </p:nvGrpSpPr>
        <p:grpSpPr>
          <a:xfrm>
            <a:off x="527685" y="1933575"/>
            <a:ext cx="3842663" cy="1464945"/>
            <a:chOff x="527685" y="1933575"/>
            <a:chExt cx="3842663" cy="1464945"/>
          </a:xfrm>
        </p:grpSpPr>
        <p:sp>
          <p:nvSpPr>
            <p:cNvPr id="9" name="TextBox 9"/>
            <p:cNvSpPr txBox="1"/>
            <p:nvPr/>
          </p:nvSpPr>
          <p:spPr>
            <a:xfrm>
              <a:off x="527685" y="22979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串行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51548" y="2183130"/>
              <a:ext cx="41910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11846" y="22979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370648" y="218313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530946" y="22979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789748" y="218313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950046" y="22979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208848" y="218313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369146" y="22979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627948" y="218313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788246" y="22979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047048" y="218313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207346" y="22979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466148" y="218313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626446" y="22979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885248" y="218313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045546" y="22979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126" y="1933575"/>
              <a:ext cx="4299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先送 b0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1122998" y="208788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819247" y="1933575"/>
              <a:ext cx="55110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最后送 b7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4056698" y="208788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27685" y="281797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并行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951548" y="270319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111846" y="28179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370648" y="270319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530946" y="28179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789748" y="270319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950046" y="28179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2208848" y="270319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369146" y="28179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2627948" y="270319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788246" y="28179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047048" y="270319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207346" y="28179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466148" y="270319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626446" y="28179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3885248" y="270319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045546" y="28179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Freeform 47"/>
            <p:cNvSpPr/>
            <p:nvPr/>
          </p:nvSpPr>
          <p:spPr>
            <a:xfrm>
              <a:off x="1122998" y="309086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82406" y="3222308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D7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4056698" y="309086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016106" y="3222308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D0</a:t>
              </a:r>
            </a:p>
          </p:txBody>
        </p:sp>
      </p:grpSp>
      <p:grpSp>
        <p:nvGrpSpPr>
          <p:cNvPr id="57" name="c1-kv-3"/>
          <p:cNvGrpSpPr/>
          <p:nvPr/>
        </p:nvGrpSpPr>
        <p:grpSpPr>
          <a:xfrm>
            <a:off x="526542" y="3530918"/>
            <a:ext cx="5417058" cy="1163192"/>
            <a:chOff x="526542" y="3530918"/>
            <a:chExt cx="5417058" cy="1163192"/>
          </a:xfrm>
        </p:grpSpPr>
        <p:sp>
          <p:nvSpPr>
            <p:cNvPr id="52" name="TextBox 52"/>
            <p:cNvSpPr txBox="1"/>
            <p:nvPr/>
          </p:nvSpPr>
          <p:spPr>
            <a:xfrm>
              <a:off x="526542" y="35309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串行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31380" y="3530918"/>
              <a:ext cx="447141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只用 1 根数据线，8 位按时间先后逐位送出（异步串行通常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低位在前）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33400" y="407098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26542" y="417671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并行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31380" y="4176712"/>
              <a:ext cx="4522851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8 根数据线，同一时刻每根线各送 1 位，一次送完一个字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</a:t>
              </a:r>
            </a:p>
          </p:txBody>
        </p:sp>
      </p:grpSp>
      <p:grpSp>
        <p:nvGrpSpPr>
          <p:cNvPr id="65" name="c1-card-4"/>
          <p:cNvGrpSpPr/>
          <p:nvPr/>
        </p:nvGrpSpPr>
        <p:grpSpPr>
          <a:xfrm>
            <a:off x="533400" y="4812030"/>
            <a:ext cx="5410200" cy="1446848"/>
            <a:chOff x="533400" y="4812030"/>
            <a:chExt cx="5410200" cy="1446848"/>
          </a:xfrm>
        </p:grpSpPr>
        <p:sp>
          <p:nvSpPr>
            <p:cNvPr id="58" name="Rectangle 58"/>
            <p:cNvSpPr/>
            <p:nvPr/>
          </p:nvSpPr>
          <p:spPr>
            <a:xfrm>
              <a:off x="533400" y="4812030"/>
              <a:ext cx="5410200" cy="1446848"/>
            </a:xfrm>
            <a:prstGeom prst="roundRect">
              <a:avLst>
                <a:gd name="adj" fmla="val 92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542925" y="4945380"/>
              <a:ext cx="47625" cy="118014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758190" y="4998720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46811" y="503158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算一算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766762" y="539877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22782" y="5342573"/>
              <a:ext cx="446284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每根线每秒传 1 Mbps（每位 1 μs）时：串行送 1 个字节要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μs，8 位并行只要 1 μs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52475" y="5896451"/>
              <a:ext cx="45572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并行快的前提是 8 根线的信号同时到达；线长、频率高时很难保证。</a:t>
              </a:r>
            </a:p>
          </p:txBody>
        </p:sp>
      </p:grpSp>
      <p:grpSp>
        <p:nvGrpSpPr>
          <p:cNvPr id="99" name="c2-table-1"/>
          <p:cNvGrpSpPr/>
          <p:nvPr/>
        </p:nvGrpSpPr>
        <p:grpSpPr>
          <a:xfrm>
            <a:off x="6248400" y="1524000"/>
            <a:ext cx="5410200" cy="3552825"/>
            <a:chOff x="6248400" y="1524000"/>
            <a:chExt cx="5410200" cy="3552825"/>
          </a:xfrm>
        </p:grpSpPr>
        <p:sp>
          <p:nvSpPr>
            <p:cNvPr id="66" name="Rectangle 66"/>
            <p:cNvSpPr/>
            <p:nvPr/>
          </p:nvSpPr>
          <p:spPr>
            <a:xfrm>
              <a:off x="6248400" y="1524000"/>
              <a:ext cx="5410200" cy="439102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564249" y="164877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比较项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123111" y="164877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串行传送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232898" y="164877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并行传送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344412" y="220789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数据线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535037" y="2207895"/>
              <a:ext cx="14403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根（每个方向）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644824" y="2087880"/>
              <a:ext cx="1531048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根（一次传送的位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数）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248400" y="26374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6248400" y="2642235"/>
              <a:ext cx="541020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344412" y="276701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一次送出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535037" y="2767012"/>
              <a:ext cx="349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位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644824" y="2767012"/>
              <a:ext cx="349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位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6248400" y="30756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344412" y="320611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线路成本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535037" y="3206115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低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9644824" y="3206115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6248400" y="351472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6248400" y="3519488"/>
              <a:ext cx="541020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344412" y="36452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传输距离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535037" y="36452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可以较远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9644824" y="36452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较近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6248400" y="39538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344412" y="420338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典型例子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535037" y="4083368"/>
              <a:ext cx="152247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USB、SATA、PCIe、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RS-232C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9644824" y="4203382"/>
              <a:ext cx="18235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PCI、ISA、打印机并口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6248400" y="463296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2" name="Rectangle 92"/>
            <p:cNvSpPr/>
            <p:nvPr/>
          </p:nvSpPr>
          <p:spPr>
            <a:xfrm>
              <a:off x="6248400" y="4637722"/>
              <a:ext cx="541020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6344412" y="47625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适合场合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7535037" y="476250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距离远、要节省线路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9644824" y="476250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距离短、要一次传多位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6248400" y="1524000"/>
              <a:ext cx="5410200" cy="3552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7" name="Rectangle 97"/>
            <p:cNvSpPr/>
            <p:nvPr/>
          </p:nvSpPr>
          <p:spPr>
            <a:xfrm>
              <a:off x="7434262" y="1524000"/>
              <a:ext cx="9525" cy="3552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8" name="Rectangle 98"/>
            <p:cNvSpPr/>
            <p:nvPr/>
          </p:nvSpPr>
          <p:spPr>
            <a:xfrm>
              <a:off x="9544050" y="1524000"/>
              <a:ext cx="9525" cy="3552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06" name="c2-callout-2"/>
          <p:cNvGrpSpPr/>
          <p:nvPr/>
        </p:nvGrpSpPr>
        <p:grpSpPr>
          <a:xfrm>
            <a:off x="6248400" y="5246370"/>
            <a:ext cx="5410200" cy="978218"/>
            <a:chOff x="6248400" y="5246370"/>
            <a:chExt cx="5410200" cy="978218"/>
          </a:xfrm>
        </p:grpSpPr>
        <p:sp>
          <p:nvSpPr>
            <p:cNvPr id="100" name="Rectangle 100"/>
            <p:cNvSpPr/>
            <p:nvPr/>
          </p:nvSpPr>
          <p:spPr>
            <a:xfrm>
              <a:off x="6248400" y="5246370"/>
              <a:ext cx="5410200" cy="978218"/>
            </a:xfrm>
            <a:prstGeom prst="roundRect">
              <a:avLst>
                <a:gd name="adj" fmla="val 1168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04" name="Group 104"/>
            <p:cNvGrpSpPr/>
            <p:nvPr/>
          </p:nvGrpSpPr>
          <p:grpSpPr>
            <a:xfrm>
              <a:off x="6453188" y="5634990"/>
              <a:ext cx="200026" cy="200026"/>
              <a:chOff x="6453188" y="5634990"/>
              <a:chExt cx="200026" cy="200026"/>
            </a:xfrm>
          </p:grpSpPr>
          <p:sp>
            <p:nvSpPr>
              <p:cNvPr id="101" name="Freeform 101"/>
              <p:cNvSpPr/>
              <p:nvPr/>
            </p:nvSpPr>
            <p:spPr>
              <a:xfrm>
                <a:off x="6453188" y="563499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02" name="Freeform 102"/>
              <p:cNvSpPr/>
              <p:nvPr/>
            </p:nvSpPr>
            <p:spPr>
              <a:xfrm>
                <a:off x="6553200" y="570166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03" name="Freeform 103"/>
              <p:cNvSpPr/>
              <p:nvPr/>
            </p:nvSpPr>
            <p:spPr>
              <a:xfrm>
                <a:off x="6542088" y="573500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05" name="TextBox 105"/>
            <p:cNvSpPr txBox="1"/>
            <p:nvPr/>
          </p:nvSpPr>
          <p:spPr>
            <a:xfrm>
              <a:off x="6755892" y="5392102"/>
              <a:ext cx="447141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并行线越长、频率越高，各线信号到达的时间差和线间串扰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越严重，所以 PCIe、SATA、USB 等新的高速接口都改用了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高速串行。</a:t>
              </a:r>
            </a:p>
          </p:txBody>
        </p:sp>
      </p:grpSp>
      <p:grpSp>
        <p:nvGrpSpPr>
          <p:cNvPr id="10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7" name="TextBox 107"/>
            <p:cNvSpPr txBox="1"/>
            <p:nvPr/>
          </p:nvSpPr>
          <p:spPr>
            <a:xfrm>
              <a:off x="528447" y="6581299"/>
              <a:ext cx="27605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00 总线掠影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52407" cy="909257"/>
            <a:chOff x="520446" y="342900"/>
            <a:chExt cx="685240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5742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542" y="407194"/>
              <a:ext cx="21211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00 总线 · 总线是什么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5240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总线结构举例：PCI 总线用桥把快慢设备分层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5" name="c1-graph-1"/>
          <p:cNvGrpSpPr/>
          <p:nvPr/>
        </p:nvGrpSpPr>
        <p:grpSpPr>
          <a:xfrm>
            <a:off x="809625" y="1723549"/>
            <a:ext cx="6022658" cy="3753707"/>
            <a:chOff x="809625" y="1723549"/>
            <a:chExt cx="6022658" cy="3753707"/>
          </a:xfrm>
        </p:grpSpPr>
        <p:sp>
          <p:nvSpPr>
            <p:cNvPr id="7" name="Freeform 7"/>
            <p:cNvSpPr/>
            <p:nvPr/>
          </p:nvSpPr>
          <p:spPr>
            <a:xfrm>
              <a:off x="1672590" y="1924050"/>
              <a:ext cx="4109085" cy="9525"/>
            </a:xfrm>
            <a:custGeom>
              <a:avLst/>
              <a:gdLst/>
              <a:ahLst/>
              <a:cxnLst/>
              <a:rect l="l" t="t" r="r" b="b"/>
              <a:pathLst>
                <a:path w="4109085" h="9525">
                  <a:moveTo>
                    <a:pt x="0" y="0"/>
                  </a:moveTo>
                  <a:lnTo>
                    <a:pt x="4109085" y="0"/>
                  </a:lnTo>
                </a:path>
              </a:pathLst>
            </a:custGeom>
            <a:noFill/>
            <a:ln w="47625">
              <a:solidFill>
                <a:srgbClr val="1F5FA8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781675" y="18764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577340" y="18764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2438400" y="2076450"/>
              <a:ext cx="9525" cy="307658"/>
            </a:xfrm>
            <a:custGeom>
              <a:avLst/>
              <a:gdLst/>
              <a:ahLst/>
              <a:cxnLst/>
              <a:rect l="l" t="t" r="r" b="b"/>
              <a:pathLst>
                <a:path w="9525" h="307658">
                  <a:moveTo>
                    <a:pt x="0" y="0"/>
                  </a:moveTo>
                  <a:lnTo>
                    <a:pt x="0" y="307658"/>
                  </a:lnTo>
                </a:path>
              </a:pathLst>
            </a:custGeom>
            <a:noFill/>
            <a:ln w="22860">
              <a:solidFill>
                <a:srgbClr val="1F5FA8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390775" y="238410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2390775" y="19812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438400" y="2854642"/>
              <a:ext cx="9525" cy="374333"/>
            </a:xfrm>
            <a:custGeom>
              <a:avLst/>
              <a:gdLst/>
              <a:ahLst/>
              <a:cxnLst/>
              <a:rect l="l" t="t" r="r" b="b"/>
              <a:pathLst>
                <a:path w="9525" h="374333">
                  <a:moveTo>
                    <a:pt x="0" y="0"/>
                  </a:moveTo>
                  <a:lnTo>
                    <a:pt x="0" y="374333"/>
                  </a:lnTo>
                </a:path>
              </a:pathLst>
            </a:custGeom>
            <a:noFill/>
            <a:ln w="22860">
              <a:solidFill>
                <a:srgbClr val="F26B3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390775" y="32289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390775" y="275939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2120265" y="3381375"/>
              <a:ext cx="3544252" cy="9525"/>
            </a:xfrm>
            <a:custGeom>
              <a:avLst/>
              <a:gdLst/>
              <a:ahLst/>
              <a:cxnLst/>
              <a:rect l="l" t="t" r="r" b="b"/>
              <a:pathLst>
                <a:path w="3544252" h="9525">
                  <a:moveTo>
                    <a:pt x="0" y="0"/>
                  </a:moveTo>
                  <a:lnTo>
                    <a:pt x="3544252" y="0"/>
                  </a:lnTo>
                </a:path>
              </a:pathLst>
            </a:custGeom>
            <a:noFill/>
            <a:ln w="47625">
              <a:solidFill>
                <a:srgbClr val="F26B3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5664518" y="33337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2025015" y="33337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3105150" y="3533775"/>
              <a:ext cx="9525" cy="345758"/>
            </a:xfrm>
            <a:custGeom>
              <a:avLst/>
              <a:gdLst/>
              <a:ahLst/>
              <a:cxnLst/>
              <a:rect l="l" t="t" r="r" b="b"/>
              <a:pathLst>
                <a:path w="9525" h="345758">
                  <a:moveTo>
                    <a:pt x="0" y="0"/>
                  </a:moveTo>
                  <a:lnTo>
                    <a:pt x="0" y="345758"/>
                  </a:lnTo>
                </a:path>
              </a:pathLst>
            </a:custGeom>
            <a:noFill/>
            <a:ln w="20955">
              <a:solidFill>
                <a:srgbClr val="F26B3A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3057525" y="387953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3057525" y="34385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4295775" y="3533775"/>
              <a:ext cx="9525" cy="345758"/>
            </a:xfrm>
            <a:custGeom>
              <a:avLst/>
              <a:gdLst/>
              <a:ahLst/>
              <a:cxnLst/>
              <a:rect l="l" t="t" r="r" b="b"/>
              <a:pathLst>
                <a:path w="9525" h="345758">
                  <a:moveTo>
                    <a:pt x="0" y="0"/>
                  </a:moveTo>
                  <a:lnTo>
                    <a:pt x="0" y="345758"/>
                  </a:lnTo>
                </a:path>
              </a:pathLst>
            </a:custGeom>
            <a:noFill/>
            <a:ln w="20955">
              <a:solidFill>
                <a:srgbClr val="F26B3A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4248150" y="387953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4248150" y="34385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5534025" y="3533775"/>
              <a:ext cx="9525" cy="345758"/>
            </a:xfrm>
            <a:custGeom>
              <a:avLst/>
              <a:gdLst/>
              <a:ahLst/>
              <a:cxnLst/>
              <a:rect l="l" t="t" r="r" b="b"/>
              <a:pathLst>
                <a:path w="9525" h="345758">
                  <a:moveTo>
                    <a:pt x="0" y="0"/>
                  </a:moveTo>
                  <a:lnTo>
                    <a:pt x="0" y="345758"/>
                  </a:lnTo>
                </a:path>
              </a:pathLst>
            </a:custGeom>
            <a:noFill/>
            <a:ln w="20955">
              <a:solidFill>
                <a:srgbClr val="F26B3A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5486400" y="387953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5486400" y="34385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1438275" y="3616642"/>
              <a:ext cx="9525" cy="993458"/>
            </a:xfrm>
            <a:custGeom>
              <a:avLst/>
              <a:gdLst/>
              <a:ahLst/>
              <a:cxnLst/>
              <a:rect l="l" t="t" r="r" b="b"/>
              <a:pathLst>
                <a:path w="9525" h="993458">
                  <a:moveTo>
                    <a:pt x="0" y="0"/>
                  </a:moveTo>
                  <a:lnTo>
                    <a:pt x="0" y="993458"/>
                  </a:lnTo>
                </a:path>
              </a:pathLst>
            </a:custGeom>
            <a:noFill/>
            <a:ln w="22860">
              <a:solidFill>
                <a:srgbClr val="5B647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1390650" y="46101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1390650" y="352139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933450" y="4762500"/>
              <a:ext cx="3676650" cy="9525"/>
            </a:xfrm>
            <a:custGeom>
              <a:avLst/>
              <a:gdLst/>
              <a:ahLst/>
              <a:cxnLst/>
              <a:rect l="l" t="t" r="r" b="b"/>
              <a:pathLst>
                <a:path w="3676650" h="9525">
                  <a:moveTo>
                    <a:pt x="0" y="0"/>
                  </a:moveTo>
                  <a:lnTo>
                    <a:pt x="3676650" y="0"/>
                  </a:lnTo>
                </a:path>
              </a:pathLst>
            </a:custGeom>
            <a:noFill/>
            <a:ln w="47625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4610100" y="47148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838200" y="47148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2057400" y="4914900"/>
              <a:ext cx="9525" cy="164782"/>
            </a:xfrm>
            <a:custGeom>
              <a:avLst/>
              <a:gdLst/>
              <a:ahLst/>
              <a:cxnLst/>
              <a:rect l="l" t="t" r="r" b="b"/>
              <a:pathLst>
                <a:path w="9525" h="164782">
                  <a:moveTo>
                    <a:pt x="0" y="0"/>
                  </a:moveTo>
                  <a:lnTo>
                    <a:pt x="0" y="164782"/>
                  </a:lnTo>
                </a:path>
              </a:pathLst>
            </a:custGeom>
            <a:noFill/>
            <a:ln w="20955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2009775" y="507968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2009775" y="48196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3390900" y="4914900"/>
              <a:ext cx="9525" cy="164782"/>
            </a:xfrm>
            <a:custGeom>
              <a:avLst/>
              <a:gdLst/>
              <a:ahLst/>
              <a:cxnLst/>
              <a:rect l="l" t="t" r="r" b="b"/>
              <a:pathLst>
                <a:path w="9525" h="164782">
                  <a:moveTo>
                    <a:pt x="0" y="0"/>
                  </a:moveTo>
                  <a:lnTo>
                    <a:pt x="0" y="164782"/>
                  </a:lnTo>
                </a:path>
              </a:pathLst>
            </a:custGeom>
            <a:noFill/>
            <a:ln w="20955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3343275" y="507968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3343275" y="48196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2390775" y="1876425"/>
              <a:ext cx="95250" cy="952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3057525" y="3333750"/>
              <a:ext cx="95250" cy="952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4248150" y="3333750"/>
              <a:ext cx="95250" cy="952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5486400" y="3333750"/>
              <a:ext cx="95250" cy="952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2390775" y="3333750"/>
              <a:ext cx="95250" cy="952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1390650" y="4714875"/>
              <a:ext cx="95250" cy="952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2009775" y="4714875"/>
              <a:ext cx="95250" cy="952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3343275" y="4714875"/>
              <a:ext cx="95250" cy="952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809625" y="475297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4714875" y="475297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822960" y="1784032"/>
              <a:ext cx="754380" cy="280035"/>
            </a:xfrm>
            <a:prstGeom prst="roundRect">
              <a:avLst>
                <a:gd name="adj" fmla="val 34014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5876925" y="1784032"/>
              <a:ext cx="838200" cy="280035"/>
            </a:xfrm>
            <a:prstGeom prst="roundRect">
              <a:avLst>
                <a:gd name="adj" fmla="val 34014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1977390" y="2479358"/>
              <a:ext cx="922020" cy="280035"/>
            </a:xfrm>
            <a:prstGeom prst="roundRect">
              <a:avLst>
                <a:gd name="adj" fmla="val 34014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851535" y="3241358"/>
              <a:ext cx="1173480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5759768" y="3241358"/>
              <a:ext cx="1072515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2752725" y="3974782"/>
              <a:ext cx="703898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3843338" y="3974782"/>
              <a:ext cx="904875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5080635" y="3974782"/>
              <a:ext cx="904875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1671638" y="5174932"/>
              <a:ext cx="771525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3038475" y="5174932"/>
              <a:ext cx="703898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65440" y="1858328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CPU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078665" y="185832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存储器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2229094" y="2553652"/>
              <a:ext cx="418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PCI 桥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38212" y="33156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标准总线控制器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835594" y="3315652"/>
              <a:ext cx="9208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SCSI Ⅱ 控制器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2887790" y="404907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多媒体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3937063" y="404907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高速局域网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175314" y="404907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高性能图形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769364" y="52492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图文传真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3149160" y="5249228"/>
              <a:ext cx="4834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Modem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4074592" y="17235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系统总线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2671572" y="3161824"/>
              <a:ext cx="15794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PCI 总线：33 MHz、32 位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719072" y="4542949"/>
              <a:ext cx="1583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ISA/EISA 总线：约 8 MHz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576658" y="40424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4004908" y="52425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</p:grpSp>
      <p:grpSp>
        <p:nvGrpSpPr>
          <p:cNvPr id="90" name="c2-kv-1"/>
          <p:cNvGrpSpPr/>
          <p:nvPr/>
        </p:nvGrpSpPr>
        <p:grpSpPr>
          <a:xfrm>
            <a:off x="7323582" y="1545907"/>
            <a:ext cx="4395787" cy="2594801"/>
            <a:chOff x="7323582" y="1545907"/>
            <a:chExt cx="4395787" cy="2594801"/>
          </a:xfrm>
        </p:grpSpPr>
        <p:sp>
          <p:nvSpPr>
            <p:cNvPr id="76" name="TextBox 76"/>
            <p:cNvSpPr txBox="1"/>
            <p:nvPr/>
          </p:nvSpPr>
          <p:spPr>
            <a:xfrm>
              <a:off x="7323582" y="1545907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系统总线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821864" y="1545907"/>
              <a:ext cx="24448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连接 CPU 与存储器，速度最快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7330440" y="1832610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7323582" y="1938338"/>
              <a:ext cx="5382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PCI 桥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821864" y="1938338"/>
              <a:ext cx="258546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连接系统总线与 PCI 总线，隔开两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边的速度和信号差异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7330440" y="2478405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7323582" y="2585085"/>
              <a:ext cx="7199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PCI 总线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821864" y="2585085"/>
              <a:ext cx="2696908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33 MHz、32 位，挂多媒体、网卡、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图形卡、SCSI 控制器等较快的设备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7330440" y="3125152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7323582" y="323088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标准总线控制器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821864" y="3230880"/>
              <a:ext cx="28975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连接 PCI 总线与 ISA/EISA 总线的桥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7330440" y="3517582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7323582" y="3623310"/>
              <a:ext cx="8000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ISA/EISA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8821864" y="3623310"/>
              <a:ext cx="2662618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8 MHz，挂传真卡、Modem 等慢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速设备</a:t>
              </a:r>
            </a:p>
          </p:txBody>
        </p:sp>
      </p:grpSp>
      <p:grpSp>
        <p:nvGrpSpPr>
          <p:cNvPr id="96" name="c2-card-2"/>
          <p:cNvGrpSpPr/>
          <p:nvPr/>
        </p:nvGrpSpPr>
        <p:grpSpPr>
          <a:xfrm>
            <a:off x="7330440" y="4257675"/>
            <a:ext cx="4328160" cy="1443038"/>
            <a:chOff x="7330440" y="4257675"/>
            <a:chExt cx="4328160" cy="1443038"/>
          </a:xfrm>
        </p:grpSpPr>
        <p:sp>
          <p:nvSpPr>
            <p:cNvPr id="91" name="Rectangle 91"/>
            <p:cNvSpPr/>
            <p:nvPr/>
          </p:nvSpPr>
          <p:spPr>
            <a:xfrm>
              <a:off x="7330440" y="4257675"/>
              <a:ext cx="4328160" cy="1443038"/>
            </a:xfrm>
            <a:prstGeom prst="roundRect">
              <a:avLst>
                <a:gd name="adj" fmla="val 92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2" name="Rectangle 92"/>
            <p:cNvSpPr/>
            <p:nvPr/>
          </p:nvSpPr>
          <p:spPr>
            <a:xfrm>
              <a:off x="7339965" y="4391025"/>
              <a:ext cx="47625" cy="11763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7555230" y="444436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7647902" y="447722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7548372" y="4789170"/>
              <a:ext cx="364845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原图把 ISA、EISA 并列标为“8 MHz 的 16 位数据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通路”。ISA 是 16 位；EISA 在 ISA 基础上扩展到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 位，时钟仍约 8 MHz，并兼容 ISA 插卡。</a:t>
              </a:r>
            </a:p>
          </p:txBody>
        </p:sp>
      </p:grpSp>
      <p:grpSp>
        <p:nvGrpSpPr>
          <p:cNvPr id="103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97" name="Rectangle 97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01" name="Group 101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98" name="Freeform 98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9" name="Freeform 99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0" name="Freeform 100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02" name="TextBox 102"/>
            <p:cNvSpPr txBox="1"/>
            <p:nvPr/>
          </p:nvSpPr>
          <p:spPr>
            <a:xfrm>
              <a:off x="1040892" y="6028373"/>
              <a:ext cx="77838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离 CPU 越近的总线越快。桥把不同速度的总线隔开，慢设备不会拖慢 CPU 与存储器之间的传送。</a:t>
              </a:r>
            </a:p>
          </p:txBody>
        </p:sp>
      </p:grpSp>
      <p:grpSp>
        <p:nvGrpSpPr>
          <p:cNvPr id="10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4" name="TextBox 104"/>
            <p:cNvSpPr txBox="1"/>
            <p:nvPr/>
          </p:nvSpPr>
          <p:spPr>
            <a:xfrm>
              <a:off x="528447" y="6581299"/>
              <a:ext cx="27605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00 总线掠影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5742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542" y="407194"/>
              <a:ext cx="21211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00 总线 · 总线是什么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按连接范围，总线分为片内、系统、通信三类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6" name="c1-tree-1"/>
          <p:cNvGrpSpPr/>
          <p:nvPr/>
        </p:nvGrpSpPr>
        <p:grpSpPr>
          <a:xfrm>
            <a:off x="533400" y="1648778"/>
            <a:ext cx="4544377" cy="4491037"/>
            <a:chOff x="533400" y="1648778"/>
            <a:chExt cx="4544377" cy="4491037"/>
          </a:xfrm>
        </p:grpSpPr>
        <p:sp>
          <p:nvSpPr>
            <p:cNvPr id="7" name="Freeform 7"/>
            <p:cNvSpPr/>
            <p:nvPr/>
          </p:nvSpPr>
          <p:spPr>
            <a:xfrm>
              <a:off x="3423285" y="1926908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423285" y="2733675"/>
              <a:ext cx="419100" cy="806767"/>
            </a:xfrm>
            <a:custGeom>
              <a:avLst/>
              <a:gdLst/>
              <a:ahLst/>
              <a:cxnLst/>
              <a:rect l="l" t="t" r="r" b="b"/>
              <a:pathLst>
                <a:path w="419100" h="806767">
                  <a:moveTo>
                    <a:pt x="0" y="806767"/>
                  </a:moveTo>
                  <a:lnTo>
                    <a:pt x="209550" y="806767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423285" y="3540442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423285" y="3540442"/>
              <a:ext cx="419100" cy="805815"/>
            </a:xfrm>
            <a:custGeom>
              <a:avLst/>
              <a:gdLst/>
              <a:ahLst/>
              <a:cxnLst/>
              <a:rect l="l" t="t" r="r" b="b"/>
              <a:pathLst>
                <a:path w="419100" h="805815">
                  <a:moveTo>
                    <a:pt x="0" y="0"/>
                  </a:moveTo>
                  <a:lnTo>
                    <a:pt x="209550" y="0"/>
                  </a:lnTo>
                  <a:lnTo>
                    <a:pt x="209550" y="805815"/>
                  </a:lnTo>
                  <a:lnTo>
                    <a:pt x="419100" y="80581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423285" y="5153025"/>
              <a:ext cx="419100" cy="402907"/>
            </a:xfrm>
            <a:custGeom>
              <a:avLst/>
              <a:gdLst/>
              <a:ahLst/>
              <a:cxnLst/>
              <a:rect l="l" t="t" r="r" b="b"/>
              <a:pathLst>
                <a:path w="419100" h="402907">
                  <a:moveTo>
                    <a:pt x="0" y="402907"/>
                  </a:moveTo>
                  <a:lnTo>
                    <a:pt x="209550" y="402907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423285" y="5555932"/>
              <a:ext cx="419100" cy="403860"/>
            </a:xfrm>
            <a:custGeom>
              <a:avLst/>
              <a:gdLst/>
              <a:ahLst/>
              <a:cxnLst/>
              <a:rect l="l" t="t" r="r" b="b"/>
              <a:pathLst>
                <a:path w="419100" h="403860">
                  <a:moveTo>
                    <a:pt x="0" y="0"/>
                  </a:moveTo>
                  <a:lnTo>
                    <a:pt x="209550" y="0"/>
                  </a:lnTo>
                  <a:lnTo>
                    <a:pt x="209550" y="403860"/>
                  </a:lnTo>
                  <a:lnTo>
                    <a:pt x="419100" y="40386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768792" y="1926908"/>
              <a:ext cx="419100" cy="1814512"/>
            </a:xfrm>
            <a:custGeom>
              <a:avLst/>
              <a:gdLst/>
              <a:ahLst/>
              <a:cxnLst/>
              <a:rect l="l" t="t" r="r" b="b"/>
              <a:pathLst>
                <a:path w="419100" h="1814512">
                  <a:moveTo>
                    <a:pt x="0" y="1814512"/>
                  </a:moveTo>
                  <a:lnTo>
                    <a:pt x="209550" y="181451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768792" y="3540442"/>
              <a:ext cx="419100" cy="200978"/>
            </a:xfrm>
            <a:custGeom>
              <a:avLst/>
              <a:gdLst/>
              <a:ahLst/>
              <a:cxnLst/>
              <a:rect l="l" t="t" r="r" b="b"/>
              <a:pathLst>
                <a:path w="419100" h="200978">
                  <a:moveTo>
                    <a:pt x="0" y="200978"/>
                  </a:moveTo>
                  <a:lnTo>
                    <a:pt x="209550" y="20097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768792" y="3741420"/>
              <a:ext cx="419100" cy="1814512"/>
            </a:xfrm>
            <a:custGeom>
              <a:avLst/>
              <a:gdLst/>
              <a:ahLst/>
              <a:cxnLst/>
              <a:rect l="l" t="t" r="r" b="b"/>
              <a:pathLst>
                <a:path w="419100" h="1814512">
                  <a:moveTo>
                    <a:pt x="0" y="0"/>
                  </a:moveTo>
                  <a:lnTo>
                    <a:pt x="209550" y="0"/>
                  </a:lnTo>
                  <a:lnTo>
                    <a:pt x="209550" y="1814512"/>
                  </a:lnTo>
                  <a:lnTo>
                    <a:pt x="419100" y="181451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3842385" y="1648778"/>
              <a:ext cx="1235392" cy="558165"/>
            </a:xfrm>
            <a:prstGeom prst="roundRect">
              <a:avLst>
                <a:gd name="adj" fmla="val 1706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2187892" y="1747838"/>
              <a:ext cx="1235392" cy="360045"/>
            </a:xfrm>
            <a:prstGeom prst="roundRect">
              <a:avLst>
                <a:gd name="adj" fmla="val 26455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3842385" y="2553652"/>
              <a:ext cx="1235392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842385" y="3360420"/>
              <a:ext cx="1235392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842385" y="4167188"/>
              <a:ext cx="1235392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2187892" y="3360420"/>
              <a:ext cx="1235392" cy="360045"/>
            </a:xfrm>
            <a:prstGeom prst="roundRect">
              <a:avLst>
                <a:gd name="adj" fmla="val 26455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3842385" y="4973002"/>
              <a:ext cx="1235392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842385" y="5779770"/>
              <a:ext cx="1235392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187892" y="5376862"/>
              <a:ext cx="1235392" cy="360045"/>
            </a:xfrm>
            <a:prstGeom prst="roundRect">
              <a:avLst>
                <a:gd name="adj" fmla="val 26455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3562350"/>
              <a:ext cx="1235392" cy="360045"/>
            </a:xfrm>
            <a:prstGeom prst="roundRect">
              <a:avLst>
                <a:gd name="adj" fmla="val 26455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931539" y="1744028"/>
              <a:ext cx="926592" cy="43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6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芯片内部各部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分之间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277046" y="18430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片内总线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931539" y="264985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数据总线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931539" y="345662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地址总线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931539" y="426243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控制总线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277046" y="345662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系统总线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931539" y="506920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串行通信总线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931539" y="587597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并行通信总线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277046" y="547211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通信总线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2554" y="365760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总线</a:t>
              </a:r>
            </a:p>
          </p:txBody>
        </p:sp>
      </p:grpSp>
      <p:grpSp>
        <p:nvGrpSpPr>
          <p:cNvPr id="56" name="c2-table-1"/>
          <p:cNvGrpSpPr/>
          <p:nvPr/>
        </p:nvGrpSpPr>
        <p:grpSpPr>
          <a:xfrm>
            <a:off x="5382578" y="1524000"/>
            <a:ext cx="6276022" cy="2867025"/>
            <a:chOff x="5382578" y="1524000"/>
            <a:chExt cx="6276022" cy="2867025"/>
          </a:xfrm>
        </p:grpSpPr>
        <p:sp>
          <p:nvSpPr>
            <p:cNvPr id="37" name="Rectangle 37"/>
            <p:cNvSpPr/>
            <p:nvPr/>
          </p:nvSpPr>
          <p:spPr>
            <a:xfrm>
              <a:off x="5382578" y="1524000"/>
              <a:ext cx="6276022" cy="4629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811876" y="165592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类别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880045" y="165592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连接什么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581996" y="165592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举例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483924" y="224647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片内总线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39318" y="2119789"/>
              <a:ext cx="2764663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芯片内部的各部分，如 CPU 内部寄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存器与运算器之间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002584" y="2246471"/>
              <a:ext cx="11729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内部总线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82578" y="269938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382578" y="2704148"/>
              <a:ext cx="6276022" cy="7162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483924" y="296275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系统总线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739318" y="2836069"/>
              <a:ext cx="2656459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计算机各部件之间：CPU、主存、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I/O 接口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002584" y="2962751"/>
              <a:ext cx="7711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PCI、ISA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82578" y="341566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483924" y="380571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通信总线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739318" y="3679031"/>
              <a:ext cx="289991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计算机系统之间，或计算机与控制仪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表、移动通信等其他系统之间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002584" y="3552349"/>
              <a:ext cx="1303909" cy="7854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RS-232C（串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行）、IEEE-488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（并行）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382578" y="1524000"/>
              <a:ext cx="6276022" cy="28670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633210" y="1524000"/>
              <a:ext cx="9525" cy="28670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9896475" y="1524000"/>
              <a:ext cx="9525" cy="28670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5" name="c2-card-2"/>
          <p:cNvGrpSpPr/>
          <p:nvPr/>
        </p:nvGrpSpPr>
        <p:grpSpPr>
          <a:xfrm>
            <a:off x="5382578" y="4571048"/>
            <a:ext cx="6276022" cy="1568768"/>
            <a:chOff x="5382578" y="4571048"/>
            <a:chExt cx="6276022" cy="1568768"/>
          </a:xfrm>
        </p:grpSpPr>
        <p:sp>
          <p:nvSpPr>
            <p:cNvPr id="57" name="Rectangle 57"/>
            <p:cNvSpPr/>
            <p:nvPr/>
          </p:nvSpPr>
          <p:spPr>
            <a:xfrm>
              <a:off x="5382578" y="4571048"/>
              <a:ext cx="6276022" cy="1568768"/>
            </a:xfrm>
            <a:prstGeom prst="roundRect">
              <a:avLst>
                <a:gd name="adj" fmla="val 85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5392102" y="4704398"/>
              <a:ext cx="47625" cy="130206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5618798" y="4769168"/>
              <a:ext cx="14097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682234" y="480345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通信总线的传输方式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5626417" y="519017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783008" y="5129689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按传输方式分为串行通信总线和并行通信总线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5626417" y="550735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783008" y="5447824"/>
              <a:ext cx="54246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距离远、线路成本要低时用串行；距离近、要求一次传多位时可用并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7605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00 总线掠影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7933" cy="909257"/>
            <a:chOff x="520446" y="342900"/>
            <a:chExt cx="860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5742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542" y="407194"/>
              <a:ext cx="21211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00 总线 · 总线是什么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系统总线三类信号：数据双向、地址单向、控制有出有入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6059805" cy="2550795"/>
            <a:chOff x="533400" y="1524000"/>
            <a:chExt cx="6059805" cy="25507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0770" y="165258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信号线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83130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方向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294698" y="1652588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位数与什么有关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455920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5889" y="218313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数据总线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26502" y="218313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双向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180969" y="2076450"/>
              <a:ext cx="1231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机器字长、存储字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756404" y="2076450"/>
              <a:ext cx="151333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CPU、主存、I/O 之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间传送数据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58127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586038"/>
              <a:ext cx="6059805" cy="85153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5889" y="29279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地址总线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26502" y="2714625"/>
              <a:ext cx="1078992" cy="661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单向</a:t>
              </a: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，由主设备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（通常是 CPU）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180969" y="2821305"/>
              <a:ext cx="12161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存储地址、I/O 地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址的范围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56404" y="2821305"/>
              <a:ext cx="15361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指出要访问的主存单元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或 I/O 端口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43281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5889" y="367284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控制总线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26502" y="3566160"/>
              <a:ext cx="10789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每根单向，整体</a:t>
              </a:r>
              <a:br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有出有入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180969" y="3566160"/>
              <a:ext cx="1231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需要的控制信号种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756404" y="3566160"/>
              <a:ext cx="15361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发出命令，传回请求和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1524000"/>
              <a:ext cx="6059805" cy="25507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619250" y="1524000"/>
              <a:ext cx="9525" cy="25507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3073718" y="1524000"/>
              <a:ext cx="9525" cy="25507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649152" y="1524000"/>
              <a:ext cx="9525" cy="25507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4" name="c1-card-2"/>
          <p:cNvGrpSpPr/>
          <p:nvPr/>
        </p:nvGrpSpPr>
        <p:grpSpPr>
          <a:xfrm>
            <a:off x="533400" y="4255770"/>
            <a:ext cx="6059805" cy="1911668"/>
            <a:chOff x="533400" y="4255770"/>
            <a:chExt cx="6059805" cy="1911668"/>
          </a:xfrm>
        </p:grpSpPr>
        <p:sp>
          <p:nvSpPr>
            <p:cNvPr id="32" name="Rectangle 32"/>
            <p:cNvSpPr/>
            <p:nvPr/>
          </p:nvSpPr>
          <p:spPr>
            <a:xfrm>
              <a:off x="533400" y="4255770"/>
              <a:ext cx="6059805" cy="1911668"/>
            </a:xfrm>
            <a:prstGeom prst="roundRect">
              <a:avLst>
                <a:gd name="adj" fmla="val 69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42925" y="4389120"/>
              <a:ext cx="47625" cy="164496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69620" y="4453890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65060" y="448818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219581" y="4488656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地址线根数决定寻址空间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77240" y="489204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33831" y="4832509"/>
              <a:ext cx="28532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地址总线 n 根，可寻址 2ⁿ 个单元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77240" y="521017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33831" y="5149691"/>
              <a:ext cx="451414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 根：2²⁰ = 1 048 576 个单元，按字节编址即 1 MB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77240" y="552735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33831" y="5467826"/>
              <a:ext cx="340324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 根：2³² 个单元，按字节编址即 4 GB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3524" y="5781675"/>
              <a:ext cx="55693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数据总线有 32 根，只说明一次能并行传送 32 位，与能访问多少个单元无关。</a:t>
              </a:r>
            </a:p>
          </p:txBody>
        </p:sp>
      </p:grpSp>
      <p:grpSp>
        <p:nvGrpSpPr>
          <p:cNvPr id="73" name="c2-graph-1"/>
          <p:cNvGrpSpPr/>
          <p:nvPr/>
        </p:nvGrpSpPr>
        <p:grpSpPr>
          <a:xfrm>
            <a:off x="7194232" y="1696402"/>
            <a:ext cx="4170045" cy="2015967"/>
            <a:chOff x="7194232" y="1696402"/>
            <a:chExt cx="4170045" cy="2015967"/>
          </a:xfrm>
        </p:grpSpPr>
        <p:sp>
          <p:nvSpPr>
            <p:cNvPr id="45" name="Freeform 45"/>
            <p:cNvSpPr/>
            <p:nvPr/>
          </p:nvSpPr>
          <p:spPr>
            <a:xfrm>
              <a:off x="9682162" y="2097405"/>
              <a:ext cx="830580" cy="415290"/>
            </a:xfrm>
            <a:custGeom>
              <a:avLst/>
              <a:gdLst/>
              <a:ahLst/>
              <a:cxnLst/>
              <a:rect l="l" t="t" r="r" b="b"/>
              <a:pathLst>
                <a:path w="830580" h="415290">
                  <a:moveTo>
                    <a:pt x="0" y="415290"/>
                  </a:moveTo>
                  <a:lnTo>
                    <a:pt x="830580" y="0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10491788" y="2055495"/>
              <a:ext cx="106680" cy="84772"/>
            </a:xfrm>
            <a:custGeom>
              <a:avLst/>
              <a:gdLst/>
              <a:ahLst/>
              <a:cxnLst/>
              <a:rect l="l" t="t" r="r" b="b"/>
              <a:pathLst>
                <a:path w="106680" h="84772">
                  <a:moveTo>
                    <a:pt x="106680" y="0"/>
                  </a:moveTo>
                  <a:lnTo>
                    <a:pt x="42862" y="847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9682162" y="2546032"/>
              <a:ext cx="656273" cy="104775"/>
            </a:xfrm>
            <a:custGeom>
              <a:avLst/>
              <a:gdLst/>
              <a:ahLst/>
              <a:cxnLst/>
              <a:rect l="l" t="t" r="r" b="b"/>
              <a:pathLst>
                <a:path w="656273" h="104775">
                  <a:moveTo>
                    <a:pt x="0" y="104775"/>
                  </a:moveTo>
                  <a:lnTo>
                    <a:pt x="656273" y="0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10330815" y="2499360"/>
              <a:ext cx="101918" cy="94298"/>
            </a:xfrm>
            <a:custGeom>
              <a:avLst/>
              <a:gdLst/>
              <a:ahLst/>
              <a:cxnLst/>
              <a:rect l="l" t="t" r="r" b="b"/>
              <a:pathLst>
                <a:path w="101918" h="94298">
                  <a:moveTo>
                    <a:pt x="101918" y="32385"/>
                  </a:moveTo>
                  <a:lnTo>
                    <a:pt x="15240" y="942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9682162" y="2787968"/>
              <a:ext cx="657225" cy="120015"/>
            </a:xfrm>
            <a:custGeom>
              <a:avLst/>
              <a:gdLst/>
              <a:ahLst/>
              <a:cxnLst/>
              <a:rect l="l" t="t" r="r" b="b"/>
              <a:pathLst>
                <a:path w="657225" h="120015">
                  <a:moveTo>
                    <a:pt x="0" y="0"/>
                  </a:moveTo>
                  <a:lnTo>
                    <a:pt x="657225" y="120015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10330815" y="2861310"/>
              <a:ext cx="101918" cy="93345"/>
            </a:xfrm>
            <a:custGeom>
              <a:avLst/>
              <a:gdLst/>
              <a:ahLst/>
              <a:cxnLst/>
              <a:rect l="l" t="t" r="r" b="b"/>
              <a:pathLst>
                <a:path w="101918" h="93345">
                  <a:moveTo>
                    <a:pt x="101918" y="63818"/>
                  </a:moveTo>
                  <a:lnTo>
                    <a:pt x="0" y="93345"/>
                  </a:lnTo>
                  <a:lnTo>
                    <a:pt x="17145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9682162" y="2925128"/>
              <a:ext cx="844868" cy="442912"/>
            </a:xfrm>
            <a:custGeom>
              <a:avLst/>
              <a:gdLst/>
              <a:ahLst/>
              <a:cxnLst/>
              <a:rect l="l" t="t" r="r" b="b"/>
              <a:pathLst>
                <a:path w="844868" h="442912">
                  <a:moveTo>
                    <a:pt x="0" y="0"/>
                  </a:moveTo>
                  <a:lnTo>
                    <a:pt x="844868" y="442912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10505122" y="3326130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106680" y="85725"/>
                  </a:moveTo>
                  <a:lnTo>
                    <a:pt x="0" y="83820"/>
                  </a:lnTo>
                  <a:lnTo>
                    <a:pt x="44767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8125778" y="2626042"/>
              <a:ext cx="655320" cy="50483"/>
            </a:xfrm>
            <a:custGeom>
              <a:avLst/>
              <a:gdLst/>
              <a:ahLst/>
              <a:cxnLst/>
              <a:rect l="l" t="t" r="r" b="b"/>
              <a:pathLst>
                <a:path w="655320" h="50483">
                  <a:moveTo>
                    <a:pt x="0" y="0"/>
                  </a:moveTo>
                  <a:lnTo>
                    <a:pt x="655320" y="50483"/>
                  </a:lnTo>
                </a:path>
              </a:pathLst>
            </a:custGeom>
            <a:noFill/>
            <a:ln w="19050">
              <a:solidFill>
                <a:srgbClr val="14A38B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8777288" y="2628900"/>
              <a:ext cx="99060" cy="95250"/>
            </a:xfrm>
            <a:custGeom>
              <a:avLst/>
              <a:gdLst/>
              <a:ahLst/>
              <a:cxnLst/>
              <a:rect l="l" t="t" r="r" b="b"/>
              <a:pathLst>
                <a:path w="99060" h="95250">
                  <a:moveTo>
                    <a:pt x="99060" y="55245"/>
                  </a:moveTo>
                  <a:lnTo>
                    <a:pt x="0" y="95250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14A38B"/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8125778" y="2846070"/>
              <a:ext cx="658178" cy="174308"/>
            </a:xfrm>
            <a:custGeom>
              <a:avLst/>
              <a:gdLst/>
              <a:ahLst/>
              <a:cxnLst/>
              <a:rect l="l" t="t" r="r" b="b"/>
              <a:pathLst>
                <a:path w="658178" h="174308">
                  <a:moveTo>
                    <a:pt x="0" y="174308"/>
                  </a:moveTo>
                  <a:lnTo>
                    <a:pt x="658178" y="0"/>
                  </a:lnTo>
                </a:path>
              </a:pathLst>
            </a:custGeom>
            <a:noFill/>
            <a:ln w="19050">
              <a:solidFill>
                <a:srgbClr val="14A38B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8771572" y="2799398"/>
              <a:ext cx="104775" cy="92393"/>
            </a:xfrm>
            <a:custGeom>
              <a:avLst/>
              <a:gdLst/>
              <a:ahLst/>
              <a:cxnLst/>
              <a:rect l="l" t="t" r="r" b="b"/>
              <a:pathLst>
                <a:path w="104775" h="92393">
                  <a:moveTo>
                    <a:pt x="104775" y="21908"/>
                  </a:moveTo>
                  <a:lnTo>
                    <a:pt x="24765" y="92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A38B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8876348" y="2427922"/>
              <a:ext cx="805815" cy="573405"/>
            </a:xfrm>
            <a:prstGeom prst="roundRect">
              <a:avLst>
                <a:gd name="adj" fmla="val 16611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10432732" y="1754505"/>
              <a:ext cx="931545" cy="300038"/>
            </a:xfrm>
            <a:prstGeom prst="roundRect">
              <a:avLst>
                <a:gd name="adj" fmla="val 3174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10432732" y="2306955"/>
              <a:ext cx="931545" cy="300038"/>
            </a:xfrm>
            <a:prstGeom prst="roundRect">
              <a:avLst>
                <a:gd name="adj" fmla="val 3174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10432732" y="2859405"/>
              <a:ext cx="931545" cy="300038"/>
            </a:xfrm>
            <a:prstGeom prst="roundRect">
              <a:avLst>
                <a:gd name="adj" fmla="val 3174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10432732" y="3411855"/>
              <a:ext cx="931545" cy="300038"/>
            </a:xfrm>
            <a:prstGeom prst="roundRect">
              <a:avLst>
                <a:gd name="adj" fmla="val 3174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7194232" y="2440305"/>
              <a:ext cx="931545" cy="300038"/>
            </a:xfrm>
            <a:prstGeom prst="roundRect">
              <a:avLst>
                <a:gd name="adj" fmla="val 31746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7194232" y="2992755"/>
              <a:ext cx="931545" cy="300038"/>
            </a:xfrm>
            <a:prstGeom prst="roundRect">
              <a:avLst>
                <a:gd name="adj" fmla="val 31746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135539" y="2644616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CPU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591241" y="183499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存储器读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591241" y="238744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存储器写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591241" y="293989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总线允许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591241" y="349234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中断确认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352741" y="252079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中断请求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352741" y="307324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总线请求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838320" y="1696402"/>
              <a:ext cx="8818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出：CPU 发出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219070" y="2096452"/>
              <a:ext cx="8818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入：送入 CPU</a:t>
              </a:r>
            </a:p>
          </p:txBody>
        </p:sp>
      </p:grpSp>
      <p:grpSp>
        <p:nvGrpSpPr>
          <p:cNvPr id="80" name="c2-callout-2"/>
          <p:cNvGrpSpPr/>
          <p:nvPr/>
        </p:nvGrpSpPr>
        <p:grpSpPr>
          <a:xfrm>
            <a:off x="6898005" y="4085272"/>
            <a:ext cx="4760595" cy="1281112"/>
            <a:chOff x="6898005" y="4085272"/>
            <a:chExt cx="4760595" cy="1281112"/>
          </a:xfrm>
        </p:grpSpPr>
        <p:sp>
          <p:nvSpPr>
            <p:cNvPr id="74" name="Rectangle 74"/>
            <p:cNvSpPr/>
            <p:nvPr/>
          </p:nvSpPr>
          <p:spPr>
            <a:xfrm>
              <a:off x="6898005" y="4085272"/>
              <a:ext cx="4760595" cy="1281112"/>
            </a:xfrm>
            <a:prstGeom prst="roundRect">
              <a:avLst>
                <a:gd name="adj" fmla="val 892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7102793" y="4626293"/>
              <a:ext cx="200026" cy="200026"/>
              <a:chOff x="7102793" y="4626293"/>
              <a:chExt cx="200026" cy="200026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7102793" y="462629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7202805" y="46929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7191693" y="472630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7405116" y="4232434"/>
              <a:ext cx="3846703" cy="10673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出、入以 CPU 为参照。原课件图中两条引线交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叉，容易看反：存储器读写、总线允许、中断确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认由 CPU 发出；中断请求、总线请求由外部送入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CPU。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27605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00 总线掠影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20" name="section-title"/>
          <p:cNvGrpSpPr/>
          <p:nvPr/>
        </p:nvGrpSpPr>
        <p:grpSpPr>
          <a:xfrm>
            <a:off x="667512" y="1835468"/>
            <a:ext cx="4024884" cy="3706177"/>
            <a:chOff x="667512" y="1835468"/>
            <a:chExt cx="4024884" cy="370617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总线判优控制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几个设备同时要用总线时，由谁决定先后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主设备与从设备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链式查询方式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计数器定时查询方式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独立请求方式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23900" y="530542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524827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三种方式对比与分布式判优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1" name="TextBox 21"/>
            <p:cNvSpPr txBox="1"/>
            <p:nvPr/>
          </p:nvSpPr>
          <p:spPr>
            <a:xfrm>
              <a:off x="528447" y="6581299"/>
              <a:ext cx="27605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00 总线掠影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9934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640" y="407194"/>
              <a:ext cx="2271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00 总线 · 总线判优控制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判优（仲裁）：决定多个主设备使用总线的先后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kv-1"/>
          <p:cNvGrpSpPr/>
          <p:nvPr/>
        </p:nvGrpSpPr>
        <p:grpSpPr>
          <a:xfrm>
            <a:off x="526161" y="1547336"/>
            <a:ext cx="5417439" cy="1230249"/>
            <a:chOff x="526161" y="1547336"/>
            <a:chExt cx="5417439" cy="1230249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主设备（主模块）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276856" y="1547336"/>
              <a:ext cx="344093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对总线有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控制权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，能主动申请总线、发起一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次传输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11836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6161" y="2231231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从设备（从模块）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76856" y="2231231"/>
              <a:ext cx="344093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不能主动占用总线，只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响应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主设备发来的总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线命令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2902268"/>
            <a:ext cx="5410200" cy="3104198"/>
            <a:chOff x="533400" y="2902268"/>
            <a:chExt cx="5410200" cy="3104198"/>
          </a:xfrm>
        </p:grpSpPr>
        <p:sp>
          <p:nvSpPr>
            <p:cNvPr id="13" name="Rectangle 13"/>
            <p:cNvSpPr/>
            <p:nvPr/>
          </p:nvSpPr>
          <p:spPr>
            <a:xfrm>
              <a:off x="533400" y="2902268"/>
              <a:ext cx="5410200" cy="3104198"/>
            </a:xfrm>
            <a:prstGeom prst="roundRect">
              <a:avLst>
                <a:gd name="adj" fmla="val 42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035618"/>
              <a:ext cx="47625" cy="283749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69620" y="3100388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3059" y="31346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判优控制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381" y="3460909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同一时刻只能有一个主设备控制总线。几个主设备同时申请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时，由判优逻辑按优先规则选出一个，其余的等待。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77240" y="411003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3831" y="4050506"/>
              <a:ext cx="47934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只有主设备才会提出总线请求，判优只在主设备之间进行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77240" y="442817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3831" y="4367689"/>
              <a:ext cx="42430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例：CPU 读主存时，CPU 是主设备，主存是从设备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77240" y="474630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33831" y="4685824"/>
              <a:ext cx="460413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例：磁盘控制器用 DMA 方式把数据直接写入主存时，磁盘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控制器是主设备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3524" y="5271135"/>
              <a:ext cx="4050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主存只能被读写，不会主动发起传输，所以总是从设备。</a:t>
              </a:r>
            </a:p>
          </p:txBody>
        </p:sp>
      </p:grpSp>
      <p:grpSp>
        <p:nvGrpSpPr>
          <p:cNvPr id="43" name="c2-tree-1"/>
          <p:cNvGrpSpPr/>
          <p:nvPr/>
        </p:nvGrpSpPr>
        <p:grpSpPr>
          <a:xfrm>
            <a:off x="6248400" y="1618298"/>
            <a:ext cx="5410200" cy="2003107"/>
            <a:chOff x="6248400" y="1618298"/>
            <a:chExt cx="5410200" cy="2003107"/>
          </a:xfrm>
        </p:grpSpPr>
        <p:sp>
          <p:nvSpPr>
            <p:cNvPr id="26" name="Freeform 26"/>
            <p:cNvSpPr/>
            <p:nvPr/>
          </p:nvSpPr>
          <p:spPr>
            <a:xfrm>
              <a:off x="9715500" y="1798320"/>
              <a:ext cx="419100" cy="546735"/>
            </a:xfrm>
            <a:custGeom>
              <a:avLst/>
              <a:gdLst/>
              <a:ahLst/>
              <a:cxnLst/>
              <a:rect l="l" t="t" r="r" b="b"/>
              <a:pathLst>
                <a:path w="419100" h="546735">
                  <a:moveTo>
                    <a:pt x="0" y="546735"/>
                  </a:moveTo>
                  <a:lnTo>
                    <a:pt x="209550" y="54673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9715500" y="234505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9715500" y="2345055"/>
              <a:ext cx="419100" cy="548640"/>
            </a:xfrm>
            <a:custGeom>
              <a:avLst/>
              <a:gdLst/>
              <a:ahLst/>
              <a:cxnLst/>
              <a:rect l="l" t="t" r="r" b="b"/>
              <a:pathLst>
                <a:path w="419100" h="548640">
                  <a:moveTo>
                    <a:pt x="0" y="0"/>
                  </a:moveTo>
                  <a:lnTo>
                    <a:pt x="209550" y="0"/>
                  </a:lnTo>
                  <a:lnTo>
                    <a:pt x="209550" y="548640"/>
                  </a:lnTo>
                  <a:lnTo>
                    <a:pt x="419100" y="54864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7772400" y="2345055"/>
              <a:ext cx="419100" cy="548640"/>
            </a:xfrm>
            <a:custGeom>
              <a:avLst/>
              <a:gdLst/>
              <a:ahLst/>
              <a:cxnLst/>
              <a:rect l="l" t="t" r="r" b="b"/>
              <a:pathLst>
                <a:path w="419100" h="548640">
                  <a:moveTo>
                    <a:pt x="0" y="548640"/>
                  </a:moveTo>
                  <a:lnTo>
                    <a:pt x="209550" y="54864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7772400" y="2893695"/>
              <a:ext cx="419100" cy="546735"/>
            </a:xfrm>
            <a:custGeom>
              <a:avLst/>
              <a:gdLst/>
              <a:ahLst/>
              <a:cxnLst/>
              <a:rect l="l" t="t" r="r" b="b"/>
              <a:pathLst>
                <a:path w="419100" h="546735">
                  <a:moveTo>
                    <a:pt x="0" y="0"/>
                  </a:moveTo>
                  <a:lnTo>
                    <a:pt x="209550" y="0"/>
                  </a:lnTo>
                  <a:lnTo>
                    <a:pt x="209550" y="546735"/>
                  </a:lnTo>
                  <a:lnTo>
                    <a:pt x="419100" y="54673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10134600" y="1618298"/>
              <a:ext cx="1524000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10134600" y="2165985"/>
              <a:ext cx="1524000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0134600" y="2713672"/>
              <a:ext cx="1524000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8191500" y="2165985"/>
              <a:ext cx="1524000" cy="360045"/>
            </a:xfrm>
            <a:prstGeom prst="roundRect">
              <a:avLst>
                <a:gd name="adj" fmla="val 26455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8191500" y="3261360"/>
              <a:ext cx="1524000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48400" y="2713672"/>
              <a:ext cx="1524000" cy="360045"/>
            </a:xfrm>
            <a:prstGeom prst="roundRect">
              <a:avLst>
                <a:gd name="adj" fmla="val 26455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223754" y="171450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链式查询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223754" y="2262188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计数器定时查询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223754" y="280987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独立请求方式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280654" y="226218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集中式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280654" y="335756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337554" y="280987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总线判优控制</a:t>
              </a:r>
            </a:p>
          </p:txBody>
        </p:sp>
      </p:grpSp>
      <p:grpSp>
        <p:nvGrpSpPr>
          <p:cNvPr id="52" name="c2-card-2"/>
          <p:cNvGrpSpPr/>
          <p:nvPr/>
        </p:nvGrpSpPr>
        <p:grpSpPr>
          <a:xfrm>
            <a:off x="6248400" y="3894772"/>
            <a:ext cx="5410200" cy="2111692"/>
            <a:chOff x="6248400" y="3894772"/>
            <a:chExt cx="5410200" cy="2111692"/>
          </a:xfrm>
        </p:grpSpPr>
        <p:sp>
          <p:nvSpPr>
            <p:cNvPr id="44" name="Rectangle 44"/>
            <p:cNvSpPr/>
            <p:nvPr/>
          </p:nvSpPr>
          <p:spPr>
            <a:xfrm>
              <a:off x="6248400" y="3894772"/>
              <a:ext cx="5410200" cy="2111692"/>
            </a:xfrm>
            <a:prstGeom prst="roundRect">
              <a:avLst>
                <a:gd name="adj" fmla="val 63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257925" y="4028122"/>
              <a:ext cx="47625" cy="184499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484620" y="4092892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56058" y="412718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两类判优的区别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492240" y="451389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648831" y="4453414"/>
              <a:ext cx="456806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集中式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：判优逻辑集中在总线控制部件中（可在 CPU 内，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也可单独设置）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492240" y="510254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648831" y="5043011"/>
              <a:ext cx="452297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：不设集中的控制部件。各主设备有自己的仲裁号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和仲裁器，把仲裁号送上共享的仲裁线并互相比较，号小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的撤销，最后留下的获得总线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7605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00 总线掠影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52407" cy="909257"/>
            <a:chOff x="520446" y="342900"/>
            <a:chExt cx="685240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9934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640" y="407194"/>
              <a:ext cx="2271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00 总线 · 总线判优控制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5240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链式查询：总线同意信号 BG 沿接口逐个传递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6" name="c1-graph-1"/>
          <p:cNvGrpSpPr/>
          <p:nvPr/>
        </p:nvGrpSpPr>
        <p:grpSpPr>
          <a:xfrm>
            <a:off x="581025" y="1666399"/>
            <a:ext cx="5962650" cy="3733990"/>
            <a:chOff x="581025" y="1666399"/>
            <a:chExt cx="5962650" cy="3733990"/>
          </a:xfrm>
        </p:grpSpPr>
        <p:sp>
          <p:nvSpPr>
            <p:cNvPr id="7" name="Freeform 7"/>
            <p:cNvSpPr/>
            <p:nvPr/>
          </p:nvSpPr>
          <p:spPr>
            <a:xfrm>
              <a:off x="1724025" y="2266950"/>
              <a:ext cx="4772978" cy="9525"/>
            </a:xfrm>
            <a:custGeom>
              <a:avLst/>
              <a:gdLst/>
              <a:ahLst/>
              <a:cxnLst/>
              <a:rect l="l" t="t" r="r" b="b"/>
              <a:pathLst>
                <a:path w="4772978" h="9525">
                  <a:moveTo>
                    <a:pt x="4772978" y="0"/>
                  </a:moveTo>
                  <a:lnTo>
                    <a:pt x="0" y="0"/>
                  </a:lnTo>
                </a:path>
              </a:pathLst>
            </a:custGeom>
            <a:noFill/>
            <a:ln w="22860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628775" y="22193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724025" y="2838450"/>
              <a:ext cx="4772978" cy="9525"/>
            </a:xfrm>
            <a:custGeom>
              <a:avLst/>
              <a:gdLst/>
              <a:ahLst/>
              <a:cxnLst/>
              <a:rect l="l" t="t" r="r" b="b"/>
              <a:pathLst>
                <a:path w="4772978" h="9525">
                  <a:moveTo>
                    <a:pt x="4772978" y="0"/>
                  </a:moveTo>
                  <a:lnTo>
                    <a:pt x="0" y="0"/>
                  </a:lnTo>
                </a:path>
              </a:pathLst>
            </a:custGeom>
            <a:noFill/>
            <a:ln w="2286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628775" y="27908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628900" y="2981325"/>
              <a:ext cx="9525" cy="1381125"/>
            </a:xfrm>
            <a:custGeom>
              <a:avLst/>
              <a:gdLst/>
              <a:ahLst/>
              <a:cxnLst/>
              <a:rect l="l" t="t" r="r" b="b"/>
              <a:pathLst>
                <a:path w="9525" h="1381125">
                  <a:moveTo>
                    <a:pt x="0" y="138112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581275" y="28860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857500" y="2409825"/>
              <a:ext cx="9525" cy="1952625"/>
            </a:xfrm>
            <a:custGeom>
              <a:avLst/>
              <a:gdLst/>
              <a:ahLst/>
              <a:cxnLst/>
              <a:rect l="l" t="t" r="r" b="b"/>
              <a:pathLst>
                <a:path w="9525" h="1952625">
                  <a:moveTo>
                    <a:pt x="0" y="195262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809875" y="23145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152900" y="2981325"/>
              <a:ext cx="9525" cy="1381125"/>
            </a:xfrm>
            <a:custGeom>
              <a:avLst/>
              <a:gdLst/>
              <a:ahLst/>
              <a:cxnLst/>
              <a:rect l="l" t="t" r="r" b="b"/>
              <a:pathLst>
                <a:path w="9525" h="1381125">
                  <a:moveTo>
                    <a:pt x="0" y="138112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105275" y="28860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4381500" y="2409825"/>
              <a:ext cx="9525" cy="1952625"/>
            </a:xfrm>
            <a:custGeom>
              <a:avLst/>
              <a:gdLst/>
              <a:ahLst/>
              <a:cxnLst/>
              <a:rect l="l" t="t" r="r" b="b"/>
              <a:pathLst>
                <a:path w="9525" h="1952625">
                  <a:moveTo>
                    <a:pt x="0" y="195262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333875" y="23145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5724525" y="2981325"/>
              <a:ext cx="9525" cy="1381125"/>
            </a:xfrm>
            <a:custGeom>
              <a:avLst/>
              <a:gdLst/>
              <a:ahLst/>
              <a:cxnLst/>
              <a:rect l="l" t="t" r="r" b="b"/>
              <a:pathLst>
                <a:path w="9525" h="1381125">
                  <a:moveTo>
                    <a:pt x="0" y="138112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676900" y="28860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5953125" y="2409825"/>
              <a:ext cx="9525" cy="1952625"/>
            </a:xfrm>
            <a:custGeom>
              <a:avLst/>
              <a:gdLst/>
              <a:ahLst/>
              <a:cxnLst/>
              <a:rect l="l" t="t" r="r" b="b"/>
              <a:pathLst>
                <a:path w="9525" h="1952625">
                  <a:moveTo>
                    <a:pt x="0" y="195262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5905500" y="23145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1628775" y="4724400"/>
              <a:ext cx="1495425" cy="342900"/>
            </a:xfrm>
            <a:custGeom>
              <a:avLst/>
              <a:gdLst/>
              <a:ahLst/>
              <a:cxnLst/>
              <a:rect l="l" t="t" r="r" b="b"/>
              <a:pathLst>
                <a:path w="1495425" h="342900">
                  <a:moveTo>
                    <a:pt x="0" y="342900"/>
                  </a:moveTo>
                  <a:lnTo>
                    <a:pt x="1495425" y="342900"/>
                  </a:lnTo>
                  <a:lnTo>
                    <a:pt x="1495425" y="0"/>
                  </a:lnTo>
                </a:path>
              </a:pathLst>
            </a:custGeom>
            <a:noFill/>
            <a:ln w="26670">
              <a:solidFill>
                <a:srgbClr val="F26B3A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3076575" y="46291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3333750" y="4629150"/>
              <a:ext cx="1314450" cy="438150"/>
            </a:xfrm>
            <a:custGeom>
              <a:avLst/>
              <a:gdLst/>
              <a:ahLst/>
              <a:cxnLst/>
              <a:rect l="l" t="t" r="r" b="b"/>
              <a:pathLst>
                <a:path w="1314450" h="438150">
                  <a:moveTo>
                    <a:pt x="0" y="0"/>
                  </a:moveTo>
                  <a:lnTo>
                    <a:pt x="0" y="438150"/>
                  </a:lnTo>
                  <a:lnTo>
                    <a:pt x="1314450" y="438150"/>
                  </a:lnTo>
                  <a:lnTo>
                    <a:pt x="1314450" y="95250"/>
                  </a:lnTo>
                </a:path>
              </a:pathLst>
            </a:custGeom>
            <a:noFill/>
            <a:ln w="26670">
              <a:solidFill>
                <a:srgbClr val="F26B3A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4600575" y="46291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4857750" y="4629150"/>
              <a:ext cx="1362075" cy="438150"/>
            </a:xfrm>
            <a:custGeom>
              <a:avLst/>
              <a:gdLst/>
              <a:ahLst/>
              <a:cxnLst/>
              <a:rect l="l" t="t" r="r" b="b"/>
              <a:pathLst>
                <a:path w="1362075" h="438150">
                  <a:moveTo>
                    <a:pt x="0" y="0"/>
                  </a:moveTo>
                  <a:lnTo>
                    <a:pt x="0" y="438150"/>
                  </a:lnTo>
                  <a:lnTo>
                    <a:pt x="1362075" y="438150"/>
                  </a:lnTo>
                  <a:lnTo>
                    <a:pt x="1362075" y="95250"/>
                  </a:lnTo>
                </a:path>
              </a:pathLst>
            </a:custGeom>
            <a:noFill/>
            <a:ln w="19050">
              <a:solidFill>
                <a:srgbClr val="5B6475"/>
              </a:solidFill>
              <a:custDash>
                <a:ds d="300000" sp="200000"/>
              </a:custDash>
            </a:ln>
          </p:spPr>
        </p:sp>
        <p:sp>
          <p:nvSpPr>
            <p:cNvPr id="28" name="Freeform 28"/>
            <p:cNvSpPr/>
            <p:nvPr/>
          </p:nvSpPr>
          <p:spPr>
            <a:xfrm>
              <a:off x="6172200" y="46291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600200" y="225742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6506528" y="225742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1600200" y="282892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6506528" y="282892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1600200" y="505777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2619375" y="437197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2847975" y="437197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3114675" y="460057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3324225" y="460057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2590800" y="2800350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2819400" y="2228850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4143375" y="437197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4371975" y="437197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4638675" y="460057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4848225" y="460057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4114800" y="2800350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4343400" y="2228850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5715000" y="437197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5943600" y="437197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6210300" y="460057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6419850" y="460057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5686425" y="2800350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5915025" y="2228850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581025" y="1714500"/>
              <a:ext cx="1047750" cy="3524250"/>
            </a:xfrm>
            <a:prstGeom prst="roundRect">
              <a:avLst>
                <a:gd name="adj" fmla="val 9091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2381250" y="4133850"/>
              <a:ext cx="1066800" cy="495300"/>
            </a:xfrm>
            <a:prstGeom prst="roundRect">
              <a:avLst>
                <a:gd name="adj" fmla="val 19231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3905250" y="4133850"/>
              <a:ext cx="1066800" cy="495300"/>
            </a:xfrm>
            <a:prstGeom prst="roundRect">
              <a:avLst>
                <a:gd name="adj" fmla="val 19231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5476875" y="4133850"/>
              <a:ext cx="1066800" cy="495300"/>
            </a:xfrm>
            <a:prstGeom prst="roundRect">
              <a:avLst>
                <a:gd name="adj" fmla="val 19231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14172" y="340233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总线控制部件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2504660" y="4307205"/>
              <a:ext cx="8199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I/O 接口 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028660" y="4307205"/>
              <a:ext cx="8199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I/O 接口 1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600285" y="4307205"/>
              <a:ext cx="8199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I/O 接口 n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737360" y="2069306"/>
              <a:ext cx="6979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BS 总线忙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737360" y="2640806"/>
              <a:ext cx="8487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BR 总线请求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737360" y="4869656"/>
              <a:ext cx="8487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BG 总线同意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169890" y="429291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600749" y="5209699"/>
              <a:ext cx="16760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接口 1 截住 BG，不再往后传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3927881" y="16663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（数据线、地址线未画出）</a:t>
              </a:r>
            </a:p>
          </p:txBody>
        </p:sp>
      </p:grpSp>
      <p:grpSp>
        <p:nvGrpSpPr>
          <p:cNvPr id="84" name="c2-steps-1"/>
          <p:cNvGrpSpPr/>
          <p:nvPr/>
        </p:nvGrpSpPr>
        <p:grpSpPr>
          <a:xfrm>
            <a:off x="6898005" y="1533525"/>
            <a:ext cx="4780885" cy="2764440"/>
            <a:chOff x="6898005" y="1533525"/>
            <a:chExt cx="4780885" cy="2764440"/>
          </a:xfrm>
        </p:grpSpPr>
        <p:sp>
          <p:nvSpPr>
            <p:cNvPr id="67" name="Rectangle 67"/>
            <p:cNvSpPr/>
            <p:nvPr/>
          </p:nvSpPr>
          <p:spPr>
            <a:xfrm>
              <a:off x="7031355" y="1676400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6898005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99162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6898005" y="218408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991629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6898005" y="283464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991629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6898005" y="372046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991629" y="37942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309485" y="156781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发请求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310628" y="1861661"/>
              <a:ext cx="34241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有需要的接口通过公共的 BR 线发出总线请求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309485" y="2218372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发同意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310628" y="2512219"/>
              <a:ext cx="36790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总线控制部件在 BS 无效（总线空闲）时送出 BG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309485" y="28689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逐个传递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310628" y="3162776"/>
              <a:ext cx="41175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BG 从接口 0 开始往后传，没有请求的接口把 BG 传给下一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309485" y="375475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截住并占用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310628" y="4048601"/>
              <a:ext cx="43682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第一个有请求的接口截住 BG，把 BS 置为有效，获得总线</a:t>
              </a:r>
            </a:p>
          </p:txBody>
        </p:sp>
      </p:grpSp>
      <p:grpSp>
        <p:nvGrpSpPr>
          <p:cNvPr id="91" name="c2-callout-2"/>
          <p:cNvGrpSpPr/>
          <p:nvPr/>
        </p:nvGrpSpPr>
        <p:grpSpPr>
          <a:xfrm>
            <a:off x="6898005" y="4475798"/>
            <a:ext cx="4760595" cy="782955"/>
            <a:chOff x="6898005" y="4475798"/>
            <a:chExt cx="4760595" cy="782955"/>
          </a:xfrm>
        </p:grpSpPr>
        <p:sp>
          <p:nvSpPr>
            <p:cNvPr id="85" name="Rectangle 85"/>
            <p:cNvSpPr/>
            <p:nvPr/>
          </p:nvSpPr>
          <p:spPr>
            <a:xfrm>
              <a:off x="6898005" y="4475798"/>
              <a:ext cx="476059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9" name="Group 89"/>
            <p:cNvGrpSpPr/>
            <p:nvPr/>
          </p:nvGrpSpPr>
          <p:grpSpPr>
            <a:xfrm>
              <a:off x="7102793" y="4767263"/>
              <a:ext cx="200026" cy="200025"/>
              <a:chOff x="7102793" y="4767263"/>
              <a:chExt cx="200026" cy="200025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7102793" y="476726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7142531" y="481171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7177247" y="492283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90" name="TextBox 90"/>
            <p:cNvSpPr txBox="1"/>
            <p:nvPr/>
          </p:nvSpPr>
          <p:spPr>
            <a:xfrm>
              <a:off x="7404735" y="4624388"/>
              <a:ext cx="37680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图中接口 1 和接口 n 同时请求：BG 先到接口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1，接口 1 获得总线，接口 n 继续等待。</a:t>
              </a:r>
            </a:p>
          </p:txBody>
        </p:sp>
      </p:grpSp>
      <p:grpSp>
        <p:nvGrpSpPr>
          <p:cNvPr id="9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92" name="Rectangle 9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95" name="Group 95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96" name="TextBox 96"/>
            <p:cNvSpPr txBox="1"/>
            <p:nvPr/>
          </p:nvSpPr>
          <p:spPr>
            <a:xfrm>
              <a:off x="1040130" y="5991225"/>
              <a:ext cx="54673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优先级由连接位置决定：离总线控制部件越近，优先级越高。</a:t>
              </a:r>
            </a:p>
          </p:txBody>
        </p:sp>
      </p:grpSp>
      <p:grpSp>
        <p:nvGrpSpPr>
          <p:cNvPr id="10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8" name="TextBox 98"/>
            <p:cNvSpPr txBox="1"/>
            <p:nvPr/>
          </p:nvSpPr>
          <p:spPr>
            <a:xfrm>
              <a:off x="528447" y="6581299"/>
              <a:ext cx="27605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00 总线掠影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9934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640" y="407194"/>
              <a:ext cx="2271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00 总线 · 总线判优控制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链式查询的优缺点：线最少，但怕故障、优先级固定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compare-1"/>
          <p:cNvGrpSpPr/>
          <p:nvPr/>
        </p:nvGrpSpPr>
        <p:grpSpPr>
          <a:xfrm>
            <a:off x="533400" y="1524000"/>
            <a:ext cx="6059804" cy="2038350"/>
            <a:chOff x="533400" y="1524000"/>
            <a:chExt cx="6059804" cy="20383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2858452" cy="2038350"/>
            </a:xfrm>
            <a:prstGeom prst="roundRect">
              <a:avLst>
                <a:gd name="adj" fmla="val 654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7165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1332" y="1732597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66762" y="210597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22782" y="2049780"/>
              <a:ext cx="205397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判优只用 BS、BR、BG 三根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控制线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6762" y="266319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2782" y="260699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线数与设备台数无关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6762" y="296418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2782" y="2907982"/>
              <a:ext cx="20711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结构简单，增加设备只要接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入链中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734752" y="1524000"/>
              <a:ext cx="2858452" cy="2038350"/>
            </a:xfrm>
            <a:prstGeom prst="roundRect">
              <a:avLst>
                <a:gd name="adj" fmla="val 654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744278" y="1657350"/>
              <a:ext cx="47625" cy="177165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952684" y="1732597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3968115" y="210597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124134" y="204978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对电路故障很敏感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3968115" y="240601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124134" y="23498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优先级由位置固定，不能改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3968115" y="270700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124134" y="2650808"/>
              <a:ext cx="20711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离控制部件远的设备可能长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期得不到总线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3401378" y="238125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471718" y="247745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33" name="c1-card-2"/>
          <p:cNvGrpSpPr/>
          <p:nvPr/>
        </p:nvGrpSpPr>
        <p:grpSpPr>
          <a:xfrm>
            <a:off x="533400" y="3731895"/>
            <a:ext cx="6059805" cy="1185862"/>
            <a:chOff x="533400" y="3731895"/>
            <a:chExt cx="6059805" cy="1185862"/>
          </a:xfrm>
        </p:grpSpPr>
        <p:sp>
          <p:nvSpPr>
            <p:cNvPr id="28" name="Rectangle 28"/>
            <p:cNvSpPr/>
            <p:nvPr/>
          </p:nvSpPr>
          <p:spPr>
            <a:xfrm>
              <a:off x="533400" y="3731895"/>
              <a:ext cx="6059805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42925" y="3865245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58190" y="3918585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28459" y="3951446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为什么对故障敏感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1332" y="4263390"/>
              <a:ext cx="532009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若接口 1 传递 BG 的电路损坏，BG 就到不了接口 2 ~ n。即使接口 1 本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身没有请求，排在它后面的设备也都用不了总线。</a:t>
              </a:r>
            </a:p>
          </p:txBody>
        </p:sp>
      </p:grpSp>
      <p:grpSp>
        <p:nvGrpSpPr>
          <p:cNvPr id="39" name="c1-card-3"/>
          <p:cNvGrpSpPr/>
          <p:nvPr/>
        </p:nvGrpSpPr>
        <p:grpSpPr>
          <a:xfrm>
            <a:off x="533400" y="5088255"/>
            <a:ext cx="6059805" cy="1185862"/>
            <a:chOff x="533400" y="5088255"/>
            <a:chExt cx="6059805" cy="1185862"/>
          </a:xfrm>
        </p:grpSpPr>
        <p:sp>
          <p:nvSpPr>
            <p:cNvPr id="34" name="Rectangle 34"/>
            <p:cNvSpPr/>
            <p:nvPr/>
          </p:nvSpPr>
          <p:spPr>
            <a:xfrm>
              <a:off x="533400" y="5088255"/>
              <a:ext cx="6059805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42925" y="5221605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58190" y="5274945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53961" y="530780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1332" y="5618798"/>
              <a:ext cx="524294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 2、5、7 同时请求：BG 从接口 0 传起，接口 0、1 没有请求往后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传，到接口 2 被截住，接口 2 获得总线。</a:t>
              </a:r>
            </a:p>
          </p:txBody>
        </p:sp>
      </p:grpSp>
      <p:grpSp>
        <p:nvGrpSpPr>
          <p:cNvPr id="42" name="c2-image-1"/>
          <p:cNvGrpSpPr/>
          <p:nvPr/>
        </p:nvGrpSpPr>
        <p:grpSpPr>
          <a:xfrm>
            <a:off x="6898005" y="1524000"/>
            <a:ext cx="4760595" cy="3958304"/>
            <a:chOff x="6898005" y="1524000"/>
            <a:chExt cx="4760595" cy="3958304"/>
          </a:xfrm>
        </p:grpSpPr>
        <p:pic>
          <p:nvPicPr>
            <p:cNvPr id="40" name="Image 40"/>
            <p:cNvPicPr>
              <a:picLocks noChangeAspect="1"/>
            </p:cNvPicPr>
            <p:nvPr/>
          </p:nvPicPr>
          <p:blipFill>
            <a:blip r:embed="rId2"/>
            <a:srcRect l="1432" t="0" r="1431" b="0"/>
            <a:stretch>
              <a:fillRect/>
            </a:stretch>
          </p:blipFill>
          <p:spPr>
            <a:xfrm>
              <a:off x="6898005" y="1524000"/>
              <a:ext cx="4760595" cy="3675698"/>
            </a:xfrm>
            <a:prstGeom prst="roundRect">
              <a:avLst>
                <a:gd name="adj" fmla="val 3627"/>
              </a:avLst>
            </a:prstGeom>
          </p:spPr>
        </p:pic>
        <p:sp>
          <p:nvSpPr>
            <p:cNvPr id="41" name="TextBox 41"/>
            <p:cNvSpPr txBox="1"/>
            <p:nvPr/>
          </p:nvSpPr>
          <p:spPr>
            <a:xfrm>
              <a:off x="7526678" y="5291614"/>
              <a:ext cx="35032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BG 像沿一排座位往后递的许可卡，第一个举手的人把卡留下</a:t>
              </a:r>
            </a:p>
          </p:txBody>
        </p:sp>
      </p:grpSp>
      <p:grpSp>
        <p:nvGrpSpPr>
          <p:cNvPr id="49" name="c2-callout-2"/>
          <p:cNvGrpSpPr/>
          <p:nvPr/>
        </p:nvGrpSpPr>
        <p:grpSpPr>
          <a:xfrm>
            <a:off x="6898005" y="5633085"/>
            <a:ext cx="4760595" cy="729615"/>
            <a:chOff x="6898005" y="5633085"/>
            <a:chExt cx="4760595" cy="729615"/>
          </a:xfrm>
        </p:grpSpPr>
        <p:sp>
          <p:nvSpPr>
            <p:cNvPr id="43" name="Rectangle 43"/>
            <p:cNvSpPr/>
            <p:nvPr/>
          </p:nvSpPr>
          <p:spPr>
            <a:xfrm>
              <a:off x="6898005" y="5633085"/>
              <a:ext cx="4760595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102793" y="5897880"/>
              <a:ext cx="200026" cy="200026"/>
              <a:chOff x="7102793" y="5897880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102793" y="58978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202805" y="59645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191693" y="599789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7405497" y="5779770"/>
              <a:ext cx="37856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递卡的人不举手就往后传，所以坐得越靠前越容易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拿到。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7605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00 总线掠影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9934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640" y="407194"/>
              <a:ext cx="2271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00 总线 · 总线判优控制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计数器定时查询：计数值经设备地址线轮流点名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1" name="c1-graph-1"/>
          <p:cNvGrpSpPr/>
          <p:nvPr/>
        </p:nvGrpSpPr>
        <p:grpSpPr>
          <a:xfrm>
            <a:off x="581025" y="1666399"/>
            <a:ext cx="5962650" cy="4143851"/>
            <a:chOff x="581025" y="1666399"/>
            <a:chExt cx="5962650" cy="4143851"/>
          </a:xfrm>
        </p:grpSpPr>
        <p:sp>
          <p:nvSpPr>
            <p:cNvPr id="7" name="Freeform 7"/>
            <p:cNvSpPr/>
            <p:nvPr/>
          </p:nvSpPr>
          <p:spPr>
            <a:xfrm>
              <a:off x="1628775" y="2190750"/>
              <a:ext cx="4772978" cy="9525"/>
            </a:xfrm>
            <a:custGeom>
              <a:avLst/>
              <a:gdLst/>
              <a:ahLst/>
              <a:cxnLst/>
              <a:rect l="l" t="t" r="r" b="b"/>
              <a:pathLst>
                <a:path w="4772978" h="9525">
                  <a:moveTo>
                    <a:pt x="0" y="0"/>
                  </a:moveTo>
                  <a:lnTo>
                    <a:pt x="4772978" y="0"/>
                  </a:lnTo>
                </a:path>
              </a:pathLst>
            </a:custGeom>
            <a:noFill/>
            <a:ln w="30480">
              <a:solidFill>
                <a:srgbClr val="F26B3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6401752" y="21431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724025" y="2952750"/>
              <a:ext cx="4772978" cy="9525"/>
            </a:xfrm>
            <a:custGeom>
              <a:avLst/>
              <a:gdLst/>
              <a:ahLst/>
              <a:cxnLst/>
              <a:rect l="l" t="t" r="r" b="b"/>
              <a:pathLst>
                <a:path w="4772978" h="9525">
                  <a:moveTo>
                    <a:pt x="4772978" y="0"/>
                  </a:moveTo>
                  <a:lnTo>
                    <a:pt x="0" y="0"/>
                  </a:lnTo>
                </a:path>
              </a:pathLst>
            </a:custGeom>
            <a:noFill/>
            <a:ln w="2286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628775" y="29051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724025" y="3571875"/>
              <a:ext cx="4772978" cy="9525"/>
            </a:xfrm>
            <a:custGeom>
              <a:avLst/>
              <a:gdLst/>
              <a:ahLst/>
              <a:cxnLst/>
              <a:rect l="l" t="t" r="r" b="b"/>
              <a:pathLst>
                <a:path w="4772978" h="9525">
                  <a:moveTo>
                    <a:pt x="4772978" y="0"/>
                  </a:moveTo>
                  <a:lnTo>
                    <a:pt x="0" y="0"/>
                  </a:lnTo>
                </a:path>
              </a:pathLst>
            </a:custGeom>
            <a:noFill/>
            <a:ln w="2286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628775" y="35242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181350" y="2247900"/>
              <a:ext cx="9525" cy="2505075"/>
            </a:xfrm>
            <a:custGeom>
              <a:avLst/>
              <a:gdLst/>
              <a:ahLst/>
              <a:cxnLst/>
              <a:rect l="l" t="t" r="r" b="b"/>
              <a:pathLst>
                <a:path w="9525" h="2505075">
                  <a:moveTo>
                    <a:pt x="0" y="0"/>
                  </a:moveTo>
                  <a:lnTo>
                    <a:pt x="0" y="2505075"/>
                  </a:lnTo>
                </a:path>
              </a:pathLst>
            </a:custGeom>
            <a:noFill/>
            <a:ln w="20955">
              <a:solidFill>
                <a:srgbClr val="F26B3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133725" y="47529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590800" y="3714750"/>
              <a:ext cx="9525" cy="1362075"/>
            </a:xfrm>
            <a:custGeom>
              <a:avLst/>
              <a:gdLst/>
              <a:ahLst/>
              <a:cxnLst/>
              <a:rect l="l" t="t" r="r" b="b"/>
              <a:pathLst>
                <a:path w="9525" h="1362075">
                  <a:moveTo>
                    <a:pt x="0" y="136207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543175" y="36195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819400" y="3095625"/>
              <a:ext cx="9525" cy="1981200"/>
            </a:xfrm>
            <a:custGeom>
              <a:avLst/>
              <a:gdLst/>
              <a:ahLst/>
              <a:cxnLst/>
              <a:rect l="l" t="t" r="r" b="b"/>
              <a:pathLst>
                <a:path w="9525" h="1981200">
                  <a:moveTo>
                    <a:pt x="0" y="19812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771775" y="30003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4705350" y="2247900"/>
              <a:ext cx="9525" cy="2505075"/>
            </a:xfrm>
            <a:custGeom>
              <a:avLst/>
              <a:gdLst/>
              <a:ahLst/>
              <a:cxnLst/>
              <a:rect l="l" t="t" r="r" b="b"/>
              <a:pathLst>
                <a:path w="9525" h="2505075">
                  <a:moveTo>
                    <a:pt x="0" y="0"/>
                  </a:moveTo>
                  <a:lnTo>
                    <a:pt x="0" y="2505075"/>
                  </a:lnTo>
                </a:path>
              </a:pathLst>
            </a:custGeom>
            <a:noFill/>
            <a:ln w="20955">
              <a:solidFill>
                <a:srgbClr val="F26B3A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657725" y="47529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4114800" y="3714750"/>
              <a:ext cx="9525" cy="1362075"/>
            </a:xfrm>
            <a:custGeom>
              <a:avLst/>
              <a:gdLst/>
              <a:ahLst/>
              <a:cxnLst/>
              <a:rect l="l" t="t" r="r" b="b"/>
              <a:pathLst>
                <a:path w="9525" h="1362075">
                  <a:moveTo>
                    <a:pt x="0" y="136207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4067175" y="36195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4343400" y="3095625"/>
              <a:ext cx="9525" cy="1981200"/>
            </a:xfrm>
            <a:custGeom>
              <a:avLst/>
              <a:gdLst/>
              <a:ahLst/>
              <a:cxnLst/>
              <a:rect l="l" t="t" r="r" b="b"/>
              <a:pathLst>
                <a:path w="9525" h="1981200">
                  <a:moveTo>
                    <a:pt x="0" y="19812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4295775" y="30003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6276975" y="2247900"/>
              <a:ext cx="9525" cy="2505075"/>
            </a:xfrm>
            <a:custGeom>
              <a:avLst/>
              <a:gdLst/>
              <a:ahLst/>
              <a:cxnLst/>
              <a:rect l="l" t="t" r="r" b="b"/>
              <a:pathLst>
                <a:path w="9525" h="2505075">
                  <a:moveTo>
                    <a:pt x="0" y="0"/>
                  </a:moveTo>
                  <a:lnTo>
                    <a:pt x="0" y="2505075"/>
                  </a:lnTo>
                </a:path>
              </a:pathLst>
            </a:custGeom>
            <a:noFill/>
            <a:ln w="20955">
              <a:solidFill>
                <a:srgbClr val="F26B3A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6229350" y="47529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5686425" y="3714750"/>
              <a:ext cx="9525" cy="1362075"/>
            </a:xfrm>
            <a:custGeom>
              <a:avLst/>
              <a:gdLst/>
              <a:ahLst/>
              <a:cxnLst/>
              <a:rect l="l" t="t" r="r" b="b"/>
              <a:pathLst>
                <a:path w="9525" h="1362075">
                  <a:moveTo>
                    <a:pt x="0" y="136207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5638800" y="36195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5915025" y="3095625"/>
              <a:ext cx="9525" cy="1981200"/>
            </a:xfrm>
            <a:custGeom>
              <a:avLst/>
              <a:gdLst/>
              <a:ahLst/>
              <a:cxnLst/>
              <a:rect l="l" t="t" r="r" b="b"/>
              <a:pathLst>
                <a:path w="9525" h="1981200">
                  <a:moveTo>
                    <a:pt x="0" y="19812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5867400" y="30003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1600200" y="218122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6506528" y="218122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1600200" y="294322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6506528" y="294322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1600200" y="3562350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6506528" y="3562350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2581275" y="5086350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2809875" y="5086350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3171825" y="4857750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2552700" y="353377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2781300" y="2914650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3133725" y="2143125"/>
              <a:ext cx="95250" cy="952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4105275" y="5086350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4333875" y="5086350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4695825" y="4857750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4076700" y="353377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4305300" y="2914650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4657725" y="2143125"/>
              <a:ext cx="95250" cy="952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5676900" y="5086350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5905500" y="5086350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6267450" y="4857750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5648325" y="353377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5876925" y="2914650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6229350" y="2143125"/>
              <a:ext cx="95250" cy="952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581025" y="1714500"/>
              <a:ext cx="1047750" cy="4095750"/>
            </a:xfrm>
            <a:prstGeom prst="roundRect">
              <a:avLst>
                <a:gd name="adj" fmla="val 9091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704850" y="4933950"/>
              <a:ext cx="800100" cy="419100"/>
            </a:xfrm>
            <a:prstGeom prst="roundRect">
              <a:avLst>
                <a:gd name="adj" fmla="val 22727"/>
              </a:avLst>
            </a:prstGeom>
            <a:solidFill>
              <a:srgbClr val="F26B3A"/>
            </a:solidFill>
            <a:ln w="17145">
              <a:solidFill>
                <a:srgbClr val="F26B3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2381250" y="4848225"/>
              <a:ext cx="1066800" cy="495300"/>
            </a:xfrm>
            <a:prstGeom prst="roundRect">
              <a:avLst>
                <a:gd name="adj" fmla="val 19231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3905250" y="4848225"/>
              <a:ext cx="1066800" cy="495300"/>
            </a:xfrm>
            <a:prstGeom prst="roundRect">
              <a:avLst>
                <a:gd name="adj" fmla="val 19231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5476875" y="4848225"/>
              <a:ext cx="1066800" cy="495300"/>
            </a:xfrm>
            <a:prstGeom prst="roundRect">
              <a:avLst>
                <a:gd name="adj" fmla="val 19231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14172" y="368808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总线控制部件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56488" y="506920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计数器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2504660" y="5021580"/>
              <a:ext cx="8199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I/O 接口 0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028660" y="5021580"/>
              <a:ext cx="8199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I/O 接口 1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600285" y="5021580"/>
              <a:ext cx="8199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I/O 接口 n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737360" y="197405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设备地址线（计数值）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737360" y="2755106"/>
              <a:ext cx="6979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BS 总线忙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737360" y="3374231"/>
              <a:ext cx="8487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BR 总线请求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169890" y="500729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3339095" y="5543074"/>
              <a:ext cx="2008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计数值 = 1 时与接口 1 的地址一致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3927881" y="16663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（数据线、地址线未画出）</a:t>
              </a:r>
            </a:p>
          </p:txBody>
        </p:sp>
      </p:grpSp>
      <p:grpSp>
        <p:nvGrpSpPr>
          <p:cNvPr id="89" name="c2-steps-1"/>
          <p:cNvGrpSpPr/>
          <p:nvPr/>
        </p:nvGrpSpPr>
        <p:grpSpPr>
          <a:xfrm>
            <a:off x="6898005" y="1533525"/>
            <a:ext cx="4815997" cy="2529173"/>
            <a:chOff x="6898005" y="1533525"/>
            <a:chExt cx="4815997" cy="2529173"/>
          </a:xfrm>
        </p:grpSpPr>
        <p:sp>
          <p:nvSpPr>
            <p:cNvPr id="72" name="Rectangle 72"/>
            <p:cNvSpPr/>
            <p:nvPr/>
          </p:nvSpPr>
          <p:spPr>
            <a:xfrm>
              <a:off x="7031355" y="1676400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6898005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99162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5" name="Ellipse 75"/>
            <p:cNvSpPr/>
            <p:nvPr/>
          </p:nvSpPr>
          <p:spPr>
            <a:xfrm>
              <a:off x="6898005" y="218408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991629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6898005" y="283464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991629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6898005" y="348615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991629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309485" y="156781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发请求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310628" y="1861661"/>
              <a:ext cx="29071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有需要的接口经公共的 BR 线发出请求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309485" y="221837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开始计数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310628" y="2512219"/>
              <a:ext cx="44033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BS 无效时控制部件启动计数器，计数值经设备地址线送出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309485" y="28689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地址比较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310628" y="3162776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各接口把计数值与自己的设备地址比较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309485" y="352044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占用总线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310628" y="3813334"/>
              <a:ext cx="35964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地址一致且有请求的接口置 BS 有效，计数停止</a:t>
              </a:r>
            </a:p>
          </p:txBody>
        </p:sp>
      </p:grpSp>
      <p:grpSp>
        <p:nvGrpSpPr>
          <p:cNvPr id="100" name="c2-card-2"/>
          <p:cNvGrpSpPr/>
          <p:nvPr/>
        </p:nvGrpSpPr>
        <p:grpSpPr>
          <a:xfrm>
            <a:off x="6898005" y="4241482"/>
            <a:ext cx="4760595" cy="1759268"/>
            <a:chOff x="6898005" y="4241482"/>
            <a:chExt cx="4760595" cy="1759268"/>
          </a:xfrm>
        </p:grpSpPr>
        <p:sp>
          <p:nvSpPr>
            <p:cNvPr id="90" name="Rectangle 90"/>
            <p:cNvSpPr/>
            <p:nvPr/>
          </p:nvSpPr>
          <p:spPr>
            <a:xfrm>
              <a:off x="6898005" y="4241482"/>
              <a:ext cx="4760595" cy="1759268"/>
            </a:xfrm>
            <a:prstGeom prst="roundRect">
              <a:avLst>
                <a:gd name="adj" fmla="val 75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1" name="Rectangle 91"/>
            <p:cNvSpPr/>
            <p:nvPr/>
          </p:nvSpPr>
          <p:spPr>
            <a:xfrm>
              <a:off x="6907530" y="4374832"/>
              <a:ext cx="47625" cy="149256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92" name="Rectangle 92"/>
            <p:cNvSpPr/>
            <p:nvPr/>
          </p:nvSpPr>
          <p:spPr>
            <a:xfrm>
              <a:off x="7145655" y="4451032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7206310" y="448675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需要几根判优控制线</a:t>
              </a:r>
            </a:p>
          </p:txBody>
        </p:sp>
        <p:sp>
          <p:nvSpPr>
            <p:cNvPr id="94" name="Ellipse 94"/>
            <p:cNvSpPr/>
            <p:nvPr/>
          </p:nvSpPr>
          <p:spPr>
            <a:xfrm>
              <a:off x="7151370" y="4891088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7309485" y="4828222"/>
              <a:ext cx="28011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 BG 线，换成了设备地址线</a:t>
              </a:r>
            </a:p>
          </p:txBody>
        </p:sp>
        <p:sp>
          <p:nvSpPr>
            <p:cNvPr id="96" name="Ellipse 96"/>
            <p:cNvSpPr/>
            <p:nvPr/>
          </p:nvSpPr>
          <p:spPr>
            <a:xfrm>
              <a:off x="7151370" y="5226368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7309485" y="5163502"/>
              <a:ext cx="37593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 2 + ⌈log₂n⌉ 根：BS、BR 和设备地址线</a:t>
              </a:r>
            </a:p>
          </p:txBody>
        </p:sp>
        <p:sp>
          <p:nvSpPr>
            <p:cNvPr id="98" name="Ellipse 98"/>
            <p:cNvSpPr/>
            <p:nvPr/>
          </p:nvSpPr>
          <p:spPr>
            <a:xfrm>
              <a:off x="7151370" y="5561648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7309485" y="5498782"/>
              <a:ext cx="32764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例：8 台设备要 3 根地址线，共 5 根</a:t>
              </a:r>
            </a:p>
          </p:txBody>
        </p:sp>
      </p:grpSp>
      <p:grpSp>
        <p:nvGrpSpPr>
          <p:cNvPr id="10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1" name="TextBox 101"/>
            <p:cNvSpPr txBox="1"/>
            <p:nvPr/>
          </p:nvSpPr>
          <p:spPr>
            <a:xfrm>
              <a:off x="528447" y="6581299"/>
              <a:ext cx="27605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00 总线掠影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9934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640" y="407194"/>
              <a:ext cx="2271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00 总线 · 总线判优控制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例：计数起点不同，拿到总线的设备也不同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802039" cy="264033"/>
            <a:chOff x="526542" y="1545907"/>
            <a:chExt cx="580203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8020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 台设备编号 0 ~ 7，设备 3 和设备 6 一直有请求，连续进行 3 轮判优。</a:t>
              </a:r>
            </a:p>
          </p:txBody>
        </p:sp>
      </p:grpSp>
      <p:grpSp>
        <p:nvGrpSpPr>
          <p:cNvPr id="41" name="c1-table-1"/>
          <p:cNvGrpSpPr/>
          <p:nvPr/>
        </p:nvGrpSpPr>
        <p:grpSpPr>
          <a:xfrm>
            <a:off x="528447" y="1928812"/>
            <a:ext cx="6172391" cy="2019014"/>
            <a:chOff x="528447" y="1928812"/>
            <a:chExt cx="6172391" cy="2019014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6167438" cy="439102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6288" y="205359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轮次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66486" y="2053590"/>
              <a:ext cx="11418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每次从 0 数起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031045" y="205359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获得总线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146232" y="205359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接着上次往后数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806630" y="205359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获得总线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6564" y="2492692"/>
              <a:ext cx="596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48860" y="2492692"/>
              <a:ext cx="5771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0 1 2 3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135544" y="2492692"/>
              <a:ext cx="5316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 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00620" y="2492692"/>
              <a:ext cx="5771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0 1 2 3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911129" y="2492692"/>
              <a:ext cx="5316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 3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801302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806065"/>
              <a:ext cx="6167438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66564" y="2931795"/>
              <a:ext cx="596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48860" y="2931795"/>
              <a:ext cx="5771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0 1 2 3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887028" y="2815590"/>
              <a:ext cx="1029652" cy="420052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135544" y="2931795"/>
              <a:ext cx="5316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 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77858" y="2931795"/>
              <a:ext cx="4226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4 5 6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661660" y="2815590"/>
              <a:ext cx="1029652" cy="420052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911129" y="2931795"/>
              <a:ext cx="5316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 6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240405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6564" y="3370898"/>
              <a:ext cx="596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轮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848860" y="3370898"/>
              <a:ext cx="5771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0 1 2 3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135544" y="3370898"/>
              <a:ext cx="5316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 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423381" y="3370898"/>
              <a:ext cx="7315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7 0 1 2 3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911129" y="3370898"/>
              <a:ext cx="5316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 3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1928812"/>
              <a:ext cx="6167438" cy="17554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1392555" y="1928812"/>
              <a:ext cx="9525" cy="17554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2872740" y="1928812"/>
              <a:ext cx="9525" cy="17554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3920490" y="1928812"/>
              <a:ext cx="9525" cy="17554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647372" y="1928812"/>
              <a:ext cx="9525" cy="17554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28447" y="3757136"/>
              <a:ext cx="42579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表中“0 1 2 3”表示计数器依次送出的设备地址，数到有请求的设备就停止</a:t>
              </a:r>
            </a:p>
          </p:txBody>
        </p:sp>
      </p:grpSp>
      <p:grpSp>
        <p:nvGrpSpPr>
          <p:cNvPr id="48" name="c1-callout-2"/>
          <p:cNvGrpSpPr/>
          <p:nvPr/>
        </p:nvGrpSpPr>
        <p:grpSpPr>
          <a:xfrm>
            <a:off x="533400" y="4079558"/>
            <a:ext cx="6167438" cy="729615"/>
            <a:chOff x="533400" y="4079558"/>
            <a:chExt cx="6167438" cy="729615"/>
          </a:xfrm>
        </p:grpSpPr>
        <p:sp>
          <p:nvSpPr>
            <p:cNvPr id="42" name="Rectangle 42"/>
            <p:cNvSpPr/>
            <p:nvPr/>
          </p:nvSpPr>
          <p:spPr>
            <a:xfrm>
              <a:off x="533400" y="4079558"/>
              <a:ext cx="6167438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26129" y="4340661"/>
              <a:ext cx="224134" cy="192560"/>
              <a:chOff x="726129" y="4340661"/>
              <a:chExt cx="224134" cy="19256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838200" y="441102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26129" y="434066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448881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892" y="4226242"/>
              <a:ext cx="5234369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每次从 0 数起时，只要设备 3 还在请求，设备 6 就永远轮不到；接着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上次往后数，两台设备轮流使用总线。</a:t>
              </a:r>
            </a:p>
          </p:txBody>
        </p:sp>
      </p:grpSp>
      <p:grpSp>
        <p:nvGrpSpPr>
          <p:cNvPr id="54" name="c1-card-3"/>
          <p:cNvGrpSpPr/>
          <p:nvPr/>
        </p:nvGrpSpPr>
        <p:grpSpPr>
          <a:xfrm>
            <a:off x="533400" y="4978718"/>
            <a:ext cx="6167438" cy="1185862"/>
            <a:chOff x="533400" y="4978718"/>
            <a:chExt cx="6167438" cy="1185862"/>
          </a:xfrm>
        </p:grpSpPr>
        <p:sp>
          <p:nvSpPr>
            <p:cNvPr id="49" name="Rectangle 49"/>
            <p:cNvSpPr/>
            <p:nvPr/>
          </p:nvSpPr>
          <p:spPr>
            <a:xfrm>
              <a:off x="533400" y="4978718"/>
              <a:ext cx="6167438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542925" y="5112068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758190" y="516540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42759" y="519826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再试一次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51332" y="5510212"/>
              <a:ext cx="542296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若第 1 轮前由程序把计数器初值设为 5：计数器送出 5、6，设备 5 没有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请求，设备 6 先获得总线。改初值就改变了优先次序。</a:t>
              </a:r>
            </a:p>
          </p:txBody>
        </p:sp>
      </p:grpSp>
      <p:grpSp>
        <p:nvGrpSpPr>
          <p:cNvPr id="65" name="c2-card-1"/>
          <p:cNvGrpSpPr/>
          <p:nvPr/>
        </p:nvGrpSpPr>
        <p:grpSpPr>
          <a:xfrm>
            <a:off x="7005638" y="1928812"/>
            <a:ext cx="4652962" cy="1785938"/>
            <a:chOff x="7005638" y="1928812"/>
            <a:chExt cx="4652962" cy="1785938"/>
          </a:xfrm>
        </p:grpSpPr>
        <p:sp>
          <p:nvSpPr>
            <p:cNvPr id="55" name="Rectangle 55"/>
            <p:cNvSpPr/>
            <p:nvPr/>
          </p:nvSpPr>
          <p:spPr>
            <a:xfrm>
              <a:off x="7005638" y="1928812"/>
              <a:ext cx="4652962" cy="1785938"/>
            </a:xfrm>
            <a:prstGeom prst="roundRect">
              <a:avLst>
                <a:gd name="adj" fmla="val 74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7015162" y="2062162"/>
              <a:ext cx="47625" cy="151923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7230428" y="2115502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296645" y="214836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计数起点决定优先级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7239000" y="251555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395020" y="2459355"/>
              <a:ext cx="3821192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每次从 0 开始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：编号越小优先级越高，和链式查询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一样固定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7239000" y="307276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395020" y="3016568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从上次停止处继续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：循环点名，各设备机会均等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7239000" y="337375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395020" y="3317558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计数器初值由程序设置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：可以随时改变优先次序</a:t>
              </a:r>
            </a:p>
          </p:txBody>
        </p:sp>
      </p:grpSp>
      <p:grpSp>
        <p:nvGrpSpPr>
          <p:cNvPr id="74" name="c2-card-2"/>
          <p:cNvGrpSpPr/>
          <p:nvPr/>
        </p:nvGrpSpPr>
        <p:grpSpPr>
          <a:xfrm>
            <a:off x="7005638" y="3884295"/>
            <a:ext cx="4652962" cy="2280285"/>
            <a:chOff x="7005638" y="3884295"/>
            <a:chExt cx="4652962" cy="2280285"/>
          </a:xfrm>
        </p:grpSpPr>
        <p:sp>
          <p:nvSpPr>
            <p:cNvPr id="66" name="Rectangle 66"/>
            <p:cNvSpPr/>
            <p:nvPr/>
          </p:nvSpPr>
          <p:spPr>
            <a:xfrm>
              <a:off x="7005638" y="3884295"/>
              <a:ext cx="4652962" cy="2280285"/>
            </a:xfrm>
            <a:prstGeom prst="roundRect">
              <a:avLst>
                <a:gd name="adj" fmla="val 58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7015162" y="4017645"/>
              <a:ext cx="47625" cy="201358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7230428" y="407098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323099" y="410384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评价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7239000" y="447198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395020" y="4415790"/>
              <a:ext cx="37856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对电路故障不如链式查询敏感：某个接口损坏，不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影响计数器点其他设备的名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7239000" y="502920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395020" y="4973002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代价是多了设备地址线，控制也比链式查询复杂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27605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00 总线掠影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86928" cy="909257"/>
            <a:chOff x="520446" y="342900"/>
            <a:chExt cx="81869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9934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640" y="407194"/>
              <a:ext cx="2271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00 总线 · 总线判优控制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869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独立请求：每台设备一对 BR、BG，由排队器直接选出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9" name="c1-graph-1"/>
          <p:cNvGrpSpPr/>
          <p:nvPr/>
        </p:nvGrpSpPr>
        <p:grpSpPr>
          <a:xfrm>
            <a:off x="581025" y="1666399"/>
            <a:ext cx="5962650" cy="4143851"/>
            <a:chOff x="581025" y="1666399"/>
            <a:chExt cx="5962650" cy="4143851"/>
          </a:xfrm>
        </p:grpSpPr>
        <p:sp>
          <p:nvSpPr>
            <p:cNvPr id="7" name="Freeform 7"/>
            <p:cNvSpPr/>
            <p:nvPr/>
          </p:nvSpPr>
          <p:spPr>
            <a:xfrm>
              <a:off x="1628775" y="3905250"/>
              <a:ext cx="1514475" cy="990600"/>
            </a:xfrm>
            <a:custGeom>
              <a:avLst/>
              <a:gdLst/>
              <a:ahLst/>
              <a:cxnLst/>
              <a:rect l="l" t="t" r="r" b="b"/>
              <a:pathLst>
                <a:path w="1514475" h="990600">
                  <a:moveTo>
                    <a:pt x="0" y="0"/>
                  </a:moveTo>
                  <a:lnTo>
                    <a:pt x="1514475" y="0"/>
                  </a:lnTo>
                  <a:lnTo>
                    <a:pt x="1514475" y="990600"/>
                  </a:lnTo>
                </a:path>
              </a:pathLst>
            </a:custGeom>
            <a:noFill/>
            <a:ln w="22860">
              <a:solidFill>
                <a:srgbClr val="F26B3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095625" y="48958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724025" y="4238625"/>
              <a:ext cx="962025" cy="981075"/>
            </a:xfrm>
            <a:custGeom>
              <a:avLst/>
              <a:gdLst/>
              <a:ahLst/>
              <a:cxnLst/>
              <a:rect l="l" t="t" r="r" b="b"/>
              <a:pathLst>
                <a:path w="962025" h="981075">
                  <a:moveTo>
                    <a:pt x="962025" y="981075"/>
                  </a:moveTo>
                  <a:lnTo>
                    <a:pt x="962025" y="0"/>
                  </a:lnTo>
                  <a:lnTo>
                    <a:pt x="0" y="0"/>
                  </a:lnTo>
                </a:path>
              </a:pathLst>
            </a:custGeom>
            <a:noFill/>
            <a:ln w="2286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628775" y="41910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628775" y="3048000"/>
              <a:ext cx="3038475" cy="1847850"/>
            </a:xfrm>
            <a:custGeom>
              <a:avLst/>
              <a:gdLst/>
              <a:ahLst/>
              <a:cxnLst/>
              <a:rect l="l" t="t" r="r" b="b"/>
              <a:pathLst>
                <a:path w="3038475" h="1847850">
                  <a:moveTo>
                    <a:pt x="0" y="0"/>
                  </a:moveTo>
                  <a:lnTo>
                    <a:pt x="3038475" y="0"/>
                  </a:lnTo>
                  <a:lnTo>
                    <a:pt x="3038475" y="1847850"/>
                  </a:lnTo>
                </a:path>
              </a:pathLst>
            </a:custGeom>
            <a:noFill/>
            <a:ln w="22860">
              <a:solidFill>
                <a:srgbClr val="F26B3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619625" y="48958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724025" y="3381375"/>
              <a:ext cx="2486025" cy="1838325"/>
            </a:xfrm>
            <a:custGeom>
              <a:avLst/>
              <a:gdLst/>
              <a:ahLst/>
              <a:cxnLst/>
              <a:rect l="l" t="t" r="r" b="b"/>
              <a:pathLst>
                <a:path w="2486025" h="1838325">
                  <a:moveTo>
                    <a:pt x="2486025" y="1838325"/>
                  </a:moveTo>
                  <a:lnTo>
                    <a:pt x="2486025" y="0"/>
                  </a:lnTo>
                  <a:lnTo>
                    <a:pt x="0" y="0"/>
                  </a:lnTo>
                </a:path>
              </a:pathLst>
            </a:custGeom>
            <a:noFill/>
            <a:ln w="2286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628775" y="33337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628775" y="2190750"/>
              <a:ext cx="4610100" cy="2705100"/>
            </a:xfrm>
            <a:custGeom>
              <a:avLst/>
              <a:gdLst/>
              <a:ahLst/>
              <a:cxnLst/>
              <a:rect l="l" t="t" r="r" b="b"/>
              <a:pathLst>
                <a:path w="4610100" h="2705100">
                  <a:moveTo>
                    <a:pt x="0" y="0"/>
                  </a:moveTo>
                  <a:lnTo>
                    <a:pt x="4610100" y="0"/>
                  </a:lnTo>
                  <a:lnTo>
                    <a:pt x="4610100" y="2705100"/>
                  </a:lnTo>
                </a:path>
              </a:pathLst>
            </a:custGeom>
            <a:noFill/>
            <a:ln w="22860">
              <a:solidFill>
                <a:srgbClr val="F26B3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6191250" y="48958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724025" y="2524125"/>
              <a:ext cx="4057650" cy="2695575"/>
            </a:xfrm>
            <a:custGeom>
              <a:avLst/>
              <a:gdLst/>
              <a:ahLst/>
              <a:cxnLst/>
              <a:rect l="l" t="t" r="r" b="b"/>
              <a:pathLst>
                <a:path w="4057650" h="2695575">
                  <a:moveTo>
                    <a:pt x="4057650" y="2695575"/>
                  </a:moveTo>
                  <a:lnTo>
                    <a:pt x="4057650" y="0"/>
                  </a:lnTo>
                  <a:lnTo>
                    <a:pt x="0" y="0"/>
                  </a:lnTo>
                </a:path>
              </a:pathLst>
            </a:custGeom>
            <a:noFill/>
            <a:ln w="22860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628775" y="24765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600200" y="389572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600200" y="4229100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3133725" y="500062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2676525" y="522922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600200" y="303847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600200" y="3371850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4657725" y="500062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4200525" y="522922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1600200" y="218122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1600200" y="2514600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6229350" y="500062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5772150" y="522922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81025" y="1714500"/>
              <a:ext cx="1047750" cy="4095750"/>
            </a:xfrm>
            <a:prstGeom prst="roundRect">
              <a:avLst>
                <a:gd name="adj" fmla="val 9091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04850" y="4933950"/>
              <a:ext cx="800100" cy="419100"/>
            </a:xfrm>
            <a:prstGeom prst="roundRect">
              <a:avLst>
                <a:gd name="adj" fmla="val 22727"/>
              </a:avLst>
            </a:prstGeom>
            <a:solidFill>
              <a:srgbClr val="F26B3A"/>
            </a:solidFill>
            <a:ln w="17145">
              <a:solidFill>
                <a:srgbClr val="F26B3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381250" y="4991100"/>
              <a:ext cx="1066800" cy="495300"/>
            </a:xfrm>
            <a:prstGeom prst="roundRect">
              <a:avLst>
                <a:gd name="adj" fmla="val 19231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3905250" y="4991100"/>
              <a:ext cx="1066800" cy="495300"/>
            </a:xfrm>
            <a:prstGeom prst="roundRect">
              <a:avLst>
                <a:gd name="adj" fmla="val 19231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476875" y="4991100"/>
              <a:ext cx="1066800" cy="495300"/>
            </a:xfrm>
            <a:prstGeom prst="roundRect">
              <a:avLst>
                <a:gd name="adj" fmla="val 19231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14172" y="368808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总线控制部件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6488" y="506920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排队器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504660" y="5164455"/>
              <a:ext cx="8199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I/O 接口 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028660" y="5164455"/>
              <a:ext cx="8199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I/O 接口 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600285" y="5164455"/>
              <a:ext cx="8199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I/O 接口 n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737741" y="3725228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BG0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737741" y="4058602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BR0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737741" y="2867978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BG1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737741" y="3201352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BR1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737741" y="2010728"/>
              <a:ext cx="2648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BGn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737741" y="2344102"/>
              <a:ext cx="2648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BRn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169890" y="51501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927881" y="16663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（数据线、地址线未画出）</a:t>
              </a:r>
            </a:p>
          </p:txBody>
        </p:sp>
      </p:grpSp>
      <p:grpSp>
        <p:nvGrpSpPr>
          <p:cNvPr id="63" name="c2-steps-1"/>
          <p:cNvGrpSpPr/>
          <p:nvPr/>
        </p:nvGrpSpPr>
        <p:grpSpPr>
          <a:xfrm>
            <a:off x="6898005" y="1533525"/>
            <a:ext cx="4489577" cy="2112931"/>
            <a:chOff x="6898005" y="1533525"/>
            <a:chExt cx="4489577" cy="2112931"/>
          </a:xfrm>
        </p:grpSpPr>
        <p:sp>
          <p:nvSpPr>
            <p:cNvPr id="50" name="Rectangle 50"/>
            <p:cNvSpPr/>
            <p:nvPr/>
          </p:nvSpPr>
          <p:spPr>
            <a:xfrm>
              <a:off x="7031355" y="1676400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6898005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99162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898005" y="218408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991629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898005" y="283464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991629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309485" y="15678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独立请求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310628" y="1861661"/>
              <a:ext cx="36273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 i 通过自己的 BRi 线向总线控制部件发请求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309485" y="221837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排队判优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310628" y="2512219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控制部件中的排队器按优先次序选出一个请求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309485" y="28689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单独应答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310628" y="3162776"/>
              <a:ext cx="40769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只在被选中设备的 BGi 线上送出同意信号，该设备获得总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</a:t>
              </a:r>
            </a:p>
          </p:txBody>
        </p:sp>
      </p:grpSp>
      <p:grpSp>
        <p:nvGrpSpPr>
          <p:cNvPr id="74" name="c2-card-2"/>
          <p:cNvGrpSpPr/>
          <p:nvPr/>
        </p:nvGrpSpPr>
        <p:grpSpPr>
          <a:xfrm>
            <a:off x="6898005" y="3825240"/>
            <a:ext cx="4760595" cy="2175510"/>
            <a:chOff x="6898005" y="3825240"/>
            <a:chExt cx="4760595" cy="2175510"/>
          </a:xfrm>
        </p:grpSpPr>
        <p:sp>
          <p:nvSpPr>
            <p:cNvPr id="64" name="Rectangle 64"/>
            <p:cNvSpPr/>
            <p:nvPr/>
          </p:nvSpPr>
          <p:spPr>
            <a:xfrm>
              <a:off x="6898005" y="3825240"/>
              <a:ext cx="4760595" cy="2175510"/>
            </a:xfrm>
            <a:prstGeom prst="roundRect">
              <a:avLst>
                <a:gd name="adj" fmla="val 6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6907530" y="3958590"/>
              <a:ext cx="47625" cy="190881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7145655" y="403479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235863" y="407050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评价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7151370" y="447484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309485" y="4411980"/>
              <a:ext cx="41506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响应最快：不用逐个传递 BG，也不用逐个计数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7151370" y="481012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309485" y="4747260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优先次序可由程序改变，还能屏蔽某些设备的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7151370" y="543115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309485" y="5368290"/>
              <a:ext cx="41951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每台设备 2 根线，n 台需 2n 根，控制也最复杂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27605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00 总线掠影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9934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640" y="407194"/>
              <a:ext cx="2271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00 总线 · 总线判优控制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三种集中式判优方式对比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6" name="c1-table-1"/>
          <p:cNvGrpSpPr/>
          <p:nvPr/>
        </p:nvGrpSpPr>
        <p:grpSpPr>
          <a:xfrm>
            <a:off x="533400" y="1524000"/>
            <a:ext cx="11125200" cy="3750945"/>
            <a:chOff x="533400" y="1524000"/>
            <a:chExt cx="11125200" cy="37509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39102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11212" y="164877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667315" y="164877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链式查询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54140" y="164877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计数器定时查询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660636" y="164877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独立请求方式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9412" y="2087880"/>
              <a:ext cx="1538335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判优控制线（n 台设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备）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2656522" y="1972628"/>
              <a:ext cx="2762250" cy="660082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743009" y="2207895"/>
              <a:ext cx="15288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根：BS、BR、BG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24310" y="2207895"/>
              <a:ext cx="30895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+ ⌈log₂n⌉ 根：BS、BR、设备地址线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861870" y="2207895"/>
              <a:ext cx="21249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2n 根：每台一对 BRi、BGi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63747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2642235"/>
              <a:ext cx="1112520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9412" y="2767012"/>
              <a:ext cx="6820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8 时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743009" y="2767012"/>
              <a:ext cx="349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524310" y="2767012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+ 3 = 5 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61870" y="2767012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× 8 = 16 根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0756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9412" y="3206115"/>
              <a:ext cx="7870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16 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743009" y="3206115"/>
              <a:ext cx="349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524310" y="3206115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+ 4 = 6 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861870" y="3206115"/>
              <a:ext cx="11677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× 16 = 32 根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51472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3519488"/>
              <a:ext cx="1112520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29412" y="36452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响应速度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743009" y="3645218"/>
              <a:ext cx="24633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BG 逐级传递，位置越靠后越慢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524310" y="36452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要逐个计数比较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775382" y="3529012"/>
              <a:ext cx="2873692" cy="420052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861870" y="36452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最快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，排队器直接判定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95382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29412" y="40833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对电路故障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2656522" y="3968115"/>
              <a:ext cx="2762250" cy="420052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743009" y="40833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最敏感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，一处断开后面全受影响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524310" y="40833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不如链式敏感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861870" y="408336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某设备的线坏了只影响它自己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39293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4397692"/>
              <a:ext cx="1112520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29412" y="452247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优先级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743009" y="452247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由连接位置固定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524310" y="452247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固定、循环或由程序设定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861870" y="452247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可由程序灵活改变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483203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29412" y="4961573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主要代价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743009" y="4961573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优先级不灵活，怕电路故障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524310" y="4961573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多了设备地址线和计数控制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861870" y="4961573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线最多，控制最复杂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3400" y="1524000"/>
              <a:ext cx="11125200" cy="37509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2642235" y="1524000"/>
              <a:ext cx="9525" cy="37509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5423535" y="1524000"/>
              <a:ext cx="9525" cy="37509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8761095" y="1524000"/>
              <a:ext cx="9525" cy="37509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2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57" name="Rectangle 57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0892" y="6028373"/>
              <a:ext cx="83736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常考结论：控制线最少、对电路故障最敏感的都是链式查询；响应最快、控制线最多的是独立请求方式。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7605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00 总线掠影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20" name="section-title"/>
          <p:cNvGrpSpPr/>
          <p:nvPr/>
        </p:nvGrpSpPr>
        <p:grpSpPr>
          <a:xfrm>
            <a:off x="667512" y="1835468"/>
            <a:ext cx="4691253" cy="3706177"/>
            <a:chOff x="667512" y="1835468"/>
            <a:chExt cx="4691253" cy="370617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总线通信控制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拿到总线之后，主从双方怎样配合完成一次传送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总线传输周期的四个阶段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同步通信与总线传输率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异步通信与波特率、比特率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2174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半同步通信与 WAIT 信号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23900" y="530542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52482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分离式通信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1" name="TextBox 21"/>
            <p:cNvSpPr txBox="1"/>
            <p:nvPr/>
          </p:nvSpPr>
          <p:spPr>
            <a:xfrm>
              <a:off x="528447" y="6581299"/>
              <a:ext cx="27605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00 总线掠影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9934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640" y="407194"/>
              <a:ext cx="2271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00 总线 · 总线通信控制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一次总线传输分四个阶段，通信方式决定双方怎样配合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587484" cy="308039"/>
            <a:chOff x="525399" y="1550194"/>
            <a:chExt cx="9587484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58748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总线通信控制的目的：解决通信双方协调配合的问题，即谁在什么时候发、什么时候收、什么时候撤。</a:t>
              </a:r>
            </a:p>
          </p:txBody>
        </p:sp>
      </p:grpSp>
      <p:grpSp>
        <p:nvGrpSpPr>
          <p:cNvPr id="23" name="c1-flow-1"/>
          <p:cNvGrpSpPr/>
          <p:nvPr/>
        </p:nvGrpSpPr>
        <p:grpSpPr>
          <a:xfrm>
            <a:off x="733425" y="2224088"/>
            <a:ext cx="10725150" cy="629602"/>
            <a:chOff x="733425" y="2224088"/>
            <a:chExt cx="10725150" cy="629602"/>
          </a:xfrm>
        </p:grpSpPr>
        <p:sp>
          <p:nvSpPr>
            <p:cNvPr id="9" name="Freeform 9"/>
            <p:cNvSpPr/>
            <p:nvPr/>
          </p:nvSpPr>
          <p:spPr>
            <a:xfrm>
              <a:off x="3114675" y="2539365"/>
              <a:ext cx="295275" cy="9525"/>
            </a:xfrm>
            <a:custGeom>
              <a:avLst/>
              <a:gdLst/>
              <a:ahLst/>
              <a:cxnLst/>
              <a:rect l="l" t="t" r="r" b="b"/>
              <a:pathLst>
                <a:path w="295275" h="9525">
                  <a:moveTo>
                    <a:pt x="0" y="0"/>
                  </a:moveTo>
                  <a:lnTo>
                    <a:pt x="29527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409950" y="248697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5895975" y="2539365"/>
              <a:ext cx="295275" cy="9525"/>
            </a:xfrm>
            <a:custGeom>
              <a:avLst/>
              <a:gdLst/>
              <a:ahLst/>
              <a:cxnLst/>
              <a:rect l="l" t="t" r="r" b="b"/>
              <a:pathLst>
                <a:path w="295275" h="9525">
                  <a:moveTo>
                    <a:pt x="0" y="0"/>
                  </a:moveTo>
                  <a:lnTo>
                    <a:pt x="29527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6191250" y="248697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8677275" y="2539365"/>
              <a:ext cx="295275" cy="9525"/>
            </a:xfrm>
            <a:custGeom>
              <a:avLst/>
              <a:gdLst/>
              <a:ahLst/>
              <a:cxnLst/>
              <a:rect l="l" t="t" r="r" b="b"/>
              <a:pathLst>
                <a:path w="295275" h="9525">
                  <a:moveTo>
                    <a:pt x="0" y="0"/>
                  </a:moveTo>
                  <a:lnTo>
                    <a:pt x="29527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8972550" y="248697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33425" y="2224088"/>
              <a:ext cx="2381250" cy="629602"/>
            </a:xfrm>
            <a:prstGeom prst="roundRect">
              <a:avLst>
                <a:gd name="adj" fmla="val 4992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3514725" y="2224088"/>
              <a:ext cx="2381250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296025" y="2224088"/>
              <a:ext cx="2381250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9077325" y="2224088"/>
              <a:ext cx="2381250" cy="629602"/>
            </a:xfrm>
            <a:prstGeom prst="roundRect">
              <a:avLst>
                <a:gd name="adj" fmla="val 4992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50951" y="2340769"/>
              <a:ext cx="1946199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 申请分配：主模块申请，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总线仲裁决定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735705" y="2340769"/>
              <a:ext cx="1939290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② 寻址：主模块向从模块给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出地址和命令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17005" y="2340769"/>
              <a:ext cx="1939290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③ 传数：主模块和从模块交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换数据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294851" y="2340769"/>
              <a:ext cx="1946199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④ 结束：主模块撤消有关信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息</a:t>
              </a:r>
            </a:p>
          </p:txBody>
        </p:sp>
      </p:grpSp>
      <p:grpSp>
        <p:nvGrpSpPr>
          <p:cNvPr id="48" name="c1-table-2"/>
          <p:cNvGrpSpPr/>
          <p:nvPr/>
        </p:nvGrpSpPr>
        <p:grpSpPr>
          <a:xfrm>
            <a:off x="533400" y="3301365"/>
            <a:ext cx="11125200" cy="2971800"/>
            <a:chOff x="533400" y="3301365"/>
            <a:chExt cx="11125200" cy="2971800"/>
          </a:xfrm>
        </p:grpSpPr>
        <p:sp>
          <p:nvSpPr>
            <p:cNvPr id="24" name="Rectangle 24"/>
            <p:cNvSpPr/>
            <p:nvPr/>
          </p:nvSpPr>
          <p:spPr>
            <a:xfrm>
              <a:off x="533400" y="3301365"/>
              <a:ext cx="11125200" cy="48768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11555" y="34404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通信方式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036695" y="344043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双方怎样配合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112568" y="344043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0080" y="392811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同步通信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420302" y="392811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统一时标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（公共时钟）控制数据传送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092315" y="392811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地址、数据和控制信号按固定时序给出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42719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4276725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0080" y="441579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异步通信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420302" y="441579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采用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应答方式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，没有公共时钟标准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92315" y="441579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快慢不同的设备都能配合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47596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40080" y="503682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半同步通信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420302" y="4903470"/>
              <a:ext cx="4206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同步、异步结合：按时钟节拍工作，从模块来不及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时插入等待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92315" y="503682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保留同步的简单时序，又能适应慢设备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55140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33400" y="5518785"/>
              <a:ext cx="11125200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40080" y="57912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分离式通信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420302" y="5657850"/>
              <a:ext cx="4206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把一个传输周期拆成两个子周期，准备数据时让出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总线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92315" y="579120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充分挖掘系统总线每个瞬间的潜力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3301365"/>
              <a:ext cx="11125200" cy="29718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2308860" y="3301365"/>
              <a:ext cx="9525" cy="29718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980872" y="3301365"/>
              <a:ext cx="9525" cy="29718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7605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00 总线掠影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9934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640" y="407194"/>
              <a:ext cx="2271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00 总线 · 总线通信控制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同步通信：公共时钟下按固定时序读入数据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8" name="timing"/>
          <p:cNvGrpSpPr/>
          <p:nvPr/>
        </p:nvGrpSpPr>
        <p:grpSpPr>
          <a:xfrm>
            <a:off x="533400" y="1524000"/>
            <a:ext cx="11125200" cy="2686050"/>
            <a:chOff x="533400" y="1524000"/>
            <a:chExt cx="11125200" cy="26860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2686050"/>
            </a:xfrm>
            <a:prstGeom prst="roundRect">
              <a:avLst>
                <a:gd name="adj" fmla="val 4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3143250" y="1828800"/>
              <a:ext cx="9525" cy="2247900"/>
            </a:xfrm>
            <a:custGeom>
              <a:avLst/>
              <a:gdLst/>
              <a:ahLst/>
              <a:cxnLst/>
              <a:rect l="l" t="t" r="r" b="b"/>
              <a:pathLst>
                <a:path w="9525" h="2247900">
                  <a:moveTo>
                    <a:pt x="0" y="0"/>
                  </a:moveTo>
                  <a:lnTo>
                    <a:pt x="0" y="2247900"/>
                  </a:lnTo>
                </a:path>
              </a:pathLst>
            </a:custGeom>
            <a:noFill/>
            <a:ln w="11430">
              <a:solidFill>
                <a:srgbClr val="9AA5B8"/>
              </a:solidFill>
              <a:custDash>
                <a:ds d="416667" sp="333333"/>
              </a:custDash>
            </a:ln>
          </p:spPr>
        </p:sp>
        <p:sp>
          <p:nvSpPr>
            <p:cNvPr id="9" name="Line 9"/>
            <p:cNvSpPr/>
            <p:nvPr/>
          </p:nvSpPr>
          <p:spPr>
            <a:xfrm>
              <a:off x="5048250" y="1828800"/>
              <a:ext cx="9525" cy="2247900"/>
            </a:xfrm>
            <a:custGeom>
              <a:avLst/>
              <a:gdLst/>
              <a:ahLst/>
              <a:cxnLst/>
              <a:rect l="l" t="t" r="r" b="b"/>
              <a:pathLst>
                <a:path w="9525" h="2247900">
                  <a:moveTo>
                    <a:pt x="0" y="0"/>
                  </a:moveTo>
                  <a:lnTo>
                    <a:pt x="0" y="2247900"/>
                  </a:lnTo>
                </a:path>
              </a:pathLst>
            </a:custGeom>
            <a:noFill/>
            <a:ln w="11430">
              <a:solidFill>
                <a:srgbClr val="9AA5B8"/>
              </a:solidFill>
              <a:custDash>
                <a:ds d="416667" sp="333333"/>
              </a:custDash>
            </a:ln>
          </p:spPr>
        </p:sp>
        <p:sp>
          <p:nvSpPr>
            <p:cNvPr id="10" name="Line 10"/>
            <p:cNvSpPr/>
            <p:nvPr/>
          </p:nvSpPr>
          <p:spPr>
            <a:xfrm>
              <a:off x="6953250" y="1828800"/>
              <a:ext cx="9525" cy="2247900"/>
            </a:xfrm>
            <a:custGeom>
              <a:avLst/>
              <a:gdLst/>
              <a:ahLst/>
              <a:cxnLst/>
              <a:rect l="l" t="t" r="r" b="b"/>
              <a:pathLst>
                <a:path w="9525" h="2247900">
                  <a:moveTo>
                    <a:pt x="0" y="0"/>
                  </a:moveTo>
                  <a:lnTo>
                    <a:pt x="0" y="2247900"/>
                  </a:lnTo>
                </a:path>
              </a:pathLst>
            </a:custGeom>
            <a:noFill/>
            <a:ln w="11430">
              <a:solidFill>
                <a:srgbClr val="9AA5B8"/>
              </a:solidFill>
              <a:custDash>
                <a:ds d="416667" sp="333333"/>
              </a:custDash>
            </a:ln>
          </p:spPr>
        </p:sp>
        <p:sp>
          <p:nvSpPr>
            <p:cNvPr id="11" name="Line 11"/>
            <p:cNvSpPr/>
            <p:nvPr/>
          </p:nvSpPr>
          <p:spPr>
            <a:xfrm>
              <a:off x="8858250" y="1828800"/>
              <a:ext cx="9525" cy="2247900"/>
            </a:xfrm>
            <a:custGeom>
              <a:avLst/>
              <a:gdLst/>
              <a:ahLst/>
              <a:cxnLst/>
              <a:rect l="l" t="t" r="r" b="b"/>
              <a:pathLst>
                <a:path w="9525" h="2247900">
                  <a:moveTo>
                    <a:pt x="0" y="0"/>
                  </a:moveTo>
                  <a:lnTo>
                    <a:pt x="0" y="2247900"/>
                  </a:lnTo>
                </a:path>
              </a:pathLst>
            </a:custGeom>
            <a:noFill/>
            <a:ln w="11430">
              <a:solidFill>
                <a:srgbClr val="9AA5B8"/>
              </a:solidFill>
              <a:custDash>
                <a:ds d="416667" sp="333333"/>
              </a:custDash>
            </a:ln>
          </p:spPr>
        </p:sp>
        <p:sp>
          <p:nvSpPr>
            <p:cNvPr id="12" name="Line 12"/>
            <p:cNvSpPr/>
            <p:nvPr/>
          </p:nvSpPr>
          <p:spPr>
            <a:xfrm>
              <a:off x="10763250" y="1828800"/>
              <a:ext cx="9525" cy="2247900"/>
            </a:xfrm>
            <a:custGeom>
              <a:avLst/>
              <a:gdLst/>
              <a:ahLst/>
              <a:cxnLst/>
              <a:rect l="l" t="t" r="r" b="b"/>
              <a:pathLst>
                <a:path w="9525" h="2247900">
                  <a:moveTo>
                    <a:pt x="0" y="0"/>
                  </a:moveTo>
                  <a:lnTo>
                    <a:pt x="0" y="2247900"/>
                  </a:lnTo>
                </a:path>
              </a:pathLst>
            </a:custGeom>
            <a:noFill/>
            <a:ln w="11430">
              <a:solidFill>
                <a:srgbClr val="9AA5B8"/>
              </a:solidFill>
              <a:custDash>
                <a:ds d="416667" sp="333333"/>
              </a:custDash>
            </a:ln>
          </p:spPr>
        </p:sp>
        <p:sp>
          <p:nvSpPr>
            <p:cNvPr id="13" name="Line 13"/>
            <p:cNvSpPr/>
            <p:nvPr/>
          </p:nvSpPr>
          <p:spPr>
            <a:xfrm>
              <a:off x="3228975" y="1714500"/>
              <a:ext cx="7448550" cy="9525"/>
            </a:xfrm>
            <a:custGeom>
              <a:avLst/>
              <a:gdLst/>
              <a:ahLst/>
              <a:cxnLst/>
              <a:rect l="l" t="t" r="r" b="b"/>
              <a:pathLst>
                <a:path w="7448550" h="9525">
                  <a:moveTo>
                    <a:pt x="0" y="0"/>
                  </a:moveTo>
                  <a:lnTo>
                    <a:pt x="7448550" y="0"/>
                  </a:lnTo>
                </a:path>
              </a:pathLst>
            </a:custGeom>
            <a:noFill/>
            <a:ln w="14288">
              <a:solidFill>
                <a:srgbClr val="174A85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3143250" y="1671638"/>
              <a:ext cx="95250" cy="85725"/>
            </a:xfrm>
            <a:custGeom>
              <a:avLst/>
              <a:gdLst/>
              <a:ahLst/>
              <a:cxnLst/>
              <a:rect l="l" t="t" r="r" b="b"/>
              <a:pathLst>
                <a:path w="95250" h="85725">
                  <a:moveTo>
                    <a:pt x="0" y="42862"/>
                  </a:moveTo>
                  <a:lnTo>
                    <a:pt x="95250" y="0"/>
                  </a:lnTo>
                  <a:lnTo>
                    <a:pt x="95250" y="85725"/>
                  </a:lnTo>
                  <a:close/>
                </a:path>
              </a:pathLst>
            </a:custGeom>
            <a:solidFill>
              <a:srgbClr val="174A85"/>
            </a:solidFill>
            <a:ln>
              <a:noFill/>
            </a:ln>
          </p:spPr>
        </p:sp>
        <p:sp>
          <p:nvSpPr>
            <p:cNvPr id="15" name="Polygon 15"/>
            <p:cNvSpPr/>
            <p:nvPr/>
          </p:nvSpPr>
          <p:spPr>
            <a:xfrm>
              <a:off x="10668000" y="1671638"/>
              <a:ext cx="95250" cy="85725"/>
            </a:xfrm>
            <a:custGeom>
              <a:avLst/>
              <a:gdLst/>
              <a:ahLst/>
              <a:cxnLst/>
              <a:rect l="l" t="t" r="r" b="b"/>
              <a:pathLst>
                <a:path w="95250" h="85725">
                  <a:moveTo>
                    <a:pt x="95250" y="42862"/>
                  </a:moveTo>
                  <a:lnTo>
                    <a:pt x="0" y="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174A85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6459855" y="1600200"/>
              <a:ext cx="986790" cy="2286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95212" y="164449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总线传输周期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2381250" y="1885950"/>
              <a:ext cx="9048750" cy="266700"/>
            </a:xfrm>
            <a:custGeom>
              <a:avLst/>
              <a:gdLst/>
              <a:ahLst/>
              <a:cxnLst/>
              <a:rect l="l" t="t" r="r" b="b"/>
              <a:pathLst>
                <a:path w="9048750" h="266700">
                  <a:moveTo>
                    <a:pt x="0" y="266700"/>
                  </a:moveTo>
                  <a:lnTo>
                    <a:pt x="762000" y="266700"/>
                  </a:lnTo>
                  <a:lnTo>
                    <a:pt x="762000" y="0"/>
                  </a:lnTo>
                  <a:lnTo>
                    <a:pt x="1714500" y="0"/>
                  </a:lnTo>
                  <a:lnTo>
                    <a:pt x="1714500" y="266700"/>
                  </a:lnTo>
                  <a:lnTo>
                    <a:pt x="2667000" y="266700"/>
                  </a:lnTo>
                  <a:lnTo>
                    <a:pt x="2667000" y="0"/>
                  </a:lnTo>
                  <a:lnTo>
                    <a:pt x="3619500" y="0"/>
                  </a:lnTo>
                  <a:lnTo>
                    <a:pt x="3619500" y="266700"/>
                  </a:lnTo>
                  <a:lnTo>
                    <a:pt x="4572000" y="266700"/>
                  </a:lnTo>
                  <a:lnTo>
                    <a:pt x="4572000" y="0"/>
                  </a:lnTo>
                  <a:lnTo>
                    <a:pt x="5524500" y="0"/>
                  </a:lnTo>
                  <a:lnTo>
                    <a:pt x="5524500" y="266700"/>
                  </a:lnTo>
                  <a:lnTo>
                    <a:pt x="6477000" y="266700"/>
                  </a:lnTo>
                  <a:lnTo>
                    <a:pt x="6477000" y="0"/>
                  </a:lnTo>
                  <a:lnTo>
                    <a:pt x="7429500" y="0"/>
                  </a:lnTo>
                  <a:lnTo>
                    <a:pt x="7429500" y="266700"/>
                  </a:lnTo>
                  <a:lnTo>
                    <a:pt x="8382000" y="266700"/>
                  </a:lnTo>
                  <a:lnTo>
                    <a:pt x="8382000" y="0"/>
                  </a:lnTo>
                  <a:lnTo>
                    <a:pt x="9048750" y="0"/>
                  </a:lnTo>
                </a:path>
              </a:pathLst>
            </a:custGeom>
            <a:noFill/>
            <a:ln w="22860">
              <a:solidFill>
                <a:srgbClr val="1F2937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3267075" y="2343150"/>
              <a:ext cx="1657350" cy="9525"/>
            </a:xfrm>
            <a:custGeom>
              <a:avLst/>
              <a:gdLst/>
              <a:ahLst/>
              <a:cxnLst/>
              <a:rect l="l" t="t" r="r" b="b"/>
              <a:pathLst>
                <a:path w="1657350" h="9525">
                  <a:moveTo>
                    <a:pt x="0" y="0"/>
                  </a:moveTo>
                  <a:lnTo>
                    <a:pt x="1657350" y="0"/>
                  </a:lnTo>
                </a:path>
              </a:pathLst>
            </a:custGeom>
            <a:noFill/>
            <a:ln w="14288">
              <a:solidFill>
                <a:srgbClr val="C2410C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3181350" y="2300288"/>
              <a:ext cx="95250" cy="85725"/>
            </a:xfrm>
            <a:custGeom>
              <a:avLst/>
              <a:gdLst/>
              <a:ahLst/>
              <a:cxnLst/>
              <a:rect l="l" t="t" r="r" b="b"/>
              <a:pathLst>
                <a:path w="95250" h="85725">
                  <a:moveTo>
                    <a:pt x="0" y="42862"/>
                  </a:moveTo>
                  <a:lnTo>
                    <a:pt x="95250" y="0"/>
                  </a:lnTo>
                  <a:lnTo>
                    <a:pt x="95250" y="85725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21" name="Polygon 21"/>
            <p:cNvSpPr/>
            <p:nvPr/>
          </p:nvSpPr>
          <p:spPr>
            <a:xfrm>
              <a:off x="4914900" y="2300288"/>
              <a:ext cx="95250" cy="85725"/>
            </a:xfrm>
            <a:custGeom>
              <a:avLst/>
              <a:gdLst/>
              <a:ahLst/>
              <a:cxnLst/>
              <a:rect l="l" t="t" r="r" b="b"/>
              <a:pathLst>
                <a:path w="95250" h="85725">
                  <a:moveTo>
                    <a:pt x="95250" y="42862"/>
                  </a:moveTo>
                  <a:lnTo>
                    <a:pt x="0" y="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3951922" y="2236470"/>
              <a:ext cx="287655" cy="21336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004165" y="22774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T1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5172075" y="2343150"/>
              <a:ext cx="1657350" cy="9525"/>
            </a:xfrm>
            <a:custGeom>
              <a:avLst/>
              <a:gdLst/>
              <a:ahLst/>
              <a:cxnLst/>
              <a:rect l="l" t="t" r="r" b="b"/>
              <a:pathLst>
                <a:path w="1657350" h="9525">
                  <a:moveTo>
                    <a:pt x="0" y="0"/>
                  </a:moveTo>
                  <a:lnTo>
                    <a:pt x="1657350" y="0"/>
                  </a:lnTo>
                </a:path>
              </a:pathLst>
            </a:custGeom>
            <a:noFill/>
            <a:ln w="14288">
              <a:solidFill>
                <a:srgbClr val="C2410C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5086350" y="2300288"/>
              <a:ext cx="95250" cy="85725"/>
            </a:xfrm>
            <a:custGeom>
              <a:avLst/>
              <a:gdLst/>
              <a:ahLst/>
              <a:cxnLst/>
              <a:rect l="l" t="t" r="r" b="b"/>
              <a:pathLst>
                <a:path w="95250" h="85725">
                  <a:moveTo>
                    <a:pt x="0" y="42862"/>
                  </a:moveTo>
                  <a:lnTo>
                    <a:pt x="95250" y="0"/>
                  </a:lnTo>
                  <a:lnTo>
                    <a:pt x="95250" y="85725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26" name="Polygon 26"/>
            <p:cNvSpPr/>
            <p:nvPr/>
          </p:nvSpPr>
          <p:spPr>
            <a:xfrm>
              <a:off x="6819900" y="2300288"/>
              <a:ext cx="95250" cy="85725"/>
            </a:xfrm>
            <a:custGeom>
              <a:avLst/>
              <a:gdLst/>
              <a:ahLst/>
              <a:cxnLst/>
              <a:rect l="l" t="t" r="r" b="b"/>
              <a:pathLst>
                <a:path w="95250" h="85725">
                  <a:moveTo>
                    <a:pt x="95250" y="42862"/>
                  </a:moveTo>
                  <a:lnTo>
                    <a:pt x="0" y="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856922" y="2236470"/>
              <a:ext cx="287655" cy="21336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909165" y="22774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T2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7077075" y="2343150"/>
              <a:ext cx="1657350" cy="9525"/>
            </a:xfrm>
            <a:custGeom>
              <a:avLst/>
              <a:gdLst/>
              <a:ahLst/>
              <a:cxnLst/>
              <a:rect l="l" t="t" r="r" b="b"/>
              <a:pathLst>
                <a:path w="1657350" h="9525">
                  <a:moveTo>
                    <a:pt x="0" y="0"/>
                  </a:moveTo>
                  <a:lnTo>
                    <a:pt x="1657350" y="0"/>
                  </a:lnTo>
                </a:path>
              </a:pathLst>
            </a:custGeom>
            <a:noFill/>
            <a:ln w="14288">
              <a:solidFill>
                <a:srgbClr val="C2410C"/>
              </a:solidFill>
            </a:ln>
          </p:spPr>
        </p:sp>
        <p:sp>
          <p:nvSpPr>
            <p:cNvPr id="30" name="Polygon 30"/>
            <p:cNvSpPr/>
            <p:nvPr/>
          </p:nvSpPr>
          <p:spPr>
            <a:xfrm>
              <a:off x="6991350" y="2300288"/>
              <a:ext cx="95250" cy="85725"/>
            </a:xfrm>
            <a:custGeom>
              <a:avLst/>
              <a:gdLst/>
              <a:ahLst/>
              <a:cxnLst/>
              <a:rect l="l" t="t" r="r" b="b"/>
              <a:pathLst>
                <a:path w="95250" h="85725">
                  <a:moveTo>
                    <a:pt x="0" y="42862"/>
                  </a:moveTo>
                  <a:lnTo>
                    <a:pt x="95250" y="0"/>
                  </a:lnTo>
                  <a:lnTo>
                    <a:pt x="95250" y="85725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1" name="Polygon 31"/>
            <p:cNvSpPr/>
            <p:nvPr/>
          </p:nvSpPr>
          <p:spPr>
            <a:xfrm>
              <a:off x="8724900" y="2300288"/>
              <a:ext cx="95250" cy="85725"/>
            </a:xfrm>
            <a:custGeom>
              <a:avLst/>
              <a:gdLst/>
              <a:ahLst/>
              <a:cxnLst/>
              <a:rect l="l" t="t" r="r" b="b"/>
              <a:pathLst>
                <a:path w="95250" h="85725">
                  <a:moveTo>
                    <a:pt x="95250" y="42862"/>
                  </a:moveTo>
                  <a:lnTo>
                    <a:pt x="0" y="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761922" y="2236470"/>
              <a:ext cx="287655" cy="21336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814165" y="22774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T3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8982075" y="2343150"/>
              <a:ext cx="1657350" cy="9525"/>
            </a:xfrm>
            <a:custGeom>
              <a:avLst/>
              <a:gdLst/>
              <a:ahLst/>
              <a:cxnLst/>
              <a:rect l="l" t="t" r="r" b="b"/>
              <a:pathLst>
                <a:path w="1657350" h="9525">
                  <a:moveTo>
                    <a:pt x="0" y="0"/>
                  </a:moveTo>
                  <a:lnTo>
                    <a:pt x="1657350" y="0"/>
                  </a:lnTo>
                </a:path>
              </a:pathLst>
            </a:custGeom>
            <a:noFill/>
            <a:ln w="14288">
              <a:solidFill>
                <a:srgbClr val="C2410C"/>
              </a:solidFill>
            </a:ln>
          </p:spPr>
        </p:sp>
        <p:sp>
          <p:nvSpPr>
            <p:cNvPr id="35" name="Polygon 35"/>
            <p:cNvSpPr/>
            <p:nvPr/>
          </p:nvSpPr>
          <p:spPr>
            <a:xfrm>
              <a:off x="8896350" y="2300288"/>
              <a:ext cx="95250" cy="85725"/>
            </a:xfrm>
            <a:custGeom>
              <a:avLst/>
              <a:gdLst/>
              <a:ahLst/>
              <a:cxnLst/>
              <a:rect l="l" t="t" r="r" b="b"/>
              <a:pathLst>
                <a:path w="95250" h="85725">
                  <a:moveTo>
                    <a:pt x="0" y="42862"/>
                  </a:moveTo>
                  <a:lnTo>
                    <a:pt x="95250" y="0"/>
                  </a:lnTo>
                  <a:lnTo>
                    <a:pt x="95250" y="85725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6" name="Polygon 36"/>
            <p:cNvSpPr/>
            <p:nvPr/>
          </p:nvSpPr>
          <p:spPr>
            <a:xfrm>
              <a:off x="10629900" y="2300288"/>
              <a:ext cx="95250" cy="85725"/>
            </a:xfrm>
            <a:custGeom>
              <a:avLst/>
              <a:gdLst/>
              <a:ahLst/>
              <a:cxnLst/>
              <a:rect l="l" t="t" r="r" b="b"/>
              <a:pathLst>
                <a:path w="95250" h="85725">
                  <a:moveTo>
                    <a:pt x="95250" y="42862"/>
                  </a:moveTo>
                  <a:lnTo>
                    <a:pt x="0" y="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9666922" y="2236470"/>
              <a:ext cx="287655" cy="21336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719165" y="22774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5904" y="19469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时钟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5904" y="264223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地址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5904" y="31089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读命令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7047" y="332374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低电平有效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55904" y="37280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数据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2381250" y="2581275"/>
              <a:ext cx="571500" cy="285750"/>
            </a:xfrm>
            <a:prstGeom prst="rect">
              <a:avLst/>
            </a:prstGeom>
            <a:solidFill>
              <a:srgbClr val="E3E8F0"/>
            </a:solidFill>
            <a:ln>
              <a:noFill/>
            </a:ln>
          </p:spPr>
        </p:sp>
        <p:sp>
          <p:nvSpPr>
            <p:cNvPr id="45" name="Line 45"/>
            <p:cNvSpPr/>
            <p:nvPr/>
          </p:nvSpPr>
          <p:spPr>
            <a:xfrm>
              <a:off x="2381250" y="27241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3335">
              <a:solidFill>
                <a:srgbClr val="9AA5B8"/>
              </a:solidFill>
            </a:ln>
          </p:spPr>
        </p:sp>
        <p:sp>
          <p:nvSpPr>
            <p:cNvPr id="46" name="Polygon 46"/>
            <p:cNvSpPr/>
            <p:nvPr/>
          </p:nvSpPr>
          <p:spPr>
            <a:xfrm>
              <a:off x="2952750" y="2581275"/>
              <a:ext cx="7620000" cy="285750"/>
            </a:xfrm>
            <a:custGeom>
              <a:avLst/>
              <a:gdLst/>
              <a:ahLst/>
              <a:cxnLst/>
              <a:rect l="l" t="t" r="r" b="b"/>
              <a:pathLst>
                <a:path w="7620000" h="285750">
                  <a:moveTo>
                    <a:pt x="0" y="142875"/>
                  </a:moveTo>
                  <a:lnTo>
                    <a:pt x="85725" y="0"/>
                  </a:lnTo>
                  <a:lnTo>
                    <a:pt x="7534275" y="0"/>
                  </a:lnTo>
                  <a:lnTo>
                    <a:pt x="7620000" y="142875"/>
                  </a:lnTo>
                  <a:lnTo>
                    <a:pt x="7534275" y="285750"/>
                  </a:lnTo>
                  <a:lnTo>
                    <a:pt x="85725" y="28575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F5FA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474714" y="26584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地址有效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0572750" y="2581275"/>
              <a:ext cx="857250" cy="285750"/>
            </a:xfrm>
            <a:prstGeom prst="rect">
              <a:avLst/>
            </a:prstGeom>
            <a:solidFill>
              <a:srgbClr val="E3E8F0"/>
            </a:solidFill>
            <a:ln>
              <a:noFill/>
            </a:ln>
          </p:spPr>
        </p:sp>
        <p:sp>
          <p:nvSpPr>
            <p:cNvPr id="49" name="Line 49"/>
            <p:cNvSpPr/>
            <p:nvPr/>
          </p:nvSpPr>
          <p:spPr>
            <a:xfrm>
              <a:off x="10572750" y="2724150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noFill/>
            <a:ln w="13335">
              <a:solidFill>
                <a:srgbClr val="9AA5B8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2381250" y="3143250"/>
              <a:ext cx="9048750" cy="266700"/>
            </a:xfrm>
            <a:custGeom>
              <a:avLst/>
              <a:gdLst/>
              <a:ahLst/>
              <a:cxnLst/>
              <a:rect l="l" t="t" r="r" b="b"/>
              <a:pathLst>
                <a:path w="9048750" h="266700">
                  <a:moveTo>
                    <a:pt x="0" y="0"/>
                  </a:moveTo>
                  <a:lnTo>
                    <a:pt x="1943100" y="0"/>
                  </a:lnTo>
                  <a:lnTo>
                    <a:pt x="2667000" y="266700"/>
                  </a:lnTo>
                  <a:lnTo>
                    <a:pt x="5943600" y="266700"/>
                  </a:lnTo>
                  <a:lnTo>
                    <a:pt x="6477000" y="0"/>
                  </a:lnTo>
                  <a:lnTo>
                    <a:pt x="9048750" y="0"/>
                  </a:lnTo>
                </a:path>
              </a:pathLst>
            </a:custGeom>
            <a:noFill/>
            <a:ln w="24765">
              <a:solidFill>
                <a:srgbClr val="1F5FA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974461" y="322040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读命令有效（低电平）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2381250" y="3667125"/>
              <a:ext cx="4362450" cy="285750"/>
            </a:xfrm>
            <a:prstGeom prst="rect">
              <a:avLst/>
            </a:prstGeom>
            <a:solidFill>
              <a:srgbClr val="E3E8F0"/>
            </a:solidFill>
            <a:ln>
              <a:noFill/>
            </a:ln>
          </p:spPr>
        </p:sp>
        <p:sp>
          <p:nvSpPr>
            <p:cNvPr id="53" name="Line 53"/>
            <p:cNvSpPr/>
            <p:nvPr/>
          </p:nvSpPr>
          <p:spPr>
            <a:xfrm>
              <a:off x="2381250" y="3810000"/>
              <a:ext cx="4362450" cy="9525"/>
            </a:xfrm>
            <a:custGeom>
              <a:avLst/>
              <a:gdLst/>
              <a:ahLst/>
              <a:cxnLst/>
              <a:rect l="l" t="t" r="r" b="b"/>
              <a:pathLst>
                <a:path w="4362450" h="9525">
                  <a:moveTo>
                    <a:pt x="0" y="0"/>
                  </a:moveTo>
                  <a:lnTo>
                    <a:pt x="4362450" y="0"/>
                  </a:lnTo>
                </a:path>
              </a:pathLst>
            </a:custGeom>
            <a:noFill/>
            <a:ln w="13335">
              <a:solidFill>
                <a:srgbClr val="9AA5B8"/>
              </a:solidFill>
            </a:ln>
          </p:spPr>
        </p:sp>
        <p:sp>
          <p:nvSpPr>
            <p:cNvPr id="54" name="Polygon 54"/>
            <p:cNvSpPr/>
            <p:nvPr/>
          </p:nvSpPr>
          <p:spPr>
            <a:xfrm>
              <a:off x="6743700" y="3667125"/>
              <a:ext cx="2114550" cy="285750"/>
            </a:xfrm>
            <a:custGeom>
              <a:avLst/>
              <a:gdLst/>
              <a:ahLst/>
              <a:cxnLst/>
              <a:rect l="l" t="t" r="r" b="b"/>
              <a:pathLst>
                <a:path w="2114550" h="285750">
                  <a:moveTo>
                    <a:pt x="0" y="142875"/>
                  </a:moveTo>
                  <a:lnTo>
                    <a:pt x="85725" y="0"/>
                  </a:lnTo>
                  <a:lnTo>
                    <a:pt x="2028825" y="0"/>
                  </a:lnTo>
                  <a:lnTo>
                    <a:pt x="2114550" y="142875"/>
                  </a:lnTo>
                  <a:lnTo>
                    <a:pt x="2028825" y="285750"/>
                  </a:lnTo>
                  <a:lnTo>
                    <a:pt x="85725" y="28575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F5FA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512939" y="37442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数据有效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858250" y="3667125"/>
              <a:ext cx="2571750" cy="285750"/>
            </a:xfrm>
            <a:prstGeom prst="rect">
              <a:avLst/>
            </a:prstGeom>
            <a:solidFill>
              <a:srgbClr val="E3E8F0"/>
            </a:solidFill>
            <a:ln>
              <a:noFill/>
            </a:ln>
          </p:spPr>
        </p:sp>
        <p:sp>
          <p:nvSpPr>
            <p:cNvPr id="57" name="Line 57"/>
            <p:cNvSpPr/>
            <p:nvPr/>
          </p:nvSpPr>
          <p:spPr>
            <a:xfrm>
              <a:off x="8858250" y="3810000"/>
              <a:ext cx="2571750" cy="9525"/>
            </a:xfrm>
            <a:custGeom>
              <a:avLst/>
              <a:gdLst/>
              <a:ahLst/>
              <a:cxnLst/>
              <a:rect l="l" t="t" r="r" b="b"/>
              <a:pathLst>
                <a:path w="2571750" h="9525">
                  <a:moveTo>
                    <a:pt x="0" y="0"/>
                  </a:moveTo>
                  <a:lnTo>
                    <a:pt x="2571750" y="0"/>
                  </a:lnTo>
                </a:path>
              </a:pathLst>
            </a:custGeom>
            <a:noFill/>
            <a:ln w="13335">
              <a:solidFill>
                <a:srgbClr val="9AA5B8"/>
              </a:solidFill>
            </a:ln>
          </p:spPr>
        </p:sp>
      </p:grpSp>
      <p:grpSp>
        <p:nvGrpSpPr>
          <p:cNvPr id="64" name="t1"/>
          <p:cNvGrpSpPr/>
          <p:nvPr/>
        </p:nvGrpSpPr>
        <p:grpSpPr>
          <a:xfrm>
            <a:off x="533400" y="4343400"/>
            <a:ext cx="2667000" cy="1314450"/>
            <a:chOff x="533400" y="4343400"/>
            <a:chExt cx="2667000" cy="1314450"/>
          </a:xfrm>
        </p:grpSpPr>
        <p:sp>
          <p:nvSpPr>
            <p:cNvPr id="59" name="Rectangle 59"/>
            <p:cNvSpPr/>
            <p:nvPr/>
          </p:nvSpPr>
          <p:spPr>
            <a:xfrm>
              <a:off x="533400" y="4343400"/>
              <a:ext cx="2667000" cy="1314450"/>
            </a:xfrm>
            <a:prstGeom prst="roundRect">
              <a:avLst>
                <a:gd name="adj" fmla="val 101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542925" y="4476750"/>
              <a:ext cx="47625" cy="104775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762000" y="4476750"/>
              <a:ext cx="131064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42190" y="4536281"/>
              <a:ext cx="11502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T1 主模块发地址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56285" y="4869656"/>
              <a:ext cx="1576070" cy="6772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时钟前沿到来，主模块把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地址送上地址线，地址在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整个周期内保持有效。</a:t>
              </a:r>
            </a:p>
          </p:txBody>
        </p:sp>
      </p:grpSp>
      <p:grpSp>
        <p:nvGrpSpPr>
          <p:cNvPr id="70" name="t2"/>
          <p:cNvGrpSpPr/>
          <p:nvPr/>
        </p:nvGrpSpPr>
        <p:grpSpPr>
          <a:xfrm>
            <a:off x="3352800" y="4343400"/>
            <a:ext cx="2667000" cy="1314450"/>
            <a:chOff x="3352800" y="4343400"/>
            <a:chExt cx="2667000" cy="1314450"/>
          </a:xfrm>
        </p:grpSpPr>
        <p:sp>
          <p:nvSpPr>
            <p:cNvPr id="65" name="Rectangle 65"/>
            <p:cNvSpPr/>
            <p:nvPr/>
          </p:nvSpPr>
          <p:spPr>
            <a:xfrm>
              <a:off x="3352800" y="4343400"/>
              <a:ext cx="2667000" cy="1314450"/>
            </a:xfrm>
            <a:prstGeom prst="roundRect">
              <a:avLst>
                <a:gd name="adj" fmla="val 101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3362325" y="4476750"/>
              <a:ext cx="47625" cy="104775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3581400" y="4476750"/>
              <a:ext cx="145256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3656688" y="4536281"/>
              <a:ext cx="13010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T2 主模块发读命令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3575685" y="4869656"/>
              <a:ext cx="1576070" cy="6772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主模块发出读命令，读命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令低电平有效，一直保持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 T3 结束。</a:t>
              </a:r>
            </a:p>
          </p:txBody>
        </p:sp>
      </p:grpSp>
      <p:grpSp>
        <p:nvGrpSpPr>
          <p:cNvPr id="76" name="t3"/>
          <p:cNvGrpSpPr/>
          <p:nvPr/>
        </p:nvGrpSpPr>
        <p:grpSpPr>
          <a:xfrm>
            <a:off x="6172200" y="4343400"/>
            <a:ext cx="2667000" cy="1314450"/>
            <a:chOff x="6172200" y="4343400"/>
            <a:chExt cx="2667000" cy="1314450"/>
          </a:xfrm>
        </p:grpSpPr>
        <p:sp>
          <p:nvSpPr>
            <p:cNvPr id="71" name="Rectangle 71"/>
            <p:cNvSpPr/>
            <p:nvPr/>
          </p:nvSpPr>
          <p:spPr>
            <a:xfrm>
              <a:off x="6172200" y="4343400"/>
              <a:ext cx="2667000" cy="1314450"/>
            </a:xfrm>
            <a:prstGeom prst="roundRect">
              <a:avLst>
                <a:gd name="adj" fmla="val 101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6181725" y="4476750"/>
              <a:ext cx="47625" cy="104775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6400800" y="4476750"/>
              <a:ext cx="1452562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476088" y="4536281"/>
              <a:ext cx="13010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T3 从模块提供数据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395085" y="4869656"/>
              <a:ext cx="1775206" cy="6772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从模块按地址和读命令把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数据送上数据线，数据在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T3 内稳定，供主模块读入。</a:t>
              </a:r>
            </a:p>
          </p:txBody>
        </p:sp>
      </p:grpSp>
      <p:grpSp>
        <p:nvGrpSpPr>
          <p:cNvPr id="82" name="t4"/>
          <p:cNvGrpSpPr/>
          <p:nvPr/>
        </p:nvGrpSpPr>
        <p:grpSpPr>
          <a:xfrm>
            <a:off x="8991600" y="4343400"/>
            <a:ext cx="2667000" cy="1314450"/>
            <a:chOff x="8991600" y="4343400"/>
            <a:chExt cx="2667000" cy="1314450"/>
          </a:xfrm>
        </p:grpSpPr>
        <p:sp>
          <p:nvSpPr>
            <p:cNvPr id="77" name="Rectangle 77"/>
            <p:cNvSpPr/>
            <p:nvPr/>
          </p:nvSpPr>
          <p:spPr>
            <a:xfrm>
              <a:off x="8991600" y="4343400"/>
              <a:ext cx="2667000" cy="1314450"/>
            </a:xfrm>
            <a:prstGeom prst="roundRect">
              <a:avLst>
                <a:gd name="adj" fmla="val 101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9001125" y="4476750"/>
              <a:ext cx="47625" cy="104775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9220200" y="4476750"/>
              <a:ext cx="102584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9308289" y="4536281"/>
              <a:ext cx="8487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T4 撤销信号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9214485" y="4869656"/>
              <a:ext cx="1576070" cy="6772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主模块撤销读命令，从模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块撤销数据；地址在 T4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结束时撤销，周期完成。</a:t>
              </a:r>
            </a:p>
          </p:txBody>
        </p:sp>
      </p:grpSp>
      <p:grpSp>
        <p:nvGrpSpPr>
          <p:cNvPr id="85" name="phase"/>
          <p:cNvGrpSpPr/>
          <p:nvPr/>
        </p:nvGrpSpPr>
        <p:grpSpPr>
          <a:xfrm>
            <a:off x="533400" y="5791200"/>
            <a:ext cx="6667500" cy="571500"/>
            <a:chOff x="533400" y="5791200"/>
            <a:chExt cx="6667500" cy="571500"/>
          </a:xfrm>
        </p:grpSpPr>
        <p:sp>
          <p:nvSpPr>
            <p:cNvPr id="83" name="Rectangle 83"/>
            <p:cNvSpPr/>
            <p:nvPr/>
          </p:nvSpPr>
          <p:spPr>
            <a:xfrm>
              <a:off x="533400" y="5791200"/>
              <a:ext cx="6667500" cy="571500"/>
            </a:xfrm>
            <a:prstGeom prst="roundRect">
              <a:avLst>
                <a:gd name="adj" fmla="val 2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737235" y="5907881"/>
              <a:ext cx="4036822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对照四个阶段：T1、T2 属于寻址，T3 属于传数，T4 进入结束；</a:t>
              </a:r>
              <a:br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申请分配在这个传输周期开始之前已经完成。</a:t>
              </a:r>
            </a:p>
          </p:txBody>
        </p:sp>
      </p:grpSp>
      <p:grpSp>
        <p:nvGrpSpPr>
          <p:cNvPr id="89" name="note"/>
          <p:cNvGrpSpPr/>
          <p:nvPr/>
        </p:nvGrpSpPr>
        <p:grpSpPr>
          <a:xfrm>
            <a:off x="7353300" y="5791200"/>
            <a:ext cx="4305300" cy="571500"/>
            <a:chOff x="7353300" y="5791200"/>
            <a:chExt cx="4305300" cy="571500"/>
          </a:xfrm>
        </p:grpSpPr>
        <p:sp>
          <p:nvSpPr>
            <p:cNvPr id="86" name="Rectangle 86"/>
            <p:cNvSpPr/>
            <p:nvPr/>
          </p:nvSpPr>
          <p:spPr>
            <a:xfrm>
              <a:off x="7353300" y="5791200"/>
              <a:ext cx="4305300" cy="571500"/>
            </a:xfrm>
            <a:prstGeom prst="roundRect">
              <a:avLst>
                <a:gd name="adj" fmla="val 2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7362825" y="5886450"/>
              <a:ext cx="47625" cy="38100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7557135" y="5907881"/>
              <a:ext cx="2593086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每个信号在第几个 T 出现是事先定死的，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从模块必须在规定的时钟周期内完成。</a:t>
              </a:r>
            </a:p>
          </p:txBody>
        </p:sp>
      </p:grpSp>
      <p:grpSp>
        <p:nvGrpSpPr>
          <p:cNvPr id="9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0" name="TextBox 90"/>
            <p:cNvSpPr txBox="1"/>
            <p:nvPr/>
          </p:nvSpPr>
          <p:spPr>
            <a:xfrm>
              <a:off x="528447" y="6581299"/>
              <a:ext cx="27605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00 总线掠影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9934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640" y="407194"/>
              <a:ext cx="2271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00 总线 · 总线通信控制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同步通信的优缺点，以及衡量总线的常用指标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4544378" cy="1568768"/>
            <a:chOff x="533400" y="1524000"/>
            <a:chExt cx="4544378" cy="156876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1568768"/>
            </a:xfrm>
            <a:prstGeom prst="roundRect">
              <a:avLst>
                <a:gd name="adj" fmla="val 85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0206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06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优点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77240" y="214312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33831" y="2082641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规定明确统一，模块之间配合简单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7240" y="246030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3831" y="2400776"/>
              <a:ext cx="36212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适合总线较短、各部件存取时间比较一致的场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3272790"/>
            <a:ext cx="4544378" cy="2239328"/>
            <a:chOff x="533400" y="3272790"/>
            <a:chExt cx="4544378" cy="2239328"/>
          </a:xfrm>
        </p:grpSpPr>
        <p:sp>
          <p:nvSpPr>
            <p:cNvPr id="16" name="Rectangle 16"/>
            <p:cNvSpPr/>
            <p:nvPr/>
          </p:nvSpPr>
          <p:spPr>
            <a:xfrm>
              <a:off x="533400" y="3272790"/>
              <a:ext cx="4544378" cy="2239328"/>
            </a:xfrm>
            <a:prstGeom prst="roundRect">
              <a:avLst>
                <a:gd name="adj" fmla="val 59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406140"/>
              <a:ext cx="47625" cy="197262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69620" y="347091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61060" y="35052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77240" y="389191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3831" y="3831431"/>
              <a:ext cx="36212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主从模块的时间配合是强制的，必须在限定时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间内完成规定动作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77240" y="448151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33831" y="4421029"/>
              <a:ext cx="36212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所有从模块用同一时限，公共时钟只能按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最慢</a:t>
              </a:r>
              <a:br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的部件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设计，快设备也得陪着等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3524" y="5006340"/>
              <a:ext cx="38892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所以同步总线的长度和挂接设备的速度差异都受限制。</a:t>
              </a:r>
            </a:p>
          </p:txBody>
        </p:sp>
      </p:grpSp>
      <p:grpSp>
        <p:nvGrpSpPr>
          <p:cNvPr id="52" name="c2-table-1"/>
          <p:cNvGrpSpPr/>
          <p:nvPr/>
        </p:nvGrpSpPr>
        <p:grpSpPr>
          <a:xfrm>
            <a:off x="5377244" y="1524000"/>
            <a:ext cx="6281356" cy="4029647"/>
            <a:chOff x="5377244" y="1524000"/>
            <a:chExt cx="6281356" cy="4029647"/>
          </a:xfrm>
        </p:grpSpPr>
        <p:sp>
          <p:nvSpPr>
            <p:cNvPr id="26" name="Rectangle 26"/>
            <p:cNvSpPr/>
            <p:nvPr/>
          </p:nvSpPr>
          <p:spPr>
            <a:xfrm>
              <a:off x="5382578" y="1524000"/>
              <a:ext cx="6276022" cy="4629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937606" y="165592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指标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075141" y="165592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483924" y="211978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总线宽度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90779" y="2119789"/>
              <a:ext cx="335022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数据总线的根数，如 8、16、32、64 位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82578" y="244602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82578" y="2450782"/>
              <a:ext cx="6276022" cy="4629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483924" y="2582704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标准传输率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90779" y="2582704"/>
              <a:ext cx="379494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总线上每秒能传输的最大字节数，单位 MBps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82578" y="290893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483924" y="3172301"/>
              <a:ext cx="127183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时钟同步/异步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990779" y="3045619"/>
              <a:ext cx="434263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数据与时钟同步工作的是同步总线，不与时钟同步的是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异步总线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82578" y="362616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82578" y="3630930"/>
              <a:ext cx="6276022" cy="7162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483924" y="388953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总线复用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990779" y="3762851"/>
              <a:ext cx="416229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地址线和数据线共用一组物理线，分时传送地址和数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据，如 8086 的 AD15 ~ AD0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82578" y="434244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483924" y="447913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信号线数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990779" y="4479131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地址总线、数据总线、控制总线的根数之和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82578" y="480536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382578" y="4810125"/>
              <a:ext cx="6276022" cy="4629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483924" y="4942999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总线控制方式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990779" y="4942999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突发传送、自动配置、仲裁方式等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82578" y="1524000"/>
              <a:ext cx="6276022" cy="374999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884670" y="1524000"/>
              <a:ext cx="9525" cy="37499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377244" y="5348288"/>
              <a:ext cx="42511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补充：教材中常用的总线性能指标，下一页计算的就是其中的传输率</a:t>
              </a:r>
            </a:p>
          </p:txBody>
        </p:sp>
      </p:grpSp>
      <p:grpSp>
        <p:nvGrpSpPr>
          <p:cNvPr id="59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53" name="Rectangle 53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6011228"/>
              <a:ext cx="200026" cy="200025"/>
              <a:chOff x="738188" y="6011228"/>
              <a:chExt cx="200026" cy="200025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8188" y="60112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77926" y="60556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12642" y="61668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0511" y="6011704"/>
              <a:ext cx="842553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同步总线适合距离短、各部件速度相近的场合；部件速度差异大时，改用异步或半同步方式更合适。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7605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00 总线掠影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9934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640" y="407194"/>
              <a:ext cx="2271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00 总线 · 总线通信控制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例：同步总线的数据传输率怎么算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406689" cy="308039"/>
            <a:chOff x="525399" y="1550194"/>
            <a:chExt cx="9406689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4066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传输率 = 每个总线传输周期传送的位数 × 每秒的总线传输周期数；每秒周期数 = 1 ÷ 总线传输周期。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67865"/>
            <a:ext cx="5410200" cy="1602105"/>
            <a:chOff x="533400" y="1967865"/>
            <a:chExt cx="5410200" cy="160210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41020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10121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177415"/>
              <a:ext cx="43434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3582" y="2213134"/>
              <a:ext cx="249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2554605"/>
              <a:ext cx="47205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总线时钟频率 8 MHz，一个总线传输周期等于 1 个时钟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周期。每个总线传输周期并行传送 16 位数据，求数据传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输率。</a:t>
              </a:r>
            </a:p>
          </p:txBody>
        </p:sp>
      </p:grpSp>
      <p:grpSp>
        <p:nvGrpSpPr>
          <p:cNvPr id="28" name="c1-steps-2"/>
          <p:cNvGrpSpPr/>
          <p:nvPr/>
        </p:nvGrpSpPr>
        <p:grpSpPr>
          <a:xfrm>
            <a:off x="533400" y="3769995"/>
            <a:ext cx="5166198" cy="1878615"/>
            <a:chOff x="533400" y="3769995"/>
            <a:chExt cx="5166198" cy="1878615"/>
          </a:xfrm>
        </p:grpSpPr>
        <p:sp>
          <p:nvSpPr>
            <p:cNvPr id="15" name="Rectangle 15"/>
            <p:cNvSpPr/>
            <p:nvPr/>
          </p:nvSpPr>
          <p:spPr>
            <a:xfrm>
              <a:off x="666750" y="3912870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533400" y="376999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8438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42055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4943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507111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7024" y="51449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80428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每秒几个周期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4097179"/>
              <a:ext cx="34936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个传输周期 = 1 个时钟周期，每秒 8×10⁶ 个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4880" y="4454842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每周期几位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4747736"/>
              <a:ext cx="11674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并行传送 16 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4880" y="510540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传输率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023" y="5399246"/>
              <a:ext cx="47535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 × 8×10⁶ = 1.28×10⁸ bps = 128 Mbps，除以 8 得 16 MBps</a:t>
              </a:r>
            </a:p>
          </p:txBody>
        </p:sp>
      </p:grpSp>
      <p:grpSp>
        <p:nvGrpSpPr>
          <p:cNvPr id="34" name="c2-card-1"/>
          <p:cNvGrpSpPr/>
          <p:nvPr/>
        </p:nvGrpSpPr>
        <p:grpSpPr>
          <a:xfrm>
            <a:off x="6248400" y="1967865"/>
            <a:ext cx="5410200" cy="1602105"/>
            <a:chOff x="6248400" y="1967865"/>
            <a:chExt cx="5410200" cy="1602105"/>
          </a:xfrm>
        </p:grpSpPr>
        <p:sp>
          <p:nvSpPr>
            <p:cNvPr id="29" name="Rectangle 29"/>
            <p:cNvSpPr/>
            <p:nvPr/>
          </p:nvSpPr>
          <p:spPr>
            <a:xfrm>
              <a:off x="6248400" y="1967865"/>
              <a:ext cx="541020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57925" y="210121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496050" y="2177415"/>
              <a:ext cx="43434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88582" y="2213134"/>
              <a:ext cx="249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88430" y="2554605"/>
              <a:ext cx="46539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时钟频率 100 MHz，一个总线传输周期占 4 个时钟周期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（即前面时序图的 T1 ~ T4），每周期并行传送 32 位，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求数据传输率。</a:t>
              </a:r>
            </a:p>
          </p:txBody>
        </p:sp>
      </p:grpSp>
      <p:grpSp>
        <p:nvGrpSpPr>
          <p:cNvPr id="48" name="c2-steps-2"/>
          <p:cNvGrpSpPr/>
          <p:nvPr/>
        </p:nvGrpSpPr>
        <p:grpSpPr>
          <a:xfrm>
            <a:off x="6248400" y="3769995"/>
            <a:ext cx="4625326" cy="1878615"/>
            <a:chOff x="6248400" y="3769995"/>
            <a:chExt cx="4625326" cy="1878615"/>
          </a:xfrm>
        </p:grpSpPr>
        <p:sp>
          <p:nvSpPr>
            <p:cNvPr id="35" name="Rectangle 35"/>
            <p:cNvSpPr/>
            <p:nvPr/>
          </p:nvSpPr>
          <p:spPr>
            <a:xfrm>
              <a:off x="6381750" y="3912870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6248400" y="376999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42024" y="38438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248400" y="442055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42024" y="44943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248400" y="507111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42024" y="51449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59880" y="380428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时钟周期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61023" y="4097179"/>
              <a:ext cx="19342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÷ (100×10⁶) s = 10 ns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59880" y="4454842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总线传输周期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61023" y="4747736"/>
              <a:ext cx="41657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× 10 ns = 40 ns，每秒 1 ÷ (40×10⁻⁹) = 2.5×10⁷ 个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59880" y="510540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传输率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61023" y="5399246"/>
              <a:ext cx="42127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 × 2.5×10⁷ = 8×10⁸ bps = 800 Mbps，即 100 MBps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829300"/>
            <a:ext cx="11211520" cy="533400"/>
            <a:chOff x="533400" y="5829300"/>
            <a:chExt cx="11211520" cy="533400"/>
          </a:xfrm>
        </p:grpSpPr>
        <p:sp>
          <p:nvSpPr>
            <p:cNvPr id="49" name="Rectangle 49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130" y="5991225"/>
              <a:ext cx="107047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单位别混：b 是位，B 是字节，1 MBps = 8 Mbps；计算传输率时 M 取 10⁶。一个传输周期占几个时钟周期要看清题目。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7605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00 总线掠影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9934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640" y="407194"/>
              <a:ext cx="2271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00 总线 · 总线通信控制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异步通信：没有公共时钟，靠请求和回答信号配合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193982" cy="2300288"/>
            <a:chOff x="533400" y="1524000"/>
            <a:chExt cx="5193982" cy="230028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300288"/>
            </a:xfrm>
            <a:prstGeom prst="roundRect">
              <a:avLst>
                <a:gd name="adj" fmla="val 579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3358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759" y="174355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异步通信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44714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主从模块之间没有公共时钟，采用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应答方式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：主模块发请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求，从模块准备好后回答，双方按信号推进，不按时钟节拍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推进。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6762" y="292608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2782" y="2869882"/>
              <a:ext cx="435997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并行：用联络信号配合，如 Strobe（选通）、Ready（就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绪）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6762" y="348329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2782" y="3427095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串行：不传同步时钟，靠每个字符前的起始位标识开始</a:t>
              </a:r>
            </a:p>
          </p:txBody>
        </p:sp>
      </p:grpSp>
      <p:grpSp>
        <p:nvGrpSpPr>
          <p:cNvPr id="19" name="c1-image-2"/>
          <p:cNvGrpSpPr/>
          <p:nvPr/>
        </p:nvGrpSpPr>
        <p:grpSpPr>
          <a:xfrm>
            <a:off x="533400" y="3994785"/>
            <a:ext cx="5193982" cy="2387631"/>
            <a:chOff x="533400" y="3994785"/>
            <a:chExt cx="5193982" cy="2387631"/>
          </a:xfrm>
        </p:grpSpPr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2"/>
            <a:srcRect l="0" t="22981" r="0" b="22981"/>
            <a:stretch>
              <a:fillRect/>
            </a:stretch>
          </p:blipFill>
          <p:spPr>
            <a:xfrm>
              <a:off x="533400" y="3994785"/>
              <a:ext cx="5193982" cy="2105025"/>
            </a:xfrm>
            <a:prstGeom prst="roundRect">
              <a:avLst>
                <a:gd name="adj" fmla="val 6334"/>
              </a:avLst>
            </a:prstGeom>
          </p:spPr>
        </p:pic>
        <p:sp>
          <p:nvSpPr>
            <p:cNvPr id="18" name="TextBox 18"/>
            <p:cNvSpPr txBox="1"/>
            <p:nvPr/>
          </p:nvSpPr>
          <p:spPr>
            <a:xfrm>
              <a:off x="1146048" y="6191726"/>
              <a:ext cx="39677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厨师把菜做好才按铃（回答），服务员听到铃再来端，双方不用对表</a:t>
              </a:r>
            </a:p>
          </p:txBody>
        </p:sp>
      </p:grpSp>
      <p:grpSp>
        <p:nvGrpSpPr>
          <p:cNvPr id="40" name="c2-table-1"/>
          <p:cNvGrpSpPr/>
          <p:nvPr/>
        </p:nvGrpSpPr>
        <p:grpSpPr>
          <a:xfrm>
            <a:off x="6027230" y="1524000"/>
            <a:ext cx="5631370" cy="2259996"/>
            <a:chOff x="6027230" y="1524000"/>
            <a:chExt cx="5631370" cy="2259996"/>
          </a:xfrm>
        </p:grpSpPr>
        <p:sp>
          <p:nvSpPr>
            <p:cNvPr id="20" name="Rectangle 20"/>
            <p:cNvSpPr/>
            <p:nvPr/>
          </p:nvSpPr>
          <p:spPr>
            <a:xfrm>
              <a:off x="6032182" y="1524000"/>
              <a:ext cx="5626418" cy="439102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24778" y="164877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互锁方式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49134" y="164877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请求信号何时撤销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799892" y="164877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回答信号何时撤销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128194" y="220789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不互锁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53097" y="2087880"/>
              <a:ext cx="17282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发出一段时间后自行撤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销，不等回答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503854" y="220789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发出一段时间后自行撤销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032182" y="263747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032182" y="2642235"/>
              <a:ext cx="5626418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128194" y="276701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半互锁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253097" y="276701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收到回答后才撤销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503854" y="276701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发出一段时间后自行撤销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032182" y="307562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28194" y="320611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全互锁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253097" y="320611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收到回答后才撤销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503854" y="320611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请求撤销后才撤销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032182" y="1524000"/>
              <a:ext cx="5626418" cy="199548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152322" y="1524000"/>
              <a:ext cx="9525" cy="199548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9403080" y="1524000"/>
              <a:ext cx="9525" cy="199548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027230" y="3593306"/>
              <a:ext cx="38358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补充：按请求与回答信号的相互制约程度分三种，可靠性依次提高</a:t>
              </a:r>
            </a:p>
          </p:txBody>
        </p:sp>
      </p:grpSp>
      <p:grpSp>
        <p:nvGrpSpPr>
          <p:cNvPr id="66" name="c2-graph-2"/>
          <p:cNvGrpSpPr/>
          <p:nvPr/>
        </p:nvGrpSpPr>
        <p:grpSpPr>
          <a:xfrm>
            <a:off x="6217730" y="4038124"/>
            <a:ext cx="5300852" cy="1994058"/>
            <a:chOff x="6217730" y="4038124"/>
            <a:chExt cx="5300852" cy="1994058"/>
          </a:xfrm>
        </p:grpSpPr>
        <p:sp>
          <p:nvSpPr>
            <p:cNvPr id="41" name="Freeform 41"/>
            <p:cNvSpPr/>
            <p:nvPr/>
          </p:nvSpPr>
          <p:spPr>
            <a:xfrm>
              <a:off x="6908482" y="4486275"/>
              <a:ext cx="4581525" cy="304800"/>
            </a:xfrm>
            <a:custGeom>
              <a:avLst/>
              <a:gdLst/>
              <a:ahLst/>
              <a:cxnLst/>
              <a:rect l="l" t="t" r="r" b="b"/>
              <a:pathLst>
                <a:path w="4581525" h="304800">
                  <a:moveTo>
                    <a:pt x="0" y="304800"/>
                  </a:moveTo>
                  <a:lnTo>
                    <a:pt x="647700" y="304800"/>
                  </a:lnTo>
                  <a:lnTo>
                    <a:pt x="647700" y="0"/>
                  </a:lnTo>
                  <a:lnTo>
                    <a:pt x="2838450" y="0"/>
                  </a:lnTo>
                  <a:lnTo>
                    <a:pt x="2838450" y="304800"/>
                  </a:lnTo>
                  <a:lnTo>
                    <a:pt x="4581525" y="304800"/>
                  </a:lnTo>
                </a:path>
              </a:pathLst>
            </a:custGeom>
            <a:noFill/>
            <a:ln w="24765">
              <a:solidFill>
                <a:srgbClr val="1F5FA8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6908482" y="5229225"/>
              <a:ext cx="4581525" cy="304800"/>
            </a:xfrm>
            <a:custGeom>
              <a:avLst/>
              <a:gdLst/>
              <a:ahLst/>
              <a:cxnLst/>
              <a:rect l="l" t="t" r="r" b="b"/>
              <a:pathLst>
                <a:path w="4581525" h="304800">
                  <a:moveTo>
                    <a:pt x="0" y="304800"/>
                  </a:moveTo>
                  <a:lnTo>
                    <a:pt x="1695450" y="304800"/>
                  </a:lnTo>
                  <a:lnTo>
                    <a:pt x="1695450" y="0"/>
                  </a:lnTo>
                  <a:lnTo>
                    <a:pt x="3790950" y="0"/>
                  </a:lnTo>
                  <a:lnTo>
                    <a:pt x="3790950" y="304800"/>
                  </a:lnTo>
                  <a:lnTo>
                    <a:pt x="4581525" y="304800"/>
                  </a:lnTo>
                </a:path>
              </a:pathLst>
            </a:custGeom>
            <a:noFill/>
            <a:ln w="24765">
              <a:solidFill>
                <a:srgbClr val="14A38B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7599998" y="4707255"/>
              <a:ext cx="880110" cy="591502"/>
            </a:xfrm>
            <a:custGeom>
              <a:avLst/>
              <a:gdLst/>
              <a:ahLst/>
              <a:cxnLst/>
              <a:rect l="l" t="t" r="r" b="b"/>
              <a:pathLst>
                <a:path w="880110" h="591502">
                  <a:moveTo>
                    <a:pt x="0" y="0"/>
                  </a:moveTo>
                  <a:lnTo>
                    <a:pt x="880110" y="591502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44" name="Freeform 44"/>
            <p:cNvSpPr/>
            <p:nvPr/>
          </p:nvSpPr>
          <p:spPr>
            <a:xfrm>
              <a:off x="8453438" y="5259705"/>
              <a:ext cx="105728" cy="92392"/>
            </a:xfrm>
            <a:custGeom>
              <a:avLst/>
              <a:gdLst/>
              <a:ahLst/>
              <a:cxnLst/>
              <a:rect l="l" t="t" r="r" b="b"/>
              <a:pathLst>
                <a:path w="105728" h="92392">
                  <a:moveTo>
                    <a:pt x="105728" y="92392"/>
                  </a:moveTo>
                  <a:lnTo>
                    <a:pt x="0" y="79057"/>
                  </a:lnTo>
                  <a:lnTo>
                    <a:pt x="5334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8648700" y="4717732"/>
              <a:ext cx="971550" cy="597217"/>
            </a:xfrm>
            <a:custGeom>
              <a:avLst/>
              <a:gdLst/>
              <a:ahLst/>
              <a:cxnLst/>
              <a:rect l="l" t="t" r="r" b="b"/>
              <a:pathLst>
                <a:path w="971550" h="597217">
                  <a:moveTo>
                    <a:pt x="0" y="597217"/>
                  </a:moveTo>
                  <a:lnTo>
                    <a:pt x="97155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46" name="Freeform 46"/>
            <p:cNvSpPr/>
            <p:nvPr/>
          </p:nvSpPr>
          <p:spPr>
            <a:xfrm>
              <a:off x="9595485" y="4668202"/>
              <a:ext cx="106680" cy="90488"/>
            </a:xfrm>
            <a:custGeom>
              <a:avLst/>
              <a:gdLst/>
              <a:ahLst/>
              <a:cxnLst/>
              <a:rect l="l" t="t" r="r" b="b"/>
              <a:pathLst>
                <a:path w="106680" h="90488">
                  <a:moveTo>
                    <a:pt x="106680" y="0"/>
                  </a:moveTo>
                  <a:lnTo>
                    <a:pt x="50483" y="90488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9790748" y="4707255"/>
              <a:ext cx="787717" cy="587692"/>
            </a:xfrm>
            <a:custGeom>
              <a:avLst/>
              <a:gdLst/>
              <a:ahLst/>
              <a:cxnLst/>
              <a:rect l="l" t="t" r="r" b="b"/>
              <a:pathLst>
                <a:path w="787717" h="587692">
                  <a:moveTo>
                    <a:pt x="0" y="0"/>
                  </a:moveTo>
                  <a:lnTo>
                    <a:pt x="787717" y="587692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48" name="Freeform 48"/>
            <p:cNvSpPr/>
            <p:nvPr/>
          </p:nvSpPr>
          <p:spPr>
            <a:xfrm>
              <a:off x="10550842" y="5256848"/>
              <a:ext cx="104775" cy="95250"/>
            </a:xfrm>
            <a:custGeom>
              <a:avLst/>
              <a:gdLst/>
              <a:ahLst/>
              <a:cxnLst/>
              <a:rect l="l" t="t" r="r" b="b"/>
              <a:pathLst>
                <a:path w="104775" h="95250">
                  <a:moveTo>
                    <a:pt x="104775" y="95250"/>
                  </a:moveTo>
                  <a:lnTo>
                    <a:pt x="0" y="76200"/>
                  </a:lnTo>
                  <a:lnTo>
                    <a:pt x="56197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6879908" y="4781550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11499532" y="4781550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6879908" y="5524500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11499532" y="5524500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7575232" y="4686300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8565832" y="5353050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8622982" y="5314950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9708832" y="4648200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9765982" y="4686300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10661332" y="5353050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217730" y="40381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全互锁时序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217730" y="459057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请求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217730" y="533447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回答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865560" y="483822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①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322885" y="483822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②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008685" y="483822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③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217920" y="5855970"/>
              <a:ext cx="346858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① 收到请求才回答　② 收到回答才撤请求　③ 请求撤销后才撤回答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7605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00 总线掠影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9934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640" y="407194"/>
              <a:ext cx="2271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00 总线 · 总线通信控制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异步串行传送：每个字符组成一帧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7304" y="1544002"/>
            <a:ext cx="4270553" cy="234696"/>
            <a:chOff x="527304" y="1544002"/>
            <a:chExt cx="4270553" cy="234696"/>
          </a:xfrm>
        </p:grpSpPr>
        <p:sp>
          <p:nvSpPr>
            <p:cNvPr id="7" name="TextBox 7"/>
            <p:cNvSpPr txBox="1"/>
            <p:nvPr/>
          </p:nvSpPr>
          <p:spPr>
            <a:xfrm>
              <a:off x="527304" y="1544002"/>
              <a:ext cx="42705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例：字符 A = 0100 0001B，8 位数据、奇校验、2 位终止位</a:t>
              </a:r>
            </a:p>
          </p:txBody>
        </p:sp>
      </p:grpSp>
      <p:grpSp>
        <p:nvGrpSpPr>
          <p:cNvPr id="44" name="c1-cells-2"/>
          <p:cNvGrpSpPr/>
          <p:nvPr/>
        </p:nvGrpSpPr>
        <p:grpSpPr>
          <a:xfrm>
            <a:off x="527304" y="1958816"/>
            <a:ext cx="5321046" cy="651987"/>
            <a:chOff x="527304" y="1958816"/>
            <a:chExt cx="5321046" cy="651987"/>
          </a:xfrm>
        </p:grpSpPr>
        <p:sp>
          <p:nvSpPr>
            <p:cNvPr id="9" name="TextBox 9"/>
            <p:cNvSpPr txBox="1"/>
            <p:nvPr/>
          </p:nvSpPr>
          <p:spPr>
            <a:xfrm>
              <a:off x="527304" y="2338388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帧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19150" y="2216468"/>
              <a:ext cx="419100" cy="394335"/>
            </a:xfrm>
            <a:prstGeom prst="rect">
              <a:avLst/>
            </a:prstGeom>
            <a:solidFill>
              <a:srgbClr val="F26B3A"/>
            </a:solidFill>
            <a:ln w="15240">
              <a:solidFill>
                <a:srgbClr val="F26B3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75958" y="23383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238250" y="2216468"/>
              <a:ext cx="419100" cy="3943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95058" y="23383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657350" y="2216468"/>
              <a:ext cx="419100" cy="3943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814158" y="23383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076450" y="2216468"/>
              <a:ext cx="419100" cy="3943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233258" y="23383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495550" y="2216468"/>
              <a:ext cx="419100" cy="3943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652358" y="23383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914650" y="2216468"/>
              <a:ext cx="419100" cy="3943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071458" y="23383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333750" y="2216468"/>
              <a:ext cx="419100" cy="3943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490558" y="23383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752850" y="2216468"/>
              <a:ext cx="419100" cy="3943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909658" y="23383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171950" y="2216468"/>
              <a:ext cx="419100" cy="3943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328758" y="23383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591050" y="2216468"/>
              <a:ext cx="41910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747858" y="23383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010150" y="2216468"/>
              <a:ext cx="419100" cy="3943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166958" y="23383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429250" y="2216468"/>
              <a:ext cx="419100" cy="3943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586058" y="23383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91819" y="195881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起始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990600" y="212121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366659" y="195881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b0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1409700" y="212121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300359" y="195881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b7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4343400" y="212121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663719" y="195881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校验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4762500" y="212121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501919" y="195881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终止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5600700" y="212121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56" name="c1-kv-3"/>
          <p:cNvGrpSpPr/>
          <p:nvPr/>
        </p:nvGrpSpPr>
        <p:grpSpPr>
          <a:xfrm>
            <a:off x="526161" y="2814161"/>
            <a:ext cx="6067044" cy="1527430"/>
            <a:chOff x="526161" y="2814161"/>
            <a:chExt cx="6067044" cy="1527430"/>
          </a:xfrm>
        </p:grpSpPr>
        <p:sp>
          <p:nvSpPr>
            <p:cNvPr id="45" name="TextBox 45"/>
            <p:cNvSpPr txBox="1"/>
            <p:nvPr/>
          </p:nvSpPr>
          <p:spPr>
            <a:xfrm>
              <a:off x="526161" y="281416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起始位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337691" y="2814161"/>
              <a:ext cx="282453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位低电平 0，标志一个字符开始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311753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26161" y="3230404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数据位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337691" y="3230404"/>
              <a:ext cx="34458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~ 8 位，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低位在前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（本例 b0 = 1 先送）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353377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26161" y="364664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校验位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337691" y="3646646"/>
              <a:ext cx="41718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奇或偶校验，可不设；A 有 2 个 1，奇校验位取 1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33400" y="395001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26161" y="406288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终止位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337691" y="4062889"/>
              <a:ext cx="37134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1、1.5 或 2 位高电平 1，空闲时线路保持 1</a:t>
              </a:r>
            </a:p>
          </p:txBody>
        </p:sp>
      </p:grpSp>
      <p:grpSp>
        <p:nvGrpSpPr>
          <p:cNvPr id="65" name="c1-card-4"/>
          <p:cNvGrpSpPr/>
          <p:nvPr/>
        </p:nvGrpSpPr>
        <p:grpSpPr>
          <a:xfrm>
            <a:off x="533400" y="4465320"/>
            <a:ext cx="6059805" cy="1679258"/>
            <a:chOff x="533400" y="4465320"/>
            <a:chExt cx="6059805" cy="1679258"/>
          </a:xfrm>
        </p:grpSpPr>
        <p:sp>
          <p:nvSpPr>
            <p:cNvPr id="57" name="Rectangle 57"/>
            <p:cNvSpPr/>
            <p:nvPr/>
          </p:nvSpPr>
          <p:spPr>
            <a:xfrm>
              <a:off x="533400" y="4465320"/>
              <a:ext cx="6059805" cy="1679258"/>
            </a:xfrm>
            <a:prstGeom prst="roundRect">
              <a:avLst>
                <a:gd name="adj" fmla="val 79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542925" y="4598670"/>
              <a:ext cx="47625" cy="141255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769620" y="4663440"/>
              <a:ext cx="1297305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36580" y="4697730"/>
              <a:ext cx="11633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为什么叫“起止式”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777240" y="508444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33831" y="5023961"/>
              <a:ext cx="55581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每个字符靠自己的起始位重新对齐，字符之间可以空闲任意长时间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777240" y="540258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33831" y="5342096"/>
              <a:ext cx="533829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终止位保证下一个起始位之前线路已回到 1，下降沿才看得出来</a:t>
              </a:r>
            </a:p>
          </p:txBody>
        </p:sp>
      </p:grpSp>
      <p:grpSp>
        <p:nvGrpSpPr>
          <p:cNvPr id="75" name="c2-card-1"/>
          <p:cNvGrpSpPr/>
          <p:nvPr/>
        </p:nvGrpSpPr>
        <p:grpSpPr>
          <a:xfrm>
            <a:off x="6898005" y="1524000"/>
            <a:ext cx="4760595" cy="2657475"/>
            <a:chOff x="6898005" y="1524000"/>
            <a:chExt cx="4760595" cy="2657475"/>
          </a:xfrm>
        </p:grpSpPr>
        <p:sp>
          <p:nvSpPr>
            <p:cNvPr id="66" name="Rectangle 66"/>
            <p:cNvSpPr/>
            <p:nvPr/>
          </p:nvSpPr>
          <p:spPr>
            <a:xfrm>
              <a:off x="6898005" y="1524000"/>
              <a:ext cx="4760595" cy="2657475"/>
            </a:xfrm>
            <a:prstGeom prst="roundRect">
              <a:avLst>
                <a:gd name="adj" fmla="val 501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907530" y="1657350"/>
              <a:ext cx="47625" cy="239077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7134225" y="172212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217664" y="17564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两个速率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126986" y="2082641"/>
              <a:ext cx="39819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波特率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：单位时间内传送的二进制数据位数，起始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位、校验位、终止位都算，单位 bps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126986" y="2672239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比特率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：单位时间内传送的二进制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有效数据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位数，单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 bps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7141845" y="332136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298436" y="3260884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同一线路上比特率总小于波特率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128129" y="3575685"/>
              <a:ext cx="41269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严格说波特率是每秒传送的码元数；二进制信号一个码元就是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 位，所以数值上等于每秒传送的全部位数。</a:t>
              </a:r>
            </a:p>
          </p:txBody>
        </p:sp>
      </p:grpSp>
      <p:grpSp>
        <p:nvGrpSpPr>
          <p:cNvPr id="89" name="c2-steps-2"/>
          <p:cNvGrpSpPr/>
          <p:nvPr/>
        </p:nvGrpSpPr>
        <p:grpSpPr>
          <a:xfrm>
            <a:off x="6898005" y="4371975"/>
            <a:ext cx="3357220" cy="1781556"/>
            <a:chOff x="6898005" y="4371975"/>
            <a:chExt cx="3357220" cy="1781556"/>
          </a:xfrm>
        </p:grpSpPr>
        <p:sp>
          <p:nvSpPr>
            <p:cNvPr id="76" name="Rectangle 76"/>
            <p:cNvSpPr/>
            <p:nvPr/>
          </p:nvSpPr>
          <p:spPr>
            <a:xfrm>
              <a:off x="7031355" y="4514850"/>
              <a:ext cx="19050" cy="123348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Ellipse 77"/>
            <p:cNvSpPr/>
            <p:nvPr/>
          </p:nvSpPr>
          <p:spPr>
            <a:xfrm>
              <a:off x="6898005" y="437197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991629" y="44457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6898005" y="498824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991629" y="50620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1" name="Ellipse 81"/>
            <p:cNvSpPr/>
            <p:nvPr/>
          </p:nvSpPr>
          <p:spPr>
            <a:xfrm>
              <a:off x="6898005" y="560546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991629" y="56792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309866" y="440483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接收方找起始位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311009" y="4685348"/>
              <a:ext cx="29442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线路空闲为 1，检测到 1 变 0 即一帧开始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309866" y="502110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逐位采样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311009" y="5301615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按约定的波特率在每一位的中间时刻采样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309866" y="563832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311009" y="5918835"/>
              <a:ext cx="25726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核对校验位，并检查终止位是否为 1</a:t>
              </a:r>
            </a:p>
          </p:txBody>
        </p:sp>
      </p:grpSp>
      <p:grpSp>
        <p:nvGrpSpPr>
          <p:cNvPr id="9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0" name="TextBox 90"/>
            <p:cNvSpPr txBox="1"/>
            <p:nvPr/>
          </p:nvSpPr>
          <p:spPr>
            <a:xfrm>
              <a:off x="528447" y="6581299"/>
              <a:ext cx="27605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00 总线掠影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9934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640" y="407194"/>
              <a:ext cx="2271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00 总线 · 总线通信控制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例：由字符格式和传送速度求波特率、比特率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951220" cy="1185862"/>
            <a:chOff x="533400" y="1524000"/>
            <a:chExt cx="5951220" cy="11858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525151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在异步串行传送系统中，字符格式为：1 个起始位、8 个数据位、1 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校验位、2 个终止位。若每秒传送 120 个字符，求波特率和比特率。</a:t>
              </a:r>
            </a:p>
          </p:txBody>
        </p:sp>
      </p:grpSp>
      <p:grpSp>
        <p:nvGrpSpPr>
          <p:cNvPr id="26" name="c1-steps-2"/>
          <p:cNvGrpSpPr/>
          <p:nvPr/>
        </p:nvGrpSpPr>
        <p:grpSpPr>
          <a:xfrm>
            <a:off x="533400" y="2888932"/>
            <a:ext cx="3613694" cy="1685450"/>
            <a:chOff x="533400" y="2888932"/>
            <a:chExt cx="3613694" cy="1685450"/>
          </a:xfrm>
        </p:grpSpPr>
        <p:sp>
          <p:nvSpPr>
            <p:cNvPr id="13" name="Rectangle 13"/>
            <p:cNvSpPr/>
            <p:nvPr/>
          </p:nvSpPr>
          <p:spPr>
            <a:xfrm>
              <a:off x="666750" y="3031808"/>
              <a:ext cx="19050" cy="11658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33400" y="288893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29627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47186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5456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05479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1286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29213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算一帧的位数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3188494"/>
              <a:ext cx="13985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+ 8 + 1 + 2 = 12 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350424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求波特率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3771424"/>
              <a:ext cx="32003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每秒 120 帧，每帧 12 位：120 × 12 = 1440 bps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642" y="4087177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求比特率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785" y="4354354"/>
              <a:ext cx="2913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每帧有效数据只有 8 位：120 × 8 = 960 bps</a:t>
              </a:r>
            </a:p>
          </p:txBody>
        </p:sp>
      </p:grpSp>
      <p:grpSp>
        <p:nvGrpSpPr>
          <p:cNvPr id="32" name="c1-card-3"/>
          <p:cNvGrpSpPr/>
          <p:nvPr/>
        </p:nvGrpSpPr>
        <p:grpSpPr>
          <a:xfrm>
            <a:off x="533400" y="4737735"/>
            <a:ext cx="5951220" cy="1185862"/>
            <a:chOff x="533400" y="4737735"/>
            <a:chExt cx="5951220" cy="1185862"/>
          </a:xfrm>
        </p:grpSpPr>
        <p:sp>
          <p:nvSpPr>
            <p:cNvPr id="27" name="Rectangle 27"/>
            <p:cNvSpPr/>
            <p:nvPr/>
          </p:nvSpPr>
          <p:spPr>
            <a:xfrm>
              <a:off x="533400" y="4737735"/>
              <a:ext cx="5951220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4871085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58190" y="492442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50862" y="495728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验算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1332" y="5269230"/>
              <a:ext cx="522579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每秒线路上共 1440 位，其中数据位 960 位；其余 1440 − 960 = 480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位，正好是 120 帧 × 每帧 4 个格式位（起始 1 + 校验 1 + 终止 2）。</a:t>
              </a:r>
            </a:p>
          </p:txBody>
        </p:sp>
      </p:grpSp>
      <p:grpSp>
        <p:nvGrpSpPr>
          <p:cNvPr id="64" name="c2-card-1"/>
          <p:cNvGrpSpPr/>
          <p:nvPr/>
        </p:nvGrpSpPr>
        <p:grpSpPr>
          <a:xfrm>
            <a:off x="6789420" y="1524000"/>
            <a:ext cx="4869180" cy="3148012"/>
            <a:chOff x="6789420" y="1524000"/>
            <a:chExt cx="4869180" cy="3148012"/>
          </a:xfrm>
        </p:grpSpPr>
        <p:sp>
          <p:nvSpPr>
            <p:cNvPr id="33" name="Rectangle 33"/>
            <p:cNvSpPr/>
            <p:nvPr/>
          </p:nvSpPr>
          <p:spPr>
            <a:xfrm>
              <a:off x="6789420" y="1524000"/>
              <a:ext cx="4869180" cy="3148012"/>
            </a:xfrm>
            <a:prstGeom prst="roundRect">
              <a:avLst>
                <a:gd name="adj" fmla="val 423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798945" y="1657350"/>
              <a:ext cx="47625" cy="288131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01421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10688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变式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79804" y="1745932"/>
              <a:ext cx="28619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波特率同为 9600 bps，帧格式不同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07352" y="2071688"/>
              <a:ext cx="420566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每秒字符数 = 波特率 ÷ 一帧位数；比特率 = 每秒字符数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× 数据位数。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014210" y="2606992"/>
              <a:ext cx="4457700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166329" y="2728436"/>
              <a:ext cx="1478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起始+数据+校验+终止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997036" y="272843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帧长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681070" y="2728436"/>
              <a:ext cx="5508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字符/秒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704728" y="272843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比特率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111365" y="3128486"/>
              <a:ext cx="9058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+ 8 + 0 + 1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966881" y="3128486"/>
              <a:ext cx="3732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位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826379" y="312848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960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618033" y="3128486"/>
              <a:ext cx="637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7680 bps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014210" y="3402330"/>
              <a:ext cx="44577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014210" y="3407092"/>
              <a:ext cx="44577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111365" y="3528536"/>
              <a:ext cx="9058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+ 7 + 1 + 1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966881" y="3528536"/>
              <a:ext cx="3732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位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826379" y="352853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960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618033" y="3528536"/>
              <a:ext cx="637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6720 bps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014210" y="3802380"/>
              <a:ext cx="44577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111365" y="3928586"/>
              <a:ext cx="9058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+ 8 + 1 + 2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966881" y="3928586"/>
              <a:ext cx="3732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 位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826379" y="392858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618033" y="3928586"/>
              <a:ext cx="637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6400 bps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014210" y="2606992"/>
              <a:ext cx="4457700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8792528" y="2606992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9505950" y="2606992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10397490" y="2606992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008495" y="4309586"/>
              <a:ext cx="3780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帧长相同、数据位不同时，字符速率一样，比特率不同。</a:t>
              </a:r>
            </a:p>
          </p:txBody>
        </p:sp>
      </p:grpSp>
      <p:grpSp>
        <p:nvGrpSpPr>
          <p:cNvPr id="71" name="c2-callout-2"/>
          <p:cNvGrpSpPr/>
          <p:nvPr/>
        </p:nvGrpSpPr>
        <p:grpSpPr>
          <a:xfrm>
            <a:off x="6789420" y="4841558"/>
            <a:ext cx="4869180" cy="978218"/>
            <a:chOff x="6789420" y="4841558"/>
            <a:chExt cx="4869180" cy="978218"/>
          </a:xfrm>
        </p:grpSpPr>
        <p:sp>
          <p:nvSpPr>
            <p:cNvPr id="65" name="Rectangle 65"/>
            <p:cNvSpPr/>
            <p:nvPr/>
          </p:nvSpPr>
          <p:spPr>
            <a:xfrm>
              <a:off x="6789420" y="4841558"/>
              <a:ext cx="4869180" cy="978218"/>
            </a:xfrm>
            <a:prstGeom prst="roundRect">
              <a:avLst>
                <a:gd name="adj" fmla="val 1168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6982149" y="5227438"/>
              <a:ext cx="224134" cy="192560"/>
              <a:chOff x="6982149" y="5227438"/>
              <a:chExt cx="224134" cy="192560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7094220" y="529780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6982149" y="522743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7094220" y="53755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7296912" y="4988242"/>
              <a:ext cx="3974211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易错：题目给的是“每秒传送多少个字符”时，要先乘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一帧的位数才得到波特率，不能把字符数直接当成波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特率。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7605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00 总线掠影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82140" cy="909257"/>
            <a:chOff x="520446" y="342900"/>
            <a:chExt cx="828214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9934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640" y="407194"/>
              <a:ext cx="2271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00 总线 · 总线通信控制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8214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半同步通信：从模块来不及时，用 WAIT 插入等待周期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4" name="timing"/>
          <p:cNvGrpSpPr/>
          <p:nvPr/>
        </p:nvGrpSpPr>
        <p:grpSpPr>
          <a:xfrm>
            <a:off x="533400" y="1524000"/>
            <a:ext cx="11125200" cy="2857500"/>
            <a:chOff x="533400" y="1524000"/>
            <a:chExt cx="11125200" cy="28575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2857500"/>
            </a:xfrm>
            <a:prstGeom prst="roundRect">
              <a:avLst>
                <a:gd name="adj" fmla="val 4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2952750" y="1790700"/>
              <a:ext cx="9525" cy="2476500"/>
            </a:xfrm>
            <a:custGeom>
              <a:avLst/>
              <a:gdLst/>
              <a:ahLst/>
              <a:cxnLst/>
              <a:rect l="l" t="t" r="r" b="b"/>
              <a:pathLst>
                <a:path w="9525" h="2476500">
                  <a:moveTo>
                    <a:pt x="0" y="0"/>
                  </a:moveTo>
                  <a:lnTo>
                    <a:pt x="0" y="2476500"/>
                  </a:lnTo>
                </a:path>
              </a:pathLst>
            </a:custGeom>
            <a:noFill/>
            <a:ln w="11430">
              <a:solidFill>
                <a:srgbClr val="9AA5B8"/>
              </a:solidFill>
              <a:custDash>
                <a:ds d="416667" sp="333333"/>
              </a:custDash>
            </a:ln>
          </p:spPr>
        </p:sp>
        <p:sp>
          <p:nvSpPr>
            <p:cNvPr id="9" name="Line 9"/>
            <p:cNvSpPr/>
            <p:nvPr/>
          </p:nvSpPr>
          <p:spPr>
            <a:xfrm>
              <a:off x="4286250" y="1790700"/>
              <a:ext cx="9525" cy="2476500"/>
            </a:xfrm>
            <a:custGeom>
              <a:avLst/>
              <a:gdLst/>
              <a:ahLst/>
              <a:cxnLst/>
              <a:rect l="l" t="t" r="r" b="b"/>
              <a:pathLst>
                <a:path w="9525" h="2476500">
                  <a:moveTo>
                    <a:pt x="0" y="0"/>
                  </a:moveTo>
                  <a:lnTo>
                    <a:pt x="0" y="2476500"/>
                  </a:lnTo>
                </a:path>
              </a:pathLst>
            </a:custGeom>
            <a:noFill/>
            <a:ln w="11430">
              <a:solidFill>
                <a:srgbClr val="9AA5B8"/>
              </a:solidFill>
              <a:custDash>
                <a:ds d="416667" sp="333333"/>
              </a:custDash>
            </a:ln>
          </p:spPr>
        </p:sp>
        <p:sp>
          <p:nvSpPr>
            <p:cNvPr id="10" name="Line 10"/>
            <p:cNvSpPr/>
            <p:nvPr/>
          </p:nvSpPr>
          <p:spPr>
            <a:xfrm>
              <a:off x="5619750" y="1790700"/>
              <a:ext cx="9525" cy="2476500"/>
            </a:xfrm>
            <a:custGeom>
              <a:avLst/>
              <a:gdLst/>
              <a:ahLst/>
              <a:cxnLst/>
              <a:rect l="l" t="t" r="r" b="b"/>
              <a:pathLst>
                <a:path w="9525" h="2476500">
                  <a:moveTo>
                    <a:pt x="0" y="0"/>
                  </a:moveTo>
                  <a:lnTo>
                    <a:pt x="0" y="2476500"/>
                  </a:lnTo>
                </a:path>
              </a:pathLst>
            </a:custGeom>
            <a:noFill/>
            <a:ln w="11430">
              <a:solidFill>
                <a:srgbClr val="9AA5B8"/>
              </a:solidFill>
              <a:custDash>
                <a:ds d="416667" sp="333333"/>
              </a:custDash>
            </a:ln>
          </p:spPr>
        </p:sp>
        <p:sp>
          <p:nvSpPr>
            <p:cNvPr id="11" name="Line 11"/>
            <p:cNvSpPr/>
            <p:nvPr/>
          </p:nvSpPr>
          <p:spPr>
            <a:xfrm>
              <a:off x="6953250" y="1790700"/>
              <a:ext cx="9525" cy="2476500"/>
            </a:xfrm>
            <a:custGeom>
              <a:avLst/>
              <a:gdLst/>
              <a:ahLst/>
              <a:cxnLst/>
              <a:rect l="l" t="t" r="r" b="b"/>
              <a:pathLst>
                <a:path w="9525" h="2476500">
                  <a:moveTo>
                    <a:pt x="0" y="0"/>
                  </a:moveTo>
                  <a:lnTo>
                    <a:pt x="0" y="2476500"/>
                  </a:lnTo>
                </a:path>
              </a:pathLst>
            </a:custGeom>
            <a:noFill/>
            <a:ln w="11430">
              <a:solidFill>
                <a:srgbClr val="9AA5B8"/>
              </a:solidFill>
              <a:custDash>
                <a:ds d="416667" sp="333333"/>
              </a:custDash>
            </a:ln>
          </p:spPr>
        </p:sp>
        <p:sp>
          <p:nvSpPr>
            <p:cNvPr id="12" name="Line 12"/>
            <p:cNvSpPr/>
            <p:nvPr/>
          </p:nvSpPr>
          <p:spPr>
            <a:xfrm>
              <a:off x="8286750" y="1790700"/>
              <a:ext cx="9525" cy="2476500"/>
            </a:xfrm>
            <a:custGeom>
              <a:avLst/>
              <a:gdLst/>
              <a:ahLst/>
              <a:cxnLst/>
              <a:rect l="l" t="t" r="r" b="b"/>
              <a:pathLst>
                <a:path w="9525" h="2476500">
                  <a:moveTo>
                    <a:pt x="0" y="0"/>
                  </a:moveTo>
                  <a:lnTo>
                    <a:pt x="0" y="2476500"/>
                  </a:lnTo>
                </a:path>
              </a:pathLst>
            </a:custGeom>
            <a:noFill/>
            <a:ln w="11430">
              <a:solidFill>
                <a:srgbClr val="9AA5B8"/>
              </a:solidFill>
              <a:custDash>
                <a:ds d="416667" sp="333333"/>
              </a:custDash>
            </a:ln>
          </p:spPr>
        </p:sp>
        <p:sp>
          <p:nvSpPr>
            <p:cNvPr id="13" name="Line 13"/>
            <p:cNvSpPr/>
            <p:nvPr/>
          </p:nvSpPr>
          <p:spPr>
            <a:xfrm>
              <a:off x="9620250" y="1790700"/>
              <a:ext cx="9525" cy="2476500"/>
            </a:xfrm>
            <a:custGeom>
              <a:avLst/>
              <a:gdLst/>
              <a:ahLst/>
              <a:cxnLst/>
              <a:rect l="l" t="t" r="r" b="b"/>
              <a:pathLst>
                <a:path w="9525" h="2476500">
                  <a:moveTo>
                    <a:pt x="0" y="0"/>
                  </a:moveTo>
                  <a:lnTo>
                    <a:pt x="0" y="2476500"/>
                  </a:lnTo>
                </a:path>
              </a:pathLst>
            </a:custGeom>
            <a:noFill/>
            <a:ln w="11430">
              <a:solidFill>
                <a:srgbClr val="9AA5B8"/>
              </a:solidFill>
              <a:custDash>
                <a:ds d="416667" sp="333333"/>
              </a:custDash>
            </a:ln>
          </p:spPr>
        </p:sp>
        <p:sp>
          <p:nvSpPr>
            <p:cNvPr id="14" name="Line 14"/>
            <p:cNvSpPr/>
            <p:nvPr/>
          </p:nvSpPr>
          <p:spPr>
            <a:xfrm>
              <a:off x="10953750" y="1790700"/>
              <a:ext cx="9525" cy="2476500"/>
            </a:xfrm>
            <a:custGeom>
              <a:avLst/>
              <a:gdLst/>
              <a:ahLst/>
              <a:cxnLst/>
              <a:rect l="l" t="t" r="r" b="b"/>
              <a:pathLst>
                <a:path w="9525" h="2476500">
                  <a:moveTo>
                    <a:pt x="0" y="0"/>
                  </a:moveTo>
                  <a:lnTo>
                    <a:pt x="0" y="2476500"/>
                  </a:lnTo>
                </a:path>
              </a:pathLst>
            </a:custGeom>
            <a:noFill/>
            <a:ln w="11430">
              <a:solidFill>
                <a:srgbClr val="9AA5B8"/>
              </a:solidFill>
              <a:custDash>
                <a:ds d="416667" sp="333333"/>
              </a:custDash>
            </a:ln>
          </p:spPr>
        </p:sp>
        <p:sp>
          <p:nvSpPr>
            <p:cNvPr id="15" name="Line 15"/>
            <p:cNvSpPr/>
            <p:nvPr/>
          </p:nvSpPr>
          <p:spPr>
            <a:xfrm>
              <a:off x="3038475" y="1676400"/>
              <a:ext cx="7829550" cy="9525"/>
            </a:xfrm>
            <a:custGeom>
              <a:avLst/>
              <a:gdLst/>
              <a:ahLst/>
              <a:cxnLst/>
              <a:rect l="l" t="t" r="r" b="b"/>
              <a:pathLst>
                <a:path w="7829550" h="9525">
                  <a:moveTo>
                    <a:pt x="0" y="0"/>
                  </a:moveTo>
                  <a:lnTo>
                    <a:pt x="7829550" y="0"/>
                  </a:lnTo>
                </a:path>
              </a:pathLst>
            </a:custGeom>
            <a:noFill/>
            <a:ln w="14288">
              <a:solidFill>
                <a:srgbClr val="174A85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2952750" y="1633538"/>
              <a:ext cx="95250" cy="85725"/>
            </a:xfrm>
            <a:custGeom>
              <a:avLst/>
              <a:gdLst/>
              <a:ahLst/>
              <a:cxnLst/>
              <a:rect l="l" t="t" r="r" b="b"/>
              <a:pathLst>
                <a:path w="95250" h="85725">
                  <a:moveTo>
                    <a:pt x="0" y="42862"/>
                  </a:moveTo>
                  <a:lnTo>
                    <a:pt x="95250" y="0"/>
                  </a:lnTo>
                  <a:lnTo>
                    <a:pt x="95250" y="85725"/>
                  </a:lnTo>
                  <a:close/>
                </a:path>
              </a:pathLst>
            </a:custGeom>
            <a:solidFill>
              <a:srgbClr val="174A85"/>
            </a:solidFill>
            <a:ln>
              <a:noFill/>
            </a:ln>
          </p:spPr>
        </p:sp>
        <p:sp>
          <p:nvSpPr>
            <p:cNvPr id="17" name="Polygon 17"/>
            <p:cNvSpPr/>
            <p:nvPr/>
          </p:nvSpPr>
          <p:spPr>
            <a:xfrm>
              <a:off x="10858500" y="1633538"/>
              <a:ext cx="95250" cy="85725"/>
            </a:xfrm>
            <a:custGeom>
              <a:avLst/>
              <a:gdLst/>
              <a:ahLst/>
              <a:cxnLst/>
              <a:rect l="l" t="t" r="r" b="b"/>
              <a:pathLst>
                <a:path w="95250" h="85725">
                  <a:moveTo>
                    <a:pt x="95250" y="42862"/>
                  </a:moveTo>
                  <a:lnTo>
                    <a:pt x="0" y="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174A85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459855" y="1562100"/>
              <a:ext cx="986790" cy="2286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95212" y="160639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总线传输周期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2381250" y="1828800"/>
              <a:ext cx="9048750" cy="247650"/>
            </a:xfrm>
            <a:custGeom>
              <a:avLst/>
              <a:gdLst/>
              <a:ahLst/>
              <a:cxnLst/>
              <a:rect l="l" t="t" r="r" b="b"/>
              <a:pathLst>
                <a:path w="9048750" h="247650">
                  <a:moveTo>
                    <a:pt x="0" y="247650"/>
                  </a:moveTo>
                  <a:lnTo>
                    <a:pt x="571500" y="247650"/>
                  </a:lnTo>
                  <a:lnTo>
                    <a:pt x="571500" y="0"/>
                  </a:lnTo>
                  <a:lnTo>
                    <a:pt x="1238250" y="0"/>
                  </a:lnTo>
                  <a:lnTo>
                    <a:pt x="1238250" y="247650"/>
                  </a:lnTo>
                  <a:lnTo>
                    <a:pt x="1905000" y="247650"/>
                  </a:lnTo>
                  <a:lnTo>
                    <a:pt x="1905000" y="0"/>
                  </a:lnTo>
                  <a:lnTo>
                    <a:pt x="2571750" y="0"/>
                  </a:lnTo>
                  <a:lnTo>
                    <a:pt x="2571750" y="247650"/>
                  </a:lnTo>
                  <a:lnTo>
                    <a:pt x="3238500" y="247650"/>
                  </a:lnTo>
                  <a:lnTo>
                    <a:pt x="3238500" y="0"/>
                  </a:lnTo>
                  <a:lnTo>
                    <a:pt x="3905250" y="0"/>
                  </a:lnTo>
                  <a:lnTo>
                    <a:pt x="3905250" y="247650"/>
                  </a:lnTo>
                  <a:lnTo>
                    <a:pt x="4572000" y="247650"/>
                  </a:lnTo>
                  <a:lnTo>
                    <a:pt x="4572000" y="0"/>
                  </a:lnTo>
                  <a:lnTo>
                    <a:pt x="5238750" y="0"/>
                  </a:lnTo>
                  <a:lnTo>
                    <a:pt x="5238750" y="247650"/>
                  </a:lnTo>
                  <a:lnTo>
                    <a:pt x="5905500" y="247650"/>
                  </a:lnTo>
                  <a:lnTo>
                    <a:pt x="5905500" y="0"/>
                  </a:lnTo>
                  <a:lnTo>
                    <a:pt x="6572250" y="0"/>
                  </a:lnTo>
                  <a:lnTo>
                    <a:pt x="6572250" y="247650"/>
                  </a:lnTo>
                  <a:lnTo>
                    <a:pt x="7239000" y="247650"/>
                  </a:lnTo>
                  <a:lnTo>
                    <a:pt x="7239000" y="0"/>
                  </a:lnTo>
                  <a:lnTo>
                    <a:pt x="7905750" y="0"/>
                  </a:lnTo>
                  <a:lnTo>
                    <a:pt x="7905750" y="247650"/>
                  </a:lnTo>
                  <a:lnTo>
                    <a:pt x="8572500" y="247650"/>
                  </a:lnTo>
                  <a:lnTo>
                    <a:pt x="8572500" y="0"/>
                  </a:lnTo>
                  <a:lnTo>
                    <a:pt x="9048750" y="0"/>
                  </a:lnTo>
                </a:path>
              </a:pathLst>
            </a:custGeom>
            <a:noFill/>
            <a:ln w="22860">
              <a:solidFill>
                <a:srgbClr val="1F2937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3076575" y="2247900"/>
              <a:ext cx="1085850" cy="9525"/>
            </a:xfrm>
            <a:custGeom>
              <a:avLst/>
              <a:gdLst/>
              <a:ahLst/>
              <a:cxnLst/>
              <a:rect l="l" t="t" r="r" b="b"/>
              <a:pathLst>
                <a:path w="1085850" h="9525">
                  <a:moveTo>
                    <a:pt x="0" y="0"/>
                  </a:moveTo>
                  <a:lnTo>
                    <a:pt x="1085850" y="0"/>
                  </a:lnTo>
                </a:path>
              </a:pathLst>
            </a:custGeom>
            <a:noFill/>
            <a:ln w="14288">
              <a:solidFill>
                <a:srgbClr val="C2410C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2990850" y="2205038"/>
              <a:ext cx="95250" cy="85725"/>
            </a:xfrm>
            <a:custGeom>
              <a:avLst/>
              <a:gdLst/>
              <a:ahLst/>
              <a:cxnLst/>
              <a:rect l="l" t="t" r="r" b="b"/>
              <a:pathLst>
                <a:path w="95250" h="85725">
                  <a:moveTo>
                    <a:pt x="0" y="42862"/>
                  </a:moveTo>
                  <a:lnTo>
                    <a:pt x="95250" y="0"/>
                  </a:lnTo>
                  <a:lnTo>
                    <a:pt x="95250" y="85725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23" name="Polygon 23"/>
            <p:cNvSpPr/>
            <p:nvPr/>
          </p:nvSpPr>
          <p:spPr>
            <a:xfrm>
              <a:off x="4152900" y="2205038"/>
              <a:ext cx="95250" cy="85725"/>
            </a:xfrm>
            <a:custGeom>
              <a:avLst/>
              <a:gdLst/>
              <a:ahLst/>
              <a:cxnLst/>
              <a:rect l="l" t="t" r="r" b="b"/>
              <a:pathLst>
                <a:path w="95250" h="85725">
                  <a:moveTo>
                    <a:pt x="95250" y="42862"/>
                  </a:moveTo>
                  <a:lnTo>
                    <a:pt x="0" y="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3475672" y="2141220"/>
              <a:ext cx="287655" cy="21336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527915" y="218217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T1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410075" y="2247900"/>
              <a:ext cx="1085850" cy="9525"/>
            </a:xfrm>
            <a:custGeom>
              <a:avLst/>
              <a:gdLst/>
              <a:ahLst/>
              <a:cxnLst/>
              <a:rect l="l" t="t" r="r" b="b"/>
              <a:pathLst>
                <a:path w="1085850" h="9525">
                  <a:moveTo>
                    <a:pt x="0" y="0"/>
                  </a:moveTo>
                  <a:lnTo>
                    <a:pt x="1085850" y="0"/>
                  </a:lnTo>
                </a:path>
              </a:pathLst>
            </a:custGeom>
            <a:noFill/>
            <a:ln w="14288">
              <a:solidFill>
                <a:srgbClr val="C2410C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4324350" y="2205038"/>
              <a:ext cx="95250" cy="85725"/>
            </a:xfrm>
            <a:custGeom>
              <a:avLst/>
              <a:gdLst/>
              <a:ahLst/>
              <a:cxnLst/>
              <a:rect l="l" t="t" r="r" b="b"/>
              <a:pathLst>
                <a:path w="95250" h="85725">
                  <a:moveTo>
                    <a:pt x="0" y="42862"/>
                  </a:moveTo>
                  <a:lnTo>
                    <a:pt x="95250" y="0"/>
                  </a:lnTo>
                  <a:lnTo>
                    <a:pt x="95250" y="85725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28" name="Polygon 28"/>
            <p:cNvSpPr/>
            <p:nvPr/>
          </p:nvSpPr>
          <p:spPr>
            <a:xfrm>
              <a:off x="5486400" y="2205038"/>
              <a:ext cx="95250" cy="85725"/>
            </a:xfrm>
            <a:custGeom>
              <a:avLst/>
              <a:gdLst/>
              <a:ahLst/>
              <a:cxnLst/>
              <a:rect l="l" t="t" r="r" b="b"/>
              <a:pathLst>
                <a:path w="95250" h="85725">
                  <a:moveTo>
                    <a:pt x="95250" y="42862"/>
                  </a:moveTo>
                  <a:lnTo>
                    <a:pt x="0" y="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4809172" y="2141220"/>
              <a:ext cx="287655" cy="21336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861415" y="218217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T2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5743575" y="2247900"/>
              <a:ext cx="1085850" cy="9525"/>
            </a:xfrm>
            <a:custGeom>
              <a:avLst/>
              <a:gdLst/>
              <a:ahLst/>
              <a:cxnLst/>
              <a:rect l="l" t="t" r="r" b="b"/>
              <a:pathLst>
                <a:path w="1085850" h="9525">
                  <a:moveTo>
                    <a:pt x="0" y="0"/>
                  </a:moveTo>
                  <a:lnTo>
                    <a:pt x="1085850" y="0"/>
                  </a:lnTo>
                </a:path>
              </a:pathLst>
            </a:custGeom>
            <a:noFill/>
            <a:ln w="14288">
              <a:solidFill>
                <a:srgbClr val="B42318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5657850" y="2205038"/>
              <a:ext cx="95250" cy="85725"/>
            </a:xfrm>
            <a:custGeom>
              <a:avLst/>
              <a:gdLst/>
              <a:ahLst/>
              <a:cxnLst/>
              <a:rect l="l" t="t" r="r" b="b"/>
              <a:pathLst>
                <a:path w="95250" h="85725">
                  <a:moveTo>
                    <a:pt x="0" y="42862"/>
                  </a:moveTo>
                  <a:lnTo>
                    <a:pt x="95250" y="0"/>
                  </a:lnTo>
                  <a:lnTo>
                    <a:pt x="95250" y="85725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33" name="Polygon 33"/>
            <p:cNvSpPr/>
            <p:nvPr/>
          </p:nvSpPr>
          <p:spPr>
            <a:xfrm>
              <a:off x="6819900" y="2205038"/>
              <a:ext cx="95250" cy="85725"/>
            </a:xfrm>
            <a:custGeom>
              <a:avLst/>
              <a:gdLst/>
              <a:ahLst/>
              <a:cxnLst/>
              <a:rect l="l" t="t" r="r" b="b"/>
              <a:pathLst>
                <a:path w="95250" h="85725">
                  <a:moveTo>
                    <a:pt x="95250" y="42862"/>
                  </a:moveTo>
                  <a:lnTo>
                    <a:pt x="0" y="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128385" y="2141220"/>
              <a:ext cx="315278" cy="21336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181964" y="2182178"/>
              <a:ext cx="2090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Tw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7077075" y="2247900"/>
              <a:ext cx="1085850" cy="9525"/>
            </a:xfrm>
            <a:custGeom>
              <a:avLst/>
              <a:gdLst/>
              <a:ahLst/>
              <a:cxnLst/>
              <a:rect l="l" t="t" r="r" b="b"/>
              <a:pathLst>
                <a:path w="1085850" h="9525">
                  <a:moveTo>
                    <a:pt x="0" y="0"/>
                  </a:moveTo>
                  <a:lnTo>
                    <a:pt x="1085850" y="0"/>
                  </a:lnTo>
                </a:path>
              </a:pathLst>
            </a:custGeom>
            <a:noFill/>
            <a:ln w="14288">
              <a:solidFill>
                <a:srgbClr val="B42318"/>
              </a:solidFill>
            </a:ln>
          </p:spPr>
        </p:sp>
        <p:sp>
          <p:nvSpPr>
            <p:cNvPr id="37" name="Polygon 37"/>
            <p:cNvSpPr/>
            <p:nvPr/>
          </p:nvSpPr>
          <p:spPr>
            <a:xfrm>
              <a:off x="6991350" y="2205038"/>
              <a:ext cx="95250" cy="85725"/>
            </a:xfrm>
            <a:custGeom>
              <a:avLst/>
              <a:gdLst/>
              <a:ahLst/>
              <a:cxnLst/>
              <a:rect l="l" t="t" r="r" b="b"/>
              <a:pathLst>
                <a:path w="95250" h="85725">
                  <a:moveTo>
                    <a:pt x="0" y="42862"/>
                  </a:moveTo>
                  <a:lnTo>
                    <a:pt x="95250" y="0"/>
                  </a:lnTo>
                  <a:lnTo>
                    <a:pt x="95250" y="85725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38" name="Polygon 38"/>
            <p:cNvSpPr/>
            <p:nvPr/>
          </p:nvSpPr>
          <p:spPr>
            <a:xfrm>
              <a:off x="8153400" y="2205038"/>
              <a:ext cx="95250" cy="85725"/>
            </a:xfrm>
            <a:custGeom>
              <a:avLst/>
              <a:gdLst/>
              <a:ahLst/>
              <a:cxnLst/>
              <a:rect l="l" t="t" r="r" b="b"/>
              <a:pathLst>
                <a:path w="95250" h="85725">
                  <a:moveTo>
                    <a:pt x="95250" y="42862"/>
                  </a:moveTo>
                  <a:lnTo>
                    <a:pt x="0" y="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461885" y="2141220"/>
              <a:ext cx="315278" cy="21336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15464" y="2182178"/>
              <a:ext cx="2090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Tw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8410575" y="2247900"/>
              <a:ext cx="1085850" cy="9525"/>
            </a:xfrm>
            <a:custGeom>
              <a:avLst/>
              <a:gdLst/>
              <a:ahLst/>
              <a:cxnLst/>
              <a:rect l="l" t="t" r="r" b="b"/>
              <a:pathLst>
                <a:path w="1085850" h="9525">
                  <a:moveTo>
                    <a:pt x="0" y="0"/>
                  </a:moveTo>
                  <a:lnTo>
                    <a:pt x="1085850" y="0"/>
                  </a:lnTo>
                </a:path>
              </a:pathLst>
            </a:custGeom>
            <a:noFill/>
            <a:ln w="14288">
              <a:solidFill>
                <a:srgbClr val="C2410C"/>
              </a:solidFill>
            </a:ln>
          </p:spPr>
        </p:sp>
        <p:sp>
          <p:nvSpPr>
            <p:cNvPr id="42" name="Polygon 42"/>
            <p:cNvSpPr/>
            <p:nvPr/>
          </p:nvSpPr>
          <p:spPr>
            <a:xfrm>
              <a:off x="8324850" y="2205038"/>
              <a:ext cx="95250" cy="85725"/>
            </a:xfrm>
            <a:custGeom>
              <a:avLst/>
              <a:gdLst/>
              <a:ahLst/>
              <a:cxnLst/>
              <a:rect l="l" t="t" r="r" b="b"/>
              <a:pathLst>
                <a:path w="95250" h="85725">
                  <a:moveTo>
                    <a:pt x="0" y="42862"/>
                  </a:moveTo>
                  <a:lnTo>
                    <a:pt x="95250" y="0"/>
                  </a:lnTo>
                  <a:lnTo>
                    <a:pt x="95250" y="85725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3" name="Polygon 43"/>
            <p:cNvSpPr/>
            <p:nvPr/>
          </p:nvSpPr>
          <p:spPr>
            <a:xfrm>
              <a:off x="9486900" y="2205038"/>
              <a:ext cx="95250" cy="85725"/>
            </a:xfrm>
            <a:custGeom>
              <a:avLst/>
              <a:gdLst/>
              <a:ahLst/>
              <a:cxnLst/>
              <a:rect l="l" t="t" r="r" b="b"/>
              <a:pathLst>
                <a:path w="95250" h="85725">
                  <a:moveTo>
                    <a:pt x="95250" y="42862"/>
                  </a:moveTo>
                  <a:lnTo>
                    <a:pt x="0" y="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8809672" y="2141220"/>
              <a:ext cx="287655" cy="21336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861915" y="218217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T3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9744075" y="2247900"/>
              <a:ext cx="1085850" cy="9525"/>
            </a:xfrm>
            <a:custGeom>
              <a:avLst/>
              <a:gdLst/>
              <a:ahLst/>
              <a:cxnLst/>
              <a:rect l="l" t="t" r="r" b="b"/>
              <a:pathLst>
                <a:path w="1085850" h="9525">
                  <a:moveTo>
                    <a:pt x="0" y="0"/>
                  </a:moveTo>
                  <a:lnTo>
                    <a:pt x="1085850" y="0"/>
                  </a:lnTo>
                </a:path>
              </a:pathLst>
            </a:custGeom>
            <a:noFill/>
            <a:ln w="14288">
              <a:solidFill>
                <a:srgbClr val="C2410C"/>
              </a:solidFill>
            </a:ln>
          </p:spPr>
        </p:sp>
        <p:sp>
          <p:nvSpPr>
            <p:cNvPr id="47" name="Polygon 47"/>
            <p:cNvSpPr/>
            <p:nvPr/>
          </p:nvSpPr>
          <p:spPr>
            <a:xfrm>
              <a:off x="9658350" y="2205038"/>
              <a:ext cx="95250" cy="85725"/>
            </a:xfrm>
            <a:custGeom>
              <a:avLst/>
              <a:gdLst/>
              <a:ahLst/>
              <a:cxnLst/>
              <a:rect l="l" t="t" r="r" b="b"/>
              <a:pathLst>
                <a:path w="95250" h="85725">
                  <a:moveTo>
                    <a:pt x="0" y="42862"/>
                  </a:moveTo>
                  <a:lnTo>
                    <a:pt x="95250" y="0"/>
                  </a:lnTo>
                  <a:lnTo>
                    <a:pt x="95250" y="85725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8" name="Polygon 48"/>
            <p:cNvSpPr/>
            <p:nvPr/>
          </p:nvSpPr>
          <p:spPr>
            <a:xfrm>
              <a:off x="10820400" y="2205038"/>
              <a:ext cx="95250" cy="85725"/>
            </a:xfrm>
            <a:custGeom>
              <a:avLst/>
              <a:gdLst/>
              <a:ahLst/>
              <a:cxnLst/>
              <a:rect l="l" t="t" r="r" b="b"/>
              <a:pathLst>
                <a:path w="95250" h="85725">
                  <a:moveTo>
                    <a:pt x="95250" y="42862"/>
                  </a:moveTo>
                  <a:lnTo>
                    <a:pt x="0" y="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10143172" y="2141220"/>
              <a:ext cx="287655" cy="21336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195415" y="218217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55904" y="188023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时钟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55904" y="24993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地址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55904" y="28613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读命令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57047" y="30475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低电平有效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55904" y="3375660"/>
              <a:ext cx="3975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WAIT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57047" y="356187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低电平有效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55904" y="39281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数据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2381250" y="2447925"/>
              <a:ext cx="419100" cy="266700"/>
            </a:xfrm>
            <a:prstGeom prst="rect">
              <a:avLst/>
            </a:prstGeom>
            <a:solidFill>
              <a:srgbClr val="E3E8F0"/>
            </a:solidFill>
            <a:ln>
              <a:noFill/>
            </a:ln>
          </p:spPr>
        </p:sp>
        <p:sp>
          <p:nvSpPr>
            <p:cNvPr id="59" name="Line 59"/>
            <p:cNvSpPr/>
            <p:nvPr/>
          </p:nvSpPr>
          <p:spPr>
            <a:xfrm>
              <a:off x="2381250" y="258127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3335">
              <a:solidFill>
                <a:srgbClr val="9AA5B8"/>
              </a:solidFill>
            </a:ln>
          </p:spPr>
        </p:sp>
        <p:sp>
          <p:nvSpPr>
            <p:cNvPr id="60" name="Polygon 60"/>
            <p:cNvSpPr/>
            <p:nvPr/>
          </p:nvSpPr>
          <p:spPr>
            <a:xfrm>
              <a:off x="2800350" y="2447925"/>
              <a:ext cx="8001000" cy="266700"/>
            </a:xfrm>
            <a:custGeom>
              <a:avLst/>
              <a:gdLst/>
              <a:ahLst/>
              <a:cxnLst/>
              <a:rect l="l" t="t" r="r" b="b"/>
              <a:pathLst>
                <a:path w="8001000" h="266700">
                  <a:moveTo>
                    <a:pt x="0" y="133350"/>
                  </a:moveTo>
                  <a:lnTo>
                    <a:pt x="85725" y="0"/>
                  </a:lnTo>
                  <a:lnTo>
                    <a:pt x="7915275" y="0"/>
                  </a:lnTo>
                  <a:lnTo>
                    <a:pt x="8001000" y="133350"/>
                  </a:lnTo>
                  <a:lnTo>
                    <a:pt x="7915275" y="266700"/>
                  </a:lnTo>
                  <a:lnTo>
                    <a:pt x="85725" y="26670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F5FA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512814" y="25155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地址有效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10801350" y="2447925"/>
              <a:ext cx="628650" cy="266700"/>
            </a:xfrm>
            <a:prstGeom prst="rect">
              <a:avLst/>
            </a:prstGeom>
            <a:solidFill>
              <a:srgbClr val="E3E8F0"/>
            </a:solidFill>
            <a:ln>
              <a:noFill/>
            </a:ln>
          </p:spPr>
        </p:sp>
        <p:sp>
          <p:nvSpPr>
            <p:cNvPr id="63" name="Line 63"/>
            <p:cNvSpPr/>
            <p:nvPr/>
          </p:nvSpPr>
          <p:spPr>
            <a:xfrm>
              <a:off x="10801350" y="2581275"/>
              <a:ext cx="628650" cy="9525"/>
            </a:xfrm>
            <a:custGeom>
              <a:avLst/>
              <a:gdLst/>
              <a:ahLst/>
              <a:cxnLst/>
              <a:rect l="l" t="t" r="r" b="b"/>
              <a:pathLst>
                <a:path w="628650" h="9525">
                  <a:moveTo>
                    <a:pt x="0" y="0"/>
                  </a:moveTo>
                  <a:lnTo>
                    <a:pt x="628650" y="0"/>
                  </a:lnTo>
                </a:path>
              </a:pathLst>
            </a:custGeom>
            <a:noFill/>
            <a:ln w="13335">
              <a:solidFill>
                <a:srgbClr val="9AA5B8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2381250" y="2876550"/>
              <a:ext cx="9048750" cy="247650"/>
            </a:xfrm>
            <a:custGeom>
              <a:avLst/>
              <a:gdLst/>
              <a:ahLst/>
              <a:cxnLst/>
              <a:rect l="l" t="t" r="r" b="b"/>
              <a:pathLst>
                <a:path w="9048750" h="247650">
                  <a:moveTo>
                    <a:pt x="0" y="0"/>
                  </a:moveTo>
                  <a:lnTo>
                    <a:pt x="1304925" y="0"/>
                  </a:lnTo>
                  <a:lnTo>
                    <a:pt x="1905000" y="247650"/>
                  </a:lnTo>
                  <a:lnTo>
                    <a:pt x="6638925" y="247650"/>
                  </a:lnTo>
                  <a:lnTo>
                    <a:pt x="7239000" y="0"/>
                  </a:lnTo>
                  <a:lnTo>
                    <a:pt x="9048750" y="0"/>
                  </a:lnTo>
                </a:path>
              </a:pathLst>
            </a:custGeom>
            <a:noFill/>
            <a:ln w="24765">
              <a:solidFill>
                <a:srgbClr val="1F5FA8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294501" y="294417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读命令有效</a:t>
              </a:r>
            </a:p>
          </p:txBody>
        </p:sp>
        <p:sp>
          <p:nvSpPr>
            <p:cNvPr id="66" name="Freeform 66"/>
            <p:cNvSpPr/>
            <p:nvPr/>
          </p:nvSpPr>
          <p:spPr>
            <a:xfrm>
              <a:off x="2381250" y="3381375"/>
              <a:ext cx="9048750" cy="247650"/>
            </a:xfrm>
            <a:custGeom>
              <a:avLst/>
              <a:gdLst/>
              <a:ahLst/>
              <a:cxnLst/>
              <a:rect l="l" t="t" r="r" b="b"/>
              <a:pathLst>
                <a:path w="9048750" h="247650">
                  <a:moveTo>
                    <a:pt x="0" y="0"/>
                  </a:moveTo>
                  <a:lnTo>
                    <a:pt x="2638425" y="0"/>
                  </a:lnTo>
                  <a:lnTo>
                    <a:pt x="3238500" y="247650"/>
                  </a:lnTo>
                  <a:lnTo>
                    <a:pt x="5305425" y="247650"/>
                  </a:lnTo>
                  <a:lnTo>
                    <a:pt x="5905500" y="0"/>
                  </a:lnTo>
                  <a:lnTo>
                    <a:pt x="9048750" y="0"/>
                  </a:lnTo>
                </a:path>
              </a:pathLst>
            </a:custGeom>
            <a:noFill/>
            <a:ln w="24765">
              <a:solidFill>
                <a:srgbClr val="B42318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153150" y="34490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从模块未准备好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2381250" y="3886200"/>
              <a:ext cx="5638800" cy="266700"/>
            </a:xfrm>
            <a:prstGeom prst="rect">
              <a:avLst/>
            </a:prstGeom>
            <a:solidFill>
              <a:srgbClr val="E3E8F0"/>
            </a:solidFill>
            <a:ln>
              <a:noFill/>
            </a:ln>
          </p:spPr>
        </p:sp>
        <p:sp>
          <p:nvSpPr>
            <p:cNvPr id="69" name="Line 69"/>
            <p:cNvSpPr/>
            <p:nvPr/>
          </p:nvSpPr>
          <p:spPr>
            <a:xfrm>
              <a:off x="2381250" y="4019550"/>
              <a:ext cx="5638800" cy="9525"/>
            </a:xfrm>
            <a:custGeom>
              <a:avLst/>
              <a:gdLst/>
              <a:ahLst/>
              <a:cxnLst/>
              <a:rect l="l" t="t" r="r" b="b"/>
              <a:pathLst>
                <a:path w="5638800" h="9525">
                  <a:moveTo>
                    <a:pt x="0" y="0"/>
                  </a:moveTo>
                  <a:lnTo>
                    <a:pt x="5638800" y="0"/>
                  </a:lnTo>
                </a:path>
              </a:pathLst>
            </a:custGeom>
            <a:noFill/>
            <a:ln w="13335">
              <a:solidFill>
                <a:srgbClr val="9AA5B8"/>
              </a:solidFill>
            </a:ln>
          </p:spPr>
        </p:sp>
        <p:sp>
          <p:nvSpPr>
            <p:cNvPr id="70" name="Polygon 70"/>
            <p:cNvSpPr/>
            <p:nvPr/>
          </p:nvSpPr>
          <p:spPr>
            <a:xfrm>
              <a:off x="8020050" y="3886200"/>
              <a:ext cx="1600200" cy="266700"/>
            </a:xfrm>
            <a:custGeom>
              <a:avLst/>
              <a:gdLst/>
              <a:ahLst/>
              <a:cxnLst/>
              <a:rect l="l" t="t" r="r" b="b"/>
              <a:pathLst>
                <a:path w="1600200" h="266700">
                  <a:moveTo>
                    <a:pt x="0" y="133350"/>
                  </a:moveTo>
                  <a:lnTo>
                    <a:pt x="85725" y="0"/>
                  </a:lnTo>
                  <a:lnTo>
                    <a:pt x="1514475" y="0"/>
                  </a:lnTo>
                  <a:lnTo>
                    <a:pt x="1600200" y="133350"/>
                  </a:lnTo>
                  <a:lnTo>
                    <a:pt x="1514475" y="266700"/>
                  </a:lnTo>
                  <a:lnTo>
                    <a:pt x="85725" y="26670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F5FA8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532114" y="39538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数据有效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9620250" y="3886200"/>
              <a:ext cx="1809750" cy="266700"/>
            </a:xfrm>
            <a:prstGeom prst="rect">
              <a:avLst/>
            </a:prstGeom>
            <a:solidFill>
              <a:srgbClr val="E3E8F0"/>
            </a:solidFill>
            <a:ln>
              <a:noFill/>
            </a:ln>
          </p:spPr>
        </p:sp>
        <p:sp>
          <p:nvSpPr>
            <p:cNvPr id="73" name="Line 73"/>
            <p:cNvSpPr/>
            <p:nvPr/>
          </p:nvSpPr>
          <p:spPr>
            <a:xfrm>
              <a:off x="9620250" y="4019550"/>
              <a:ext cx="1809750" cy="9525"/>
            </a:xfrm>
            <a:custGeom>
              <a:avLst/>
              <a:gdLst/>
              <a:ahLst/>
              <a:cxnLst/>
              <a:rect l="l" t="t" r="r" b="b"/>
              <a:pathLst>
                <a:path w="1809750" h="9525">
                  <a:moveTo>
                    <a:pt x="0" y="0"/>
                  </a:moveTo>
                  <a:lnTo>
                    <a:pt x="1809750" y="0"/>
                  </a:lnTo>
                </a:path>
              </a:pathLst>
            </a:custGeom>
            <a:noFill/>
            <a:ln w="13335">
              <a:solidFill>
                <a:srgbClr val="9AA5B8"/>
              </a:solidFill>
            </a:ln>
          </p:spPr>
        </p:sp>
      </p:grpSp>
      <p:grpSp>
        <p:nvGrpSpPr>
          <p:cNvPr id="80" name="wait"/>
          <p:cNvGrpSpPr/>
          <p:nvPr/>
        </p:nvGrpSpPr>
        <p:grpSpPr>
          <a:xfrm>
            <a:off x="533400" y="4495800"/>
            <a:ext cx="3607118" cy="1238250"/>
            <a:chOff x="533400" y="4495800"/>
            <a:chExt cx="3607118" cy="1238250"/>
          </a:xfrm>
        </p:grpSpPr>
        <p:sp>
          <p:nvSpPr>
            <p:cNvPr id="75" name="Rectangle 75"/>
            <p:cNvSpPr/>
            <p:nvPr/>
          </p:nvSpPr>
          <p:spPr>
            <a:xfrm>
              <a:off x="533400" y="4495800"/>
              <a:ext cx="3607118" cy="1238250"/>
            </a:xfrm>
            <a:prstGeom prst="roundRect">
              <a:avLst>
                <a:gd name="adj" fmla="val 107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542925" y="4629150"/>
              <a:ext cx="47625" cy="97155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762000" y="4629150"/>
              <a:ext cx="1624965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835435" y="4688681"/>
              <a:ext cx="14780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怎样插入等待周期 Tw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56285" y="5022056"/>
              <a:ext cx="2635758" cy="6772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从模块来不及时，在 T3 前把 WAIT 置低；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主模块在时钟沿测到 WAIT 为低就插入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 Tw，测到 WAIT 为高才进入 T3。</a:t>
              </a:r>
            </a:p>
          </p:txBody>
        </p:sp>
      </p:grpSp>
      <p:grpSp>
        <p:nvGrpSpPr>
          <p:cNvPr id="86" name="syncside"/>
          <p:cNvGrpSpPr/>
          <p:nvPr/>
        </p:nvGrpSpPr>
        <p:grpSpPr>
          <a:xfrm>
            <a:off x="4292918" y="4495800"/>
            <a:ext cx="3607118" cy="1238250"/>
            <a:chOff x="4292918" y="4495800"/>
            <a:chExt cx="3607118" cy="1238250"/>
          </a:xfrm>
        </p:grpSpPr>
        <p:sp>
          <p:nvSpPr>
            <p:cNvPr id="81" name="Rectangle 81"/>
            <p:cNvSpPr/>
            <p:nvPr/>
          </p:nvSpPr>
          <p:spPr>
            <a:xfrm>
              <a:off x="4292918" y="4495800"/>
              <a:ext cx="3607118" cy="1238250"/>
            </a:xfrm>
            <a:prstGeom prst="roundRect">
              <a:avLst>
                <a:gd name="adj" fmla="val 107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4302442" y="4629150"/>
              <a:ext cx="47625" cy="97155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4521518" y="4629150"/>
              <a:ext cx="95916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4617974" y="468868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同步的一面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4515802" y="5022056"/>
              <a:ext cx="2429510" cy="6772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地址、命令、数据的发出都以时钟前沿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为准，接收方在时钟后沿判断识别；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 Tw 的宽度也是一个时钟周期。</a:t>
              </a:r>
            </a:p>
          </p:txBody>
        </p:sp>
      </p:grpSp>
      <p:grpSp>
        <p:nvGrpSpPr>
          <p:cNvPr id="92" name="asyncside"/>
          <p:cNvGrpSpPr/>
          <p:nvPr/>
        </p:nvGrpSpPr>
        <p:grpSpPr>
          <a:xfrm>
            <a:off x="8051482" y="4495800"/>
            <a:ext cx="3607118" cy="1238250"/>
            <a:chOff x="8051482" y="4495800"/>
            <a:chExt cx="3607118" cy="1238250"/>
          </a:xfrm>
        </p:grpSpPr>
        <p:sp>
          <p:nvSpPr>
            <p:cNvPr id="87" name="Rectangle 87"/>
            <p:cNvSpPr/>
            <p:nvPr/>
          </p:nvSpPr>
          <p:spPr>
            <a:xfrm>
              <a:off x="8051482" y="4495800"/>
              <a:ext cx="3607118" cy="1238250"/>
            </a:xfrm>
            <a:prstGeom prst="roundRect">
              <a:avLst>
                <a:gd name="adj" fmla="val 107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8" name="Rectangle 88"/>
            <p:cNvSpPr/>
            <p:nvPr/>
          </p:nvSpPr>
          <p:spPr>
            <a:xfrm>
              <a:off x="8061008" y="4629150"/>
              <a:ext cx="47625" cy="9715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8280082" y="4629150"/>
              <a:ext cx="95916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8377492" y="468868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异步的一面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8274367" y="5022056"/>
              <a:ext cx="2237486" cy="6772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插几个 Tw 由从模块的 WAIT 决定，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快设备不用插，慢设备多插几个，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速度不同的模块都能配合。</a:t>
              </a:r>
            </a:p>
          </p:txBody>
        </p:sp>
      </p:grpSp>
      <p:grpSp>
        <p:nvGrpSpPr>
          <p:cNvPr id="95" name="sum"/>
          <p:cNvGrpSpPr/>
          <p:nvPr/>
        </p:nvGrpSpPr>
        <p:grpSpPr>
          <a:xfrm>
            <a:off x="533400" y="5829300"/>
            <a:ext cx="6096000" cy="546259"/>
            <a:chOff x="533400" y="5829300"/>
            <a:chExt cx="6096000" cy="546259"/>
          </a:xfrm>
        </p:grpSpPr>
        <p:sp>
          <p:nvSpPr>
            <p:cNvPr id="93" name="Rectangle 93"/>
            <p:cNvSpPr/>
            <p:nvPr/>
          </p:nvSpPr>
          <p:spPr>
            <a:xfrm>
              <a:off x="533400" y="5829300"/>
              <a:ext cx="6096000" cy="533400"/>
            </a:xfrm>
            <a:prstGeom prst="roundRect">
              <a:avLst>
                <a:gd name="adj" fmla="val 21429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737235" y="5945981"/>
              <a:ext cx="4143502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本例插入 2 个 Tw：一个总线传输周期由 4 个时钟周期变为 6 个。</a:t>
              </a:r>
              <a:br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从模块越慢，插入的 Tw 越多，快设备的传送不受影响。</a:t>
              </a:r>
            </a:p>
          </p:txBody>
        </p:sp>
      </p:grpSp>
      <p:grpSp>
        <p:nvGrpSpPr>
          <p:cNvPr id="99" name="read"/>
          <p:cNvGrpSpPr/>
          <p:nvPr/>
        </p:nvGrpSpPr>
        <p:grpSpPr>
          <a:xfrm>
            <a:off x="6781800" y="5829300"/>
            <a:ext cx="4876800" cy="546259"/>
            <a:chOff x="6781800" y="5829300"/>
            <a:chExt cx="4876800" cy="546259"/>
          </a:xfrm>
        </p:grpSpPr>
        <p:sp>
          <p:nvSpPr>
            <p:cNvPr id="96" name="Rectangle 96"/>
            <p:cNvSpPr/>
            <p:nvPr/>
          </p:nvSpPr>
          <p:spPr>
            <a:xfrm>
              <a:off x="6781800" y="5829300"/>
              <a:ext cx="48768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7" name="Rectangle 97"/>
            <p:cNvSpPr/>
            <p:nvPr/>
          </p:nvSpPr>
          <p:spPr>
            <a:xfrm>
              <a:off x="6791325" y="5924550"/>
              <a:ext cx="47625" cy="34290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6985635" y="5945981"/>
              <a:ext cx="3290062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读图：WAIT 在 T2 内变低，第二个 Tw 结束前变高，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所以主模块连续两次测到低电平，插入 2 个 Tw。</a:t>
              </a:r>
            </a:p>
          </p:txBody>
        </p:sp>
      </p:grpSp>
      <p:grpSp>
        <p:nvGrpSpPr>
          <p:cNvPr id="10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0" name="TextBox 100"/>
            <p:cNvSpPr txBox="1"/>
            <p:nvPr/>
          </p:nvSpPr>
          <p:spPr>
            <a:xfrm>
              <a:off x="528447" y="6581299"/>
              <a:ext cx="27605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00 总线掠影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9934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640" y="407194"/>
              <a:ext cx="2271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00 总线 · 总线通信控制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半同步的好处：只让慢设备多等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0011728" cy="293370"/>
            <a:chOff x="525780" y="1548765"/>
            <a:chExt cx="10011728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00117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设时钟 100 MHz（周期 10 ns）。快设备 4 个时钟周期能完成一次读，慢设备要 6 个；90% 的传送面向快设备。</a:t>
              </a:r>
            </a:p>
          </p:txBody>
        </p:sp>
      </p:grpSp>
      <p:grpSp>
        <p:nvGrpSpPr>
          <p:cNvPr id="30" name="c1-table-1"/>
          <p:cNvGrpSpPr/>
          <p:nvPr/>
        </p:nvGrpSpPr>
        <p:grpSpPr>
          <a:xfrm>
            <a:off x="533400" y="1954530"/>
            <a:ext cx="6059805" cy="2149792"/>
            <a:chOff x="533400" y="1954530"/>
            <a:chExt cx="6059805" cy="2149792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6059805" cy="71628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83678" y="221313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438464" y="2086451"/>
              <a:ext cx="91617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95"/>
                </a:lnSpc>
              </a:pPr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快设备一次</a:t>
              </a:r>
              <a:br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传送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71964" y="2086451"/>
              <a:ext cx="91617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95"/>
                </a:lnSpc>
              </a:pPr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慢设备一次</a:t>
              </a:r>
              <a:br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传送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354968" y="221313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平均每次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4746" y="2803684"/>
              <a:ext cx="127685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同步（按最慢设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备定时）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415921" y="2803684"/>
              <a:ext cx="961263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个周期 60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749421" y="2803684"/>
              <a:ext cx="961263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个周期 60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498338" y="2930366"/>
              <a:ext cx="4923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 ns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38328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3388042"/>
              <a:ext cx="6059805" cy="7162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4746" y="3519964"/>
              <a:ext cx="127685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半同步（慢设备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 2 个 Tw）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239328" y="3397568"/>
              <a:ext cx="1314450" cy="69723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415921" y="3519964"/>
              <a:ext cx="961263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个周期 40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49421" y="3519964"/>
              <a:ext cx="961263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个周期 60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ns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905375" y="3397568"/>
              <a:ext cx="1677352" cy="69723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110607" y="3519964"/>
              <a:ext cx="1267841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0.9×40 +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0.1×60 = 42 ns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954530"/>
              <a:ext cx="6059805" cy="214979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225040" y="1954530"/>
              <a:ext cx="9525" cy="21497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3558540" y="1954530"/>
              <a:ext cx="9525" cy="21497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4891088" y="1954530"/>
              <a:ext cx="9525" cy="21497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4" name="c1-steps-2"/>
          <p:cNvGrpSpPr/>
          <p:nvPr/>
        </p:nvGrpSpPr>
        <p:grpSpPr>
          <a:xfrm>
            <a:off x="533400" y="4293870"/>
            <a:ext cx="5626913" cy="1782508"/>
            <a:chOff x="533400" y="4293870"/>
            <a:chExt cx="5626913" cy="1782508"/>
          </a:xfrm>
        </p:grpSpPr>
        <p:sp>
          <p:nvSpPr>
            <p:cNvPr id="31" name="Rectangle 31"/>
            <p:cNvSpPr/>
            <p:nvPr/>
          </p:nvSpPr>
          <p:spPr>
            <a:xfrm>
              <a:off x="666750" y="4436745"/>
              <a:ext cx="19050" cy="123348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533400" y="429387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7024" y="43676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533400" y="491109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7024" y="49849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533400" y="552831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27024" y="56021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45261" y="432768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46404" y="4608195"/>
              <a:ext cx="42365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公共时序只能照顾最慢的设备，每次传送都占 6 个时钟周期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45261" y="494395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半同步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46404" y="5224462"/>
              <a:ext cx="52041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快设备不拉低 WAIT，4 个周期完成；只有慢设备拉低 WAIT 插入 2 个 Tw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45261" y="556117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46404" y="5841682"/>
              <a:ext cx="5213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平均周期 60 ns 降到 42 ns，单位时间的传送次数约为 60 ÷ 42 ≈ 1.43 倍</a:t>
              </a:r>
            </a:p>
          </p:txBody>
        </p:sp>
      </p:grpSp>
      <p:grpSp>
        <p:nvGrpSpPr>
          <p:cNvPr id="53" name="c2-card-1"/>
          <p:cNvGrpSpPr/>
          <p:nvPr/>
        </p:nvGrpSpPr>
        <p:grpSpPr>
          <a:xfrm>
            <a:off x="6898005" y="1954530"/>
            <a:ext cx="4760595" cy="1840230"/>
            <a:chOff x="6898005" y="1954530"/>
            <a:chExt cx="4760595" cy="1840230"/>
          </a:xfrm>
        </p:grpSpPr>
        <p:sp>
          <p:nvSpPr>
            <p:cNvPr id="45" name="Rectangle 45"/>
            <p:cNvSpPr/>
            <p:nvPr/>
          </p:nvSpPr>
          <p:spPr>
            <a:xfrm>
              <a:off x="6898005" y="1954530"/>
              <a:ext cx="4760595" cy="1840230"/>
            </a:xfrm>
            <a:prstGeom prst="roundRect">
              <a:avLst>
                <a:gd name="adj" fmla="val 72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907530" y="2087880"/>
              <a:ext cx="47625" cy="157353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134225" y="2152650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209663" y="218694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半同步的两面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141845" y="257365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298436" y="2513171"/>
              <a:ext cx="39819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同步的一面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：地址、命令、数据的发出时间都以时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钟前沿为准，接收方在时钟后沿判断识别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7141845" y="316230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298436" y="3102769"/>
              <a:ext cx="375653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异步的一面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：要等几个周期由从模块的 WAIT 决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定，快慢不同的模块都能配合</a:t>
              </a:r>
            </a:p>
          </p:txBody>
        </p:sp>
      </p:grpSp>
      <p:grpSp>
        <p:nvGrpSpPr>
          <p:cNvPr id="64" name="c2-card-2"/>
          <p:cNvGrpSpPr/>
          <p:nvPr/>
        </p:nvGrpSpPr>
        <p:grpSpPr>
          <a:xfrm>
            <a:off x="6898005" y="3974782"/>
            <a:ext cx="4760595" cy="2158365"/>
            <a:chOff x="6898005" y="3974782"/>
            <a:chExt cx="4760595" cy="2158365"/>
          </a:xfrm>
        </p:grpSpPr>
        <p:sp>
          <p:nvSpPr>
            <p:cNvPr id="54" name="Rectangle 54"/>
            <p:cNvSpPr/>
            <p:nvPr/>
          </p:nvSpPr>
          <p:spPr>
            <a:xfrm>
              <a:off x="6898005" y="3974782"/>
              <a:ext cx="4760595" cy="2158365"/>
            </a:xfrm>
            <a:prstGeom prst="roundRect">
              <a:avLst>
                <a:gd name="adj" fmla="val 61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907530" y="4108132"/>
              <a:ext cx="47625" cy="18916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7134225" y="4172902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205662" y="420719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评价与适用场合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7141845" y="459390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298436" y="4533424"/>
              <a:ext cx="39819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比异步通信简单；各模块在统一的系统时钟控制下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工作，可靠性较高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7141845" y="518350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298436" y="5123021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缺点：系统时钟频率不能太高，整体速度仍不算快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7141845" y="550068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298436" y="5441156"/>
              <a:ext cx="39819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适用于工作速度不高、但由许多速度差异较大的设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备组成的简单系统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7605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00 总线掠影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9934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640" y="407194"/>
              <a:ext cx="2271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00 总线 · 总线通信控制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前三种方式的共同问题：从模块准备数据时总线在空等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c1-graph-1"/>
          <p:cNvGrpSpPr/>
          <p:nvPr/>
        </p:nvGrpSpPr>
        <p:grpSpPr>
          <a:xfrm>
            <a:off x="714375" y="1620202"/>
            <a:ext cx="5924550" cy="2268855"/>
            <a:chOff x="714375" y="1620202"/>
            <a:chExt cx="5924550" cy="2268855"/>
          </a:xfrm>
        </p:grpSpPr>
        <p:sp>
          <p:nvSpPr>
            <p:cNvPr id="7" name="Freeform 7"/>
            <p:cNvSpPr/>
            <p:nvPr/>
          </p:nvSpPr>
          <p:spPr>
            <a:xfrm>
              <a:off x="838200" y="2076450"/>
              <a:ext cx="5676900" cy="9525"/>
            </a:xfrm>
            <a:custGeom>
              <a:avLst/>
              <a:gdLst/>
              <a:ahLst/>
              <a:cxnLst/>
              <a:rect l="l" t="t" r="r" b="b"/>
              <a:pathLst>
                <a:path w="5676900" h="9525">
                  <a:moveTo>
                    <a:pt x="0" y="0"/>
                  </a:moveTo>
                  <a:lnTo>
                    <a:pt x="5676900" y="0"/>
                  </a:lnTo>
                </a:path>
              </a:pathLst>
            </a:custGeom>
            <a:noFill/>
            <a:ln w="19050">
              <a:solidFill>
                <a:srgbClr val="1F5FA8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6515100" y="20288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742950" y="20288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742950" y="3543300"/>
              <a:ext cx="5772150" cy="9525"/>
            </a:xfrm>
            <a:custGeom>
              <a:avLst/>
              <a:gdLst/>
              <a:ahLst/>
              <a:cxnLst/>
              <a:rect l="l" t="t" r="r" b="b"/>
              <a:pathLst>
                <a:path w="5772150" h="9525">
                  <a:moveTo>
                    <a:pt x="0" y="0"/>
                  </a:moveTo>
                  <a:lnTo>
                    <a:pt x="577215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6515100" y="34956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714375" y="206692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6619875" y="206692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714375" y="353377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6619875" y="353377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78192" y="2397442"/>
              <a:ext cx="1701165" cy="501015"/>
            </a:xfrm>
            <a:prstGeom prst="roundRect">
              <a:avLst>
                <a:gd name="adj" fmla="val 19011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2605088" y="2397442"/>
              <a:ext cx="2238375" cy="501015"/>
            </a:xfrm>
            <a:prstGeom prst="roundRect">
              <a:avLst>
                <a:gd name="adj" fmla="val 19011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963478" y="2397442"/>
              <a:ext cx="1522095" cy="501015"/>
            </a:xfrm>
            <a:prstGeom prst="roundRect">
              <a:avLst>
                <a:gd name="adj" fmla="val 19011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70737" y="257794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发地址、命令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190850" y="257794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从模块准备数据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492648" y="257794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发数据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838450" y="1990725"/>
              <a:ext cx="16764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823782" y="2023110"/>
              <a:ext cx="17057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总线使用权一直归这对主从模块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94003" y="305704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有信息传送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861793" y="305704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总线上无传送，别人也用不了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389753" y="305704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有信息传送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82321" y="371284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8566" y="1620202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以输入数据为例，一个总线传输周期：</a:t>
              </a:r>
            </a:p>
          </p:txBody>
        </p:sp>
      </p:grpSp>
      <p:grpSp>
        <p:nvGrpSpPr>
          <p:cNvPr id="49" name="c1-table-2"/>
          <p:cNvGrpSpPr/>
          <p:nvPr/>
        </p:nvGrpSpPr>
        <p:grpSpPr>
          <a:xfrm>
            <a:off x="533400" y="4085272"/>
            <a:ext cx="6276022" cy="1853565"/>
            <a:chOff x="533400" y="4085272"/>
            <a:chExt cx="6276022" cy="1853565"/>
          </a:xfrm>
        </p:grpSpPr>
        <p:sp>
          <p:nvSpPr>
            <p:cNvPr id="30" name="Rectangle 30"/>
            <p:cNvSpPr/>
            <p:nvPr/>
          </p:nvSpPr>
          <p:spPr>
            <a:xfrm>
              <a:off x="533400" y="4085272"/>
              <a:ext cx="6276022" cy="4629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23900" y="4217194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以输入数据为例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932722" y="4217194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总线上有无传送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194618" y="4217194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总线使用权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4746" y="468106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主模块发地址、命令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768346" y="468106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651438" y="4681061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归这对主从模块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500729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33400" y="5012055"/>
              <a:ext cx="6276022" cy="4629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4746" y="514397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从模块准备数据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768346" y="5143976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没有（空闲等待）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651438" y="5143976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仍归这对主从模块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547020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4746" y="5607844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从模块向主模块发数据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768346" y="5607844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651438" y="5607844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归这对主从模块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4085272"/>
              <a:ext cx="6276022" cy="185356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2662238" y="4085272"/>
              <a:ext cx="9525" cy="18535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4545330" y="4085272"/>
              <a:ext cx="9525" cy="18535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c2-card-1"/>
          <p:cNvGrpSpPr/>
          <p:nvPr/>
        </p:nvGrpSpPr>
        <p:grpSpPr>
          <a:xfrm>
            <a:off x="7114222" y="1524000"/>
            <a:ext cx="4544378" cy="1793558"/>
            <a:chOff x="7114222" y="1524000"/>
            <a:chExt cx="4544378" cy="1793558"/>
          </a:xfrm>
        </p:grpSpPr>
        <p:sp>
          <p:nvSpPr>
            <p:cNvPr id="50" name="Rectangle 50"/>
            <p:cNvSpPr/>
            <p:nvPr/>
          </p:nvSpPr>
          <p:spPr>
            <a:xfrm>
              <a:off x="7114222" y="1524000"/>
              <a:ext cx="4544378" cy="1793558"/>
            </a:xfrm>
            <a:prstGeom prst="roundRect">
              <a:avLst>
                <a:gd name="adj" fmla="val 74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123748" y="1657350"/>
              <a:ext cx="47625" cy="152685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7350442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441883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343204" y="2082641"/>
              <a:ext cx="3900805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原课件把“从模块准备数据”一段标为“不占用总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线”。这段时间总线上确实没有信息传送，但使用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权仍在这对主从模块手里，别的模块用不上，属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于浪费掉的空闲等待。</a:t>
              </a:r>
            </a:p>
          </p:txBody>
        </p:sp>
      </p:grpSp>
      <p:grpSp>
        <p:nvGrpSpPr>
          <p:cNvPr id="65" name="c2-card-2"/>
          <p:cNvGrpSpPr/>
          <p:nvPr/>
        </p:nvGrpSpPr>
        <p:grpSpPr>
          <a:xfrm>
            <a:off x="7114222" y="3498532"/>
            <a:ext cx="4544378" cy="1886902"/>
            <a:chOff x="7114222" y="3498532"/>
            <a:chExt cx="4544378" cy="1886902"/>
          </a:xfrm>
        </p:grpSpPr>
        <p:sp>
          <p:nvSpPr>
            <p:cNvPr id="56" name="Rectangle 56"/>
            <p:cNvSpPr/>
            <p:nvPr/>
          </p:nvSpPr>
          <p:spPr>
            <a:xfrm>
              <a:off x="7114222" y="3498532"/>
              <a:ext cx="4544378" cy="1886902"/>
            </a:xfrm>
            <a:prstGeom prst="roundRect">
              <a:avLst>
                <a:gd name="adj" fmla="val 70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7123748" y="3631882"/>
              <a:ext cx="47625" cy="162020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7350442" y="3696652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437882" y="3730943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算一算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343204" y="4057174"/>
              <a:ext cx="388277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设一次读操作中，发地址和命令用 2 ms，从模块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准备数据用 16 ms，发数据用 2 ms。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7358062" y="470630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514654" y="4645819"/>
              <a:ext cx="357961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这对主从模块占着总线 2 + 16 + 2 = 20 ms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7358062" y="502348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514654" y="4963954"/>
              <a:ext cx="39428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真正传送信息只有 4 ms，利用率 4 ÷ 20 = 20%</a:t>
              </a:r>
            </a:p>
          </p:txBody>
        </p:sp>
      </p:grpSp>
      <p:grpSp>
        <p:nvGrpSpPr>
          <p:cNvPr id="71" name="c2-callout-3"/>
          <p:cNvGrpSpPr/>
          <p:nvPr/>
        </p:nvGrpSpPr>
        <p:grpSpPr>
          <a:xfrm>
            <a:off x="7114222" y="5564505"/>
            <a:ext cx="4544378" cy="756285"/>
            <a:chOff x="7114222" y="5564505"/>
            <a:chExt cx="4544378" cy="756285"/>
          </a:xfrm>
        </p:grpSpPr>
        <p:sp>
          <p:nvSpPr>
            <p:cNvPr id="66" name="Rectangle 66"/>
            <p:cNvSpPr/>
            <p:nvPr/>
          </p:nvSpPr>
          <p:spPr>
            <a:xfrm>
              <a:off x="7114222" y="5564505"/>
              <a:ext cx="4544378" cy="756285"/>
            </a:xfrm>
            <a:prstGeom prst="roundRect">
              <a:avLst>
                <a:gd name="adj" fmla="val 15113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319010" y="5842637"/>
              <a:ext cx="200023" cy="200023"/>
              <a:chOff x="7319010" y="5842637"/>
              <a:chExt cx="200023" cy="200023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319010" y="584263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7452360" y="590931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7621334" y="5712619"/>
              <a:ext cx="362127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改进思路：准备数据期间把总线真正让出去，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数据准备好再重新申请，这就是分离式通信。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7605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00 总线掠影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9934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640" y="407194"/>
              <a:ext cx="2271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00 总线 · 总线通信控制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分离式通信：拆成两个子周期，准备数据时让出总线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graph-1"/>
          <p:cNvGrpSpPr/>
          <p:nvPr/>
        </p:nvGrpSpPr>
        <p:grpSpPr>
          <a:xfrm>
            <a:off x="714375" y="1612106"/>
            <a:ext cx="5543550" cy="2158555"/>
            <a:chOff x="714375" y="1612106"/>
            <a:chExt cx="5543550" cy="2158555"/>
          </a:xfrm>
        </p:grpSpPr>
        <p:sp>
          <p:nvSpPr>
            <p:cNvPr id="7" name="Freeform 7"/>
            <p:cNvSpPr/>
            <p:nvPr/>
          </p:nvSpPr>
          <p:spPr>
            <a:xfrm>
              <a:off x="838200" y="3638550"/>
              <a:ext cx="5295900" cy="9525"/>
            </a:xfrm>
            <a:custGeom>
              <a:avLst/>
              <a:gdLst/>
              <a:ahLst/>
              <a:cxnLst/>
              <a:rect l="l" t="t" r="r" b="b"/>
              <a:pathLst>
                <a:path w="5295900" h="9525">
                  <a:moveTo>
                    <a:pt x="0" y="0"/>
                  </a:moveTo>
                  <a:lnTo>
                    <a:pt x="529590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6134100" y="35909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742950" y="35909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714375" y="362902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6238875" y="362902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23900" y="1971675"/>
              <a:ext cx="1809750" cy="476250"/>
            </a:xfrm>
            <a:prstGeom prst="roundRect">
              <a:avLst>
                <a:gd name="adj" fmla="val 20000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2533650" y="1971675"/>
              <a:ext cx="1905000" cy="476250"/>
            </a:xfrm>
            <a:prstGeom prst="roundRect">
              <a:avLst>
                <a:gd name="adj" fmla="val 20000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4438650" y="1971675"/>
              <a:ext cx="1809750" cy="476250"/>
            </a:xfrm>
            <a:prstGeom prst="roundRect">
              <a:avLst>
                <a:gd name="adj" fmla="val 20000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308274" y="2135505"/>
              <a:ext cx="6410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子周期 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156966" y="213550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总线让出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023024" y="2135505"/>
              <a:ext cx="6410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子周期 2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949892" y="3545205"/>
              <a:ext cx="107156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953487" y="3579971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一个总线传输周期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90016" y="2572702"/>
              <a:ext cx="1477518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主模块申请总线，发出地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址、命令后放弃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80716" y="2572702"/>
              <a:ext cx="1610868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从模块准备数据，其他模块</a:t>
              </a:r>
              <a:br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可申请使用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04766" y="2572702"/>
              <a:ext cx="1477518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从模块作为主模块申请总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线，送出数据后放弃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8185" y="16121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分离式通信：</a:t>
              </a:r>
            </a:p>
          </p:txBody>
        </p:sp>
      </p:grpSp>
      <p:grpSp>
        <p:nvGrpSpPr>
          <p:cNvPr id="44" name="c1-table-2"/>
          <p:cNvGrpSpPr/>
          <p:nvPr/>
        </p:nvGrpSpPr>
        <p:grpSpPr>
          <a:xfrm>
            <a:off x="533400" y="4095750"/>
            <a:ext cx="5951220" cy="2263140"/>
            <a:chOff x="533400" y="4095750"/>
            <a:chExt cx="5951220" cy="2263140"/>
          </a:xfrm>
        </p:grpSpPr>
        <p:sp>
          <p:nvSpPr>
            <p:cNvPr id="25" name="Rectangle 25"/>
            <p:cNvSpPr/>
            <p:nvPr/>
          </p:nvSpPr>
          <p:spPr>
            <a:xfrm>
              <a:off x="533400" y="4095750"/>
              <a:ext cx="5951220" cy="48768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58190" y="423481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子周期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985010" y="42348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谁申请总线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971925" y="423481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做什么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519738" y="423481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用完后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0080" y="4855845"/>
              <a:ext cx="8012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子周期 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711642" y="485584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主模块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496627" y="485584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发出地址和命令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281612" y="4722495"/>
              <a:ext cx="967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立即放弃总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533304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5337810"/>
              <a:ext cx="5951220" cy="10210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0080" y="5743575"/>
              <a:ext cx="8012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子周期 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711642" y="5476875"/>
              <a:ext cx="1348740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原来的从模块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（此时作为主模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496627" y="57435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把数据送上总线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281612" y="5610225"/>
              <a:ext cx="967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立即放弃总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4095750"/>
              <a:ext cx="5951220" cy="226314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1600200" y="4095750"/>
              <a:ext cx="9525" cy="22631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3385185" y="4095750"/>
              <a:ext cx="9525" cy="22631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170170" y="4095750"/>
              <a:ext cx="9525" cy="22631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1" name="c2-card-1"/>
          <p:cNvGrpSpPr/>
          <p:nvPr/>
        </p:nvGrpSpPr>
        <p:grpSpPr>
          <a:xfrm>
            <a:off x="6789420" y="1524000"/>
            <a:ext cx="4869180" cy="2893695"/>
            <a:chOff x="6789420" y="1524000"/>
            <a:chExt cx="4869180" cy="2893695"/>
          </a:xfrm>
        </p:grpSpPr>
        <p:sp>
          <p:nvSpPr>
            <p:cNvPr id="45" name="Rectangle 45"/>
            <p:cNvSpPr/>
            <p:nvPr/>
          </p:nvSpPr>
          <p:spPr>
            <a:xfrm>
              <a:off x="6789420" y="1524000"/>
              <a:ext cx="4869180" cy="2893695"/>
            </a:xfrm>
            <a:prstGeom prst="roundRect">
              <a:avLst>
                <a:gd name="adj" fmla="val 46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798945" y="1657350"/>
              <a:ext cx="47625" cy="262699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03707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11937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四个特点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037070" y="209740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098919" y="21396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338060" y="211074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各模块要占用总线都必须先提出申请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7037070" y="243268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098919" y="24749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338060" y="2446020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得到总线后在限定时间内送出信息，按同步方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式传送，不等对方回答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7037070" y="305371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098919" y="30960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338060" y="3067050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各模块准备数据时不占用总线，总线可以响应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其他模块的请求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7037070" y="367474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098919" y="371703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338060" y="3688080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总线被占用时一定在传命令或数据，没有空闲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</a:t>
              </a:r>
            </a:p>
          </p:txBody>
        </p:sp>
      </p:grpSp>
      <p:grpSp>
        <p:nvGrpSpPr>
          <p:cNvPr id="68" name="c2-callout-2"/>
          <p:cNvGrpSpPr/>
          <p:nvPr/>
        </p:nvGrpSpPr>
        <p:grpSpPr>
          <a:xfrm>
            <a:off x="6789420" y="4608195"/>
            <a:ext cx="4869180" cy="1059180"/>
            <a:chOff x="6789420" y="4608195"/>
            <a:chExt cx="4869180" cy="1059180"/>
          </a:xfrm>
        </p:grpSpPr>
        <p:sp>
          <p:nvSpPr>
            <p:cNvPr id="62" name="Rectangle 62"/>
            <p:cNvSpPr/>
            <p:nvPr/>
          </p:nvSpPr>
          <p:spPr>
            <a:xfrm>
              <a:off x="6789420" y="4608195"/>
              <a:ext cx="4869180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6994208" y="5037773"/>
              <a:ext cx="200026" cy="200026"/>
              <a:chOff x="6994208" y="5037773"/>
              <a:chExt cx="200026" cy="200026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6994208" y="50377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7094220" y="51044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083108" y="51377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7296150" y="4756785"/>
              <a:ext cx="39585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原课件在“子周期 2 从模块申请”旁标注“主模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块”：子周期 2 里原来的从模块主动申请总线，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身份就成了主模块。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27605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00 总线掠影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9934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640" y="407194"/>
              <a:ext cx="2271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00 总线 · 总线通信控制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四种总线通信方式对比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7" name="c1-table-1"/>
          <p:cNvGrpSpPr/>
          <p:nvPr/>
        </p:nvGrpSpPr>
        <p:grpSpPr>
          <a:xfrm>
            <a:off x="533400" y="1524000"/>
            <a:ext cx="11125200" cy="3792855"/>
            <a:chOff x="533400" y="1524000"/>
            <a:chExt cx="11125200" cy="37928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39102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33082" y="164877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889123" y="164877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同步通信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24653" y="164877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异步通信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26464" y="164877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半同步通信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973437" y="164877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分离式通信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9412" y="208788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186750" y="208788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公共时钟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23232" y="208788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无公共时钟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859714" y="2087880"/>
              <a:ext cx="18139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公共时钟加 WAIT 信号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06687" y="208788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各子周期内按同步方式传送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3974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402205"/>
              <a:ext cx="11125200" cy="67913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9412" y="264699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双方怎样配合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86750" y="264699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按事先规定的固定时序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23232" y="264699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请求与回答信号互相制约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859714" y="2526982"/>
              <a:ext cx="20711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按时钟节拍，来不及就插入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Tw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306687" y="264699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各自准备好再申请总线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0756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29412" y="3206115"/>
              <a:ext cx="121386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主模块怎样知道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数据已备好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86750" y="3206115"/>
              <a:ext cx="2019681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不判断，到 T3 就认为已备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好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23232" y="332613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等从模块的回答信号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59714" y="3206115"/>
              <a:ext cx="2028254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测到 WAIT 为高后的下一个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周期取数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306687" y="3206115"/>
              <a:ext cx="20711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从模块自己申请总线把数据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送来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75475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3759518"/>
              <a:ext cx="1112520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9412" y="388524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快慢设备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186750" y="388524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公共时钟按最慢设备设计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23232" y="388524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自动适应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59714" y="3885248"/>
              <a:ext cx="15848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慢设备多插几个 Tw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306687" y="388524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自动适应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1938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29412" y="432339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总线空闲等待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186750" y="432339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523232" y="432339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859714" y="432339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220200" y="4208145"/>
              <a:ext cx="2428875" cy="420052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306687" y="432339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没有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463296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33400" y="4637722"/>
              <a:ext cx="11125200" cy="67913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29412" y="488251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186750" y="488251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快设备陪慢设备等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523232" y="488251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每次传送都要来回应答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859714" y="4882515"/>
              <a:ext cx="12687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多一根 WAIT 线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306687" y="4762500"/>
              <a:ext cx="20711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控制复杂，普通微机很少采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3400" y="1524000"/>
              <a:ext cx="11125200" cy="37928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2085975" y="1524000"/>
              <a:ext cx="9525" cy="37928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4422458" y="1524000"/>
              <a:ext cx="9525" cy="37928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758940" y="1524000"/>
              <a:ext cx="9525" cy="37928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9205912" y="1524000"/>
              <a:ext cx="9525" cy="37928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3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58" name="Rectangle 58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0892" y="6028373"/>
              <a:ext cx="98103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判断线索：有公共时钟是同步或半同步，多了 WAIT 就是半同步；无时钟、靠应答是异步；准备数据时让出总线是分离式。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7605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00 总线掠影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9934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640" y="407194"/>
              <a:ext cx="2271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00 总线 · 总线通信控制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自测（一）：总线结构与判优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2223135"/>
            <a:chOff x="533400" y="1524000"/>
            <a:chExt cx="5410200" cy="22231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4764881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地址总线 24 根、数据总线 16 根，按字节编址时 CPU 最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多能访问多大的主存？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731770"/>
              <a:ext cx="47872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 根地址线能区分 2²⁴ 个地址；按字节编址时每个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地址对应 1 B，所以最多 2²⁴ B = 16 MB。数据总线 16 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只决定一次传送的位数，与寻址空间无关。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937635"/>
            <a:ext cx="5410200" cy="2223135"/>
            <a:chOff x="533400" y="3937635"/>
            <a:chExt cx="5410200" cy="2223135"/>
          </a:xfrm>
        </p:grpSpPr>
        <p:sp>
          <p:nvSpPr>
            <p:cNvPr id="13" name="Rectangle 13"/>
            <p:cNvSpPr/>
            <p:nvPr/>
          </p:nvSpPr>
          <p:spPr>
            <a:xfrm>
              <a:off x="533400" y="3937635"/>
              <a:ext cx="5410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414718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0437" y="418290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4524375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哪种集中式判优方式对电路故障最敏感？哪种响应最快？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4859655"/>
              <a:ext cx="47777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链式查询最敏感：BG 要逐个接口传递，某个接口的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传递电路坏了，排在后面的设备都收不到 BG。独立请求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方式响应最快：排队器直接选出，不用逐级传递或逐个计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248400" y="1524000"/>
            <a:ext cx="5410200" cy="2223135"/>
            <a:chOff x="6248400" y="1524000"/>
            <a:chExt cx="5410200" cy="2223135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57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45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50330" y="2110740"/>
              <a:ext cx="4736782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系统有 16 台设备，链式查询、计数器定时查询、独立请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求各需多少根判优控制线？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50330" y="2731770"/>
              <a:ext cx="47301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链式查询只要 BS、BR、BG，共 3 根；计数器定时查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询要 BS、BR 加 log₂16 = 4 根设备地址线，共 6 根；独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立请求每台 BRi、BGi 各 1 根，16 × 2 = 32 根。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248400" y="3937635"/>
            <a:ext cx="5410200" cy="2223135"/>
            <a:chOff x="6248400" y="3937635"/>
            <a:chExt cx="5410200" cy="2223135"/>
          </a:xfrm>
        </p:grpSpPr>
        <p:sp>
          <p:nvSpPr>
            <p:cNvPr id="25" name="Rectangle 25"/>
            <p:cNvSpPr/>
            <p:nvPr/>
          </p:nvSpPr>
          <p:spPr>
            <a:xfrm>
              <a:off x="6248400" y="3937635"/>
              <a:ext cx="5410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57950" y="414718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45437" y="418290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50330" y="4524375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计数器定时查询中，怎样让各设备使用总线的机会均等？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50330" y="4859655"/>
              <a:ext cx="48063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每次从上次停止的位置接着往后计数，形成循环点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名，每台设备都会轮到。若每次从 0 开始，编号小的设备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优先级固定最高，编号大的设备可能长期得不到总线。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27605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00 总线掠影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9934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640" y="407194"/>
              <a:ext cx="2271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00 总线 · 总线通信控制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自测（二）：总线通信控制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2111692"/>
            <a:chOff x="533400" y="1524000"/>
            <a:chExt cx="5410200" cy="21116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111692"/>
            </a:xfrm>
            <a:prstGeom prst="roundRect">
              <a:avLst>
                <a:gd name="adj" fmla="val 63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1520" y="172212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0468" y="175641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4281" y="2082641"/>
              <a:ext cx="4749305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异步串行传送，字符格式为 1 个起始位、7 个数据位、1 个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偶校验位、1 个终止位，每秒传送 240 个字符，求波特率和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比特率。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4281" y="2943701"/>
              <a:ext cx="471233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一帧 1 + 7 + 1 + 1 = 10 位。波特率计全部位：240 ×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= 2400 bps；比特率只计数据位：240 × 7 = 1680 bps。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815715"/>
            <a:ext cx="5410200" cy="2111692"/>
            <a:chOff x="533400" y="3815715"/>
            <a:chExt cx="5410200" cy="2111692"/>
          </a:xfrm>
        </p:grpSpPr>
        <p:sp>
          <p:nvSpPr>
            <p:cNvPr id="13" name="Rectangle 13"/>
            <p:cNvSpPr/>
            <p:nvPr/>
          </p:nvSpPr>
          <p:spPr>
            <a:xfrm>
              <a:off x="533400" y="3815715"/>
              <a:ext cx="5410200" cy="2111692"/>
            </a:xfrm>
            <a:prstGeom prst="roundRect">
              <a:avLst>
                <a:gd name="adj" fmla="val 63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31520" y="401383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20468" y="404812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4281" y="4374356"/>
              <a:ext cx="474073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半同步通信中，从模块比正常情况多需要 3 个时钟周期才能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给出数据，一个总线传输周期占几个时钟周期？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4281" y="4963954"/>
              <a:ext cx="4667250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正常为 T1 ~ T4 共 4 个时钟周期。从模块在 T3 前拉低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WAIT，主模块每测到一次低电平就插入一个 Tw，共插入 3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个，所以占 4 + 3 = 7 个时钟周期。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248400" y="1524000"/>
            <a:ext cx="5410200" cy="2111692"/>
            <a:chOff x="6248400" y="1524000"/>
            <a:chExt cx="5410200" cy="2111692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2111692"/>
            </a:xfrm>
            <a:prstGeom prst="roundRect">
              <a:avLst>
                <a:gd name="adj" fmla="val 63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46520" y="172212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35468" y="175641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39281" y="2082641"/>
              <a:ext cx="451125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同步总线时钟 50 MHz，一个总线传输周期占 5 个时钟周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期，每周期并行传送 64 位，数据传输率是多少？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39281" y="2672239"/>
              <a:ext cx="4631182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时钟周期 = 1 ÷ (50×10⁶) s = 20 ns；传输周期 = 5 ×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 = 100 ns，每秒 10⁷ 个；传输率 = 64 × 10⁷ = 6.4×10⁸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bps = 640 Mbps，即 80 MBps。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248400" y="3815715"/>
            <a:ext cx="5410200" cy="2111692"/>
            <a:chOff x="6248400" y="3815715"/>
            <a:chExt cx="5410200" cy="2111692"/>
          </a:xfrm>
        </p:grpSpPr>
        <p:sp>
          <p:nvSpPr>
            <p:cNvPr id="25" name="Rectangle 25"/>
            <p:cNvSpPr/>
            <p:nvPr/>
          </p:nvSpPr>
          <p:spPr>
            <a:xfrm>
              <a:off x="6248400" y="3815715"/>
              <a:ext cx="5410200" cy="2111692"/>
            </a:xfrm>
            <a:prstGeom prst="roundRect">
              <a:avLst>
                <a:gd name="adj" fmla="val 63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46520" y="401383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35468" y="404812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9281" y="4374356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分离式通信为什么能提高总线利用率？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9281" y="4692491"/>
              <a:ext cx="4730369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子周期 1 主模块发完地址、命令就放弃总线，从模块准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备数据期间总线可以分给其他模块；子周期 2 从模块再申请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总线送数据。总线每次被占用都在传送信息，没有空闲等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待。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27605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00 总线掠影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412302" cy="909257"/>
            <a:chOff x="520446" y="342900"/>
            <a:chExt cx="241230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9934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640" y="407194"/>
              <a:ext cx="2271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00 总线 · 总线通信控制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11125200" cy="2122170"/>
            <a:chOff x="533400" y="1524000"/>
            <a:chExt cx="11125200" cy="21221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44905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149215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368218" y="1652588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需要会算或会判断的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5889" y="20764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总线概念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193226" y="2076450"/>
              <a:ext cx="51816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各部件共享的传输线，同一时刻只能一个部件发送；串行逐位、并行同时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46414" y="207645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串行与并行的适用场合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6791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72678"/>
              <a:ext cx="11125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5889" y="250126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总线分类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93226" y="2501265"/>
              <a:ext cx="51816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片内、系统、通信总线；系统总线分数据（双向）、地址（单向）、控制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646414" y="2501265"/>
              <a:ext cx="19264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地址线 n 根寻址 2ⁿ 个单元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9273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5889" y="292608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总线判优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93226" y="2926080"/>
              <a:ext cx="46969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集中式有链式查询、计数器定时查询、独立请求三种，另有分布式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46414" y="292608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控制线数、故障敏感、响应速度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2165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221355"/>
              <a:ext cx="11125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5889" y="334994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通信控制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193226" y="3349942"/>
              <a:ext cx="52858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同步靠公共时钟，异步靠应答，半同步插 Tw，分离式准备数据时让出总线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46414" y="3349942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传输率、波特率与比特率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11125200" cy="21221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2085975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8539162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2" name="c1-card-2"/>
          <p:cNvGrpSpPr/>
          <p:nvPr/>
        </p:nvGrpSpPr>
        <p:grpSpPr>
          <a:xfrm>
            <a:off x="533400" y="3826192"/>
            <a:ext cx="11125200" cy="1615440"/>
            <a:chOff x="533400" y="3826192"/>
            <a:chExt cx="11125200" cy="1615440"/>
          </a:xfrm>
        </p:grpSpPr>
        <p:sp>
          <p:nvSpPr>
            <p:cNvPr id="32" name="Rectangle 32"/>
            <p:cNvSpPr/>
            <p:nvPr/>
          </p:nvSpPr>
          <p:spPr>
            <a:xfrm>
              <a:off x="533400" y="3826192"/>
              <a:ext cx="11125200" cy="1615440"/>
            </a:xfrm>
            <a:prstGeom prst="roundRect">
              <a:avLst>
                <a:gd name="adj" fmla="val 82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42925" y="3959542"/>
              <a:ext cx="47625" cy="134874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69620" y="4024312"/>
              <a:ext cx="18097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21055" y="405860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本讲对源课件的更正与澄清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77240" y="444531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33831" y="4384834"/>
              <a:ext cx="538031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PCI 结构图：EISA 是 32 位总线，不是 16 位（ISA 才是 16 位）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77240" y="476345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33831" y="4702969"/>
              <a:ext cx="68962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前三种通信方式中，从模块准备数据时总线仍被这对主从模块占着，只是空闲等待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77240" y="508063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33831" y="5021104"/>
              <a:ext cx="50133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分离式通信子周期 2 中，申请总线的从模块此时就是主模块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43" name="Rectangle 43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511" y="6011704"/>
              <a:ext cx="82726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判优解决“谁先用总线”，通信控制解决“拿到总线后双方怎样配合”，做题时先分清问的是哪一类。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7605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00 总线掠影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coa_arch0">
  <a:themeElements>
    <a:clrScheme name="coa_arch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oa_arch0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a_arch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2026-09-17T07:43:35Z</dcterms:created>
  <dcterms:modified xsi:type="dcterms:W3CDTF">2026-09-17T07:43:35Z</dcterms:modified>
  <cp:category/>
  <cp:contentStatus/>
</cp:coreProperties>
</file>