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ch5ex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ch5ex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ec45a1073d4007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a98517a01ac9a0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fc7117c935f3ff8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04365" cy="3437763"/>
            <a:chOff x="666750" y="1619250"/>
            <a:chExt cx="450436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441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8319" y="17183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第5章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存储器例题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4944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地址变换、Cache 映射与多级 Cache 性能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71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虚存地址与 TLB 查表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83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直接映射 Cache 命中判断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30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组相联 Cache 与 LRU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88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AMAT、CPI 与二级 Cache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22303" cy="205359"/>
            <a:chOff x="680466" y="6192202"/>
            <a:chExt cx="562230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223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自学复习版｜据吉林大学《计算机原理与体系结构》第5章存储器例题课件整理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解题工具箱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18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容量换算、Cache 地址字段、访存流程、性能公式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525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虚存、Cache 与 TLB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28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地址位数、Cache 字段、查页表与 TLB、缺失处理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8229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组相联 Cache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001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Cache 结构、地址划分、LRU 下的缺失次数、加速比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115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多级 Cache 性能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356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时钟频率、AMAT、CPI、二级 Cache 的收益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道变式题，更正与易错点汇总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由存储空间、页面和块的大小写出各地址字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段的位数与位置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368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手工完成“虚拟地址 → 物理地址 → Cache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行”的查表并判断是否命中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TLB 缺失、缺页、Cache 缺失各在什么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情况下发生、怎样处理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统计顺序访存时组相联 Cache 的缺失次数，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算出命中率与加速比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AMAT 和 CPI 公式比较一级、二级 Cache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的性能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解题工具箱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三道例题共用的换算方法、地址字段和公式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容量写成 2 的幂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16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 Cache 映射的地址字段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从虚拟地址到数据的查找流程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99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AMAT、CPI 与加速比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解题工具箱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第一步：把容量写成 2 的幂，指数就是地址位数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5848350" cy="3663792"/>
            <a:chOff x="527685" y="1524000"/>
            <a:chExt cx="5848350" cy="3663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380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99579" y="165973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写成 2 的幂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9052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对应位数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2115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虚拟地址空间 256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10980" y="2221706"/>
              <a:ext cx="1387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2⁸ × 2²⁰ = 2²⁸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4100" y="222170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 28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620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物理地址空间 16 MB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0980" y="2783681"/>
              <a:ext cx="1387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2⁴ × 2²⁰ = 2²⁴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14100" y="2783681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24 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892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 64 KB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10980" y="3232309"/>
              <a:ext cx="1387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2⁶ × 2¹⁰ = 2¹⁶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4100" y="3232309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 16 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173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 32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0980" y="3680936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2⁵ 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4100" y="368093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 5 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960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 32K 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0980" y="41305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2⁵ × 2¹⁰ = 2¹⁵ 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4100" y="413051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主存地址 15 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86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4341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579144"/>
              <a:ext cx="1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 64 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10980" y="457914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2⁶ 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14100" y="457914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 6 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39839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50151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4967764"/>
              <a:ext cx="4142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4 行取自例1（按字节编址），后 2 行取自例2（按字编址）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680835" y="1524000"/>
            <a:ext cx="4977765" cy="1986915"/>
            <a:chOff x="6680835" y="1524000"/>
            <a:chExt cx="4977765" cy="198691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2848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7992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地址位数怎么算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0865" y="2110740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地址位数 = log₂(空间大小 ÷ 编址单位)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34200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92315" y="244602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按字节编址，单位是 1 B；按字编址，单位是 1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934200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92315" y="3067050"/>
              <a:ext cx="260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2¹⁰，M = 2²⁰，G = 2³⁰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701415"/>
            <a:ext cx="4977765" cy="1847850"/>
            <a:chOff x="6680835" y="3701415"/>
            <a:chExt cx="4977765" cy="1847850"/>
          </a:xfrm>
        </p:grpSpPr>
        <p:sp>
          <p:nvSpPr>
            <p:cNvPr id="52" name="Rectangle 52"/>
            <p:cNvSpPr/>
            <p:nvPr/>
          </p:nvSpPr>
          <p:spPr>
            <a:xfrm>
              <a:off x="6680835" y="3701415"/>
              <a:ext cx="497776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383476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8485" y="39109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1942" y="39466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十六进制读位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20865" y="4288155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个十六进制数字对应 4 位：28 位地址写成 7 个十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六进制数字，24 位写成 6 个。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2008" y="4905851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 中虚页号 12 位正好是虚拟地址的前 3 个十六进制数字，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页内地址 16 位是后 4 个。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7988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易错：例2 主存“32K×16 位”里的 16 位是字长，决定每个单元存几位，与地址位数无关。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3488" cy="909257"/>
            <a:chOff x="520446" y="342900"/>
            <a:chExt cx="69734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解题工具箱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34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地址划分：映射方式决定中间那个字段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065520" cy="2091214"/>
            <a:chOff x="527685" y="1524000"/>
            <a:chExt cx="6065520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04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映射方式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8987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主存地址的字段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9182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中间字段位数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4723" y="2108359"/>
              <a:ext cx="1942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｜ 行号 ｜ 块内地址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0770" y="2108359"/>
              <a:ext cx="1415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log₂(Cache 行数)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路组相联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4723" y="2556986"/>
              <a:ext cx="1942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｜ 组号 ｜ 块内地址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0770" y="2556986"/>
              <a:ext cx="1198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log₂(行数 ÷ 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全相联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4723" y="3005614"/>
              <a:ext cx="1322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｜ 块内地址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0770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6213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2818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95186"/>
              <a:ext cx="4632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块内地址 = log₂(块大小)；标记 = 地址总位数 − 中间字段 − 块内地址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33400" y="3761422"/>
            <a:ext cx="6059805" cy="1346835"/>
            <a:chOff x="533400" y="3761422"/>
            <a:chExt cx="6059805" cy="1346835"/>
          </a:xfrm>
        </p:grpSpPr>
        <p:sp>
          <p:nvSpPr>
            <p:cNvPr id="28" name="Rectangle 28"/>
            <p:cNvSpPr/>
            <p:nvPr/>
          </p:nvSpPr>
          <p:spPr>
            <a:xfrm>
              <a:off x="533400" y="3761422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9566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本讲例题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0152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78479" y="38962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行号或组号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74311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459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223" y="4345781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直接映射 8 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7693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61877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71552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90001" y="43457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53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65867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4794409"/>
              <a:ext cx="1661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4 路组相联 16 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15079" y="47944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61877" y="47944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71552" y="47944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90001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761422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6222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6518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65677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8453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steps-1"/>
          <p:cNvGrpSpPr/>
          <p:nvPr/>
        </p:nvGrpSpPr>
        <p:grpSpPr>
          <a:xfrm>
            <a:off x="6898005" y="1533525"/>
            <a:ext cx="4546473" cy="2582514"/>
            <a:chOff x="6898005" y="1533525"/>
            <a:chExt cx="4546473" cy="2582514"/>
          </a:xfrm>
        </p:grpSpPr>
        <p:sp>
          <p:nvSpPr>
            <p:cNvPr id="52" name="Rectangle 52"/>
            <p:cNvSpPr/>
            <p:nvPr/>
          </p:nvSpPr>
          <p:spPr>
            <a:xfrm>
              <a:off x="7031355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9800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162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98005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91629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0948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选行或选组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10628" y="1861661"/>
              <a:ext cx="4133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用地址的中间字段找到 Cache 中对应的行（直接映射）或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组（组相联）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09485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比较标记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10628" y="2746534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该行（或组内各行）有效位为 1，且存的标记等于地址的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标记部分，才算命中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09485" y="333851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取数或调块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10628" y="363235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命中时用块内地址在块中定位；缺失时访问主存，并把整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块调入 Cache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6898005" y="4294822"/>
            <a:ext cx="4760595" cy="782955"/>
            <a:chOff x="6898005" y="4294822"/>
            <a:chExt cx="4760595" cy="782955"/>
          </a:xfrm>
        </p:grpSpPr>
        <p:sp>
          <p:nvSpPr>
            <p:cNvPr id="66" name="Rectangle 66"/>
            <p:cNvSpPr/>
            <p:nvPr/>
          </p:nvSpPr>
          <p:spPr>
            <a:xfrm>
              <a:off x="6898005" y="4294822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090734" y="4582596"/>
              <a:ext cx="224134" cy="192560"/>
              <a:chOff x="7090734" y="4582596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202805" y="46529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90734" y="45825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02805" y="47307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04735" y="4443412"/>
              <a:ext cx="3853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两个条件缺一不可：有效位为 0 的行即使标记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碰巧相同，也算缺失。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3" name="Rectangle 7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130" y="5991225"/>
              <a:ext cx="6876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组相联介于两者之间：N = 1 就是直接映射，N 等于 Cache 行数就是全相联。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069" cy="909257"/>
            <a:chOff x="520446" y="342900"/>
            <a:chExt cx="77390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解题工具箱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一次访存的完整路径：TLB → 页表 → Cache → 主存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flow-1"/>
          <p:cNvGrpSpPr/>
          <p:nvPr/>
        </p:nvGrpSpPr>
        <p:grpSpPr>
          <a:xfrm>
            <a:off x="693420" y="1735455"/>
            <a:ext cx="10805160" cy="3278505"/>
            <a:chOff x="693420" y="1735455"/>
            <a:chExt cx="10805160" cy="3278505"/>
          </a:xfrm>
        </p:grpSpPr>
        <p:sp>
          <p:nvSpPr>
            <p:cNvPr id="7" name="Freeform 7"/>
            <p:cNvSpPr/>
            <p:nvPr/>
          </p:nvSpPr>
          <p:spPr>
            <a:xfrm>
              <a:off x="2550795" y="2159318"/>
              <a:ext cx="405765" cy="9525"/>
            </a:xfrm>
            <a:custGeom>
              <a:avLst/>
              <a:gdLst/>
              <a:ahLst/>
              <a:cxnLst/>
              <a:rect l="l" t="t" r="r" b="b"/>
              <a:pathLst>
                <a:path w="405765" h="9525">
                  <a:moveTo>
                    <a:pt x="0" y="0"/>
                  </a:moveTo>
                  <a:lnTo>
                    <a:pt x="40576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56560" y="2106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680585" y="2159318"/>
              <a:ext cx="453390" cy="9525"/>
            </a:xfrm>
            <a:custGeom>
              <a:avLst/>
              <a:gdLst/>
              <a:ahLst/>
              <a:cxnLst/>
              <a:rect l="l" t="t" r="r" b="b"/>
              <a:pathLst>
                <a:path w="453390" h="9525">
                  <a:moveTo>
                    <a:pt x="0" y="0"/>
                  </a:moveTo>
                  <a:lnTo>
                    <a:pt x="45339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133975" y="2106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70960" y="2459355"/>
              <a:ext cx="9525" cy="550545"/>
            </a:xfrm>
            <a:custGeom>
              <a:avLst/>
              <a:gdLst/>
              <a:ahLst/>
              <a:cxnLst/>
              <a:rect l="l" t="t" r="r" b="b"/>
              <a:pathLst>
                <a:path w="9525" h="550545">
                  <a:moveTo>
                    <a:pt x="0" y="0"/>
                  </a:moveTo>
                  <a:lnTo>
                    <a:pt x="0" y="550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8572" y="3009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953250" y="2159318"/>
              <a:ext cx="453390" cy="9525"/>
            </a:xfrm>
            <a:custGeom>
              <a:avLst/>
              <a:gdLst/>
              <a:ahLst/>
              <a:cxnLst/>
              <a:rect l="l" t="t" r="r" b="b"/>
              <a:pathLst>
                <a:path w="453390" h="9525">
                  <a:moveTo>
                    <a:pt x="0" y="0"/>
                  </a:moveTo>
                  <a:lnTo>
                    <a:pt x="45339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406640" y="2106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130665" y="2159318"/>
              <a:ext cx="358140" cy="9525"/>
            </a:xfrm>
            <a:custGeom>
              <a:avLst/>
              <a:gdLst/>
              <a:ahLst/>
              <a:cxnLst/>
              <a:rect l="l" t="t" r="r" b="b"/>
              <a:pathLst>
                <a:path w="358140" h="9525">
                  <a:moveTo>
                    <a:pt x="0" y="0"/>
                  </a:moveTo>
                  <a:lnTo>
                    <a:pt x="3581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488805" y="2106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321040" y="2459355"/>
              <a:ext cx="9525" cy="645795"/>
            </a:xfrm>
            <a:custGeom>
              <a:avLst/>
              <a:gdLst/>
              <a:ahLst/>
              <a:cxnLst/>
              <a:rect l="l" t="t" r="r" b="b"/>
              <a:pathLst>
                <a:path w="9525" h="645795">
                  <a:moveTo>
                    <a:pt x="0" y="0"/>
                  </a:moveTo>
                  <a:lnTo>
                    <a:pt x="0" y="6457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268652" y="3105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880610" y="3429000"/>
              <a:ext cx="2630805" cy="9525"/>
            </a:xfrm>
            <a:custGeom>
              <a:avLst/>
              <a:gdLst/>
              <a:ahLst/>
              <a:cxnLst/>
              <a:rect l="l" t="t" r="r" b="b"/>
              <a:pathLst>
                <a:path w="2630805" h="9525">
                  <a:moveTo>
                    <a:pt x="263080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75835" y="3376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70960" y="3743325"/>
              <a:ext cx="9525" cy="550545"/>
            </a:xfrm>
            <a:custGeom>
              <a:avLst/>
              <a:gdLst/>
              <a:ahLst/>
              <a:cxnLst/>
              <a:rect l="l" t="t" r="r" b="b"/>
              <a:pathLst>
                <a:path w="9525" h="550545">
                  <a:moveTo>
                    <a:pt x="0" y="0"/>
                  </a:moveTo>
                  <a:lnTo>
                    <a:pt x="0" y="550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18572" y="4293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703195" y="4698682"/>
              <a:ext cx="358140" cy="9525"/>
            </a:xfrm>
            <a:custGeom>
              <a:avLst/>
              <a:gdLst/>
              <a:ahLst/>
              <a:cxnLst/>
              <a:rect l="l" t="t" r="r" b="b"/>
              <a:pathLst>
                <a:path w="358140" h="9525">
                  <a:moveTo>
                    <a:pt x="35814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598420" y="4646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680585" y="4698682"/>
              <a:ext cx="405765" cy="9525"/>
            </a:xfrm>
            <a:custGeom>
              <a:avLst/>
              <a:gdLst/>
              <a:ahLst/>
              <a:cxnLst/>
              <a:rect l="l" t="t" r="r" b="b"/>
              <a:pathLst>
                <a:path w="405765" h="9525">
                  <a:moveTo>
                    <a:pt x="0" y="0"/>
                  </a:moveTo>
                  <a:lnTo>
                    <a:pt x="40576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86350" y="4646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1045" y="1844040"/>
              <a:ext cx="180975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061335" y="1858328"/>
              <a:ext cx="1619250" cy="601028"/>
            </a:xfrm>
            <a:custGeom>
              <a:avLst/>
              <a:gdLst/>
              <a:ahLst/>
              <a:cxnLst/>
              <a:rect l="l" t="t" r="r" b="b"/>
              <a:pathLst>
                <a:path w="1619250" h="601028">
                  <a:moveTo>
                    <a:pt x="809625" y="0"/>
                  </a:moveTo>
                  <a:lnTo>
                    <a:pt x="1619250" y="300990"/>
                  </a:lnTo>
                  <a:lnTo>
                    <a:pt x="809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38750" y="1844040"/>
              <a:ext cx="17145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511415" y="1858328"/>
              <a:ext cx="1619250" cy="601028"/>
            </a:xfrm>
            <a:custGeom>
              <a:avLst/>
              <a:gdLst/>
              <a:ahLst/>
              <a:cxnLst/>
              <a:rect l="l" t="t" r="r" b="b"/>
              <a:pathLst>
                <a:path w="1619250" h="601028">
                  <a:moveTo>
                    <a:pt x="809625" y="0"/>
                  </a:moveTo>
                  <a:lnTo>
                    <a:pt x="1619250" y="300990"/>
                  </a:lnTo>
                  <a:lnTo>
                    <a:pt x="809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93580" y="1735455"/>
              <a:ext cx="1905000" cy="847725"/>
            </a:xfrm>
            <a:prstGeom prst="roundRect">
              <a:avLst>
                <a:gd name="adj" fmla="val 898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11415" y="3209925"/>
              <a:ext cx="16192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966085" y="3114675"/>
              <a:ext cx="1809750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061335" y="4398645"/>
              <a:ext cx="1619250" cy="601027"/>
            </a:xfrm>
            <a:custGeom>
              <a:avLst/>
              <a:gdLst/>
              <a:ahLst/>
              <a:cxnLst/>
              <a:rect l="l" t="t" r="r" b="b"/>
              <a:pathLst>
                <a:path w="1619250" h="601027">
                  <a:moveTo>
                    <a:pt x="809625" y="0"/>
                  </a:moveTo>
                  <a:lnTo>
                    <a:pt x="1619250" y="300038"/>
                  </a:lnTo>
                  <a:lnTo>
                    <a:pt x="809625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3420" y="4479608"/>
              <a:ext cx="190500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91125" y="4384358"/>
              <a:ext cx="18097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19988" y="4384358"/>
              <a:ext cx="3827145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7923" y="196072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虚拟地址拆成虚页号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页内地址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28497" y="2070259"/>
              <a:ext cx="884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TLB 命中？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58003" y="196072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用虚页号查主存中的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97622" y="20702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页表项有效？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26803" y="1851184"/>
              <a:ext cx="163855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缺页：操作系统从磁盘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调入该页，更新页表后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06263" y="3339941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页表项装入 TLB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20771" y="3230404"/>
              <a:ext cx="15003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= 物理页号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页内地址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40260" y="4609624"/>
              <a:ext cx="1061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命中？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2172" y="4609624"/>
              <a:ext cx="1487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Cache 读出数据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58003" y="4501039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访问主存，并把整块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 Cache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60843" y="4501039"/>
              <a:ext cx="3345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例1：(3) Cache 命中；(4) TLB 命中但 Cache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缺失；(5) TLB 缺失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45368" y="19431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883658" y="19697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99535" y="26946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22776" y="27212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247822" y="19431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86113" y="19697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49615" y="27432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72856" y="27698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715578" y="448246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753868" y="45091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821555" y="448246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859846" y="45091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728335"/>
              <a:ext cx="9740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TLB 和页表负责把虚拟地址变成物理地址，Cache 按物理地址查找。缺页由操作系统处理，Cache 缺失由硬件直接处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20193" cy="909257"/>
            <a:chOff x="520446" y="342900"/>
            <a:chExt cx="50201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解题工具箱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201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性能公式：AMAT、CPI 与加速比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2096452"/>
            <a:chOff x="533400" y="1524000"/>
            <a:chExt cx="6059805" cy="20964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96452"/>
            </a:xfrm>
            <a:prstGeom prst="roundRect">
              <a:avLst>
                <a:gd name="adj" fmla="val 6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97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89261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815" y="1769269"/>
              <a:ext cx="1820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平均存储器访问时间 AMAT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4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60260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AMAT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主存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4573" y="2659856"/>
              <a:ext cx="51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t₁ 为一级 Cache 命中时间，m₁ 为一级缺失率。加二级 Cache 后：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"/>
                <p:cNvSpPr txBox="1">
                  <a:spLocks noGrp="1"/>
                </p:cNvSpPr>
                <p:nvPr/>
              </p:nvSpPr>
              <p:spPr>
                <a:xfrm>
                  <a:off x="781050" y="2934652"/>
                  <a:ext cx="560260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AMAT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全局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主存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810952"/>
            <a:ext cx="6059805" cy="1704022"/>
            <a:chOff x="533400" y="3810952"/>
            <a:chExt cx="6059805" cy="1704022"/>
          </a:xfrm>
        </p:grpSpPr>
        <p:sp>
          <p:nvSpPr>
            <p:cNvPr id="15" name="Rectangle 15"/>
            <p:cNvSpPr/>
            <p:nvPr/>
          </p:nvSpPr>
          <p:spPr>
            <a:xfrm>
              <a:off x="533400" y="3810952"/>
              <a:ext cx="6059805" cy="1704022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44302"/>
              <a:ext cx="47625" cy="143732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020502"/>
              <a:ext cx="145923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5056" y="4056221"/>
              <a:ext cx="1351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存储器停顿计入 CPI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6"/>
                <p:cNvSpPr txBox="1">
                  <a:spLocks noGrp="1"/>
                </p:cNvSpPr>
                <p:nvPr/>
              </p:nvSpPr>
              <p:spPr>
                <a:xfrm>
                  <a:off x="781050" y="4372928"/>
                  <a:ext cx="560260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CPI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CPI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基本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nor m:val="on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缺失率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 m:val="on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主存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 m:val="on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时钟周期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74573" y="5106829"/>
              <a:ext cx="5035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按每条指令访存 1 次计；访存多次时再乘以每条指令的访存次数。</a:t>
              </a:r>
            </a:p>
          </p:txBody>
        </p:sp>
      </p:grpSp>
      <p:grpSp>
        <p:nvGrpSpPr>
          <p:cNvPr id="36" name="c2-kv-1"/>
          <p:cNvGrpSpPr/>
          <p:nvPr/>
        </p:nvGrpSpPr>
        <p:grpSpPr>
          <a:xfrm>
            <a:off x="6890385" y="1548765"/>
            <a:ext cx="4768215" cy="2335530"/>
            <a:chOff x="6890385" y="1548765"/>
            <a:chExt cx="4768215" cy="2335530"/>
          </a:xfrm>
        </p:grpSpPr>
        <p:sp>
          <p:nvSpPr>
            <p:cNvPr id="22" name="TextBox 22"/>
            <p:cNvSpPr txBox="1"/>
            <p:nvPr/>
          </p:nvSpPr>
          <p:spPr>
            <a:xfrm>
              <a:off x="6890385" y="1548765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命中率 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29588" y="154876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命中次数 ÷ 访存总次数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18688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0385" y="1988820"/>
              <a:ext cx="843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缺失率 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588" y="1988820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h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23088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0385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缺失代价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29588" y="242887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缺失时额外花的时间，如访问主存的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ns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0308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385" y="31508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全局缺失率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9588" y="3150870"/>
              <a:ext cx="3324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所有访存中各级 Cache 都缺失的比例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34709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0385" y="3590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9588" y="3590925"/>
              <a:ext cx="3433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 Cache 的时间 ÷ 用 Cache 的时间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898005" y="4015740"/>
            <a:ext cx="4760595" cy="782955"/>
            <a:chOff x="6898005" y="4015740"/>
            <a:chExt cx="4760595" cy="782955"/>
          </a:xfrm>
        </p:grpSpPr>
        <p:sp>
          <p:nvSpPr>
            <p:cNvPr id="37" name="Rectangle 37"/>
            <p:cNvSpPr/>
            <p:nvPr/>
          </p:nvSpPr>
          <p:spPr>
            <a:xfrm>
              <a:off x="6898005" y="401574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02793" y="4307205"/>
              <a:ext cx="200026" cy="200026"/>
              <a:chOff x="7102793" y="430720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102793" y="43072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02805" y="4373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91693" y="44072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404735" y="4164330"/>
              <a:ext cx="3787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本课程沿用 Patterson 教材的说法：“A 比 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n 倍”指两者性能之比为 n。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10221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单位不要混加：AMAT 的各项都是时间（ns），CPI 的各项都是时钟周期数，时间要先除以时钟周期才能加进 CPI。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10325" cy="3351847"/>
            <a:chOff x="667512" y="1835468"/>
            <a:chExt cx="551032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51032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虚存、Cache 与 TLB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95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一道题把页表、直接映射 Cache 和组相联 TLB 串起来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42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（1）（2）地址位数与 Cache 字段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297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（3）查页表并判断 Cache 命中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2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（4）先查 TLB 再判断 Cache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59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（5）TLB 缺失时怎样处理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19067" cy="909257"/>
            <a:chOff x="520446" y="342900"/>
            <a:chExt cx="84190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190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题目：已知页表和 Cache 内容，逐级完成地址变换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73715" cy="569595"/>
            <a:chOff x="525780" y="1548765"/>
            <a:chExt cx="106737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73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按字节编址，虚拟地址空间 256 MB，主存地址空间 16 MB，页面 64 KB；Cache 直接映射共 8 块（行），与主存交换的块为 32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B。某时刻页表和 Cache 的部分内容如下（十六进制）。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28066" y="2230755"/>
            <a:ext cx="2739009" cy="4100132"/>
            <a:chOff x="528066" y="2230755"/>
            <a:chExt cx="2739009" cy="4100132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273367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6000" y="2359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虚页号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8026" y="2359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94623" y="2359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1671" y="2783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25917" y="27832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67317" y="27832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74670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79432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1671" y="3208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25917" y="3208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7317" y="32080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99485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1671" y="3632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25917" y="3632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7317" y="36328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23348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28110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61671" y="4056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25917" y="40566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67317" y="40566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48162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1671" y="44815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25917" y="44815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11742" y="44815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772978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777740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1671" y="4905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25917" y="49053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67317" y="490537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196840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1671" y="5330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25917" y="5330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11742" y="5330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621655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626418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1671" y="5755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25917" y="57550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67317" y="57550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230755"/>
              <a:ext cx="2733675" cy="3819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490662" y="2230755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452688" y="2230755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066" y="6125528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(a) 页表的前 8 项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3566541" y="2230755"/>
            <a:ext cx="2739009" cy="4100132"/>
            <a:chOff x="3566541" y="2230755"/>
            <a:chExt cx="2739009" cy="4100132"/>
          </a:xfrm>
        </p:grpSpPr>
        <p:sp>
          <p:nvSpPr>
            <p:cNvPr id="53" name="Rectangle 53"/>
            <p:cNvSpPr/>
            <p:nvPr/>
          </p:nvSpPr>
          <p:spPr>
            <a:xfrm>
              <a:off x="3571875" y="2230755"/>
              <a:ext cx="273367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827145" y="2359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67440" y="2359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93092" y="2359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42043" y="2783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65332" y="27832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76938" y="278320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0200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571875" y="3074670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571875" y="3079432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942043" y="3208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65332" y="3208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10212" y="3208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571875" y="3499485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942043" y="3632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65332" y="3632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66880" y="363283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04C0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571875" y="3923348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571875" y="3928110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942043" y="4056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65332" y="40566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6880" y="4056698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01D2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571875" y="4348162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42043" y="44815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865332" y="44815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676938" y="44815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0640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571875" y="4772978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571875" y="4777740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942043" y="4905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865332" y="49053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666880" y="490537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14DA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571875" y="5196840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942043" y="5330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865332" y="5330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810212" y="5330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571875" y="5621655"/>
              <a:ext cx="2733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571875" y="5626418"/>
              <a:ext cx="2733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942043" y="5755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865332" y="57550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6880" y="575500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27AB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571875" y="2230755"/>
              <a:ext cx="2733675" cy="3819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4411980" y="2230755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409248" y="2230755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566541" y="6125528"/>
              <a:ext cx="1430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(b) Cache 的部分内容</a:t>
              </a:r>
            </a:p>
          </p:txBody>
        </p:sp>
      </p:grpSp>
      <p:grpSp>
        <p:nvGrpSpPr>
          <p:cNvPr id="112" name="c3-bullets-1"/>
          <p:cNvGrpSpPr/>
          <p:nvPr/>
        </p:nvGrpSpPr>
        <p:grpSpPr>
          <a:xfrm>
            <a:off x="6611302" y="2242185"/>
            <a:ext cx="4813872" cy="2411826"/>
            <a:chOff x="6611302" y="2242185"/>
            <a:chExt cx="4813872" cy="2411826"/>
          </a:xfrm>
        </p:grpSpPr>
        <p:sp>
          <p:nvSpPr>
            <p:cNvPr id="97" name="Ellipse 97"/>
            <p:cNvSpPr/>
            <p:nvPr/>
          </p:nvSpPr>
          <p:spPr>
            <a:xfrm>
              <a:off x="6611302" y="224218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669647" y="22815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902196" y="225409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虚拟地址、物理地址各几位？页号各占哪几位？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611302" y="256889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669647" y="26082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902196" y="2580799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Cache 时物理地址分成哪几个字段？各几位、在什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么位置？Cache 容量多大？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611302" y="31670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669647" y="32064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902196" y="317896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 001C050H 所在页面在主存中吗？物理地址是什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么？Cache 命中吗？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611302" y="37652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69647" y="38046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902196" y="3777139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 4 路组相联 TLB（共 8 项）后，027BAC6H 所在页面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在主存中吗？在 Cache 中吗？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6611302" y="436340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669647" y="44027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902196" y="4375309"/>
              <a:ext cx="44652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访问虚拟地址 026BAC6H 时发生了什么？如何处理？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15678" cy="909257"/>
            <a:chOff x="520446" y="342900"/>
            <a:chExt cx="10715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15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（1）虚拟地址 28 位（虚页号 12 位），物理地址 24 位（页号 8 位）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58841" cy="2398776"/>
            <a:chOff x="533400" y="1533525"/>
            <a:chExt cx="5358841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778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 64 KB = 2¹⁶ B，页内地址 16 位（第 15–0 位）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4945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MB = 2²⁸ B，共 28 位；虚页号 28 − 16 = 12 位（第 27–16 位）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4924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MB = 2²⁴ B，共 24 位；物理页号 24 − 16 = 8 位（第 23–16 位）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顺带得到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页表最多 2¹² = 4096 项；主存共 2⁸ = 256 个页框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4103370"/>
            <a:ext cx="5410200" cy="1273493"/>
            <a:chOff x="533400" y="4103370"/>
            <a:chExt cx="5410200" cy="1273493"/>
          </a:xfrm>
        </p:grpSpPr>
        <p:sp>
          <p:nvSpPr>
            <p:cNvPr id="25" name="Rectangle 25"/>
            <p:cNvSpPr/>
            <p:nvPr/>
          </p:nvSpPr>
          <p:spPr>
            <a:xfrm>
              <a:off x="533400" y="410337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85875" y="42319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97530" y="42319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1924" y="42319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页内地址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889" y="4655820"/>
              <a:ext cx="1108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虚拟地址 28 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81554" y="465582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位（27–16）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916" y="465582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位（15–0）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47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5204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5080635"/>
              <a:ext cx="1108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 24 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25979" y="5080635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位（23–16）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1916" y="5080635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位（15–0）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03370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367915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153852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ells-1"/>
          <p:cNvGrpSpPr/>
          <p:nvPr/>
        </p:nvGrpSpPr>
        <p:grpSpPr>
          <a:xfrm>
            <a:off x="6241923" y="1572578"/>
            <a:ext cx="4174617" cy="1858899"/>
            <a:chOff x="6241923" y="1572578"/>
            <a:chExt cx="4174617" cy="1858899"/>
          </a:xfrm>
        </p:grpSpPr>
        <p:sp>
          <p:nvSpPr>
            <p:cNvPr id="41" name="TextBox 41"/>
            <p:cNvSpPr txBox="1"/>
            <p:nvPr/>
          </p:nvSpPr>
          <p:spPr>
            <a:xfrm>
              <a:off x="6241923" y="19559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32308" y="1838325"/>
              <a:ext cx="48387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7057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15225" y="1838325"/>
              <a:ext cx="48387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00927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99095" y="1838325"/>
              <a:ext cx="48387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84797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82012" y="1838325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64899" y="19559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65882" y="1838325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51585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449752" y="1838325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34502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32670" y="1838325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118372" y="19559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43775" y="1572578"/>
              <a:ext cx="826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虚页号 001H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7719060" y="17430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652635" y="22517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63549" y="2386012"/>
              <a:ext cx="1054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页内地址 C050H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1923" y="27970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32308" y="2679382"/>
              <a:ext cx="48387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15225" y="2679382"/>
              <a:ext cx="48387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00927" y="2797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99095" y="2679382"/>
              <a:ext cx="48387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84797" y="2797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482012" y="2679382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64899" y="279701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965882" y="2679382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51585" y="2797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449752" y="2679382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634502" y="2797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32670" y="2679382"/>
              <a:ext cx="48387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118372" y="2797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7719060" y="30918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57576" y="3226118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页号 04H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9652635" y="30918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4900" y="3226118"/>
              <a:ext cx="77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照抄 C050H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248400" y="3539490"/>
            <a:ext cx="5410200" cy="1837372"/>
            <a:chOff x="6248400" y="3539490"/>
            <a:chExt cx="5410200" cy="1837372"/>
          </a:xfrm>
        </p:grpSpPr>
        <p:sp>
          <p:nvSpPr>
            <p:cNvPr id="79" name="Rectangle 79"/>
            <p:cNvSpPr/>
            <p:nvPr/>
          </p:nvSpPr>
          <p:spPr>
            <a:xfrm>
              <a:off x="6248400" y="3539490"/>
              <a:ext cx="5410200" cy="1837372"/>
            </a:xfrm>
            <a:prstGeom prst="roundRect">
              <a:avLst>
                <a:gd name="adj" fmla="val 72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57925" y="3672840"/>
              <a:ext cx="47625" cy="15706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84620" y="373761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44056" y="37719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为什么页内地址不用变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77381" y="4098131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虚拟页和物理页框一样大，都是 64 KB。数据在页内的偏移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在两边相同，地址变换只需把虚页号换成物理页号。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78524" y="4683442"/>
              <a:ext cx="4652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7 位十六进制的虚拟地址换掉前 3 位，得到 6 位十六进制的物理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6" name="Rectangle 8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511" y="6011704"/>
              <a:ext cx="8493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第（3）问的 001C050H → 04C050H 就是这样得到的：查页表把 001H 换成 04H，C050H 原样保留。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53010" cy="909257"/>
            <a:chOff x="520446" y="342900"/>
            <a:chExt cx="110530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530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（2）Cache 字段：标记 16 位、行号 3 位、块内地址 5 位；容量 256 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070822" cy="2529173"/>
            <a:chOff x="533400" y="1533525"/>
            <a:chExt cx="4070822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658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 32 B = 2⁵，块内地址 5 位（第 4–0 位）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3439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共 8 行 = 2³，行号 3 位（第 7–5 位）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24 − 3 − 5 = 16 位（第 23–8 位）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容量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2125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行 × 32 B = 256 B = 2⁸ B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4241482"/>
            <a:ext cx="5626418" cy="1346835"/>
            <a:chOff x="533400" y="4241482"/>
            <a:chExt cx="5626418" cy="1346835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81717" y="4376261"/>
              <a:ext cx="717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 Tag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86467" y="43762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996" y="43762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26989" y="482584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99390" y="48258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06233" y="48258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339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13873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44221" y="527446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23–8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16622" y="527446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7–5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23464" y="527446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241482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342322" y="424148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579620" y="424148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1"/>
          <p:cNvGrpSpPr/>
          <p:nvPr/>
        </p:nvGrpSpPr>
        <p:grpSpPr>
          <a:xfrm>
            <a:off x="6464618" y="1524000"/>
            <a:ext cx="5193982" cy="2082165"/>
            <a:chOff x="6464618" y="1524000"/>
            <a:chExt cx="5193982" cy="208216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4648" y="211074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原课件写“主存中的块数 = 16M/2⁸ = 2¹⁶”。主存块数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2²⁴ ÷ 2⁵ = 2¹⁹。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5791" y="2728436"/>
              <a:ext cx="42557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2¹⁶ 是主存容量 ÷ Cache 容量，也就是 16 位标记的取值个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数：每个 Cache 行轮流装入 2¹⁹ ÷ 8 = 2¹⁶ 个主存块中的一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3796665"/>
            <a:ext cx="5193982" cy="1790700"/>
            <a:chOff x="6464618" y="3796665"/>
            <a:chExt cx="5193982" cy="1790700"/>
          </a:xfrm>
        </p:grpSpPr>
        <p:sp>
          <p:nvSpPr>
            <p:cNvPr id="48" name="Rectangle 48"/>
            <p:cNvSpPr/>
            <p:nvPr/>
          </p:nvSpPr>
          <p:spPr>
            <a:xfrm>
              <a:off x="6464618" y="3796665"/>
              <a:ext cx="5193982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930015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12268" y="4006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3428" y="4041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3295" y="40414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连同有效位和标记算存储位数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17983" y="44653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6098" y="4402455"/>
              <a:ext cx="4407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每行：有效位 1 + 标记 16 + 数据 32 × 8 = 273 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17983" y="48006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76098" y="473773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行共 8 × 273 = 2184 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05791" y="5069681"/>
              <a:ext cx="3691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题目问 Cache 容量时，通常只算数据区 256 B。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84699" cy="909257"/>
            <a:chOff x="520446" y="342900"/>
            <a:chExt cx="100846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84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（3）001C050H：页面在主存，物理地址 04C050H，Cache 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026279" cy="3058002"/>
            <a:chOff x="533400" y="1533525"/>
            <a:chExt cx="5026279" cy="30580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5393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728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46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拆虚拟地址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4353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3 个十六进制数字 001H 是虚页号，后 4 个 C050H 是页内地址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478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6016"/>
              <a:ext cx="3337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 1 的有效位为 1，页号 04H，页面在主存中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0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拼物理地址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998946"/>
              <a:ext cx="20722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04H 接上 C050H，得 04C050H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13748"/>
              <a:ext cx="138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 Cache 字段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81876"/>
              <a:ext cx="46128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= 前 16 位 04C0H；最低字节 50H = 0101 0000，行号 010 = 2，块内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104322"/>
              <a:ext cx="784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Cache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71499"/>
              <a:ext cx="3965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行有效位为 1、标记 04C0H，与地址的标记相同，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755832"/>
            <a:ext cx="5410200" cy="978218"/>
            <a:chOff x="533400" y="4755832"/>
            <a:chExt cx="5410200" cy="978218"/>
          </a:xfrm>
        </p:grpSpPr>
        <p:sp>
          <p:nvSpPr>
            <p:cNvPr id="29" name="Rectangle 29"/>
            <p:cNvSpPr/>
            <p:nvPr/>
          </p:nvSpPr>
          <p:spPr>
            <a:xfrm>
              <a:off x="533400" y="4755832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140761"/>
              <a:ext cx="224134" cy="192560"/>
              <a:chOff x="726129" y="514076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2111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1407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2889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4901565"/>
              <a:ext cx="43942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易错：行号取最低字节的高 3 位（第 7–5 位），最低 5 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才是块内地址。把 50H 的最低 3 位 000 当行号就会查错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3447" y="1524000"/>
            <a:ext cx="5415153" cy="1863756"/>
            <a:chOff x="6243447" y="1524000"/>
            <a:chExt cx="5415153" cy="1863756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034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3020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7455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5555" y="2045494"/>
              <a:ext cx="962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标记（23–8）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5114" y="2045494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0000 0100 1100 0000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30890" y="2045494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04C0H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5555" y="2445544"/>
              <a:ext cx="875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行号（7–5）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880985" y="2333625"/>
              <a:ext cx="236124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3198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261282" y="2333625"/>
              <a:ext cx="138779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0847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2845594"/>
              <a:ext cx="1177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块内地址（4–0）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4905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67014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6669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24699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3447" y="3197066"/>
              <a:ext cx="18175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物理地址 04C050H 的字段拆分</a:t>
              </a:r>
            </a:p>
          </p:txBody>
        </p:sp>
      </p:grpSp>
      <p:grpSp>
        <p:nvGrpSpPr>
          <p:cNvPr id="113" name="c2-cells-2"/>
          <p:cNvGrpSpPr/>
          <p:nvPr/>
        </p:nvGrpSpPr>
        <p:grpSpPr>
          <a:xfrm>
            <a:off x="6243066" y="3563779"/>
            <a:ext cx="4968812" cy="1812607"/>
            <a:chOff x="6243066" y="3563779"/>
            <a:chExt cx="4968812" cy="1812607"/>
          </a:xfrm>
        </p:grpSpPr>
        <p:sp>
          <p:nvSpPr>
            <p:cNvPr id="59" name="TextBox 59"/>
            <p:cNvSpPr txBox="1"/>
            <p:nvPr/>
          </p:nvSpPr>
          <p:spPr>
            <a:xfrm>
              <a:off x="6243066" y="3924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665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891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185660" y="380523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082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047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273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0238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1464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429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606361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620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846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2811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44561" y="3924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700260" y="380523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22846" y="3924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409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600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791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982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173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0364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555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874691" y="4227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75604" y="3563779"/>
              <a:ext cx="439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虚页号 1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7357110" y="37099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43066" y="4911090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766560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876096" y="49110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0200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322820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553848" y="49110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878128" y="4792028"/>
              <a:ext cx="555308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978422" y="49110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04C0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433435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533729" y="49110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01D2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989695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099231" y="49110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0640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9545002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645297" y="49110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14DA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101262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332291" y="49110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656570" y="4792028"/>
              <a:ext cx="55530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756864" y="49110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27AB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009571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64878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121138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7644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23270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788013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343321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899581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532906" y="4550569"/>
              <a:ext cx="12467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行：有效且标记相同</a:t>
              </a:r>
            </a:p>
          </p:txBody>
        </p:sp>
        <p:sp>
          <p:nvSpPr>
            <p:cNvPr id="112" name="Freeform 112"/>
            <p:cNvSpPr/>
            <p:nvPr/>
          </p:nvSpPr>
          <p:spPr>
            <a:xfrm>
              <a:off x="8118158" y="46967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20" name="c2-callout-3"/>
          <p:cNvGrpSpPr/>
          <p:nvPr/>
        </p:nvGrpSpPr>
        <p:grpSpPr>
          <a:xfrm>
            <a:off x="6248400" y="5511165"/>
            <a:ext cx="5410200" cy="729615"/>
            <a:chOff x="6248400" y="5511165"/>
            <a:chExt cx="5410200" cy="729615"/>
          </a:xfrm>
        </p:grpSpPr>
        <p:sp>
          <p:nvSpPr>
            <p:cNvPr id="114" name="Rectangle 114"/>
            <p:cNvSpPr/>
            <p:nvPr/>
          </p:nvSpPr>
          <p:spPr>
            <a:xfrm>
              <a:off x="6248400" y="551116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6453188" y="5775960"/>
              <a:ext cx="200026" cy="200025"/>
              <a:chOff x="6453188" y="5775960"/>
              <a:chExt cx="200026" cy="200025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6453188" y="57759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6492926" y="58204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6527642" y="59315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6755892" y="5657850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块内地址 10000 = 16：要读的是第 2 行所存块中的第 16 号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字节（从 0 编号）。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81661" cy="909257"/>
            <a:chOff x="520446" y="342900"/>
            <a:chExt cx="10081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81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（4）TLB：8 项分成 2 组，虚页号最低位是组号，高 11 位是标记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27685" y="1524000"/>
            <a:ext cx="6281737" cy="1642587"/>
            <a:chOff x="527685" y="1524000"/>
            <a:chExt cx="6281737" cy="16425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8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3613" y="16597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74738" y="16597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4910" y="16597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36035" y="16597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340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6108" y="210835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— 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5074" y="210835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1 001 15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37405" y="210835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— 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57352" y="2108359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1 012 1F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340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14929" y="2556986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1 013 2D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7233" y="255698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— 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6227" y="2556986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1 008 7E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8530" y="255698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— 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627602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8206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6223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4336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353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294655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每格依次为有效位、标记、物理页号（十六进制）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3312795"/>
            <a:ext cx="6276022" cy="1701165"/>
            <a:chOff x="533400" y="3312795"/>
            <a:chExt cx="6276022" cy="1701165"/>
          </a:xfrm>
        </p:grpSpPr>
        <p:sp>
          <p:nvSpPr>
            <p:cNvPr id="32" name="Rectangle 32"/>
            <p:cNvSpPr/>
            <p:nvPr/>
          </p:nvSpPr>
          <p:spPr>
            <a:xfrm>
              <a:off x="533400" y="3312795"/>
              <a:ext cx="627602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44614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3522345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9949" y="3558064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TLB 的结构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39624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3899535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路组相联、共 8 项：8 ÷ 4 = 2 组，组号 1 位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6765" y="42976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4234815"/>
              <a:ext cx="3417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 12 位 = 标记 11 位 + 组号 1 位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6765" y="46329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880" y="457009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每项存有效位、标记和物理页号，按虚页号查找，不用物理地址</a:t>
              </a:r>
            </a:p>
          </p:txBody>
        </p:sp>
      </p:grpSp>
      <p:grpSp>
        <p:nvGrpSpPr>
          <p:cNvPr id="49" name="c1-callout-3"/>
          <p:cNvGrpSpPr/>
          <p:nvPr/>
        </p:nvGrpSpPr>
        <p:grpSpPr>
          <a:xfrm>
            <a:off x="533400" y="5204460"/>
            <a:ext cx="6276022" cy="782955"/>
            <a:chOff x="533400" y="5204460"/>
            <a:chExt cx="6276022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520446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495925"/>
              <a:ext cx="200026" cy="200025"/>
              <a:chOff x="738188" y="549592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4959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5403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56515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353050"/>
              <a:ext cx="5196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自检：第 0 组标记 001H 对应虚页号 001H × 2 + 0 = 002H，页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号 15，与页表 (a) 中虚页号 2 的内容一致。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7114222" y="1524000"/>
            <a:ext cx="4544378" cy="897255"/>
            <a:chOff x="7114222" y="1524000"/>
            <a:chExt cx="4544378" cy="897255"/>
          </a:xfrm>
        </p:grpSpPr>
        <p:sp>
          <p:nvSpPr>
            <p:cNvPr id="50" name="Rectangle 50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39716" y="165973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TLB 标记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978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21170" y="2108359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虚页号高 11 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12582" y="2108359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最低 1 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14222" y="1524000"/>
              <a:ext cx="454437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29081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image-2"/>
          <p:cNvGrpSpPr/>
          <p:nvPr/>
        </p:nvGrpSpPr>
        <p:grpSpPr>
          <a:xfrm>
            <a:off x="7114222" y="2611755"/>
            <a:ext cx="4544378" cy="3776187"/>
            <a:chOff x="7114222" y="2611755"/>
            <a:chExt cx="4544378" cy="3776187"/>
          </a:xfrm>
        </p:grpSpPr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rcRect l="767" t="0" r="767" b="0"/>
            <a:stretch>
              <a:fillRect/>
            </a:stretch>
          </p:blipFill>
          <p:spPr>
            <a:xfrm>
              <a:off x="7114222" y="2611755"/>
              <a:ext cx="4544378" cy="3461385"/>
            </a:xfrm>
            <a:prstGeom prst="roundRect">
              <a:avLst>
                <a:gd name="adj" fmla="val 3852"/>
              </a:avLst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7641763" y="6167914"/>
              <a:ext cx="3488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TLB 像贴在页表封面上的便签，记着最近用过的几项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308912" cy="902684"/>
            <a:chOff x="520827" y="342900"/>
            <a:chExt cx="11308912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308912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（4）027BAC6H：TLB 命中，页面在主存；物理地址 2DBAC6H 不在 Cache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233111" cy="3015996"/>
            <a:chOff x="533400" y="1533525"/>
            <a:chExt cx="5233111" cy="301599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005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74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取虚页号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350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027H 最低位 1 选第 1 组，高 11 位 013H 是标记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3606"/>
              <a:ext cx="12959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TLB 第 1 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4118"/>
              <a:ext cx="48201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路有效位 1、标记 013H，TLB 命中，页号 2DH：页面在主存中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拼物理地址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0385"/>
              <a:ext cx="28663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2DH 接上页内地址 BAC6H，得 2DBAC6H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17094"/>
              <a:ext cx="1459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 Cache 字段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697605"/>
              <a:ext cx="3371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2DBAH；C6H = 1100 0110，行号 110 = 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34314"/>
              <a:ext cx="14988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Cache 第 6 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14825"/>
              <a:ext cx="4302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有效位为 0，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不在 Cache 中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：访问主存，把该块调入第 6 行</a:t>
              </a:r>
            </a:p>
          </p:txBody>
        </p:sp>
      </p:grpSp>
      <p:grpSp>
        <p:nvGrpSpPr>
          <p:cNvPr id="58" name="c2-cells-1"/>
          <p:cNvGrpSpPr/>
          <p:nvPr/>
        </p:nvGrpSpPr>
        <p:grpSpPr>
          <a:xfrm>
            <a:off x="6458902" y="1569720"/>
            <a:ext cx="4354796" cy="970597"/>
            <a:chOff x="6458902" y="1569720"/>
            <a:chExt cx="4354796" cy="970597"/>
          </a:xfrm>
        </p:grpSpPr>
        <p:sp>
          <p:nvSpPr>
            <p:cNvPr id="29" name="TextBox 29"/>
            <p:cNvSpPr txBox="1"/>
            <p:nvPr/>
          </p:nvSpPr>
          <p:spPr>
            <a:xfrm>
              <a:off x="6458902" y="194643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027H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926580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3830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49478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1199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71422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83144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93368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0604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16265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798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38210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4993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61108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72829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83052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94774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04998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1767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827895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93961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149840" y="1819275"/>
              <a:ext cx="3219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6156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472738" y="1819275"/>
              <a:ext cx="32194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84459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15370" y="1569720"/>
              <a:ext cx="11676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 11 位：标记 013H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661082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10595610" y="22326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53723" y="236410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组号 1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6459284" y="2660332"/>
            <a:ext cx="5199316" cy="1977009"/>
            <a:chOff x="6459284" y="2660332"/>
            <a:chExt cx="5199316" cy="1977009"/>
          </a:xfrm>
        </p:grpSpPr>
        <p:sp>
          <p:nvSpPr>
            <p:cNvPr id="59" name="Rectangle 59"/>
            <p:cNvSpPr/>
            <p:nvPr/>
          </p:nvSpPr>
          <p:spPr>
            <a:xfrm>
              <a:off x="6464618" y="2660332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76122" y="27889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17496" y="27889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96409" y="27889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67106" y="3212782"/>
              <a:ext cx="1031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标记（23–8）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76323" y="3212782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0010 1101 1011 1010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42485" y="3212782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2DBAH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35042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64618" y="3509010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7106" y="3637598"/>
              <a:ext cx="938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行号（7–5）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32432" y="3518535"/>
              <a:ext cx="226599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26538" y="363759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317480" y="3518535"/>
              <a:ext cx="133159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32757" y="36375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3929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67106" y="4061460"/>
              <a:ext cx="1261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块内地址（4–0）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37688" y="40614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32757" y="4061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64618" y="2660332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018145" y="266033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303192" y="266033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459284" y="4431982"/>
              <a:ext cx="4114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物理地址 2DBAC6H 的字段拆分；Cache 表 (b) 第 6 行有效位为 0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6464618" y="4776788"/>
            <a:ext cx="5193982" cy="756285"/>
            <a:chOff x="6464618" y="4776788"/>
            <a:chExt cx="5193982" cy="756285"/>
          </a:xfrm>
        </p:grpSpPr>
        <p:sp>
          <p:nvSpPr>
            <p:cNvPr id="82" name="Rectangle 82"/>
            <p:cNvSpPr/>
            <p:nvPr/>
          </p:nvSpPr>
          <p:spPr>
            <a:xfrm>
              <a:off x="6464618" y="477678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669405" y="5054918"/>
              <a:ext cx="200026" cy="200026"/>
              <a:chOff x="6669405" y="5054918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669405" y="5054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769418" y="5121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758305" y="5154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971729" y="4923949"/>
              <a:ext cx="430657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补充：原课件只答到“实地址为 2DBAC6H”，漏答“是否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Cache 中”，第 4、5 步补上。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9" name="Rectangle 8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511" y="6011704"/>
              <a:ext cx="8947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易错：TLB 的标记取自虚页号，Cache 的标记取自物理地址。“页面在主存中”不代表“数据在 Cache 中”。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8626" cy="909257"/>
            <a:chOff x="520446" y="342900"/>
            <a:chExt cx="64186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86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（5）026BAC6H：TLB 缺失，转去查页表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962754" cy="2223516"/>
            <a:chOff x="533400" y="1533525"/>
            <a:chExt cx="4962754" cy="222351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549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026H = 0000 0010 0110，最低位 0 选第 0 组，标记仍是 013H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4118"/>
              <a:ext cx="4172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组有效两项的标记为 001H、012H，都不是 013H：TLB 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1365"/>
              <a:ext cx="4081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用虚页号 026H 访问主存中的页表第 026H（十进制 38）项；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 (a) 只列出前 8 项，看不出该项内容，要分两种情况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928110"/>
            <a:ext cx="4760595" cy="1250632"/>
            <a:chOff x="533400" y="3928110"/>
            <a:chExt cx="4760595" cy="1250632"/>
          </a:xfrm>
        </p:grpSpPr>
        <p:sp>
          <p:nvSpPr>
            <p:cNvPr id="21" name="Rectangle 21"/>
            <p:cNvSpPr/>
            <p:nvPr/>
          </p:nvSpPr>
          <p:spPr>
            <a:xfrm>
              <a:off x="533400" y="3928110"/>
              <a:ext cx="476059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6146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1262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060" y="4160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487704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原课件没有给出第（5）问的解答，本页按一般处理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流程补充。</a:t>
              </a:r>
            </a:p>
          </p:txBody>
        </p:sp>
      </p:grpSp>
      <p:grpSp>
        <p:nvGrpSpPr>
          <p:cNvPr id="57" name="c2-flow-1"/>
          <p:cNvGrpSpPr/>
          <p:nvPr/>
        </p:nvGrpSpPr>
        <p:grpSpPr>
          <a:xfrm>
            <a:off x="5811202" y="1838325"/>
            <a:ext cx="5634991" cy="3630930"/>
            <a:chOff x="5811202" y="1838325"/>
            <a:chExt cx="5634991" cy="3630930"/>
          </a:xfrm>
        </p:grpSpPr>
        <p:sp>
          <p:nvSpPr>
            <p:cNvPr id="27" name="Freeform 27"/>
            <p:cNvSpPr/>
            <p:nvPr/>
          </p:nvSpPr>
          <p:spPr>
            <a:xfrm>
              <a:off x="7114222" y="2250758"/>
              <a:ext cx="1514475" cy="435292"/>
            </a:xfrm>
            <a:custGeom>
              <a:avLst/>
              <a:gdLst/>
              <a:ahLst/>
              <a:cxnLst/>
              <a:rect l="l" t="t" r="r" b="b"/>
              <a:pathLst>
                <a:path w="1514475" h="435292">
                  <a:moveTo>
                    <a:pt x="1514475" y="0"/>
                  </a:moveTo>
                  <a:lnTo>
                    <a:pt x="1514475" y="269558"/>
                  </a:lnTo>
                  <a:lnTo>
                    <a:pt x="0" y="269558"/>
                  </a:ln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61835" y="2686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114222" y="3379470"/>
              <a:ext cx="9525" cy="340042"/>
            </a:xfrm>
            <a:custGeom>
              <a:avLst/>
              <a:gdLst/>
              <a:ahLst/>
              <a:cxnLst/>
              <a:rect l="l" t="t" r="r" b="b"/>
              <a:pathLst>
                <a:path w="9525" h="340042">
                  <a:moveTo>
                    <a:pt x="0" y="0"/>
                  </a:moveTo>
                  <a:lnTo>
                    <a:pt x="0" y="3400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61835" y="3719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114222" y="4428172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061835" y="48567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417242" y="3085148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36330" y="3032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144125" y="3290888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091738" y="37195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144125" y="4428172"/>
              <a:ext cx="9525" cy="332423"/>
            </a:xfrm>
            <a:custGeom>
              <a:avLst/>
              <a:gdLst/>
              <a:ahLst/>
              <a:cxnLst/>
              <a:rect l="l" t="t" r="r" b="b"/>
              <a:pathLst>
                <a:path w="9525" h="332423">
                  <a:moveTo>
                    <a:pt x="0" y="0"/>
                  </a:moveTo>
                  <a:lnTo>
                    <a:pt x="0" y="33242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091738" y="47605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23610" y="1838325"/>
              <a:ext cx="5211128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5811202" y="2790825"/>
              <a:ext cx="2606040" cy="588645"/>
            </a:xfrm>
            <a:custGeom>
              <a:avLst/>
              <a:gdLst/>
              <a:ahLst/>
              <a:cxnLst/>
              <a:rect l="l" t="t" r="r" b="b"/>
              <a:pathLst>
                <a:path w="2606040" h="588645">
                  <a:moveTo>
                    <a:pt x="1303020" y="0"/>
                  </a:moveTo>
                  <a:lnTo>
                    <a:pt x="2606040" y="294322"/>
                  </a:lnTo>
                  <a:lnTo>
                    <a:pt x="1303020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1202" y="3824288"/>
              <a:ext cx="260508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1202" y="4961572"/>
              <a:ext cx="2605088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41105" y="2879408"/>
              <a:ext cx="2605088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41105" y="3824288"/>
              <a:ext cx="260508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841105" y="4865370"/>
              <a:ext cx="260508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50772" y="1960245"/>
              <a:ext cx="2155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TLB 缺失：查页表第 026H 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47726" y="3001327"/>
              <a:ext cx="932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 = 1？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0846" y="3939540"/>
              <a:ext cx="22067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取出物理页号，写入 TLB 第 0 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的空闲项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8806" y="5083492"/>
              <a:ext cx="2150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拼成物理地址，继续查 Cache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68765" y="3001327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缺页异常，转操作系统处理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95029" y="3939540"/>
              <a:ext cx="2298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从磁盘调入该页，主存满时先换出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98839" y="4980622"/>
              <a:ext cx="22905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更新页表和 TLB，返回后重新执行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这次访存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142798" y="351663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66420" y="354091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19160" y="287940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57781" y="290369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11704"/>
              <a:ext cx="8628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0 组的第 1、3 路无效，新表项直接填入；若组内 4 项都有效，要按替换算法（如 LRU）换出一项。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51546" cy="909257"/>
            <a:chOff x="520446" y="342900"/>
            <a:chExt cx="82515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461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767" y="407194"/>
              <a:ext cx="3086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例1 虚存、Cache 与 TLB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515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回顾：页表、TLB、Cache 各用什么查、查出什么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11125200" cy="1795462"/>
            <a:chOff x="533400" y="1524000"/>
            <a:chExt cx="11125200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75229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用地址的哪部分查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677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7233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命中后得到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5824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缺失时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3378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虚页号直接作下标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418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9228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物理页号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6566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缺页：操作系统从磁盘调页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1516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TLB（4 路组相联）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3378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虚页号最低位选组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4188" y="2556986"/>
              <a:ext cx="1512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有效位和 11 位标记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9228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物理页号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6566" y="2556986"/>
              <a:ext cx="1918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查页表后把表项装入 TLB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1550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Cache（直接映射）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43378" y="3005614"/>
              <a:ext cx="1779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物理地址第 7–5 位选行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4188" y="3005614"/>
              <a:ext cx="1512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有效位和 16 位标记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9228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96566" y="3005614"/>
              <a:ext cx="2095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访问主存，把块调入 Cache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5307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0160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42664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98398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1-table-2"/>
          <p:cNvGrpSpPr/>
          <p:nvPr/>
        </p:nvGrpSpPr>
        <p:grpSpPr>
          <a:xfrm>
            <a:off x="533400" y="3509962"/>
            <a:ext cx="11125200" cy="1795462"/>
            <a:chOff x="533400" y="3509962"/>
            <a:chExt cx="11125200" cy="1795462"/>
          </a:xfrm>
        </p:grpSpPr>
        <p:sp>
          <p:nvSpPr>
            <p:cNvPr id="37" name="Rectangle 37"/>
            <p:cNvSpPr/>
            <p:nvPr/>
          </p:nvSpPr>
          <p:spPr>
            <a:xfrm>
              <a:off x="533400" y="3509962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5624" y="36447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17763" y="36447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63027" y="364474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TLB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84912" y="36447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03311" y="36447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8009" y="3644741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8671" y="40943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961843" y="4094321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001C050H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11080" y="40943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本问不考虑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59006" y="4094321"/>
              <a:ext cx="1065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项 → 04H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7459" y="4094321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04C050H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41383" y="409432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2 行命中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4024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4072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8671" y="454294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61843" y="4542949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027BAC6H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11080" y="4542949"/>
              <a:ext cx="1410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组命中 → 2DH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59006" y="45429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7459" y="4542949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2DBAC6H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41383" y="454294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6 行无效，缺失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8510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8671" y="499157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61843" y="4991576"/>
              <a:ext cx="814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026BAC6H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311080" y="499157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0 组缺失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59006" y="4991576"/>
              <a:ext cx="1039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查第 026H 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17154" y="49915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取决于页表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41383" y="499157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之后再判断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3509962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529715" y="350996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198495" y="350996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646420" y="350996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871460" y="350996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428798" y="350996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2" name="Rectangle 7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130" y="5728335"/>
              <a:ext cx="9635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解题顺序固定：虚页号 → TLB → 页表 → 物理地址 → Cache 字段 → Cache 行。每一步写出二进制拆分，行号最容易取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错位。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64713" cy="3351847"/>
            <a:chOff x="667512" y="1835468"/>
            <a:chExt cx="566471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647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组相联 Cache 与 LRU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0145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顺序读 4352 个字、重复 10 次，数清楚缺失了几次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5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结构与主存地址划分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 个主存块怎样分到 16 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下每一遍的缺失次数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命中率与加速比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4553" cy="909257"/>
            <a:chOff x="520446" y="342900"/>
            <a:chExt cx="823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08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611" y="407194"/>
              <a:ext cx="313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例2 组相联 Cache 与 LRU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题目与 Cache 结构：64 块分成 16 组，每组 4 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91114" cy="887158"/>
            <a:chOff x="525399" y="1550194"/>
            <a:chExt cx="10691114" cy="88715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91114" cy="887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 32K×16 位（按字编址，字长 16 位）；Cache 4K 字，4 路组相联；块大小 64 字。Cache 初始为空，CPU 顺序读取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单元 0、1、…、4351，共重复 10 次。Cache 比主存快 10 倍，采用 LRU 替换。求 Cache 结构、主存地址划分和速度提高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的倍数。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27685" y="2547938"/>
            <a:ext cx="6497955" cy="3221831"/>
            <a:chOff x="527685" y="2547938"/>
            <a:chExt cx="6497955" cy="3221831"/>
          </a:xfrm>
        </p:grpSpPr>
        <p:sp>
          <p:nvSpPr>
            <p:cNvPr id="9" name="Rectangle 9"/>
            <p:cNvSpPr/>
            <p:nvPr/>
          </p:nvSpPr>
          <p:spPr>
            <a:xfrm>
              <a:off x="533400" y="2547938"/>
              <a:ext cx="649224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962" y="268700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2150" y="268700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86130" y="268700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9157" y="268700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5" y="268700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663" y="3174682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1168" y="317468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5148" y="317468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8175" y="317468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11202" y="317468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185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523298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1663" y="3662362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1168" y="366236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5148" y="366236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8175" y="366236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11202" y="366236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0062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1663" y="4150042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21168" y="415004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5148" y="415004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48175" y="415004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11202" y="415004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938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98658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6585" y="463772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90464" y="4637722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4444" y="4637722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7472" y="4637722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0499" y="4637722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815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1663" y="5125402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21168" y="512540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85148" y="512540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48175" y="512540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11202" y="5125402"/>
              <a:ext cx="106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标记 数据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2547938"/>
              <a:ext cx="649224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67815" y="2547938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30842" y="2547938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293870" y="2547938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57850" y="2547938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685" y="5549741"/>
              <a:ext cx="3953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 为有效位；共 16 组 × 4 行 = 64 行，每行存放一个主存块</a:t>
              </a:r>
            </a:p>
          </p:txBody>
        </p:sp>
      </p:grpSp>
      <p:grpSp>
        <p:nvGrpSpPr>
          <p:cNvPr id="70" name="c2-steps-1"/>
          <p:cNvGrpSpPr/>
          <p:nvPr/>
        </p:nvGrpSpPr>
        <p:grpSpPr>
          <a:xfrm>
            <a:off x="7330440" y="2557462"/>
            <a:ext cx="4095857" cy="2763488"/>
            <a:chOff x="7330440" y="2557462"/>
            <a:chExt cx="4095857" cy="2763488"/>
          </a:xfrm>
        </p:grpSpPr>
        <p:sp>
          <p:nvSpPr>
            <p:cNvPr id="53" name="Rectangle 53"/>
            <p:cNvSpPr/>
            <p:nvPr/>
          </p:nvSpPr>
          <p:spPr>
            <a:xfrm>
              <a:off x="7463790" y="2700338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330440" y="25574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4064" y="26312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30440" y="32080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24064" y="3281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330440" y="38585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24064" y="3932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330440" y="474440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24064" y="4818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41920" y="2591752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43063" y="2884646"/>
              <a:ext cx="2795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4K ÷ 64 = 4096 ÷ 64 = 64 块（行）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1920" y="32423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43063" y="3535204"/>
              <a:ext cx="3192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÷ 4 = 16 组，组号 4 位（0000–1111）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41920" y="389286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每行存什么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43063" y="4186714"/>
              <a:ext cx="3621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 1 位、标记 5 位、数据 64 个字（64 × 16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位）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41920" y="4778692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记录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3063" y="5071586"/>
              <a:ext cx="36832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 4 行要排出使用先后，每行再配 2 位计数器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8231" cy="909257"/>
            <a:chOff x="520446" y="342900"/>
            <a:chExt cx="86182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08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611" y="407194"/>
              <a:ext cx="313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例2 组相联 Cache 与 LRU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82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主存地址 15 位 = 标记 5 位 + 组号 4 位 + 块内地址 6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3179521" cy="2398776"/>
            <a:chOff x="533400" y="1533525"/>
            <a:chExt cx="3179521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2713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32K = 2¹⁵ 字，按字编址，地址 15 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27665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 64 = 2⁶ 字，6 位（第 5–0 位）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组 = 2⁴，4 位（第 9–6 位）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15 − 4 − 6 = 5 位（第 14–10 位）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4103370"/>
            <a:ext cx="5410200" cy="1273493"/>
            <a:chOff x="533400" y="4103370"/>
            <a:chExt cx="5410200" cy="1273493"/>
          </a:xfrm>
        </p:grpSpPr>
        <p:sp>
          <p:nvSpPr>
            <p:cNvPr id="25" name="Rectangle 25"/>
            <p:cNvSpPr/>
            <p:nvPr/>
          </p:nvSpPr>
          <p:spPr>
            <a:xfrm>
              <a:off x="533400" y="410337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7369" y="4231958"/>
              <a:ext cx="672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 Tag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34512" y="4231958"/>
              <a:ext cx="815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 Index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38116" y="42319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57986" y="465582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6786" y="465582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11776" y="465582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47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5204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85291" y="50806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14–10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02940" y="50806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27930" y="50806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5–0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03370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288858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185285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3"/>
          <p:cNvGrpSpPr/>
          <p:nvPr/>
        </p:nvGrpSpPr>
        <p:grpSpPr>
          <a:xfrm>
            <a:off x="533400" y="5556885"/>
            <a:ext cx="5410200" cy="756285"/>
            <a:chOff x="533400" y="5556885"/>
            <a:chExt cx="5410200" cy="756285"/>
          </a:xfrm>
        </p:grpSpPr>
        <p:sp>
          <p:nvSpPr>
            <p:cNvPr id="41" name="Rectangle 41"/>
            <p:cNvSpPr/>
            <p:nvPr/>
          </p:nvSpPr>
          <p:spPr>
            <a:xfrm>
              <a:off x="533400" y="555688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35017"/>
              <a:ext cx="200023" cy="200023"/>
              <a:chOff x="738188" y="583501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35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5901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704046"/>
              <a:ext cx="440575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块号 j 的块只能进第 j mod 16 组；同一组里的块靠标记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区分。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6248400" y="1524000"/>
            <a:ext cx="5410200" cy="2392680"/>
            <a:chOff x="6248400" y="1524000"/>
            <a:chExt cx="5410200" cy="2392680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392680"/>
            </a:xfrm>
            <a:prstGeom prst="roundRect">
              <a:avLst>
                <a:gd name="adj" fmla="val 5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2125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80061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34581" y="1756886"/>
              <a:ext cx="2679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最后一个单元 4351 放在哪一组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2100739"/>
              <a:ext cx="3552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4351 = 001 0000 1111 1111 B（15 位）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8524" y="2517457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4351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970395" y="2394585"/>
              <a:ext cx="98488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23512" y="2517457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55280" y="2394585"/>
              <a:ext cx="98488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55043" y="2517457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40165" y="2394585"/>
              <a:ext cx="98488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46637" y="2517457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111111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7424738" y="2807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67084" y="294084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标记 4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8409622" y="2807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51969" y="294084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组号 3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9394508" y="2807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98760" y="2940844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块内 63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92240" y="32385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48831" y="3178016"/>
              <a:ext cx="3101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所在主存块号 = 4351 ÷ 64 取整 = 67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2240" y="35556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48831" y="349615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组号 = 67 mod 16 = 3，标记 = 67 ÷ 16 取整 = 4</a:t>
              </a:r>
            </a:p>
          </p:txBody>
        </p:sp>
      </p:grpSp>
      <p:grpSp>
        <p:nvGrpSpPr>
          <p:cNvPr id="103" name="c2-table-2"/>
          <p:cNvGrpSpPr/>
          <p:nvPr/>
        </p:nvGrpSpPr>
        <p:grpSpPr>
          <a:xfrm>
            <a:off x="6243066" y="4096702"/>
            <a:ext cx="5415534" cy="1977962"/>
            <a:chOff x="6243066" y="4096702"/>
            <a:chExt cx="5415534" cy="1977962"/>
          </a:xfrm>
        </p:grpSpPr>
        <p:sp>
          <p:nvSpPr>
            <p:cNvPr id="71" name="Rectangle 71"/>
            <p:cNvSpPr/>
            <p:nvPr/>
          </p:nvSpPr>
          <p:spPr>
            <a:xfrm>
              <a:off x="6248400" y="4096702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10350" y="42252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45717" y="42252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57272" y="42252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68828" y="42252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671238" y="42252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块内地址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725248" y="46501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62837" y="46501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74392" y="46501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340215" y="4531042"/>
              <a:ext cx="9925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785947" y="46501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49902" y="46501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9406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48400" y="494538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85311" y="5073967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718412" y="507396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774392" y="50739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340215" y="4954905"/>
              <a:ext cx="99250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785947" y="50739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949902" y="50739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5365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585311" y="549878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18412" y="54987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774392" y="54987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785947" y="54987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905477" y="54987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4096702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302818" y="40967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8314372" y="40967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325928" y="40967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337482" y="40967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243066" y="5869305"/>
              <a:ext cx="3360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 0 和块 64 组号都是 0、标记不同，只能挤在同一组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2528" cy="909257"/>
            <a:chOff x="520446" y="342900"/>
            <a:chExt cx="7932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08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611" y="407194"/>
              <a:ext cx="313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例2 组相联 Cache 与 LRU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2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 个主存块分到 16 组：第 0–3 组各有 5 块抢 4 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8447" y="1524000"/>
            <a:ext cx="5847588" cy="3463956"/>
            <a:chOff x="528447" y="1524000"/>
            <a:chExt cx="5847588" cy="34639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45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4313" y="16454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装入该组的主存块号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56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82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5910" y="2045494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0、16、32、48、64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217795" y="1933575"/>
              <a:ext cx="114966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4497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182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65910" y="2445544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1、17、33、49、65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17795" y="2333625"/>
              <a:ext cx="114966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497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182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5910" y="2845594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2、18、34、50、66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217795" y="2733675"/>
              <a:ext cx="114966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4497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182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65910" y="3245644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3、19、35、51、67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17795" y="3133725"/>
              <a:ext cx="114966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4497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182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5910" y="364569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4、20、36、52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497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1826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6591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4497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195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8290" y="44457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65910" y="4445794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15、31、47、63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44975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5842635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46399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0350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447" y="4797266"/>
              <a:ext cx="43305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4352 个字 ÷ 每块 64 字 = 68 块（块号 0–67），块号 j 进入第 j mod 16 组</a:t>
              </a:r>
            </a:p>
          </p:txBody>
        </p:sp>
      </p:grpSp>
      <p:grpSp>
        <p:nvGrpSpPr>
          <p:cNvPr id="55" name="c1-card-2"/>
          <p:cNvGrpSpPr/>
          <p:nvPr/>
        </p:nvGrpSpPr>
        <p:grpSpPr>
          <a:xfrm>
            <a:off x="533400" y="5119688"/>
            <a:ext cx="5842635" cy="1185862"/>
            <a:chOff x="533400" y="5119688"/>
            <a:chExt cx="5842635" cy="1185862"/>
          </a:xfrm>
        </p:grpSpPr>
        <p:sp>
          <p:nvSpPr>
            <p:cNvPr id="50" name="Rectangle 50"/>
            <p:cNvSpPr/>
            <p:nvPr/>
          </p:nvSpPr>
          <p:spPr>
            <a:xfrm>
              <a:off x="533400" y="511968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525303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8190" y="53063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0862" y="53392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1332" y="5651183"/>
              <a:ext cx="50543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原课件写作“4352/(16×4) = 68”。结果碰巧相同，但应除以块大小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字；16×4 是 Cache 的总行数。</a:t>
              </a:r>
            </a:p>
          </p:txBody>
        </p:sp>
      </p:grpSp>
      <p:grpSp>
        <p:nvGrpSpPr>
          <p:cNvPr id="58" name="c2-image-1"/>
          <p:cNvGrpSpPr/>
          <p:nvPr/>
        </p:nvGrpSpPr>
        <p:grpSpPr>
          <a:xfrm>
            <a:off x="6680835" y="1524000"/>
            <a:ext cx="4977765" cy="4858416"/>
            <a:chOff x="6680835" y="1524000"/>
            <a:chExt cx="4977765" cy="4858416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rcRect l="9198" t="0" r="9197" b="0"/>
            <a:stretch>
              <a:fillRect/>
            </a:stretch>
          </p:blipFill>
          <p:spPr>
            <a:xfrm>
              <a:off x="6680835" y="1524000"/>
              <a:ext cx="4977765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7085100" y="6191726"/>
              <a:ext cx="4169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每组像一排 4 个车位：排满后又来新块，按 LRU 请最久没用过的块离开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0897" cy="909257"/>
            <a:chOff x="520446" y="342900"/>
            <a:chExt cx="7890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08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611" y="407194"/>
              <a:ext cx="313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例2 组相联 Cache 与 LRU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0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跟踪第 0 组的 LRU 替换：第 2 遍起每次访问都缺失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251287" cy="249364"/>
            <a:chOff x="526923" y="1545431"/>
            <a:chExt cx="5251287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251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组内 4 行按“最久未用 → 最近使用”排列，红格是本次缺失后调入的块</a:t>
              </a:r>
            </a:p>
          </p:txBody>
        </p:sp>
      </p:grpSp>
      <p:grpSp>
        <p:nvGrpSpPr>
          <p:cNvPr id="63" name="c1-cells-2"/>
          <p:cNvGrpSpPr/>
          <p:nvPr/>
        </p:nvGrpSpPr>
        <p:grpSpPr>
          <a:xfrm>
            <a:off x="527304" y="1934528"/>
            <a:ext cx="3507486" cy="2647950"/>
            <a:chOff x="527304" y="1934528"/>
            <a:chExt cx="3507486" cy="264795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4120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遍结束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96390" y="1934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01802" y="2041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05990" y="1934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1402" y="2041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15590" y="1934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1002" y="2041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5190" y="1934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30602" y="2041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2498407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遍读块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96390" y="23917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01802" y="24984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05990" y="23917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11402" y="24984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15590" y="23917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21002" y="24984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5190" y="2391728"/>
              <a:ext cx="609600" cy="3619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77248" y="24984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304" y="2955607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读块 16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596390" y="28489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01802" y="29556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05990" y="28489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11402" y="29556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815590" y="28489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67648" y="29556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25190" y="2848928"/>
              <a:ext cx="609600" cy="3619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30602" y="29556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304" y="3412807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读块 32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96390" y="33061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01802" y="34128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05990" y="33061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58048" y="3412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815590" y="33061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21002" y="34128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25190" y="3306128"/>
              <a:ext cx="609600" cy="3619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30602" y="34128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304" y="3870007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读块 48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596390" y="37633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848448" y="38700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05990" y="37633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11402" y="38700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815590" y="37633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021002" y="38700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425190" y="3763328"/>
              <a:ext cx="609600" cy="3619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30602" y="38700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7304" y="4327208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读块 64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596390" y="4220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801802" y="4327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205990" y="4220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411402" y="4327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815590" y="4220528"/>
              <a:ext cx="609600" cy="3619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021002" y="4327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425190" y="4220528"/>
              <a:ext cx="609600" cy="36195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630602" y="432720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  <p:grpSp>
        <p:nvGrpSpPr>
          <p:cNvPr id="70" name="c1-callout-3"/>
          <p:cNvGrpSpPr/>
          <p:nvPr/>
        </p:nvGrpSpPr>
        <p:grpSpPr>
          <a:xfrm>
            <a:off x="533400" y="4772978"/>
            <a:ext cx="5410200" cy="782955"/>
            <a:chOff x="533400" y="4772978"/>
            <a:chExt cx="5410200" cy="782955"/>
          </a:xfrm>
        </p:grpSpPr>
        <p:sp>
          <p:nvSpPr>
            <p:cNvPr id="64" name="Rectangle 64"/>
            <p:cNvSpPr/>
            <p:nvPr/>
          </p:nvSpPr>
          <p:spPr>
            <a:xfrm>
              <a:off x="533400" y="477297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064443"/>
              <a:ext cx="200026" cy="200026"/>
              <a:chOff x="738188" y="5064443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0644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51311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51644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4921568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遍：块 0、16、32、48 装入空行，块 64 到来时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换出最久未用的块 0。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6248400" y="1524000"/>
            <a:ext cx="5410200" cy="1602105"/>
            <a:chOff x="6248400" y="1524000"/>
            <a:chExt cx="5410200" cy="1602105"/>
          </a:xfrm>
        </p:grpSpPr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96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60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为什么每次都缺失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88430" y="2110740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组只有 4 行，却要轮流放 5 个块。每读一个新块，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被换出的恰好是下一个要读的块（它最久没被用过），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遍结束时组内又回到第 1 遍结束的状态。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6248400" y="3316605"/>
            <a:ext cx="5410200" cy="1795462"/>
            <a:chOff x="6248400" y="3316605"/>
            <a:chExt cx="5410200" cy="1795462"/>
          </a:xfrm>
        </p:grpSpPr>
        <p:sp>
          <p:nvSpPr>
            <p:cNvPr id="77" name="Rectangle 77"/>
            <p:cNvSpPr/>
            <p:nvPr/>
          </p:nvSpPr>
          <p:spPr>
            <a:xfrm>
              <a:off x="6248400" y="331660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43064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03537" y="34523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每遍缺失次数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56223" y="390096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遍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04086" y="3900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68：每块第一次访问都缺失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4209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421386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56223" y="4349591"/>
              <a:ext cx="864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2–10 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04086" y="4349591"/>
              <a:ext cx="2683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0–3 组各 5 次，共 4 × 5 = 20 次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4658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56223" y="4798219"/>
              <a:ext cx="864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4–15 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304086" y="479821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遍起不再缺失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248400" y="331660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8191500" y="33166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llout-3"/>
          <p:cNvGrpSpPr/>
          <p:nvPr/>
        </p:nvGrpSpPr>
        <p:grpSpPr>
          <a:xfrm>
            <a:off x="6248400" y="5302568"/>
            <a:ext cx="5410200" cy="1059180"/>
            <a:chOff x="6248400" y="5302568"/>
            <a:chExt cx="5410200" cy="1059180"/>
          </a:xfrm>
        </p:grpSpPr>
        <p:sp>
          <p:nvSpPr>
            <p:cNvPr id="92" name="Rectangle 92"/>
            <p:cNvSpPr/>
            <p:nvPr/>
          </p:nvSpPr>
          <p:spPr>
            <a:xfrm>
              <a:off x="6248400" y="530256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453188" y="5732145"/>
              <a:ext cx="200026" cy="200025"/>
              <a:chOff x="6453188" y="5732145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453188" y="57321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492926" y="57765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527642" y="58877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755130" y="5451158"/>
              <a:ext cx="4453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用脚本逐字模拟 10 遍共 43520 次访存，结果为 68 +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 × 20 = 248 次缺失；改用 FIFO 替换，缺失次数相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18502" cy="909257"/>
            <a:chOff x="520446" y="342900"/>
            <a:chExt cx="91185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08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611" y="407194"/>
              <a:ext cx="3134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例2 组相联 Cache 与 LRU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185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命中率约 99.43%，采用 Cache 后速度约为原来的 9.46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27685" y="1524000"/>
            <a:ext cx="6065520" cy="2539842"/>
            <a:chOff x="527685" y="1524000"/>
            <a:chExt cx="6065520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13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15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访存次数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9123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缺失次数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5724" y="1659731"/>
              <a:ext cx="2447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时间（Cache 访问一次记为 1）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666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4108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34028" y="2108359"/>
              <a:ext cx="1744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 + 68 × 10 = 5032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1208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2–10 遍每遍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6668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4108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34028" y="2556986"/>
              <a:ext cx="1744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 + 20 × 10 = 4552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005614"/>
              <a:ext cx="1208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2–10 遍合计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29282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39168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93699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34028" y="3005614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× 4552 = 40968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454241"/>
              <a:ext cx="837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10 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29282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93699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935730" y="3328988"/>
              <a:ext cx="2646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34028" y="34542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5032 + 40968 = 46000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9831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2144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3843814"/>
              <a:ext cx="5550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计时模型：每次读数先访问 Cache（1），缺失时再访问主存（10），调块时间忽略</a:t>
              </a:r>
            </a:p>
          </p:txBody>
        </p:sp>
      </p:grpSp>
      <p:grpSp>
        <p:nvGrpSpPr>
          <p:cNvPr id="53" name="c1-steps-2"/>
          <p:cNvGrpSpPr/>
          <p:nvPr/>
        </p:nvGrpSpPr>
        <p:grpSpPr>
          <a:xfrm>
            <a:off x="533400" y="4219575"/>
            <a:ext cx="3432449" cy="1878615"/>
            <a:chOff x="533400" y="4219575"/>
            <a:chExt cx="3432449" cy="1878615"/>
          </a:xfrm>
        </p:grpSpPr>
        <p:sp>
          <p:nvSpPr>
            <p:cNvPr id="40" name="Rectangle 40"/>
            <p:cNvSpPr/>
            <p:nvPr/>
          </p:nvSpPr>
          <p:spPr>
            <a:xfrm>
              <a:off x="666750" y="436245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33400" y="42195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024" y="4293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33400" y="48701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7024" y="4943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55206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55945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4880" y="42538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023" y="4547711"/>
              <a:ext cx="2632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(43520 − 248) ÷ 43520 ≈ 99.43%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880" y="4904422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 Cache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023" y="5198269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每次都访问主存：43520 × 10 = 435200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4880" y="55549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023" y="5848826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435200 ÷ 46000 ≈ 9.46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1602105"/>
            <a:chOff x="6898005" y="1524000"/>
            <a:chExt cx="4760595" cy="1602105"/>
          </a:xfrm>
        </p:grpSpPr>
        <p:sp>
          <p:nvSpPr>
            <p:cNvPr id="54" name="Rectangle 54"/>
            <p:cNvSpPr/>
            <p:nvPr/>
          </p:nvSpPr>
          <p:spPr>
            <a:xfrm>
              <a:off x="6898005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075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977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9935" y="2110740"/>
              <a:ext cx="4091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平均每次访存 46000 ÷ 43520 ≈ 1.057，接近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 本身的速度，整体速度约为不用 Cache 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9.46 倍。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898005" y="3316605"/>
            <a:ext cx="4760595" cy="2769870"/>
            <a:chOff x="6898005" y="3316605"/>
            <a:chExt cx="4760595" cy="2769870"/>
          </a:xfrm>
        </p:grpSpPr>
        <p:sp>
          <p:nvSpPr>
            <p:cNvPr id="59" name="Rectangle 59"/>
            <p:cNvSpPr/>
            <p:nvPr/>
          </p:nvSpPr>
          <p:spPr>
            <a:xfrm>
              <a:off x="6898005" y="3316605"/>
              <a:ext cx="4760595" cy="2769870"/>
            </a:xfrm>
            <a:prstGeom prst="roundRect">
              <a:avLst>
                <a:gd name="adj" fmla="val 4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3449955"/>
              <a:ext cx="47625" cy="25031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45655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23061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答题时注意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51370" y="39662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09485" y="390334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“提高了多少倍”本课程按性能比答 9.46；若理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解为比原来多出的部分，则是提高了 8.46 倍，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答题时写明所指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51370" y="4872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09485" y="4810125"/>
              <a:ext cx="3520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若认为缺失时只花主存时间 10、不计先查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的 1：时间 = 43272 + 248 × 10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45752，加速比 ≈ 9.51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00894" cy="3351847"/>
            <a:chOff x="667512" y="1835468"/>
            <a:chExt cx="510089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1008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多级 Cache 的性能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191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缺失代价按时钟周期折算，才能算出总 CPI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15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（1）时钟频率与 AMAT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74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（1）总 CPI 与每条指令的时间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28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（2）加二级 Cache 后的 AMAT 与 CPI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全局缺失率与局部缺失率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123" cy="909257"/>
            <a:chOff x="520446" y="342900"/>
            <a:chExt cx="9294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题目：P1 时钟快、P2 缺失率低，比较两者的存储器性能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47054" cy="264033"/>
            <a:chOff x="526542" y="1545907"/>
            <a:chExt cx="724705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47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主存访问时间 100 ns。一级 Cache 的命中时间决定处理器的时钟周期，基本 CPI 为 1.0。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28812"/>
            <a:ext cx="5951220" cy="1316355"/>
            <a:chOff x="533400" y="1928812"/>
            <a:chExt cx="5951220" cy="131635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004" y="20535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46737" y="2053590"/>
              <a:ext cx="138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 Cache 容量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17417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一级缺失率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35308" y="205359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一级命中时间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5716" y="249269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46236" y="2492692"/>
              <a:ext cx="388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KB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53675" y="24926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3371" y="2492692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ns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13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06065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5716" y="2931795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46236" y="2931795"/>
              <a:ext cx="388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KB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3630" y="2931795"/>
              <a:ext cx="249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53393" y="2931795"/>
              <a:ext cx="66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ns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928812"/>
              <a:ext cx="5951220" cy="1316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08772" y="1928812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63290" y="1928812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885372" y="1928812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table-2"/>
          <p:cNvGrpSpPr/>
          <p:nvPr/>
        </p:nvGrpSpPr>
        <p:grpSpPr>
          <a:xfrm>
            <a:off x="528447" y="3415665"/>
            <a:ext cx="5956173" cy="1141761"/>
            <a:chOff x="528447" y="3415665"/>
            <a:chExt cx="5956173" cy="1141761"/>
          </a:xfrm>
        </p:grpSpPr>
        <p:sp>
          <p:nvSpPr>
            <p:cNvPr id="29" name="Rectangle 29"/>
            <p:cNvSpPr/>
            <p:nvPr/>
          </p:nvSpPr>
          <p:spPr>
            <a:xfrm>
              <a:off x="533400" y="3415665"/>
              <a:ext cx="595122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6625" y="3540442"/>
              <a:ext cx="138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二级 Cache 容量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78302" y="35404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二级缺失率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5286" y="3540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二级访问时间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0510" y="3979545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 KB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14560" y="3979545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3303" y="3979545"/>
              <a:ext cx="368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ns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415665"/>
              <a:ext cx="5951220" cy="8782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43200" y="3415665"/>
              <a:ext cx="9525" cy="8782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25328" y="3415665"/>
              <a:ext cx="9525" cy="8782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4366736"/>
              <a:ext cx="2045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第（2）问给 P1 增加的二级 Cache</a:t>
              </a:r>
            </a:p>
          </p:txBody>
        </p:sp>
      </p:grpSp>
      <p:grpSp>
        <p:nvGrpSpPr>
          <p:cNvPr id="49" name="c1-card-3"/>
          <p:cNvGrpSpPr/>
          <p:nvPr/>
        </p:nvGrpSpPr>
        <p:grpSpPr>
          <a:xfrm>
            <a:off x="533400" y="4688205"/>
            <a:ext cx="5951220" cy="1485900"/>
            <a:chOff x="533400" y="4688205"/>
            <a:chExt cx="5951220" cy="1485900"/>
          </a:xfrm>
        </p:grpSpPr>
        <p:sp>
          <p:nvSpPr>
            <p:cNvPr id="41" name="Rectangle 41"/>
            <p:cNvSpPr/>
            <p:nvPr/>
          </p:nvSpPr>
          <p:spPr>
            <a:xfrm>
              <a:off x="533400" y="4688205"/>
              <a:ext cx="595122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821555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487489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5609" y="490775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代入前先换算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2758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219700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= 1 ÷ 周期：1 ÷ 0.2 ns = 1 ÷ (0.2 × 10⁻⁹ s) = 5 × 10⁹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Hz = 5 GHz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8331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776912"/>
              <a:ext cx="430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百分数化成小数再乘：2.5% = 0.025，0.5% = 0.005</a:t>
              </a:r>
            </a:p>
          </p:txBody>
        </p:sp>
      </p:grpSp>
      <p:grpSp>
        <p:nvGrpSpPr>
          <p:cNvPr id="62" name="c2-bullets-1"/>
          <p:cNvGrpSpPr/>
          <p:nvPr/>
        </p:nvGrpSpPr>
        <p:grpSpPr>
          <a:xfrm>
            <a:off x="6789420" y="1938338"/>
            <a:ext cx="4652635" cy="1202245"/>
            <a:chOff x="6789420" y="1938338"/>
            <a:chExt cx="4652635" cy="1202245"/>
          </a:xfrm>
        </p:grpSpPr>
        <p:sp>
          <p:nvSpPr>
            <p:cNvPr id="50" name="Ellipse 50"/>
            <p:cNvSpPr/>
            <p:nvPr/>
          </p:nvSpPr>
          <p:spPr>
            <a:xfrm>
              <a:off x="6789420" y="19383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5098" y="19776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0217" y="1950720"/>
              <a:ext cx="2492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 的时钟频率各是多少？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89420" y="224694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45098" y="22862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0217" y="2259330"/>
              <a:ext cx="4283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 的 AMAT（平均存储器访问时间）各是多少？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89420" y="255555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5098" y="25948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0217" y="2567940"/>
              <a:ext cx="233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P1、P2 的总 CPI 各是多少？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789420" y="28641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45098" y="2903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70217" y="2876550"/>
              <a:ext cx="4371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增加二级 Cache 后 CPI 是多少？性能提升了多少？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6789420" y="3257550"/>
            <a:ext cx="4869180" cy="729615"/>
            <a:chOff x="6789420" y="3257550"/>
            <a:chExt cx="4869180" cy="729615"/>
          </a:xfrm>
        </p:grpSpPr>
        <p:sp>
          <p:nvSpPr>
            <p:cNvPr id="63" name="Rectangle 63"/>
            <p:cNvSpPr/>
            <p:nvPr/>
          </p:nvSpPr>
          <p:spPr>
            <a:xfrm>
              <a:off x="6789420" y="3257550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994208" y="3522345"/>
              <a:ext cx="200026" cy="200026"/>
              <a:chOff x="6994208" y="3522345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994208" y="35223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94220" y="3589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083108" y="36223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296912" y="3403282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原课件的解答默认每条指令访存 1 次，本讲义沿用这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一假设。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273089" cy="909257"/>
            <a:chOff x="520446" y="342900"/>
            <a:chExt cx="112730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2730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（1）时钟频率与 AMAT：P1 为 5 GHz、2.7 ns，P2 为 4 GHz、2.25 ns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6059805" cy="1995488"/>
            <a:chOff x="533400" y="1524000"/>
            <a:chExt cx="6059805" cy="19954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55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30248" y="164877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93401" y="164877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3993" y="2087880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77168" y="2087880"/>
              <a:ext cx="66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ns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605980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0564" y="2526982"/>
              <a:ext cx="1574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÷ 0.2 ns = 5 GHz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2608" y="2526982"/>
              <a:ext cx="1677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÷ 0.25 ns = 4 GHz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3086100"/>
              <a:ext cx="497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15312" y="2966085"/>
              <a:ext cx="186537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+ 2.5% × 100 = 2.7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39578" y="2849880"/>
              <a:ext cx="2344102" cy="66008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78464" y="2966085"/>
              <a:ext cx="186537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+ 2% × 100 = 2.25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059805" cy="199548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62138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25290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689985"/>
            <a:ext cx="6059805" cy="1835468"/>
            <a:chOff x="533400" y="3689985"/>
            <a:chExt cx="6059805" cy="1835468"/>
          </a:xfrm>
        </p:grpSpPr>
        <p:sp>
          <p:nvSpPr>
            <p:cNvPr id="28" name="Rectangle 28"/>
            <p:cNvSpPr/>
            <p:nvPr/>
          </p:nvSpPr>
          <p:spPr>
            <a:xfrm>
              <a:off x="533400" y="3689985"/>
              <a:ext cx="6059805" cy="1835468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823335"/>
              <a:ext cx="47625" cy="15687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38766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9660" y="39095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公式从哪来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4220528"/>
              <a:ext cx="53886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有 97.5% 的访存只花 0.2 ns；2.5% 的访存先查 Cache 缺失，再访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问主存，花 0.2 + 100 ns：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4777740"/>
              <a:ext cx="462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0.975 × 0.2 + 0.025 × 100.2 = 0.195 + 2.505 = 2.7 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475" y="5074444"/>
              <a:ext cx="4316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命中时间对每次访存都要算上，所以公式写成 t₁ + m₁ × t主存。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7133272" y="2176939"/>
            <a:ext cx="4241483" cy="426244"/>
            <a:chOff x="7133272" y="2176939"/>
            <a:chExt cx="4241483" cy="426244"/>
          </a:xfrm>
        </p:grpSpPr>
        <p:sp>
          <p:nvSpPr>
            <p:cNvPr id="36" name="Freeform 36"/>
            <p:cNvSpPr/>
            <p:nvPr/>
          </p:nvSpPr>
          <p:spPr>
            <a:xfrm>
              <a:off x="7803832" y="2463165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680132" y="2415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781222" y="2463165"/>
              <a:ext cx="827722" cy="9525"/>
            </a:xfrm>
            <a:custGeom>
              <a:avLst/>
              <a:gdLst/>
              <a:ahLst/>
              <a:cxnLst/>
              <a:rect l="l" t="t" r="r" b="b"/>
              <a:pathLst>
                <a:path w="827722" h="9525">
                  <a:moveTo>
                    <a:pt x="0" y="0"/>
                  </a:moveTo>
                  <a:lnTo>
                    <a:pt x="8277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608945" y="2415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33272" y="2323148"/>
              <a:ext cx="670560" cy="280035"/>
            </a:xfrm>
            <a:prstGeom prst="roundRect">
              <a:avLst>
                <a:gd name="adj" fmla="val 340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775382" y="2323148"/>
              <a:ext cx="100584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704195" y="2323148"/>
              <a:ext cx="67056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33842" y="239744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02717" y="2397442"/>
              <a:ext cx="75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 Cache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2375" y="217693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每次都先访问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92790" y="23974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66370" y="2176939"/>
              <a:ext cx="3462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 ns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00310" y="238506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28034" y="241411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缺失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3312795"/>
            <a:ext cx="4760595" cy="2211705"/>
            <a:chOff x="6898005" y="3312795"/>
            <a:chExt cx="4760595" cy="2211705"/>
          </a:xfrm>
        </p:grpSpPr>
        <p:sp>
          <p:nvSpPr>
            <p:cNvPr id="51" name="Rectangle 51"/>
            <p:cNvSpPr/>
            <p:nvPr/>
          </p:nvSpPr>
          <p:spPr>
            <a:xfrm>
              <a:off x="6898005" y="3312795"/>
              <a:ext cx="4760595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3446145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2795" y="34994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4514" y="35323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看点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31367" y="39004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87387" y="3844290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的一级 Cache 容量是 P1 的 2 倍：命中时间多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 ns，缺失率低 0.5 个百分点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31367" y="44577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87387" y="4401502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时钟快 25%，但每次缺失都要等 100 ns 的主存，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平均访存时间反而比 P2 多 0.45 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17080" y="4955381"/>
              <a:ext cx="41790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缺失率每降 0.1 个百分点，AMAT 就少 0.1 ns，远大于命中时间上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的差别。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1" name="Rectangle 6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10475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另一种约定：若 Cache 与主存同时开始查找，缺失时只花主存时间，平均时间 = 命中率 × t₁ + 缺失率 × t主存，P1 为 2.695 ns。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67797" cy="909257"/>
            <a:chOff x="520446" y="342900"/>
            <a:chExt cx="96677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677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（1）总 CPI：P1 为 13.5，P2 为 9；比较快慢还要乘时钟周期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73655" cy="1878615"/>
            <a:chOff x="533400" y="1533525"/>
            <a:chExt cx="5073655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缺失代价折算成周期数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661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P1：100 ÷ 0.2 = 500 个周期；P2：100 ÷ 0.25 = 400 个周期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每条指令的停顿周期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3403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P1：2.5% × 500 = 12.5；P2：2% × 400 = 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598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 CPI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3239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P1：1.0 + 12.5 = 13.5；P2：1.0 + 8 = 9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590925"/>
            <a:ext cx="5626418" cy="1897380"/>
            <a:chOff x="533400" y="3590925"/>
            <a:chExt cx="5626418" cy="1897380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5626418" cy="189738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724275"/>
              <a:ext cx="47625" cy="16306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80047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507" y="38361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停顿占了多少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2405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177665"/>
              <a:ext cx="458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P1：13.5 个周期里有 12.5 个在等主存，约占 93%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58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2945"/>
              <a:ext cx="3914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P2：9 个周期里有 8 个在等主存，约占 89%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4843939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两台机器的时间大部分耗在 Cache 缺失上，这正是第（2）问加二级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Cache 的原因。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464618" y="1524000"/>
            <a:ext cx="5193982" cy="1346835"/>
            <a:chOff x="6464618" y="1524000"/>
            <a:chExt cx="5193982" cy="1346835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734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2579" y="1659731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71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68434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每条指令平均时间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20674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685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28975" y="210835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77553" y="2108359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13.5 × 0.2 = 2.7 ns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20674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0901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81589" y="255698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ns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279255" y="2430780"/>
              <a:ext cx="236982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77553" y="2556986"/>
              <a:ext cx="1503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× 0.25 = 2.25 ns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9521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2196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6496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464618" y="3061335"/>
            <a:ext cx="5193982" cy="2426970"/>
            <a:chOff x="6464618" y="3061335"/>
            <a:chExt cx="5193982" cy="2426970"/>
          </a:xfrm>
        </p:grpSpPr>
        <p:sp>
          <p:nvSpPr>
            <p:cNvPr id="52" name="Rectangle 52"/>
            <p:cNvSpPr/>
            <p:nvPr/>
          </p:nvSpPr>
          <p:spPr>
            <a:xfrm>
              <a:off x="6464618" y="3061335"/>
              <a:ext cx="5193982" cy="242697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3194685"/>
              <a:ext cx="47625" cy="21602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3270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03428" y="3306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3295" y="3306128"/>
              <a:ext cx="1792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比 P1 快 1.2 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04648" y="3667125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 ÷ 2.25 = 1.2。基本 CPI 为 1、时钟周期等于命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中时间时，每条指令的平均时间正好等于 AMAT。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9676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易错：CPI 公式中的缺失代价要用周期数。直接代 100 ns 会算出 1.0 + 2.5% × 100 = 3.5 这样的错误结果。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11472" cy="909257"/>
            <a:chOff x="520446" y="342900"/>
            <a:chExt cx="10911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11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（2）P1 加二级 Cache：AMAT 0.825 ns，CPI 4.125，快约 3.27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783908" y="2087880"/>
            <a:ext cx="5125402" cy="842581"/>
            <a:chOff x="783908" y="2087880"/>
            <a:chExt cx="5125402" cy="842581"/>
          </a:xfrm>
        </p:grpSpPr>
        <p:sp>
          <p:nvSpPr>
            <p:cNvPr id="7" name="Freeform 7"/>
            <p:cNvSpPr/>
            <p:nvPr/>
          </p:nvSpPr>
          <p:spPr>
            <a:xfrm>
              <a:off x="1858328" y="2238375"/>
              <a:ext cx="901065" cy="9525"/>
            </a:xfrm>
            <a:custGeom>
              <a:avLst/>
              <a:gdLst/>
              <a:ahLst/>
              <a:cxnLst/>
              <a:rect l="l" t="t" r="r" b="b"/>
              <a:pathLst>
                <a:path w="901065" h="9525">
                  <a:moveTo>
                    <a:pt x="0" y="0"/>
                  </a:moveTo>
                  <a:lnTo>
                    <a:pt x="9010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59392" y="2190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39528" y="2238375"/>
              <a:ext cx="900112" cy="9525"/>
            </a:xfrm>
            <a:custGeom>
              <a:avLst/>
              <a:gdLst/>
              <a:ahLst/>
              <a:cxnLst/>
              <a:rect l="l" t="t" r="r" b="b"/>
              <a:pathLst>
                <a:path w="900112" h="9525">
                  <a:moveTo>
                    <a:pt x="0" y="0"/>
                  </a:moveTo>
                  <a:lnTo>
                    <a:pt x="900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39640" y="2190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3908" y="2087880"/>
              <a:ext cx="107442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54642" y="2087880"/>
              <a:ext cx="984885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834890" y="2087880"/>
              <a:ext cx="107442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9454" y="216836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 0.2 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2493" y="2168366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二级 5 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0436" y="216836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 100 ns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81225" y="2152650"/>
              <a:ext cx="3505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06333" y="2185035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2.5%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61472" y="2152650"/>
              <a:ext cx="3505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86580" y="2185035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5391" y="2725102"/>
              <a:ext cx="3643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一级缺失的访存才查二级；两级都缺失的占全部访存 0.5%</a:t>
              </a:r>
            </a:p>
          </p:txBody>
        </p:sp>
      </p:grpSp>
      <p:grpSp>
        <p:nvGrpSpPr>
          <p:cNvPr id="36" name="c1-steps-2"/>
          <p:cNvGrpSpPr/>
          <p:nvPr/>
        </p:nvGrpSpPr>
        <p:grpSpPr>
          <a:xfrm>
            <a:off x="533400" y="3142298"/>
            <a:ext cx="5081016" cy="2003488"/>
            <a:chOff x="533400" y="3142298"/>
            <a:chExt cx="5081016" cy="2003488"/>
          </a:xfrm>
        </p:grpSpPr>
        <p:sp>
          <p:nvSpPr>
            <p:cNvPr id="23" name="Rectangle 23"/>
            <p:cNvSpPr/>
            <p:nvPr/>
          </p:nvSpPr>
          <p:spPr>
            <a:xfrm>
              <a:off x="666750" y="3285172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31422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024" y="3216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375951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38333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45967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024" y="46705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3175159"/>
              <a:ext cx="523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3455670"/>
              <a:ext cx="4543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+ 2.5% × 5 + 0.5% × 100 = 0.2 + 0.125 + 0.5 = 0.825 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3792379"/>
              <a:ext cx="311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4072890"/>
              <a:ext cx="46680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 + 2.5% × (5 ÷ 0.2) + 0.5% × (100 ÷ 0.2) = 1.0 + 0.625 + 2.5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4.125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261" y="46305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404" y="4911090"/>
              <a:ext cx="2669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时钟周期不变，13.5 ÷ 4.125 ≈ 3.27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316855"/>
            <a:ext cx="5626418" cy="756285"/>
            <a:chOff x="533400" y="5316855"/>
            <a:chExt cx="5626418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531685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594985"/>
              <a:ext cx="200026" cy="200026"/>
              <a:chOff x="738188" y="559498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5949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6616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6949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5464016"/>
              <a:ext cx="471233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对照第（1）问：每条指令的存储器停顿从 12.5 个周期降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0.625 + 2.5 = 3.125 个周期，性能提升全部来自这里。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524000"/>
            <a:ext cx="5193982" cy="1750695"/>
            <a:chOff x="6464618" y="1524000"/>
            <a:chExt cx="5193982" cy="1750695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1657350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3598" y="2082641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原课件写作“AMAT = 0.2 + 2.5%×5 + 0.5%×100 = 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ns”。三项之和是 0.825 ns。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4742" y="2667952"/>
              <a:ext cx="4210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验证：CPI × 时钟周期 = 4.125 × 0.2 = 0.825 ns，与 AMAT 相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3454718"/>
            <a:ext cx="5193982" cy="1250632"/>
            <a:chOff x="6464618" y="3454718"/>
            <a:chExt cx="5193982" cy="1250632"/>
          </a:xfrm>
        </p:grpSpPr>
        <p:sp>
          <p:nvSpPr>
            <p:cNvPr id="51" name="Rectangle 51"/>
            <p:cNvSpPr/>
            <p:nvPr/>
          </p:nvSpPr>
          <p:spPr>
            <a:xfrm>
              <a:off x="6464618" y="3454718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62738" y="36528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54178" y="36871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5498" y="4014311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每条指令平均 0.825 ns：约为原来 2.7 ns 的 1/3.27，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也比 P2 的 2.25 ns 快约 2.73 倍。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464618" y="4886325"/>
            <a:ext cx="5193982" cy="756285"/>
            <a:chOff x="6464618" y="4886325"/>
            <a:chExt cx="5193982" cy="756285"/>
          </a:xfrm>
        </p:grpSpPr>
        <p:sp>
          <p:nvSpPr>
            <p:cNvPr id="56" name="Rectangle 56"/>
            <p:cNvSpPr/>
            <p:nvPr/>
          </p:nvSpPr>
          <p:spPr>
            <a:xfrm>
              <a:off x="6464618" y="488632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69405" y="5164455"/>
              <a:ext cx="200026" cy="200025"/>
              <a:chOff x="6669405" y="516445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69405" y="51644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09144" y="52089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43859" y="53200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1729" y="5033486"/>
              <a:ext cx="41172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0.5% 是全局缺失率，直接乘主存时间；二级 Cache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 5 ns 只由一级缺失的 2.5% 访存承担。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4507" cy="909257"/>
            <a:chOff x="520446" y="342900"/>
            <a:chExt cx="7684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4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易错：二级缺失率是“全局”还是“局部”，算法不同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1746885"/>
            <a:chOff x="533400" y="1524000"/>
            <a:chExt cx="5842635" cy="1746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46885"/>
            </a:xfrm>
            <a:prstGeom prst="roundRect">
              <a:avLst>
                <a:gd name="adj" fmla="val 7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01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两种缺失率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局部缺失率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二级缺失次数 ÷ 访问二级的次数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全局缺失率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= 两级都缺失的次数 ÷ 全部访存次数 = 一级缺失率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二级局部缺失率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2908459"/>
              <a:ext cx="4723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本题 0.5% 是全局缺失率，对应二级局部缺失率 0.5% ÷ 2.5% = 20%。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28447" y="3441382"/>
            <a:ext cx="5847588" cy="1463707"/>
            <a:chOff x="528447" y="3441382"/>
            <a:chExt cx="5847588" cy="1463707"/>
          </a:xfrm>
        </p:grpSpPr>
        <p:sp>
          <p:nvSpPr>
            <p:cNvPr id="17" name="Rectangle 17"/>
            <p:cNvSpPr/>
            <p:nvPr/>
          </p:nvSpPr>
          <p:spPr>
            <a:xfrm>
              <a:off x="533400" y="3441382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6991" y="356282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题给 0.5% 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7328" y="3562826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AMAT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9346" y="356282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" y="3850958"/>
              <a:ext cx="126682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9628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全局缺失率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16430" y="3962876"/>
              <a:ext cx="280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+ 2.5% × 5 + 0.5% × 100 = 0.825 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79123" y="396287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4.125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367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4148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3629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局部缺失率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16430" y="4362926"/>
              <a:ext cx="3057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+ 2.5% × (5 + 0.5% × 100) = 0.3375 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7660" y="43629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1.6875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41382"/>
              <a:ext cx="584263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14512" y="344138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03508" y="344138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4714399"/>
              <a:ext cx="3195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行只用于对比，题目说明是局部缺失率时才这样算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680835" y="1524000"/>
            <a:ext cx="4977765" cy="1803082"/>
            <a:chOff x="6680835" y="1524000"/>
            <a:chExt cx="4977765" cy="1803082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1657350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562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829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72172" y="1745932"/>
              <a:ext cx="2217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P2 加同样的二级 Cache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914198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70217" y="207168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二级代价 5 ÷ 0.25 = 20 个周期，主存代价 400 个周期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914198" y="24279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0217" y="2371725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1.0 + 2% × 20 + 0.5% × 400 = 1.0 + 0.4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= 3.4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14198" y="29851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70217" y="292893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性能比 9 ÷ 3.4 ≈ 2.65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680835" y="3496628"/>
            <a:ext cx="4977765" cy="1017270"/>
            <a:chOff x="6680835" y="3496628"/>
            <a:chExt cx="4977765" cy="1017270"/>
          </a:xfrm>
        </p:grpSpPr>
        <p:sp>
          <p:nvSpPr>
            <p:cNvPr id="47" name="Rectangle 47"/>
            <p:cNvSpPr/>
            <p:nvPr/>
          </p:nvSpPr>
          <p:spPr>
            <a:xfrm>
              <a:off x="6680835" y="3496628"/>
              <a:ext cx="4977765" cy="1017270"/>
            </a:xfrm>
            <a:prstGeom prst="roundRect">
              <a:avLst>
                <a:gd name="adj" fmla="val 13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90360" y="3629978"/>
              <a:ext cx="47625" cy="75057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5625" y="368331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83044" y="371617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两种写法等价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12"/>
                <p:cNvSpPr txBox="1">
                  <a:spLocks noGrp="1"/>
                </p:cNvSpPr>
                <p:nvPr/>
              </p:nvSpPr>
              <p:spPr>
                <a:xfrm>
                  <a:off x="6905625" y="4005262"/>
                  <a:ext cx="456628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局部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主存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全局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主存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8" name="c2-callout-3"/>
          <p:cNvGrpSpPr/>
          <p:nvPr/>
        </p:nvGrpSpPr>
        <p:grpSpPr>
          <a:xfrm>
            <a:off x="6680835" y="4683442"/>
            <a:ext cx="4977765" cy="729615"/>
            <a:chOff x="6680835" y="4683442"/>
            <a:chExt cx="4977765" cy="729615"/>
          </a:xfrm>
        </p:grpSpPr>
        <p:sp>
          <p:nvSpPr>
            <p:cNvPr id="53" name="Rectangle 53"/>
            <p:cNvSpPr/>
            <p:nvPr/>
          </p:nvSpPr>
          <p:spPr>
            <a:xfrm>
              <a:off x="6680835" y="468344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885623" y="4948240"/>
              <a:ext cx="200023" cy="200023"/>
              <a:chOff x="6885623" y="494824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885623" y="49482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18973" y="5014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188327" y="4830128"/>
              <a:ext cx="40342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一级缺失率越高、主存代价折算的周期数越多，二级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 的收益越大：P1 约 3.27 倍，P2 约 2.65 倍。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8373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记法：局部缺失率要乘在一级缺失率后面（括号嵌套）；全局缺失率已经包含了一级缺失，直接乘主存时间。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自测题（一）：地址变换与查表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36387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中访问虚拟地址 0004088H，物理地址是多少？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命中吗？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96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 000H，TLB 第 0 组没有标记 000H，查页表得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页号 06H，物理地址 064088H。标记 0640H，88H 的行号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4；第 4 行有效且标记相同，命中。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7444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的 Cache 若改为 2 路组相联（仍为 8 行），物理地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址怎样划分？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÷ 2 = 4 组，组号 2 位（第 6–5 位）；块内地址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位（第 4–0 位）；标记 24 − 2 − 5 = 17 位（第 23–7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1426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中访问虚拟地址 0041234H 会发生什么？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 004H：TLB 第 0 组没有标记 002H，TLB 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失；页表第 4 项有效位为 0，缺页，由操作系统调入该页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后重新执行。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508885"/>
            <a:chOff x="6248400" y="3651885"/>
            <a:chExt cx="5410200" cy="25088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TLB 缺失时一定缺页吗？Cache 缺失要不要操作系统参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不一定缺页，页表项可能有效，装入 TLB 即可。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缺失由硬件直接访问主存并调块，不需要操作系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自测题（二）：命中率与性能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4838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若只读单元 0–4095，仍重复 10 次，加速比是多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64 块，每组正好 4 块，只有第 1 遍缺失 64 次。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= 40960 + 64 × 10 = 41600，加速比 = 409600 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41600 ≈ 9.85。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389334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中若 P1 的一级缺失率降到 2%（没有二级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Cache），总 CPI 和 AMAT 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1.0 + 2% × 500 = 11；AMAT = 0.2 + 2%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2.2 ns。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2392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的 Cache 若改为 8 路组相联（8 组），第 2 遍起每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遍缺失几次？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58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块号 j 进第 j mod 8 组，第 0–3 组各有 9 块抢 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行，每遍各缺失 9 次，共 36 次。总时间 47440，加速比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9.17。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2223135"/>
            <a:chOff x="6248400" y="393763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63343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中 P1 加二级 Cache 后，若主存访问时间变为 200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ns，CPI 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主存代价 200 ÷ 0.2 = 1000 个周期，CPI = 1.0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2.5% × 25 + 0.5% × 1000 = 1.0 + 0.625 + 5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6.625。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054286" cy="909257"/>
            <a:chOff x="520446" y="342900"/>
            <a:chExt cx="30542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133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021" y="407194"/>
              <a:ext cx="2959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第5章 存储器例题 · 例3 多级 Cache 的性能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059805" cy="2400300"/>
            <a:chOff x="533400" y="1524000"/>
            <a:chExt cx="6059805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2278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解题要点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地址位数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64055" y="2045494"/>
              <a:ext cx="320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容量写成 2 的幂再取指数；按字编址时单位是字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地址变换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4055" y="2445544"/>
              <a:ext cx="3385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虚页号查 TLB 或页表得到物理页号，页内地址照抄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64055" y="2845594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中间字段选行或选组，有效位为 1 且标记相同才命中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缺失统计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4055" y="324564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按组列出块号；组内块数多于行数时才会反复替换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64055" y="3645694"/>
              <a:ext cx="3426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AMAT 直接加时间；CPI 中缺失代价要折算成周期数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6213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table-2"/>
          <p:cNvGrpSpPr/>
          <p:nvPr/>
        </p:nvGrpSpPr>
        <p:grpSpPr>
          <a:xfrm>
            <a:off x="533400" y="4093845"/>
            <a:ext cx="6059805" cy="1600200"/>
            <a:chOff x="533400" y="4093845"/>
            <a:chExt cx="6059805" cy="1600200"/>
          </a:xfrm>
        </p:grpSpPr>
        <p:sp>
          <p:nvSpPr>
            <p:cNvPr id="29" name="Rectangle 29"/>
            <p:cNvSpPr/>
            <p:nvPr/>
          </p:nvSpPr>
          <p:spPr>
            <a:xfrm>
              <a:off x="533400" y="4093845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0773" y="4215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79901" y="42152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0555" y="461533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79232" y="4615339"/>
              <a:ext cx="4980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16、行号 3、块内 5；04C050H 命中；2DBAC6H 在主存但不在 Cache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8891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89394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01538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79232" y="5015389"/>
              <a:ext cx="4700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5、组号 4、块内 6；缺失 248 次，命中率 99.43%，加速比 9.46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2892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41543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9232" y="5415439"/>
              <a:ext cx="469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AMAT 2.7 / 2.25 ns，CPI 13.5 / 9；P1 加二级后 0.825 ns、4.125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093845"/>
              <a:ext cx="605980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77315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4170045"/>
            <a:chOff x="6898005" y="1524000"/>
            <a:chExt cx="4760595" cy="4170045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4170045"/>
            </a:xfrm>
            <a:prstGeom prst="roundRect">
              <a:avLst>
                <a:gd name="adj" fmla="val 31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39033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2795" y="1710690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73760" y="174355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31367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87387" y="2054542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例1(2)：主存块数应为 2¹⁹（第 11 页）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31367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87387" y="2355532"/>
              <a:ext cx="3519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例1(4)：补答是否在 Cache 中（第 14 页）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31367" y="27117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87387" y="2655570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例1(5)：补充完整解答（第 15 页）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31367" y="30118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87387" y="295560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例2：68 块应由 4352 ÷ 64 得出（第 20 页）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31367" y="33118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87387" y="3255645"/>
              <a:ext cx="3503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例3(2)：AMAT 应为 0.825 ns（第 27 页）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8373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考试做这类题，先写出各字段的位数和位置，再逐级查表，每步写出二进制拆分和比较结果。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第5章 存储器例题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ch5ex">
  <a:themeElements>
    <a:clrScheme name="coa_ch5ex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ch5ex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ch5e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2026-09-17T07:05:32Z</dcterms:created>
  <dcterms:modified xsi:type="dcterms:W3CDTF">2026-09-17T07:05:32Z</dcterms:modified>
  <cp:category/>
  <cp:contentStatus/>
</cp:coreProperties>
</file>