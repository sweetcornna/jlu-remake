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oa_ch5ex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oa_ch5ex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ec45a1073d4007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ca98517a01ac9a0.png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fc7117c935f3ff8.png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504365" cy="3437763"/>
            <a:chOff x="666750" y="1619250"/>
            <a:chExt cx="4504365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444115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88319" y="1718310"/>
              <a:ext cx="22390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计算机原理与体系结构 · 第5章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存储器例题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4944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地址变换、Cache 映射与多级 Cache 性能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717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虚存地址与 TLB 查表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0833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直接映射 Cache 命中判断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7308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组相联 Cache 与 LRU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0885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AMAT、CPI 与二级 Cache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22303" cy="205359"/>
            <a:chOff x="680466" y="6192202"/>
            <a:chExt cx="5622303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223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自学复习版｜据吉林大学《计算机原理与体系结构》第5章存储器例题课件整理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解题工具箱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8184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容量换算、Cache 地址字段、访存流程、性能公式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25255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虚存、Cache 与 TLB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8288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地址位数、Cache 字段、查页表与 TLB、缺失处理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822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组相联 Cache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0011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Cache 结构、地址划分、LRU 下的缺失次数、加速比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2115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多级 Cache 性能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3563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时钟频率、AMAT、CPI、二级 Cache 的收益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3994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道变式题，更正与易错点汇总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由存储空间、页面和块的大小写出各地址字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段的位数与位置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368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手工完成“虚拟地址 → 物理地址 → Cache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行”的查表并判断是否命中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91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 TLB 缺失、缺页、Cache 缺失各在什么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情况下发生、怎样处理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701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统计顺序访存时组相联 Cache 的缺失次数，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算出命中率与加速比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644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AMAT 和 CPI 公式比较一级、二级 Cache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的性能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247007" cy="3351847"/>
            <a:chOff x="667512" y="1835468"/>
            <a:chExt cx="424700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解题工具箱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三道例题共用的换算方法、地址字段和公式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容量写成 2 的幂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516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 Cache 映射的地址字段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从虚拟地址到数据的查找流程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996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AMAT、CPI 与加速比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06040" cy="909257"/>
            <a:chOff x="520446" y="342900"/>
            <a:chExt cx="730604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解题工具箱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060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第一步：把容量写成 2 的幂，指数就是地址位数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table-1"/>
          <p:cNvGrpSpPr/>
          <p:nvPr/>
        </p:nvGrpSpPr>
        <p:grpSpPr>
          <a:xfrm>
            <a:off x="527685" y="1524000"/>
            <a:ext cx="5848350" cy="3663792"/>
            <a:chOff x="527685" y="1524000"/>
            <a:chExt cx="5848350" cy="3663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0380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已知量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99579" y="1659731"/>
              <a:ext cx="910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写成 2 的幂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9052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对应位数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32115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虚拟地址空间 256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MB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10980" y="2221706"/>
              <a:ext cx="13875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2⁸ × 2²⁰ = 2²⁸ 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14100" y="2221706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 28 位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6203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物理地址空间 16 MB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10980" y="2783681"/>
              <a:ext cx="13875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2⁴ × 2²⁰ = 2²⁴ 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14100" y="2783681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24 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892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 64 KB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10980" y="3232309"/>
              <a:ext cx="13875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2⁶ × 2¹⁰ = 2¹⁶ 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14100" y="3232309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 16 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11734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块 32 B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10980" y="3680936"/>
              <a:ext cx="3679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2⁵ B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14100" y="3680936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 5 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130516"/>
              <a:ext cx="9600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 32K 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510980" y="413051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2⁵ × 2¹⁰ = 2¹⁵ 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14100" y="4130516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主存地址 15 位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43865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44341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579144"/>
              <a:ext cx="1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块 64 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510980" y="4579144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2⁶ 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14100" y="4579144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 6 位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5842635" cy="3368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398395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501515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7685" y="4967764"/>
              <a:ext cx="4142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 4 行取自例1（按字节编址），后 2 行取自例2（按字编址）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680835" y="1524000"/>
            <a:ext cx="4977765" cy="1986915"/>
            <a:chOff x="6680835" y="1524000"/>
            <a:chExt cx="4977765" cy="1986915"/>
          </a:xfrm>
        </p:grpSpPr>
        <p:sp>
          <p:nvSpPr>
            <p:cNvPr id="42" name="Rectangle 42"/>
            <p:cNvSpPr/>
            <p:nvPr/>
          </p:nvSpPr>
          <p:spPr>
            <a:xfrm>
              <a:off x="6680835" y="1524000"/>
              <a:ext cx="497776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928485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97992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地址位数怎么算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20865" y="2110740"/>
              <a:ext cx="3518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地址位数 = log₂(空间大小 ÷ 编址单位)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934200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92315" y="2446020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按字节编址，单位是 1 B；按字编址，单位是 1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934200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92315" y="3067050"/>
              <a:ext cx="2606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2¹⁰，M = 2²⁰，G = 2³⁰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680835" y="3701415"/>
            <a:ext cx="4977765" cy="1847850"/>
            <a:chOff x="6680835" y="3701415"/>
            <a:chExt cx="4977765" cy="1847850"/>
          </a:xfrm>
        </p:grpSpPr>
        <p:sp>
          <p:nvSpPr>
            <p:cNvPr id="52" name="Rectangle 52"/>
            <p:cNvSpPr/>
            <p:nvPr/>
          </p:nvSpPr>
          <p:spPr>
            <a:xfrm>
              <a:off x="6680835" y="3701415"/>
              <a:ext cx="4977765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690360" y="3834765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28485" y="391096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01942" y="394668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十六进制读位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20865" y="4288155"/>
              <a:ext cx="4311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个十六进制数字对应 4 位：28 位地址写成 7 个十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六进制数字，24 位写成 6 个。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22008" y="4905851"/>
              <a:ext cx="43533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例1 中虚页号 12 位正好是虚拟地址的前 3 个十六进制数字，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页内地址 16 位是后 4 个。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130" y="5991225"/>
              <a:ext cx="79884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易错：例2 主存“32K×16 位”里的 16 位是字长，决定每个单元存几位，与地址位数无关。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73488" cy="909257"/>
            <a:chOff x="520446" y="342900"/>
            <a:chExt cx="697348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解题工具箱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7348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地址划分：映射方式决定中间那个字段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27685" y="1524000"/>
            <a:ext cx="6065520" cy="2091214"/>
            <a:chOff x="527685" y="1524000"/>
            <a:chExt cx="6065520" cy="20912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904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映射方式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89873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主存地址的字段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39182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中间字段位数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直接映射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74723" y="2108359"/>
              <a:ext cx="19428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｜ 行号 ｜ 块内地址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40770" y="2108359"/>
              <a:ext cx="14154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log₂(Cache 行数)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8647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路组相联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74723" y="2556986"/>
              <a:ext cx="19428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｜ 组号 ｜ 块内地址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0770" y="2556986"/>
              <a:ext cx="1198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log₂(行数 ÷ N)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56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全相联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74723" y="3005614"/>
              <a:ext cx="13225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｜ 块内地址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40770" y="300561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05980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862138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52818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7685" y="3395186"/>
              <a:ext cx="46326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块内地址 = log₂(块大小)；标记 = 地址总位数 − 中间字段 − 块内地址</a:t>
              </a:r>
            </a:p>
          </p:txBody>
        </p:sp>
      </p:grpSp>
      <p:grpSp>
        <p:nvGrpSpPr>
          <p:cNvPr id="51" name="c1-table-2"/>
          <p:cNvGrpSpPr/>
          <p:nvPr/>
        </p:nvGrpSpPr>
        <p:grpSpPr>
          <a:xfrm>
            <a:off x="533400" y="3761422"/>
            <a:ext cx="6059805" cy="1346835"/>
            <a:chOff x="533400" y="3761422"/>
            <a:chExt cx="6059805" cy="1346835"/>
          </a:xfrm>
        </p:grpSpPr>
        <p:sp>
          <p:nvSpPr>
            <p:cNvPr id="28" name="Rectangle 28"/>
            <p:cNvSpPr/>
            <p:nvPr/>
          </p:nvSpPr>
          <p:spPr>
            <a:xfrm>
              <a:off x="533400" y="3761422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99566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本讲例题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90152" y="38962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78479" y="389620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行号或组号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4311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12459" y="38962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1223" y="4345781"/>
              <a:ext cx="1408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直接映射 8 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67693" y="434578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61877" y="43457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171552" y="43457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90001" y="434578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65391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33400" y="465867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1223" y="4794409"/>
              <a:ext cx="16619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4 路组相联 16 组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15079" y="47944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961877" y="47944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171552" y="47944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90001" y="479440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3761422"/>
              <a:ext cx="605980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562225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3365182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656772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784532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steps-1"/>
          <p:cNvGrpSpPr/>
          <p:nvPr/>
        </p:nvGrpSpPr>
        <p:grpSpPr>
          <a:xfrm>
            <a:off x="6898005" y="1533525"/>
            <a:ext cx="4546473" cy="2582514"/>
            <a:chOff x="6898005" y="1533525"/>
            <a:chExt cx="4546473" cy="2582514"/>
          </a:xfrm>
        </p:grpSpPr>
        <p:sp>
          <p:nvSpPr>
            <p:cNvPr id="52" name="Rectangle 52"/>
            <p:cNvSpPr/>
            <p:nvPr/>
          </p:nvSpPr>
          <p:spPr>
            <a:xfrm>
              <a:off x="7031355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898005" y="24193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91629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898005" y="330422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991629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09485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选行或选组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10628" y="1861661"/>
              <a:ext cx="41338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用地址的中间字段找到 Cache 中对应的行（直接映射）或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组（组相联）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09485" y="2453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比较标记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10628" y="2746534"/>
              <a:ext cx="40525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该行（或组内各行）有效位为 1，且存的标记等于地址的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标记部分，才算命中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09485" y="333851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取数或调块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10628" y="3632359"/>
              <a:ext cx="40769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命中时用块内地址在块中定位；缺失时访问主存，并把整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块调入 Cache</a:t>
              </a:r>
            </a:p>
          </p:txBody>
        </p:sp>
      </p:grpSp>
      <p:grpSp>
        <p:nvGrpSpPr>
          <p:cNvPr id="72" name="c2-callout-2"/>
          <p:cNvGrpSpPr/>
          <p:nvPr/>
        </p:nvGrpSpPr>
        <p:grpSpPr>
          <a:xfrm>
            <a:off x="6898005" y="4294822"/>
            <a:ext cx="4760595" cy="812482"/>
            <a:chOff x="6898005" y="4294822"/>
            <a:chExt cx="4760595" cy="812482"/>
          </a:xfrm>
        </p:grpSpPr>
        <p:sp>
          <p:nvSpPr>
            <p:cNvPr id="66" name="Rectangle 66"/>
            <p:cNvSpPr/>
            <p:nvPr/>
          </p:nvSpPr>
          <p:spPr>
            <a:xfrm>
              <a:off x="6898005" y="4294822"/>
              <a:ext cx="4760595" cy="812482"/>
            </a:xfrm>
            <a:prstGeom prst="roundRect">
              <a:avLst>
                <a:gd name="adj" fmla="val 14068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090734" y="4597836"/>
              <a:ext cx="224134" cy="192560"/>
              <a:chOff x="7090734" y="4597836"/>
              <a:chExt cx="224134" cy="19256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202805" y="46682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090734" y="45978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202805" y="47459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7404735" y="4458652"/>
              <a:ext cx="3853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两个条件缺一不可：有效位为 0 的行即使标记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碰巧相同，也算缺失。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3" name="Rectangle 7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130" y="5991225"/>
              <a:ext cx="68768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组相联介于两者之间：N = 1 就是直接映射，N 等于 Cache 行数就是全相联。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9069" cy="909257"/>
            <a:chOff x="520446" y="342900"/>
            <a:chExt cx="77390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解题工具箱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90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一次访存的完整路径：TLB → 页表 → Cache → 主存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flow-1"/>
          <p:cNvGrpSpPr/>
          <p:nvPr/>
        </p:nvGrpSpPr>
        <p:grpSpPr>
          <a:xfrm>
            <a:off x="693420" y="1747838"/>
            <a:ext cx="10805160" cy="3328034"/>
            <a:chOff x="693420" y="1747838"/>
            <a:chExt cx="10805160" cy="3328034"/>
          </a:xfrm>
        </p:grpSpPr>
        <p:sp>
          <p:nvSpPr>
            <p:cNvPr id="7" name="Freeform 7"/>
            <p:cNvSpPr/>
            <p:nvPr/>
          </p:nvSpPr>
          <p:spPr>
            <a:xfrm>
              <a:off x="2550795" y="2171700"/>
              <a:ext cx="405765" cy="9525"/>
            </a:xfrm>
            <a:custGeom>
              <a:avLst/>
              <a:gdLst/>
              <a:ahLst/>
              <a:cxnLst/>
              <a:rect l="l" t="t" r="r" b="b"/>
              <a:pathLst>
                <a:path w="405765" h="9525">
                  <a:moveTo>
                    <a:pt x="0" y="0"/>
                  </a:moveTo>
                  <a:lnTo>
                    <a:pt x="40576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956560" y="2119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680585" y="2171700"/>
              <a:ext cx="453390" cy="9525"/>
            </a:xfrm>
            <a:custGeom>
              <a:avLst/>
              <a:gdLst/>
              <a:ahLst/>
              <a:cxnLst/>
              <a:rect l="l" t="t" r="r" b="b"/>
              <a:pathLst>
                <a:path w="453390" h="9525">
                  <a:moveTo>
                    <a:pt x="0" y="0"/>
                  </a:moveTo>
                  <a:lnTo>
                    <a:pt x="45339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133975" y="2119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870960" y="2471738"/>
              <a:ext cx="9525" cy="575310"/>
            </a:xfrm>
            <a:custGeom>
              <a:avLst/>
              <a:gdLst/>
              <a:ahLst/>
              <a:cxnLst/>
              <a:rect l="l" t="t" r="r" b="b"/>
              <a:pathLst>
                <a:path w="9525" h="575310">
                  <a:moveTo>
                    <a:pt x="0" y="0"/>
                  </a:moveTo>
                  <a:lnTo>
                    <a:pt x="0" y="5753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818572" y="30470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953250" y="2171700"/>
              <a:ext cx="453390" cy="9525"/>
            </a:xfrm>
            <a:custGeom>
              <a:avLst/>
              <a:gdLst/>
              <a:ahLst/>
              <a:cxnLst/>
              <a:rect l="l" t="t" r="r" b="b"/>
              <a:pathLst>
                <a:path w="453390" h="9525">
                  <a:moveTo>
                    <a:pt x="0" y="0"/>
                  </a:moveTo>
                  <a:lnTo>
                    <a:pt x="45339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406640" y="2119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9130665" y="2171700"/>
              <a:ext cx="358140" cy="9525"/>
            </a:xfrm>
            <a:custGeom>
              <a:avLst/>
              <a:gdLst/>
              <a:ahLst/>
              <a:cxnLst/>
              <a:rect l="l" t="t" r="r" b="b"/>
              <a:pathLst>
                <a:path w="358140" h="9525">
                  <a:moveTo>
                    <a:pt x="0" y="0"/>
                  </a:moveTo>
                  <a:lnTo>
                    <a:pt x="3581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9488805" y="2119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8321040" y="2471738"/>
              <a:ext cx="9525" cy="670560"/>
            </a:xfrm>
            <a:custGeom>
              <a:avLst/>
              <a:gdLst/>
              <a:ahLst/>
              <a:cxnLst/>
              <a:rect l="l" t="t" r="r" b="b"/>
              <a:pathLst>
                <a:path w="9525" h="670560">
                  <a:moveTo>
                    <a:pt x="0" y="0"/>
                  </a:moveTo>
                  <a:lnTo>
                    <a:pt x="0" y="6705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8268652" y="31422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880610" y="3466148"/>
              <a:ext cx="2630805" cy="9525"/>
            </a:xfrm>
            <a:custGeom>
              <a:avLst/>
              <a:gdLst/>
              <a:ahLst/>
              <a:cxnLst/>
              <a:rect l="l" t="t" r="r" b="b"/>
              <a:pathLst>
                <a:path w="2630805" h="9525">
                  <a:moveTo>
                    <a:pt x="263080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775835" y="34137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870960" y="3780472"/>
              <a:ext cx="9525" cy="575310"/>
            </a:xfrm>
            <a:custGeom>
              <a:avLst/>
              <a:gdLst/>
              <a:ahLst/>
              <a:cxnLst/>
              <a:rect l="l" t="t" r="r" b="b"/>
              <a:pathLst>
                <a:path w="9525" h="575310">
                  <a:moveTo>
                    <a:pt x="0" y="0"/>
                  </a:moveTo>
                  <a:lnTo>
                    <a:pt x="0" y="5753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818572" y="43557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703195" y="4760595"/>
              <a:ext cx="358140" cy="9525"/>
            </a:xfrm>
            <a:custGeom>
              <a:avLst/>
              <a:gdLst/>
              <a:ahLst/>
              <a:cxnLst/>
              <a:rect l="l" t="t" r="r" b="b"/>
              <a:pathLst>
                <a:path w="358140" h="9525">
                  <a:moveTo>
                    <a:pt x="35814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598420" y="47082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4680585" y="4760595"/>
              <a:ext cx="405765" cy="9525"/>
            </a:xfrm>
            <a:custGeom>
              <a:avLst/>
              <a:gdLst/>
              <a:ahLst/>
              <a:cxnLst/>
              <a:rect l="l" t="t" r="r" b="b"/>
              <a:pathLst>
                <a:path w="405765" h="9525">
                  <a:moveTo>
                    <a:pt x="0" y="0"/>
                  </a:moveTo>
                  <a:lnTo>
                    <a:pt x="40576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086350" y="47082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41045" y="1856422"/>
              <a:ext cx="1809750" cy="629602"/>
            </a:xfrm>
            <a:prstGeom prst="roundRect">
              <a:avLst>
                <a:gd name="adj" fmla="val 4992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3061335" y="1870710"/>
              <a:ext cx="1619250" cy="601028"/>
            </a:xfrm>
            <a:custGeom>
              <a:avLst/>
              <a:gdLst/>
              <a:ahLst/>
              <a:cxnLst/>
              <a:rect l="l" t="t" r="r" b="b"/>
              <a:pathLst>
                <a:path w="1619250" h="601028">
                  <a:moveTo>
                    <a:pt x="809625" y="0"/>
                  </a:moveTo>
                  <a:lnTo>
                    <a:pt x="1619250" y="300990"/>
                  </a:lnTo>
                  <a:lnTo>
                    <a:pt x="809625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238750" y="1856422"/>
              <a:ext cx="171450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511415" y="1870710"/>
              <a:ext cx="1619250" cy="601028"/>
            </a:xfrm>
            <a:custGeom>
              <a:avLst/>
              <a:gdLst/>
              <a:ahLst/>
              <a:cxnLst/>
              <a:rect l="l" t="t" r="r" b="b"/>
              <a:pathLst>
                <a:path w="1619250" h="601028">
                  <a:moveTo>
                    <a:pt x="809625" y="0"/>
                  </a:moveTo>
                  <a:lnTo>
                    <a:pt x="1619250" y="300990"/>
                  </a:lnTo>
                  <a:lnTo>
                    <a:pt x="809625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9593580" y="1747838"/>
              <a:ext cx="1905000" cy="847725"/>
            </a:xfrm>
            <a:prstGeom prst="roundRect">
              <a:avLst>
                <a:gd name="adj" fmla="val 8989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511415" y="3247072"/>
              <a:ext cx="16192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966085" y="3151822"/>
              <a:ext cx="1809750" cy="629602"/>
            </a:xfrm>
            <a:prstGeom prst="roundRect">
              <a:avLst>
                <a:gd name="adj" fmla="val 1512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3061335" y="4460558"/>
              <a:ext cx="1619250" cy="601027"/>
            </a:xfrm>
            <a:custGeom>
              <a:avLst/>
              <a:gdLst/>
              <a:ahLst/>
              <a:cxnLst/>
              <a:rect l="l" t="t" r="r" b="b"/>
              <a:pathLst>
                <a:path w="1619250" h="601027">
                  <a:moveTo>
                    <a:pt x="809625" y="0"/>
                  </a:moveTo>
                  <a:lnTo>
                    <a:pt x="1619250" y="300038"/>
                  </a:lnTo>
                  <a:lnTo>
                    <a:pt x="809625" y="601027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3420" y="4541520"/>
              <a:ext cx="1905000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191125" y="4446270"/>
              <a:ext cx="180975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519988" y="4446270"/>
              <a:ext cx="3827145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9203" y="1973104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虚拟地址拆成虚页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号 + 页内地址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428497" y="2082641"/>
              <a:ext cx="8849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TLB 命中？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39283" y="1973104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用虚页号查主存中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的页表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97622" y="20826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页表项有效？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08083" y="1863566"/>
              <a:ext cx="1475994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缺页：操作系统从磁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盘调入该页，更新页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表后重新执行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06263" y="3377089"/>
              <a:ext cx="12295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页表项装入 TLB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02051" y="3267551"/>
              <a:ext cx="133781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物理页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 + 页内地址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340260" y="4671536"/>
              <a:ext cx="10614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命中？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02172" y="4671536"/>
              <a:ext cx="14874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 Cache 读出数据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439283" y="4562951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访问主存，并把整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块调入 Cache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008747" y="4562951"/>
              <a:ext cx="284962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例1：(3) Cache 命中；(4) TLB 命中但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缺失；(5) TLB 缺失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845368" y="195548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883658" y="198215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899535" y="271938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922776" y="274605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247822" y="195548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286113" y="198215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349615" y="276796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372856" y="279463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715578" y="454437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753868" y="457104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4821555" y="454437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4859846" y="457104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2" name="Rectangle 6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130" y="5728335"/>
              <a:ext cx="9740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TLB 和页表负责把虚拟地址变成物理地址，Cache 按物理地址查找。缺页由操作系统处理，Cache 缺失由硬件直接处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理。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20193" cy="909257"/>
            <a:chOff x="520446" y="342900"/>
            <a:chExt cx="502019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解题工具箱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2019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性能公式：AMAT、CPI 与加速比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6059805" cy="2096452"/>
            <a:chOff x="533400" y="1524000"/>
            <a:chExt cx="6059805" cy="20964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096452"/>
            </a:xfrm>
            <a:prstGeom prst="roundRect">
              <a:avLst>
                <a:gd name="adj" fmla="val 63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2975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89261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7815" y="1769269"/>
              <a:ext cx="18200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平均存储器访问时间 AMAT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4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5602605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AMAT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主存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74573" y="2659856"/>
              <a:ext cx="51437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t₁ 为一级 Cache 命中时间，m₁ 为一级缺失率。加二级 Cache 后：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"/>
                <p:cNvSpPr txBox="1">
                  <a:spLocks noGrp="1"/>
                </p:cNvSpPr>
                <p:nvPr/>
              </p:nvSpPr>
              <p:spPr>
                <a:xfrm>
                  <a:off x="781050" y="2934652"/>
                  <a:ext cx="5602605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AMAT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全局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主存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1" name="c1-card-2"/>
          <p:cNvGrpSpPr/>
          <p:nvPr/>
        </p:nvGrpSpPr>
        <p:grpSpPr>
          <a:xfrm>
            <a:off x="533400" y="3810952"/>
            <a:ext cx="6059805" cy="1704022"/>
            <a:chOff x="533400" y="3810952"/>
            <a:chExt cx="6059805" cy="1704022"/>
          </a:xfrm>
        </p:grpSpPr>
        <p:sp>
          <p:nvSpPr>
            <p:cNvPr id="15" name="Rectangle 15"/>
            <p:cNvSpPr/>
            <p:nvPr/>
          </p:nvSpPr>
          <p:spPr>
            <a:xfrm>
              <a:off x="533400" y="3810952"/>
              <a:ext cx="6059805" cy="1704022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944302"/>
              <a:ext cx="47625" cy="143732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020502"/>
              <a:ext cx="145923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5056" y="4056221"/>
              <a:ext cx="13512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存储器停顿计入 CPI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6"/>
                <p:cNvSpPr txBox="1">
                  <a:spLocks noGrp="1"/>
                </p:cNvSpPr>
                <p:nvPr/>
              </p:nvSpPr>
              <p:spPr>
                <a:xfrm>
                  <a:off x="781050" y="4372928"/>
                  <a:ext cx="560260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CPI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CPI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基本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m:rPr>
                            <m:nor m:val="on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缺失率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nor m:val="on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主存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nor m:val="on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时钟周期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0" name="TextBox 20"/>
            <p:cNvSpPr txBox="1"/>
            <p:nvPr/>
          </p:nvSpPr>
          <p:spPr>
            <a:xfrm>
              <a:off x="774573" y="5106829"/>
              <a:ext cx="5035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按每条指令访存 1 次计；访存多次时再乘以每条指令的访存次数。</a:t>
              </a:r>
            </a:p>
          </p:txBody>
        </p:sp>
      </p:grpSp>
      <p:grpSp>
        <p:nvGrpSpPr>
          <p:cNvPr id="36" name="c2-kv-1"/>
          <p:cNvGrpSpPr/>
          <p:nvPr/>
        </p:nvGrpSpPr>
        <p:grpSpPr>
          <a:xfrm>
            <a:off x="6890385" y="1548765"/>
            <a:ext cx="4768215" cy="2335530"/>
            <a:chOff x="6890385" y="1548765"/>
            <a:chExt cx="4768215" cy="2335530"/>
          </a:xfrm>
        </p:grpSpPr>
        <p:sp>
          <p:nvSpPr>
            <p:cNvPr id="22" name="TextBox 22"/>
            <p:cNvSpPr txBox="1"/>
            <p:nvPr/>
          </p:nvSpPr>
          <p:spPr>
            <a:xfrm>
              <a:off x="6890385" y="1548765"/>
              <a:ext cx="8012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命中率 h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29588" y="1548765"/>
              <a:ext cx="2064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命中次数 ÷ 访存总次数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98005" y="186880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90385" y="1988820"/>
              <a:ext cx="8436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缺失率 m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29588" y="198882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1 − h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98005" y="230886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90385" y="2428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缺失代价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29588" y="242887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缺失时额外花的时间，如访问主存的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ns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898005" y="303085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90385" y="315087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全局缺失率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29588" y="3150870"/>
              <a:ext cx="3324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所有访存中各级 Cache 都缺失的比例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898005" y="347091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0385" y="35909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加速比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29588" y="3590925"/>
              <a:ext cx="34330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 Cache 的时间 ÷ 用 Cache 的时间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898005" y="4015740"/>
            <a:ext cx="4760595" cy="1499235"/>
            <a:chOff x="6898005" y="4015740"/>
            <a:chExt cx="4760595" cy="1499235"/>
          </a:xfrm>
        </p:grpSpPr>
        <p:sp>
          <p:nvSpPr>
            <p:cNvPr id="37" name="Rectangle 37"/>
            <p:cNvSpPr/>
            <p:nvPr/>
          </p:nvSpPr>
          <p:spPr>
            <a:xfrm>
              <a:off x="6898005" y="4015740"/>
              <a:ext cx="4760595" cy="1499235"/>
            </a:xfrm>
            <a:prstGeom prst="roundRect">
              <a:avLst>
                <a:gd name="adj" fmla="val 762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102793" y="4665345"/>
              <a:ext cx="200026" cy="200026"/>
              <a:chOff x="7102793" y="4665345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102793" y="46653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02805" y="47320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191693" y="47653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7404735" y="4522470"/>
              <a:ext cx="3787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本课程沿用 Patterson 教材的说法：“A 比 B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 n 倍”指两者性能之比为 n。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102218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单位不要混加：AMAT 的各项都是时间（ns），CPI 的各项都是时钟周期数，时间要先除以时钟周期才能加进 CPI。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510325" cy="3351847"/>
            <a:chOff x="667512" y="1835468"/>
            <a:chExt cx="551032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51032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虚存、Cache 与 TLB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29558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一道题把页表、直接映射 Cache 和组相联 TLB 串起来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1427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（1）（2）地址位数与 Cache 字段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297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（3）查页表并判断 Cache 命中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2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（4）先查 TLB 再判断 Cache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359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（5）TLB 缺失时怎样处理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19067" cy="909257"/>
            <a:chOff x="520446" y="342900"/>
            <a:chExt cx="84190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190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题目：已知页表和 Cache 内容，逐级完成地址变换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673715" cy="569595"/>
            <a:chOff x="525780" y="1548765"/>
            <a:chExt cx="1067371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6737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按字节编址，虚拟地址空间 256 MB，主存地址空间 16 MB，页面 64 KB；Cache 直接映射共 8 块（行），与主存交换的块为 32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B。某时刻页表和 Cache 的部分内容如下（十六进制）。</a:t>
              </a:r>
            </a:p>
          </p:txBody>
        </p:sp>
      </p:grpSp>
      <p:grpSp>
        <p:nvGrpSpPr>
          <p:cNvPr id="52" name="c1-table-1"/>
          <p:cNvGrpSpPr/>
          <p:nvPr/>
        </p:nvGrpSpPr>
        <p:grpSpPr>
          <a:xfrm>
            <a:off x="527685" y="2230755"/>
            <a:ext cx="2739390" cy="4166712"/>
            <a:chOff x="527685" y="2230755"/>
            <a:chExt cx="2739390" cy="4166712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2733675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6000" y="236220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虚页号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28026" y="236220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有效位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94623" y="23622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1671" y="27917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25917" y="279177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67317" y="2791777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86100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90862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1671" y="32223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25917" y="322230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67317" y="3222307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16630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1671" y="36528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25917" y="36528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67317" y="365283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94620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950970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1671" y="4082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25917" y="408241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67317" y="408241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37673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1671" y="45129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25917" y="4512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811742" y="4512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80726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812030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1671" y="49425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25917" y="49425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67317" y="494252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236845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1671" y="53730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925917" y="5373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11742" y="5373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5667375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5672138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61671" y="58035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925917" y="58035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767317" y="580358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2230755"/>
              <a:ext cx="2733675" cy="38709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490662" y="2230755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2452688" y="2230755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7685" y="6177439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(a) 页表的前 8 项</a:t>
              </a:r>
            </a:p>
          </p:txBody>
        </p:sp>
      </p:grpSp>
      <p:grpSp>
        <p:nvGrpSpPr>
          <p:cNvPr id="96" name="c2-table-1"/>
          <p:cNvGrpSpPr/>
          <p:nvPr/>
        </p:nvGrpSpPr>
        <p:grpSpPr>
          <a:xfrm>
            <a:off x="3566160" y="2230755"/>
            <a:ext cx="2739390" cy="4166712"/>
            <a:chOff x="3566160" y="2230755"/>
            <a:chExt cx="2739390" cy="4166712"/>
          </a:xfrm>
        </p:grpSpPr>
        <p:sp>
          <p:nvSpPr>
            <p:cNvPr id="53" name="Rectangle 53"/>
            <p:cNvSpPr/>
            <p:nvPr/>
          </p:nvSpPr>
          <p:spPr>
            <a:xfrm>
              <a:off x="3571875" y="2230755"/>
              <a:ext cx="2733675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827145" y="23622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行号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667440" y="236220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有效位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693092" y="23622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942043" y="27917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865332" y="279177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676938" y="2791777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0200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3571875" y="3086100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3571875" y="3090862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942043" y="32223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865332" y="322230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810212" y="322230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3571875" y="3516630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3942043" y="36528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865332" y="36528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666880" y="3652838"/>
              <a:ext cx="3877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04C0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3571875" y="394620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3571875" y="3950970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3942043" y="4082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4865332" y="408241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666880" y="4082415"/>
              <a:ext cx="3877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01D2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3571875" y="437673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942043" y="45129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4865332" y="4512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676938" y="4512945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0640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3571875" y="4807268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3571875" y="4812030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3942043" y="49425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4865332" y="49425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5666880" y="4942522"/>
              <a:ext cx="3877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14DA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3571875" y="5236845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3942043" y="53730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4865332" y="5373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5810212" y="5373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3571875" y="5667375"/>
              <a:ext cx="2733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3571875" y="5672138"/>
              <a:ext cx="273367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3942043" y="58035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4865332" y="58035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666880" y="5803582"/>
              <a:ext cx="3877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27AB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3571875" y="2230755"/>
              <a:ext cx="2733675" cy="38709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4411980" y="2230755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5409248" y="2230755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3566160" y="6177439"/>
              <a:ext cx="15262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(b) Cache 的部分内容</a:t>
              </a:r>
            </a:p>
          </p:txBody>
        </p:sp>
      </p:grpSp>
      <p:grpSp>
        <p:nvGrpSpPr>
          <p:cNvPr id="112" name="c3-bullets-1"/>
          <p:cNvGrpSpPr/>
          <p:nvPr/>
        </p:nvGrpSpPr>
        <p:grpSpPr>
          <a:xfrm>
            <a:off x="6611302" y="2242185"/>
            <a:ext cx="4813872" cy="2422303"/>
            <a:chOff x="6611302" y="2242185"/>
            <a:chExt cx="4813872" cy="2422303"/>
          </a:xfrm>
        </p:grpSpPr>
        <p:sp>
          <p:nvSpPr>
            <p:cNvPr id="97" name="Ellipse 97"/>
            <p:cNvSpPr/>
            <p:nvPr/>
          </p:nvSpPr>
          <p:spPr>
            <a:xfrm>
              <a:off x="6611302" y="224218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6669647" y="22815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6902196" y="225409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虚拟地址、物理地址各几位？页号各占哪几位？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6611302" y="257175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669647" y="26111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902196" y="2583656"/>
              <a:ext cx="440575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 Cache 时物理地址分成哪几个字段？各几位、在什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么位置？Cache 容量多大？</a:t>
              </a:r>
            </a:p>
          </p:txBody>
        </p:sp>
        <p:sp>
          <p:nvSpPr>
            <p:cNvPr id="103" name="Ellipse 103"/>
            <p:cNvSpPr/>
            <p:nvPr/>
          </p:nvSpPr>
          <p:spPr>
            <a:xfrm>
              <a:off x="6611302" y="317182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669647" y="321216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6902196" y="318468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 001C050H 所在页面在主存中吗？物理地址是什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么？Cache 命中吗？</a:t>
              </a:r>
            </a:p>
          </p:txBody>
        </p:sp>
        <p:sp>
          <p:nvSpPr>
            <p:cNvPr id="106" name="Ellipse 106"/>
            <p:cNvSpPr/>
            <p:nvPr/>
          </p:nvSpPr>
          <p:spPr>
            <a:xfrm>
              <a:off x="6611302" y="377285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6669647" y="381319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6902196" y="3784759"/>
              <a:ext cx="45139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 4 路组相联 TLB（共 8 项）后，027BAC6H 所在页面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在主存中吗？在 Cache 中吗？</a:t>
              </a:r>
            </a:p>
          </p:txBody>
        </p:sp>
        <p:sp>
          <p:nvSpPr>
            <p:cNvPr id="109" name="Ellipse 109"/>
            <p:cNvSpPr/>
            <p:nvPr/>
          </p:nvSpPr>
          <p:spPr>
            <a:xfrm>
              <a:off x="6611302" y="437388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6669647" y="441326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6902196" y="4385786"/>
              <a:ext cx="44652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访问虚拟地址 026BAC6H 时发生了什么？如何处理？</a:t>
              </a:r>
            </a:p>
          </p:txBody>
        </p:sp>
      </p:grpSp>
      <p:grpSp>
        <p:nvGrpSpPr>
          <p:cNvPr id="11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3" name="TextBox 113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715678" cy="909257"/>
            <a:chOff x="520446" y="342900"/>
            <a:chExt cx="107156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7156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（1）虚拟地址 28 位（虚页号 12 位），物理地址 24 位（页号 8 位）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58841" cy="2411159"/>
            <a:chOff x="533400" y="1533525"/>
            <a:chExt cx="5358841" cy="241115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37786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 64 KB = 2¹⁶ B，页内地址 16 位（第 15–0 位）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4945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MB = 2²⁸ B，共 28 位；虚页号 28 − 16 = 12 位（第 27–16 位）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088957"/>
              <a:ext cx="4924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MB = 2²⁴ B，共 24 位；物理页号 24 − 16 = 8 位（第 23–16 位）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294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顺带得到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709988"/>
              <a:ext cx="35823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页表最多 2¹² = 4096 项；主存共 2⁸ = 256 个页框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4120515"/>
            <a:ext cx="5410200" cy="1290638"/>
            <a:chOff x="533400" y="4120515"/>
            <a:chExt cx="5410200" cy="1290638"/>
          </a:xfrm>
        </p:grpSpPr>
        <p:sp>
          <p:nvSpPr>
            <p:cNvPr id="25" name="Rectangle 25"/>
            <p:cNvSpPr/>
            <p:nvPr/>
          </p:nvSpPr>
          <p:spPr>
            <a:xfrm>
              <a:off x="533400" y="4120515"/>
              <a:ext cx="5410200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85875" y="4251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97530" y="4251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21924" y="4251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页内地址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8746" y="4681538"/>
              <a:ext cx="1108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 28 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81554" y="4681538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位（27–16）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1916" y="4681538"/>
              <a:ext cx="1078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位（15–0）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9758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980622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8746" y="5112067"/>
              <a:ext cx="1108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24 位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25979" y="5112067"/>
              <a:ext cx="1078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位（23–16）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1916" y="5112067"/>
              <a:ext cx="1078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位（15–0）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120515"/>
              <a:ext cx="541020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367915" y="412051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153852" y="412051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8" name="c2-cells-1"/>
          <p:cNvGrpSpPr/>
          <p:nvPr/>
        </p:nvGrpSpPr>
        <p:grpSpPr>
          <a:xfrm>
            <a:off x="6241923" y="1572578"/>
            <a:ext cx="4282249" cy="1930336"/>
            <a:chOff x="6241923" y="1572578"/>
            <a:chExt cx="4282249" cy="1930336"/>
          </a:xfrm>
        </p:grpSpPr>
        <p:sp>
          <p:nvSpPr>
            <p:cNvPr id="41" name="TextBox 41"/>
            <p:cNvSpPr txBox="1"/>
            <p:nvPr/>
          </p:nvSpPr>
          <p:spPr>
            <a:xfrm>
              <a:off x="6241923" y="196262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032308" y="1838325"/>
              <a:ext cx="49911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25630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530465" y="1838325"/>
              <a:ext cx="49911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723787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029575" y="1838325"/>
              <a:ext cx="499110" cy="406718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222897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28685" y="183832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719191" y="196262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027795" y="183832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221117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526905" y="183832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720227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0025062" y="183832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0218385" y="19626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66635" y="1572578"/>
              <a:ext cx="8267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虚页号 001H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7741920" y="174307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9738360" y="226409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49274" y="2398395"/>
              <a:ext cx="10543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页内地址 C050H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41923" y="28617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032308" y="2737485"/>
              <a:ext cx="499110" cy="4067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530465" y="2737485"/>
              <a:ext cx="499110" cy="4067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723787" y="28617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029575" y="2737485"/>
              <a:ext cx="499110" cy="4067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222897" y="28617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528685" y="273748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719191" y="286178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027795" y="273748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221117" y="28617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9526905" y="273748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720227" y="28617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10025062" y="2737485"/>
              <a:ext cx="49911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10218385" y="28617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4" name="Freeform 74"/>
            <p:cNvSpPr/>
            <p:nvPr/>
          </p:nvSpPr>
          <p:spPr>
            <a:xfrm>
              <a:off x="7741920" y="316325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480436" y="3297555"/>
              <a:ext cx="5991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页号 04H</a:t>
              </a:r>
            </a:p>
          </p:txBody>
        </p:sp>
        <p:sp>
          <p:nvSpPr>
            <p:cNvPr id="76" name="Freeform 76"/>
            <p:cNvSpPr/>
            <p:nvPr/>
          </p:nvSpPr>
          <p:spPr>
            <a:xfrm>
              <a:off x="9738360" y="316325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90625" y="3297555"/>
              <a:ext cx="771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照抄 C050H</a:t>
              </a:r>
            </a:p>
          </p:txBody>
        </p:sp>
      </p:grpSp>
      <p:grpSp>
        <p:nvGrpSpPr>
          <p:cNvPr id="85" name="c2-card-2"/>
          <p:cNvGrpSpPr/>
          <p:nvPr/>
        </p:nvGrpSpPr>
        <p:grpSpPr>
          <a:xfrm>
            <a:off x="6248400" y="3656648"/>
            <a:ext cx="5410200" cy="1777365"/>
            <a:chOff x="6248400" y="3656648"/>
            <a:chExt cx="5410200" cy="1777365"/>
          </a:xfrm>
        </p:grpSpPr>
        <p:sp>
          <p:nvSpPr>
            <p:cNvPr id="79" name="Rectangle 79"/>
            <p:cNvSpPr/>
            <p:nvPr/>
          </p:nvSpPr>
          <p:spPr>
            <a:xfrm>
              <a:off x="6248400" y="3656648"/>
              <a:ext cx="5410200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6257925" y="3789998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6490335" y="3860482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547040" y="389620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为什么页内地址不用变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483096" y="4233386"/>
              <a:ext cx="466725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虚拟页和物理页框一样大，都是 64 KB。数据在页内的偏移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在两边相同，地址变换只需把虚页号换成物理页号。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484239" y="4821555"/>
              <a:ext cx="46527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 7 位十六进制的虚拟地址换掉前 3 位，得到 6 位十六进制的物理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地址。</a:t>
              </a:r>
            </a:p>
          </p:txBody>
        </p:sp>
      </p:grpSp>
      <p:grpSp>
        <p:nvGrpSpPr>
          <p:cNvPr id="9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86" name="Rectangle 8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1040511" y="6004084"/>
              <a:ext cx="8493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第（3）问的 001C050H → 04C050H 就是这样得到的：查页表把 001H 换成 04H，C050H 原样保留。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1053010" cy="909257"/>
            <a:chOff x="520446" y="342900"/>
            <a:chExt cx="110530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10530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（2）Cache 字段：标记 16 位、行号 3 位、块内地址 5 位；容量 256 B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070822" cy="2529173"/>
            <a:chOff x="533400" y="1533525"/>
            <a:chExt cx="4070822" cy="252917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3658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块大小 32 B = 2⁵，块内地址 5 位（第 4–0 位）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34393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共 8 行 = 2³，行号 3 位（第 7–5 位）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2571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24 − 3 − 5 = 16 位（第 23–8 位）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容量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21250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行 × 32 B = 256 B = 2⁸ B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4241482"/>
            <a:ext cx="5626418" cy="1346835"/>
            <a:chOff x="533400" y="4241482"/>
            <a:chExt cx="5626418" cy="1346835"/>
          </a:xfrm>
        </p:grpSpPr>
        <p:sp>
          <p:nvSpPr>
            <p:cNvPr id="25" name="Rectangle 25"/>
            <p:cNvSpPr/>
            <p:nvPr/>
          </p:nvSpPr>
          <p:spPr>
            <a:xfrm>
              <a:off x="533400" y="4241482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81717" y="4376261"/>
              <a:ext cx="717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 Tag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86467" y="43762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20996" y="437626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26989" y="4825841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99390" y="4825841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06233" y="4825841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位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1339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5138738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744221" y="527446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23–8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816622" y="527446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7–5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23464" y="527446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4–0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241482"/>
              <a:ext cx="5626418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3342322" y="424148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579620" y="424148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card-1"/>
          <p:cNvGrpSpPr/>
          <p:nvPr/>
        </p:nvGrpSpPr>
        <p:grpSpPr>
          <a:xfrm>
            <a:off x="6464618" y="1524000"/>
            <a:ext cx="5193982" cy="2082165"/>
            <a:chOff x="6464618" y="1524000"/>
            <a:chExt cx="5193982" cy="2082165"/>
          </a:xfrm>
        </p:grpSpPr>
        <p:sp>
          <p:nvSpPr>
            <p:cNvPr id="41" name="Rectangle 41"/>
            <p:cNvSpPr/>
            <p:nvPr/>
          </p:nvSpPr>
          <p:spPr>
            <a:xfrm>
              <a:off x="6464618" y="1524000"/>
              <a:ext cx="5193982" cy="2082165"/>
            </a:xfrm>
            <a:prstGeom prst="roundRect">
              <a:avLst>
                <a:gd name="adj" fmla="val 64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74142" y="1657350"/>
              <a:ext cx="47625" cy="18154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04648" y="2110740"/>
              <a:ext cx="4501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原课件写“主存中的块数 = 16M/2⁸ = 2¹⁶”。主存块数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应为 2²⁴ ÷ 2⁵ = 2¹⁹。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05791" y="2728436"/>
              <a:ext cx="425577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2¹⁶ 是主存容量 ÷ Cache 容量，也就是 16 位标记的取值个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数：每个 Cache 行轮流装入 2¹⁹ ÷ 8 = 2¹⁶ 个主存块中的一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个。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464618" y="3796665"/>
            <a:ext cx="5193982" cy="1790700"/>
            <a:chOff x="6464618" y="3796665"/>
            <a:chExt cx="5193982" cy="1790700"/>
          </a:xfrm>
        </p:grpSpPr>
        <p:sp>
          <p:nvSpPr>
            <p:cNvPr id="48" name="Rectangle 48"/>
            <p:cNvSpPr/>
            <p:nvPr/>
          </p:nvSpPr>
          <p:spPr>
            <a:xfrm>
              <a:off x="6464618" y="3796665"/>
              <a:ext cx="5193982" cy="1790700"/>
            </a:xfrm>
            <a:prstGeom prst="roundRect">
              <a:avLst>
                <a:gd name="adj" fmla="val 7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4142" y="3930015"/>
              <a:ext cx="47625" cy="15240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712268" y="40062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03428" y="40419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13295" y="4041458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连同有效位和标记算存储位数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717983" y="446532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76098" y="4402455"/>
              <a:ext cx="44072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每行：有效位 1 + 标记 16 + 数据 32 × 8 = 273 位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717983" y="480060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76098" y="4737735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行共 8 × 273 = 2184 位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05791" y="5069681"/>
              <a:ext cx="36912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题目问 Cache 容量时，通常只算数据区 256 B。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84699" cy="909257"/>
            <a:chOff x="520446" y="342900"/>
            <a:chExt cx="100846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846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（3）001C050H：页面在主存，物理地址 04C050H，Cache 命中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026279" cy="3074194"/>
            <a:chOff x="533400" y="1533525"/>
            <a:chExt cx="5026279" cy="3074194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5546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9469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8813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1619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56495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拆虚拟地址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1833086"/>
              <a:ext cx="43534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 3 个十六进制数字 001H 是虚页号，后 4 个 C050H 是页内地址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1526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2419826"/>
              <a:ext cx="3337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 1 的有效位为 1，页号 04H，页面在主存中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27393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拼物理地址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006566"/>
              <a:ext cx="20722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04H 接上 C050H，得 04C050H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326130"/>
              <a:ext cx="1387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拆成 Cache 字段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593306"/>
              <a:ext cx="461289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= 前 16 位 04C0H；最低字节 50H = 0101 0000，行号 010 = 2，块内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4120515"/>
              <a:ext cx="7840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 Cache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387691"/>
              <a:ext cx="3965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行有效位为 1、标记 04C0H，与地址的标记相同，</a:t>
              </a:r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776788"/>
            <a:ext cx="5410200" cy="1560195"/>
            <a:chOff x="533400" y="4776788"/>
            <a:chExt cx="5410200" cy="1560195"/>
          </a:xfrm>
        </p:grpSpPr>
        <p:sp>
          <p:nvSpPr>
            <p:cNvPr id="29" name="Rectangle 29"/>
            <p:cNvSpPr/>
            <p:nvPr/>
          </p:nvSpPr>
          <p:spPr>
            <a:xfrm>
              <a:off x="533400" y="4776788"/>
              <a:ext cx="5410200" cy="1560195"/>
            </a:xfrm>
            <a:prstGeom prst="roundRect">
              <a:avLst>
                <a:gd name="adj" fmla="val 732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26129" y="5453181"/>
              <a:ext cx="224134" cy="192560"/>
              <a:chOff x="726129" y="5453181"/>
              <a:chExt cx="224134" cy="19256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38200" y="55235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26129" y="54531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56013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892" y="5213985"/>
              <a:ext cx="439426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易错：行号取最低字节的高 3 位（第 7–5 位），最低 5 位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才是块内地址。把 50H 的最低 3 位 000 当行号就会查错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行。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6243066" y="1524000"/>
            <a:ext cx="5415534" cy="1902714"/>
            <a:chOff x="6243066" y="1524000"/>
            <a:chExt cx="5415534" cy="1902714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0344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830208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二进制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874553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48412" y="2054066"/>
              <a:ext cx="9628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标记（23–8）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25114" y="2054066"/>
              <a:ext cx="14739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0000 0100 1100 0000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730890" y="2054066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04C0H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2330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48400" y="233553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48412" y="2459831"/>
              <a:ext cx="8757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行号（7–5）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880985" y="2345055"/>
              <a:ext cx="236124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931981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261282" y="2345055"/>
              <a:ext cx="1387792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908477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2736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8412" y="2865596"/>
              <a:ext cx="117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块内地址（4–0）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49055" y="286559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67014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1524000"/>
              <a:ext cx="5410200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66698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246995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43066" y="3221355"/>
              <a:ext cx="19474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物理地址 04C050H 的字段拆分</a:t>
              </a:r>
            </a:p>
          </p:txBody>
        </p:sp>
      </p:grpSp>
      <p:grpSp>
        <p:nvGrpSpPr>
          <p:cNvPr id="113" name="c2-cells-2"/>
          <p:cNvGrpSpPr/>
          <p:nvPr/>
        </p:nvGrpSpPr>
        <p:grpSpPr>
          <a:xfrm>
            <a:off x="6242685" y="3606165"/>
            <a:ext cx="5415915" cy="1860709"/>
            <a:chOff x="6242685" y="3606165"/>
            <a:chExt cx="5415915" cy="1860709"/>
          </a:xfrm>
        </p:grpSpPr>
        <p:sp>
          <p:nvSpPr>
            <p:cNvPr id="59" name="TextBox 59"/>
            <p:cNvSpPr txBox="1"/>
            <p:nvPr/>
          </p:nvSpPr>
          <p:spPr>
            <a:xfrm>
              <a:off x="6242685" y="39762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页表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792278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03338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400925" y="3855720"/>
              <a:ext cx="608648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11985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008620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220633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617268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828328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225915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80511" y="39762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9833610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0045623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10442258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10696854" y="39762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11049952" y="385572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1261965" y="397621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061006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669653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278301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885996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494643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103291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710986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319633" y="4291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464206" y="3606165"/>
              <a:ext cx="48113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虚页号 1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666672" y="376047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242685" y="4990624"/>
              <a:ext cx="451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792278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916266" y="499062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0200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7400925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7655521" y="49906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8008620" y="4869180"/>
              <a:ext cx="608648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8123703" y="499062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04C0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617268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8731398" y="499062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01D2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9225915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9349903" y="499062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0640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9833610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9948693" y="499062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14DA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10442258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10696854" y="49906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11049952" y="4869180"/>
              <a:ext cx="60864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11165036" y="499062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27AB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7061006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7669653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278301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885996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9494643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103291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0710986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1319633" y="53049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7629718" y="4619625"/>
              <a:ext cx="13674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行：有效且标记相同</a:t>
              </a:r>
            </a:p>
          </p:txBody>
        </p:sp>
        <p:sp>
          <p:nvSpPr>
            <p:cNvPr id="112" name="Freeform 112"/>
            <p:cNvSpPr/>
            <p:nvPr/>
          </p:nvSpPr>
          <p:spPr>
            <a:xfrm>
              <a:off x="8275320" y="47739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120" name="c2-callout-3"/>
          <p:cNvGrpSpPr/>
          <p:nvPr/>
        </p:nvGrpSpPr>
        <p:grpSpPr>
          <a:xfrm>
            <a:off x="6248400" y="5607368"/>
            <a:ext cx="5410200" cy="729615"/>
            <a:chOff x="6248400" y="5607368"/>
            <a:chExt cx="5410200" cy="729615"/>
          </a:xfrm>
        </p:grpSpPr>
        <p:sp>
          <p:nvSpPr>
            <p:cNvPr id="114" name="Rectangle 114"/>
            <p:cNvSpPr/>
            <p:nvPr/>
          </p:nvSpPr>
          <p:spPr>
            <a:xfrm>
              <a:off x="6248400" y="560736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18" name="Group 118"/>
            <p:cNvGrpSpPr/>
            <p:nvPr/>
          </p:nvGrpSpPr>
          <p:grpSpPr>
            <a:xfrm>
              <a:off x="6453188" y="5872163"/>
              <a:ext cx="200026" cy="200025"/>
              <a:chOff x="6453188" y="5872163"/>
              <a:chExt cx="200026" cy="200025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6453188" y="58721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6" name="Freeform 116"/>
              <p:cNvSpPr/>
              <p:nvPr/>
            </p:nvSpPr>
            <p:spPr>
              <a:xfrm>
                <a:off x="6492926" y="59166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7" name="Freeform 117"/>
              <p:cNvSpPr/>
              <p:nvPr/>
            </p:nvSpPr>
            <p:spPr>
              <a:xfrm>
                <a:off x="6527642" y="60277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19" name="TextBox 119"/>
            <p:cNvSpPr txBox="1"/>
            <p:nvPr/>
          </p:nvSpPr>
          <p:spPr>
            <a:xfrm>
              <a:off x="6755892" y="5753100"/>
              <a:ext cx="44971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块内地址 10000 = 16：要读的是第 2 行所存块中的第 16 号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字节（从 0 编号）。</a:t>
              </a:r>
            </a:p>
          </p:txBody>
        </p:sp>
      </p:grpSp>
      <p:grpSp>
        <p:nvGrpSpPr>
          <p:cNvPr id="1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1" name="TextBox 12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81661" cy="909257"/>
            <a:chOff x="520446" y="342900"/>
            <a:chExt cx="100816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816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（4）TLB：8 项分成 2 组，虚页号最低位是组号，高 11 位是标记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27685" y="1524000"/>
            <a:ext cx="6281737" cy="1642587"/>
            <a:chOff x="527685" y="1524000"/>
            <a:chExt cx="6281737" cy="164258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3084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93613" y="165973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 路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74738" y="165973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2 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54910" y="165973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3 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36035" y="165973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4 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3405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76108" y="2108359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— 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15074" y="2108359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1 001 15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37405" y="2108359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— 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57352" y="2108359"/>
              <a:ext cx="723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1 012 1F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3405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14929" y="2556986"/>
              <a:ext cx="723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1 013 2D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57233" y="2556986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— 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376227" y="2556986"/>
              <a:ext cx="723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1 008 7E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18530" y="2556986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— —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524000"/>
              <a:ext cx="627602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282065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66223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04336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3535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7685" y="2946559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每格依次为有效位、标记、物理页号（十六进制）</a:t>
              </a:r>
            </a:p>
          </p:txBody>
        </p:sp>
      </p:grpSp>
      <p:grpSp>
        <p:nvGrpSpPr>
          <p:cNvPr id="42" name="c1-card-2"/>
          <p:cNvGrpSpPr/>
          <p:nvPr/>
        </p:nvGrpSpPr>
        <p:grpSpPr>
          <a:xfrm>
            <a:off x="533400" y="3312795"/>
            <a:ext cx="6276022" cy="1701165"/>
            <a:chOff x="533400" y="3312795"/>
            <a:chExt cx="6276022" cy="1701165"/>
          </a:xfrm>
        </p:grpSpPr>
        <p:sp>
          <p:nvSpPr>
            <p:cNvPr id="32" name="Rectangle 32"/>
            <p:cNvSpPr/>
            <p:nvPr/>
          </p:nvSpPr>
          <p:spPr>
            <a:xfrm>
              <a:off x="533400" y="3312795"/>
              <a:ext cx="6276022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344614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81050" y="3522345"/>
              <a:ext cx="92773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9949" y="3558064"/>
              <a:ext cx="7899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TLB 的结构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6765" y="396240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44880" y="3899535"/>
              <a:ext cx="41346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路组相联、共 8 项：8 ÷ 4 = 2 组，组号 1 位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86765" y="429768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4880" y="4234815"/>
              <a:ext cx="3417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 12 位 = 标记 11 位 + 组号 1 位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86765" y="463296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4880" y="457009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每项存有效位、标记和物理页号，按虚页号查找，不用物理地址</a:t>
              </a:r>
            </a:p>
          </p:txBody>
        </p:sp>
      </p:grpSp>
      <p:grpSp>
        <p:nvGrpSpPr>
          <p:cNvPr id="49" name="c1-callout-3"/>
          <p:cNvGrpSpPr/>
          <p:nvPr/>
        </p:nvGrpSpPr>
        <p:grpSpPr>
          <a:xfrm>
            <a:off x="533400" y="5204460"/>
            <a:ext cx="6276022" cy="782955"/>
            <a:chOff x="533400" y="5204460"/>
            <a:chExt cx="6276022" cy="782955"/>
          </a:xfrm>
        </p:grpSpPr>
        <p:sp>
          <p:nvSpPr>
            <p:cNvPr id="43" name="Rectangle 43"/>
            <p:cNvSpPr/>
            <p:nvPr/>
          </p:nvSpPr>
          <p:spPr>
            <a:xfrm>
              <a:off x="533400" y="5204460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495925"/>
              <a:ext cx="200026" cy="200025"/>
              <a:chOff x="738188" y="5495925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4959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55403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56515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353050"/>
              <a:ext cx="51968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自检：第 0 组标记 001H 对应虚页号 001H × 2 + 0 = 002H，页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号 15，与页表 (a) 中虚页号 2 的内容一致。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7114222" y="1524000"/>
            <a:ext cx="4544378" cy="897255"/>
            <a:chOff x="7114222" y="1524000"/>
            <a:chExt cx="4544378" cy="897255"/>
          </a:xfrm>
        </p:grpSpPr>
        <p:sp>
          <p:nvSpPr>
            <p:cNvPr id="50" name="Rectangle 50"/>
            <p:cNvSpPr/>
            <p:nvPr/>
          </p:nvSpPr>
          <p:spPr>
            <a:xfrm>
              <a:off x="7114222" y="1524000"/>
              <a:ext cx="454437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339716" y="1659731"/>
              <a:ext cx="730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TLB 标记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79781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21170" y="2108359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虚页号高 11 位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12582" y="2108359"/>
              <a:ext cx="7280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最低 1 位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114222" y="1524000"/>
              <a:ext cx="4544378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290810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image-2"/>
          <p:cNvGrpSpPr/>
          <p:nvPr/>
        </p:nvGrpSpPr>
        <p:grpSpPr>
          <a:xfrm>
            <a:off x="7114222" y="2611755"/>
            <a:ext cx="4544378" cy="3776187"/>
            <a:chOff x="7114222" y="2611755"/>
            <a:chExt cx="4544378" cy="3776187"/>
          </a:xfrm>
        </p:grpSpPr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rcRect l="767" t="0" r="767" b="0"/>
            <a:stretch>
              <a:fillRect/>
            </a:stretch>
          </p:blipFill>
          <p:spPr>
            <a:xfrm>
              <a:off x="7114222" y="2611755"/>
              <a:ext cx="4544378" cy="3461385"/>
            </a:xfrm>
            <a:prstGeom prst="roundRect">
              <a:avLst>
                <a:gd name="adj" fmla="val 3852"/>
              </a:avLst>
            </a:prstGeom>
          </p:spPr>
        </p:pic>
        <p:sp>
          <p:nvSpPr>
            <p:cNvPr id="59" name="TextBox 59"/>
            <p:cNvSpPr txBox="1"/>
            <p:nvPr/>
          </p:nvSpPr>
          <p:spPr>
            <a:xfrm>
              <a:off x="7641763" y="6167914"/>
              <a:ext cx="3488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TLB 像贴在页表封面上的便签，记着最近用过的几项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827" y="342900"/>
            <a:ext cx="11308912" cy="902684"/>
            <a:chOff x="520827" y="342900"/>
            <a:chExt cx="11308912" cy="902684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827" y="761524"/>
              <a:ext cx="11308912" cy="4840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（4）027BAC6H：TLB 命中，页面在主存；物理地址 2DBAC6H 不在 Cache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4631360" cy="2702814"/>
            <a:chOff x="533400" y="1533525"/>
            <a:chExt cx="4631360" cy="2702814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211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08692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3937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9278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74523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8190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15644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取虚页号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166" y="1818322"/>
              <a:ext cx="30638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027H 最低位 1 选第 1 组，高 11 位 013H 是标记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2116931"/>
              <a:ext cx="11680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 TLB 第 1 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2371725"/>
              <a:ext cx="42175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路有效位 1、标记 013H，TLB 命中，页号 2DH：页面在主存中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26703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拼物理地址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166" y="2925128"/>
              <a:ext cx="25080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2DH 接上页内地址 BAC6H，得 2DBAC6H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023" y="3222784"/>
              <a:ext cx="1315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拆成 Cache 字段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166" y="3477578"/>
              <a:ext cx="29503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2DBAH；C6H = 1100 0110，行号 110 = 6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023" y="3776186"/>
              <a:ext cx="13509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 Cache 第 6 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7166" y="4030980"/>
              <a:ext cx="3764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有效位为 0，</a:t>
              </a:r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不在 Cache 中</a:t>
              </a: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：访问主存，把该块调入第 6 行</a:t>
              </a:r>
            </a:p>
          </p:txBody>
        </p:sp>
      </p:grpSp>
      <p:grpSp>
        <p:nvGrpSpPr>
          <p:cNvPr id="65" name="c1-cells-2"/>
          <p:cNvGrpSpPr/>
          <p:nvPr/>
        </p:nvGrpSpPr>
        <p:grpSpPr>
          <a:xfrm>
            <a:off x="528638" y="4397692"/>
            <a:ext cx="5632132" cy="1350169"/>
            <a:chOff x="528638" y="4397692"/>
            <a:chExt cx="5632132" cy="1350169"/>
          </a:xfrm>
        </p:grpSpPr>
        <p:sp>
          <p:nvSpPr>
            <p:cNvPr id="29" name="TextBox 29"/>
            <p:cNvSpPr txBox="1"/>
            <p:nvPr/>
          </p:nvSpPr>
          <p:spPr>
            <a:xfrm>
              <a:off x="528638" y="4519612"/>
              <a:ext cx="5839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TLB 第1组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195388" y="4397692"/>
              <a:ext cx="621030" cy="3562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79352" y="4519612"/>
              <a:ext cx="4531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013→2D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816418" y="4397692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086233" y="4519612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436495" y="4397692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520460" y="4519612"/>
              <a:ext cx="4531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008→7E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057525" y="4397692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327341" y="4519612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8638" y="5021580"/>
              <a:ext cx="36332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195388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361203" y="5021580"/>
              <a:ext cx="2894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0200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816418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086233" y="5021580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436495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594389" y="5021580"/>
              <a:ext cx="305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04C0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057525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214467" y="5021580"/>
              <a:ext cx="305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01D2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677602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843418" y="5021580"/>
              <a:ext cx="2894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0640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298632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455574" y="5021580"/>
              <a:ext cx="305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14DA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918710" y="4899660"/>
              <a:ext cx="621030" cy="3562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189478" y="5021580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539740" y="4899660"/>
              <a:ext cx="621030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96682" y="5021580"/>
              <a:ext cx="305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27AB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470783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90861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711891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331968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952998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73076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194106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814183" y="5309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3" name="Freeform 63"/>
            <p:cNvSpPr/>
            <p:nvPr/>
          </p:nvSpPr>
          <p:spPr>
            <a:xfrm>
              <a:off x="5191125" y="545592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937039" y="5585936"/>
              <a:ext cx="5843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6 行无效</a:t>
              </a:r>
            </a:p>
          </p:txBody>
        </p:sp>
      </p:grpSp>
      <p:grpSp>
        <p:nvGrpSpPr>
          <p:cNvPr id="95" name="c2-cells-1"/>
          <p:cNvGrpSpPr/>
          <p:nvPr/>
        </p:nvGrpSpPr>
        <p:grpSpPr>
          <a:xfrm>
            <a:off x="6459284" y="1568291"/>
            <a:ext cx="3963552" cy="908685"/>
            <a:chOff x="6459284" y="1568291"/>
            <a:chExt cx="3963552" cy="908685"/>
          </a:xfrm>
        </p:grpSpPr>
        <p:sp>
          <p:nvSpPr>
            <p:cNvPr id="66" name="TextBox 66"/>
            <p:cNvSpPr txBox="1"/>
            <p:nvPr/>
          </p:nvSpPr>
          <p:spPr>
            <a:xfrm>
              <a:off x="6459284" y="1922145"/>
              <a:ext cx="3556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027H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90657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00616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198042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29762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48950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58909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780972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88055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07243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17202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8363902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46348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865536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75495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8946832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904641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23829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933788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9529762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962934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9821228" y="1809750"/>
              <a:ext cx="291465" cy="3562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9920811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10112692" y="1809750"/>
              <a:ext cx="291465" cy="3562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10212276" y="19221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977294" y="1568291"/>
              <a:ext cx="106468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高 11 位：标记 013H</a:t>
              </a:r>
            </a:p>
          </p:txBody>
        </p:sp>
        <p:sp>
          <p:nvSpPr>
            <p:cNvPr id="92" name="Freeform 92"/>
            <p:cNvSpPr/>
            <p:nvPr/>
          </p:nvSpPr>
          <p:spPr>
            <a:xfrm>
              <a:off x="8471535" y="17145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93" name="Freeform 93"/>
            <p:cNvSpPr/>
            <p:nvPr/>
          </p:nvSpPr>
          <p:spPr>
            <a:xfrm>
              <a:off x="10220325" y="218503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10094013" y="2315051"/>
              <a:ext cx="32882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组号 1</a:t>
              </a:r>
            </a:p>
          </p:txBody>
        </p:sp>
      </p:grpSp>
      <p:grpSp>
        <p:nvGrpSpPr>
          <p:cNvPr id="118" name="c2-table-2"/>
          <p:cNvGrpSpPr/>
          <p:nvPr/>
        </p:nvGrpSpPr>
        <p:grpSpPr>
          <a:xfrm>
            <a:off x="6459665" y="2615565"/>
            <a:ext cx="5198935" cy="1790414"/>
            <a:chOff x="6459665" y="2615565"/>
            <a:chExt cx="5198935" cy="1790414"/>
          </a:xfrm>
        </p:grpSpPr>
        <p:sp>
          <p:nvSpPr>
            <p:cNvPr id="96" name="Rectangle 96"/>
            <p:cNvSpPr/>
            <p:nvPr/>
          </p:nvSpPr>
          <p:spPr>
            <a:xfrm>
              <a:off x="6464618" y="2615565"/>
              <a:ext cx="5193982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7097078" y="27336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48547" y="273367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二进制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907268" y="27336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6559296" y="3114675"/>
              <a:ext cx="9025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标记（23–8）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475021" y="3114675"/>
              <a:ext cx="13817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0010 1101 1011 1010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772584" y="3114675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2DBAH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6464618" y="337375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6464618" y="3378518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559296" y="3496628"/>
              <a:ext cx="820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行号（7–5）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8032432" y="3388042"/>
              <a:ext cx="226599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9043959" y="349662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110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10317480" y="3388042"/>
              <a:ext cx="1331595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10939072" y="34966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6464618" y="37557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559296" y="3877628"/>
              <a:ext cx="11036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块内地址（4–0）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8966216" y="3877628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00110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0939072" y="38776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6464618" y="2615565"/>
              <a:ext cx="5193982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8018145" y="2615565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10303192" y="2615565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459665" y="4215289"/>
              <a:ext cx="38406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物理地址 2DBAC6H 的字段拆分；Cache 表 (b) 第 6 行有效位为 0</a:t>
              </a:r>
            </a:p>
          </p:txBody>
        </p:sp>
      </p:grpSp>
      <p:grpSp>
        <p:nvGrpSpPr>
          <p:cNvPr id="125" name="c2-callout-3"/>
          <p:cNvGrpSpPr/>
          <p:nvPr/>
        </p:nvGrpSpPr>
        <p:grpSpPr>
          <a:xfrm>
            <a:off x="6464618" y="4531995"/>
            <a:ext cx="5193982" cy="1190625"/>
            <a:chOff x="6464618" y="4531995"/>
            <a:chExt cx="5193982" cy="1190625"/>
          </a:xfrm>
        </p:grpSpPr>
        <p:sp>
          <p:nvSpPr>
            <p:cNvPr id="119" name="Rectangle 119"/>
            <p:cNvSpPr/>
            <p:nvPr/>
          </p:nvSpPr>
          <p:spPr>
            <a:xfrm>
              <a:off x="6464618" y="4531995"/>
              <a:ext cx="5193982" cy="1190625"/>
            </a:xfrm>
            <a:prstGeom prst="roundRect">
              <a:avLst>
                <a:gd name="adj" fmla="val 960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3" name="Group 123"/>
            <p:cNvGrpSpPr/>
            <p:nvPr/>
          </p:nvGrpSpPr>
          <p:grpSpPr>
            <a:xfrm>
              <a:off x="6669405" y="5027295"/>
              <a:ext cx="200026" cy="200026"/>
              <a:chOff x="6669405" y="5027295"/>
              <a:chExt cx="200026" cy="200026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6669405" y="50272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1" name="Freeform 121"/>
              <p:cNvSpPr/>
              <p:nvPr/>
            </p:nvSpPr>
            <p:spPr>
              <a:xfrm>
                <a:off x="6769418" y="50939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2" name="Freeform 122"/>
              <p:cNvSpPr/>
              <p:nvPr/>
            </p:nvSpPr>
            <p:spPr>
              <a:xfrm>
                <a:off x="6758305" y="51273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4" name="TextBox 124"/>
            <p:cNvSpPr txBox="1"/>
            <p:nvPr/>
          </p:nvSpPr>
          <p:spPr>
            <a:xfrm>
              <a:off x="6972491" y="4920139"/>
              <a:ext cx="40444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补充：原课件只答到“实地址为 2DBAC6H”，漏答“是否在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中”，第 4、5 步补上。</a:t>
              </a:r>
            </a:p>
          </p:txBody>
        </p:sp>
      </p:grpSp>
      <p:grpSp>
        <p:nvGrpSpPr>
          <p:cNvPr id="13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126" name="Rectangle 12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30" name="Group 130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8" name="Freeform 128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9" name="Freeform 129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31" name="TextBox 131"/>
            <p:cNvSpPr txBox="1"/>
            <p:nvPr/>
          </p:nvSpPr>
          <p:spPr>
            <a:xfrm>
              <a:off x="1041273" y="6039326"/>
              <a:ext cx="80656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易错：TLB 的标记取自虚页号，Cache 的标记取自物理地址。“页面在主存中”不代表“数据在 Cache 中”。</a:t>
              </a:r>
            </a:p>
          </p:txBody>
        </p:sp>
      </p:grpSp>
      <p:grpSp>
        <p:nvGrpSpPr>
          <p:cNvPr id="1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3" name="TextBox 133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18626" cy="909257"/>
            <a:chOff x="520446" y="342900"/>
            <a:chExt cx="64186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186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（5）026BAC6H：TLB 缺失，转去查页表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962754" cy="2232089"/>
            <a:chOff x="533400" y="1533525"/>
            <a:chExt cx="4962754" cy="223208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9656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0703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1846898"/>
              <a:ext cx="4549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026H = 0000 0010 0110，最低位 0 选第 0 组，标记仍是 013H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218741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467927"/>
              <a:ext cx="41727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组有效两项的标记为 001H、012H，都不是 013H：TLB 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302942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309938"/>
              <a:ext cx="40812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用虚页号 026H 访问主存中的页表第 026H（十进制 38）项；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 (a) 只列出前 8 项，看不出该项内容，要分两种情况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941445"/>
            <a:ext cx="4760595" cy="1274445"/>
            <a:chOff x="533400" y="3941445"/>
            <a:chExt cx="4760595" cy="1274445"/>
          </a:xfrm>
        </p:grpSpPr>
        <p:sp>
          <p:nvSpPr>
            <p:cNvPr id="21" name="Rectangle 21"/>
            <p:cNvSpPr/>
            <p:nvPr/>
          </p:nvSpPr>
          <p:spPr>
            <a:xfrm>
              <a:off x="533400" y="3941445"/>
              <a:ext cx="4760595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074795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75335" y="414528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5543" y="41809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8096" y="4518184"/>
              <a:ext cx="408114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原课件没有给出第（5）问的解答，本页按一般处理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流程补充。</a:t>
              </a:r>
            </a:p>
          </p:txBody>
        </p:sp>
      </p:grpSp>
      <p:grpSp>
        <p:nvGrpSpPr>
          <p:cNvPr id="57" name="c2-flow-1"/>
          <p:cNvGrpSpPr/>
          <p:nvPr/>
        </p:nvGrpSpPr>
        <p:grpSpPr>
          <a:xfrm>
            <a:off x="5811202" y="1829752"/>
            <a:ext cx="5634991" cy="3626168"/>
            <a:chOff x="5811202" y="1829752"/>
            <a:chExt cx="5634991" cy="3626168"/>
          </a:xfrm>
        </p:grpSpPr>
        <p:sp>
          <p:nvSpPr>
            <p:cNvPr id="27" name="Freeform 27"/>
            <p:cNvSpPr/>
            <p:nvPr/>
          </p:nvSpPr>
          <p:spPr>
            <a:xfrm>
              <a:off x="7114222" y="2255520"/>
              <a:ext cx="1514475" cy="425767"/>
            </a:xfrm>
            <a:custGeom>
              <a:avLst/>
              <a:gdLst/>
              <a:ahLst/>
              <a:cxnLst/>
              <a:rect l="l" t="t" r="r" b="b"/>
              <a:pathLst>
                <a:path w="1514475" h="425767">
                  <a:moveTo>
                    <a:pt x="1514475" y="0"/>
                  </a:moveTo>
                  <a:lnTo>
                    <a:pt x="1514475" y="264795"/>
                  </a:lnTo>
                  <a:lnTo>
                    <a:pt x="0" y="264795"/>
                  </a:lnTo>
                  <a:lnTo>
                    <a:pt x="0" y="42576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061835" y="26812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7114222" y="3373755"/>
              <a:ext cx="9525" cy="336233"/>
            </a:xfrm>
            <a:custGeom>
              <a:avLst/>
              <a:gdLst/>
              <a:ahLst/>
              <a:cxnLst/>
              <a:rect l="l" t="t" r="r" b="b"/>
              <a:pathLst>
                <a:path w="9525" h="336233">
                  <a:moveTo>
                    <a:pt x="0" y="0"/>
                  </a:moveTo>
                  <a:lnTo>
                    <a:pt x="0" y="3362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061835" y="37099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114222" y="4418648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061835" y="48367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8417242" y="3079432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736330" y="30270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10144125" y="3291840"/>
              <a:ext cx="9525" cy="418147"/>
            </a:xfrm>
            <a:custGeom>
              <a:avLst/>
              <a:gdLst/>
              <a:ahLst/>
              <a:cxnLst/>
              <a:rect l="l" t="t" r="r" b="b"/>
              <a:pathLst>
                <a:path w="9525" h="418147">
                  <a:moveTo>
                    <a:pt x="0" y="0"/>
                  </a:moveTo>
                  <a:lnTo>
                    <a:pt x="0" y="4181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091738" y="37099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10144125" y="4418648"/>
              <a:ext cx="9525" cy="328612"/>
            </a:xfrm>
            <a:custGeom>
              <a:avLst/>
              <a:gdLst/>
              <a:ahLst/>
              <a:cxnLst/>
              <a:rect l="l" t="t" r="r" b="b"/>
              <a:pathLst>
                <a:path w="9525" h="328612">
                  <a:moveTo>
                    <a:pt x="0" y="0"/>
                  </a:moveTo>
                  <a:lnTo>
                    <a:pt x="0" y="3286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0091738" y="47472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23610" y="1829752"/>
              <a:ext cx="5211128" cy="4248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5811202" y="2786062"/>
              <a:ext cx="2606040" cy="587692"/>
            </a:xfrm>
            <a:custGeom>
              <a:avLst/>
              <a:gdLst/>
              <a:ahLst/>
              <a:cxnLst/>
              <a:rect l="l" t="t" r="r" b="b"/>
              <a:pathLst>
                <a:path w="2606040" h="587692">
                  <a:moveTo>
                    <a:pt x="1303020" y="0"/>
                  </a:moveTo>
                  <a:lnTo>
                    <a:pt x="2606040" y="293370"/>
                  </a:lnTo>
                  <a:lnTo>
                    <a:pt x="1303020" y="587692"/>
                  </a:lnTo>
                  <a:lnTo>
                    <a:pt x="0" y="29337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11202" y="3814762"/>
              <a:ext cx="2605088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1202" y="4941570"/>
              <a:ext cx="2605088" cy="4248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841105" y="2867025"/>
              <a:ext cx="2605088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841105" y="3814762"/>
              <a:ext cx="2605088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841105" y="4852035"/>
              <a:ext cx="2605088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50772" y="1958340"/>
              <a:ext cx="21558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TLB 缺失：查页表第 026H 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47726" y="2995612"/>
              <a:ext cx="9329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 = 1？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109906" y="3930015"/>
              <a:ext cx="200863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取出物理页号，写入 TLB 第 0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组的空闲项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38806" y="5070158"/>
              <a:ext cx="21508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拼成物理地址，继续查 Cache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168765" y="2995612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缺页异常，转操作系统处理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71229" y="3930015"/>
              <a:ext cx="21457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从磁盘调入该页，主存满时先换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出一页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75039" y="4967288"/>
              <a:ext cx="213817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更新页表和 TLB，返回后重新执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行这次访存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142798" y="350234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166038" y="352901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514398" y="286321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52688" y="288988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8" name="Rectangle 58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04084"/>
              <a:ext cx="86282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0 组的第 1、3 路无效，新表项直接填入；若组内 4 项都有效，要按替换算法（如 LRU）换出一项。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51546" cy="909257"/>
            <a:chOff x="520446" y="342900"/>
            <a:chExt cx="82515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461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767" y="407194"/>
              <a:ext cx="3086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例1 虚存、Cache 与 TLB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515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回顾：页表、TLB、Cache 各用什么查、查出什么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33400" y="1524000"/>
            <a:ext cx="11125200" cy="1795462"/>
            <a:chOff x="533400" y="1524000"/>
            <a:chExt cx="11125200" cy="1795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556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75229" y="16597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用地址的哪部分查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6778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72336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命中后得到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05824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缺失时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43378" y="210835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虚页号直接作下标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14188" y="210835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39228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物理页号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96566" y="210835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缺页：操作系统从磁盘调页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2125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2556986"/>
              <a:ext cx="1516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TLB（4 路组相联）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43378" y="255698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虚页号最低位选组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14188" y="2556986"/>
              <a:ext cx="15120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有效位和 11 位标记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39228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物理页号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96566" y="2556986"/>
              <a:ext cx="19188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查页表后把表项装入 TLB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8660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3005614"/>
              <a:ext cx="15500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Cache（直接映射）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43378" y="3005614"/>
              <a:ext cx="17791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物理地址第 7–5 位选行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14188" y="3005614"/>
              <a:ext cx="15120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有效位和 16 位标记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39228" y="30056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96566" y="3005614"/>
              <a:ext cx="20952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访问主存，把块调入 Cache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524000"/>
              <a:ext cx="11125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53079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20160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42664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983980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1" name="c1-table-2"/>
          <p:cNvGrpSpPr/>
          <p:nvPr/>
        </p:nvGrpSpPr>
        <p:grpSpPr>
          <a:xfrm>
            <a:off x="533400" y="3509962"/>
            <a:ext cx="11125200" cy="1795462"/>
            <a:chOff x="533400" y="3509962"/>
            <a:chExt cx="11125200" cy="1795462"/>
          </a:xfrm>
        </p:grpSpPr>
        <p:sp>
          <p:nvSpPr>
            <p:cNvPr id="37" name="Rectangle 37"/>
            <p:cNvSpPr/>
            <p:nvPr/>
          </p:nvSpPr>
          <p:spPr>
            <a:xfrm>
              <a:off x="533400" y="3509962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55624" y="36447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小题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017763" y="36447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63027" y="3644741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TLB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84912" y="36447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3311" y="36447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88009" y="3644741"/>
              <a:ext cx="516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78671" y="409432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961843" y="4094321"/>
              <a:ext cx="814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001C050H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311080" y="409432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本问不考虑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759006" y="4094321"/>
              <a:ext cx="1065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项 → 04H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97459" y="4094321"/>
              <a:ext cx="713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04C050H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41383" y="4094321"/>
              <a:ext cx="910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2 行命中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440245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440721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78671" y="4542949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961843" y="4542949"/>
              <a:ext cx="814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027BAC6H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11080" y="4542949"/>
              <a:ext cx="1410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组命中 → 2DH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759006" y="454294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不必查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97459" y="4542949"/>
              <a:ext cx="713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2DBAC6H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41383" y="4542949"/>
              <a:ext cx="1427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6 行无效，缺失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48510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78671" y="499157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961843" y="4991576"/>
              <a:ext cx="814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026BAC6H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311080" y="4991576"/>
              <a:ext cx="910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0 组缺失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759006" y="4991576"/>
              <a:ext cx="1039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查第 026H 项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217154" y="499157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取决于页表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541383" y="499157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之后再判断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33400" y="3509962"/>
              <a:ext cx="11125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1529715" y="350996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3198495" y="350996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646420" y="350996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7871460" y="350996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428798" y="350996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7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72" name="Rectangle 7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130" y="5728335"/>
              <a:ext cx="96354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解题顺序固定：虚页号 → TLB → 页表 → 物理地址 → Cache 字段 → Cache 行。每一步写出二进制拆分，行号最容易取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错位。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664713" cy="3351847"/>
            <a:chOff x="667512" y="1835468"/>
            <a:chExt cx="566471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66471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组相联 Cache 与 LRU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0145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顺序读 4352 个字、重复 10 次，数清楚缺失了几次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55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结构与主存地址划分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585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 个主存块怎样分到 16 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48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下每一遍的缺失次数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命中率与加速比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34553" cy="909257"/>
            <a:chOff x="520446" y="342900"/>
            <a:chExt cx="82345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9087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611" y="407194"/>
              <a:ext cx="3134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例2 组相联 Cache 与 LRU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345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题目与 Cache 结构：64 块分成 16 组，每组 4 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91114" cy="887158"/>
            <a:chOff x="525399" y="1550194"/>
            <a:chExt cx="10691114" cy="88715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91114" cy="8871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 32K×16 位（按字编址，字长 16 位）；Cache 4K 字，4 路组相联；块大小 64 字。Cache 初始为空，CPU 顺序读取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单元 0、1、…、4351，共重复 10 次。Cache 比主存快 10 倍，采用 LRU 替换。求 Cache 结构、主存地址划分和速度提高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的倍数。</a:t>
              </a:r>
            </a:p>
          </p:txBody>
        </p:sp>
      </p:grpSp>
      <p:grpSp>
        <p:nvGrpSpPr>
          <p:cNvPr id="52" name="c1-table-1"/>
          <p:cNvGrpSpPr/>
          <p:nvPr/>
        </p:nvGrpSpPr>
        <p:grpSpPr>
          <a:xfrm>
            <a:off x="527685" y="2547938"/>
            <a:ext cx="6497955" cy="3221831"/>
            <a:chOff x="527685" y="2547938"/>
            <a:chExt cx="6497955" cy="3221831"/>
          </a:xfrm>
        </p:grpSpPr>
        <p:sp>
          <p:nvSpPr>
            <p:cNvPr id="9" name="Rectangle 9"/>
            <p:cNvSpPr/>
            <p:nvPr/>
          </p:nvSpPr>
          <p:spPr>
            <a:xfrm>
              <a:off x="533400" y="2547938"/>
              <a:ext cx="6492240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962" y="268700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22150" y="2687002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 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286130" y="2687002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2 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49157" y="2687002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3 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12185" y="2687002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4 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1663" y="3174682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21168" y="317468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5148" y="317468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48175" y="317468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11202" y="317468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51853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3523298"/>
              <a:ext cx="649224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1663" y="3662362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21168" y="366236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85148" y="366236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48175" y="366236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811202" y="366236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00621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11663" y="4150042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21168" y="415004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5148" y="415004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48175" y="415004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811202" y="415004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49389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498658"/>
              <a:ext cx="649224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6585" y="4637722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190464" y="4637722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54444" y="4637722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917472" y="4637722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80499" y="4637722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98157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1663" y="5125402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1111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721168" y="512540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085148" y="512540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448175" y="512540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811202" y="5125402"/>
              <a:ext cx="10648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标记 数据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2547938"/>
              <a:ext cx="6492240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567815" y="2547938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30842" y="2547938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293870" y="2547938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657850" y="2547938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7685" y="5549741"/>
              <a:ext cx="3953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V 为有效位；共 16 组 × 4 行 = 64 行，每行存放一个主存块</a:t>
              </a:r>
            </a:p>
          </p:txBody>
        </p:sp>
      </p:grpSp>
      <p:grpSp>
        <p:nvGrpSpPr>
          <p:cNvPr id="70" name="c2-steps-1"/>
          <p:cNvGrpSpPr/>
          <p:nvPr/>
        </p:nvGrpSpPr>
        <p:grpSpPr>
          <a:xfrm>
            <a:off x="7330440" y="2557462"/>
            <a:ext cx="4095857" cy="2763488"/>
            <a:chOff x="7330440" y="2557462"/>
            <a:chExt cx="4095857" cy="2763488"/>
          </a:xfrm>
        </p:grpSpPr>
        <p:sp>
          <p:nvSpPr>
            <p:cNvPr id="53" name="Rectangle 53"/>
            <p:cNvSpPr/>
            <p:nvPr/>
          </p:nvSpPr>
          <p:spPr>
            <a:xfrm>
              <a:off x="7463790" y="2700338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7330440" y="25574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424064" y="26312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330440" y="320802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424064" y="32818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330440" y="385857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424064" y="39323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330440" y="474440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424064" y="48182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741920" y="2591752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块数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43063" y="2884646"/>
              <a:ext cx="2795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4K ÷ 64 = 4096 ÷ 64 = 64 块（行）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41920" y="324231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743063" y="3535204"/>
              <a:ext cx="31921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÷ 4 = 16 组，组号 4 位（0000–1111）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741920" y="389286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每行存什么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743063" y="4186714"/>
              <a:ext cx="36217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有效位 1 位、标记 5 位、数据 64 个字（64 × 16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 位）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41920" y="4778692"/>
              <a:ext cx="8559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记录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743063" y="5071586"/>
              <a:ext cx="36832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每组 4 行要排出使用先后，每行再配 2 位计数器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18231" cy="909257"/>
            <a:chOff x="520446" y="342900"/>
            <a:chExt cx="86182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9087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611" y="407194"/>
              <a:ext cx="3134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例2 组相联 Cache 与 LRU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182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主存地址 15 位 = 标记 5 位 + 组号 4 位 + 块内地址 6 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3179521" cy="2411159"/>
            <a:chOff x="533400" y="1533525"/>
            <a:chExt cx="3179521" cy="241115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主存地址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2713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32K = 2¹⁵ 字，按字编址，地址 15 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27665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块大小 64 = 2⁶ 字，6 位（第 5–0 位）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084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088957"/>
              <a:ext cx="22334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组 = 2⁴，4 位（第 9–6 位）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294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709988"/>
              <a:ext cx="2411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15 − 4 − 6 = 5 位（第 14–10 位）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4120515"/>
            <a:ext cx="5410200" cy="1290638"/>
            <a:chOff x="533400" y="4120515"/>
            <a:chExt cx="5410200" cy="1290638"/>
          </a:xfrm>
        </p:grpSpPr>
        <p:sp>
          <p:nvSpPr>
            <p:cNvPr id="25" name="Rectangle 25"/>
            <p:cNvSpPr/>
            <p:nvPr/>
          </p:nvSpPr>
          <p:spPr>
            <a:xfrm>
              <a:off x="533400" y="4120515"/>
              <a:ext cx="5410200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77369" y="4251960"/>
              <a:ext cx="6722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 Tag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34512" y="4251960"/>
              <a:ext cx="815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 Index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38116" y="4251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57986" y="4681538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6786" y="4681538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11776" y="4681538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位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9758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980622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85291" y="5112067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14–10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102940" y="5112067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9–6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27930" y="5112067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5–0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120515"/>
              <a:ext cx="541020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288858" y="412051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185285" y="412051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callout-3"/>
          <p:cNvGrpSpPr/>
          <p:nvPr/>
        </p:nvGrpSpPr>
        <p:grpSpPr>
          <a:xfrm>
            <a:off x="533400" y="5595938"/>
            <a:ext cx="5410200" cy="756285"/>
            <a:chOff x="533400" y="5595938"/>
            <a:chExt cx="5410200" cy="756285"/>
          </a:xfrm>
        </p:grpSpPr>
        <p:sp>
          <p:nvSpPr>
            <p:cNvPr id="41" name="Rectangle 41"/>
            <p:cNvSpPr/>
            <p:nvPr/>
          </p:nvSpPr>
          <p:spPr>
            <a:xfrm>
              <a:off x="533400" y="5595938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874070"/>
              <a:ext cx="200023" cy="200023"/>
              <a:chOff x="738188" y="5874070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87407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71538" y="59407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511" y="5744051"/>
              <a:ext cx="440575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块号 j 的块只能进第 j mod 16 组；同一组里的块靠标记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区分。</a:t>
              </a:r>
            </a:p>
          </p:txBody>
        </p:sp>
      </p:grpSp>
      <p:grpSp>
        <p:nvGrpSpPr>
          <p:cNvPr id="70" name="c2-card-1"/>
          <p:cNvGrpSpPr/>
          <p:nvPr/>
        </p:nvGrpSpPr>
        <p:grpSpPr>
          <a:xfrm>
            <a:off x="6248400" y="1524000"/>
            <a:ext cx="5410200" cy="2473642"/>
            <a:chOff x="6248400" y="1524000"/>
            <a:chExt cx="5410200" cy="2473642"/>
          </a:xfrm>
        </p:grpSpPr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2473642"/>
            </a:xfrm>
            <a:prstGeom prst="roundRect">
              <a:avLst>
                <a:gd name="adj" fmla="val 53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57925" y="1657350"/>
              <a:ext cx="47625" cy="22069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90335" y="17278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85445" y="17635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48868" y="1767364"/>
              <a:ext cx="26792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最后一个单元 4351 放在哪一组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3096" y="2119789"/>
              <a:ext cx="35520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4351 = 001 0000 1111 1111 B（15 位）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84239" y="2544127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4351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976110" y="2415540"/>
              <a:ext cx="1016318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44467" y="2544127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00100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992428" y="2415540"/>
              <a:ext cx="1016318" cy="4067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307431" y="2544127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008745" y="2415540"/>
              <a:ext cx="1016318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30457" y="2544127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111111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7445692" y="284130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88039" y="297418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标记 4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8462010" y="284130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04357" y="297418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组号 3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9478328" y="284130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282580" y="2974181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块内 63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497955" y="331089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654546" y="3251359"/>
              <a:ext cx="31017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所在主存块号 = 4351 ÷ 64 取整 = 67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497955" y="363093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54546" y="357139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组号 = 67 mod 16 = 3，标记 = 67 ÷ 16 取整 = 4</a:t>
              </a:r>
            </a:p>
          </p:txBody>
        </p:sp>
      </p:grpSp>
      <p:grpSp>
        <p:nvGrpSpPr>
          <p:cNvPr id="103" name="c2-table-2"/>
          <p:cNvGrpSpPr/>
          <p:nvPr/>
        </p:nvGrpSpPr>
        <p:grpSpPr>
          <a:xfrm>
            <a:off x="6242685" y="4183380"/>
            <a:ext cx="5415915" cy="2015967"/>
            <a:chOff x="6242685" y="4183380"/>
            <a:chExt cx="5415915" cy="2015967"/>
          </a:xfrm>
        </p:grpSpPr>
        <p:sp>
          <p:nvSpPr>
            <p:cNvPr id="71" name="Rectangle 71"/>
            <p:cNvSpPr/>
            <p:nvPr/>
          </p:nvSpPr>
          <p:spPr>
            <a:xfrm>
              <a:off x="6248400" y="4183380"/>
              <a:ext cx="5410200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610350" y="43148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单元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45717" y="43148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块号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657272" y="43148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668828" y="43148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671238" y="431482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块内地址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725248" y="47444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762837" y="474440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774392" y="474440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9340215" y="4622482"/>
              <a:ext cx="99250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785947" y="474440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949902" y="474440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248400" y="50387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6248400" y="504348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585311" y="5174932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4096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18412" y="517493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774392" y="51749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9340215" y="5053012"/>
              <a:ext cx="99250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9785947" y="51749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0949902" y="51749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248400" y="54683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585311" y="56045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4351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718412" y="560451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67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774392" y="5604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785947" y="5604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0905477" y="560451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6248400" y="4183380"/>
              <a:ext cx="5410200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7302818" y="41833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8314372" y="41833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9325928" y="41833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337482" y="418338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6242685" y="5979319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块 0 和块 64 组号都是 0、标记不同，只能挤在同一组</a:t>
              </a:r>
            </a:p>
          </p:txBody>
        </p:sp>
      </p:grpSp>
      <p:grpSp>
        <p:nvGrpSpPr>
          <p:cNvPr id="10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4" name="TextBox 104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32528" cy="909257"/>
            <a:chOff x="520446" y="342900"/>
            <a:chExt cx="7932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9087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611" y="407194"/>
              <a:ext cx="3134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例2 组相联 Cache 与 LRU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32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 个主存块分到 16 组：第 0–3 组各有 5 块抢 4 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28447" y="1524000"/>
            <a:ext cx="5847588" cy="3463956"/>
            <a:chOff x="528447" y="1524000"/>
            <a:chExt cx="5847588" cy="346395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458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54313" y="16454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装入该组的主存块号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63566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1826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65910" y="2045494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0、16、32、48、64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217795" y="1933575"/>
              <a:ext cx="114966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74497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193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241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51826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65910" y="2445544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1、17、33、49、65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217795" y="2333625"/>
              <a:ext cx="114966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4497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7193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51826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65910" y="2845594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2、18、34、50、66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217795" y="2733675"/>
              <a:ext cx="114966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74497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1194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1242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1826" y="3245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65910" y="3245644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3、19、35、51、67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217795" y="3133725"/>
              <a:ext cx="114966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744975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5194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1826" y="36456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65910" y="3645694"/>
              <a:ext cx="10442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4、20、36、52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44975" y="36456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9195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39243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51826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565910" y="40457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744975" y="40457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3195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8290" y="444579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65910" y="4445794"/>
              <a:ext cx="11271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15、31、47、63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744975" y="44457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1524000"/>
              <a:ext cx="5842635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46399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203508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8447" y="4797266"/>
              <a:ext cx="43305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4352 个字 ÷ 每块 64 字 = 68 块（块号 0–67），块号 j 进入第 j mod 16 组</a:t>
              </a:r>
            </a:p>
          </p:txBody>
        </p:sp>
      </p:grpSp>
      <p:grpSp>
        <p:nvGrpSpPr>
          <p:cNvPr id="55" name="c1-card-2"/>
          <p:cNvGrpSpPr/>
          <p:nvPr/>
        </p:nvGrpSpPr>
        <p:grpSpPr>
          <a:xfrm>
            <a:off x="533400" y="5119688"/>
            <a:ext cx="5842635" cy="1185862"/>
            <a:chOff x="533400" y="5119688"/>
            <a:chExt cx="5842635" cy="1185862"/>
          </a:xfrm>
        </p:grpSpPr>
        <p:sp>
          <p:nvSpPr>
            <p:cNvPr id="50" name="Rectangle 50"/>
            <p:cNvSpPr/>
            <p:nvPr/>
          </p:nvSpPr>
          <p:spPr>
            <a:xfrm>
              <a:off x="533400" y="5119688"/>
              <a:ext cx="584263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42925" y="5253038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58190" y="53063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50862" y="53392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1332" y="5651183"/>
              <a:ext cx="50543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原课件写作“4352/(16×4) = 68”。结果碰巧相同，但应除以块大小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字；16×4 是 Cache 的总行数。</a:t>
              </a:r>
            </a:p>
          </p:txBody>
        </p:sp>
      </p:grpSp>
      <p:grpSp>
        <p:nvGrpSpPr>
          <p:cNvPr id="58" name="c2-image-1"/>
          <p:cNvGrpSpPr/>
          <p:nvPr/>
        </p:nvGrpSpPr>
        <p:grpSpPr>
          <a:xfrm>
            <a:off x="6680835" y="1524000"/>
            <a:ext cx="4977765" cy="4858416"/>
            <a:chOff x="6680835" y="1524000"/>
            <a:chExt cx="4977765" cy="4858416"/>
          </a:xfrm>
        </p:grpSpPr>
        <p:pic>
          <p:nvPicPr>
            <p:cNvPr id="56" name="Image 56"/>
            <p:cNvPicPr>
              <a:picLocks noChangeAspect="1"/>
            </p:cNvPicPr>
            <p:nvPr/>
          </p:nvPicPr>
          <p:blipFill>
            <a:blip r:embed="rId2"/>
            <a:srcRect l="9198" t="0" r="9197" b="0"/>
            <a:stretch>
              <a:fillRect/>
            </a:stretch>
          </p:blipFill>
          <p:spPr>
            <a:xfrm>
              <a:off x="6680835" y="1524000"/>
              <a:ext cx="4977765" cy="4574858"/>
            </a:xfrm>
            <a:prstGeom prst="roundRect">
              <a:avLst>
                <a:gd name="adj" fmla="val 2914"/>
              </a:avLst>
            </a:prstGeom>
          </p:spPr>
        </p:pic>
        <p:sp>
          <p:nvSpPr>
            <p:cNvPr id="57" name="TextBox 57"/>
            <p:cNvSpPr txBox="1"/>
            <p:nvPr/>
          </p:nvSpPr>
          <p:spPr>
            <a:xfrm>
              <a:off x="7085100" y="6191726"/>
              <a:ext cx="41692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每组像一排 4 个车位：排满后又来新块，按 LRU 请最久没用过的块离开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90897" cy="909257"/>
            <a:chOff x="520446" y="342900"/>
            <a:chExt cx="78908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9087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611" y="407194"/>
              <a:ext cx="3134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例2 组相联 Cache 与 LRU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908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跟踪第 0 组的 LRU 替换：第 2 遍起每次访问都缺失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923" y="1545431"/>
            <a:ext cx="5251287" cy="249364"/>
            <a:chOff x="526923" y="1545431"/>
            <a:chExt cx="5251287" cy="249364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52512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组内 4 行按“最久未用 → 最近使用”排列，红格是本次缺失后调入的块</a:t>
              </a:r>
            </a:p>
          </p:txBody>
        </p:sp>
      </p:grpSp>
      <p:grpSp>
        <p:nvGrpSpPr>
          <p:cNvPr id="63" name="c1-cells-2"/>
          <p:cNvGrpSpPr/>
          <p:nvPr/>
        </p:nvGrpSpPr>
        <p:grpSpPr>
          <a:xfrm>
            <a:off x="527304" y="1934528"/>
            <a:ext cx="3507486" cy="2647950"/>
            <a:chOff x="527304" y="1934528"/>
            <a:chExt cx="3507486" cy="2647950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041208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 1 遍结束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596390" y="1934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801802" y="2041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205990" y="1934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11402" y="2041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815590" y="1934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21002" y="2041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25190" y="1934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30602" y="2041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7304" y="2498407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 2 遍读块 0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596390" y="23917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801802" y="24984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205990" y="23917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411402" y="24984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815590" y="23917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021002" y="24984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425190" y="2391728"/>
              <a:ext cx="609600" cy="3619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677248" y="24984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7304" y="2955607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读块 16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596390" y="28489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801802" y="29556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205990" y="28489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411402" y="29556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815590" y="28489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067648" y="29556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425190" y="2848928"/>
              <a:ext cx="609600" cy="3619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630602" y="29556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7304" y="3412807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读块 32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596390" y="33061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801802" y="34128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205990" y="33061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458048" y="34128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815590" y="33061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021002" y="34128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3425190" y="3306128"/>
              <a:ext cx="609600" cy="3619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630602" y="34128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27304" y="3870007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读块 48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596390" y="37633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848448" y="387000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2205990" y="37633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2411402" y="38700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815590" y="37633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021002" y="38700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3425190" y="3763328"/>
              <a:ext cx="609600" cy="3619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630602" y="387000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27304" y="4327208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读块 64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1596390" y="4220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801802" y="4327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205990" y="4220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411402" y="4327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815590" y="4220528"/>
              <a:ext cx="609600" cy="3619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021002" y="4327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425190" y="4220528"/>
              <a:ext cx="609600" cy="3619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630602" y="432720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</p:grpSp>
      <p:grpSp>
        <p:nvGrpSpPr>
          <p:cNvPr id="70" name="c1-callout-3"/>
          <p:cNvGrpSpPr/>
          <p:nvPr/>
        </p:nvGrpSpPr>
        <p:grpSpPr>
          <a:xfrm>
            <a:off x="533400" y="4772978"/>
            <a:ext cx="5410200" cy="1588770"/>
            <a:chOff x="533400" y="4772978"/>
            <a:chExt cx="5410200" cy="1588770"/>
          </a:xfrm>
        </p:grpSpPr>
        <p:sp>
          <p:nvSpPr>
            <p:cNvPr id="64" name="Rectangle 64"/>
            <p:cNvSpPr/>
            <p:nvPr/>
          </p:nvSpPr>
          <p:spPr>
            <a:xfrm>
              <a:off x="533400" y="4772978"/>
              <a:ext cx="5410200" cy="1588770"/>
            </a:xfrm>
            <a:prstGeom prst="roundRect">
              <a:avLst>
                <a:gd name="adj" fmla="val 719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5467350"/>
              <a:ext cx="200026" cy="200026"/>
              <a:chOff x="738188" y="5467350"/>
              <a:chExt cx="200026" cy="200026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54673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38200" y="5534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27088" y="55673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130" y="5324475"/>
              <a:ext cx="4453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遍：块 0、16、32、48 装入空行，块 64 到来时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换出最久未用的块 0。</a:t>
              </a:r>
            </a:p>
          </p:txBody>
        </p:sp>
      </p:grpSp>
      <p:grpSp>
        <p:nvGrpSpPr>
          <p:cNvPr id="76" name="c2-card-1"/>
          <p:cNvGrpSpPr/>
          <p:nvPr/>
        </p:nvGrpSpPr>
        <p:grpSpPr>
          <a:xfrm>
            <a:off x="6248400" y="1524000"/>
            <a:ext cx="5410200" cy="1602105"/>
            <a:chOff x="6248400" y="1524000"/>
            <a:chExt cx="5410200" cy="1602105"/>
          </a:xfrm>
        </p:grpSpPr>
        <p:sp>
          <p:nvSpPr>
            <p:cNvPr id="71" name="Rectangle 71"/>
            <p:cNvSpPr/>
            <p:nvPr/>
          </p:nvSpPr>
          <p:spPr>
            <a:xfrm>
              <a:off x="6248400" y="1524000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6257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6496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560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为什么每次都缺失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488430" y="2110740"/>
              <a:ext cx="4672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组只有 4 行，却要轮流放 5 个块。每读一个新块，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被换出的恰好是下一个要读的块（它最久没被用过），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遍结束时组内又回到第 1 遍结束的状态。</a:t>
              </a:r>
            </a:p>
          </p:txBody>
        </p:sp>
      </p:grpSp>
      <p:grpSp>
        <p:nvGrpSpPr>
          <p:cNvPr id="91" name="c2-table-2"/>
          <p:cNvGrpSpPr/>
          <p:nvPr/>
        </p:nvGrpSpPr>
        <p:grpSpPr>
          <a:xfrm>
            <a:off x="6248400" y="3316605"/>
            <a:ext cx="5410200" cy="1795462"/>
            <a:chOff x="6248400" y="3316605"/>
            <a:chExt cx="5410200" cy="1795462"/>
          </a:xfrm>
        </p:grpSpPr>
        <p:sp>
          <p:nvSpPr>
            <p:cNvPr id="77" name="Rectangle 77"/>
            <p:cNvSpPr/>
            <p:nvPr/>
          </p:nvSpPr>
          <p:spPr>
            <a:xfrm>
              <a:off x="6248400" y="3316605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043064" y="34523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范围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403537" y="345233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每遍缺失次数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356223" y="3900964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遍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304086" y="39009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68：每块第一次访问都缺失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248400" y="42090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6248400" y="421386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356223" y="4349591"/>
              <a:ext cx="864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2–10 遍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304086" y="4349591"/>
              <a:ext cx="26838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0–3 组各 5 次，共 4 × 5 = 20 次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248400" y="46586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356223" y="4798219"/>
              <a:ext cx="864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4–15 组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8304086" y="4798219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遍起不再缺失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248400" y="3316605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8191500" y="331660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8" name="c2-callout-3"/>
          <p:cNvGrpSpPr/>
          <p:nvPr/>
        </p:nvGrpSpPr>
        <p:grpSpPr>
          <a:xfrm>
            <a:off x="6248400" y="5302568"/>
            <a:ext cx="5410200" cy="1059180"/>
            <a:chOff x="6248400" y="5302568"/>
            <a:chExt cx="5410200" cy="1059180"/>
          </a:xfrm>
        </p:grpSpPr>
        <p:sp>
          <p:nvSpPr>
            <p:cNvPr id="92" name="Rectangle 92"/>
            <p:cNvSpPr/>
            <p:nvPr/>
          </p:nvSpPr>
          <p:spPr>
            <a:xfrm>
              <a:off x="6248400" y="5302568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6453188" y="5732145"/>
              <a:ext cx="200026" cy="200025"/>
              <a:chOff x="6453188" y="5732145"/>
              <a:chExt cx="200026" cy="200025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6453188" y="57321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492926" y="57765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6527642" y="58877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6755130" y="5451158"/>
              <a:ext cx="44538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用脚本逐字模拟 10 遍共 43520 次访存，结果为 68 +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9 × 20 = 248 次缺失；改用 FIFO 替换，缺失次数相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18502" cy="909257"/>
            <a:chOff x="520446" y="342900"/>
            <a:chExt cx="91185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9087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611" y="407194"/>
              <a:ext cx="3134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例2 组相联 Cache 与 LRU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185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命中率约 99.43%，采用 Cache 后速度约为原来的 9.46 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able-1"/>
          <p:cNvGrpSpPr/>
          <p:nvPr/>
        </p:nvGrpSpPr>
        <p:grpSpPr>
          <a:xfrm>
            <a:off x="527685" y="1524000"/>
            <a:ext cx="6065520" cy="2539842"/>
            <a:chOff x="527685" y="1524000"/>
            <a:chExt cx="6065520" cy="25398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813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2158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访存次数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9123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缺失次数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35724" y="1659731"/>
              <a:ext cx="24479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时间（Cache 访问一次记为 1）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108359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76668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341086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34028" y="2108359"/>
              <a:ext cx="17447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 + 68 × 10 = 5032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2556986"/>
              <a:ext cx="12088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2–10 遍每遍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76668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41086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034028" y="2556986"/>
              <a:ext cx="17447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 + 20 × 10 = 4552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660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005614"/>
              <a:ext cx="12088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2–10 遍合计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29282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39168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293699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034028" y="3005614"/>
              <a:ext cx="1357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× 4552 = 40968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147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319462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454241"/>
              <a:ext cx="8374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 10 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29282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293699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248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935730" y="3328988"/>
              <a:ext cx="264699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34028" y="345424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5032 + 40968 = 46000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524000"/>
              <a:ext cx="605980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98310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295275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92144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7685" y="3843814"/>
              <a:ext cx="55500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计时模型：每次读数先访问 Cache（1），缺失时再访问主存（10），调块时间忽略</a:t>
              </a:r>
            </a:p>
          </p:txBody>
        </p:sp>
      </p:grpSp>
      <p:grpSp>
        <p:nvGrpSpPr>
          <p:cNvPr id="53" name="c1-steps-2"/>
          <p:cNvGrpSpPr/>
          <p:nvPr/>
        </p:nvGrpSpPr>
        <p:grpSpPr>
          <a:xfrm>
            <a:off x="533400" y="4219575"/>
            <a:ext cx="3432449" cy="1878615"/>
            <a:chOff x="533400" y="4219575"/>
            <a:chExt cx="3432449" cy="1878615"/>
          </a:xfrm>
        </p:grpSpPr>
        <p:sp>
          <p:nvSpPr>
            <p:cNvPr id="40" name="Rectangle 40"/>
            <p:cNvSpPr/>
            <p:nvPr/>
          </p:nvSpPr>
          <p:spPr>
            <a:xfrm>
              <a:off x="666750" y="436245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533400" y="421957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7024" y="42933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533400" y="487013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7024" y="49439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33400" y="55206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27024" y="55945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4880" y="42538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命中率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6023" y="4547711"/>
              <a:ext cx="26321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(43520 − 248) ÷ 43520 ≈ 99.43%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44880" y="4904422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 Cache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46023" y="5198269"/>
              <a:ext cx="30198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每次都访问主存：43520 × 10 = 435200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4880" y="55549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加速比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6023" y="5848826"/>
              <a:ext cx="18308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435200 ÷ 46000 ≈ 9.46</a:t>
              </a:r>
            </a:p>
          </p:txBody>
        </p:sp>
      </p:grpSp>
      <p:grpSp>
        <p:nvGrpSpPr>
          <p:cNvPr id="58" name="c2-card-1"/>
          <p:cNvGrpSpPr/>
          <p:nvPr/>
        </p:nvGrpSpPr>
        <p:grpSpPr>
          <a:xfrm>
            <a:off x="6898005" y="1524000"/>
            <a:ext cx="4760595" cy="1602105"/>
            <a:chOff x="6898005" y="1524000"/>
            <a:chExt cx="4760595" cy="1602105"/>
          </a:xfrm>
        </p:grpSpPr>
        <p:sp>
          <p:nvSpPr>
            <p:cNvPr id="54" name="Rectangle 54"/>
            <p:cNvSpPr/>
            <p:nvPr/>
          </p:nvSpPr>
          <p:spPr>
            <a:xfrm>
              <a:off x="6898005" y="1524000"/>
              <a:ext cx="4760595" cy="1602105"/>
            </a:xfrm>
            <a:prstGeom prst="roundRect">
              <a:avLst>
                <a:gd name="adj" fmla="val 832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0755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19776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99935" y="2110740"/>
              <a:ext cx="40919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平均每次访存 46000 ÷ 43520 ≈ 1.057，接近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Cache 本身的速度，整体速度约为不用 Cache 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 9.46 倍。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6898005" y="3316605"/>
            <a:ext cx="4760595" cy="2769870"/>
            <a:chOff x="6898005" y="3316605"/>
            <a:chExt cx="4760595" cy="2769870"/>
          </a:xfrm>
        </p:grpSpPr>
        <p:sp>
          <p:nvSpPr>
            <p:cNvPr id="59" name="Rectangle 59"/>
            <p:cNvSpPr/>
            <p:nvPr/>
          </p:nvSpPr>
          <p:spPr>
            <a:xfrm>
              <a:off x="6898005" y="3316605"/>
              <a:ext cx="4760595" cy="2769870"/>
            </a:xfrm>
            <a:prstGeom prst="roundRect">
              <a:avLst>
                <a:gd name="adj" fmla="val 48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907530" y="3449955"/>
              <a:ext cx="47625" cy="25031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45655" y="352615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223061" y="356187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答题时注意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151370" y="39662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309485" y="3903345"/>
              <a:ext cx="39776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“提高了多少倍”本课程按性能比答 9.46；若理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解为比原来多出的部分，则是提高了 8.46 倍，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答题时写明所指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151370" y="487299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309485" y="4810125"/>
              <a:ext cx="35204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若认为缺失时只花主存时间 10、不计先查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的 1：时间 = 43272 + 248 × 10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45752，加速比 ≈ 9.51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00894" cy="3351847"/>
            <a:chOff x="667512" y="1835468"/>
            <a:chExt cx="510089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10089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多级 Cache 的性能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1918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缺失代价按时钟周期折算，才能算出总 CPI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115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（1）时钟频率与 AMAT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774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（1）总 CPI 与每条指令的时间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428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（2）加二级 Cache 后的 AMAT 与 CPI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全局缺失率与局部缺失率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123" cy="909257"/>
            <a:chOff x="520446" y="342900"/>
            <a:chExt cx="9294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题目：P1 时钟快、P2 缺失率低，比较两者的存储器性能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622878" cy="278702"/>
            <a:chOff x="526161" y="1547336"/>
            <a:chExt cx="762287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6228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主存访问时间 100 ns。一级 Cache 的命中时间决定处理器的时钟周期，基本 CPI 为 1.0。</a:t>
              </a:r>
            </a:p>
          </p:txBody>
        </p:sp>
      </p:grpSp>
      <p:grpSp>
        <p:nvGrpSpPr>
          <p:cNvPr id="28" name="c1-table-1"/>
          <p:cNvGrpSpPr/>
          <p:nvPr/>
        </p:nvGrpSpPr>
        <p:grpSpPr>
          <a:xfrm>
            <a:off x="533400" y="1941195"/>
            <a:ext cx="5951220" cy="1334453"/>
            <a:chOff x="533400" y="1941195"/>
            <a:chExt cx="5951220" cy="1334453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951220" cy="44481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4004" y="206978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46737" y="2069782"/>
              <a:ext cx="1387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一级 Cache 容量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17417" y="206978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一级缺失率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135308" y="20697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一级命中时间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55716" y="2514600"/>
              <a:ext cx="235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46236" y="2514600"/>
              <a:ext cx="388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KB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53675" y="2514600"/>
              <a:ext cx="4498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03371" y="2514600"/>
              <a:ext cx="5680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ns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2606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30830"/>
              <a:ext cx="595122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5716" y="2958465"/>
              <a:ext cx="235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46236" y="2958465"/>
              <a:ext cx="388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KB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53630" y="2958465"/>
              <a:ext cx="2499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53393" y="2958465"/>
              <a:ext cx="66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 ns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941195"/>
              <a:ext cx="5951220" cy="1333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608772" y="1941195"/>
              <a:ext cx="9525" cy="1333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3463290" y="1941195"/>
              <a:ext cx="9525" cy="1333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85372" y="1941195"/>
              <a:ext cx="9525" cy="1333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table-2"/>
          <p:cNvGrpSpPr/>
          <p:nvPr/>
        </p:nvGrpSpPr>
        <p:grpSpPr>
          <a:xfrm>
            <a:off x="528066" y="3450908"/>
            <a:ext cx="5956554" cy="1168336"/>
            <a:chOff x="528066" y="3450908"/>
            <a:chExt cx="5956554" cy="1168336"/>
          </a:xfrm>
        </p:grpSpPr>
        <p:sp>
          <p:nvSpPr>
            <p:cNvPr id="29" name="Rectangle 29"/>
            <p:cNvSpPr/>
            <p:nvPr/>
          </p:nvSpPr>
          <p:spPr>
            <a:xfrm>
              <a:off x="533400" y="3450908"/>
              <a:ext cx="5951220" cy="44481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6625" y="3578542"/>
              <a:ext cx="1387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二级 Cache 容量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78302" y="35785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二级缺失率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55286" y="357854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二级访问时间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40510" y="4023360"/>
              <a:ext cx="5993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512 KB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414560" y="4023360"/>
              <a:ext cx="4498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23303" y="4023360"/>
              <a:ext cx="3681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ns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450908"/>
              <a:ext cx="5951220" cy="8896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743200" y="3450908"/>
              <a:ext cx="9525" cy="8896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525328" y="3450908"/>
              <a:ext cx="9525" cy="8896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8066" y="4413885"/>
              <a:ext cx="21918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第（2）问给 P1 增加的二级 Cache</a:t>
              </a:r>
            </a:p>
          </p:txBody>
        </p:sp>
      </p:grpSp>
      <p:grpSp>
        <p:nvGrpSpPr>
          <p:cNvPr id="49" name="c1-card-3"/>
          <p:cNvGrpSpPr/>
          <p:nvPr/>
        </p:nvGrpSpPr>
        <p:grpSpPr>
          <a:xfrm>
            <a:off x="533400" y="4752975"/>
            <a:ext cx="5951220" cy="1511618"/>
            <a:chOff x="533400" y="4752975"/>
            <a:chExt cx="5951220" cy="1511618"/>
          </a:xfrm>
        </p:grpSpPr>
        <p:sp>
          <p:nvSpPr>
            <p:cNvPr id="41" name="Rectangle 41"/>
            <p:cNvSpPr/>
            <p:nvPr/>
          </p:nvSpPr>
          <p:spPr>
            <a:xfrm>
              <a:off x="533400" y="4752975"/>
              <a:ext cx="5951220" cy="1511618"/>
            </a:xfrm>
            <a:prstGeom prst="roundRect">
              <a:avLst>
                <a:gd name="adj" fmla="val 88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2925" y="4886325"/>
              <a:ext cx="47625" cy="124491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3905" y="494538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9343" y="49796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代入前先换算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35876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302568"/>
              <a:ext cx="46257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 = 1 ÷ 周期：1 ÷ 0.2 ns = 1 ÷ (0.2 × 10⁻⁹ s) = 5 × 10⁹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Hz = 5 GHz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2478" y="591788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8497" y="5861685"/>
              <a:ext cx="43027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百分数化成小数再乘：2.5% = 0.025，0.5% = 0.005</a:t>
              </a:r>
            </a:p>
          </p:txBody>
        </p:sp>
      </p:grpSp>
      <p:grpSp>
        <p:nvGrpSpPr>
          <p:cNvPr id="62" name="c2-bullets-1"/>
          <p:cNvGrpSpPr/>
          <p:nvPr/>
        </p:nvGrpSpPr>
        <p:grpSpPr>
          <a:xfrm>
            <a:off x="6789420" y="1951672"/>
            <a:ext cx="4652635" cy="1209866"/>
            <a:chOff x="6789420" y="1951672"/>
            <a:chExt cx="4652635" cy="1209866"/>
          </a:xfrm>
        </p:grpSpPr>
        <p:sp>
          <p:nvSpPr>
            <p:cNvPr id="50" name="Ellipse 50"/>
            <p:cNvSpPr/>
            <p:nvPr/>
          </p:nvSpPr>
          <p:spPr>
            <a:xfrm>
              <a:off x="6789420" y="1951672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45098" y="19900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70217" y="1964055"/>
              <a:ext cx="2492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P1、P2 的时钟频率各是多少？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789420" y="2263140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45098" y="230152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70217" y="2274570"/>
              <a:ext cx="42835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P1、P2 的 AMAT（平均存储器访问时间）各是多少？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789420" y="2573655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845098" y="26129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070217" y="2586038"/>
              <a:ext cx="23317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P1、P2 的总 CPI 各是多少？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789420" y="2885122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845098" y="292350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70217" y="2897505"/>
              <a:ext cx="4371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增加二级 Cache 后 CPI 是多少？性能提升了多少？</a:t>
              </a:r>
            </a:p>
          </p:txBody>
        </p:sp>
      </p:grpSp>
      <p:grpSp>
        <p:nvGrpSpPr>
          <p:cNvPr id="69" name="c2-callout-2"/>
          <p:cNvGrpSpPr/>
          <p:nvPr/>
        </p:nvGrpSpPr>
        <p:grpSpPr>
          <a:xfrm>
            <a:off x="6789420" y="3283268"/>
            <a:ext cx="4869180" cy="729615"/>
            <a:chOff x="6789420" y="3283268"/>
            <a:chExt cx="4869180" cy="729615"/>
          </a:xfrm>
        </p:grpSpPr>
        <p:sp>
          <p:nvSpPr>
            <p:cNvPr id="63" name="Rectangle 63"/>
            <p:cNvSpPr/>
            <p:nvPr/>
          </p:nvSpPr>
          <p:spPr>
            <a:xfrm>
              <a:off x="6789420" y="3283268"/>
              <a:ext cx="486918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994208" y="3548063"/>
              <a:ext cx="200026" cy="200026"/>
              <a:chOff x="6994208" y="3548063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6994208" y="35480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094220" y="36147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083108" y="36480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7296912" y="3429952"/>
              <a:ext cx="39827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原课件的解答默认每条指令访存 1 次，本讲义沿用这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一假设。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1273089" cy="909257"/>
            <a:chOff x="520446" y="342900"/>
            <a:chExt cx="112730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12730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（1）时钟频率与 AMAT：P1 为 5 GHz、2.7 ns，P2 为 4 GHz、2.25 ns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33400" y="1524000"/>
            <a:ext cx="6059805" cy="2018348"/>
            <a:chOff x="533400" y="1524000"/>
            <a:chExt cx="6059805" cy="20183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481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11555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30248" y="1651635"/>
              <a:ext cx="235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93401" y="1651635"/>
              <a:ext cx="235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63993" y="2096452"/>
              <a:ext cx="5680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ns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77168" y="2096452"/>
              <a:ext cx="66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 ns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088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13635"/>
              <a:ext cx="6059805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5412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时钟频率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0564" y="2541270"/>
              <a:ext cx="15748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÷ 0.2 ns = 5 GHz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72608" y="2541270"/>
              <a:ext cx="16770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÷ 0.25 ns = 4 GHz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527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3106102"/>
              <a:ext cx="4976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15312" y="2986088"/>
              <a:ext cx="186537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+ 2.5% × 100 = 2.7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239578" y="2867025"/>
              <a:ext cx="2344102" cy="66579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478464" y="2986088"/>
              <a:ext cx="186537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 + 2% × 100 = 2.25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524000"/>
              <a:ext cx="6059805" cy="20183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862138" y="1524000"/>
              <a:ext cx="9525" cy="20183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25290" y="1524000"/>
              <a:ext cx="9525" cy="20183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rd-2"/>
          <p:cNvGrpSpPr/>
          <p:nvPr/>
        </p:nvGrpSpPr>
        <p:grpSpPr>
          <a:xfrm>
            <a:off x="533400" y="3717608"/>
            <a:ext cx="6059805" cy="1775460"/>
            <a:chOff x="533400" y="3717608"/>
            <a:chExt cx="6059805" cy="1775460"/>
          </a:xfrm>
        </p:grpSpPr>
        <p:sp>
          <p:nvSpPr>
            <p:cNvPr id="28" name="Rectangle 28"/>
            <p:cNvSpPr/>
            <p:nvPr/>
          </p:nvSpPr>
          <p:spPr>
            <a:xfrm>
              <a:off x="533400" y="3717608"/>
              <a:ext cx="6059805" cy="1775460"/>
            </a:xfrm>
            <a:prstGeom prst="roundRect">
              <a:avLst>
                <a:gd name="adj" fmla="val 7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3850958"/>
              <a:ext cx="47625" cy="150876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3905" y="391001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3343" y="39443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公式从哪来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7047" y="4266248"/>
              <a:ext cx="53886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有 97.5% 的访存只花 0.2 ns；2.5% 的访存先查 Cache 缺失，再访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问主存，花 0.2 + 100 ns：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047" y="4826318"/>
              <a:ext cx="46207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0.975 × 0.2 + 0.025 × 100.2 = 0.195 + 2.505 = 2.7 ns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8190" y="5124926"/>
              <a:ext cx="4316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命中时间对每次访存都要算上，所以公式写成 t₁ + m₁ × t主存。</a:t>
              </a:r>
            </a:p>
          </p:txBody>
        </p:sp>
      </p:grpSp>
      <p:grpSp>
        <p:nvGrpSpPr>
          <p:cNvPr id="50" name="c2-graph-1"/>
          <p:cNvGrpSpPr/>
          <p:nvPr/>
        </p:nvGrpSpPr>
        <p:grpSpPr>
          <a:xfrm>
            <a:off x="7121842" y="2074545"/>
            <a:ext cx="4264343" cy="454343"/>
            <a:chOff x="7121842" y="2074545"/>
            <a:chExt cx="4264343" cy="454343"/>
          </a:xfrm>
        </p:grpSpPr>
        <p:sp>
          <p:nvSpPr>
            <p:cNvPr id="36" name="Freeform 36"/>
            <p:cNvSpPr/>
            <p:nvPr/>
          </p:nvSpPr>
          <p:spPr>
            <a:xfrm>
              <a:off x="7815262" y="2378392"/>
              <a:ext cx="847725" cy="9525"/>
            </a:xfrm>
            <a:custGeom>
              <a:avLst/>
              <a:gdLst/>
              <a:ahLst/>
              <a:cxnLst/>
              <a:rect l="l" t="t" r="r" b="b"/>
              <a:pathLst>
                <a:path w="847725" h="9525">
                  <a:moveTo>
                    <a:pt x="0" y="0"/>
                  </a:moveTo>
                  <a:lnTo>
                    <a:pt x="8477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662988" y="233076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9798368" y="2378392"/>
              <a:ext cx="799147" cy="9525"/>
            </a:xfrm>
            <a:custGeom>
              <a:avLst/>
              <a:gdLst/>
              <a:ahLst/>
              <a:cxnLst/>
              <a:rect l="l" t="t" r="r" b="b"/>
              <a:pathLst>
                <a:path w="799147" h="9525">
                  <a:moveTo>
                    <a:pt x="0" y="0"/>
                  </a:moveTo>
                  <a:lnTo>
                    <a:pt x="79914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0597515" y="233076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121842" y="2228850"/>
              <a:ext cx="693420" cy="300038"/>
            </a:xfrm>
            <a:prstGeom prst="roundRect">
              <a:avLst>
                <a:gd name="adj" fmla="val 31746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758238" y="2228850"/>
              <a:ext cx="104013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692765" y="2228850"/>
              <a:ext cx="693420" cy="300038"/>
            </a:xfrm>
            <a:prstGeom prst="roundRect">
              <a:avLst>
                <a:gd name="adj" fmla="val 3174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24836" y="2308384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77652" y="2308384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一级 Cache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10066" y="2074545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每次都先访问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882986" y="23083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849947" y="2074545"/>
              <a:ext cx="3790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100 ns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093642" y="229266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120122" y="232505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缺失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898005" y="3172778"/>
            <a:ext cx="4760595" cy="2320290"/>
            <a:chOff x="6898005" y="3172778"/>
            <a:chExt cx="4760595" cy="2320290"/>
          </a:xfrm>
        </p:grpSpPr>
        <p:sp>
          <p:nvSpPr>
            <p:cNvPr id="51" name="Rectangle 51"/>
            <p:cNvSpPr/>
            <p:nvPr/>
          </p:nvSpPr>
          <p:spPr>
            <a:xfrm>
              <a:off x="6898005" y="3172778"/>
              <a:ext cx="4760595" cy="2320290"/>
            </a:xfrm>
            <a:prstGeom prst="roundRect">
              <a:avLst>
                <a:gd name="adj" fmla="val 57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907530" y="3306128"/>
              <a:ext cx="47625" cy="20535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128510" y="336518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219950" y="339947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看点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137082" y="377761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93102" y="3721418"/>
              <a:ext cx="37170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的一级 Cache 容量是 P1 的 2 倍：命中时间多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 ns，缺失率低 0.5 个百分点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137082" y="433768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293102" y="4281488"/>
              <a:ext cx="39913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时钟快 25%，但每次缺失都要等 100 ns 的主存，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平均访存时间反而比 P2 多 0.45 ns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22795" y="4837271"/>
              <a:ext cx="403682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缺失率每降 0.1 个百分点，AMAT 就少 0.1 ns，远大于命中时间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上的差别。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1" name="Rectangle 6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892" y="6023610"/>
              <a:ext cx="104758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另一种约定：若 Cache 与主存同时开始查找，缺失时只花主存时间，平均时间 = 命中率 × t₁ + 缺失率 × t主存，P1 为 2.695 ns。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67797" cy="909257"/>
            <a:chOff x="520446" y="342900"/>
            <a:chExt cx="96677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677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（1）总 CPI：P1 为 13.5，P2 为 9；比较快慢还要乘时钟周期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073655" cy="1878615"/>
            <a:chOff x="533400" y="1533525"/>
            <a:chExt cx="5073655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缺失代价折算成周期数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46610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P1：100 ÷ 0.2 = 500 个周期；P2：100 ÷ 0.25 = 400 个周期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每条指令的停顿周期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34031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P1：2.5% × 500 = 12.5；P2：2% × 400 = 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5980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 CPI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32394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P1：1.0 + 12.5 = 13.5；P2：1.0 + 8 = 9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590925"/>
            <a:ext cx="5626418" cy="1897380"/>
            <a:chOff x="533400" y="3590925"/>
            <a:chExt cx="5626418" cy="1897380"/>
          </a:xfrm>
        </p:grpSpPr>
        <p:sp>
          <p:nvSpPr>
            <p:cNvPr id="21" name="Rectangle 21"/>
            <p:cNvSpPr/>
            <p:nvPr/>
          </p:nvSpPr>
          <p:spPr>
            <a:xfrm>
              <a:off x="533400" y="3590925"/>
              <a:ext cx="5626418" cy="1897380"/>
            </a:xfrm>
            <a:prstGeom prst="roundRect">
              <a:avLst>
                <a:gd name="adj" fmla="val 70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724275"/>
              <a:ext cx="47625" cy="16306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81050" y="380047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4507" y="383619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停顿占了多少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424053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4177665"/>
              <a:ext cx="45813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P1：13.5 个周期里有 12.5 个在等主存，约占 93%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6765" y="45758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4880" y="4512945"/>
              <a:ext cx="39149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P2：9 个周期里有 8 个在等主存，约占 89%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4573" y="4843939"/>
              <a:ext cx="48734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两台机器的时间大部分耗在 Cache 缺失上，这正是第（2）问加二级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Cache 的原因。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6464618" y="1524000"/>
            <a:ext cx="5193982" cy="1346835"/>
            <a:chOff x="6464618" y="1524000"/>
            <a:chExt cx="5193982" cy="1346835"/>
          </a:xfrm>
        </p:grpSpPr>
        <p:sp>
          <p:nvSpPr>
            <p:cNvPr id="31" name="Rectangle 31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6734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2579" y="1659731"/>
              <a:ext cx="280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712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68434" y="16597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每条指令平均时间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20674" y="2108359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66853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28975" y="2108359"/>
              <a:ext cx="538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ns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377553" y="2108359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13.5 × 0.2 = 2.7 ns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20674" y="255698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09012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81589" y="2556986"/>
              <a:ext cx="6332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 ns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279255" y="2430780"/>
              <a:ext cx="236982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377553" y="2556986"/>
              <a:ext cx="15034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× 0.25 = 2.25 ns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1524000"/>
              <a:ext cx="519398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95210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12196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6496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rd-2"/>
          <p:cNvGrpSpPr/>
          <p:nvPr/>
        </p:nvGrpSpPr>
        <p:grpSpPr>
          <a:xfrm>
            <a:off x="6464618" y="3061335"/>
            <a:ext cx="5193982" cy="2426970"/>
            <a:chOff x="6464618" y="3061335"/>
            <a:chExt cx="5193982" cy="2426970"/>
          </a:xfrm>
        </p:grpSpPr>
        <p:sp>
          <p:nvSpPr>
            <p:cNvPr id="52" name="Rectangle 52"/>
            <p:cNvSpPr/>
            <p:nvPr/>
          </p:nvSpPr>
          <p:spPr>
            <a:xfrm>
              <a:off x="6464618" y="3061335"/>
              <a:ext cx="5193982" cy="2426970"/>
            </a:xfrm>
            <a:prstGeom prst="roundRect">
              <a:avLst>
                <a:gd name="adj" fmla="val 54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74142" y="3194685"/>
              <a:ext cx="47625" cy="216027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12268" y="32708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03428" y="33066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13295" y="3306128"/>
              <a:ext cx="17925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比 P1 快 1.2 倍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04648" y="3667125"/>
              <a:ext cx="4330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 ÷ 2.25 = 1.2。基本 CPI 为 1、时钟周期等于命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中时间时，每条指令的平均时间正好等于 AMAT。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130" y="5991225"/>
              <a:ext cx="9676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易错：CPI 公式中的缺失代价要用周期数。直接代 100 ns 会算出 1.0 + 2.5% × 100 = 3.5 这样的错误结果。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911472" cy="909257"/>
            <a:chOff x="520446" y="342900"/>
            <a:chExt cx="10911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911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（2）P1 加二级 Cache：AMAT 0.825 ns，CPI 4.125，快约 3.27 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graph-1"/>
          <p:cNvGrpSpPr/>
          <p:nvPr/>
        </p:nvGrpSpPr>
        <p:grpSpPr>
          <a:xfrm>
            <a:off x="766762" y="2056448"/>
            <a:ext cx="5159693" cy="841534"/>
            <a:chOff x="766762" y="2056448"/>
            <a:chExt cx="5159693" cy="841534"/>
          </a:xfrm>
        </p:grpSpPr>
        <p:sp>
          <p:nvSpPr>
            <p:cNvPr id="7" name="Freeform 7"/>
            <p:cNvSpPr/>
            <p:nvPr/>
          </p:nvSpPr>
          <p:spPr>
            <a:xfrm>
              <a:off x="1875472" y="2217420"/>
              <a:ext cx="867728" cy="9525"/>
            </a:xfrm>
            <a:custGeom>
              <a:avLst/>
              <a:gdLst/>
              <a:ahLst/>
              <a:cxnLst/>
              <a:rect l="l" t="t" r="r" b="b"/>
              <a:pathLst>
                <a:path w="867728" h="9525">
                  <a:moveTo>
                    <a:pt x="0" y="0"/>
                  </a:moveTo>
                  <a:lnTo>
                    <a:pt x="86772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743200" y="21697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854768" y="2217420"/>
              <a:ext cx="867728" cy="9525"/>
            </a:xfrm>
            <a:custGeom>
              <a:avLst/>
              <a:gdLst/>
              <a:ahLst/>
              <a:cxnLst/>
              <a:rect l="l" t="t" r="r" b="b"/>
              <a:pathLst>
                <a:path w="867728" h="9525">
                  <a:moveTo>
                    <a:pt x="0" y="0"/>
                  </a:moveTo>
                  <a:lnTo>
                    <a:pt x="86772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722495" y="21697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6762" y="2056448"/>
              <a:ext cx="110871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838450" y="2056448"/>
              <a:ext cx="1016318" cy="320040"/>
            </a:xfrm>
            <a:prstGeom prst="roundRect">
              <a:avLst>
                <a:gd name="adj" fmla="val 29762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817745" y="2056448"/>
              <a:ext cx="1108710" cy="320040"/>
            </a:xfrm>
            <a:prstGeom prst="roundRect">
              <a:avLst>
                <a:gd name="adj" fmla="val 2976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362" y="2142172"/>
              <a:ext cx="9035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一级 0.2 ns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8621" y="2142172"/>
              <a:ext cx="7169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二级 5 ns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20344" y="2142172"/>
              <a:ext cx="9035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 100 ns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169795" y="2124075"/>
              <a:ext cx="375285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94171" y="2158841"/>
              <a:ext cx="3265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2.5%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149090" y="2124075"/>
              <a:ext cx="375285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173466" y="2158841"/>
              <a:ext cx="3265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03919" y="2677954"/>
              <a:ext cx="388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一级缺失的访存才查二级；两级都缺失的占全部访存 0.5%</a:t>
              </a:r>
            </a:p>
          </p:txBody>
        </p:sp>
      </p:grpSp>
      <p:grpSp>
        <p:nvGrpSpPr>
          <p:cNvPr id="36" name="c1-steps-2"/>
          <p:cNvGrpSpPr/>
          <p:nvPr/>
        </p:nvGrpSpPr>
        <p:grpSpPr>
          <a:xfrm>
            <a:off x="533400" y="3105150"/>
            <a:ext cx="5081016" cy="2010156"/>
            <a:chOff x="533400" y="3105150"/>
            <a:chExt cx="5081016" cy="2010156"/>
          </a:xfrm>
        </p:grpSpPr>
        <p:sp>
          <p:nvSpPr>
            <p:cNvPr id="23" name="Rectangle 23"/>
            <p:cNvSpPr/>
            <p:nvPr/>
          </p:nvSpPr>
          <p:spPr>
            <a:xfrm>
              <a:off x="666750" y="3248025"/>
              <a:ext cx="19050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33400" y="3105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27024" y="3178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33400" y="372522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7024" y="37990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33400" y="456723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7024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261" y="3138011"/>
              <a:ext cx="5234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404" y="3418522"/>
              <a:ext cx="45435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+ 2.5% × 5 + 0.5% × 100 = 0.2 + 0.125 + 0.5 = 0.825 ns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5261" y="3759041"/>
              <a:ext cx="3113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404" y="4039552"/>
              <a:ext cx="46680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 + 2.5% × (5 ÷ 0.2) + 0.5% × (100 ÷ 0.2) = 1.0 + 0.625 + 2.5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4.125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5261" y="460009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6404" y="4880610"/>
              <a:ext cx="26695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时钟周期不变，13.5 ÷ 4.125 ≈ 3.27</a:t>
              </a:r>
            </a:p>
          </p:txBody>
        </p:sp>
      </p:grpSp>
      <p:grpSp>
        <p:nvGrpSpPr>
          <p:cNvPr id="43" name="c1-callout-3"/>
          <p:cNvGrpSpPr/>
          <p:nvPr/>
        </p:nvGrpSpPr>
        <p:grpSpPr>
          <a:xfrm>
            <a:off x="533400" y="5292090"/>
            <a:ext cx="5626418" cy="756285"/>
            <a:chOff x="533400" y="5292090"/>
            <a:chExt cx="5626418" cy="756285"/>
          </a:xfrm>
        </p:grpSpPr>
        <p:sp>
          <p:nvSpPr>
            <p:cNvPr id="37" name="Rectangle 37"/>
            <p:cNvSpPr/>
            <p:nvPr/>
          </p:nvSpPr>
          <p:spPr>
            <a:xfrm>
              <a:off x="533400" y="5292090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570220"/>
              <a:ext cx="200026" cy="200026"/>
              <a:chOff x="738188" y="5570220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5702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6368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56702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511" y="5439251"/>
              <a:ext cx="471233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对照第（1）问：每条指令的存储器停顿从 12.5 个周期降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0.625 + 2.5 = 3.125 个周期，性能提升全部来自这里。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464618" y="1524000"/>
            <a:ext cx="5193982" cy="1777365"/>
            <a:chOff x="6464618" y="1524000"/>
            <a:chExt cx="5193982" cy="1777365"/>
          </a:xfrm>
        </p:grpSpPr>
        <p:sp>
          <p:nvSpPr>
            <p:cNvPr id="44" name="Rectangle 44"/>
            <p:cNvSpPr/>
            <p:nvPr/>
          </p:nvSpPr>
          <p:spPr>
            <a:xfrm>
              <a:off x="6464618" y="1524000"/>
              <a:ext cx="5193982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74142" y="1657350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706552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9771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99314" y="2100739"/>
              <a:ext cx="413524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原课件写作“AMAT = 0.2 + 2.5%×5 + 0.5%×100 = 8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ns”。三项之和是 0.825 ns。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00456" y="2688907"/>
              <a:ext cx="42108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验证：CPI × 时钟周期 = 4.125 × 0.2 = 0.825 ns，与 AMAT 相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同。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6464618" y="3486150"/>
            <a:ext cx="5193982" cy="1274445"/>
            <a:chOff x="6464618" y="3486150"/>
            <a:chExt cx="5193982" cy="1274445"/>
          </a:xfrm>
        </p:grpSpPr>
        <p:sp>
          <p:nvSpPr>
            <p:cNvPr id="51" name="Rectangle 51"/>
            <p:cNvSpPr/>
            <p:nvPr/>
          </p:nvSpPr>
          <p:spPr>
            <a:xfrm>
              <a:off x="6464618" y="3486150"/>
              <a:ext cx="5193982" cy="1274445"/>
            </a:xfrm>
            <a:prstGeom prst="roundRect">
              <a:avLst>
                <a:gd name="adj" fmla="val 1046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68452" y="36899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59613" y="3725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61214" y="4062889"/>
              <a:ext cx="446887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每条指令平均 0.825 ns：约为原来 2.7 ns 的 1/3.27，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也比 P2 的 2.25 ns 快约 2.73 倍。</a:t>
              </a:r>
            </a:p>
          </p:txBody>
        </p:sp>
      </p:grpSp>
      <p:grpSp>
        <p:nvGrpSpPr>
          <p:cNvPr id="62" name="c2-callout-3"/>
          <p:cNvGrpSpPr/>
          <p:nvPr/>
        </p:nvGrpSpPr>
        <p:grpSpPr>
          <a:xfrm>
            <a:off x="6464618" y="4946332"/>
            <a:ext cx="5193982" cy="1101090"/>
            <a:chOff x="6464618" y="4946332"/>
            <a:chExt cx="5193982" cy="1101090"/>
          </a:xfrm>
        </p:grpSpPr>
        <p:sp>
          <p:nvSpPr>
            <p:cNvPr id="56" name="Rectangle 56"/>
            <p:cNvSpPr/>
            <p:nvPr/>
          </p:nvSpPr>
          <p:spPr>
            <a:xfrm>
              <a:off x="6464618" y="4946332"/>
              <a:ext cx="5193982" cy="1101090"/>
            </a:xfrm>
            <a:prstGeom prst="roundRect">
              <a:avLst>
                <a:gd name="adj" fmla="val 1038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669405" y="5396865"/>
              <a:ext cx="200026" cy="200025"/>
              <a:chOff x="6669405" y="5396865"/>
              <a:chExt cx="200026" cy="200025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669405" y="53968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709144" y="54413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743859" y="55524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971729" y="5266849"/>
              <a:ext cx="411721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0.5% 是全局缺失率，直接乘主存时间；二级 Cache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 5 ns 只由一级缺失的 2.5% 访存承担。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84507" cy="909257"/>
            <a:chOff x="520446" y="342900"/>
            <a:chExt cx="76845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845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易错：二级缺失率是“全局”还是“局部”，算法不同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842635" cy="1775460"/>
            <a:chOff x="533400" y="1524000"/>
            <a:chExt cx="5842635" cy="17754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775460"/>
            </a:xfrm>
            <a:prstGeom prst="roundRect">
              <a:avLst>
                <a:gd name="adj" fmla="val 7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876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3343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两种缺失率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局部缺失率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= 二级缺失次数 ÷ 访问二级的次数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43173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375535"/>
              <a:ext cx="48657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全局缺失率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= 两级都缺失的次数 ÷ 全部访存次数 = 一级缺失率 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二级局部缺失率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8190" y="2931319"/>
              <a:ext cx="47231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本题 0.5% 是全局缺失率，对应二级局部缺失率 0.5% ÷ 2.5% = 20%。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28066" y="3474720"/>
            <a:ext cx="5847969" cy="1496949"/>
            <a:chOff x="528066" y="3474720"/>
            <a:chExt cx="5847969" cy="1496949"/>
          </a:xfrm>
        </p:grpSpPr>
        <p:sp>
          <p:nvSpPr>
            <p:cNvPr id="17" name="Rectangle 17"/>
            <p:cNvSpPr/>
            <p:nvPr/>
          </p:nvSpPr>
          <p:spPr>
            <a:xfrm>
              <a:off x="533400" y="3474720"/>
              <a:ext cx="5842635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6991" y="3599021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题给 0.5% 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07328" y="3599021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AMAT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669346" y="3599021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42925" y="3890010"/>
              <a:ext cx="126682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400478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全局缺失率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19288" y="4004786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+ 2.5% × 5 + 0.5% × 100 = 0.825 ns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79123" y="400478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4.125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814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8625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44105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局部缺失率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19288" y="4410551"/>
              <a:ext cx="30570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+ 2.5% × (5 + 0.5% × 100) = 0.3375 ns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37660" y="44105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1.6875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474720"/>
              <a:ext cx="5842635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814512" y="3474720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203508" y="3474720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8066" y="4766310"/>
              <a:ext cx="3424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2 行只用于对比，题目说明是局部缺失率时才这样算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680835" y="1524000"/>
            <a:ext cx="4977765" cy="1831658"/>
            <a:chOff x="6680835" y="1524000"/>
            <a:chExt cx="4977765" cy="1831658"/>
          </a:xfrm>
        </p:grpSpPr>
        <p:sp>
          <p:nvSpPr>
            <p:cNvPr id="35" name="Rectangle 35"/>
            <p:cNvSpPr/>
            <p:nvPr/>
          </p:nvSpPr>
          <p:spPr>
            <a:xfrm>
              <a:off x="6680835" y="1524000"/>
              <a:ext cx="4977765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0360" y="1657350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911340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02780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95032" y="1756410"/>
              <a:ext cx="22172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 P2 加同样的二级 Cache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919912" y="214693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75932" y="2090738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二级代价 5 ÷ 0.25 = 20 个周期，主存代价 400 个周期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919912" y="2448877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75932" y="2392680"/>
              <a:ext cx="37341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 = 1.0 + 2% × 20 + 0.5% × 400 = 1.0 + 0.4 +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= 3.4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919912" y="300894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75932" y="2952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性能比 9 ÷ 3.4 ≈ 2.65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680835" y="3530918"/>
            <a:ext cx="4977765" cy="1060132"/>
            <a:chOff x="6680835" y="3530918"/>
            <a:chExt cx="4977765" cy="1060132"/>
          </a:xfrm>
        </p:grpSpPr>
        <p:sp>
          <p:nvSpPr>
            <p:cNvPr id="47" name="Rectangle 47"/>
            <p:cNvSpPr/>
            <p:nvPr/>
          </p:nvSpPr>
          <p:spPr>
            <a:xfrm>
              <a:off x="6680835" y="3530918"/>
              <a:ext cx="4977765" cy="1060132"/>
            </a:xfrm>
            <a:prstGeom prst="roundRect">
              <a:avLst>
                <a:gd name="adj" fmla="val 125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690360" y="3664268"/>
              <a:ext cx="47625" cy="79343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911340" y="3723322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86778" y="375761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两种写法等价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formula13"/>
                <p:cNvSpPr txBox="1">
                  <a:spLocks noGrp="1"/>
                </p:cNvSpPr>
                <p:nvPr/>
              </p:nvSpPr>
              <p:spPr>
                <a:xfrm>
                  <a:off x="6911340" y="4057650"/>
                  <a:ext cx="4554855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r>
                                  <m:rPr>
                                    <m:nor m:val="on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局部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nor m:val="on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主存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全局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主存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8" name="c2-callout-3"/>
          <p:cNvGrpSpPr/>
          <p:nvPr/>
        </p:nvGrpSpPr>
        <p:grpSpPr>
          <a:xfrm>
            <a:off x="6680835" y="4766310"/>
            <a:ext cx="4977765" cy="729615"/>
            <a:chOff x="6680835" y="4766310"/>
            <a:chExt cx="4977765" cy="729615"/>
          </a:xfrm>
        </p:grpSpPr>
        <p:sp>
          <p:nvSpPr>
            <p:cNvPr id="53" name="Rectangle 53"/>
            <p:cNvSpPr/>
            <p:nvPr/>
          </p:nvSpPr>
          <p:spPr>
            <a:xfrm>
              <a:off x="6680835" y="4766310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885623" y="5031107"/>
              <a:ext cx="200023" cy="200023"/>
              <a:chOff x="6885623" y="5031107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885623" y="50311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018973" y="50977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7188327" y="4912042"/>
              <a:ext cx="403421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一级缺失率越高、主存代价折算的周期数越多，二级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Cache 的收益越大：P1 约 3.27 倍，P2 约 2.65 倍。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9" name="Rectangle 5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892" y="6023610"/>
              <a:ext cx="8737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记法：局部缺失率要乘在一级缺失率后面（括号嵌套）；全局缺失率已经包含了一级缺失，直接乘主存时间。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自测题（一）：地址变换与查表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36387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中访问虚拟地址 0004088H，物理地址是多少？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命中吗？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7967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 000H，TLB 第 0 组没有标记 000H，查页表得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页号 06H，物理地址 064088H。标记 0640H，88H 的行号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= 4；第 4 行有效且标记相同，命中。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2223135"/>
            <a:chOff x="533400" y="3937635"/>
            <a:chExt cx="5410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474440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的 Cache 若改为 2 路组相联（仍为 8 行），物理地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址怎样划分？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46824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÷ 2 = 4 组，组号 2 位（第 6–5 位）；块内地址 5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位（第 4–0 位）；标记 24 − 2 − 5 = 17 位（第 23–7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位）。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1426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中访问虚拟地址 0041234H 会发生什么？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 004H：TLB 第 0 组没有标记 002H，TLB 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失；页表第 4 项有效位为 0，缺页，由操作系统调入该页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后重新执行。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2508885"/>
            <a:chOff x="6248400" y="3651885"/>
            <a:chExt cx="5410200" cy="25088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2508885"/>
            </a:xfrm>
            <a:prstGeom prst="roundRect">
              <a:avLst>
                <a:gd name="adj" fmla="val 5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634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TLB 缺失时一定缺页吗？Cache 缺失要不要操作系统参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5967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不一定缺页，页表项可能有效，装入 TLB 即可。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缺失由硬件直接访问主存并调块，不需要操作系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41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021" y="407194"/>
              <a:ext cx="2959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 · 例3 多级 Cache 的性能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自测题（二）：命中率与性能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48389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若只读单元 0–4095，仍重复 10 次，加速比是多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720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 64 块，每组正好 4 块，只有第 1 遍缺失 64 次。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 = 40960 + 64 × 10 = 41600，加速比 = 409600 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41600 ≈ 9.85。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2223135"/>
            <a:chOff x="533400" y="3937635"/>
            <a:chExt cx="5410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389334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中若 P1 的一级缺失率降到 2%（没有二级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Cache），总 CPI 和 AMAT 是多少？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4434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 = 1.0 + 2% × 500 = 11；AMAT = 0.2 + 2% 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= 2.2 ns。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2223135"/>
            <a:chOff x="6248400" y="1524000"/>
            <a:chExt cx="5410200" cy="222313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72392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的 Cache 若改为 8 路组相联（8 组），第 2 遍起每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遍缺失几次？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731770"/>
              <a:ext cx="47586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块号 j 进第 j mod 8 组，第 0–3 组各有 9 块抢 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行，每遍各缺失 9 次，共 36 次。总时间 47440，加速比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9.17。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937635"/>
            <a:ext cx="5410200" cy="2223135"/>
            <a:chOff x="6248400" y="3937635"/>
            <a:chExt cx="5410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6248400" y="393763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524375"/>
              <a:ext cx="463343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中 P1 加二级 Cache 后，若主存访问时间变为 200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ns，CPI 是多少？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5145405"/>
              <a:ext cx="44824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主存代价 200 ÷ 0.2 = 1000 个周期，CPI = 1.0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2.5% × 25 + 0.5% × 1000 = 1.0 + 0.625 + 5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6.625。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402652" cy="909257"/>
            <a:chOff x="520446" y="342900"/>
            <a:chExt cx="1402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第5章 存储器例题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6059805" cy="2400300"/>
            <a:chOff x="533400" y="1524000"/>
            <a:chExt cx="6059805" cy="2400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366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2278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解题要点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地址位数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64055" y="2045494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容量写成 2 的幂再取指数；按字编址时单位是字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19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241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4455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地址变换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64055" y="2445544"/>
              <a:ext cx="3385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虚页号查 TLB 或页表得到物理页号，页内地址照抄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193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2845594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命中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64055" y="2845594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中间字段选行或选组，有效位为 1 且标记相同才命中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194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1242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2456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缺失统计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64055" y="3245644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按组列出块号；组内块数多于行数时才会反复替换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194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36456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性能计算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64055" y="3645694"/>
              <a:ext cx="3426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AMAT 直接加时间；CPI 中缺失代价要折算成周期数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605980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862138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table-2"/>
          <p:cNvGrpSpPr/>
          <p:nvPr/>
        </p:nvGrpSpPr>
        <p:grpSpPr>
          <a:xfrm>
            <a:off x="533400" y="4093845"/>
            <a:ext cx="6059805" cy="1600200"/>
            <a:chOff x="533400" y="4093845"/>
            <a:chExt cx="6059805" cy="1600200"/>
          </a:xfrm>
        </p:grpSpPr>
        <p:sp>
          <p:nvSpPr>
            <p:cNvPr id="29" name="Rectangle 29"/>
            <p:cNvSpPr/>
            <p:nvPr/>
          </p:nvSpPr>
          <p:spPr>
            <a:xfrm>
              <a:off x="533400" y="4093845"/>
              <a:ext cx="605980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0773" y="42152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79901" y="421528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0555" y="4615339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79232" y="4615339"/>
              <a:ext cx="49801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16、行号 3、块内 5；04C050H 命中；2DBAC6H 在主存但不在 Cache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8891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893945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5015389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479232" y="5015389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5、组号 4、块内 6；缺失 248 次，命中率 99.43%，加速比 9.46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2892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0555" y="5415439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479232" y="5415439"/>
              <a:ext cx="46914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AMAT 2.7 / 2.25 ns，CPI 13.5 / 9；P1 加二级后 0.825 ns、4.125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093845"/>
              <a:ext cx="605980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377315" y="409384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rd-1"/>
          <p:cNvGrpSpPr/>
          <p:nvPr/>
        </p:nvGrpSpPr>
        <p:grpSpPr>
          <a:xfrm>
            <a:off x="6898005" y="1524000"/>
            <a:ext cx="4760595" cy="4170045"/>
            <a:chOff x="6898005" y="1524000"/>
            <a:chExt cx="4760595" cy="4170045"/>
          </a:xfrm>
        </p:grpSpPr>
        <p:sp>
          <p:nvSpPr>
            <p:cNvPr id="44" name="Rectangle 44"/>
            <p:cNvSpPr/>
            <p:nvPr/>
          </p:nvSpPr>
          <p:spPr>
            <a:xfrm>
              <a:off x="6898005" y="1524000"/>
              <a:ext cx="4760595" cy="4170045"/>
            </a:xfrm>
            <a:prstGeom prst="roundRect">
              <a:avLst>
                <a:gd name="adj" fmla="val 31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07530" y="1657350"/>
              <a:ext cx="47625" cy="39033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22795" y="1710690"/>
              <a:ext cx="182784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173760" y="1743551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本讲义对原课件的更正与补充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131367" y="211074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87387" y="2054542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例1(2)：主存块数应为 2¹⁹（第 11 页）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131367" y="241173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287387" y="2355532"/>
              <a:ext cx="35190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例1(4)：补答是否在 Cache 中（第 14 页）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31367" y="271176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87387" y="2655570"/>
              <a:ext cx="29033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例1(5)：补充完整解答（第 15 页）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31367" y="301180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87387" y="2955608"/>
              <a:ext cx="35939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例2：68 块应由 4352 ÷ 64 得出（第 20 页）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131367" y="331184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87387" y="3255645"/>
              <a:ext cx="35035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例3(2)：AMAT 应为 0.825 ns（第 27 页）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9" name="Rectangle 5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892" y="6028373"/>
              <a:ext cx="7464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考试做这类题，先写出各字段的位数和位置，再逐级查表，每步写出二进制拆分和比较结果。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第5章 存储器例题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oa_ch5ex">
  <a:themeElements>
    <a:clrScheme name="coa_ch5ex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oa_ch5ex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a_ch5ex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2026-09-23T06:06:40Z</dcterms:created>
  <dcterms:modified xsi:type="dcterms:W3CDTF">2026-09-23T06:06:40Z</dcterms:modified>
  <cp:category/>
  <cp:contentStatus/>
</cp:coreProperties>
</file>