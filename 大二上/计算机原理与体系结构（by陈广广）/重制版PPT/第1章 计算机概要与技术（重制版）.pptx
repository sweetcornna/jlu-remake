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coa_ch1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coa_ch1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957a82b37f718404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cdc3a8ac48f5221.png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5651a6fb3f95826b.png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rcRect l="26" t="0" r="27" b="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4561332" cy="3437763"/>
            <a:chOff x="666750" y="1619250"/>
            <a:chExt cx="4561332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2444115" cy="3429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88319" y="1718310"/>
              <a:ext cx="22390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计算机原理与体系结构 · 第1章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4561332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计算机概要与技术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43799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计算机由什么组成，性能怎样度量和比较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八个伟大思想与抽象层次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五大部件与芯片制造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6808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CPU 时间与 CPI 计算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8104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功耗墙与 Amdahl 定律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5692978" cy="205359"/>
            <a:chOff x="680466" y="6192202"/>
            <a:chExt cx="5692978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56929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自学复习版｜据吉林大学《计算机原理与体系结构》第1章课件（2023 秋）整理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8969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7064" y="407194"/>
              <a:ext cx="12014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计算机革命与八个伟大思想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39410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摩尔定律、计算机分类、后 PC 时代、八个设计思想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程序之下与计算机部件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33890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软件层次、三级语言、五大部件、ISA 与 ABI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制造技术与成本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集成电路的发展、芯片制造流程、成本与成品率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35522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响应时间与吞吐率、CPU 时间、CPI、性能公式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功耗墙与多处理器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动态功耗公式、单核性能放缓、多核编程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基准测试、谬误与陷阱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35448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SPEC、Amdahl 定律、低负载功耗、MIPS 指标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402455"/>
            <a:chOff x="7114222" y="1524000"/>
            <a:chExt cx="4544378" cy="440245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02455"/>
            </a:xfrm>
            <a:prstGeom prst="roundRect">
              <a:avLst>
                <a:gd name="adj" fmla="val 3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3575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说出计算机的五大部件、八个伟大思想，以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及 ISA、ABI 的含义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731770"/>
              <a:ext cx="36156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用“CPU 时间 = 指令数 × CPI × 时钟周期”计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算并比较两台计算机的性能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352800"/>
              <a:ext cx="37680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按指令类别算加权平均 CPI，判断哪段代码更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973830"/>
              <a:ext cx="34250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用动态功耗公式和 Amdahl 定律做估算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37197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4309110"/>
              <a:ext cx="35871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解释为什么 MIPS 和低负载功耗容易误导判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断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852160" cy="3351847"/>
            <a:chOff x="667512" y="1835468"/>
            <a:chExt cx="5852160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85216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计算机革命与八个伟大思想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5698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计算机为什么发展得这么快，设计者靠哪些思想提升性能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6302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 计算机革命与计算机分类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5996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1.1.2 后 PC 时代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465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1.1.3 本书要回答的问题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34379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 计算机体系结构中的八个伟大思想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64652" cy="909257"/>
            <a:chOff x="520446" y="342900"/>
            <a:chExt cx="8264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26802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0553" y="407194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计算机革命与八个伟大思想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646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摩尔定律让计算越来越便宜，许多新应用由此变得可行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4544378" cy="1866900"/>
            <a:chOff x="533400" y="1524000"/>
            <a:chExt cx="4544378" cy="18669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544378" cy="18669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0020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335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技术基础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65922" y="1768792"/>
              <a:ext cx="25579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摩尔定律（Moore's Law）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38157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集成电路上可容纳的资源（晶体管数）每 18–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 个月翻一番。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4573" y="2747486"/>
              <a:ext cx="391439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同样的价钱能买到的计算能力持续快速增长，这是计算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机革命的基础。</a:t>
              </a:r>
            </a:p>
          </p:txBody>
        </p:sp>
      </p:grpSp>
      <p:grpSp>
        <p:nvGrpSpPr>
          <p:cNvPr id="21" name="c1-callout-2"/>
          <p:cNvGrpSpPr/>
          <p:nvPr/>
        </p:nvGrpSpPr>
        <p:grpSpPr>
          <a:xfrm>
            <a:off x="533400" y="3581400"/>
            <a:ext cx="4544378" cy="1059180"/>
            <a:chOff x="533400" y="3581400"/>
            <a:chExt cx="4544378" cy="1059180"/>
          </a:xfrm>
        </p:grpSpPr>
        <p:sp>
          <p:nvSpPr>
            <p:cNvPr id="15" name="Rectangle 15"/>
            <p:cNvSpPr/>
            <p:nvPr/>
          </p:nvSpPr>
          <p:spPr>
            <a:xfrm>
              <a:off x="533400" y="3581400"/>
              <a:ext cx="4544378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38188" y="4010978"/>
              <a:ext cx="200026" cy="200026"/>
              <a:chOff x="738188" y="4010978"/>
              <a:chExt cx="200026" cy="200026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738188" y="401097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38200" y="407765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27088" y="411099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040130" y="3729990"/>
              <a:ext cx="35204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摩尔定律是 Intel 创始人之一戈登·摩尔对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工艺发展速度的经验观察，并不是物理定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律。</a:t>
              </a:r>
            </a:p>
          </p:txBody>
        </p:sp>
      </p:grpSp>
      <p:grpSp>
        <p:nvGrpSpPr>
          <p:cNvPr id="28" name="c1-callout-3"/>
          <p:cNvGrpSpPr/>
          <p:nvPr/>
        </p:nvGrpSpPr>
        <p:grpSpPr>
          <a:xfrm>
            <a:off x="533400" y="4831080"/>
            <a:ext cx="4544378" cy="1059180"/>
            <a:chOff x="533400" y="4831080"/>
            <a:chExt cx="4544378" cy="1059180"/>
          </a:xfrm>
        </p:grpSpPr>
        <p:sp>
          <p:nvSpPr>
            <p:cNvPr id="22" name="Rectangle 22"/>
            <p:cNvSpPr/>
            <p:nvPr/>
          </p:nvSpPr>
          <p:spPr>
            <a:xfrm>
              <a:off x="533400" y="4831080"/>
              <a:ext cx="4544378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38188" y="5260658"/>
              <a:ext cx="200026" cy="200025"/>
              <a:chOff x="738188" y="5260658"/>
              <a:chExt cx="200026" cy="200025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738188" y="526065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777926" y="530510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12642" y="541623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1040130" y="4979670"/>
              <a:ext cx="364426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按 18–24 个月翻一番估算，10 年（120 个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月）翻 5 到 6.7 次，资源增至约 32 到 100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倍。</a:t>
              </a:r>
            </a:p>
          </p:txBody>
        </p:sp>
      </p:grpSp>
      <p:grpSp>
        <p:nvGrpSpPr>
          <p:cNvPr id="51" name="c2-table-1"/>
          <p:cNvGrpSpPr/>
          <p:nvPr/>
        </p:nvGrpSpPr>
        <p:grpSpPr>
          <a:xfrm>
            <a:off x="5376862" y="1524000"/>
            <a:ext cx="6281738" cy="4288632"/>
            <a:chOff x="5376862" y="1524000"/>
            <a:chExt cx="6281738" cy="4288632"/>
          </a:xfrm>
        </p:grpSpPr>
        <p:sp>
          <p:nvSpPr>
            <p:cNvPr id="29" name="Rectangle 29"/>
            <p:cNvSpPr/>
            <p:nvPr/>
          </p:nvSpPr>
          <p:spPr>
            <a:xfrm>
              <a:off x="5382578" y="1524000"/>
              <a:ext cx="6276022" cy="48768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888355" y="166306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新应用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117205" y="166306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为什么离不开计算机的进步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489258" y="241744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车载计算机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120890" y="2150745"/>
              <a:ext cx="4206240" cy="8267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微处理器的价格和性能在 20 世纪 80 年代初大幅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改善后，用计算机控制发动机、提升安全才变得划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82578" y="302799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82578" y="3032760"/>
              <a:ext cx="6276022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489258" y="31718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手机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120890" y="3171825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便宜、低功耗的处理器让人随时随地通信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82578" y="351567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489258" y="379285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人类基因组计划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120890" y="3659505"/>
              <a:ext cx="425386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测定和分析 DNA 序列的计算量巨大，计算设备变便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宜后才能大规模开展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82578" y="427005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382578" y="4274820"/>
              <a:ext cx="6276022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489258" y="441388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万维网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120890" y="441388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大量联网计算机提供和访问信息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382578" y="475773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489258" y="50349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搜索引擎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120890" y="4901565"/>
              <a:ext cx="4206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网上内容越来越多，要靠大规模计算快速找到相关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信息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382578" y="1524000"/>
              <a:ext cx="6276022" cy="39928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7009448" y="1524000"/>
              <a:ext cx="9525" cy="39928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376862" y="5592604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原课件列举的五类新应用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26802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0553" y="407194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计算机革命与八个伟大思想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四类计算机：用途不同，设计时受到的制约也不同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c1-table-1"/>
          <p:cNvGrpSpPr/>
          <p:nvPr/>
        </p:nvGrpSpPr>
        <p:grpSpPr>
          <a:xfrm>
            <a:off x="533400" y="1524000"/>
            <a:ext cx="11125200" cy="2335530"/>
            <a:chOff x="533400" y="1524000"/>
            <a:chExt cx="11125200" cy="233553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2481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366838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类别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815840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特点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973502" y="1652588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主要制约与说明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5889" y="2076450"/>
              <a:ext cx="10708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个人计算机 PC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638044" y="2076450"/>
              <a:ext cx="43738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使用最广泛，运行大量第三方软件，为单个用户提供良好性能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33894" y="207645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受性价比制约，价格要低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6791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372678"/>
              <a:ext cx="11125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5889" y="250126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服务器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638044" y="2501265"/>
              <a:ext cx="30815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通过网络访问；容量大、性能好、可靠性高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33894" y="2501265"/>
              <a:ext cx="38892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功能和价格的伸缩范围很大，从小型服务器到整间机房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79273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5889" y="303276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超级计算机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638044" y="3032760"/>
              <a:ext cx="32430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服务器中的最高端，用于高端科学和工程计算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533894" y="2926080"/>
              <a:ext cx="38221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代表最高的计算能力，但在整个计算机市场中所占份额很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42995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434715"/>
              <a:ext cx="11125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5889" y="3563302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嵌入式计算机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638044" y="3563302"/>
              <a:ext cx="45354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作为部件和硬件集成在一起，如汽车、电视机、飞机里的计算机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533894" y="3563302"/>
              <a:ext cx="32430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通常面向单一应用，成本或功耗受到严格限制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1524000"/>
              <a:ext cx="11125200" cy="233553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2530792" y="1524000"/>
              <a:ext cx="9525" cy="2335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7426642" y="1524000"/>
              <a:ext cx="9525" cy="2335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8" name="c1-compare-2"/>
          <p:cNvGrpSpPr/>
          <p:nvPr/>
        </p:nvGrpSpPr>
        <p:grpSpPr>
          <a:xfrm>
            <a:off x="533400" y="4039552"/>
            <a:ext cx="11125200" cy="1295400"/>
            <a:chOff x="533400" y="4039552"/>
            <a:chExt cx="11125200" cy="1295400"/>
          </a:xfrm>
        </p:grpSpPr>
        <p:sp>
          <p:nvSpPr>
            <p:cNvPr id="32" name="Rectangle 32"/>
            <p:cNvSpPr/>
            <p:nvPr/>
          </p:nvSpPr>
          <p:spPr>
            <a:xfrm>
              <a:off x="533400" y="4039552"/>
              <a:ext cx="5391150" cy="1295400"/>
            </a:xfrm>
            <a:prstGeom prst="roundRect">
              <a:avLst>
                <a:gd name="adj" fmla="val 102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542925" y="4172902"/>
              <a:ext cx="47625" cy="102870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62381" y="4261009"/>
              <a:ext cx="235053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通用计算机（PC、服务器）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77240" y="4656772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33831" y="4597241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运行用户自己选装的各种软件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77240" y="4974908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33831" y="4914424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性能和价格是主要卖点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67450" y="4039552"/>
              <a:ext cx="5391150" cy="1295400"/>
            </a:xfrm>
            <a:prstGeom prst="roundRect">
              <a:avLst>
                <a:gd name="adj" fmla="val 102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6276975" y="4172902"/>
              <a:ext cx="47625" cy="102870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96431" y="4261009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嵌入式计算机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511290" y="4656772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667881" y="4597241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只运行固定的一个或一组应用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511290" y="4974908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667881" y="4914424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用户往往意识不到里面有计算机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5934075" y="4525328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004415" y="4621530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55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49" name="Rectangle 49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738188" y="6011228"/>
              <a:ext cx="200026" cy="200025"/>
              <a:chOff x="738188" y="6011228"/>
              <a:chExt cx="200026" cy="200025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738188" y="60112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777926" y="60556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12642" y="61668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040511" y="6011704"/>
              <a:ext cx="47934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嵌入式计算机是数量最多、应用范围最广的一类计算机。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38969" cy="909257"/>
            <a:chOff x="520446" y="342900"/>
            <a:chExt cx="753896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26802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0553" y="407194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计算机革命与八个伟大思想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3896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 PC 时代：个人移动设备在手里，云计算在远端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410200" cy="1701165"/>
            <a:chOff x="533400" y="1524000"/>
            <a:chExt cx="5410200" cy="17011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701165"/>
            </a:xfrm>
            <a:prstGeom prst="roundRect">
              <a:avLst>
                <a:gd name="adj" fmla="val 78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43446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383982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5659" y="1769269"/>
              <a:ext cx="1275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个人移动设备 PMD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6765" y="217360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4880" y="211074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由电池供电，可以无线连接到网络上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50888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44602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价格只有几百美元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284416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278130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例：智能手机、平板电脑、电子眼镜</a:t>
              </a:r>
            </a:p>
          </p:txBody>
        </p:sp>
      </p:grpSp>
      <p:grpSp>
        <p:nvGrpSpPr>
          <p:cNvPr id="28" name="c1-card-2"/>
          <p:cNvGrpSpPr/>
          <p:nvPr/>
        </p:nvGrpSpPr>
        <p:grpSpPr>
          <a:xfrm>
            <a:off x="533400" y="3415665"/>
            <a:ext cx="5410200" cy="2272665"/>
            <a:chOff x="533400" y="3415665"/>
            <a:chExt cx="5410200" cy="2272665"/>
          </a:xfrm>
        </p:grpSpPr>
        <p:sp>
          <p:nvSpPr>
            <p:cNvPr id="18" name="Rectangle 18"/>
            <p:cNvSpPr/>
            <p:nvPr/>
          </p:nvSpPr>
          <p:spPr>
            <a:xfrm>
              <a:off x="533400" y="3415665"/>
              <a:ext cx="5410200" cy="2272665"/>
            </a:xfrm>
            <a:prstGeom prst="roundRect">
              <a:avLst>
                <a:gd name="adj" fmla="val 586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42925" y="3549015"/>
              <a:ext cx="47625" cy="200596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81050" y="3625215"/>
              <a:ext cx="1830705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26153" y="3660934"/>
              <a:ext cx="17404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云计算 Cloud Computing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86765" y="406527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44880" y="4002405"/>
              <a:ext cx="4255294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仓储规模计算机 WSC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：把成千上万台服务器放在一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起，作为一台大计算机使用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86765" y="468630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44880" y="4623435"/>
              <a:ext cx="4515802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软件即服务 SaaS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：软件在云端运行，用户通过网络使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用服务，不必在本地安装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786765" y="530733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44880" y="5244465"/>
              <a:ext cx="296579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典型的提供者：Amazon、Google</a:t>
              </a:r>
            </a:p>
          </p:txBody>
        </p:sp>
      </p:grpSp>
      <p:grpSp>
        <p:nvGrpSpPr>
          <p:cNvPr id="52" name="c2-graph-1"/>
          <p:cNvGrpSpPr/>
          <p:nvPr/>
        </p:nvGrpSpPr>
        <p:grpSpPr>
          <a:xfrm>
            <a:off x="6273470" y="2106930"/>
            <a:ext cx="5126050" cy="2223707"/>
            <a:chOff x="6273470" y="2106930"/>
            <a:chExt cx="5126050" cy="2223707"/>
          </a:xfrm>
        </p:grpSpPr>
        <p:sp>
          <p:nvSpPr>
            <p:cNvPr id="29" name="Freeform 29"/>
            <p:cNvSpPr/>
            <p:nvPr/>
          </p:nvSpPr>
          <p:spPr>
            <a:xfrm>
              <a:off x="7692390" y="2460308"/>
              <a:ext cx="737235" cy="270510"/>
            </a:xfrm>
            <a:custGeom>
              <a:avLst/>
              <a:gdLst/>
              <a:ahLst/>
              <a:cxnLst/>
              <a:rect l="l" t="t" r="r" b="b"/>
              <a:pathLst>
                <a:path w="737235" h="270510">
                  <a:moveTo>
                    <a:pt x="0" y="0"/>
                  </a:moveTo>
                  <a:lnTo>
                    <a:pt x="737235" y="27051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8413432" y="2687002"/>
              <a:ext cx="105728" cy="88582"/>
            </a:xfrm>
            <a:custGeom>
              <a:avLst/>
              <a:gdLst/>
              <a:ahLst/>
              <a:cxnLst/>
              <a:rect l="l" t="t" r="r" b="b"/>
              <a:pathLst>
                <a:path w="105728" h="88582">
                  <a:moveTo>
                    <a:pt x="105728" y="77152"/>
                  </a:moveTo>
                  <a:lnTo>
                    <a:pt x="0" y="88582"/>
                  </a:lnTo>
                  <a:lnTo>
                    <a:pt x="3238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7602855" y="2415540"/>
              <a:ext cx="105727" cy="88582"/>
            </a:xfrm>
            <a:custGeom>
              <a:avLst/>
              <a:gdLst/>
              <a:ahLst/>
              <a:cxnLst/>
              <a:rect l="l" t="t" r="r" b="b"/>
              <a:pathLst>
                <a:path w="105727" h="88582">
                  <a:moveTo>
                    <a:pt x="0" y="11430"/>
                  </a:moveTo>
                  <a:lnTo>
                    <a:pt x="105727" y="0"/>
                  </a:lnTo>
                  <a:lnTo>
                    <a:pt x="73342" y="88582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7692390" y="3117532"/>
              <a:ext cx="737235" cy="270510"/>
            </a:xfrm>
            <a:custGeom>
              <a:avLst/>
              <a:gdLst/>
              <a:ahLst/>
              <a:cxnLst/>
              <a:rect l="l" t="t" r="r" b="b"/>
              <a:pathLst>
                <a:path w="737235" h="270510">
                  <a:moveTo>
                    <a:pt x="0" y="270510"/>
                  </a:moveTo>
                  <a:lnTo>
                    <a:pt x="73723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8413432" y="3072765"/>
              <a:ext cx="105728" cy="88582"/>
            </a:xfrm>
            <a:custGeom>
              <a:avLst/>
              <a:gdLst/>
              <a:ahLst/>
              <a:cxnLst/>
              <a:rect l="l" t="t" r="r" b="b"/>
              <a:pathLst>
                <a:path w="105728" h="88582">
                  <a:moveTo>
                    <a:pt x="105728" y="11430"/>
                  </a:moveTo>
                  <a:lnTo>
                    <a:pt x="32385" y="885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4" name="Freeform 34"/>
            <p:cNvSpPr/>
            <p:nvPr/>
          </p:nvSpPr>
          <p:spPr>
            <a:xfrm>
              <a:off x="7602855" y="3344228"/>
              <a:ext cx="105727" cy="88582"/>
            </a:xfrm>
            <a:custGeom>
              <a:avLst/>
              <a:gdLst/>
              <a:ahLst/>
              <a:cxnLst/>
              <a:rect l="l" t="t" r="r" b="b"/>
              <a:pathLst>
                <a:path w="105727" h="88582">
                  <a:moveTo>
                    <a:pt x="0" y="77152"/>
                  </a:moveTo>
                  <a:lnTo>
                    <a:pt x="73342" y="0"/>
                  </a:lnTo>
                  <a:lnTo>
                    <a:pt x="105727" y="88582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9505950" y="2924175"/>
              <a:ext cx="369570" cy="9525"/>
            </a:xfrm>
            <a:custGeom>
              <a:avLst/>
              <a:gdLst/>
              <a:ahLst/>
              <a:cxnLst/>
              <a:rect l="l" t="t" r="r" b="b"/>
              <a:pathLst>
                <a:path w="369570" h="9525">
                  <a:moveTo>
                    <a:pt x="0" y="0"/>
                  </a:moveTo>
                  <a:lnTo>
                    <a:pt x="36957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9875520" y="287655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9410700" y="287655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549390" y="2106930"/>
              <a:ext cx="1238250" cy="320040"/>
            </a:xfrm>
            <a:prstGeom prst="roundRect">
              <a:avLst>
                <a:gd name="adj" fmla="val 29762"/>
              </a:avLst>
            </a:prstGeom>
            <a:solidFill>
              <a:srgbClr val="E6EFF9"/>
            </a:solidFill>
            <a:ln w="17145">
              <a:solidFill>
                <a:srgbClr val="1F5FA8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549390" y="3421380"/>
              <a:ext cx="1238250" cy="320040"/>
            </a:xfrm>
            <a:prstGeom prst="roundRect">
              <a:avLst>
                <a:gd name="adj" fmla="val 29762"/>
              </a:avLst>
            </a:prstGeom>
            <a:solidFill>
              <a:srgbClr val="E6EFF9"/>
            </a:solidFill>
            <a:ln w="17145">
              <a:solidFill>
                <a:srgbClr val="1F5FA8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8496300" y="2764155"/>
              <a:ext cx="914400" cy="320040"/>
            </a:xfrm>
            <a:prstGeom prst="roundRect">
              <a:avLst>
                <a:gd name="adj" fmla="val 29762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9970770" y="2495550"/>
              <a:ext cx="1428750" cy="857250"/>
            </a:xfrm>
            <a:prstGeom prst="roundRect">
              <a:avLst>
                <a:gd name="adj" fmla="val 11111"/>
              </a:avLst>
            </a:prstGeom>
            <a:solidFill>
              <a:srgbClr val="1F5FA8"/>
            </a:solidFill>
            <a:ln w="17145">
              <a:solidFill>
                <a:srgbClr val="1F5FA8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839331" y="219265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智能手机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839331" y="350710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平板电脑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705088" y="284988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互联网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163297" y="2849880"/>
              <a:ext cx="10436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WSC 数据中心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7898130" y="2503170"/>
              <a:ext cx="32480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924127" y="253698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无线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7898130" y="3160395"/>
              <a:ext cx="32480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924127" y="319420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无线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273470" y="4125278"/>
              <a:ext cx="17900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应用的一部分在 PMD 上运行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0043732" y="369665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另一部分在云上运行</a:t>
              </a:r>
            </a:p>
          </p:txBody>
        </p:sp>
      </p:grpSp>
      <p:grpSp>
        <p:nvGrpSpPr>
          <p:cNvPr id="58" name="c2-callout-2"/>
          <p:cNvGrpSpPr/>
          <p:nvPr/>
        </p:nvGrpSpPr>
        <p:grpSpPr>
          <a:xfrm>
            <a:off x="6248400" y="4572000"/>
            <a:ext cx="5410200" cy="782955"/>
            <a:chOff x="6248400" y="4572000"/>
            <a:chExt cx="5410200" cy="782955"/>
          </a:xfrm>
        </p:grpSpPr>
        <p:sp>
          <p:nvSpPr>
            <p:cNvPr id="53" name="Rectangle 53"/>
            <p:cNvSpPr/>
            <p:nvPr/>
          </p:nvSpPr>
          <p:spPr>
            <a:xfrm>
              <a:off x="6248400" y="4572000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6453188" y="4863467"/>
              <a:ext cx="200023" cy="200023"/>
              <a:chOff x="6453188" y="4863467"/>
              <a:chExt cx="200023" cy="200023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453188" y="486346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586538" y="493014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755130" y="4720590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开发者通常把一个应用拆开：一部分在个人移动设备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上运行，一部分在云上运行。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26802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0553" y="407194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计算机革命与八个伟大思想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本书要回答的问题：从程序到硬件，性能由谁决定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3" name="c1-bullets-1"/>
          <p:cNvGrpSpPr/>
          <p:nvPr/>
        </p:nvGrpSpPr>
        <p:grpSpPr>
          <a:xfrm>
            <a:off x="525780" y="1548765"/>
            <a:ext cx="4514850" cy="2312670"/>
            <a:chOff x="525780" y="1548765"/>
            <a:chExt cx="4514850" cy="23126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学完本书应能回答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533400" y="1889760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95249" y="193205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4390" y="1903095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高级语言程序怎样翻译成机器语言，硬件怎样执行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33400" y="2520315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95249" y="256260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34390" y="2533650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软件和硬件之间的接口是什么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2865120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95249" y="290741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34390" y="2878455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哪些因素决定程序的性能，怎样改进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33400" y="3209925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95249" y="325221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34390" y="322326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硬件设计者用哪些技术改进性能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533400" y="3554730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95249" y="359702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4390" y="356806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什么是并行处理</a:t>
              </a:r>
            </a:p>
          </p:txBody>
        </p:sp>
      </p:grpSp>
      <p:grpSp>
        <p:nvGrpSpPr>
          <p:cNvPr id="29" name="c1-callout-2"/>
          <p:cNvGrpSpPr/>
          <p:nvPr/>
        </p:nvGrpSpPr>
        <p:grpSpPr>
          <a:xfrm>
            <a:off x="533400" y="3992880"/>
            <a:ext cx="4760595" cy="1059180"/>
            <a:chOff x="533400" y="3992880"/>
            <a:chExt cx="4760595" cy="1059180"/>
          </a:xfrm>
        </p:grpSpPr>
        <p:sp>
          <p:nvSpPr>
            <p:cNvPr id="24" name="Rectangle 24"/>
            <p:cNvSpPr/>
            <p:nvPr/>
          </p:nvSpPr>
          <p:spPr>
            <a:xfrm>
              <a:off x="533400" y="3992880"/>
              <a:ext cx="4760595" cy="1059180"/>
            </a:xfrm>
            <a:prstGeom prst="roundRect">
              <a:avLst>
                <a:gd name="adj" fmla="val 10791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738188" y="4422460"/>
              <a:ext cx="200023" cy="200023"/>
              <a:chOff x="738188" y="4422460"/>
              <a:chExt cx="200023" cy="200023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738188" y="44224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871538" y="44891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1040130" y="4141470"/>
              <a:ext cx="38252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贯穿全书的一条线：受内存容量和速度等条件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制约，性能提升要靠处理器的并行和存储器的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层次结构。</a:t>
              </a:r>
            </a:p>
          </p:txBody>
        </p:sp>
      </p:grpSp>
      <p:grpSp>
        <p:nvGrpSpPr>
          <p:cNvPr id="49" name="c2-table-1"/>
          <p:cNvGrpSpPr/>
          <p:nvPr/>
        </p:nvGrpSpPr>
        <p:grpSpPr>
          <a:xfrm>
            <a:off x="5593080" y="1524000"/>
            <a:ext cx="6065520" cy="3534252"/>
            <a:chOff x="5593080" y="1524000"/>
            <a:chExt cx="6065520" cy="3534252"/>
          </a:xfrm>
        </p:grpSpPr>
        <p:sp>
          <p:nvSpPr>
            <p:cNvPr id="30" name="Rectangle 30"/>
            <p:cNvSpPr/>
            <p:nvPr/>
          </p:nvSpPr>
          <p:spPr>
            <a:xfrm>
              <a:off x="5598795" y="1524000"/>
              <a:ext cx="6059805" cy="48768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096952" y="166306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软件或硬件部分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924925" y="166306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决定性能的哪个方面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705475" y="228409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29588" y="2150745"/>
              <a:ext cx="31013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源程序语句的数量，以及执行 I/O 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作的数量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598795" y="276129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598795" y="2766060"/>
              <a:ext cx="6059805" cy="7543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705475" y="2905125"/>
              <a:ext cx="21107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程序语言、编译器和体系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129588" y="303847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每条源语句对应的机器指令数量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598795" y="351567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705475" y="365950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处理器和存储器系统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129588" y="365950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指令执行的速度快慢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598795" y="400335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5598795" y="4008120"/>
              <a:ext cx="6059805" cy="7543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705475" y="4147185"/>
              <a:ext cx="2109788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I/O 系统（硬件和操作系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统）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129588" y="4280535"/>
              <a:ext cx="22379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I/O 操作执行的速度快慢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598795" y="1524000"/>
              <a:ext cx="6059805" cy="32385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8018145" y="1524000"/>
              <a:ext cx="9525" cy="32385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593080" y="4838224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理解程序性能：四个层面各管一段</a:t>
              </a:r>
            </a:p>
          </p:txBody>
        </p:sp>
      </p:grpSp>
      <p:grpSp>
        <p:nvGrpSpPr>
          <p:cNvPr id="56" name="c2-callout-2"/>
          <p:cNvGrpSpPr/>
          <p:nvPr/>
        </p:nvGrpSpPr>
        <p:grpSpPr>
          <a:xfrm>
            <a:off x="5598795" y="5204460"/>
            <a:ext cx="6059805" cy="782955"/>
            <a:chOff x="5598795" y="5204460"/>
            <a:chExt cx="6059805" cy="782955"/>
          </a:xfrm>
        </p:grpSpPr>
        <p:sp>
          <p:nvSpPr>
            <p:cNvPr id="50" name="Rectangle 50"/>
            <p:cNvSpPr/>
            <p:nvPr/>
          </p:nvSpPr>
          <p:spPr>
            <a:xfrm>
              <a:off x="5598795" y="5204460"/>
              <a:ext cx="605980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5803583" y="5495925"/>
              <a:ext cx="200026" cy="200025"/>
              <a:chOff x="5803583" y="5495925"/>
              <a:chExt cx="200026" cy="200025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5803583" y="549592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5843321" y="554037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5878037" y="565150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6105525" y="5353050"/>
              <a:ext cx="4968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第四部分的性能公式会把这些因素落到三个量上：指令数、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CPI、时钟周期。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26802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0553" y="407194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计算机革命与八个伟大思想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八个伟大思想：计算机设计中反复使用的方法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9" name="c1-table-1"/>
          <p:cNvGrpSpPr/>
          <p:nvPr/>
        </p:nvGrpSpPr>
        <p:grpSpPr>
          <a:xfrm>
            <a:off x="533400" y="1524000"/>
            <a:ext cx="11125200" cy="4266248"/>
            <a:chOff x="533400" y="1524000"/>
            <a:chExt cx="11125200" cy="426624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55297" y="16597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#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07863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思想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2865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含义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14440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5297" y="222170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97483" y="222170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面向摩尔定律的设计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33966" y="2108359"/>
              <a:ext cx="50523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设计要花好几年，要按项目完成时的工艺水平来设计，而不是按开始时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096566" y="2108359"/>
              <a:ext cx="22887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预估几年后芯片上可用的晶体管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6431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64795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55297" y="278368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197483" y="278368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使用抽象简化设计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33966" y="2783681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用层次化的模型描述系统，低层细节对高层隐藏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096566" y="2783681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高级语言、指令集体系结构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09276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55297" y="323230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97483" y="3232309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加速大概率事件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533966" y="3232309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优化常见情况比优化罕见情况更能提高整体性能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096566" y="3232309"/>
              <a:ext cx="20089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Amdahl 定律（第六部分）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54139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3546158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55297" y="368093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97483" y="3680936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通过并行提高性能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533966" y="3680936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多个部件同时处理多项工作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096566" y="368093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多核处理器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399002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55297" y="413051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97483" y="413051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通过流水线提高性能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533966" y="4130516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把工作分成若干阶段，各阶段像流水线一样重叠进行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096566" y="4130516"/>
              <a:ext cx="8849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流水线 CPU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443865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533400" y="4443412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5297" y="45791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97483" y="457914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通过预测提高性能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533966" y="4579144"/>
              <a:ext cx="50100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先按猜测执行；猜对的概率高且猜错后恢复代价不大时，平均更快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096566" y="45791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分支预测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33400" y="488727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55297" y="502777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97483" y="502777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存储器层次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533966" y="5027771"/>
              <a:ext cx="46654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快、小、每位贵的存储器在上层，慢、大、每位便宜的在下层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096566" y="5027771"/>
              <a:ext cx="15260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Cache、主存、磁盘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33400" y="53368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533400" y="534162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55297" y="547639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97483" y="547639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通过冗余提高可靠性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3533966" y="5476399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配备冗余部件，某个部件失效时由冗余部件接替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096566" y="5476399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磁盘阵列、双电源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33400" y="1524000"/>
              <a:ext cx="11125200" cy="426624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1084898" y="1524000"/>
              <a:ext cx="9525" cy="42662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3421380" y="1524000"/>
              <a:ext cx="9525" cy="42662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8983980" y="1524000"/>
              <a:ext cx="9525" cy="42662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26802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0553" y="407194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计算机革命与八个伟大思想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流水线和存储器层次：两个思想的直观例子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2" name="c1-table-1"/>
          <p:cNvGrpSpPr/>
          <p:nvPr/>
        </p:nvGrpSpPr>
        <p:grpSpPr>
          <a:xfrm>
            <a:off x="527685" y="1524000"/>
            <a:ext cx="6065520" cy="2246472"/>
            <a:chOff x="527685" y="1524000"/>
            <a:chExt cx="6065520" cy="224647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8768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27710" y="16630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时间单位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63875" y="166306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33520" y="166306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103165" y="166306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072810" y="166306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042455" y="166306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40080" y="2150745"/>
              <a:ext cx="6629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批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1754505" y="2021205"/>
              <a:ext cx="950595" cy="468630"/>
            </a:xfrm>
            <a:prstGeom prst="rect">
              <a:avLst/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2121218" y="215074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90862" y="215074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93795" y="2021205"/>
              <a:ext cx="950595" cy="46863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060507" y="215074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叠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249459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" y="2499360"/>
              <a:ext cx="605980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0080" y="2638425"/>
              <a:ext cx="6629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 批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2724150" y="2508885"/>
              <a:ext cx="950595" cy="468630"/>
            </a:xfrm>
            <a:prstGeom prst="rect">
              <a:avLst/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090862" y="263842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洗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060507" y="263842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烘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4663440" y="2508885"/>
              <a:ext cx="950595" cy="46863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030152" y="263842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叠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298227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0080" y="3126105"/>
              <a:ext cx="6629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3 批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3693795" y="2996565"/>
              <a:ext cx="950595" cy="468630"/>
            </a:xfrm>
            <a:prstGeom prst="rect">
              <a:avLst/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4060507" y="312610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洗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030152" y="312610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烘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633085" y="2996565"/>
              <a:ext cx="950595" cy="46863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999798" y="312610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叠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1524000"/>
              <a:ext cx="6059805" cy="195072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1740218" y="1524000"/>
              <a:ext cx="9525" cy="19507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2709862" y="1524000"/>
              <a:ext cx="9525" cy="19507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3679508" y="1524000"/>
              <a:ext cx="9525" cy="19507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4649152" y="1524000"/>
              <a:ext cx="9525" cy="19507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5618798" y="1524000"/>
              <a:ext cx="9525" cy="19507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27685" y="3550444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例：洗 3 批衣服，每批要洗、烘、叠 3 个阶段，各占 1 个时间单位</a:t>
              </a:r>
            </a:p>
          </p:txBody>
        </p:sp>
      </p:grpSp>
      <p:grpSp>
        <p:nvGrpSpPr>
          <p:cNvPr id="48" name="c1-callout-2"/>
          <p:cNvGrpSpPr/>
          <p:nvPr/>
        </p:nvGrpSpPr>
        <p:grpSpPr>
          <a:xfrm>
            <a:off x="533400" y="3916680"/>
            <a:ext cx="6059805" cy="1059180"/>
            <a:chOff x="533400" y="3916680"/>
            <a:chExt cx="6059805" cy="1059180"/>
          </a:xfrm>
        </p:grpSpPr>
        <p:sp>
          <p:nvSpPr>
            <p:cNvPr id="43" name="Rectangle 43"/>
            <p:cNvSpPr/>
            <p:nvPr/>
          </p:nvSpPr>
          <p:spPr>
            <a:xfrm>
              <a:off x="533400" y="3916680"/>
              <a:ext cx="6059805" cy="1059180"/>
            </a:xfrm>
            <a:prstGeom prst="roundRect">
              <a:avLst>
                <a:gd name="adj" fmla="val 10791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738188" y="4346258"/>
              <a:ext cx="200026" cy="200026"/>
              <a:chOff x="738188" y="4346258"/>
              <a:chExt cx="200026" cy="20002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43462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04863" y="442404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040130" y="4065270"/>
              <a:ext cx="493966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流水线方式 5 个时间单位做完；一批做完再做下一批要 3 ×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3 = 9 个。每批本身没有变快，变快的是单位时间完成的批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数。</a:t>
              </a:r>
            </a:p>
          </p:txBody>
        </p:sp>
      </p:grpSp>
      <p:grpSp>
        <p:nvGrpSpPr>
          <p:cNvPr id="55" name="c1-callout-3"/>
          <p:cNvGrpSpPr/>
          <p:nvPr/>
        </p:nvGrpSpPr>
        <p:grpSpPr>
          <a:xfrm>
            <a:off x="533400" y="5166360"/>
            <a:ext cx="6059805" cy="782955"/>
            <a:chOff x="533400" y="5166360"/>
            <a:chExt cx="6059805" cy="782955"/>
          </a:xfrm>
        </p:grpSpPr>
        <p:sp>
          <p:nvSpPr>
            <p:cNvPr id="49" name="Rectangle 49"/>
            <p:cNvSpPr/>
            <p:nvPr/>
          </p:nvSpPr>
          <p:spPr>
            <a:xfrm>
              <a:off x="533400" y="5166360"/>
              <a:ext cx="605980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738188" y="5457825"/>
              <a:ext cx="200026" cy="200025"/>
              <a:chOff x="738188" y="5457825"/>
              <a:chExt cx="200026" cy="200025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738188" y="545782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777926" y="550227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12642" y="561340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040130" y="5314950"/>
              <a:ext cx="50730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各阶段耗时不同时，流水线的节拍由最慢的阶段决定。第4章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的流水线 CPU 也要尽量让各阶段耗时相近。</a:t>
              </a:r>
            </a:p>
          </p:txBody>
        </p:sp>
      </p:grpSp>
      <p:grpSp>
        <p:nvGrpSpPr>
          <p:cNvPr id="66" name="c2-flow-1"/>
          <p:cNvGrpSpPr/>
          <p:nvPr/>
        </p:nvGrpSpPr>
        <p:grpSpPr>
          <a:xfrm>
            <a:off x="7230428" y="1781175"/>
            <a:ext cx="4094798" cy="2439352"/>
            <a:chOff x="7230428" y="1781175"/>
            <a:chExt cx="4094798" cy="2439352"/>
          </a:xfrm>
        </p:grpSpPr>
        <p:sp>
          <p:nvSpPr>
            <p:cNvPr id="56" name="Freeform 56"/>
            <p:cNvSpPr/>
            <p:nvPr/>
          </p:nvSpPr>
          <p:spPr>
            <a:xfrm>
              <a:off x="9278302" y="2219325"/>
              <a:ext cx="9525" cy="409575"/>
            </a:xfrm>
            <a:custGeom>
              <a:avLst/>
              <a:gdLst/>
              <a:ahLst/>
              <a:cxnLst/>
              <a:rect l="l" t="t" r="r" b="b"/>
              <a:pathLst>
                <a:path w="9525" h="409575">
                  <a:moveTo>
                    <a:pt x="0" y="0"/>
                  </a:moveTo>
                  <a:lnTo>
                    <a:pt x="0" y="4095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57" name="Freeform 57"/>
            <p:cNvSpPr/>
            <p:nvPr/>
          </p:nvSpPr>
          <p:spPr>
            <a:xfrm>
              <a:off x="9225915" y="26289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8" name="Freeform 58"/>
            <p:cNvSpPr/>
            <p:nvPr/>
          </p:nvSpPr>
          <p:spPr>
            <a:xfrm>
              <a:off x="9278302" y="3171825"/>
              <a:ext cx="9525" cy="314325"/>
            </a:xfrm>
            <a:custGeom>
              <a:avLst/>
              <a:gdLst/>
              <a:ahLst/>
              <a:cxnLst/>
              <a:rect l="l" t="t" r="r" b="b"/>
              <a:pathLst>
                <a:path w="9525" h="314325">
                  <a:moveTo>
                    <a:pt x="0" y="0"/>
                  </a:moveTo>
                  <a:lnTo>
                    <a:pt x="0" y="3143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9225915" y="348615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7230428" y="1781175"/>
              <a:ext cx="4094798" cy="438150"/>
            </a:xfrm>
            <a:prstGeom prst="roundRect">
              <a:avLst>
                <a:gd name="adj" fmla="val 21739"/>
              </a:avLst>
            </a:prstGeom>
            <a:solidFill>
              <a:srgbClr val="E6EFF9"/>
            </a:solidFill>
            <a:ln w="19050">
              <a:solidFill>
                <a:srgbClr val="1F5FA8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7230428" y="2733675"/>
              <a:ext cx="409479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7230428" y="3590925"/>
              <a:ext cx="4094798" cy="629602"/>
            </a:xfrm>
            <a:prstGeom prst="roundRect">
              <a:avLst>
                <a:gd name="adj" fmla="val 15129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521379" y="1911191"/>
              <a:ext cx="351384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Cache（SRAM）：最快、容量最小、每位最贵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708718" y="2863691"/>
              <a:ext cx="11391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主存（DRAM）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402386" y="3706654"/>
              <a:ext cx="375183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二级存储（闪存、磁盘）：最慢、容量最大、每位最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便宜</a:t>
              </a:r>
            </a:p>
          </p:txBody>
        </p:sp>
      </p:grpSp>
      <p:grpSp>
        <p:nvGrpSpPr>
          <p:cNvPr id="73" name="c2-callout-2"/>
          <p:cNvGrpSpPr/>
          <p:nvPr/>
        </p:nvGrpSpPr>
        <p:grpSpPr>
          <a:xfrm>
            <a:off x="6898005" y="4572000"/>
            <a:ext cx="4760595" cy="1059180"/>
            <a:chOff x="6898005" y="4572000"/>
            <a:chExt cx="4760595" cy="1059180"/>
          </a:xfrm>
        </p:grpSpPr>
        <p:sp>
          <p:nvSpPr>
            <p:cNvPr id="67" name="Rectangle 67"/>
            <p:cNvSpPr/>
            <p:nvPr/>
          </p:nvSpPr>
          <p:spPr>
            <a:xfrm>
              <a:off x="6898005" y="4572000"/>
              <a:ext cx="4760595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1" name="Group 71"/>
            <p:cNvGrpSpPr/>
            <p:nvPr/>
          </p:nvGrpSpPr>
          <p:grpSpPr>
            <a:xfrm>
              <a:off x="7102793" y="5001578"/>
              <a:ext cx="200026" cy="200025"/>
              <a:chOff x="7102793" y="5001578"/>
              <a:chExt cx="200026" cy="200025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7102793" y="500157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7142531" y="504602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7177247" y="515715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2" name="TextBox 72"/>
            <p:cNvSpPr txBox="1"/>
            <p:nvPr/>
          </p:nvSpPr>
          <p:spPr>
            <a:xfrm>
              <a:off x="7404735" y="4720590"/>
              <a:ext cx="38252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把常用的数据放在上层，平均访问速度接近最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快的一层，每位的平均价格接近最便宜的一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层。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4" name="TextBox 74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579745" cy="3351847"/>
            <a:chOff x="667512" y="1835468"/>
            <a:chExt cx="5579745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88289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程序之下与计算机部件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5698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高级语言程序怎样变成硬件动作，硬件又由哪些部分组成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2360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 程序之下：软件层次与三级语言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30356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1.4 五大部件、I/O 设备与处理器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5483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抽象：ISA 与 ABI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数据存储与网络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程序之下与计算机部件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程序之下：应用软件、系统软件、硬件三个层次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graph-1"/>
          <p:cNvGrpSpPr/>
          <p:nvPr/>
        </p:nvGrpSpPr>
        <p:grpSpPr>
          <a:xfrm>
            <a:off x="1091565" y="1619250"/>
            <a:ext cx="3429000" cy="3429000"/>
            <a:chOff x="1091565" y="1619250"/>
            <a:chExt cx="3429000" cy="3429000"/>
          </a:xfrm>
        </p:grpSpPr>
        <p:sp>
          <p:nvSpPr>
            <p:cNvPr id="7" name="Ellipse 7"/>
            <p:cNvSpPr/>
            <p:nvPr/>
          </p:nvSpPr>
          <p:spPr>
            <a:xfrm>
              <a:off x="1091565" y="1619250"/>
              <a:ext cx="3429000" cy="3429000"/>
            </a:xfrm>
            <a:prstGeom prst="ellipse">
              <a:avLst/>
            </a:prstGeom>
            <a:solidFill>
              <a:srgbClr val="E6EFF9"/>
            </a:solidFill>
            <a:ln w="17145">
              <a:solidFill>
                <a:srgbClr val="1F5FA8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82115" y="2209800"/>
              <a:ext cx="2247900" cy="22479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2272665" y="2800350"/>
              <a:ext cx="1066800" cy="1066800"/>
            </a:xfrm>
            <a:prstGeom prst="ellipse">
              <a:avLst/>
            </a:prstGeom>
            <a:solidFill>
              <a:srgbClr val="1F5FA8"/>
            </a:solidFill>
            <a:ln w="17145">
              <a:solidFill>
                <a:srgbClr val="1F5FA8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638425" y="325945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硬件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454961" y="178450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应用软件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454961" y="239982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系统软件</a:t>
              </a:r>
            </a:p>
          </p:txBody>
        </p:sp>
      </p:grpSp>
      <p:grpSp>
        <p:nvGrpSpPr>
          <p:cNvPr id="25" name="c2-kv-1"/>
          <p:cNvGrpSpPr/>
          <p:nvPr/>
        </p:nvGrpSpPr>
        <p:grpSpPr>
          <a:xfrm>
            <a:off x="5374958" y="1548765"/>
            <a:ext cx="6283642" cy="1895475"/>
            <a:chOff x="5374958" y="1548765"/>
            <a:chExt cx="6283642" cy="1895475"/>
          </a:xfrm>
        </p:grpSpPr>
        <p:sp>
          <p:nvSpPr>
            <p:cNvPr id="14" name="TextBox 14"/>
            <p:cNvSpPr txBox="1"/>
            <p:nvPr/>
          </p:nvSpPr>
          <p:spPr>
            <a:xfrm>
              <a:off x="5374958" y="15487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应用软件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416992" y="1548765"/>
              <a:ext cx="4457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用高级语言编写的程序，如浏览器、文字处理软件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82578" y="186880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374958" y="198882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编译程序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16992" y="1988820"/>
              <a:ext cx="50634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属于系统软件，把高级语言程序翻译成机器语言（指令）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82578" y="2308860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374958" y="24288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操作系统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416992" y="2428875"/>
              <a:ext cx="4777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属于系统软件，提供各种服务和监控：处理基本的输入输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出、分配外存和内存、让多个程序安全地共享计算机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82578" y="303085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374958" y="315087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硬件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16992" y="3150870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处理器、存储器、输入和输出设备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5382578" y="3575685"/>
            <a:ext cx="6276022" cy="1316355"/>
            <a:chOff x="5382578" y="3575685"/>
            <a:chExt cx="6276022" cy="1316355"/>
          </a:xfrm>
        </p:grpSpPr>
        <p:sp>
          <p:nvSpPr>
            <p:cNvPr id="26" name="Rectangle 26"/>
            <p:cNvSpPr/>
            <p:nvPr/>
          </p:nvSpPr>
          <p:spPr>
            <a:xfrm>
              <a:off x="5382578" y="3575685"/>
              <a:ext cx="6276022" cy="1316355"/>
            </a:xfrm>
            <a:prstGeom prst="roundRect">
              <a:avLst>
                <a:gd name="adj" fmla="val 1013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592128" y="3785235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670486" y="382095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这就是抽象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584508" y="4162425"/>
              <a:ext cx="553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复杂的高层操作经过几个软件层次，被逐步解释或翻译成简单的计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算机指令。每一层只需要知道下一层提供的接口。</a:t>
              </a:r>
            </a:p>
          </p:txBody>
        </p:sp>
      </p:grpSp>
      <p:grpSp>
        <p:nvGrpSpPr>
          <p:cNvPr id="37" name="c2-callout-3"/>
          <p:cNvGrpSpPr/>
          <p:nvPr/>
        </p:nvGrpSpPr>
        <p:grpSpPr>
          <a:xfrm>
            <a:off x="5382578" y="5082540"/>
            <a:ext cx="6276022" cy="782955"/>
            <a:chOff x="5382578" y="5082540"/>
            <a:chExt cx="6276022" cy="782955"/>
          </a:xfrm>
        </p:grpSpPr>
        <p:sp>
          <p:nvSpPr>
            <p:cNvPr id="31" name="Rectangle 31"/>
            <p:cNvSpPr/>
            <p:nvPr/>
          </p:nvSpPr>
          <p:spPr>
            <a:xfrm>
              <a:off x="5382578" y="5082540"/>
              <a:ext cx="6276022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5587365" y="5374005"/>
              <a:ext cx="200026" cy="200025"/>
              <a:chOff x="5587365" y="5374005"/>
              <a:chExt cx="200026" cy="200025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5587365" y="537400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5627104" y="541845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5661819" y="552958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5889308" y="5231130"/>
              <a:ext cx="5349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例：浏览器（应用软件）要发送网页请求时，调用操作系统提供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的网络服务，操作系统再指挥网卡等硬件把数据发出去。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8" name="TextBox 38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程序之下与计算机部件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三级程序语言：高级语言、汇编语言、机器语言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table-1"/>
          <p:cNvGrpSpPr/>
          <p:nvPr/>
        </p:nvGrpSpPr>
        <p:grpSpPr>
          <a:xfrm>
            <a:off x="533400" y="1524000"/>
            <a:ext cx="6492240" cy="3017520"/>
            <a:chOff x="533400" y="1524000"/>
            <a:chExt cx="6492240" cy="301752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492240" cy="48768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07732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层次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466022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形式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128260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特点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0080" y="241744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高级语言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808797" y="2284095"/>
              <a:ext cx="1539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接近问题的语句，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 C、Java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56660" y="2150745"/>
              <a:ext cx="2872740" cy="8267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抽象级别最接近问题领域；程序员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效率高；换一种机器重新编译即可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运行，可移植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302799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3032760"/>
              <a:ext cx="6492240" cy="7543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0080" y="33051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汇编语言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808797" y="3171825"/>
              <a:ext cx="1539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指令的文本表示，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用助记符书写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756660" y="3171825"/>
              <a:ext cx="28727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与机器指令基本一一对应，便于人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阅读和书写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78237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0080" y="405955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机器语言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808797" y="405955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二进制数字（位）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56660" y="3926205"/>
              <a:ext cx="28727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指令和数据都用二进制编码，硬件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可以直接执行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524000"/>
              <a:ext cx="6492240" cy="301752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1697355" y="1524000"/>
              <a:ext cx="9525" cy="30175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3645218" y="1524000"/>
              <a:ext cx="9525" cy="30175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3" name="c1-callout-2"/>
          <p:cNvGrpSpPr/>
          <p:nvPr/>
        </p:nvGrpSpPr>
        <p:grpSpPr>
          <a:xfrm>
            <a:off x="533400" y="4732020"/>
            <a:ext cx="6492240" cy="782955"/>
            <a:chOff x="533400" y="4732020"/>
            <a:chExt cx="6492240" cy="782955"/>
          </a:xfrm>
        </p:grpSpPr>
        <p:sp>
          <p:nvSpPr>
            <p:cNvPr id="27" name="Rectangle 27"/>
            <p:cNvSpPr/>
            <p:nvPr/>
          </p:nvSpPr>
          <p:spPr>
            <a:xfrm>
              <a:off x="533400" y="4732020"/>
              <a:ext cx="649224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38188" y="5023485"/>
              <a:ext cx="200026" cy="200026"/>
              <a:chOff x="738188" y="5023485"/>
              <a:chExt cx="200026" cy="200026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738188" y="502348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38200" y="509016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27088" y="512349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040130" y="4880610"/>
              <a:ext cx="5539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存储器里的一串二进制位，单看它分不出是指令还是数据：指令与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数据都是二进制的。</a:t>
              </a:r>
            </a:p>
          </p:txBody>
        </p:sp>
      </p:grpSp>
      <p:grpSp>
        <p:nvGrpSpPr>
          <p:cNvPr id="52" name="c2-flow-1"/>
          <p:cNvGrpSpPr/>
          <p:nvPr/>
        </p:nvGrpSpPr>
        <p:grpSpPr>
          <a:xfrm>
            <a:off x="7633335" y="1704975"/>
            <a:ext cx="3722370" cy="3638550"/>
            <a:chOff x="7633335" y="1704975"/>
            <a:chExt cx="3722370" cy="3638550"/>
          </a:xfrm>
        </p:grpSpPr>
        <p:sp>
          <p:nvSpPr>
            <p:cNvPr id="34" name="Freeform 34"/>
            <p:cNvSpPr/>
            <p:nvPr/>
          </p:nvSpPr>
          <p:spPr>
            <a:xfrm>
              <a:off x="9494520" y="2143125"/>
              <a:ext cx="9525" cy="257175"/>
            </a:xfrm>
            <a:custGeom>
              <a:avLst/>
              <a:gdLst/>
              <a:ahLst/>
              <a:cxnLst/>
              <a:rect l="l" t="t" r="r" b="b"/>
              <a:pathLst>
                <a:path w="9525" h="257175">
                  <a:moveTo>
                    <a:pt x="0" y="0"/>
                  </a:moveTo>
                  <a:lnTo>
                    <a:pt x="0" y="2571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9442132" y="24003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9494520" y="2943225"/>
              <a:ext cx="9525" cy="257175"/>
            </a:xfrm>
            <a:custGeom>
              <a:avLst/>
              <a:gdLst/>
              <a:ahLst/>
              <a:cxnLst/>
              <a:rect l="l" t="t" r="r" b="b"/>
              <a:pathLst>
                <a:path w="9525" h="257175">
                  <a:moveTo>
                    <a:pt x="0" y="0"/>
                  </a:moveTo>
                  <a:lnTo>
                    <a:pt x="0" y="2571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9442132" y="32004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8" name="Freeform 38"/>
            <p:cNvSpPr/>
            <p:nvPr/>
          </p:nvSpPr>
          <p:spPr>
            <a:xfrm>
              <a:off x="9494520" y="3743325"/>
              <a:ext cx="9525" cy="257175"/>
            </a:xfrm>
            <a:custGeom>
              <a:avLst/>
              <a:gdLst/>
              <a:ahLst/>
              <a:cxnLst/>
              <a:rect l="l" t="t" r="r" b="b"/>
              <a:pathLst>
                <a:path w="9525" h="257175">
                  <a:moveTo>
                    <a:pt x="0" y="0"/>
                  </a:moveTo>
                  <a:lnTo>
                    <a:pt x="0" y="2571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9442132" y="40005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0" name="Freeform 40"/>
            <p:cNvSpPr/>
            <p:nvPr/>
          </p:nvSpPr>
          <p:spPr>
            <a:xfrm>
              <a:off x="9494520" y="4543425"/>
              <a:ext cx="9525" cy="257175"/>
            </a:xfrm>
            <a:custGeom>
              <a:avLst/>
              <a:gdLst/>
              <a:ahLst/>
              <a:cxnLst/>
              <a:rect l="l" t="t" r="r" b="b"/>
              <a:pathLst>
                <a:path w="9525" h="257175">
                  <a:moveTo>
                    <a:pt x="0" y="0"/>
                  </a:moveTo>
                  <a:lnTo>
                    <a:pt x="0" y="2571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9442132" y="48006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7633335" y="1704975"/>
              <a:ext cx="3722370" cy="438150"/>
            </a:xfrm>
            <a:prstGeom prst="roundRect">
              <a:avLst>
                <a:gd name="adj" fmla="val 21739"/>
              </a:avLst>
            </a:prstGeom>
            <a:solidFill>
              <a:srgbClr val="E6EFF9"/>
            </a:solidFill>
            <a:ln w="19050">
              <a:solidFill>
                <a:srgbClr val="1F5FA8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7633335" y="2505075"/>
              <a:ext cx="3722370" cy="43815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7633335" y="3305175"/>
              <a:ext cx="372237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7633335" y="4105275"/>
              <a:ext cx="3722370" cy="43815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6" name="Freeform 46"/>
            <p:cNvSpPr/>
            <p:nvPr/>
          </p:nvSpPr>
          <p:spPr>
            <a:xfrm>
              <a:off x="7633335" y="4905375"/>
              <a:ext cx="3722370" cy="438150"/>
            </a:xfrm>
            <a:custGeom>
              <a:avLst/>
              <a:gdLst/>
              <a:ahLst/>
              <a:cxnLst/>
              <a:rect l="l" t="t" r="r" b="b"/>
              <a:pathLst>
                <a:path w="3722370" h="438150">
                  <a:moveTo>
                    <a:pt x="133350" y="0"/>
                  </a:moveTo>
                  <a:lnTo>
                    <a:pt x="3722370" y="0"/>
                  </a:lnTo>
                  <a:lnTo>
                    <a:pt x="3589020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E6EFF9"/>
            </a:solidFill>
            <a:ln w="13335">
              <a:solidFill>
                <a:srgbClr val="1F5FA8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748720" y="1834991"/>
              <a:ext cx="14916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高级语言程序（C）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229573" y="263509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编译器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603066" y="3435191"/>
              <a:ext cx="17829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汇编语言程序（MIPS）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229573" y="423529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汇编器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712632" y="503539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二进制机器语言程序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088639" cy="909257"/>
            <a:chOff x="520446" y="342900"/>
            <a:chExt cx="408863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程序之下与计算机部件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08863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例：swap 过程的三种表示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4760595" cy="1719262"/>
            <a:chOff x="533400" y="1524000"/>
            <a:chExt cx="4760595" cy="171926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1719262"/>
            </a:xfrm>
            <a:prstGeom prst="roundRect">
              <a:avLst>
                <a:gd name="adj" fmla="val 554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14582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高级语言程序（C）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1576070" cy="1234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swap(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v[],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k)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{   </a:t>
              </a:r>
              <a:r>
                <a:rPr lang="en-US" sz="112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temp;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temp = v[k];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v[k] = v[k+1];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v[k+1] = temp;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4" name="c1-code-2"/>
          <p:cNvGrpSpPr/>
          <p:nvPr/>
        </p:nvGrpSpPr>
        <p:grpSpPr>
          <a:xfrm>
            <a:off x="533400" y="3433762"/>
            <a:ext cx="4760595" cy="1922145"/>
            <a:chOff x="533400" y="3433762"/>
            <a:chExt cx="4760595" cy="1922145"/>
          </a:xfrm>
        </p:grpSpPr>
        <p:sp>
          <p:nvSpPr>
            <p:cNvPr id="11" name="Rectangle 11"/>
            <p:cNvSpPr/>
            <p:nvPr/>
          </p:nvSpPr>
          <p:spPr>
            <a:xfrm>
              <a:off x="533400" y="3433762"/>
              <a:ext cx="4760595" cy="1922145"/>
            </a:xfrm>
            <a:prstGeom prst="roundRect">
              <a:avLst>
                <a:gd name="adj" fmla="val 495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797" y="3585686"/>
              <a:ext cx="241960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汇编语言程序（MIPS）：$4 = v，$5 = k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61035" y="3848576"/>
              <a:ext cx="3176270" cy="14373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swap: sll $2, $5, 2    # $2 = k × 4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add $2, $4, $2   # $2 = v[k] 的地址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lw  $15, 0($2)   # $15 = v[k]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lw  $16, 4($2)   # $16 = v[k+1]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sw  $16, 0($2)   # v[k] = $16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sw  $15, 4($2)   # v[k+1] = $15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jr  $31          # 返回</a:t>
              </a:r>
            </a:p>
          </p:txBody>
        </p:sp>
      </p:grpSp>
      <p:grpSp>
        <p:nvGrpSpPr>
          <p:cNvPr id="18" name="c2-code-1"/>
          <p:cNvGrpSpPr/>
          <p:nvPr/>
        </p:nvGrpSpPr>
        <p:grpSpPr>
          <a:xfrm>
            <a:off x="5598795" y="1524000"/>
            <a:ext cx="6059805" cy="1922145"/>
            <a:chOff x="5598795" y="1524000"/>
            <a:chExt cx="6059805" cy="1922145"/>
          </a:xfrm>
        </p:grpSpPr>
        <p:sp>
          <p:nvSpPr>
            <p:cNvPr id="15" name="Rectangle 15"/>
            <p:cNvSpPr/>
            <p:nvPr/>
          </p:nvSpPr>
          <p:spPr>
            <a:xfrm>
              <a:off x="5598795" y="1524000"/>
              <a:ext cx="6059805" cy="1922145"/>
            </a:xfrm>
            <a:prstGeom prst="roundRect">
              <a:avLst>
                <a:gd name="adj" fmla="val 495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727192" y="1675924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机器语言程序（按字段分开，右列为十六进制）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726430" y="1937861"/>
              <a:ext cx="3766566" cy="14373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000000 00000 00101 00010 00010 000000   00051080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000000 00100 00010 00010 00000 100000   00821020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100011 00010 01111 0000000000000000     8C4F0000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100011 00010 10000 0000000000000100     8C500004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101011 00010 10000 0000000000000000     AC500000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101011 00010 01111 0000000000000100     AC4F0004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000000 11111 00000 00000 00000 001000   03E00008</a:t>
              </a:r>
            </a:p>
          </p:txBody>
        </p:sp>
      </p:grpSp>
      <p:grpSp>
        <p:nvGrpSpPr>
          <p:cNvPr id="25" name="c2-card-2"/>
          <p:cNvGrpSpPr/>
          <p:nvPr/>
        </p:nvGrpSpPr>
        <p:grpSpPr>
          <a:xfrm>
            <a:off x="5598795" y="3636645"/>
            <a:ext cx="6059805" cy="2133600"/>
            <a:chOff x="5598795" y="3636645"/>
            <a:chExt cx="6059805" cy="2133600"/>
          </a:xfrm>
        </p:grpSpPr>
        <p:sp>
          <p:nvSpPr>
            <p:cNvPr id="19" name="Rectangle 19"/>
            <p:cNvSpPr/>
            <p:nvPr/>
          </p:nvSpPr>
          <p:spPr>
            <a:xfrm>
              <a:off x="5598795" y="3636645"/>
              <a:ext cx="6059805" cy="21336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5608320" y="3769995"/>
              <a:ext cx="47625" cy="186690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846445" y="384619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937606" y="388191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838825" y="4223385"/>
              <a:ext cx="52635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原课件（取自教材插图）第一条写作 muli $2, $5, 4，MIPS 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有这条指令；下方 7 行二进制除 jr $31 外，寄存器字段都和汇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编指令对不上。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839968" y="5126831"/>
              <a:ext cx="529615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这里用 sll $2, $5, 2（左移 2 位即乘 4）实现 k × 4，并按 R 型、I 型格式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重新编码。编码规则见第2章。</a:t>
              </a:r>
            </a:p>
          </p:txBody>
        </p:sp>
      </p:grpSp>
      <p:grpSp>
        <p:nvGrpSpPr>
          <p:cNvPr id="2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6" name="TextBox 26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程序之下与计算机部件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五大部件：输入、输出、存储器、数据通路、控制器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9" name="c1-graph-1"/>
          <p:cNvGrpSpPr/>
          <p:nvPr/>
        </p:nvGrpSpPr>
        <p:grpSpPr>
          <a:xfrm>
            <a:off x="741045" y="1636395"/>
            <a:ext cx="5129213" cy="3870007"/>
            <a:chOff x="741045" y="1636395"/>
            <a:chExt cx="5129213" cy="3870007"/>
          </a:xfrm>
        </p:grpSpPr>
        <p:sp>
          <p:nvSpPr>
            <p:cNvPr id="7" name="Freeform 7"/>
            <p:cNvSpPr/>
            <p:nvPr/>
          </p:nvSpPr>
          <p:spPr>
            <a:xfrm>
              <a:off x="1507808" y="2845118"/>
              <a:ext cx="1019175" cy="669608"/>
            </a:xfrm>
            <a:custGeom>
              <a:avLst/>
              <a:gdLst/>
              <a:ahLst/>
              <a:cxnLst/>
              <a:rect l="l" t="t" r="r" b="b"/>
              <a:pathLst>
                <a:path w="1019175" h="669608">
                  <a:moveTo>
                    <a:pt x="0" y="0"/>
                  </a:moveTo>
                  <a:lnTo>
                    <a:pt x="1019175" y="66960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500312" y="3475672"/>
              <a:ext cx="105728" cy="91440"/>
            </a:xfrm>
            <a:custGeom>
              <a:avLst/>
              <a:gdLst/>
              <a:ahLst/>
              <a:cxnLst/>
              <a:rect l="l" t="t" r="r" b="b"/>
              <a:pathLst>
                <a:path w="105728" h="91440">
                  <a:moveTo>
                    <a:pt x="105728" y="91440"/>
                  </a:moveTo>
                  <a:lnTo>
                    <a:pt x="0" y="79058"/>
                  </a:lnTo>
                  <a:lnTo>
                    <a:pt x="52388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587818" y="4319588"/>
              <a:ext cx="1018223" cy="669607"/>
            </a:xfrm>
            <a:custGeom>
              <a:avLst/>
              <a:gdLst/>
              <a:ahLst/>
              <a:cxnLst/>
              <a:rect l="l" t="t" r="r" b="b"/>
              <a:pathLst>
                <a:path w="1018223" h="669607">
                  <a:moveTo>
                    <a:pt x="1018223" y="0"/>
                  </a:moveTo>
                  <a:lnTo>
                    <a:pt x="0" y="66960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507808" y="4949190"/>
              <a:ext cx="105727" cy="92392"/>
            </a:xfrm>
            <a:custGeom>
              <a:avLst/>
              <a:gdLst/>
              <a:ahLst/>
              <a:cxnLst/>
              <a:rect l="l" t="t" r="r" b="b"/>
              <a:pathLst>
                <a:path w="105727" h="92392">
                  <a:moveTo>
                    <a:pt x="0" y="92392"/>
                  </a:moveTo>
                  <a:lnTo>
                    <a:pt x="53340" y="0"/>
                  </a:lnTo>
                  <a:lnTo>
                    <a:pt x="105727" y="8001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749040" y="3040380"/>
              <a:ext cx="882967" cy="547688"/>
            </a:xfrm>
            <a:custGeom>
              <a:avLst/>
              <a:gdLst/>
              <a:ahLst/>
              <a:cxnLst/>
              <a:rect l="l" t="t" r="r" b="b"/>
              <a:pathLst>
                <a:path w="882967" h="547688">
                  <a:moveTo>
                    <a:pt x="0" y="547688"/>
                  </a:moveTo>
                  <a:lnTo>
                    <a:pt x="882967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606290" y="2989898"/>
              <a:ext cx="106680" cy="90488"/>
            </a:xfrm>
            <a:custGeom>
              <a:avLst/>
              <a:gdLst/>
              <a:ahLst/>
              <a:cxnLst/>
              <a:rect l="l" t="t" r="r" b="b"/>
              <a:pathLst>
                <a:path w="106680" h="90488">
                  <a:moveTo>
                    <a:pt x="106680" y="0"/>
                  </a:moveTo>
                  <a:lnTo>
                    <a:pt x="50482" y="90488"/>
                  </a:lnTo>
                  <a:lnTo>
                    <a:pt x="0" y="9525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830002" y="4348162"/>
              <a:ext cx="802005" cy="498158"/>
            </a:xfrm>
            <a:custGeom>
              <a:avLst/>
              <a:gdLst/>
              <a:ahLst/>
              <a:cxnLst/>
              <a:rect l="l" t="t" r="r" b="b"/>
              <a:pathLst>
                <a:path w="802005" h="498158">
                  <a:moveTo>
                    <a:pt x="802005" y="498158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749040" y="4298632"/>
              <a:ext cx="106680" cy="90488"/>
            </a:xfrm>
            <a:custGeom>
              <a:avLst/>
              <a:gdLst/>
              <a:ahLst/>
              <a:cxnLst/>
              <a:rect l="l" t="t" r="r" b="b"/>
              <a:pathLst>
                <a:path w="106680" h="90488">
                  <a:moveTo>
                    <a:pt x="0" y="0"/>
                  </a:moveTo>
                  <a:lnTo>
                    <a:pt x="106680" y="9525"/>
                  </a:lnTo>
                  <a:lnTo>
                    <a:pt x="56197" y="90488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4606290" y="4806315"/>
              <a:ext cx="106680" cy="90488"/>
            </a:xfrm>
            <a:custGeom>
              <a:avLst/>
              <a:gdLst/>
              <a:ahLst/>
              <a:cxnLst/>
              <a:rect l="l" t="t" r="r" b="b"/>
              <a:pathLst>
                <a:path w="106680" h="90488">
                  <a:moveTo>
                    <a:pt x="106680" y="90488"/>
                  </a:moveTo>
                  <a:lnTo>
                    <a:pt x="0" y="80962"/>
                  </a:lnTo>
                  <a:lnTo>
                    <a:pt x="5048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5203508" y="2989898"/>
              <a:ext cx="9525" cy="1811655"/>
            </a:xfrm>
            <a:custGeom>
              <a:avLst/>
              <a:gdLst/>
              <a:ahLst/>
              <a:cxnLst/>
              <a:rect l="l" t="t" r="r" b="b"/>
              <a:pathLst>
                <a:path w="9525" h="1811655">
                  <a:moveTo>
                    <a:pt x="0" y="0"/>
                  </a:moveTo>
                  <a:lnTo>
                    <a:pt x="0" y="1811655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17" name="Freeform 17"/>
            <p:cNvSpPr/>
            <p:nvPr/>
          </p:nvSpPr>
          <p:spPr>
            <a:xfrm>
              <a:off x="5155882" y="480155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41045" y="2525078"/>
              <a:ext cx="1047750" cy="320040"/>
            </a:xfrm>
            <a:prstGeom prst="roundRect">
              <a:avLst>
                <a:gd name="adj" fmla="val 2976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41045" y="5041582"/>
              <a:ext cx="1047750" cy="320040"/>
            </a:xfrm>
            <a:prstGeom prst="roundRect">
              <a:avLst>
                <a:gd name="adj" fmla="val 29762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2606040" y="3133725"/>
              <a:ext cx="1143000" cy="1619250"/>
            </a:xfrm>
            <a:prstGeom prst="roundRect">
              <a:avLst>
                <a:gd name="adj" fmla="val 8333"/>
              </a:avLst>
            </a:prstGeom>
            <a:solidFill>
              <a:srgbClr val="E6EFF9"/>
            </a:solidFill>
            <a:ln w="17145">
              <a:solidFill>
                <a:srgbClr val="1F5FA8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4536758" y="2380298"/>
              <a:ext cx="1333500" cy="609600"/>
            </a:xfrm>
            <a:prstGeom prst="roundRect">
              <a:avLst>
                <a:gd name="adj" fmla="val 15625"/>
              </a:avLst>
            </a:prstGeom>
            <a:solidFill>
              <a:srgbClr val="1F5FA8"/>
            </a:solidFill>
            <a:ln w="17145">
              <a:solidFill>
                <a:srgbClr val="1F5FA8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4536758" y="4896802"/>
              <a:ext cx="1333500" cy="609600"/>
            </a:xfrm>
            <a:prstGeom prst="roundRect">
              <a:avLst>
                <a:gd name="adj" fmla="val 15625"/>
              </a:avLst>
            </a:prstGeom>
            <a:solidFill>
              <a:srgbClr val="1F5FA8"/>
            </a:solidFill>
            <a:ln w="17145">
              <a:solidFill>
                <a:srgbClr val="1F5FA8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097280" y="261080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97280" y="512635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输出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929128" y="386905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存储器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955095" y="261080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控制器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874324" y="512635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数据通路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707832" y="3113722"/>
              <a:ext cx="69818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722628" y="3148489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程序和数据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894522" y="4587240"/>
              <a:ext cx="32480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920519" y="462200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4068128" y="3196590"/>
              <a:ext cx="32480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094124" y="323135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指令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068128" y="4504372"/>
              <a:ext cx="32480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094124" y="453913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数据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916805" y="3850005"/>
              <a:ext cx="574358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934699" y="388477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控制信号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45693" y="1636395"/>
              <a:ext cx="111562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处理器（CPU）</a:t>
              </a:r>
            </a:p>
          </p:txBody>
        </p:sp>
      </p:grpSp>
      <p:grpSp>
        <p:nvGrpSpPr>
          <p:cNvPr id="46" name="c2-card-1"/>
          <p:cNvGrpSpPr/>
          <p:nvPr/>
        </p:nvGrpSpPr>
        <p:grpSpPr>
          <a:xfrm>
            <a:off x="6464618" y="1524000"/>
            <a:ext cx="5193982" cy="1898332"/>
            <a:chOff x="6464618" y="1524000"/>
            <a:chExt cx="5193982" cy="1898332"/>
          </a:xfrm>
        </p:grpSpPr>
        <p:sp>
          <p:nvSpPr>
            <p:cNvPr id="40" name="Rectangle 40"/>
            <p:cNvSpPr/>
            <p:nvPr/>
          </p:nvSpPr>
          <p:spPr>
            <a:xfrm>
              <a:off x="6464618" y="1524000"/>
              <a:ext cx="5193982" cy="1898332"/>
            </a:xfrm>
            <a:prstGeom prst="roundRect">
              <a:avLst>
                <a:gd name="adj" fmla="val 702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474142" y="1657350"/>
              <a:ext cx="47625" cy="1631632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712268" y="1733550"/>
              <a:ext cx="1292542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766921" y="1769269"/>
              <a:ext cx="11841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The BIG Picture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04648" y="2110740"/>
              <a:ext cx="45015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所有种类的计算机（桌面计算机、服务器、嵌入式计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算机）都由相同的五大部件组成（冯·诺依曼结构）。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数据通路和控制器合称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处理器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705791" y="3014186"/>
              <a:ext cx="38210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数据通路负责算术运算，相当于常说的“运算器”。</a:t>
              </a:r>
            </a:p>
          </p:txBody>
        </p:sp>
      </p:grpSp>
      <p:grpSp>
        <p:nvGrpSpPr>
          <p:cNvPr id="61" name="c2-table-2"/>
          <p:cNvGrpSpPr/>
          <p:nvPr/>
        </p:nvGrpSpPr>
        <p:grpSpPr>
          <a:xfrm>
            <a:off x="6464618" y="3612832"/>
            <a:ext cx="5193982" cy="1795462"/>
            <a:chOff x="6464618" y="3612832"/>
            <a:chExt cx="5193982" cy="1795462"/>
          </a:xfrm>
        </p:grpSpPr>
        <p:sp>
          <p:nvSpPr>
            <p:cNvPr id="47" name="Rectangle 47"/>
            <p:cNvSpPr/>
            <p:nvPr/>
          </p:nvSpPr>
          <p:spPr>
            <a:xfrm>
              <a:off x="6464618" y="3612832"/>
              <a:ext cx="5193982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876555" y="374856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输入输出设备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817697" y="374856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572441" y="419719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用户界面设备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442198" y="419719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显示器、键盘、鼠标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6464618" y="450627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6464618" y="4511040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572441" y="464581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存储设备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442198" y="4645819"/>
              <a:ext cx="21301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硬盘、CD/DVD、闪存 flash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6464618" y="495490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572441" y="509444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网络适配器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442198" y="5094446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与其他计算机通信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6464618" y="3612832"/>
              <a:ext cx="5193982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8329612" y="3612832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程序之下与计算机部件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显示器与触摸屏：最常见的输出和输入设备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951220" cy="2272665"/>
            <a:chOff x="533400" y="1524000"/>
            <a:chExt cx="5951220" cy="22726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2272665"/>
            </a:xfrm>
            <a:prstGeom prst="roundRect">
              <a:avLst>
                <a:gd name="adj" fmla="val 586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00596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21158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1097" y="1769269"/>
              <a:ext cx="10914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LCD 液晶显示器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6765" y="217360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4880" y="2110740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屏幕由大量图像元素（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像素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）组成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50888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446020"/>
              <a:ext cx="50730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图像以位矩阵的形式存放在</a:t>
              </a: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帧缓冲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（frame buffer）中，每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个像素对应一组二进制位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12991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067050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显示器按刷新频率不断读出帧缓冲中的位，把图像显示到屏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幕上</a:t>
              </a:r>
            </a:p>
          </p:txBody>
        </p:sp>
      </p:grpSp>
      <p:grpSp>
        <p:nvGrpSpPr>
          <p:cNvPr id="34" name="c1-table-2"/>
          <p:cNvGrpSpPr/>
          <p:nvPr/>
        </p:nvGrpSpPr>
        <p:grpSpPr>
          <a:xfrm>
            <a:off x="527685" y="3987165"/>
            <a:ext cx="5956935" cy="1642587"/>
            <a:chOff x="527685" y="3987165"/>
            <a:chExt cx="5956935" cy="1642587"/>
          </a:xfrm>
        </p:grpSpPr>
        <p:sp>
          <p:nvSpPr>
            <p:cNvPr id="18" name="Rectangle 18"/>
            <p:cNvSpPr/>
            <p:nvPr/>
          </p:nvSpPr>
          <p:spPr>
            <a:xfrm>
              <a:off x="533400" y="3987165"/>
              <a:ext cx="5951220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57643" y="412289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像素坐标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766085" y="412289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帧缓冲中存的位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951552" y="412289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屏幕上的效果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2" y="4571524"/>
              <a:ext cx="8063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(X0, Y0)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227024" y="4571524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011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74096" y="457152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较浅的点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87965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4884420"/>
              <a:ext cx="595122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005592" y="5020151"/>
              <a:ext cx="8063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(X1, Y1)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227024" y="5020151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74096" y="502015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较深的点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3987165"/>
              <a:ext cx="5951220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2280285" y="398716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461510" y="398716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27685" y="5409724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原课件插图中的例子：两个像素存的位不同，显示深浅不同</a:t>
              </a:r>
            </a:p>
          </p:txBody>
        </p:sp>
      </p:grpSp>
      <p:grpSp>
        <p:nvGrpSpPr>
          <p:cNvPr id="47" name="c2-card-1"/>
          <p:cNvGrpSpPr/>
          <p:nvPr/>
        </p:nvGrpSpPr>
        <p:grpSpPr>
          <a:xfrm>
            <a:off x="6789420" y="1524000"/>
            <a:ext cx="4869180" cy="2322195"/>
            <a:chOff x="6789420" y="1524000"/>
            <a:chExt cx="4869180" cy="2322195"/>
          </a:xfrm>
        </p:grpSpPr>
        <p:sp>
          <p:nvSpPr>
            <p:cNvPr id="35" name="Rectangle 35"/>
            <p:cNvSpPr/>
            <p:nvPr/>
          </p:nvSpPr>
          <p:spPr>
            <a:xfrm>
              <a:off x="6789420" y="1524000"/>
              <a:ext cx="4869180" cy="2322195"/>
            </a:xfrm>
            <a:prstGeom prst="roundRect">
              <a:avLst>
                <a:gd name="adj" fmla="val 574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798945" y="1657350"/>
              <a:ext cx="47625" cy="205549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7037070" y="173355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123328" y="176926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触摸屏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042785" y="217360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200900" y="2110740"/>
              <a:ext cx="39585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 PC 时代设备（平板电脑、智能手机）用它代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替键盘和鼠标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042785" y="279463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200900" y="2731770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通常采用电阻感应或电容感应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042785" y="312991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200900" y="3067050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许多平板和智能手机采用电容感应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7042785" y="346519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200900" y="340233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电容感应允许同时接触多个点（多点触摸）</a:t>
              </a:r>
            </a:p>
          </p:txBody>
        </p:sp>
      </p:grpSp>
      <p:grpSp>
        <p:nvGrpSpPr>
          <p:cNvPr id="54" name="c2-callout-2"/>
          <p:cNvGrpSpPr/>
          <p:nvPr/>
        </p:nvGrpSpPr>
        <p:grpSpPr>
          <a:xfrm>
            <a:off x="6789420" y="4036695"/>
            <a:ext cx="4869180" cy="1059180"/>
            <a:chOff x="6789420" y="4036695"/>
            <a:chExt cx="4869180" cy="1059180"/>
          </a:xfrm>
        </p:grpSpPr>
        <p:sp>
          <p:nvSpPr>
            <p:cNvPr id="48" name="Rectangle 48"/>
            <p:cNvSpPr/>
            <p:nvPr/>
          </p:nvSpPr>
          <p:spPr>
            <a:xfrm>
              <a:off x="6789420" y="4036695"/>
              <a:ext cx="4869180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6994208" y="4466273"/>
              <a:ext cx="200026" cy="200026"/>
              <a:chOff x="6994208" y="4466273"/>
              <a:chExt cx="200026" cy="200026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6994208" y="446627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7094220" y="45329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7083108" y="456628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7296150" y="4185285"/>
              <a:ext cx="38252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电容感应的原理：人体是导体，手指碰到覆盖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透明导体的玻璃时，会改变该处的电容，控制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电路据此算出触点位置。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278472" cy="909257"/>
            <a:chOff x="520446" y="342900"/>
            <a:chExt cx="527847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程序之下与计算机部件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27847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打开 iPad 2：五大部件分别在哪里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c1-table-1"/>
          <p:cNvGrpSpPr/>
          <p:nvPr/>
        </p:nvGrpSpPr>
        <p:grpSpPr>
          <a:xfrm>
            <a:off x="527685" y="1524000"/>
            <a:ext cx="6065520" cy="3046572"/>
            <a:chOff x="527685" y="1524000"/>
            <a:chExt cx="6065520" cy="304657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8768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50608" y="166306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拆出的部件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383405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40080" y="2150745"/>
              <a:ext cx="13487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电容式多点触摸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LCD 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700338" y="2150745"/>
              <a:ext cx="36347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既显示图像（输出），又接收手指触摸（输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76129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766060"/>
              <a:ext cx="6059805" cy="7543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40080" y="2905125"/>
              <a:ext cx="149733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电池（3.8 V，25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Wh）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700338" y="303847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为整机供电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51567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0080" y="3659505"/>
              <a:ext cx="150685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主板（Computer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board）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700338" y="3659505"/>
              <a:ext cx="357759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上面有 A5 处理器芯片、存储芯片和各种接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口芯片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1524000"/>
              <a:ext cx="6059805" cy="275082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2588895" y="1524000"/>
              <a:ext cx="9525" cy="27508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27685" y="4350544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原课件的拆机照片中标出的三类部件</a:t>
              </a:r>
            </a:p>
          </p:txBody>
        </p:sp>
      </p:grpSp>
      <p:grpSp>
        <p:nvGrpSpPr>
          <p:cNvPr id="29" name="c1-callout-2"/>
          <p:cNvGrpSpPr/>
          <p:nvPr/>
        </p:nvGrpSpPr>
        <p:grpSpPr>
          <a:xfrm>
            <a:off x="533400" y="4716780"/>
            <a:ext cx="6059805" cy="782955"/>
            <a:chOff x="533400" y="4716780"/>
            <a:chExt cx="6059805" cy="782955"/>
          </a:xfrm>
        </p:grpSpPr>
        <p:sp>
          <p:nvSpPr>
            <p:cNvPr id="23" name="Rectangle 23"/>
            <p:cNvSpPr/>
            <p:nvPr/>
          </p:nvSpPr>
          <p:spPr>
            <a:xfrm>
              <a:off x="533400" y="4716780"/>
              <a:ext cx="605980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738188" y="5008245"/>
              <a:ext cx="200026" cy="200025"/>
              <a:chOff x="738188" y="5008245"/>
              <a:chExt cx="200026" cy="200025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738188" y="500824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777926" y="505269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812642" y="516382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1040130" y="4865370"/>
              <a:ext cx="49872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手机、PC、服务器、嵌入式计算机外形差别很大，拆开后都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能找到这五类部件。</a:t>
              </a:r>
            </a:p>
          </p:txBody>
        </p:sp>
      </p:grpSp>
      <p:grpSp>
        <p:nvGrpSpPr>
          <p:cNvPr id="60" name="c2-graph-1"/>
          <p:cNvGrpSpPr/>
          <p:nvPr/>
        </p:nvGrpSpPr>
        <p:grpSpPr>
          <a:xfrm>
            <a:off x="7325678" y="1754505"/>
            <a:ext cx="3932872" cy="3500914"/>
            <a:chOff x="7325678" y="1754505"/>
            <a:chExt cx="3932872" cy="3500914"/>
          </a:xfrm>
        </p:grpSpPr>
        <p:sp>
          <p:nvSpPr>
            <p:cNvPr id="30" name="Freeform 30"/>
            <p:cNvSpPr/>
            <p:nvPr/>
          </p:nvSpPr>
          <p:spPr>
            <a:xfrm>
              <a:off x="8754428" y="2013585"/>
              <a:ext cx="1495425" cy="226695"/>
            </a:xfrm>
            <a:custGeom>
              <a:avLst/>
              <a:gdLst/>
              <a:ahLst/>
              <a:cxnLst/>
              <a:rect l="l" t="t" r="r" b="b"/>
              <a:pathLst>
                <a:path w="1495425" h="226695">
                  <a:moveTo>
                    <a:pt x="0" y="0"/>
                  </a:moveTo>
                  <a:lnTo>
                    <a:pt x="1495425" y="22669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10243185" y="2193608"/>
              <a:ext cx="100965" cy="94297"/>
            </a:xfrm>
            <a:custGeom>
              <a:avLst/>
              <a:gdLst/>
              <a:ahLst/>
              <a:cxnLst/>
              <a:rect l="l" t="t" r="r" b="b"/>
              <a:pathLst>
                <a:path w="100965" h="94297">
                  <a:moveTo>
                    <a:pt x="100965" y="60960"/>
                  </a:moveTo>
                  <a:lnTo>
                    <a:pt x="0" y="94297"/>
                  </a:lnTo>
                  <a:lnTo>
                    <a:pt x="14288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8369618" y="2055495"/>
              <a:ext cx="2015490" cy="917258"/>
            </a:xfrm>
            <a:custGeom>
              <a:avLst/>
              <a:gdLst/>
              <a:ahLst/>
              <a:cxnLst/>
              <a:rect l="l" t="t" r="r" b="b"/>
              <a:pathLst>
                <a:path w="2015490" h="917258">
                  <a:moveTo>
                    <a:pt x="0" y="0"/>
                  </a:moveTo>
                  <a:lnTo>
                    <a:pt x="2015490" y="91725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10366058" y="2929890"/>
              <a:ext cx="105728" cy="86677"/>
            </a:xfrm>
            <a:custGeom>
              <a:avLst/>
              <a:gdLst/>
              <a:ahLst/>
              <a:cxnLst/>
              <a:rect l="l" t="t" r="r" b="b"/>
              <a:pathLst>
                <a:path w="105728" h="86677">
                  <a:moveTo>
                    <a:pt x="105728" y="81915"/>
                  </a:moveTo>
                  <a:lnTo>
                    <a:pt x="0" y="86677"/>
                  </a:lnTo>
                  <a:lnTo>
                    <a:pt x="39053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4" name="Freeform 34"/>
            <p:cNvSpPr/>
            <p:nvPr/>
          </p:nvSpPr>
          <p:spPr>
            <a:xfrm>
              <a:off x="8754428" y="2407920"/>
              <a:ext cx="1495425" cy="226695"/>
            </a:xfrm>
            <a:custGeom>
              <a:avLst/>
              <a:gdLst/>
              <a:ahLst/>
              <a:cxnLst/>
              <a:rect l="l" t="t" r="r" b="b"/>
              <a:pathLst>
                <a:path w="1495425" h="226695">
                  <a:moveTo>
                    <a:pt x="0" y="226695"/>
                  </a:moveTo>
                  <a:lnTo>
                    <a:pt x="149542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10243185" y="2360295"/>
              <a:ext cx="100965" cy="94297"/>
            </a:xfrm>
            <a:custGeom>
              <a:avLst/>
              <a:gdLst/>
              <a:ahLst/>
              <a:cxnLst/>
              <a:rect l="l" t="t" r="r" b="b"/>
              <a:pathLst>
                <a:path w="100965" h="94297">
                  <a:moveTo>
                    <a:pt x="100965" y="33338"/>
                  </a:moveTo>
                  <a:lnTo>
                    <a:pt x="14288" y="942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8754428" y="3246120"/>
              <a:ext cx="1495425" cy="226695"/>
            </a:xfrm>
            <a:custGeom>
              <a:avLst/>
              <a:gdLst/>
              <a:ahLst/>
              <a:cxnLst/>
              <a:rect l="l" t="t" r="r" b="b"/>
              <a:pathLst>
                <a:path w="1495425" h="226695">
                  <a:moveTo>
                    <a:pt x="0" y="226695"/>
                  </a:moveTo>
                  <a:lnTo>
                    <a:pt x="149542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10243185" y="3198495"/>
              <a:ext cx="100965" cy="94297"/>
            </a:xfrm>
            <a:custGeom>
              <a:avLst/>
              <a:gdLst/>
              <a:ahLst/>
              <a:cxnLst/>
              <a:rect l="l" t="t" r="r" b="b"/>
              <a:pathLst>
                <a:path w="100965" h="94297">
                  <a:moveTo>
                    <a:pt x="100965" y="33338"/>
                  </a:moveTo>
                  <a:lnTo>
                    <a:pt x="14288" y="942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8" name="Freeform 38"/>
            <p:cNvSpPr/>
            <p:nvPr/>
          </p:nvSpPr>
          <p:spPr>
            <a:xfrm>
              <a:off x="8754428" y="4419600"/>
              <a:ext cx="1494472" cy="9525"/>
            </a:xfrm>
            <a:custGeom>
              <a:avLst/>
              <a:gdLst/>
              <a:ahLst/>
              <a:cxnLst/>
              <a:rect l="l" t="t" r="r" b="b"/>
              <a:pathLst>
                <a:path w="1494472" h="9525">
                  <a:moveTo>
                    <a:pt x="0" y="0"/>
                  </a:moveTo>
                  <a:lnTo>
                    <a:pt x="149447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10248900" y="43719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0" name="Freeform 40"/>
            <p:cNvSpPr/>
            <p:nvPr/>
          </p:nvSpPr>
          <p:spPr>
            <a:xfrm>
              <a:off x="8754428" y="5105400"/>
              <a:ext cx="1494472" cy="9525"/>
            </a:xfrm>
            <a:custGeom>
              <a:avLst/>
              <a:gdLst/>
              <a:ahLst/>
              <a:cxnLst/>
              <a:rect l="l" t="t" r="r" b="b"/>
              <a:pathLst>
                <a:path w="1494472" h="9525">
                  <a:moveTo>
                    <a:pt x="0" y="0"/>
                  </a:moveTo>
                  <a:lnTo>
                    <a:pt x="149447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10248900" y="50577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7325678" y="1754505"/>
              <a:ext cx="1428750" cy="300038"/>
            </a:xfrm>
            <a:prstGeom prst="roundRect">
              <a:avLst>
                <a:gd name="adj" fmla="val 31746"/>
              </a:avLst>
            </a:prstGeom>
            <a:solidFill>
              <a:srgbClr val="E6EFF9"/>
            </a:solidFill>
            <a:ln w="17145">
              <a:solidFill>
                <a:srgbClr val="1F5FA8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7325678" y="2592705"/>
              <a:ext cx="1428750" cy="300038"/>
            </a:xfrm>
            <a:prstGeom prst="roundRect">
              <a:avLst>
                <a:gd name="adj" fmla="val 31746"/>
              </a:avLst>
            </a:prstGeom>
            <a:solidFill>
              <a:srgbClr val="E6EFF9"/>
            </a:solidFill>
            <a:ln w="17145">
              <a:solidFill>
                <a:srgbClr val="1F5FA8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7325678" y="3430905"/>
              <a:ext cx="1428750" cy="300038"/>
            </a:xfrm>
            <a:prstGeom prst="roundRect">
              <a:avLst>
                <a:gd name="adj" fmla="val 31746"/>
              </a:avLst>
            </a:prstGeom>
            <a:solidFill>
              <a:srgbClr val="E6EFF9"/>
            </a:solidFill>
            <a:ln w="17145">
              <a:solidFill>
                <a:srgbClr val="1F5FA8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7325678" y="4269105"/>
              <a:ext cx="1428750" cy="300038"/>
            </a:xfrm>
            <a:prstGeom prst="roundRect">
              <a:avLst>
                <a:gd name="adj" fmla="val 31746"/>
              </a:avLst>
            </a:prstGeom>
            <a:solidFill>
              <a:srgbClr val="E6EFF9"/>
            </a:solidFill>
            <a:ln w="17145">
              <a:solidFill>
                <a:srgbClr val="1F5FA8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7325678" y="4954905"/>
              <a:ext cx="1428750" cy="300038"/>
            </a:xfrm>
            <a:prstGeom prst="roundRect">
              <a:avLst>
                <a:gd name="adj" fmla="val 31746"/>
              </a:avLst>
            </a:prstGeom>
            <a:solidFill>
              <a:srgbClr val="E6EFF9"/>
            </a:solidFill>
            <a:ln w="17145">
              <a:solidFill>
                <a:srgbClr val="1F5FA8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10344150" y="2173605"/>
              <a:ext cx="914400" cy="300038"/>
            </a:xfrm>
            <a:prstGeom prst="roundRect">
              <a:avLst>
                <a:gd name="adj" fmla="val 31746"/>
              </a:avLst>
            </a:prstGeom>
            <a:solidFill>
              <a:srgbClr val="1F5FA8"/>
            </a:solidFill>
            <a:ln w="17145">
              <a:solidFill>
                <a:srgbClr val="1F5FA8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10344150" y="3011805"/>
              <a:ext cx="914400" cy="300038"/>
            </a:xfrm>
            <a:prstGeom prst="roundRect">
              <a:avLst>
                <a:gd name="adj" fmla="val 31746"/>
              </a:avLst>
            </a:prstGeom>
            <a:solidFill>
              <a:srgbClr val="1F5FA8"/>
            </a:solidFill>
            <a:ln w="17145">
              <a:solidFill>
                <a:srgbClr val="1F5FA8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10344150" y="4269105"/>
              <a:ext cx="914400" cy="300038"/>
            </a:xfrm>
            <a:prstGeom prst="roundRect">
              <a:avLst>
                <a:gd name="adj" fmla="val 31746"/>
              </a:avLst>
            </a:prstGeom>
            <a:solidFill>
              <a:srgbClr val="1F5FA8"/>
            </a:solidFill>
            <a:ln w="17145">
              <a:solidFill>
                <a:srgbClr val="1F5FA8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10344150" y="4954905"/>
              <a:ext cx="914400" cy="300038"/>
            </a:xfrm>
            <a:prstGeom prst="roundRect">
              <a:avLst>
                <a:gd name="adj" fmla="val 31746"/>
              </a:avLst>
            </a:prstGeom>
            <a:solidFill>
              <a:srgbClr val="1F5FA8"/>
            </a:solidFill>
            <a:ln w="17145">
              <a:solidFill>
                <a:srgbClr val="1F5FA8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808176" y="183499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触摸屏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506627" y="267319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摄像头、麦克风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808176" y="351139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扬声器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766471" y="4349591"/>
              <a:ext cx="5471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A5 芯片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506627" y="503539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闪存等存储芯片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0644861" y="225409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输入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644861" y="309229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输出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569473" y="434959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处理器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569473" y="503539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存储器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86926" cy="909257"/>
            <a:chOff x="520446" y="342900"/>
            <a:chExt cx="628692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程序之下与计算机部件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8692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处理器内部：数据通路、控制器和 Cache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kv-1"/>
          <p:cNvGrpSpPr/>
          <p:nvPr/>
        </p:nvGrpSpPr>
        <p:grpSpPr>
          <a:xfrm>
            <a:off x="525780" y="1548765"/>
            <a:ext cx="5417820" cy="1737360"/>
            <a:chOff x="525780" y="1548765"/>
            <a:chExt cx="5417820" cy="173736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数据通路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932622" y="154876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完成算术运算，数据在其中传送和处理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186880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5780" y="198882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控制器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932622" y="1988820"/>
              <a:ext cx="3634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按照程序的指令，指挥数据通路、存储器和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I/O 设备正确执行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59080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5780" y="2710815"/>
              <a:ext cx="1158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高速缓冲存储</a:t>
              </a:r>
              <a:br/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器 Cache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932622" y="2710815"/>
              <a:ext cx="3825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小而快的 SRAM 存储器，作为主存的缓冲，存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放马上要用的数据</a:t>
              </a:r>
            </a:p>
          </p:txBody>
        </p:sp>
      </p:grpSp>
      <p:grpSp>
        <p:nvGrpSpPr>
          <p:cNvPr id="23" name="c1-card-2"/>
          <p:cNvGrpSpPr/>
          <p:nvPr/>
        </p:nvGrpSpPr>
        <p:grpSpPr>
          <a:xfrm>
            <a:off x="533400" y="3417570"/>
            <a:ext cx="5410200" cy="2785110"/>
            <a:chOff x="533400" y="3417570"/>
            <a:chExt cx="5410200" cy="2785110"/>
          </a:xfrm>
        </p:grpSpPr>
        <p:sp>
          <p:nvSpPr>
            <p:cNvPr id="16" name="Rectangle 16"/>
            <p:cNvSpPr/>
            <p:nvPr/>
          </p:nvSpPr>
          <p:spPr>
            <a:xfrm>
              <a:off x="533400" y="3417570"/>
              <a:ext cx="5410200" cy="2785110"/>
            </a:xfrm>
            <a:prstGeom prst="roundRect">
              <a:avLst>
                <a:gd name="adj" fmla="val 478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3550920"/>
              <a:ext cx="47625" cy="251841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81050" y="362712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71258" y="366283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思考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382078" y="3662362"/>
              <a:ext cx="348104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CPU 内部构成对程序设计有什么影响？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73430" y="4023360"/>
              <a:ext cx="46539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容量小。程序访问的数据集中、连续时，大部分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访问在 Cache 里完成，程序就快；若频繁跳着访问大量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数据，就常常要去更慢的主存里取。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74573" y="4926806"/>
              <a:ext cx="25201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第5章讲存储器层次时具体分析。</a:t>
              </a:r>
            </a:p>
          </p:txBody>
        </p:sp>
      </p:grpSp>
      <p:grpSp>
        <p:nvGrpSpPr>
          <p:cNvPr id="48" name="c2-graph-1"/>
          <p:cNvGrpSpPr/>
          <p:nvPr/>
        </p:nvGrpSpPr>
        <p:grpSpPr>
          <a:xfrm>
            <a:off x="6764655" y="1562100"/>
            <a:ext cx="4671060" cy="3225165"/>
            <a:chOff x="6764655" y="1562100"/>
            <a:chExt cx="4671060" cy="3225165"/>
          </a:xfrm>
        </p:grpSpPr>
        <p:sp>
          <p:nvSpPr>
            <p:cNvPr id="24" name="Rectangle 24"/>
            <p:cNvSpPr/>
            <p:nvPr/>
          </p:nvSpPr>
          <p:spPr>
            <a:xfrm>
              <a:off x="7456170" y="1562100"/>
              <a:ext cx="1047750" cy="266700"/>
            </a:xfrm>
            <a:prstGeom prst="roundRect">
              <a:avLst>
                <a:gd name="adj" fmla="val 14286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764655" y="1971675"/>
              <a:ext cx="914400" cy="476250"/>
            </a:xfrm>
            <a:prstGeom prst="roundRect">
              <a:avLst>
                <a:gd name="adj" fmla="val 8000"/>
              </a:avLst>
            </a:prstGeom>
            <a:solidFill>
              <a:srgbClr val="E6EFF9"/>
            </a:solidFill>
            <a:ln w="17145">
              <a:solidFill>
                <a:srgbClr val="1F5FA8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8171498" y="1971675"/>
              <a:ext cx="914400" cy="476250"/>
            </a:xfrm>
            <a:prstGeom prst="roundRect">
              <a:avLst>
                <a:gd name="adj" fmla="val 8000"/>
              </a:avLst>
            </a:prstGeom>
            <a:solidFill>
              <a:srgbClr val="E6EFF9"/>
            </a:solidFill>
            <a:ln w="17145">
              <a:solidFill>
                <a:srgbClr val="1F5FA8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764655" y="2554605"/>
              <a:ext cx="914400" cy="476250"/>
            </a:xfrm>
            <a:prstGeom prst="roundRect">
              <a:avLst>
                <a:gd name="adj" fmla="val 8000"/>
              </a:avLst>
            </a:prstGeom>
            <a:solidFill>
              <a:srgbClr val="E6EFF9"/>
            </a:solidFill>
            <a:ln w="17145">
              <a:solidFill>
                <a:srgbClr val="1F5FA8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8171498" y="2554605"/>
              <a:ext cx="914400" cy="476250"/>
            </a:xfrm>
            <a:prstGeom prst="roundRect">
              <a:avLst>
                <a:gd name="adj" fmla="val 8000"/>
              </a:avLst>
            </a:prstGeom>
            <a:solidFill>
              <a:srgbClr val="E6EFF9"/>
            </a:solidFill>
            <a:ln w="17145">
              <a:solidFill>
                <a:srgbClr val="1F5FA8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764655" y="3316605"/>
              <a:ext cx="914400" cy="666750"/>
            </a:xfrm>
            <a:prstGeom prst="roundRect">
              <a:avLst>
                <a:gd name="adj" fmla="val 5714"/>
              </a:avLst>
            </a:prstGeom>
            <a:solidFill>
              <a:srgbClr val="1F5FA8"/>
            </a:solidFill>
            <a:ln w="17145">
              <a:solidFill>
                <a:srgbClr val="1F5FA8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8171498" y="3316605"/>
              <a:ext cx="914400" cy="666750"/>
            </a:xfrm>
            <a:prstGeom prst="roundRect">
              <a:avLst>
                <a:gd name="adj" fmla="val 5714"/>
              </a:avLst>
            </a:prstGeom>
            <a:solidFill>
              <a:srgbClr val="1F5FA8"/>
            </a:solidFill>
            <a:ln w="17145">
              <a:solidFill>
                <a:srgbClr val="1F5FA8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782752" y="4501515"/>
              <a:ext cx="2286000" cy="285750"/>
            </a:xfrm>
            <a:prstGeom prst="roundRect">
              <a:avLst>
                <a:gd name="adj" fmla="val 13333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10472738" y="1903095"/>
              <a:ext cx="857250" cy="476250"/>
            </a:xfrm>
            <a:prstGeom prst="roundRect">
              <a:avLst>
                <a:gd name="adj" fmla="val 8000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9721215" y="2781300"/>
              <a:ext cx="952500" cy="57150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11016615" y="2781300"/>
              <a:ext cx="419100" cy="571500"/>
            </a:xfrm>
            <a:prstGeom prst="roundRect">
              <a:avLst>
                <a:gd name="adj" fmla="val 9091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9862185" y="4029075"/>
              <a:ext cx="1428750" cy="476250"/>
            </a:xfrm>
            <a:prstGeom prst="roundRect">
              <a:avLst>
                <a:gd name="adj" fmla="val 8000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845335" y="1629728"/>
              <a:ext cx="2694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USB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933819" y="214407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数据通路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340662" y="214407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数据通路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933819" y="272700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数据通路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340662" y="272700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数据通路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977264" y="3584258"/>
              <a:ext cx="4891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ARM 核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84107" y="3584258"/>
              <a:ext cx="4891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ARM 核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159310" y="4578668"/>
              <a:ext cx="153288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DDR SDRAM 存储器接口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727447" y="2075498"/>
              <a:ext cx="3478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GPIO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838754" y="3001328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数字逻辑块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095375" y="3001328"/>
              <a:ext cx="2615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I/O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002185" y="4201478"/>
              <a:ext cx="114875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视频、音频、WiFi</a:t>
              </a:r>
            </a:p>
          </p:txBody>
        </p:sp>
      </p:grpSp>
      <p:grpSp>
        <p:nvGrpSpPr>
          <p:cNvPr id="55" name="c2-callout-2"/>
          <p:cNvGrpSpPr/>
          <p:nvPr/>
        </p:nvGrpSpPr>
        <p:grpSpPr>
          <a:xfrm>
            <a:off x="6248400" y="5143500"/>
            <a:ext cx="5410200" cy="1059180"/>
            <a:chOff x="6248400" y="5143500"/>
            <a:chExt cx="5410200" cy="1059180"/>
          </a:xfrm>
        </p:grpSpPr>
        <p:sp>
          <p:nvSpPr>
            <p:cNvPr id="49" name="Rectangle 49"/>
            <p:cNvSpPr/>
            <p:nvPr/>
          </p:nvSpPr>
          <p:spPr>
            <a:xfrm>
              <a:off x="6248400" y="5143500"/>
              <a:ext cx="5410200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6453188" y="5573078"/>
              <a:ext cx="200026" cy="200025"/>
              <a:chOff x="6453188" y="5573078"/>
              <a:chExt cx="200026" cy="200025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6453188" y="557307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6492926" y="561752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527642" y="572865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6755130" y="5292090"/>
              <a:ext cx="44919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上图是 Apple A5 芯片的布局示意（按照片上的标注重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画，未按比例）：一块芯片集成了两个 ARM 核、4 块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数据通路区域、存储器接口和多种 I/O 接口。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程序之下与计算机部件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抽象：指令集体系结构是硬件和底层软件之间的接口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1" name="c1-flow-1"/>
          <p:cNvGrpSpPr/>
          <p:nvPr/>
        </p:nvGrpSpPr>
        <p:grpSpPr>
          <a:xfrm>
            <a:off x="836295" y="1724025"/>
            <a:ext cx="3722370" cy="3790950"/>
            <a:chOff x="836295" y="1724025"/>
            <a:chExt cx="3722370" cy="3790950"/>
          </a:xfrm>
        </p:grpSpPr>
        <p:sp>
          <p:nvSpPr>
            <p:cNvPr id="7" name="Freeform 7"/>
            <p:cNvSpPr/>
            <p:nvPr/>
          </p:nvSpPr>
          <p:spPr>
            <a:xfrm>
              <a:off x="2697480" y="216217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697480" y="300037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2697480" y="383857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697480" y="467677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836295" y="1724025"/>
              <a:ext cx="3722370" cy="438150"/>
            </a:xfrm>
            <a:prstGeom prst="roundRect">
              <a:avLst>
                <a:gd name="adj" fmla="val 21739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836295" y="2562225"/>
              <a:ext cx="3722370" cy="438150"/>
            </a:xfrm>
            <a:prstGeom prst="roundRect">
              <a:avLst>
                <a:gd name="adj" fmla="val 21739"/>
              </a:avLst>
            </a:prstGeom>
            <a:solidFill>
              <a:srgbClr val="E6EFF9"/>
            </a:solidFill>
            <a:ln w="19050">
              <a:solidFill>
                <a:srgbClr val="1F5FA8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836295" y="3400425"/>
              <a:ext cx="372237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836295" y="4238625"/>
              <a:ext cx="3722370" cy="438150"/>
            </a:xfrm>
            <a:prstGeom prst="roundRect">
              <a:avLst>
                <a:gd name="adj" fmla="val 21739"/>
              </a:avLst>
            </a:prstGeom>
            <a:solidFill>
              <a:srgbClr val="E6EFF9"/>
            </a:solidFill>
            <a:ln w="19050">
              <a:solidFill>
                <a:srgbClr val="1F5FA8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836295" y="5076825"/>
              <a:ext cx="3722370" cy="43815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2346376" y="185404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应用程序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30594" y="2692241"/>
              <a:ext cx="25337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ABI：用户指令集 + 操作系统接口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915592" y="353044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操作系统等系统软件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874302" y="4368641"/>
              <a:ext cx="16463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ISA：指令集体系结构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418028" y="5206841"/>
              <a:ext cx="25589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硬件实现：处理器、存储器、I/O</a:t>
              </a:r>
            </a:p>
          </p:txBody>
        </p:sp>
      </p:grpSp>
      <p:grpSp>
        <p:nvGrpSpPr>
          <p:cNvPr id="27" name="c2-card-1"/>
          <p:cNvGrpSpPr/>
          <p:nvPr/>
        </p:nvGrpSpPr>
        <p:grpSpPr>
          <a:xfrm>
            <a:off x="5166360" y="1524000"/>
            <a:ext cx="6492240" cy="1030605"/>
            <a:chOff x="5166360" y="1524000"/>
            <a:chExt cx="6492240" cy="1030605"/>
          </a:xfrm>
        </p:grpSpPr>
        <p:sp>
          <p:nvSpPr>
            <p:cNvPr id="22" name="Rectangle 22"/>
            <p:cNvSpPr/>
            <p:nvPr/>
          </p:nvSpPr>
          <p:spPr>
            <a:xfrm>
              <a:off x="5166360" y="1524000"/>
              <a:ext cx="6492240" cy="1030605"/>
            </a:xfrm>
            <a:prstGeom prst="roundRect">
              <a:avLst>
                <a:gd name="adj" fmla="val 129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5175885" y="1657350"/>
              <a:ext cx="47625" cy="76390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414010" y="1733550"/>
              <a:ext cx="1404938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475126" y="1769269"/>
              <a:ext cx="12836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抽象 Abstraction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406390" y="2110740"/>
              <a:ext cx="58712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用层次化的模型描述系统，掩盖底层的细节，便于构建复杂系统。</a:t>
              </a:r>
            </a:p>
          </p:txBody>
        </p:sp>
      </p:grpSp>
      <p:grpSp>
        <p:nvGrpSpPr>
          <p:cNvPr id="36" name="c2-kv-2"/>
          <p:cNvGrpSpPr/>
          <p:nvPr/>
        </p:nvGrpSpPr>
        <p:grpSpPr>
          <a:xfrm>
            <a:off x="5158740" y="2769870"/>
            <a:ext cx="6499860" cy="1737360"/>
            <a:chOff x="5158740" y="2769870"/>
            <a:chExt cx="6499860" cy="1737360"/>
          </a:xfrm>
        </p:grpSpPr>
        <p:sp>
          <p:nvSpPr>
            <p:cNvPr id="28" name="TextBox 28"/>
            <p:cNvSpPr txBox="1"/>
            <p:nvPr/>
          </p:nvSpPr>
          <p:spPr>
            <a:xfrm>
              <a:off x="5158740" y="2769870"/>
              <a:ext cx="18095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指令集体系结构 ISA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106602" y="2769870"/>
              <a:ext cx="437769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硬件和底层软件之间的接口，包括写出能正确运行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的机器语言程序所需知道的一切：指令、I/O 设备等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166360" y="3371850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158740" y="3491865"/>
              <a:ext cx="18095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应用二进制接口 ABI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106602" y="3491865"/>
              <a:ext cx="4206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基本指令集中用户可用的部分加上操作系统接口；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二进制程序在计算机之间可移植的标准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166360" y="4093845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158740" y="421386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实现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106602" y="4213860"/>
              <a:ext cx="4457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遵循体系结构抽象的硬件，以及相关的细节和接口</a:t>
              </a:r>
            </a:p>
          </p:txBody>
        </p:sp>
      </p:grpSp>
      <p:grpSp>
        <p:nvGrpSpPr>
          <p:cNvPr id="43" name="c2-callout-3"/>
          <p:cNvGrpSpPr/>
          <p:nvPr/>
        </p:nvGrpSpPr>
        <p:grpSpPr>
          <a:xfrm>
            <a:off x="5166360" y="4638675"/>
            <a:ext cx="6492240" cy="782955"/>
            <a:chOff x="5166360" y="4638675"/>
            <a:chExt cx="6492240" cy="782955"/>
          </a:xfrm>
        </p:grpSpPr>
        <p:sp>
          <p:nvSpPr>
            <p:cNvPr id="37" name="Rectangle 37"/>
            <p:cNvSpPr/>
            <p:nvPr/>
          </p:nvSpPr>
          <p:spPr>
            <a:xfrm>
              <a:off x="5166360" y="4638675"/>
              <a:ext cx="649224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5371148" y="4930140"/>
              <a:ext cx="200026" cy="200025"/>
              <a:chOff x="5371148" y="4930140"/>
              <a:chExt cx="200026" cy="200025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5371148" y="493014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5410886" y="497459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5445602" y="508571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5673090" y="4787265"/>
              <a:ext cx="5539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同一种体系结构可以有多种实现，价格和性能不同，却能运行同样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的软件。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4" name="TextBox 44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951214" cy="909257"/>
            <a:chOff x="520446" y="342900"/>
            <a:chExt cx="895121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程序之下与计算机部件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95121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数据存储与网络：断电后数据还在吗，计算机之间怎样通信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c1-table-1"/>
          <p:cNvGrpSpPr/>
          <p:nvPr/>
        </p:nvGrpSpPr>
        <p:grpSpPr>
          <a:xfrm>
            <a:off x="533400" y="1524000"/>
            <a:ext cx="5410200" cy="1800225"/>
            <a:chOff x="533400" y="1524000"/>
            <a:chExt cx="5410200" cy="180022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79983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存储器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16829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975708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断电后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108359"/>
              <a:ext cx="11508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主存储器（易失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264283" y="2221706"/>
              <a:ext cx="181763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DRAM；Cache 用 SRAM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44580" y="222170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数据全部丢失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6431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647950"/>
              <a:ext cx="541020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2783681"/>
              <a:ext cx="13134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二级存储器（非易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失性）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264283" y="2783681"/>
              <a:ext cx="137033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磁盘、闪存、光盘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（CD-ROM、DVD）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44580" y="289702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数据保留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1524000"/>
              <a:ext cx="5410200" cy="18002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2151698" y="1524000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4531995" y="1524000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9" name="c1-compare-2"/>
          <p:cNvGrpSpPr/>
          <p:nvPr/>
        </p:nvGrpSpPr>
        <p:grpSpPr>
          <a:xfrm>
            <a:off x="533400" y="3514725"/>
            <a:ext cx="5410200" cy="1939290"/>
            <a:chOff x="533400" y="3514725"/>
            <a:chExt cx="5410200" cy="1939290"/>
          </a:xfrm>
        </p:grpSpPr>
        <p:sp>
          <p:nvSpPr>
            <p:cNvPr id="23" name="Rectangle 23"/>
            <p:cNvSpPr/>
            <p:nvPr/>
          </p:nvSpPr>
          <p:spPr>
            <a:xfrm>
              <a:off x="533400" y="3514725"/>
              <a:ext cx="2533650" cy="1939290"/>
            </a:xfrm>
            <a:prstGeom prst="roundRect">
              <a:avLst>
                <a:gd name="adj" fmla="val 68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42925" y="3648075"/>
              <a:ext cx="47625" cy="167259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73430" y="374904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主存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786765" y="416623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44880" y="410337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程序运行时存放程序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和数据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786765" y="478726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44880" y="472440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速度快、容量小、每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位价格高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3409950" y="3514725"/>
              <a:ext cx="2533650" cy="1939290"/>
            </a:xfrm>
            <a:prstGeom prst="roundRect">
              <a:avLst>
                <a:gd name="adj" fmla="val 68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3419475" y="3648075"/>
              <a:ext cx="47625" cy="167259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3649980" y="374904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二级存储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3663315" y="416623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3821430" y="410337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两次运行之间长期保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3663315" y="478726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3821430" y="472440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速度慢、容量大、每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位价格低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3076575" y="4322445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3146915" y="4418648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59" name="c2-table-1"/>
          <p:cNvGrpSpPr/>
          <p:nvPr/>
        </p:nvGrpSpPr>
        <p:grpSpPr>
          <a:xfrm>
            <a:off x="6248400" y="1524000"/>
            <a:ext cx="5410200" cy="1795462"/>
            <a:chOff x="6248400" y="1524000"/>
            <a:chExt cx="5410200" cy="1795462"/>
          </a:xfrm>
        </p:grpSpPr>
        <p:sp>
          <p:nvSpPr>
            <p:cNvPr id="40" name="Rectangle 40"/>
            <p:cNvSpPr/>
            <p:nvPr/>
          </p:nvSpPr>
          <p:spPr>
            <a:xfrm>
              <a:off x="6248400" y="1524000"/>
              <a:ext cx="5410200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88113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网络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61278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范围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50635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356223" y="2108359"/>
              <a:ext cx="9026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局域网 LAN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979283" y="2108359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同一个建筑物内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18560" y="2108359"/>
              <a:ext cx="1345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以太网 Ethernet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248400" y="24164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248400" y="2421255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356223" y="2556986"/>
              <a:ext cx="940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广域网 WAN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979283" y="255698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跨城市、跨大洲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818560" y="2556986"/>
              <a:ext cx="13021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因特网 Internet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6248400" y="286607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356223" y="30056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无线网络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979283" y="300561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设备之间无线连接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818560" y="3005614"/>
              <a:ext cx="17335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WiFi、蓝牙 Bluetooth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6248400" y="1524000"/>
              <a:ext cx="5410200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7866698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9705975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0" name="c2-card-2"/>
          <p:cNvGrpSpPr/>
          <p:nvPr/>
        </p:nvGrpSpPr>
        <p:grpSpPr>
          <a:xfrm>
            <a:off x="6248400" y="3509962"/>
            <a:ext cx="5410200" cy="1944052"/>
            <a:chOff x="6248400" y="3509962"/>
            <a:chExt cx="5410200" cy="1944052"/>
          </a:xfrm>
        </p:grpSpPr>
        <p:sp>
          <p:nvSpPr>
            <p:cNvPr id="60" name="Rectangle 60"/>
            <p:cNvSpPr/>
            <p:nvPr/>
          </p:nvSpPr>
          <p:spPr>
            <a:xfrm>
              <a:off x="6248400" y="3509962"/>
              <a:ext cx="5410200" cy="1944052"/>
            </a:xfrm>
            <a:prstGeom prst="roundRect">
              <a:avLst>
                <a:gd name="adj" fmla="val 685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6257925" y="3643312"/>
              <a:ext cx="47625" cy="1677352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6496050" y="3719512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573456" y="375523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联网的好处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6501765" y="4159568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659880" y="4096702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通信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：计算机之间高速交换信息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6501765" y="4494848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659880" y="4431982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资源共享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：共用打印机、存储等设备</a:t>
              </a:r>
            </a:p>
          </p:txBody>
        </p:sp>
        <p:sp>
          <p:nvSpPr>
            <p:cNvPr id="68" name="Ellipse 68"/>
            <p:cNvSpPr/>
            <p:nvPr/>
          </p:nvSpPr>
          <p:spPr>
            <a:xfrm>
              <a:off x="6501765" y="4830128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6659880" y="4767262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远距离访问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：在远处使用另一台计算机</a:t>
              </a:r>
            </a:p>
          </p:txBody>
        </p:sp>
      </p:grpSp>
      <p:grpSp>
        <p:nvGrpSpPr>
          <p:cNvPr id="77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71" name="Rectangle 71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5" name="Group 75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6" name="TextBox 76"/>
            <p:cNvSpPr txBox="1"/>
            <p:nvPr/>
          </p:nvSpPr>
          <p:spPr>
            <a:xfrm>
              <a:off x="1040130" y="5991225"/>
              <a:ext cx="861623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Cache 用的 SRAM 和主存用的 DRAM 断电后都会丢失数据；闪存断电不丢数据，但比 DRAM 慢。</a:t>
              </a:r>
            </a:p>
          </p:txBody>
        </p:sp>
      </p:grpSp>
      <p:grpSp>
        <p:nvGrpSpPr>
          <p:cNvPr id="8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8" name="TextBox 78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6246114" cy="2997517"/>
            <a:chOff x="667512" y="1835468"/>
            <a:chExt cx="6246114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制造技术与成本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2362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性能不断提高的物质基础：集成电路越做越密，芯片越做越便宜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8321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 处理器和存储器的制造技术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半导体与芯片制造流程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集成电路成本与成品率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制造技术与成本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电子技术持续发展：容量和性能提升，成本降低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5" name="c1-table-1"/>
          <p:cNvGrpSpPr/>
          <p:nvPr/>
        </p:nvGrpSpPr>
        <p:grpSpPr>
          <a:xfrm>
            <a:off x="533400" y="1524000"/>
            <a:ext cx="5410200" cy="2692718"/>
            <a:chOff x="533400" y="1524000"/>
            <a:chExt cx="5410200" cy="269271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8704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年份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861299" y="165973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计算机中使用的技术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170366" y="1659731"/>
              <a:ext cx="149097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相对性能/单位成本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0336" y="2108359"/>
              <a:ext cx="410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1951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507046" y="210835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真空管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728051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4164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421255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60336" y="2556986"/>
              <a:ext cx="410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1965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507046" y="255698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晶体管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633278" y="2556986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86607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336" y="3005614"/>
              <a:ext cx="410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1975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507046" y="3005614"/>
              <a:ext cx="9115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集成电路 IC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538506" y="3005614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900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31470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319462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60336" y="3454241"/>
              <a:ext cx="410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507046" y="3454241"/>
              <a:ext cx="18011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超大规模集成电路 VLSI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969871" y="3454241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2,400,000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76332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60336" y="3903821"/>
              <a:ext cx="410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2013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507046" y="3903821"/>
              <a:ext cx="18011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甚大规模集成电路 ULSI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401236" y="3903821"/>
              <a:ext cx="14345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250,000,000,000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1524000"/>
              <a:ext cx="5410200" cy="269271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1394460" y="1524000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3883342" y="1524000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1" name="c1-card-2"/>
          <p:cNvGrpSpPr/>
          <p:nvPr/>
        </p:nvGrpSpPr>
        <p:grpSpPr>
          <a:xfrm>
            <a:off x="533400" y="4407218"/>
            <a:ext cx="5410200" cy="1602105"/>
            <a:chOff x="533400" y="4407218"/>
            <a:chExt cx="5410200" cy="1602105"/>
          </a:xfrm>
        </p:grpSpPr>
        <p:sp>
          <p:nvSpPr>
            <p:cNvPr id="36" name="Rectangle 36"/>
            <p:cNvSpPr/>
            <p:nvPr/>
          </p:nvSpPr>
          <p:spPr>
            <a:xfrm>
              <a:off x="533400" y="4407218"/>
              <a:ext cx="5410200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542925" y="4540568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781050" y="4616768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71258" y="465248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73430" y="4993958"/>
              <a:ext cx="46634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原课件把 1995 年写作“大规模集成电路”、2013 年写作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“超大规模集成电路”。教材原表分别为 VLSI（超大规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模）和 ULSI（甚大规模）。</a:t>
              </a:r>
            </a:p>
          </p:txBody>
        </p:sp>
      </p:grpSp>
      <p:grpSp>
        <p:nvGrpSpPr>
          <p:cNvPr id="98" name="c2-cells-1"/>
          <p:cNvGrpSpPr/>
          <p:nvPr/>
        </p:nvGrpSpPr>
        <p:grpSpPr>
          <a:xfrm>
            <a:off x="6242685" y="1524000"/>
            <a:ext cx="4456747" cy="1924050"/>
            <a:chOff x="6242685" y="1524000"/>
            <a:chExt cx="4456747" cy="1924050"/>
          </a:xfrm>
        </p:grpSpPr>
        <p:sp>
          <p:nvSpPr>
            <p:cNvPr id="42" name="TextBox 42"/>
            <p:cNvSpPr txBox="1"/>
            <p:nvPr/>
          </p:nvSpPr>
          <p:spPr>
            <a:xfrm>
              <a:off x="6242685" y="166354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年份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666548" y="1524000"/>
              <a:ext cx="5762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774343" y="166354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1977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242810" y="1524000"/>
              <a:ext cx="5762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350606" y="166354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1980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7819072" y="1524000"/>
              <a:ext cx="5762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926868" y="166354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1983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8395335" y="1524000"/>
              <a:ext cx="5762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503131" y="166354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1985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8971598" y="1524000"/>
              <a:ext cx="5762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9079393" y="166354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1989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9546908" y="1524000"/>
              <a:ext cx="5762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655656" y="166354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1992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10123170" y="1524000"/>
              <a:ext cx="5762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10231918" y="166354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1996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242685" y="212074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容量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6666548" y="1981200"/>
              <a:ext cx="576262" cy="419100"/>
            </a:xfrm>
            <a:prstGeom prst="rect">
              <a:avLst/>
            </a:prstGeom>
            <a:solidFill>
              <a:srgbClr val="E6EFF9"/>
            </a:solidFill>
            <a:ln w="15240">
              <a:solidFill>
                <a:srgbClr val="1F5FA8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810486" y="2120741"/>
              <a:ext cx="287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16K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7242810" y="1981200"/>
              <a:ext cx="5762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386749" y="2120741"/>
              <a:ext cx="287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64K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819072" y="1981200"/>
              <a:ext cx="5762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917011" y="2120741"/>
              <a:ext cx="379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256K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395335" y="1981200"/>
              <a:ext cx="5762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568547" y="2120741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1M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971598" y="1981200"/>
              <a:ext cx="5762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9144809" y="2120741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4M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9546908" y="1981200"/>
              <a:ext cx="5762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9675071" y="2120741"/>
              <a:ext cx="320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16M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10123170" y="1981200"/>
              <a:ext cx="576262" cy="419100"/>
            </a:xfrm>
            <a:prstGeom prst="rect">
              <a:avLst/>
            </a:prstGeom>
            <a:solidFill>
              <a:srgbClr val="E6EFF9"/>
            </a:solidFill>
            <a:ln w="15240">
              <a:solidFill>
                <a:srgbClr val="1F5FA8"/>
              </a:solidFill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10251334" y="2120741"/>
              <a:ext cx="320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64M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242685" y="271129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年份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6666548" y="2571750"/>
              <a:ext cx="5762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6774343" y="271129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1998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7242810" y="2571750"/>
              <a:ext cx="5762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7350606" y="271129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2000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7819072" y="2571750"/>
              <a:ext cx="5762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7926868" y="271129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2004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8395335" y="2571750"/>
              <a:ext cx="5762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8503131" y="271129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2007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8971598" y="2571750"/>
              <a:ext cx="5762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9079393" y="271129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2010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9546908" y="2571750"/>
              <a:ext cx="5762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9655656" y="271129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2012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6242685" y="316849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容量</a:t>
              </a:r>
            </a:p>
          </p:txBody>
        </p:sp>
        <p:sp>
          <p:nvSpPr>
            <p:cNvPr id="86" name="Rectangle 86"/>
            <p:cNvSpPr/>
            <p:nvPr/>
          </p:nvSpPr>
          <p:spPr>
            <a:xfrm>
              <a:off x="6666548" y="3028950"/>
              <a:ext cx="60579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6762998" y="3168491"/>
              <a:ext cx="412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128M</a:t>
              </a:r>
            </a:p>
          </p:txBody>
        </p:sp>
        <p:sp>
          <p:nvSpPr>
            <p:cNvPr id="88" name="Rectangle 88"/>
            <p:cNvSpPr/>
            <p:nvPr/>
          </p:nvSpPr>
          <p:spPr>
            <a:xfrm>
              <a:off x="7272338" y="3028950"/>
              <a:ext cx="60579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7368788" y="3168491"/>
              <a:ext cx="412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256M</a:t>
              </a:r>
            </a:p>
          </p:txBody>
        </p:sp>
        <p:sp>
          <p:nvSpPr>
            <p:cNvPr id="90" name="Rectangle 90"/>
            <p:cNvSpPr/>
            <p:nvPr/>
          </p:nvSpPr>
          <p:spPr>
            <a:xfrm>
              <a:off x="7878128" y="3028950"/>
              <a:ext cx="60579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91" name="TextBox 91"/>
            <p:cNvSpPr txBox="1"/>
            <p:nvPr/>
          </p:nvSpPr>
          <p:spPr>
            <a:xfrm>
              <a:off x="7974578" y="3168491"/>
              <a:ext cx="412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512M</a:t>
              </a:r>
            </a:p>
          </p:txBody>
        </p:sp>
        <p:sp>
          <p:nvSpPr>
            <p:cNvPr id="92" name="Rectangle 92"/>
            <p:cNvSpPr/>
            <p:nvPr/>
          </p:nvSpPr>
          <p:spPr>
            <a:xfrm>
              <a:off x="8484870" y="3028950"/>
              <a:ext cx="60579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93" name="TextBox 93"/>
            <p:cNvSpPr txBox="1"/>
            <p:nvPr/>
          </p:nvSpPr>
          <p:spPr>
            <a:xfrm>
              <a:off x="8690049" y="3168491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1G</a:t>
              </a:r>
            </a:p>
          </p:txBody>
        </p:sp>
        <p:sp>
          <p:nvSpPr>
            <p:cNvPr id="94" name="Rectangle 94"/>
            <p:cNvSpPr/>
            <p:nvPr/>
          </p:nvSpPr>
          <p:spPr>
            <a:xfrm>
              <a:off x="9090660" y="3028950"/>
              <a:ext cx="60579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95" name="TextBox 95"/>
            <p:cNvSpPr txBox="1"/>
            <p:nvPr/>
          </p:nvSpPr>
          <p:spPr>
            <a:xfrm>
              <a:off x="9295839" y="3168491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2G</a:t>
              </a:r>
            </a:p>
          </p:txBody>
        </p:sp>
        <p:sp>
          <p:nvSpPr>
            <p:cNvPr id="96" name="Rectangle 96"/>
            <p:cNvSpPr/>
            <p:nvPr/>
          </p:nvSpPr>
          <p:spPr>
            <a:xfrm>
              <a:off x="9696450" y="3028950"/>
              <a:ext cx="605790" cy="419100"/>
            </a:xfrm>
            <a:prstGeom prst="rect">
              <a:avLst/>
            </a:prstGeom>
            <a:solidFill>
              <a:srgbClr val="E6EFF9"/>
            </a:solidFill>
            <a:ln w="15240">
              <a:solidFill>
                <a:srgbClr val="1F5FA8"/>
              </a:solidFill>
            </a:ln>
          </p:spPr>
        </p:sp>
        <p:sp>
          <p:nvSpPr>
            <p:cNvPr id="97" name="TextBox 97"/>
            <p:cNvSpPr txBox="1"/>
            <p:nvPr/>
          </p:nvSpPr>
          <p:spPr>
            <a:xfrm>
              <a:off x="9901629" y="3168491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4G</a:t>
              </a:r>
            </a:p>
          </p:txBody>
        </p:sp>
      </p:grpSp>
      <p:grpSp>
        <p:nvGrpSpPr>
          <p:cNvPr id="100" name="c2-text-2"/>
          <p:cNvGrpSpPr/>
          <p:nvPr/>
        </p:nvGrpSpPr>
        <p:grpSpPr>
          <a:xfrm>
            <a:off x="6241923" y="3659981"/>
            <a:ext cx="4987290" cy="500824"/>
            <a:chOff x="6241923" y="3659981"/>
            <a:chExt cx="4987290" cy="500824"/>
          </a:xfrm>
        </p:grpSpPr>
        <p:sp>
          <p:nvSpPr>
            <p:cNvPr id="99" name="TextBox 99"/>
            <p:cNvSpPr txBox="1"/>
            <p:nvPr/>
          </p:nvSpPr>
          <p:spPr>
            <a:xfrm>
              <a:off x="6241923" y="3659981"/>
              <a:ext cx="4987290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单片 DRAM 的容量（单位是位，16K 即 16 Kbit），数据读自原课件的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DRAM 容量图</a:t>
              </a:r>
            </a:p>
          </p:txBody>
        </p:sp>
      </p:grpSp>
      <p:grpSp>
        <p:nvGrpSpPr>
          <p:cNvPr id="106" name="c2-callout-3"/>
          <p:cNvGrpSpPr/>
          <p:nvPr/>
        </p:nvGrpSpPr>
        <p:grpSpPr>
          <a:xfrm>
            <a:off x="6248400" y="4300538"/>
            <a:ext cx="5410200" cy="1059180"/>
            <a:chOff x="6248400" y="4300538"/>
            <a:chExt cx="5410200" cy="1059180"/>
          </a:xfrm>
        </p:grpSpPr>
        <p:sp>
          <p:nvSpPr>
            <p:cNvPr id="101" name="Rectangle 101"/>
            <p:cNvSpPr/>
            <p:nvPr/>
          </p:nvSpPr>
          <p:spPr>
            <a:xfrm>
              <a:off x="6248400" y="4300538"/>
              <a:ext cx="5410200" cy="1059180"/>
            </a:xfrm>
            <a:prstGeom prst="roundRect">
              <a:avLst>
                <a:gd name="adj" fmla="val 10791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104" name="Group 104"/>
            <p:cNvGrpSpPr/>
            <p:nvPr/>
          </p:nvGrpSpPr>
          <p:grpSpPr>
            <a:xfrm>
              <a:off x="6453188" y="4730117"/>
              <a:ext cx="200023" cy="200023"/>
              <a:chOff x="6453188" y="4730117"/>
              <a:chExt cx="200023" cy="200023"/>
            </a:xfrm>
          </p:grpSpPr>
          <p:sp>
            <p:nvSpPr>
              <p:cNvPr id="102" name="Freeform 102"/>
              <p:cNvSpPr/>
              <p:nvPr/>
            </p:nvSpPr>
            <p:spPr>
              <a:xfrm>
                <a:off x="6453188" y="473011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03" name="Freeform 103"/>
              <p:cNvSpPr/>
              <p:nvPr/>
            </p:nvSpPr>
            <p:spPr>
              <a:xfrm>
                <a:off x="6586538" y="479679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05" name="TextBox 105"/>
            <p:cNvSpPr txBox="1"/>
            <p:nvPr/>
          </p:nvSpPr>
          <p:spPr>
            <a:xfrm>
              <a:off x="6755130" y="4449128"/>
              <a:ext cx="43014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1977→1996 年，16K→64M，19 年增至 4096 倍，约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 3 年变为 4 倍；1996→2012 年，64M→4G，16 年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增至 64 倍，约 2.7 年翻一番。</a:t>
              </a:r>
            </a:p>
          </p:txBody>
        </p:sp>
      </p:grpSp>
      <p:grpSp>
        <p:nvGrpSpPr>
          <p:cNvPr id="10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07" name="TextBox 107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制造技术与成本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从硅锭到芯片：半导体材料与制造流程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249662" cy="597598"/>
            <a:chOff x="525399" y="1550194"/>
            <a:chExt cx="10249662" cy="597598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249662" cy="597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80"/>
                </a:lnSpc>
              </a:pPr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硅是一种天然的半导体。加入特定材料后，硅可以变成良好的导体（像细铜线、铝线）、良好的绝缘体（像塑料、玻</a:t>
              </a:r>
              <a:br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璃），或可控的导体/绝缘体（像开关，即晶体管）。</a:t>
              </a:r>
            </a:p>
          </p:txBody>
        </p:sp>
      </p:grpSp>
      <p:grpSp>
        <p:nvGrpSpPr>
          <p:cNvPr id="63" name="c1-flow-1"/>
          <p:cNvGrpSpPr/>
          <p:nvPr/>
        </p:nvGrpSpPr>
        <p:grpSpPr>
          <a:xfrm>
            <a:off x="689610" y="2562225"/>
            <a:ext cx="10813732" cy="2533650"/>
            <a:chOff x="689610" y="2562225"/>
            <a:chExt cx="10813732" cy="2533650"/>
          </a:xfrm>
        </p:grpSpPr>
        <p:sp>
          <p:nvSpPr>
            <p:cNvPr id="9" name="Freeform 9"/>
            <p:cNvSpPr/>
            <p:nvPr/>
          </p:nvSpPr>
          <p:spPr>
            <a:xfrm>
              <a:off x="2602230" y="2781300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0" y="0"/>
                  </a:moveTo>
                  <a:lnTo>
                    <a:pt x="2076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809875" y="27289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4827270" y="2781300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0" y="0"/>
                  </a:moveTo>
                  <a:lnTo>
                    <a:pt x="2076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5034915" y="27289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7052310" y="2781300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0" y="0"/>
                  </a:moveTo>
                  <a:lnTo>
                    <a:pt x="2076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7259955" y="27289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9277350" y="2781300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0" y="0"/>
                  </a:moveTo>
                  <a:lnTo>
                    <a:pt x="2076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9484995" y="27289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10546080" y="3000375"/>
              <a:ext cx="9525" cy="504825"/>
            </a:xfrm>
            <a:custGeom>
              <a:avLst/>
              <a:gdLst/>
              <a:ahLst/>
              <a:cxnLst/>
              <a:rect l="l" t="t" r="r" b="b"/>
              <a:pathLst>
                <a:path w="9525" h="504825">
                  <a:moveTo>
                    <a:pt x="0" y="0"/>
                  </a:moveTo>
                  <a:lnTo>
                    <a:pt x="0" y="5048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10493692" y="35052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9382125" y="3829050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20764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9277350" y="37766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7157085" y="3829050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20764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7052310" y="37766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4932045" y="3829050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20764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4827270" y="37766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2707005" y="3829050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20764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2602230" y="37766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1645920" y="4048125"/>
              <a:ext cx="9525" cy="504825"/>
            </a:xfrm>
            <a:custGeom>
              <a:avLst/>
              <a:gdLst/>
              <a:ahLst/>
              <a:cxnLst/>
              <a:rect l="l" t="t" r="r" b="b"/>
              <a:pathLst>
                <a:path w="9525" h="504825">
                  <a:moveTo>
                    <a:pt x="0" y="0"/>
                  </a:moveTo>
                  <a:lnTo>
                    <a:pt x="0" y="5048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1593532" y="455295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2602230" y="4876800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0" y="0"/>
                  </a:moveTo>
                  <a:lnTo>
                    <a:pt x="2076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2809875" y="48244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4827270" y="4876800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0" y="0"/>
                  </a:moveTo>
                  <a:lnTo>
                    <a:pt x="2076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5034915" y="48244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7052310" y="4876800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0" y="0"/>
                  </a:moveTo>
                  <a:lnTo>
                    <a:pt x="2076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7259955" y="48244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689610" y="2562225"/>
              <a:ext cx="1912620" cy="438150"/>
            </a:xfrm>
            <a:custGeom>
              <a:avLst/>
              <a:gdLst/>
              <a:ahLst/>
              <a:cxnLst/>
              <a:rect l="l" t="t" r="r" b="b"/>
              <a:pathLst>
                <a:path w="1912620" h="438150">
                  <a:moveTo>
                    <a:pt x="133350" y="0"/>
                  </a:moveTo>
                  <a:lnTo>
                    <a:pt x="1912620" y="0"/>
                  </a:lnTo>
                  <a:lnTo>
                    <a:pt x="1779270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E6EFF9"/>
            </a:solidFill>
            <a:ln w="13335">
              <a:solidFill>
                <a:srgbClr val="1F5FA8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2914650" y="2562225"/>
              <a:ext cx="191357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5139690" y="2562225"/>
              <a:ext cx="1912620" cy="438150"/>
            </a:xfrm>
            <a:custGeom>
              <a:avLst/>
              <a:gdLst/>
              <a:ahLst/>
              <a:cxnLst/>
              <a:rect l="l" t="t" r="r" b="b"/>
              <a:pathLst>
                <a:path w="1912620" h="438150">
                  <a:moveTo>
                    <a:pt x="133350" y="0"/>
                  </a:moveTo>
                  <a:lnTo>
                    <a:pt x="1912620" y="0"/>
                  </a:lnTo>
                  <a:lnTo>
                    <a:pt x="1779270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E6EFF9"/>
            </a:solidFill>
            <a:ln w="13335">
              <a:solidFill>
                <a:srgbClr val="1F5FA8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7364730" y="2562225"/>
              <a:ext cx="191357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9589770" y="2562225"/>
              <a:ext cx="1912620" cy="438150"/>
            </a:xfrm>
            <a:custGeom>
              <a:avLst/>
              <a:gdLst/>
              <a:ahLst/>
              <a:cxnLst/>
              <a:rect l="l" t="t" r="r" b="b"/>
              <a:pathLst>
                <a:path w="1912620" h="438150">
                  <a:moveTo>
                    <a:pt x="133350" y="0"/>
                  </a:moveTo>
                  <a:lnTo>
                    <a:pt x="1912620" y="0"/>
                  </a:lnTo>
                  <a:lnTo>
                    <a:pt x="1779270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E6EFF9"/>
            </a:solidFill>
            <a:ln w="13335">
              <a:solidFill>
                <a:srgbClr val="1F5FA8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9589770" y="3609975"/>
              <a:ext cx="191357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7364730" y="3514725"/>
              <a:ext cx="1912620" cy="628650"/>
            </a:xfrm>
            <a:custGeom>
              <a:avLst/>
              <a:gdLst/>
              <a:ahLst/>
              <a:cxnLst/>
              <a:rect l="l" t="t" r="r" b="b"/>
              <a:pathLst>
                <a:path w="1912620" h="628650">
                  <a:moveTo>
                    <a:pt x="133350" y="0"/>
                  </a:moveTo>
                  <a:lnTo>
                    <a:pt x="1912620" y="0"/>
                  </a:lnTo>
                  <a:lnTo>
                    <a:pt x="1779270" y="628650"/>
                  </a:lnTo>
                  <a:lnTo>
                    <a:pt x="0" y="628650"/>
                  </a:lnTo>
                  <a:close/>
                </a:path>
              </a:pathLst>
            </a:custGeom>
            <a:solidFill>
              <a:srgbClr val="E6EFF9"/>
            </a:solidFill>
            <a:ln w="13335">
              <a:solidFill>
                <a:srgbClr val="1F5FA8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5139690" y="3609975"/>
              <a:ext cx="191357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2914650" y="3609975"/>
              <a:ext cx="1912620" cy="438150"/>
            </a:xfrm>
            <a:custGeom>
              <a:avLst/>
              <a:gdLst/>
              <a:ahLst/>
              <a:cxnLst/>
              <a:rect l="l" t="t" r="r" b="b"/>
              <a:pathLst>
                <a:path w="1912620" h="438150">
                  <a:moveTo>
                    <a:pt x="133350" y="0"/>
                  </a:moveTo>
                  <a:lnTo>
                    <a:pt x="1912620" y="0"/>
                  </a:lnTo>
                  <a:lnTo>
                    <a:pt x="1779270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E6EFF9"/>
            </a:solidFill>
            <a:ln w="13335">
              <a:solidFill>
                <a:srgbClr val="1F5FA8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89610" y="3609975"/>
              <a:ext cx="191357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689610" y="4657725"/>
              <a:ext cx="1912620" cy="438150"/>
            </a:xfrm>
            <a:custGeom>
              <a:avLst/>
              <a:gdLst/>
              <a:ahLst/>
              <a:cxnLst/>
              <a:rect l="l" t="t" r="r" b="b"/>
              <a:pathLst>
                <a:path w="1912620" h="438150">
                  <a:moveTo>
                    <a:pt x="133350" y="0"/>
                  </a:moveTo>
                  <a:lnTo>
                    <a:pt x="1912620" y="0"/>
                  </a:lnTo>
                  <a:lnTo>
                    <a:pt x="1779270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E6EFF9"/>
            </a:solidFill>
            <a:ln w="13335">
              <a:solidFill>
                <a:srgbClr val="1F5FA8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2914650" y="4657725"/>
              <a:ext cx="191357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5139690" y="4657725"/>
              <a:ext cx="1912620" cy="438150"/>
            </a:xfrm>
            <a:custGeom>
              <a:avLst/>
              <a:gdLst/>
              <a:ahLst/>
              <a:cxnLst/>
              <a:rect l="l" t="t" r="r" b="b"/>
              <a:pathLst>
                <a:path w="1912620" h="438150">
                  <a:moveTo>
                    <a:pt x="133350" y="0"/>
                  </a:moveTo>
                  <a:lnTo>
                    <a:pt x="1912620" y="0"/>
                  </a:lnTo>
                  <a:lnTo>
                    <a:pt x="1779270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E6EFF9"/>
            </a:solidFill>
            <a:ln w="13335">
              <a:solidFill>
                <a:srgbClr val="1F5FA8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7364730" y="4657725"/>
              <a:ext cx="1913572" cy="43815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1467129" y="269224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硅锭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3692169" y="269224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切片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744896" y="269224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空白晶圆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621001" y="2692241"/>
              <a:ext cx="14000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20~40 道加工工序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022662" y="269224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有图案的晶圆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194976" y="373999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晶圆测试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501763" y="3630454"/>
              <a:ext cx="163855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测试过的晶圆（标出坏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芯片）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917209" y="373999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划片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3347542" y="373999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测试过的裸片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950189" y="373999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合格裸片装入封装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2502" y="478774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封装后的芯片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3519856" y="478774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成品测试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5400269" y="478774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测试过的封装芯片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883779" y="478774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发货给客户</a:t>
              </a:r>
            </a:p>
          </p:txBody>
        </p:sp>
      </p:grpSp>
      <p:grpSp>
        <p:nvGrpSpPr>
          <p:cNvPr id="69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64" name="Rectangle 64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738188" y="5871212"/>
              <a:ext cx="200023" cy="200023"/>
              <a:chOff x="738188" y="5871212"/>
              <a:chExt cx="200023" cy="200023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738188" y="587121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871538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1040130" y="5728335"/>
              <a:ext cx="99688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成品率（yield）：一片晶圆上合格芯片数占芯片总数的百分比。坏芯片在晶圆测试时标出、划片后丢弃，封装后还要再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测一次。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制造技术与成本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集成电路成本：芯片面积越大，每片芯片贵得越多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card-1"/>
          <p:cNvGrpSpPr/>
          <p:nvPr/>
        </p:nvGrpSpPr>
        <p:grpSpPr>
          <a:xfrm>
            <a:off x="533400" y="1524000"/>
            <a:ext cx="4544378" cy="2251710"/>
            <a:chOff x="533400" y="1524000"/>
            <a:chExt cx="4544378" cy="225171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544378" cy="2251710"/>
            </a:xfrm>
            <a:prstGeom prst="roundRect">
              <a:avLst>
                <a:gd name="adj" fmla="val 592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98501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实例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7485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Intel Core i7 晶圆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19265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129790"/>
              <a:ext cx="23879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直径 300 mm，32 nm 工艺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252793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2465070"/>
              <a:ext cx="31754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280 个完整芯片（假设良率 100%）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86765" y="286321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44880" y="2800350"/>
              <a:ext cx="27311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每个芯片 20.7 mm × 10.5 mm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4573" y="3132296"/>
              <a:ext cx="384124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晶圆边缘放不下完整芯片，所以实际芯片数少于“晶圆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面积 / 芯片面积”。</a:t>
              </a:r>
            </a:p>
          </p:txBody>
        </p:sp>
      </p:grpSp>
      <p:grpSp>
        <p:nvGrpSpPr>
          <p:cNvPr id="30" name="c1-card-2"/>
          <p:cNvGrpSpPr/>
          <p:nvPr/>
        </p:nvGrpSpPr>
        <p:grpSpPr>
          <a:xfrm>
            <a:off x="533400" y="3966210"/>
            <a:ext cx="4544378" cy="2232660"/>
            <a:chOff x="533400" y="3966210"/>
            <a:chExt cx="4544378" cy="2232660"/>
          </a:xfrm>
        </p:grpSpPr>
        <p:sp>
          <p:nvSpPr>
            <p:cNvPr id="20" name="Rectangle 20"/>
            <p:cNvSpPr/>
            <p:nvPr/>
          </p:nvSpPr>
          <p:spPr>
            <a:xfrm>
              <a:off x="533400" y="3966210"/>
              <a:ext cx="4544378" cy="2232660"/>
            </a:xfrm>
            <a:prstGeom prst="roundRect">
              <a:avLst>
                <a:gd name="adj" fmla="val 5973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42950" y="4175760"/>
              <a:ext cx="1489710" cy="25717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03605" y="4211479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为什么是非线性关系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48665" y="461581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06780" y="4552950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晶圆的价格和面积是固定的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748665" y="495109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06780" y="4888230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瑕疵率由加工步骤的数量决定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748665" y="528637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06780" y="522351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芯片面积由体系结构和电路设计决定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36473" y="5554504"/>
              <a:ext cx="391439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面积变大，每片晶圆上的芯片变少，成品率也下降，两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个因素叠加。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formula4"/>
              <p:cNvSpPr txBox="1">
                <a:spLocks noGrp="1"/>
              </p:cNvSpPr>
              <p:nvPr/>
            </p:nvSpPr>
            <p:spPr>
              <a:xfrm>
                <a:off x="5382578" y="1524000"/>
                <a:ext cx="6276022" cy="5915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 m:val="on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每芯片的价格</m:t>
                      </m:r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nor m:val="on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每晶圆的价格</m:t>
                          </m:r>
                        </m:num>
                        <m:den>
                          <m:r>
                            <m:rPr>
                              <m:nor m:val="on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每晶圆的芯片数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×</m:t>
                          </m:r>
                          <m:r>
                            <m:rPr>
                              <m:nor m:val="on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成品率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formula5"/>
              <p:cNvSpPr txBox="1">
                <a:spLocks noGrp="1"/>
              </p:cNvSpPr>
              <p:nvPr/>
            </p:nvSpPr>
            <p:spPr>
              <a:xfrm>
                <a:off x="5382578" y="2306002"/>
                <a:ext cx="6276022" cy="617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 m:val="on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每晶圆的芯片数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nor m:val="on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晶圆面积</m:t>
                          </m:r>
                        </m:num>
                        <m:den>
                          <m:r>
                            <m:rPr>
                              <m:nor m:val="on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芯片面积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formula6"/>
              <p:cNvSpPr txBox="1">
                <a:spLocks noGrp="1"/>
              </p:cNvSpPr>
              <p:nvPr/>
            </p:nvSpPr>
            <p:spPr>
              <a:xfrm>
                <a:off x="5382578" y="3113722"/>
                <a:ext cx="6276022" cy="617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 m:val="on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成品率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+</m:t>
                                  </m:r>
                                  <m:f>
                                    <m:fPr>
                                      <m:type m:val="bar"/>
                                      <m:ctrl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nor m:val="on"/>
                                        </m:r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单位面积瑕疵数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×</m:t>
                                      </m:r>
                                      <m:r>
                                        <m:rPr>
                                          <m:nor m:val="on"/>
                                        </m:r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芯片面积</m:t>
                                      </m:r>
                                    </m:num>
                                    <m:den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40" name="c2-callout-4"/>
          <p:cNvGrpSpPr/>
          <p:nvPr/>
        </p:nvGrpSpPr>
        <p:grpSpPr>
          <a:xfrm>
            <a:off x="5382578" y="3921442"/>
            <a:ext cx="6276022" cy="782955"/>
            <a:chOff x="5382578" y="3921442"/>
            <a:chExt cx="6276022" cy="782955"/>
          </a:xfrm>
        </p:grpSpPr>
        <p:sp>
          <p:nvSpPr>
            <p:cNvPr id="34" name="Rectangle 34"/>
            <p:cNvSpPr/>
            <p:nvPr/>
          </p:nvSpPr>
          <p:spPr>
            <a:xfrm>
              <a:off x="5382578" y="3921442"/>
              <a:ext cx="6276022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5587365" y="4212908"/>
              <a:ext cx="200026" cy="200026"/>
              <a:chOff x="5587365" y="4212908"/>
              <a:chExt cx="200026" cy="200026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5587365" y="421290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5687378" y="42795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5676265" y="431292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5889308" y="4070032"/>
              <a:ext cx="5158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成品率公式是根据集成电路工厂的实际成品率总结出的经验公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式：单位面积瑕疵数与芯片面积的乘积越大，成品率越低。</a:t>
              </a:r>
            </a:p>
          </p:txBody>
        </p:sp>
      </p:grpSp>
      <p:grpSp>
        <p:nvGrpSpPr>
          <p:cNvPr id="47" name="c2-callout-5"/>
          <p:cNvGrpSpPr/>
          <p:nvPr/>
        </p:nvGrpSpPr>
        <p:grpSpPr>
          <a:xfrm>
            <a:off x="5382578" y="4894898"/>
            <a:ext cx="6276022" cy="1059180"/>
            <a:chOff x="5382578" y="4894898"/>
            <a:chExt cx="6276022" cy="1059180"/>
          </a:xfrm>
        </p:grpSpPr>
        <p:sp>
          <p:nvSpPr>
            <p:cNvPr id="41" name="Rectangle 41"/>
            <p:cNvSpPr/>
            <p:nvPr/>
          </p:nvSpPr>
          <p:spPr>
            <a:xfrm>
              <a:off x="5382578" y="4894898"/>
              <a:ext cx="6276022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5587365" y="5324475"/>
              <a:ext cx="200026" cy="200025"/>
              <a:chOff x="5587365" y="5324475"/>
              <a:chExt cx="200026" cy="200025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5587365" y="532447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5627104" y="536892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5661819" y="548005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5889308" y="5043488"/>
              <a:ext cx="52254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代入 i7：晶圆面积 π × 150² ≈ 70,686 mm²，芯片面积 20.7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× 10.5 = 217.35 mm²，估算约 325 片，比实际的 280 片多，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差额就是边缘损失。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制造技术与成本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补充例题：芯片面积减半，每片芯片的价格降到多少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8" name="c1-steps-1"/>
          <p:cNvGrpSpPr/>
          <p:nvPr/>
        </p:nvGrpSpPr>
        <p:grpSpPr>
          <a:xfrm>
            <a:off x="533400" y="1533525"/>
            <a:ext cx="5688691" cy="3472339"/>
            <a:chOff x="533400" y="1533525"/>
            <a:chExt cx="5688691" cy="3472339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295370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32314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3969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311372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31875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90429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9781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448722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56104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642" y="1564957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已知（晶圆价格和瑕疵率为假设值）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785" y="1833086"/>
              <a:ext cx="520319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300 mm 晶圆价格 5000 美元，单位面积瑕疵数 0.2 个/cm²。芯片 A 为 20.7 mm ×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10.5 mm = 2.1735 cm²；芯片 B 面积减半，为 1.0868 cm²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642" y="235553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每晶圆芯片数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785" y="2622709"/>
              <a:ext cx="5032502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晶圆面积 = π × (15 cm)² ≈ 706.86 cm²。A：706.86 / 2.1735 ≈ 325 片；B：≈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650 片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642" y="314515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成品率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785" y="3413284"/>
              <a:ext cx="484759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A：1 / (1 + 0.2 × 2.1735 / 2)² = 1 / 1.2174² ≈ 0.675；B：1 / (1 + 0.2 ×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1.0868 / 2)² = 1 / 1.1087² ≈ 0.814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5642" y="393573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每芯片的价格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785" y="4202906"/>
              <a:ext cx="5275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A：5000 / (325 × 0.675) ≈ 22.8 美元；B：5000 / (650 × 0.814) ≈ 9.5 美元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5642" y="451866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比较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6785" y="4785836"/>
              <a:ext cx="32530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9.5 / 22.8 ≈ 0.41，面积减半，价格降到约 41%</a:t>
              </a:r>
            </a:p>
          </p:txBody>
        </p:sp>
      </p:grpSp>
      <p:grpSp>
        <p:nvGrpSpPr>
          <p:cNvPr id="34" name="c1-card-2"/>
          <p:cNvGrpSpPr/>
          <p:nvPr/>
        </p:nvGrpSpPr>
        <p:grpSpPr>
          <a:xfrm>
            <a:off x="533400" y="5170170"/>
            <a:ext cx="6059805" cy="1185862"/>
            <a:chOff x="533400" y="5170170"/>
            <a:chExt cx="6059805" cy="1185862"/>
          </a:xfrm>
        </p:grpSpPr>
        <p:sp>
          <p:nvSpPr>
            <p:cNvPr id="29" name="Rectangle 29"/>
            <p:cNvSpPr/>
            <p:nvPr/>
          </p:nvSpPr>
          <p:spPr>
            <a:xfrm>
              <a:off x="533400" y="5170170"/>
              <a:ext cx="6059805" cy="1185862"/>
            </a:xfrm>
            <a:prstGeom prst="roundRect">
              <a:avLst>
                <a:gd name="adj" fmla="val 112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542925" y="5303520"/>
              <a:ext cx="47625" cy="91916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758190" y="5356860"/>
              <a:ext cx="145446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20357" y="5389721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为什么小芯片成品率高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51332" y="5700712"/>
              <a:ext cx="53286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瑕疵随机落在晶圆上。芯片越小，一个芯片上落到瑕疵的机会越小，所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以合格的比例越高。</a:t>
              </a:r>
            </a:p>
          </p:txBody>
        </p:sp>
      </p:grpSp>
      <p:grpSp>
        <p:nvGrpSpPr>
          <p:cNvPr id="64" name="c2-table-1"/>
          <p:cNvGrpSpPr/>
          <p:nvPr/>
        </p:nvGrpSpPr>
        <p:grpSpPr>
          <a:xfrm>
            <a:off x="6898005" y="1524000"/>
            <a:ext cx="4760595" cy="2873692"/>
            <a:chOff x="6898005" y="1524000"/>
            <a:chExt cx="4760595" cy="2873692"/>
          </a:xfrm>
        </p:grpSpPr>
        <p:sp>
          <p:nvSpPr>
            <p:cNvPr id="35" name="Rectangle 35"/>
            <p:cNvSpPr/>
            <p:nvPr/>
          </p:nvSpPr>
          <p:spPr>
            <a:xfrm>
              <a:off x="6898005" y="1524000"/>
              <a:ext cx="4760595" cy="679132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18082" y="176879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项目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956392" y="1768792"/>
              <a:ext cx="5485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芯片 A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203632" y="1648778"/>
              <a:ext cx="1195435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890"/>
                </a:lnSpc>
              </a:pPr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芯片 B（面积减</a:t>
              </a:r>
              <a:br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半）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994017" y="232791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芯片面积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044769" y="2327910"/>
              <a:ext cx="8042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2.17 cm²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758316" y="2327910"/>
              <a:ext cx="8042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1.09 cm²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898005" y="263747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6898005" y="2642235"/>
              <a:ext cx="4760595" cy="43910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994017" y="276701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每晶圆芯片数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380982" y="2767012"/>
              <a:ext cx="46805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≈ 325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094530" y="2767012"/>
              <a:ext cx="46805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≈ 650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898005" y="307562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994017" y="320611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成品率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144724" y="3206115"/>
              <a:ext cx="7043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≈ 67.5%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858271" y="3206115"/>
              <a:ext cx="7043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≈ 81.4%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898005" y="351472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6898005" y="3519488"/>
              <a:ext cx="4760595" cy="43910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994017" y="364521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合格芯片数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380982" y="3645218"/>
              <a:ext cx="46805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≈ 219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094530" y="3645218"/>
              <a:ext cx="46805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≈ 529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6898005" y="395382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994017" y="408336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每芯片价格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863032" y="4083368"/>
              <a:ext cx="98600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≈ 22.8 美元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9954578" y="3968115"/>
              <a:ext cx="1694498" cy="420052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0676534" y="4083368"/>
              <a:ext cx="8860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≈ 9.5 美元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898005" y="1524000"/>
              <a:ext cx="4760595" cy="287369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8511540" y="1524000"/>
              <a:ext cx="9525" cy="28736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9940290" y="1524000"/>
              <a:ext cx="9525" cy="28736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0" name="c2-callout-2"/>
          <p:cNvGrpSpPr/>
          <p:nvPr/>
        </p:nvGrpSpPr>
        <p:grpSpPr>
          <a:xfrm>
            <a:off x="6898005" y="4567238"/>
            <a:ext cx="4760595" cy="729615"/>
            <a:chOff x="6898005" y="4567238"/>
            <a:chExt cx="4760595" cy="729615"/>
          </a:xfrm>
        </p:grpSpPr>
        <p:sp>
          <p:nvSpPr>
            <p:cNvPr id="65" name="Rectangle 65"/>
            <p:cNvSpPr/>
            <p:nvPr/>
          </p:nvSpPr>
          <p:spPr>
            <a:xfrm>
              <a:off x="6898005" y="4567238"/>
              <a:ext cx="4760595" cy="729615"/>
            </a:xfrm>
            <a:prstGeom prst="roundRect">
              <a:avLst>
                <a:gd name="adj" fmla="val 15666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7102793" y="4832035"/>
              <a:ext cx="200023" cy="200023"/>
              <a:chOff x="7102793" y="4832035"/>
              <a:chExt cx="200023" cy="200023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7102793" y="483203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7236143" y="489870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7405497" y="4713922"/>
              <a:ext cx="381133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面积减半，价格降到约 41%，比一半还低：芯片数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翻倍，成品率同时提高。</a:t>
              </a:r>
            </a:p>
          </p:txBody>
        </p:sp>
      </p:grpSp>
      <p:grpSp>
        <p:nvGrpSpPr>
          <p:cNvPr id="77" name="c2-callout-3"/>
          <p:cNvGrpSpPr/>
          <p:nvPr/>
        </p:nvGrpSpPr>
        <p:grpSpPr>
          <a:xfrm>
            <a:off x="6898005" y="5466398"/>
            <a:ext cx="4760595" cy="729615"/>
            <a:chOff x="6898005" y="5466398"/>
            <a:chExt cx="4760595" cy="729615"/>
          </a:xfrm>
        </p:grpSpPr>
        <p:sp>
          <p:nvSpPr>
            <p:cNvPr id="71" name="Rectangle 71"/>
            <p:cNvSpPr/>
            <p:nvPr/>
          </p:nvSpPr>
          <p:spPr>
            <a:xfrm>
              <a:off x="6898005" y="5466398"/>
              <a:ext cx="4760595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5" name="Group 75"/>
            <p:cNvGrpSpPr/>
            <p:nvPr/>
          </p:nvGrpSpPr>
          <p:grpSpPr>
            <a:xfrm>
              <a:off x="7102793" y="5731193"/>
              <a:ext cx="200026" cy="200026"/>
              <a:chOff x="7102793" y="5731193"/>
              <a:chExt cx="200026" cy="200026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7102793" y="573119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7202805" y="579786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7191693" y="583120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6" name="TextBox 76"/>
            <p:cNvSpPr txBox="1"/>
            <p:nvPr/>
          </p:nvSpPr>
          <p:spPr>
            <a:xfrm>
              <a:off x="7405497" y="5613083"/>
              <a:ext cx="386276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公式估算忽略了晶圆边缘的损失，真实的 i7 晶圆只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 280 个完整芯片。</a:t>
              </a:r>
            </a:p>
          </p:txBody>
        </p:sp>
      </p:grpSp>
      <p:grpSp>
        <p:nvGrpSpPr>
          <p:cNvPr id="8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8" name="TextBox 78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3697415" cy="3351847"/>
            <a:chOff x="667512" y="1835468"/>
            <a:chExt cx="3697415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00584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怎样定义、测量和比较计算机的性能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45814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1.6.1 性能的定义：响应时间与吞吐率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32684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1.6.2 性能的度量：CPU 时间与时钟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4544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1.6.3 CPU 性能公式与 CPI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性能公式总结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性能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哪架客机性能最好？先说清楚比的是哪项指标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8" name="c1-table-1"/>
          <p:cNvGrpSpPr/>
          <p:nvPr/>
        </p:nvGrpSpPr>
        <p:grpSpPr>
          <a:xfrm>
            <a:off x="527685" y="1524000"/>
            <a:ext cx="6497955" cy="3534252"/>
            <a:chOff x="527685" y="1524000"/>
            <a:chExt cx="6497955" cy="353425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492240" cy="75438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02995" y="17964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客机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203132" y="179641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载客量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098482" y="1663065"/>
              <a:ext cx="777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航程（英</a:t>
              </a:r>
              <a:br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里）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181713" y="1663065"/>
              <a:ext cx="1077754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巡航速度</a:t>
              </a:r>
              <a:br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（英里/时）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634990" y="1663065"/>
              <a:ext cx="1158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吞吐率（乘客</a:t>
              </a:r>
              <a:br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× 英里/时）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40080" y="2417445"/>
              <a:ext cx="8325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波音 777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480500" y="2417445"/>
              <a:ext cx="3484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375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473387" y="241744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4630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47476" y="2417445"/>
              <a:ext cx="3484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610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126290" y="2417445"/>
              <a:ext cx="7926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228,750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76129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766060"/>
              <a:ext cx="6492240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0080" y="2905125"/>
              <a:ext cx="8325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波音 747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2101215" y="2775585"/>
              <a:ext cx="824865" cy="46863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480500" y="2905125"/>
              <a:ext cx="3484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470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473387" y="290512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4150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947476" y="2905125"/>
              <a:ext cx="3484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610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412105" y="2775585"/>
              <a:ext cx="1604010" cy="46863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126290" y="2905125"/>
              <a:ext cx="7926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286,700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24897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0080" y="3392805"/>
              <a:ext cx="89535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协和式</a:t>
              </a:r>
              <a:br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Concorde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480500" y="3526155"/>
              <a:ext cx="3484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473387" y="352615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4000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049078" y="3263265"/>
              <a:ext cx="1343978" cy="73533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4836414" y="352615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1350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126290" y="3526155"/>
              <a:ext cx="7926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178,200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00335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4008120"/>
              <a:ext cx="6492240" cy="7543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0080" y="4147185"/>
              <a:ext cx="785336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道格拉斯</a:t>
              </a:r>
              <a:br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DC-8-50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480500" y="4280535"/>
              <a:ext cx="3484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146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2945130" y="4017645"/>
              <a:ext cx="1084898" cy="73533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3473387" y="428053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8720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947476" y="4280535"/>
              <a:ext cx="3484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544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237351" y="4280535"/>
              <a:ext cx="6816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79,424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3400" y="1524000"/>
              <a:ext cx="6492240" cy="32385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2086928" y="1524000"/>
              <a:ext cx="9525" cy="32385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2930842" y="1524000"/>
              <a:ext cx="9525" cy="32385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4034790" y="1524000"/>
              <a:ext cx="9525" cy="32385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5397818" y="1524000"/>
              <a:ext cx="9525" cy="32385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27685" y="4838224"/>
              <a:ext cx="5657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吞吐率 = 载客量 × 巡航速度；绿色为各列最大值。原课件用 4 张条形图给出这些数据</a:t>
              </a:r>
            </a:p>
          </p:txBody>
        </p:sp>
      </p:grpSp>
      <p:grpSp>
        <p:nvGrpSpPr>
          <p:cNvPr id="55" name="c1-callout-2"/>
          <p:cNvGrpSpPr/>
          <p:nvPr/>
        </p:nvGrpSpPr>
        <p:grpSpPr>
          <a:xfrm>
            <a:off x="533400" y="5204460"/>
            <a:ext cx="6492240" cy="782955"/>
            <a:chOff x="533400" y="5204460"/>
            <a:chExt cx="6492240" cy="782955"/>
          </a:xfrm>
        </p:grpSpPr>
        <p:sp>
          <p:nvSpPr>
            <p:cNvPr id="49" name="Rectangle 49"/>
            <p:cNvSpPr/>
            <p:nvPr/>
          </p:nvSpPr>
          <p:spPr>
            <a:xfrm>
              <a:off x="533400" y="5204460"/>
              <a:ext cx="649224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738188" y="5495925"/>
              <a:ext cx="200026" cy="200026"/>
              <a:chOff x="738188" y="5495925"/>
              <a:chExt cx="200026" cy="200026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738188" y="549592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38200" y="5562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27088" y="559593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040130" y="5353050"/>
              <a:ext cx="53682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协和式的速度是 747 的 1350 / 610 ≈ 2.2 倍，吞吐率却只有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747 的 178,200 / 286,700 ≈ 62%：换一个指标，排名就变了。</a:t>
              </a:r>
            </a:p>
          </p:txBody>
        </p:sp>
      </p:grpSp>
      <p:grpSp>
        <p:nvGrpSpPr>
          <p:cNvPr id="65" name="c2-card-1"/>
          <p:cNvGrpSpPr/>
          <p:nvPr/>
        </p:nvGrpSpPr>
        <p:grpSpPr>
          <a:xfrm>
            <a:off x="7330440" y="1524000"/>
            <a:ext cx="4328160" cy="2558415"/>
            <a:chOff x="7330440" y="1524000"/>
            <a:chExt cx="4328160" cy="2558415"/>
          </a:xfrm>
        </p:grpSpPr>
        <p:sp>
          <p:nvSpPr>
            <p:cNvPr id="56" name="Rectangle 56"/>
            <p:cNvSpPr/>
            <p:nvPr/>
          </p:nvSpPr>
          <p:spPr>
            <a:xfrm>
              <a:off x="7330440" y="1524000"/>
              <a:ext cx="4328160" cy="2558415"/>
            </a:xfrm>
            <a:prstGeom prst="roundRect">
              <a:avLst>
                <a:gd name="adj" fmla="val 5212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7539990" y="1733550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609497" y="176926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结论取决于指标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7545705" y="217360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703820" y="2110740"/>
              <a:ext cx="3444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看速度：</a:t>
              </a:r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协和式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最快，一位乘客从一地到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另一地用时最短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7545705" y="279463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7703820" y="2731770"/>
              <a:ext cx="351043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看吞吐率：</a:t>
              </a:r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波音 747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最高，单位时间运送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的乘客最多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7545705" y="341566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7703820" y="3352800"/>
              <a:ext cx="34061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看航程：DC-8-50 最远；看载客量：747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最多</a:t>
              </a:r>
            </a:p>
          </p:txBody>
        </p:sp>
      </p:grpSp>
      <p:grpSp>
        <p:nvGrpSpPr>
          <p:cNvPr id="72" name="c2-callout-2"/>
          <p:cNvGrpSpPr/>
          <p:nvPr/>
        </p:nvGrpSpPr>
        <p:grpSpPr>
          <a:xfrm>
            <a:off x="7330440" y="4272915"/>
            <a:ext cx="4328160" cy="1059180"/>
            <a:chOff x="7330440" y="4272915"/>
            <a:chExt cx="4328160" cy="1059180"/>
          </a:xfrm>
        </p:grpSpPr>
        <p:sp>
          <p:nvSpPr>
            <p:cNvPr id="66" name="Rectangle 66"/>
            <p:cNvSpPr/>
            <p:nvPr/>
          </p:nvSpPr>
          <p:spPr>
            <a:xfrm>
              <a:off x="7330440" y="4272915"/>
              <a:ext cx="4328160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7535228" y="4702493"/>
              <a:ext cx="200026" cy="200025"/>
              <a:chOff x="7535228" y="4702493"/>
              <a:chExt cx="200026" cy="20002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7535228" y="470249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7574966" y="474694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7609682" y="485806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7837170" y="4421505"/>
              <a:ext cx="34442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计算机也一样：个人用户关心自己的任务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多快完成，数据中心管理员关心单位时间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完成多少任务。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294495" cy="909257"/>
            <a:chOff x="520446" y="342900"/>
            <a:chExt cx="929449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性能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29449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响应时间与吞吐率：一个看单个任务，一个看单位时间的总量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kv-1"/>
          <p:cNvGrpSpPr/>
          <p:nvPr/>
        </p:nvGrpSpPr>
        <p:grpSpPr>
          <a:xfrm>
            <a:off x="525780" y="1548765"/>
            <a:ext cx="6067425" cy="1579245"/>
            <a:chOff x="525780" y="1548765"/>
            <a:chExt cx="6067425" cy="157924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539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响应时间（执行时</a:t>
              </a:r>
              <a:br/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间）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343150" y="1548765"/>
              <a:ext cx="4044315" cy="857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完成某任务所需的总时间，包括硬盘访问、内存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访问、I/O 活动、操作系统开销和 CPU 执行时间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243268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5780" y="2552700"/>
              <a:ext cx="1539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吞吐率（吞吐量，</a:t>
              </a:r>
              <a:br/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也叫带宽）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343150" y="2552700"/>
              <a:ext cx="4015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单位时间内完成的任务数量，例如每小时完成的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任务数、交易数</a:t>
              </a:r>
            </a:p>
          </p:txBody>
        </p:sp>
      </p:grpSp>
      <p:grpSp>
        <p:nvGrpSpPr>
          <p:cNvPr id="25" name="c1-card-2"/>
          <p:cNvGrpSpPr/>
          <p:nvPr/>
        </p:nvGrpSpPr>
        <p:grpSpPr>
          <a:xfrm>
            <a:off x="533400" y="3259455"/>
            <a:ext cx="6059805" cy="2202180"/>
            <a:chOff x="533400" y="3259455"/>
            <a:chExt cx="6059805" cy="2202180"/>
          </a:xfrm>
        </p:grpSpPr>
        <p:sp>
          <p:nvSpPr>
            <p:cNvPr id="13" name="Rectangle 13"/>
            <p:cNvSpPr/>
            <p:nvPr/>
          </p:nvSpPr>
          <p:spPr>
            <a:xfrm>
              <a:off x="533400" y="3259455"/>
              <a:ext cx="6059805" cy="2202180"/>
            </a:xfrm>
            <a:prstGeom prst="roundRect">
              <a:avLst>
                <a:gd name="adj" fmla="val 605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3392805"/>
              <a:ext cx="47625" cy="193548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81050" y="346900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71258" y="350472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例题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2078" y="3504248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下面两种改动分别改善哪个指标？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81050" y="3851910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42899" y="389420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82040" y="3865245"/>
              <a:ext cx="50634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把处理器换成更快的型号：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响应时间缩短，吞吐率也提高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81050" y="4187190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42899" y="422948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82040" y="4200525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增加处理器，分别处理相互独立的任务（如网页搜索请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求）：没有哪个任务变快，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只提高吞吐率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74573" y="4818221"/>
              <a:ext cx="523925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若第 2 种情况下请求多到要排队，提高吞吐率能减少排队等待，响应时间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也会缩短。</a:t>
              </a:r>
            </a:p>
          </p:txBody>
        </p:sp>
      </p:grpSp>
      <p:grpSp>
        <p:nvGrpSpPr>
          <p:cNvPr id="28" name="c2-image-1"/>
          <p:cNvGrpSpPr/>
          <p:nvPr/>
        </p:nvGrpSpPr>
        <p:grpSpPr>
          <a:xfrm>
            <a:off x="6898005" y="1524000"/>
            <a:ext cx="4760595" cy="4863942"/>
            <a:chOff x="6898005" y="1524000"/>
            <a:chExt cx="4760595" cy="4863942"/>
          </a:xfrm>
        </p:grpSpPr>
        <p:pic>
          <p:nvPicPr>
            <p:cNvPr id="26" name="Image 26"/>
            <p:cNvPicPr>
              <a:picLocks noChangeAspect="1"/>
            </p:cNvPicPr>
            <p:nvPr/>
          </p:nvPicPr>
          <p:blipFill>
            <a:blip r:embed="rId2"/>
            <a:srcRect l="10757" t="0" r="10757" b="0"/>
            <a:stretch>
              <a:fillRect/>
            </a:stretch>
          </p:blipFill>
          <p:spPr>
            <a:xfrm>
              <a:off x="6898005" y="1524000"/>
              <a:ext cx="4760595" cy="4549140"/>
            </a:xfrm>
            <a:prstGeom prst="roundRect">
              <a:avLst>
                <a:gd name="adj" fmla="val 2931"/>
              </a:avLst>
            </a:prstGeom>
          </p:spPr>
        </p:pic>
        <p:sp>
          <p:nvSpPr>
            <p:cNvPr id="27" name="TextBox 27"/>
            <p:cNvSpPr txBox="1"/>
            <p:nvPr/>
          </p:nvSpPr>
          <p:spPr>
            <a:xfrm>
              <a:off x="7387908" y="6167914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多开收银台，单位时间结账的人变多，每人结账并不更快</a:t>
              </a:r>
            </a:p>
          </p:txBody>
        </p:sp>
      </p:grpSp>
      <p:grpSp>
        <p:nvGrpSpPr>
          <p:cNvPr id="3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9" name="TextBox 29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性能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相对性能：性能是执行时间的倒数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10"/>
              <p:cNvSpPr txBox="1">
                <a:spLocks noGrp="1"/>
              </p:cNvSpPr>
              <p:nvPr/>
            </p:nvSpPr>
            <p:spPr>
              <a:xfrm>
                <a:off x="533400" y="1524000"/>
                <a:ext cx="5626418" cy="6686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 m:val="on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性能</m:t>
                          </m:r>
                        </m:e>
                        <m:sub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sSub>
                            <m:e>
                              <m:r>
                                <m:rPr>
                                  <m:nor m:val="on"/>
                                </m:r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执行时间</m:t>
                              </m:r>
                            </m:e>
                            <m:sub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formula11"/>
              <p:cNvSpPr txBox="1">
                <a:spLocks noGrp="1"/>
              </p:cNvSpPr>
              <p:nvPr/>
            </p:nvSpPr>
            <p:spPr>
              <a:xfrm>
                <a:off x="533400" y="2383155"/>
                <a:ext cx="5626418" cy="5400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</m:t>
                      </m:r>
                      <m:r>
                        <m:rPr>
                          <m:nor m:val="on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比 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Y</m:t>
                      </m:r>
                      <m:r>
                        <m:rPr>
                          <m:nor m:val="on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快 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</m:t>
                      </m:r>
                      <m:r>
                        <m:rPr>
                          <m:nor m:val="on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倍：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f>
                        <m:fPr>
                          <m:type m:val="bar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e>
                              <m:r>
                                <m:rPr>
                                  <m:nor m:val="on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性能</m:t>
                              </m:r>
                            </m:e>
                            <m:sub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rPr>
                                  <m:nor m:val="on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性能</m:t>
                              </m:r>
                            </m:e>
                            <m:sub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e>
                              <m:r>
                                <m:rPr>
                                  <m:nor m:val="on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执行时间</m:t>
                              </m:r>
                            </m:e>
                            <m:sub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rPr>
                                  <m:nor m:val="on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执行时间</m:t>
                              </m:r>
                            </m:e>
                            <m:sub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15" name="c1-callout-3"/>
          <p:cNvGrpSpPr/>
          <p:nvPr/>
        </p:nvGrpSpPr>
        <p:grpSpPr>
          <a:xfrm>
            <a:off x="533400" y="3113722"/>
            <a:ext cx="5626418" cy="782955"/>
            <a:chOff x="533400" y="3113722"/>
            <a:chExt cx="5626418" cy="782955"/>
          </a:xfrm>
        </p:grpSpPr>
        <p:sp>
          <p:nvSpPr>
            <p:cNvPr id="9" name="Rectangle 9"/>
            <p:cNvSpPr/>
            <p:nvPr/>
          </p:nvSpPr>
          <p:spPr>
            <a:xfrm>
              <a:off x="533400" y="3113722"/>
              <a:ext cx="5626418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726129" y="3401496"/>
              <a:ext cx="224134" cy="192560"/>
              <a:chOff x="726129" y="3401496"/>
              <a:chExt cx="224134" cy="19256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838200" y="34718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726129" y="34014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838200" y="35496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1040130" y="3262312"/>
              <a:ext cx="46062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本教材说“A 比 B 快 n 倍”，指性能之比为 n，不要再减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1。执行时间短的一方性能高。</a:t>
              </a:r>
            </a:p>
          </p:txBody>
        </p:sp>
      </p:grpSp>
      <p:grpSp>
        <p:nvGrpSpPr>
          <p:cNvPr id="21" name="c1-card-4"/>
          <p:cNvGrpSpPr/>
          <p:nvPr/>
        </p:nvGrpSpPr>
        <p:grpSpPr>
          <a:xfrm>
            <a:off x="533400" y="4087178"/>
            <a:ext cx="5626418" cy="2271712"/>
            <a:chOff x="533400" y="4087178"/>
            <a:chExt cx="5626418" cy="2271712"/>
          </a:xfrm>
        </p:grpSpPr>
        <p:sp>
          <p:nvSpPr>
            <p:cNvPr id="16" name="Rectangle 16"/>
            <p:cNvSpPr/>
            <p:nvPr/>
          </p:nvSpPr>
          <p:spPr>
            <a:xfrm>
              <a:off x="533400" y="4087178"/>
              <a:ext cx="5626418" cy="2271712"/>
            </a:xfrm>
            <a:prstGeom prst="roundRect">
              <a:avLst>
                <a:gd name="adj" fmla="val 58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4220528"/>
              <a:ext cx="47625" cy="200501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81050" y="4296728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54507" y="433244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为什么取倒数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73430" y="4673918"/>
              <a:ext cx="47967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执行时间越短越好，取倒数后变成“性能数值越大越好”，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和日常说“性能高”的方向一致。</a:t>
              </a:r>
            </a:p>
          </p:txBody>
        </p:sp>
      </p:grpSp>
      <p:grpSp>
        <p:nvGrpSpPr>
          <p:cNvPr id="35" name="c2-steps-1"/>
          <p:cNvGrpSpPr/>
          <p:nvPr/>
        </p:nvGrpSpPr>
        <p:grpSpPr>
          <a:xfrm>
            <a:off x="6464618" y="1533525"/>
            <a:ext cx="4549074" cy="1878615"/>
            <a:chOff x="6464618" y="1533525"/>
            <a:chExt cx="4549074" cy="1878615"/>
          </a:xfrm>
        </p:grpSpPr>
        <p:sp>
          <p:nvSpPr>
            <p:cNvPr id="22" name="Rectangle 22"/>
            <p:cNvSpPr/>
            <p:nvPr/>
          </p:nvSpPr>
          <p:spPr>
            <a:xfrm>
              <a:off x="6597968" y="1676400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6464618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558241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464618" y="218408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58241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464618" y="283464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558241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876098" y="15678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877241" y="1861661"/>
              <a:ext cx="41364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同一个程序，计算机 A 需要 10 s，计算机 B 需要 15 s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876098" y="2218372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求执行时间之比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877241" y="2512219"/>
              <a:ext cx="33776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执行时间B / 执行时间A = 15 s / 10 s = 1.5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876098" y="286893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877241" y="3162776"/>
              <a:ext cx="30627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性能A / 性能B = 1.5，A 比 B 快 1.5 倍</a:t>
              </a:r>
            </a:p>
          </p:txBody>
        </p:sp>
      </p:grpSp>
      <p:grpSp>
        <p:nvGrpSpPr>
          <p:cNvPr id="50" name="c2-table-2"/>
          <p:cNvGrpSpPr/>
          <p:nvPr/>
        </p:nvGrpSpPr>
        <p:grpSpPr>
          <a:xfrm>
            <a:off x="6464618" y="3590925"/>
            <a:ext cx="5193982" cy="1795462"/>
            <a:chOff x="6464618" y="3590925"/>
            <a:chExt cx="5193982" cy="1795462"/>
          </a:xfrm>
        </p:grpSpPr>
        <p:sp>
          <p:nvSpPr>
            <p:cNvPr id="36" name="Rectangle 36"/>
            <p:cNvSpPr/>
            <p:nvPr/>
          </p:nvSpPr>
          <p:spPr>
            <a:xfrm>
              <a:off x="6464618" y="3590925"/>
              <a:ext cx="5193982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376439" y="372570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说法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715437" y="372570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等价的式子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572441" y="4174331"/>
              <a:ext cx="131932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比 B 快 1.5 倍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753666" y="4174331"/>
              <a:ext cx="16216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性能A / 性能B = 1.5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464618" y="448341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464618" y="4488180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72441" y="4623911"/>
              <a:ext cx="131932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比 A 慢 1.5 倍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753666" y="4623911"/>
              <a:ext cx="23109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执行时间B / 执行时间A = 1.5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464618" y="493204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572441" y="5072539"/>
              <a:ext cx="14539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性能提高到 1.5 倍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753666" y="5072539"/>
              <a:ext cx="260627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执行时间变为原来的 1/1.5 ≈ 67%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464618" y="3590925"/>
              <a:ext cx="5193982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8641080" y="3590925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7" name="c2-callout-3"/>
          <p:cNvGrpSpPr/>
          <p:nvPr/>
        </p:nvGrpSpPr>
        <p:grpSpPr>
          <a:xfrm>
            <a:off x="6464618" y="5575935"/>
            <a:ext cx="5193982" cy="782955"/>
            <a:chOff x="6464618" y="5575935"/>
            <a:chExt cx="5193982" cy="782955"/>
          </a:xfrm>
        </p:grpSpPr>
        <p:sp>
          <p:nvSpPr>
            <p:cNvPr id="51" name="Rectangle 51"/>
            <p:cNvSpPr/>
            <p:nvPr/>
          </p:nvSpPr>
          <p:spPr>
            <a:xfrm>
              <a:off x="6464618" y="5575935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6669405" y="5867400"/>
              <a:ext cx="200026" cy="200025"/>
              <a:chOff x="6669405" y="5867400"/>
              <a:chExt cx="200026" cy="200025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6669405" y="586740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6709144" y="591185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6743859" y="602297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6971348" y="5724525"/>
              <a:ext cx="4206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提高性能与缩短执行时间是一回事，比较时统一用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其中一种说法，避免“增加”“减少”混用。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061873" cy="909257"/>
            <a:chOff x="520446" y="342900"/>
            <a:chExt cx="706187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性能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06187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性能的度量：响应时间与 CPU 时间各包括什么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tree-1"/>
          <p:cNvGrpSpPr/>
          <p:nvPr/>
        </p:nvGrpSpPr>
        <p:grpSpPr>
          <a:xfrm>
            <a:off x="533400" y="1651635"/>
            <a:ext cx="4761547" cy="2887028"/>
            <a:chOff x="533400" y="1651635"/>
            <a:chExt cx="4761547" cy="2887028"/>
          </a:xfrm>
        </p:grpSpPr>
        <p:sp>
          <p:nvSpPr>
            <p:cNvPr id="7" name="Freeform 7"/>
            <p:cNvSpPr/>
            <p:nvPr/>
          </p:nvSpPr>
          <p:spPr>
            <a:xfrm>
              <a:off x="3568065" y="1838325"/>
              <a:ext cx="419100" cy="314325"/>
            </a:xfrm>
            <a:custGeom>
              <a:avLst/>
              <a:gdLst/>
              <a:ahLst/>
              <a:cxnLst/>
              <a:rect l="l" t="t" r="r" b="b"/>
              <a:pathLst>
                <a:path w="419100" h="314325">
                  <a:moveTo>
                    <a:pt x="0" y="314325"/>
                  </a:moveTo>
                  <a:lnTo>
                    <a:pt x="209550" y="314325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568065" y="2152650"/>
              <a:ext cx="419100" cy="314325"/>
            </a:xfrm>
            <a:custGeom>
              <a:avLst/>
              <a:gdLst/>
              <a:ahLst/>
              <a:cxnLst/>
              <a:rect l="l" t="t" r="r" b="b"/>
              <a:pathLst>
                <a:path w="419100" h="314325">
                  <a:moveTo>
                    <a:pt x="0" y="0"/>
                  </a:moveTo>
                  <a:lnTo>
                    <a:pt x="209550" y="0"/>
                  </a:lnTo>
                  <a:lnTo>
                    <a:pt x="209550" y="314325"/>
                  </a:lnTo>
                  <a:lnTo>
                    <a:pt x="419100" y="31432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1841182" y="2152650"/>
              <a:ext cx="419100" cy="1100138"/>
            </a:xfrm>
            <a:custGeom>
              <a:avLst/>
              <a:gdLst/>
              <a:ahLst/>
              <a:cxnLst/>
              <a:rect l="l" t="t" r="r" b="b"/>
              <a:pathLst>
                <a:path w="419100" h="1100138">
                  <a:moveTo>
                    <a:pt x="0" y="1100138"/>
                  </a:moveTo>
                  <a:lnTo>
                    <a:pt x="209550" y="1100138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841182" y="3095625"/>
              <a:ext cx="419100" cy="157162"/>
            </a:xfrm>
            <a:custGeom>
              <a:avLst/>
              <a:gdLst/>
              <a:ahLst/>
              <a:cxnLst/>
              <a:rect l="l" t="t" r="r" b="b"/>
              <a:pathLst>
                <a:path w="419100" h="157162">
                  <a:moveTo>
                    <a:pt x="0" y="157162"/>
                  </a:moveTo>
                  <a:lnTo>
                    <a:pt x="209550" y="157162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1841182" y="3252788"/>
              <a:ext cx="419100" cy="471488"/>
            </a:xfrm>
            <a:custGeom>
              <a:avLst/>
              <a:gdLst/>
              <a:ahLst/>
              <a:cxnLst/>
              <a:rect l="l" t="t" r="r" b="b"/>
              <a:pathLst>
                <a:path w="419100" h="471488">
                  <a:moveTo>
                    <a:pt x="0" y="0"/>
                  </a:moveTo>
                  <a:lnTo>
                    <a:pt x="209550" y="0"/>
                  </a:lnTo>
                  <a:lnTo>
                    <a:pt x="209550" y="471488"/>
                  </a:lnTo>
                  <a:lnTo>
                    <a:pt x="419100" y="471488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841182" y="3252788"/>
              <a:ext cx="419100" cy="1100138"/>
            </a:xfrm>
            <a:custGeom>
              <a:avLst/>
              <a:gdLst/>
              <a:ahLst/>
              <a:cxnLst/>
              <a:rect l="l" t="t" r="r" b="b"/>
              <a:pathLst>
                <a:path w="419100" h="1100138">
                  <a:moveTo>
                    <a:pt x="0" y="0"/>
                  </a:moveTo>
                  <a:lnTo>
                    <a:pt x="209550" y="0"/>
                  </a:lnTo>
                  <a:lnTo>
                    <a:pt x="209550" y="1100138"/>
                  </a:lnTo>
                  <a:lnTo>
                    <a:pt x="419100" y="1100138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3987165" y="1651635"/>
              <a:ext cx="130778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3987165" y="2280285"/>
              <a:ext cx="130778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2260282" y="1861185"/>
              <a:ext cx="1307782" cy="582930"/>
            </a:xfrm>
            <a:prstGeom prst="roundRect">
              <a:avLst>
                <a:gd name="adj" fmla="val 1634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2260282" y="2908935"/>
              <a:ext cx="130778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2260282" y="3432810"/>
              <a:ext cx="1307782" cy="582930"/>
            </a:xfrm>
            <a:prstGeom prst="roundRect">
              <a:avLst>
                <a:gd name="adj" fmla="val 16340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2260282" y="4166235"/>
              <a:ext cx="130778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3066098"/>
              <a:ext cx="1307782" cy="372428"/>
            </a:xfrm>
            <a:prstGeom prst="roundRect">
              <a:avLst>
                <a:gd name="adj" fmla="val 25575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075938" y="1749266"/>
              <a:ext cx="111186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 CPU 时间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075938" y="2377916"/>
              <a:ext cx="111186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 CPU 时间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349056" y="1957864"/>
              <a:ext cx="996036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8"/>
                </a:lnSpc>
              </a:pPr>
              <a:r>
                <a:rPr lang="zh-CN" sz="128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本程序的 CPU</a:t>
              </a:r>
              <a:br/>
              <a:r>
                <a:rPr lang="zh-CN" sz="128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时间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349056" y="3006566"/>
              <a:ext cx="10481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I/O 操作时间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349056" y="3530441"/>
              <a:ext cx="988314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8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运行其他程序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的时间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349056" y="426386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空闲时间等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2173" y="316372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响应时间</a:t>
              </a:r>
            </a:p>
          </p:txBody>
        </p:sp>
      </p:grpSp>
      <p:grpSp>
        <p:nvGrpSpPr>
          <p:cNvPr id="29" name="c1-text-2"/>
          <p:cNvGrpSpPr/>
          <p:nvPr/>
        </p:nvGrpSpPr>
        <p:grpSpPr>
          <a:xfrm>
            <a:off x="526923" y="4879181"/>
            <a:ext cx="3803853" cy="249364"/>
            <a:chOff x="526923" y="4879181"/>
            <a:chExt cx="3803853" cy="249364"/>
          </a:xfrm>
        </p:grpSpPr>
        <p:sp>
          <p:nvSpPr>
            <p:cNvPr id="28" name="TextBox 28"/>
            <p:cNvSpPr txBox="1"/>
            <p:nvPr/>
          </p:nvSpPr>
          <p:spPr>
            <a:xfrm>
              <a:off x="526923" y="4879181"/>
              <a:ext cx="38038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响应时间又叫执行时间、墙上时钟时间、消逝时间</a:t>
              </a:r>
            </a:p>
          </p:txBody>
        </p:sp>
      </p:grpSp>
      <p:grpSp>
        <p:nvGrpSpPr>
          <p:cNvPr id="54" name="c2-table-1"/>
          <p:cNvGrpSpPr/>
          <p:nvPr/>
        </p:nvGrpSpPr>
        <p:grpSpPr>
          <a:xfrm>
            <a:off x="5598795" y="1524000"/>
            <a:ext cx="6059805" cy="2924175"/>
            <a:chOff x="5598795" y="1524000"/>
            <a:chExt cx="6059805" cy="2924175"/>
          </a:xfrm>
        </p:grpSpPr>
        <p:sp>
          <p:nvSpPr>
            <p:cNvPr id="30" name="Rectangle 30"/>
            <p:cNvSpPr/>
            <p:nvPr/>
          </p:nvSpPr>
          <p:spPr>
            <a:xfrm>
              <a:off x="5598795" y="1524000"/>
              <a:ext cx="6059805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08675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度量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914691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包括什么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45015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706618" y="222170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响应时间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040118" y="2108359"/>
              <a:ext cx="19636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完成任务的总时间：处理、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I/O、OS 开销、空闲等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706166" y="2108359"/>
              <a:ext cx="16385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决定用户感受到的系统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598795" y="264318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5598795" y="2647950"/>
              <a:ext cx="605980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706618" y="2897029"/>
              <a:ext cx="7303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CPU 时间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040118" y="2783681"/>
              <a:ext cx="23294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程序本身占用 CPU 的时间，不含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等待 I/O 和运行其他程序的时间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706166" y="2783681"/>
              <a:ext cx="16791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分为用户 CPU 时间和系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 CPU 时间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598795" y="331946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706618" y="3459004"/>
              <a:ext cx="11323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 CPU 时间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040118" y="3459004"/>
              <a:ext cx="23180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执行用户程序本身的 CPU 时间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706166" y="3459004"/>
              <a:ext cx="16288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常说的 CPU 性能指它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598795" y="376809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5598795" y="3772852"/>
              <a:ext cx="605980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706618" y="4020979"/>
              <a:ext cx="11323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 CPU 时间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040118" y="3907631"/>
              <a:ext cx="21262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操作系统为该程序服务所花的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CPU 时间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706166" y="3907631"/>
              <a:ext cx="16791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与用户 CPU 时间很难精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确区分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598795" y="1524000"/>
              <a:ext cx="6059805" cy="29241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6927532" y="1524000"/>
              <a:ext cx="9525" cy="29241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9593580" y="1524000"/>
              <a:ext cx="9525" cy="29241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1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5" name="Rectangle 5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1040130" y="5991225"/>
              <a:ext cx="87241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CPU 性能和系统性能对不同的程序影响不同：I/O 很多的程序，CPU 再快，响应时间也改善有限。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350586" cy="909257"/>
            <a:chOff x="520446" y="342900"/>
            <a:chExt cx="935058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性能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35058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CPU 时钟：每个时钟周期完成一次数据传送、计算和状态更新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3" name="wave"/>
          <p:cNvGrpSpPr/>
          <p:nvPr/>
        </p:nvGrpSpPr>
        <p:grpSpPr>
          <a:xfrm>
            <a:off x="533400" y="1524000"/>
            <a:ext cx="11125200" cy="2495550"/>
            <a:chOff x="533400" y="1524000"/>
            <a:chExt cx="11125200" cy="249555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2495550"/>
            </a:xfrm>
            <a:prstGeom prst="roundRect">
              <a:avLst>
                <a:gd name="adj" fmla="val 534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55904" y="22707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时钟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55904" y="28994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数据传送和计算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55904" y="34709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更新状态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3238500" y="2000250"/>
              <a:ext cx="9525" cy="1790700"/>
            </a:xfrm>
            <a:custGeom>
              <a:avLst/>
              <a:gdLst/>
              <a:ahLst/>
              <a:cxnLst/>
              <a:rect l="l" t="t" r="r" b="b"/>
              <a:pathLst>
                <a:path w="9525" h="1790700">
                  <a:moveTo>
                    <a:pt x="0" y="0"/>
                  </a:moveTo>
                  <a:lnTo>
                    <a:pt x="0" y="1790700"/>
                  </a:lnTo>
                </a:path>
              </a:pathLst>
            </a:custGeom>
            <a:noFill/>
            <a:ln w="11430">
              <a:solidFill>
                <a:srgbClr val="9AA5B8"/>
              </a:solidFill>
              <a:custDash>
                <a:ds d="416667" sp="333333"/>
              </a:custDash>
            </a:ln>
          </p:spPr>
        </p:sp>
        <p:sp>
          <p:nvSpPr>
            <p:cNvPr id="12" name="Line 12"/>
            <p:cNvSpPr/>
            <p:nvPr/>
          </p:nvSpPr>
          <p:spPr>
            <a:xfrm>
              <a:off x="5905500" y="2000250"/>
              <a:ext cx="9525" cy="1790700"/>
            </a:xfrm>
            <a:custGeom>
              <a:avLst/>
              <a:gdLst/>
              <a:ahLst/>
              <a:cxnLst/>
              <a:rect l="l" t="t" r="r" b="b"/>
              <a:pathLst>
                <a:path w="9525" h="1790700">
                  <a:moveTo>
                    <a:pt x="0" y="0"/>
                  </a:moveTo>
                  <a:lnTo>
                    <a:pt x="0" y="1790700"/>
                  </a:lnTo>
                </a:path>
              </a:pathLst>
            </a:custGeom>
            <a:noFill/>
            <a:ln w="11430">
              <a:solidFill>
                <a:srgbClr val="9AA5B8"/>
              </a:solidFill>
              <a:custDash>
                <a:ds d="416667" sp="333333"/>
              </a:custDash>
            </a:ln>
          </p:spPr>
        </p:sp>
        <p:sp>
          <p:nvSpPr>
            <p:cNvPr id="13" name="Line 13"/>
            <p:cNvSpPr/>
            <p:nvPr/>
          </p:nvSpPr>
          <p:spPr>
            <a:xfrm>
              <a:off x="8572500" y="2000250"/>
              <a:ext cx="9525" cy="1790700"/>
            </a:xfrm>
            <a:custGeom>
              <a:avLst/>
              <a:gdLst/>
              <a:ahLst/>
              <a:cxnLst/>
              <a:rect l="l" t="t" r="r" b="b"/>
              <a:pathLst>
                <a:path w="9525" h="1790700">
                  <a:moveTo>
                    <a:pt x="0" y="0"/>
                  </a:moveTo>
                  <a:lnTo>
                    <a:pt x="0" y="1790700"/>
                  </a:lnTo>
                </a:path>
              </a:pathLst>
            </a:custGeom>
            <a:noFill/>
            <a:ln w="11430">
              <a:solidFill>
                <a:srgbClr val="9AA5B8"/>
              </a:solidFill>
              <a:custDash>
                <a:ds d="416667" sp="333333"/>
              </a:custDash>
            </a:ln>
          </p:spPr>
        </p:sp>
        <p:sp>
          <p:nvSpPr>
            <p:cNvPr id="14" name="Line 14"/>
            <p:cNvSpPr/>
            <p:nvPr/>
          </p:nvSpPr>
          <p:spPr>
            <a:xfrm>
              <a:off x="11239500" y="2000250"/>
              <a:ext cx="9525" cy="1790700"/>
            </a:xfrm>
            <a:custGeom>
              <a:avLst/>
              <a:gdLst/>
              <a:ahLst/>
              <a:cxnLst/>
              <a:rect l="l" t="t" r="r" b="b"/>
              <a:pathLst>
                <a:path w="9525" h="1790700">
                  <a:moveTo>
                    <a:pt x="0" y="0"/>
                  </a:moveTo>
                  <a:lnTo>
                    <a:pt x="0" y="1790700"/>
                  </a:lnTo>
                </a:path>
              </a:pathLst>
            </a:custGeom>
            <a:noFill/>
            <a:ln w="11430">
              <a:solidFill>
                <a:srgbClr val="9AA5B8"/>
              </a:solidFill>
              <a:custDash>
                <a:ds d="416667" sp="333333"/>
              </a:custDash>
            </a:ln>
          </p:spPr>
        </p:sp>
        <p:sp>
          <p:nvSpPr>
            <p:cNvPr id="15" name="Freeform 15"/>
            <p:cNvSpPr/>
            <p:nvPr/>
          </p:nvSpPr>
          <p:spPr>
            <a:xfrm>
              <a:off x="2857500" y="2171700"/>
              <a:ext cx="8496300" cy="342900"/>
            </a:xfrm>
            <a:custGeom>
              <a:avLst/>
              <a:gdLst/>
              <a:ahLst/>
              <a:cxnLst/>
              <a:rect l="l" t="t" r="r" b="b"/>
              <a:pathLst>
                <a:path w="8496300" h="342900">
                  <a:moveTo>
                    <a:pt x="0" y="342900"/>
                  </a:moveTo>
                  <a:lnTo>
                    <a:pt x="381000" y="342900"/>
                  </a:lnTo>
                  <a:lnTo>
                    <a:pt x="381000" y="342900"/>
                  </a:lnTo>
                  <a:lnTo>
                    <a:pt x="381000" y="0"/>
                  </a:lnTo>
                  <a:lnTo>
                    <a:pt x="1714500" y="0"/>
                  </a:lnTo>
                  <a:lnTo>
                    <a:pt x="1714500" y="342900"/>
                  </a:lnTo>
                  <a:lnTo>
                    <a:pt x="3048000" y="342900"/>
                  </a:lnTo>
                  <a:lnTo>
                    <a:pt x="3048000" y="0"/>
                  </a:lnTo>
                  <a:lnTo>
                    <a:pt x="4381500" y="0"/>
                  </a:lnTo>
                  <a:lnTo>
                    <a:pt x="4381500" y="342900"/>
                  </a:lnTo>
                  <a:lnTo>
                    <a:pt x="5715000" y="342900"/>
                  </a:lnTo>
                  <a:lnTo>
                    <a:pt x="5715000" y="0"/>
                  </a:lnTo>
                  <a:lnTo>
                    <a:pt x="7048500" y="0"/>
                  </a:lnTo>
                  <a:lnTo>
                    <a:pt x="7048500" y="342900"/>
                  </a:lnTo>
                  <a:lnTo>
                    <a:pt x="8382000" y="342900"/>
                  </a:lnTo>
                  <a:lnTo>
                    <a:pt x="8382000" y="0"/>
                  </a:lnTo>
                  <a:lnTo>
                    <a:pt x="8496300" y="0"/>
                  </a:lnTo>
                </a:path>
              </a:pathLst>
            </a:custGeom>
            <a:noFill/>
            <a:ln w="24765">
              <a:solidFill>
                <a:srgbClr val="1F5FA8"/>
              </a:solidFill>
            </a:ln>
          </p:spPr>
        </p:sp>
        <p:sp>
          <p:nvSpPr>
            <p:cNvPr id="16" name="Line 16"/>
            <p:cNvSpPr/>
            <p:nvPr/>
          </p:nvSpPr>
          <p:spPr>
            <a:xfrm>
              <a:off x="3333750" y="1905000"/>
              <a:ext cx="2476500" cy="9525"/>
            </a:xfrm>
            <a:custGeom>
              <a:avLst/>
              <a:gdLst/>
              <a:ahLst/>
              <a:cxnLst/>
              <a:rect l="l" t="t" r="r" b="b"/>
              <a:pathLst>
                <a:path w="2476500" h="9525">
                  <a:moveTo>
                    <a:pt x="0" y="0"/>
                  </a:moveTo>
                  <a:lnTo>
                    <a:pt x="24765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7" name="Polygon 17"/>
            <p:cNvSpPr/>
            <p:nvPr/>
          </p:nvSpPr>
          <p:spPr>
            <a:xfrm>
              <a:off x="3238500" y="1857375"/>
              <a:ext cx="104775" cy="95250"/>
            </a:xfrm>
            <a:custGeom>
              <a:avLst/>
              <a:gdLst/>
              <a:ahLst/>
              <a:cxnLst/>
              <a:rect l="l" t="t" r="r" b="b"/>
              <a:pathLst>
                <a:path w="104775" h="95250">
                  <a:moveTo>
                    <a:pt x="0" y="47625"/>
                  </a:moveTo>
                  <a:lnTo>
                    <a:pt x="104775" y="0"/>
                  </a:lnTo>
                  <a:lnTo>
                    <a:pt x="104775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8" name="Polygon 18"/>
            <p:cNvSpPr/>
            <p:nvPr/>
          </p:nvSpPr>
          <p:spPr>
            <a:xfrm>
              <a:off x="5800725" y="1857375"/>
              <a:ext cx="104775" cy="95250"/>
            </a:xfrm>
            <a:custGeom>
              <a:avLst/>
              <a:gdLst/>
              <a:ahLst/>
              <a:cxnLst/>
              <a:rect l="l" t="t" r="r" b="b"/>
              <a:pathLst>
                <a:path w="104775" h="95250">
                  <a:moveTo>
                    <a:pt x="104775" y="47625"/>
                  </a:moveTo>
                  <a:lnTo>
                    <a:pt x="0" y="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4211002" y="1790700"/>
              <a:ext cx="721042" cy="2286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264736" y="18359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时钟周期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033516" y="165830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上升沿</a:t>
              </a:r>
            </a:p>
          </p:txBody>
        </p:sp>
        <p:sp>
          <p:nvSpPr>
            <p:cNvPr id="22" name="Polygon 22"/>
            <p:cNvSpPr/>
            <p:nvPr/>
          </p:nvSpPr>
          <p:spPr>
            <a:xfrm>
              <a:off x="3295650" y="2809875"/>
              <a:ext cx="2552700" cy="323850"/>
            </a:xfrm>
            <a:custGeom>
              <a:avLst/>
              <a:gdLst/>
              <a:ahLst/>
              <a:cxnLst/>
              <a:rect l="l" t="t" r="r" b="b"/>
              <a:pathLst>
                <a:path w="2552700" h="323850">
                  <a:moveTo>
                    <a:pt x="0" y="161925"/>
                  </a:moveTo>
                  <a:lnTo>
                    <a:pt x="123825" y="0"/>
                  </a:lnTo>
                  <a:lnTo>
                    <a:pt x="2428875" y="0"/>
                  </a:lnTo>
                  <a:lnTo>
                    <a:pt x="2552700" y="161925"/>
                  </a:lnTo>
                  <a:lnTo>
                    <a:pt x="2428875" y="323850"/>
                  </a:lnTo>
                  <a:lnTo>
                    <a:pt x="123825" y="323850"/>
                  </a:lnTo>
                  <a:close/>
                </a:path>
              </a:pathLst>
            </a:custGeom>
            <a:solidFill>
              <a:srgbClr val="E6EFF9"/>
            </a:solidFill>
            <a:ln w="15240">
              <a:solidFill>
                <a:srgbClr val="1F5FA8"/>
              </a:solidFill>
            </a:ln>
          </p:spPr>
        </p:sp>
        <p:sp>
          <p:nvSpPr>
            <p:cNvPr id="23" name="Polygon 23"/>
            <p:cNvSpPr/>
            <p:nvPr/>
          </p:nvSpPr>
          <p:spPr>
            <a:xfrm>
              <a:off x="5962650" y="2809875"/>
              <a:ext cx="2552700" cy="323850"/>
            </a:xfrm>
            <a:custGeom>
              <a:avLst/>
              <a:gdLst/>
              <a:ahLst/>
              <a:cxnLst/>
              <a:rect l="l" t="t" r="r" b="b"/>
              <a:pathLst>
                <a:path w="2552700" h="323850">
                  <a:moveTo>
                    <a:pt x="0" y="161925"/>
                  </a:moveTo>
                  <a:lnTo>
                    <a:pt x="123825" y="0"/>
                  </a:lnTo>
                  <a:lnTo>
                    <a:pt x="2428875" y="0"/>
                  </a:lnTo>
                  <a:lnTo>
                    <a:pt x="2552700" y="161925"/>
                  </a:lnTo>
                  <a:lnTo>
                    <a:pt x="2428875" y="323850"/>
                  </a:lnTo>
                  <a:lnTo>
                    <a:pt x="123825" y="323850"/>
                  </a:lnTo>
                  <a:close/>
                </a:path>
              </a:pathLst>
            </a:custGeom>
            <a:solidFill>
              <a:srgbClr val="E6EFF9"/>
            </a:solidFill>
            <a:ln w="15240">
              <a:solidFill>
                <a:srgbClr val="1F5FA8"/>
              </a:solidFill>
            </a:ln>
          </p:spPr>
        </p:sp>
        <p:sp>
          <p:nvSpPr>
            <p:cNvPr id="24" name="Polygon 24"/>
            <p:cNvSpPr/>
            <p:nvPr/>
          </p:nvSpPr>
          <p:spPr>
            <a:xfrm>
              <a:off x="8629650" y="2809875"/>
              <a:ext cx="2552700" cy="323850"/>
            </a:xfrm>
            <a:custGeom>
              <a:avLst/>
              <a:gdLst/>
              <a:ahLst/>
              <a:cxnLst/>
              <a:rect l="l" t="t" r="r" b="b"/>
              <a:pathLst>
                <a:path w="2552700" h="323850">
                  <a:moveTo>
                    <a:pt x="0" y="161925"/>
                  </a:moveTo>
                  <a:lnTo>
                    <a:pt x="123825" y="0"/>
                  </a:lnTo>
                  <a:lnTo>
                    <a:pt x="2428875" y="0"/>
                  </a:lnTo>
                  <a:lnTo>
                    <a:pt x="2552700" y="161925"/>
                  </a:lnTo>
                  <a:lnTo>
                    <a:pt x="2428875" y="323850"/>
                  </a:lnTo>
                  <a:lnTo>
                    <a:pt x="123825" y="323850"/>
                  </a:lnTo>
                  <a:close/>
                </a:path>
              </a:pathLst>
            </a:custGeom>
            <a:solidFill>
              <a:srgbClr val="E6EFF9"/>
            </a:solidFill>
            <a:ln w="15240">
              <a:solidFill>
                <a:srgbClr val="1F5FA8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3887800" y="2902744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组合逻辑传送、计算</a:t>
              </a:r>
            </a:p>
          </p:txBody>
        </p:sp>
        <p:sp>
          <p:nvSpPr>
            <p:cNvPr id="26" name="Polygon 26"/>
            <p:cNvSpPr/>
            <p:nvPr/>
          </p:nvSpPr>
          <p:spPr>
            <a:xfrm>
              <a:off x="5695950" y="3400425"/>
              <a:ext cx="419100" cy="285750"/>
            </a:xfrm>
            <a:custGeom>
              <a:avLst/>
              <a:gdLst/>
              <a:ahLst/>
              <a:cxnLst/>
              <a:rect l="l" t="t" r="r" b="b"/>
              <a:pathLst>
                <a:path w="419100" h="285750">
                  <a:moveTo>
                    <a:pt x="0" y="142875"/>
                  </a:moveTo>
                  <a:lnTo>
                    <a:pt x="85725" y="0"/>
                  </a:lnTo>
                  <a:lnTo>
                    <a:pt x="333375" y="0"/>
                  </a:lnTo>
                  <a:lnTo>
                    <a:pt x="419100" y="142875"/>
                  </a:lnTo>
                  <a:lnTo>
                    <a:pt x="333375" y="285750"/>
                  </a:lnTo>
                  <a:lnTo>
                    <a:pt x="85725" y="28575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7" name="Polygon 27"/>
            <p:cNvSpPr/>
            <p:nvPr/>
          </p:nvSpPr>
          <p:spPr>
            <a:xfrm>
              <a:off x="8362950" y="3400425"/>
              <a:ext cx="419100" cy="285750"/>
            </a:xfrm>
            <a:custGeom>
              <a:avLst/>
              <a:gdLst/>
              <a:ahLst/>
              <a:cxnLst/>
              <a:rect l="l" t="t" r="r" b="b"/>
              <a:pathLst>
                <a:path w="419100" h="285750">
                  <a:moveTo>
                    <a:pt x="0" y="142875"/>
                  </a:moveTo>
                  <a:lnTo>
                    <a:pt x="85725" y="0"/>
                  </a:lnTo>
                  <a:lnTo>
                    <a:pt x="333375" y="0"/>
                  </a:lnTo>
                  <a:lnTo>
                    <a:pt x="419100" y="142875"/>
                  </a:lnTo>
                  <a:lnTo>
                    <a:pt x="333375" y="285750"/>
                  </a:lnTo>
                  <a:lnTo>
                    <a:pt x="85725" y="28575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8" name="Polygon 28"/>
            <p:cNvSpPr/>
            <p:nvPr/>
          </p:nvSpPr>
          <p:spPr>
            <a:xfrm>
              <a:off x="11029950" y="3400425"/>
              <a:ext cx="419100" cy="285750"/>
            </a:xfrm>
            <a:custGeom>
              <a:avLst/>
              <a:gdLst/>
              <a:ahLst/>
              <a:cxnLst/>
              <a:rect l="l" t="t" r="r" b="b"/>
              <a:pathLst>
                <a:path w="419100" h="285750">
                  <a:moveTo>
                    <a:pt x="0" y="142875"/>
                  </a:moveTo>
                  <a:lnTo>
                    <a:pt x="85725" y="0"/>
                  </a:lnTo>
                  <a:lnTo>
                    <a:pt x="333375" y="0"/>
                  </a:lnTo>
                  <a:lnTo>
                    <a:pt x="419100" y="142875"/>
                  </a:lnTo>
                  <a:lnTo>
                    <a:pt x="333375" y="285750"/>
                  </a:lnTo>
                  <a:lnTo>
                    <a:pt x="85725" y="28575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204966" y="348234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写入寄存器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2857500" y="3886200"/>
              <a:ext cx="8401050" cy="9525"/>
            </a:xfrm>
            <a:custGeom>
              <a:avLst/>
              <a:gdLst/>
              <a:ahLst/>
              <a:cxnLst/>
              <a:rect l="l" t="t" r="r" b="b"/>
              <a:pathLst>
                <a:path w="8401050" h="9525">
                  <a:moveTo>
                    <a:pt x="0" y="0"/>
                  </a:moveTo>
                  <a:lnTo>
                    <a:pt x="840105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1" name="Polygon 31"/>
            <p:cNvSpPr/>
            <p:nvPr/>
          </p:nvSpPr>
          <p:spPr>
            <a:xfrm>
              <a:off x="11249025" y="3838575"/>
              <a:ext cx="104775" cy="95250"/>
            </a:xfrm>
            <a:custGeom>
              <a:avLst/>
              <a:gdLst/>
              <a:ahLst/>
              <a:cxnLst/>
              <a:rect l="l" t="t" r="r" b="b"/>
              <a:pathLst>
                <a:path w="104775" h="95250">
                  <a:moveTo>
                    <a:pt x="104775" y="47625"/>
                  </a:moveTo>
                  <a:lnTo>
                    <a:pt x="0" y="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1387138" y="3836670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时间</a:t>
              </a:r>
            </a:p>
          </p:txBody>
        </p:sp>
      </p:grpSp>
      <p:grpSp>
        <p:nvGrpSpPr>
          <p:cNvPr id="39" name="c-period"/>
          <p:cNvGrpSpPr/>
          <p:nvPr/>
        </p:nvGrpSpPr>
        <p:grpSpPr>
          <a:xfrm>
            <a:off x="533400" y="4152900"/>
            <a:ext cx="3581400" cy="1504950"/>
            <a:chOff x="533400" y="4152900"/>
            <a:chExt cx="3581400" cy="1504950"/>
          </a:xfrm>
        </p:grpSpPr>
        <p:sp>
          <p:nvSpPr>
            <p:cNvPr id="34" name="Rectangle 34"/>
            <p:cNvSpPr/>
            <p:nvPr/>
          </p:nvSpPr>
          <p:spPr>
            <a:xfrm>
              <a:off x="533400" y="4152900"/>
              <a:ext cx="3581400" cy="1504950"/>
            </a:xfrm>
            <a:prstGeom prst="roundRect">
              <a:avLst>
                <a:gd name="adj" fmla="val 88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542925" y="4286250"/>
              <a:ext cx="47625" cy="123825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762000" y="4286250"/>
              <a:ext cx="1735455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35651" y="4345781"/>
              <a:ext cx="15881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时钟周期 clock period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55904" y="4690110"/>
              <a:ext cx="2677287" cy="7109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75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一个时钟持续的时间，即相邻两个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上升沿之间的间隔。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</a:t>
              </a:r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250 ps = 0.25 ns = 250×10⁻¹² s</a:t>
              </a:r>
            </a:p>
          </p:txBody>
        </p:sp>
      </p:grpSp>
      <p:grpSp>
        <p:nvGrpSpPr>
          <p:cNvPr id="45" name="c-rate"/>
          <p:cNvGrpSpPr/>
          <p:nvPr/>
        </p:nvGrpSpPr>
        <p:grpSpPr>
          <a:xfrm>
            <a:off x="4305300" y="4152900"/>
            <a:ext cx="3581400" cy="1504950"/>
            <a:chOff x="4305300" y="4152900"/>
            <a:chExt cx="3581400" cy="1504950"/>
          </a:xfrm>
        </p:grpSpPr>
        <p:sp>
          <p:nvSpPr>
            <p:cNvPr id="40" name="Rectangle 40"/>
            <p:cNvSpPr/>
            <p:nvPr/>
          </p:nvSpPr>
          <p:spPr>
            <a:xfrm>
              <a:off x="4305300" y="4152900"/>
              <a:ext cx="3581400" cy="1504950"/>
            </a:xfrm>
            <a:prstGeom prst="roundRect">
              <a:avLst>
                <a:gd name="adj" fmla="val 88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4314825" y="4286250"/>
              <a:ext cx="47625" cy="123825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4533900" y="4286250"/>
              <a:ext cx="160782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4611016" y="4345781"/>
              <a:ext cx="14535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时钟频率 clock rate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527804" y="4690110"/>
              <a:ext cx="2797302" cy="7109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75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每秒包含的时钟周期数，是时钟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周期的倒数。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</a:t>
              </a:r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4.0 GHz = 4000 MHz = 4.0×10⁹ Hz</a:t>
              </a:r>
            </a:p>
          </p:txBody>
        </p:sp>
      </p:grpSp>
      <p:grpSp>
        <p:nvGrpSpPr>
          <p:cNvPr id="51" name="c-cycle"/>
          <p:cNvGrpSpPr/>
          <p:nvPr/>
        </p:nvGrpSpPr>
        <p:grpSpPr>
          <a:xfrm>
            <a:off x="8077200" y="4152900"/>
            <a:ext cx="3581400" cy="1504950"/>
            <a:chOff x="8077200" y="4152900"/>
            <a:chExt cx="3581400" cy="1504950"/>
          </a:xfrm>
        </p:grpSpPr>
        <p:sp>
          <p:nvSpPr>
            <p:cNvPr id="46" name="Rectangle 46"/>
            <p:cNvSpPr/>
            <p:nvPr/>
          </p:nvSpPr>
          <p:spPr>
            <a:xfrm>
              <a:off x="8077200" y="4152900"/>
              <a:ext cx="3581400" cy="1504950"/>
            </a:xfrm>
            <a:prstGeom prst="roundRect">
              <a:avLst>
                <a:gd name="adj" fmla="val 88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8086725" y="4286250"/>
              <a:ext cx="47625" cy="123825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8305800" y="4286250"/>
              <a:ext cx="1527810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385505" y="434578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一个周期里发生什么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299704" y="4690110"/>
              <a:ext cx="2602992" cy="7109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75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数据在部件之间传送并完成计算，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结果要在下一个时钟边沿之前稳定，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边沿到来时写入寄存器（更新状态）。</a:t>
              </a:r>
            </a:p>
          </p:txBody>
        </p:sp>
      </p:grpSp>
      <p:grpSp>
        <p:nvGrpSpPr>
          <p:cNvPr id="55" name="relation"/>
          <p:cNvGrpSpPr/>
          <p:nvPr/>
        </p:nvGrpSpPr>
        <p:grpSpPr>
          <a:xfrm>
            <a:off x="533400" y="5772150"/>
            <a:ext cx="6667500" cy="590550"/>
            <a:chOff x="533400" y="5772150"/>
            <a:chExt cx="6667500" cy="590550"/>
          </a:xfrm>
        </p:grpSpPr>
        <p:sp>
          <p:nvSpPr>
            <p:cNvPr id="52" name="Rectangle 52"/>
            <p:cNvSpPr/>
            <p:nvPr/>
          </p:nvSpPr>
          <p:spPr>
            <a:xfrm>
              <a:off x="533400" y="5772150"/>
              <a:ext cx="6667500" cy="590550"/>
            </a:xfrm>
            <a:prstGeom prst="roundRect">
              <a:avLst>
                <a:gd name="adj" fmla="val 19355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55523" y="5882164"/>
              <a:ext cx="19071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时钟周期 = 1 / 时钟频率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56285" y="6126956"/>
              <a:ext cx="45975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DCE7F5"/>
                  </a:solidFill>
                  <a:latin typeface="+mn-lt"/>
                  <a:ea typeface="+mn-ea"/>
                  <a:cs typeface="+mn-cs"/>
                </a:rPr>
                <a:t>两个例子是同一个时钟：1 / (4.0×10⁹ Hz) = 2.5×10⁻¹⁰ s = 250 ps</a:t>
              </a:r>
            </a:p>
          </p:txBody>
        </p:sp>
      </p:grpSp>
      <p:grpSp>
        <p:nvGrpSpPr>
          <p:cNvPr id="60" name="correction"/>
          <p:cNvGrpSpPr/>
          <p:nvPr/>
        </p:nvGrpSpPr>
        <p:grpSpPr>
          <a:xfrm>
            <a:off x="7391400" y="5772150"/>
            <a:ext cx="4267200" cy="590550"/>
            <a:chOff x="7391400" y="5772150"/>
            <a:chExt cx="4267200" cy="590550"/>
          </a:xfrm>
        </p:grpSpPr>
        <p:sp>
          <p:nvSpPr>
            <p:cNvPr id="56" name="Rectangle 56"/>
            <p:cNvSpPr/>
            <p:nvPr/>
          </p:nvSpPr>
          <p:spPr>
            <a:xfrm>
              <a:off x="7391400" y="5772150"/>
              <a:ext cx="4267200" cy="590550"/>
            </a:xfrm>
            <a:prstGeom prst="roundRect">
              <a:avLst>
                <a:gd name="adj" fmla="val 1935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7400925" y="5867400"/>
              <a:ext cx="47625" cy="40005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595235" y="5898356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更正：</a:t>
              </a: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原课件第三行写作“恢复时间”，教材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595235" y="6126956"/>
              <a:ext cx="29943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原图为 Update state，应译为“更新状态”。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119923" cy="909257"/>
            <a:chOff x="520446" y="342900"/>
            <a:chExt cx="81199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性能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1199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CPU 时间 = 时钟周期数 × 时钟周期：缩短它有两条路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14"/>
              <p:cNvSpPr txBox="1">
                <a:spLocks noGrp="1"/>
              </p:cNvSpPr>
              <p:nvPr/>
            </p:nvSpPr>
            <p:spPr>
              <a:xfrm>
                <a:off x="533400" y="1524000"/>
                <a:ext cx="6059805" cy="4886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 m:val="on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CPU 时间</m:t>
                      </m:r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m:rPr>
                          <m:nor m:val="on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CPU 时钟周期数</m:t>
                      </m:r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m:rPr>
                          <m:nor m:val="on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时钟周期</m:t>
                      </m:r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nor m:val="on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CPU 时钟周期数</m:t>
                          </m:r>
                        </m:num>
                        <m:den>
                          <m:r>
                            <m:rPr>
                              <m:nor m:val="on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时钟频率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18" name="c1-card-2"/>
          <p:cNvGrpSpPr/>
          <p:nvPr/>
        </p:nvGrpSpPr>
        <p:grpSpPr>
          <a:xfrm>
            <a:off x="533400" y="2192655"/>
            <a:ext cx="6059805" cy="1797368"/>
            <a:chOff x="533400" y="2192655"/>
            <a:chExt cx="6059805" cy="1797368"/>
          </a:xfrm>
        </p:grpSpPr>
        <p:sp>
          <p:nvSpPr>
            <p:cNvPr id="8" name="Rectangle 8"/>
            <p:cNvSpPr/>
            <p:nvPr/>
          </p:nvSpPr>
          <p:spPr>
            <a:xfrm>
              <a:off x="533400" y="2192655"/>
              <a:ext cx="6059805" cy="1797368"/>
            </a:xfrm>
            <a:prstGeom prst="roundRect">
              <a:avLst>
                <a:gd name="adj" fmla="val 7419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31520" y="2390775"/>
              <a:ext cx="1276350" cy="247650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98957" y="2425065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改进性能的两条路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31520" y="2739390"/>
              <a:ext cx="201930" cy="20193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89865" y="277972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22413" y="2751296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减少程序需要的时钟周期数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31520" y="3057525"/>
              <a:ext cx="201930" cy="20193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89865" y="309691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22413" y="3069431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提高时钟频率，也就是缩短时钟周期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25424" y="3383280"/>
              <a:ext cx="53461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两者常常此消彼长：为提高频率而减少每个周期做的事，完成同样的工作就需要</a:t>
              </a:r>
              <a:br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更多周期。硬件设计者要在两者之间权衡。</a:t>
              </a:r>
            </a:p>
          </p:txBody>
        </p:sp>
      </p:grpSp>
      <p:grpSp>
        <p:nvGrpSpPr>
          <p:cNvPr id="28" name="c1-card-3"/>
          <p:cNvGrpSpPr/>
          <p:nvPr/>
        </p:nvGrpSpPr>
        <p:grpSpPr>
          <a:xfrm>
            <a:off x="533400" y="4170045"/>
            <a:ext cx="6059805" cy="2119312"/>
            <a:chOff x="533400" y="4170045"/>
            <a:chExt cx="6059805" cy="2119312"/>
          </a:xfrm>
        </p:grpSpPr>
        <p:sp>
          <p:nvSpPr>
            <p:cNvPr id="19" name="Rectangle 19"/>
            <p:cNvSpPr/>
            <p:nvPr/>
          </p:nvSpPr>
          <p:spPr>
            <a:xfrm>
              <a:off x="533400" y="4170045"/>
              <a:ext cx="6059805" cy="2119312"/>
            </a:xfrm>
            <a:prstGeom prst="roundRect">
              <a:avLst>
                <a:gd name="adj" fmla="val 629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542925" y="4303395"/>
              <a:ext cx="47625" cy="185261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69620" y="4368165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57059" y="4402455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小例子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77240" y="4789170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33831" y="4728686"/>
              <a:ext cx="486562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程序需要 10×10⁹ 个时钟周期，频率 2 GHz：10×10⁹ / 2×10⁹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5 s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777240" y="5378767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33831" y="5318284"/>
              <a:ext cx="427951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频率提到 2.5 GHz，但周期数增至 12×10⁹：12×10⁹ /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2.5×10⁹ = 4.8 s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3524" y="5903595"/>
              <a:ext cx="27180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频率提高 25%，执行时间只缩短 4%。</a:t>
              </a:r>
            </a:p>
          </p:txBody>
        </p:sp>
      </p:grpSp>
      <p:grpSp>
        <p:nvGrpSpPr>
          <p:cNvPr id="34" name="c2-card-1"/>
          <p:cNvGrpSpPr/>
          <p:nvPr/>
        </p:nvGrpSpPr>
        <p:grpSpPr>
          <a:xfrm>
            <a:off x="6898005" y="1524000"/>
            <a:ext cx="4760595" cy="1250632"/>
            <a:chOff x="6898005" y="1524000"/>
            <a:chExt cx="4760595" cy="1250632"/>
          </a:xfrm>
        </p:grpSpPr>
        <p:sp>
          <p:nvSpPr>
            <p:cNvPr id="29" name="Rectangle 29"/>
            <p:cNvSpPr/>
            <p:nvPr/>
          </p:nvSpPr>
          <p:spPr>
            <a:xfrm>
              <a:off x="6898005" y="1524000"/>
              <a:ext cx="4760595" cy="1250632"/>
            </a:xfrm>
            <a:prstGeom prst="roundRect">
              <a:avLst>
                <a:gd name="adj" fmla="val 106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907530" y="1657350"/>
              <a:ext cx="47625" cy="98393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7134225" y="17221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225665" y="17564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126986" y="2082641"/>
              <a:ext cx="402704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原课件把第 2 条写作“增加时钟效率？”，教材原文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 increase clock rate，应为“提高时钟频率”。</a:t>
              </a:r>
            </a:p>
          </p:txBody>
        </p:sp>
      </p:grpSp>
      <p:grpSp>
        <p:nvGrpSpPr>
          <p:cNvPr id="53" name="c2-table-2"/>
          <p:cNvGrpSpPr/>
          <p:nvPr/>
        </p:nvGrpSpPr>
        <p:grpSpPr>
          <a:xfrm>
            <a:off x="6898005" y="2955608"/>
            <a:ext cx="4760595" cy="2122170"/>
            <a:chOff x="6898005" y="2955608"/>
            <a:chExt cx="4760595" cy="2122170"/>
          </a:xfrm>
        </p:grpSpPr>
        <p:sp>
          <p:nvSpPr>
            <p:cNvPr id="35" name="Rectangle 35"/>
            <p:cNvSpPr/>
            <p:nvPr/>
          </p:nvSpPr>
          <p:spPr>
            <a:xfrm>
              <a:off x="6898005" y="2955608"/>
              <a:ext cx="4760595" cy="42481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377494" y="308324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时间单位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920287" y="308324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换算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000494" y="3508057"/>
              <a:ext cx="6066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ms 毫秒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618792" y="3508057"/>
              <a:ext cx="5049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10⁻³ s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898005" y="379952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898005" y="3804285"/>
              <a:ext cx="476059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000494" y="3932872"/>
              <a:ext cx="5727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ns 纳秒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618792" y="3932872"/>
              <a:ext cx="5049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10⁻⁹ s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898005" y="422338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000494" y="4356735"/>
              <a:ext cx="5727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ps 皮秒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618792" y="4356735"/>
              <a:ext cx="5937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10⁻¹² s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898005" y="4648200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898005" y="4652962"/>
              <a:ext cx="476059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000494" y="4781550"/>
              <a:ext cx="6785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GHz 吉赫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618792" y="4781550"/>
              <a:ext cx="13484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10⁹ Hz = 10³ MHz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898005" y="2955608"/>
              <a:ext cx="4760595" cy="21221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8511540" y="2955608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99660" cy="909257"/>
            <a:chOff x="520446" y="342900"/>
            <a:chExt cx="629966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性能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9966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例题：计算机 B 的时钟频率要提高到多少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card-1"/>
          <p:cNvGrpSpPr/>
          <p:nvPr/>
        </p:nvGrpSpPr>
        <p:grpSpPr>
          <a:xfrm>
            <a:off x="533400" y="1524000"/>
            <a:ext cx="4760595" cy="2607945"/>
            <a:chOff x="533400" y="1524000"/>
            <a:chExt cx="4760595" cy="260794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2607945"/>
            </a:xfrm>
            <a:prstGeom prst="roundRect">
              <a:avLst>
                <a:gd name="adj" fmla="val 511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34124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题目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6765" y="217360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4880" y="2110740"/>
              <a:ext cx="35680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计算机 A：时钟频率 2 GHz，运行某程序的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CPU 时间为 10 s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79463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731770"/>
              <a:ext cx="42508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要设计计算机 B，使同一程序的 CPU 时间为 6 s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12991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067050"/>
              <a:ext cx="37966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可以提高时钟频率，但这会使程序需要的时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钟周期数变为 A 的 1.2 倍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73430" y="3688080"/>
              <a:ext cx="26197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：B 的时钟频率应为多少？</a:t>
              </a:r>
            </a:p>
          </p:txBody>
        </p:sp>
      </p:grpSp>
      <p:grpSp>
        <p:nvGrpSpPr>
          <p:cNvPr id="25" name="c1-callout-2"/>
          <p:cNvGrpSpPr/>
          <p:nvPr/>
        </p:nvGrpSpPr>
        <p:grpSpPr>
          <a:xfrm>
            <a:off x="533400" y="4322445"/>
            <a:ext cx="4760595" cy="782955"/>
            <a:chOff x="533400" y="4322445"/>
            <a:chExt cx="4760595" cy="782955"/>
          </a:xfrm>
        </p:grpSpPr>
        <p:sp>
          <p:nvSpPr>
            <p:cNvPr id="19" name="Rectangle 19"/>
            <p:cNvSpPr/>
            <p:nvPr/>
          </p:nvSpPr>
          <p:spPr>
            <a:xfrm>
              <a:off x="533400" y="4322445"/>
              <a:ext cx="476059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738188" y="4613910"/>
              <a:ext cx="200026" cy="200025"/>
              <a:chOff x="738188" y="4613910"/>
              <a:chExt cx="200026" cy="200025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461391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777926" y="465836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12642" y="476948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040130" y="4471035"/>
              <a:ext cx="3825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思路：先由 A 求出程序的时钟周期数，再用 B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的周期数和目标时间求频率。</a:t>
              </a:r>
            </a:p>
          </p:txBody>
        </p:sp>
      </p:grpSp>
      <p:grpSp>
        <p:nvGrpSpPr>
          <p:cNvPr id="43" name="c2-steps-1"/>
          <p:cNvGrpSpPr/>
          <p:nvPr/>
        </p:nvGrpSpPr>
        <p:grpSpPr>
          <a:xfrm>
            <a:off x="5598795" y="1533525"/>
            <a:ext cx="5459004" cy="2529173"/>
            <a:chOff x="5598795" y="1533525"/>
            <a:chExt cx="5459004" cy="2529173"/>
          </a:xfrm>
        </p:grpSpPr>
        <p:sp>
          <p:nvSpPr>
            <p:cNvPr id="26" name="Rectangle 26"/>
            <p:cNvSpPr/>
            <p:nvPr/>
          </p:nvSpPr>
          <p:spPr>
            <a:xfrm>
              <a:off x="5732145" y="1676400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5598795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69241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598795" y="218408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692419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5598795" y="283464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692419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5598795" y="348615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692419" y="3559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010275" y="1567815"/>
              <a:ext cx="14172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的时钟周期数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011418" y="1861661"/>
              <a:ext cx="39117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CPU 时间A × 时钟频率A = 10 s × 2 GHz = 20 × 10⁹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010275" y="2218372"/>
              <a:ext cx="14172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的时钟周期数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011418" y="2512219"/>
              <a:ext cx="20376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 × 20 × 10⁹ = 24 × 10⁹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010275" y="2868930"/>
              <a:ext cx="12153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的时钟频率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011418" y="3162776"/>
              <a:ext cx="50463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时钟周期数B / CPU 时间B = 24 × 10⁹ / 6 s = 4 × 10⁹ Hz = </a:t>
              </a:r>
              <a:r>
                <a:rPr lang="en-US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 GHz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010275" y="352044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检验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011418" y="3813334"/>
              <a:ext cx="32358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 × 10⁹ / (4 × 10⁹ Hz) = 6 s，符合要求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4" name="Rectangle 44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130" y="5991225"/>
              <a:ext cx="80101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频率翻倍（2 GHz → 4 GHz），CPU 时间只降到 60%：时钟周期数增加抵消了一部分收益。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045584" cy="909257"/>
            <a:chOff x="520446" y="342900"/>
            <a:chExt cx="804558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性能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04558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指令数与 CPI：CPU 时间 = 指令数 × CPI × 时钟周期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17"/>
              <p:cNvSpPr txBox="1">
                <a:spLocks noGrp="1"/>
              </p:cNvSpPr>
              <p:nvPr/>
            </p:nvSpPr>
            <p:spPr>
              <a:xfrm>
                <a:off x="533400" y="1524000"/>
                <a:ext cx="5842635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 m:val="on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时钟周期数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m:rPr>
                          <m:nor m:val="on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指令数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m:rPr>
                          <m:nor m:val="on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CPI</m:t>
                      </m:r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formula18"/>
              <p:cNvSpPr txBox="1">
                <a:spLocks noGrp="1"/>
              </p:cNvSpPr>
              <p:nvPr/>
            </p:nvSpPr>
            <p:spPr>
              <a:xfrm>
                <a:off x="533400" y="2171700"/>
                <a:ext cx="5842635" cy="5143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 m:val="on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CPU 时间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m:rPr>
                          <m:nor m:val="on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指令数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m:rPr>
                          <m:nor m:val="on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CPI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m:rPr>
                          <m:nor m:val="on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时钟周期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nor m:val="on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指令数</m:t>
                          </m:r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×</m:t>
                          </m:r>
                          <m:r>
                            <m:rPr>
                              <m:nor m:val="on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CPI</m:t>
                          </m:r>
                        </m:num>
                        <m:den>
                          <m:r>
                            <m:rPr>
                              <m:nor m:val="on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时钟频率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14" name="c1-card-3"/>
          <p:cNvGrpSpPr/>
          <p:nvPr/>
        </p:nvGrpSpPr>
        <p:grpSpPr>
          <a:xfrm>
            <a:off x="533400" y="2876550"/>
            <a:ext cx="5842635" cy="1316355"/>
            <a:chOff x="533400" y="2876550"/>
            <a:chExt cx="5842635" cy="1316355"/>
          </a:xfrm>
        </p:grpSpPr>
        <p:sp>
          <p:nvSpPr>
            <p:cNvPr id="9" name="Rectangle 9"/>
            <p:cNvSpPr/>
            <p:nvPr/>
          </p:nvSpPr>
          <p:spPr>
            <a:xfrm>
              <a:off x="533400" y="2876550"/>
              <a:ext cx="5842635" cy="1316355"/>
            </a:xfrm>
            <a:prstGeom prst="roundRect">
              <a:avLst>
                <a:gd name="adj" fmla="val 10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3009900"/>
              <a:ext cx="47625" cy="104965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81050" y="3086100"/>
              <a:ext cx="2742248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97629" y="3121819"/>
              <a:ext cx="27081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CPI（clock cycles per instruction）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3430" y="3463290"/>
              <a:ext cx="515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每条指令的平均时钟周期数。不同指令需要的周期数不同时，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CPI 是程序执行的全部指令的平均值。</a:t>
              </a:r>
            </a:p>
          </p:txBody>
        </p:sp>
      </p:grpSp>
      <p:grpSp>
        <p:nvGrpSpPr>
          <p:cNvPr id="21" name="c1-callout-4"/>
          <p:cNvGrpSpPr/>
          <p:nvPr/>
        </p:nvGrpSpPr>
        <p:grpSpPr>
          <a:xfrm>
            <a:off x="533400" y="4383405"/>
            <a:ext cx="5842635" cy="782955"/>
            <a:chOff x="533400" y="4383405"/>
            <a:chExt cx="5842635" cy="782955"/>
          </a:xfrm>
        </p:grpSpPr>
        <p:sp>
          <p:nvSpPr>
            <p:cNvPr id="15" name="Rectangle 15"/>
            <p:cNvSpPr/>
            <p:nvPr/>
          </p:nvSpPr>
          <p:spPr>
            <a:xfrm>
              <a:off x="533400" y="4383405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38188" y="4674870"/>
              <a:ext cx="200026" cy="200025"/>
              <a:chOff x="738188" y="4674870"/>
              <a:chExt cx="200026" cy="200025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738188" y="467487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777926" y="471932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12642" y="483044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040130" y="4531995"/>
              <a:ext cx="44729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例：程序执行 5×10⁹ 条指令，CPI = 1.2，时钟频率 3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GHz，CPU 时间 = 5×10⁹ × 1.2 / 3×10⁹ = 2 s。</a:t>
              </a:r>
            </a:p>
          </p:txBody>
        </p:sp>
      </p:grpSp>
      <p:grpSp>
        <p:nvGrpSpPr>
          <p:cNvPr id="28" name="c1-callout-5"/>
          <p:cNvGrpSpPr/>
          <p:nvPr/>
        </p:nvGrpSpPr>
        <p:grpSpPr>
          <a:xfrm>
            <a:off x="533400" y="5356860"/>
            <a:ext cx="5842635" cy="782955"/>
            <a:chOff x="533400" y="5356860"/>
            <a:chExt cx="5842635" cy="782955"/>
          </a:xfrm>
        </p:grpSpPr>
        <p:sp>
          <p:nvSpPr>
            <p:cNvPr id="22" name="Rectangle 22"/>
            <p:cNvSpPr/>
            <p:nvPr/>
          </p:nvSpPr>
          <p:spPr>
            <a:xfrm>
              <a:off x="533400" y="5356860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38188" y="5648325"/>
              <a:ext cx="200026" cy="200026"/>
              <a:chOff x="738188" y="5648325"/>
              <a:chExt cx="200026" cy="200026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738188" y="564832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38200" y="57150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27088" y="574833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1040130" y="5505450"/>
              <a:ext cx="47682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量纲检查：条 × (周期 / 条) × (秒 / 周期) = 秒。代入数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字前先把 ps、GHz 换成 s、Hz。</a:t>
              </a:r>
            </a:p>
          </p:txBody>
        </p:sp>
      </p:grpSp>
      <p:grpSp>
        <p:nvGrpSpPr>
          <p:cNvPr id="43" name="c2-table-1"/>
          <p:cNvGrpSpPr/>
          <p:nvPr/>
        </p:nvGrpSpPr>
        <p:grpSpPr>
          <a:xfrm>
            <a:off x="6680835" y="1524000"/>
            <a:ext cx="4977765" cy="2217420"/>
            <a:chOff x="6680835" y="1524000"/>
            <a:chExt cx="4977765" cy="2217420"/>
          </a:xfrm>
        </p:grpSpPr>
        <p:sp>
          <p:nvSpPr>
            <p:cNvPr id="29" name="Rectangle 29"/>
            <p:cNvSpPr/>
            <p:nvPr/>
          </p:nvSpPr>
          <p:spPr>
            <a:xfrm>
              <a:off x="6680835" y="1524000"/>
              <a:ext cx="4977765" cy="48768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218045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因子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04032" y="166306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由什么决定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787515" y="2150745"/>
              <a:ext cx="8786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指令数 IC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281035" y="2150745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程序本身、指令集体系结构和编译器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680835" y="249459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680835" y="2499360"/>
              <a:ext cx="4977765" cy="7543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787515" y="2771775"/>
              <a:ext cx="32887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CPI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281035" y="2638425"/>
              <a:ext cx="305371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CPU 硬件；各类指令 CPI 不同时，还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取决于程序中各类指令所占的比例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680835" y="324897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787515" y="3392805"/>
              <a:ext cx="11281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时钟周期 Tc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281035" y="339280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处理器的硬件实现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680835" y="1524000"/>
              <a:ext cx="4977765" cy="221742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69592" y="1524000"/>
              <a:ext cx="9525" cy="22174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0" name="c2-callout-2"/>
          <p:cNvGrpSpPr/>
          <p:nvPr/>
        </p:nvGrpSpPr>
        <p:grpSpPr>
          <a:xfrm>
            <a:off x="6680835" y="3931920"/>
            <a:ext cx="4977765" cy="782955"/>
            <a:chOff x="6680835" y="3931920"/>
            <a:chExt cx="4977765" cy="782955"/>
          </a:xfrm>
        </p:grpSpPr>
        <p:sp>
          <p:nvSpPr>
            <p:cNvPr id="44" name="Rectangle 44"/>
            <p:cNvSpPr/>
            <p:nvPr/>
          </p:nvSpPr>
          <p:spPr>
            <a:xfrm>
              <a:off x="6680835" y="3931920"/>
              <a:ext cx="4977765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6873564" y="4219693"/>
              <a:ext cx="224134" cy="192560"/>
              <a:chOff x="6873564" y="4219693"/>
              <a:chExt cx="224134" cy="19256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6985635" y="429006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873564" y="421969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6985635" y="43678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7187565" y="4080510"/>
              <a:ext cx="4015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两台计算机指令集相同时，同一程序的指令数相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同，只需比较 CPI × 时钟周期。</a:t>
              </a:r>
            </a:p>
          </p:txBody>
        </p:sp>
      </p:grpSp>
      <p:grpSp>
        <p:nvGrpSpPr>
          <p:cNvPr id="57" name="c2-callout-3"/>
          <p:cNvGrpSpPr/>
          <p:nvPr/>
        </p:nvGrpSpPr>
        <p:grpSpPr>
          <a:xfrm>
            <a:off x="6680835" y="4905375"/>
            <a:ext cx="4977765" cy="1059180"/>
            <a:chOff x="6680835" y="4905375"/>
            <a:chExt cx="4977765" cy="1059180"/>
          </a:xfrm>
        </p:grpSpPr>
        <p:sp>
          <p:nvSpPr>
            <p:cNvPr id="51" name="Rectangle 51"/>
            <p:cNvSpPr/>
            <p:nvPr/>
          </p:nvSpPr>
          <p:spPr>
            <a:xfrm>
              <a:off x="6680835" y="4905375"/>
              <a:ext cx="4977765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6885623" y="5334953"/>
              <a:ext cx="200026" cy="200026"/>
              <a:chOff x="6885623" y="5334953"/>
              <a:chExt cx="200026" cy="200026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6885623" y="533495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6985635" y="540162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6974523" y="543496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7187565" y="5053965"/>
              <a:ext cx="39681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CPI 可以小于 1：能在一个时钟周期内处理多条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指令的处理器就是这样，第六部分 CINT2006 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中就有 CPI = 0.44 的程序。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性能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例题：同一指令集的两台计算机，哪台更快、快多少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3" name="c1-table-1"/>
          <p:cNvGrpSpPr/>
          <p:nvPr/>
        </p:nvGrpSpPr>
        <p:grpSpPr>
          <a:xfrm>
            <a:off x="528447" y="1524000"/>
            <a:ext cx="4333113" cy="1580864"/>
            <a:chOff x="528447" y="1524000"/>
            <a:chExt cx="4333113" cy="1580864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328160" cy="439102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82599" y="164877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计算机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435733" y="164877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时钟周期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093487" y="1648778"/>
              <a:ext cx="2959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CPI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99758" y="2087880"/>
              <a:ext cx="124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22058" y="2087880"/>
              <a:ext cx="5680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250 ps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084691" y="2087880"/>
              <a:ext cx="3135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97442"/>
              <a:ext cx="432816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402205"/>
              <a:ext cx="4328160" cy="43910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199758" y="2526982"/>
              <a:ext cx="124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522058" y="2526982"/>
              <a:ext cx="5680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500 ps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084691" y="2526982"/>
              <a:ext cx="3135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1524000"/>
              <a:ext cx="4328160" cy="1316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1986915" y="1524000"/>
              <a:ext cx="9525" cy="1316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3615690" y="1524000"/>
              <a:ext cx="9525" cy="1316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28447" y="2914174"/>
              <a:ext cx="312787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指令集体系结构相同，运行同一程序，指令数都记为 I</a:t>
              </a:r>
            </a:p>
          </p:txBody>
        </p:sp>
      </p:grpSp>
      <p:grpSp>
        <p:nvGrpSpPr>
          <p:cNvPr id="30" name="c1-callout-2"/>
          <p:cNvGrpSpPr/>
          <p:nvPr/>
        </p:nvGrpSpPr>
        <p:grpSpPr>
          <a:xfrm>
            <a:off x="533400" y="3236595"/>
            <a:ext cx="4328160" cy="729615"/>
            <a:chOff x="533400" y="3236595"/>
            <a:chExt cx="4328160" cy="729615"/>
          </a:xfrm>
        </p:grpSpPr>
        <p:sp>
          <p:nvSpPr>
            <p:cNvPr id="24" name="Rectangle 24"/>
            <p:cNvSpPr/>
            <p:nvPr/>
          </p:nvSpPr>
          <p:spPr>
            <a:xfrm>
              <a:off x="533400" y="3236595"/>
              <a:ext cx="4328160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738188" y="3501390"/>
              <a:ext cx="200026" cy="200025"/>
              <a:chOff x="738188" y="3501390"/>
              <a:chExt cx="200026" cy="200025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738188" y="350139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777926" y="354584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12642" y="365696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1040892" y="3382327"/>
              <a:ext cx="329698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指令集相同 ⇒ 指令数相同，比较每条指令的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平均耗时 CPI × 时钟周期即可。</a:t>
              </a:r>
            </a:p>
          </p:txBody>
        </p:sp>
      </p:grpSp>
      <p:grpSp>
        <p:nvGrpSpPr>
          <p:cNvPr id="37" name="c1-card-3"/>
          <p:cNvGrpSpPr/>
          <p:nvPr/>
        </p:nvGrpSpPr>
        <p:grpSpPr>
          <a:xfrm>
            <a:off x="533400" y="4135755"/>
            <a:ext cx="4328160" cy="1446848"/>
            <a:chOff x="533400" y="4135755"/>
            <a:chExt cx="4328160" cy="1446848"/>
          </a:xfrm>
        </p:grpSpPr>
        <p:sp>
          <p:nvSpPr>
            <p:cNvPr id="31" name="Rectangle 31"/>
            <p:cNvSpPr/>
            <p:nvPr/>
          </p:nvSpPr>
          <p:spPr>
            <a:xfrm>
              <a:off x="533400" y="4135755"/>
              <a:ext cx="4328160" cy="1446848"/>
            </a:xfrm>
            <a:prstGeom prst="roundRect">
              <a:avLst>
                <a:gd name="adj" fmla="val 921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542925" y="4269105"/>
              <a:ext cx="47625" cy="118014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58190" y="432244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50862" y="435530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变式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51332" y="4666298"/>
              <a:ext cx="345986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B 通过改进把 CPI 降到 0.9：每条指令平均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 × 500 ps = 450 ps，比 A 的 500 ps 短。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52475" y="5220176"/>
              <a:ext cx="31367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这时 B 更快，B 比 A 快 500 / 450 ≈ 1.11 倍。</a:t>
              </a:r>
            </a:p>
          </p:txBody>
        </p:sp>
      </p:grpSp>
      <p:grpSp>
        <p:nvGrpSpPr>
          <p:cNvPr id="55" name="c2-steps-1"/>
          <p:cNvGrpSpPr/>
          <p:nvPr/>
        </p:nvGrpSpPr>
        <p:grpSpPr>
          <a:xfrm>
            <a:off x="5166360" y="1533525"/>
            <a:ext cx="4342267" cy="2268379"/>
            <a:chOff x="5166360" y="1533525"/>
            <a:chExt cx="4342267" cy="2268379"/>
          </a:xfrm>
        </p:grpSpPr>
        <p:sp>
          <p:nvSpPr>
            <p:cNvPr id="38" name="Rectangle 38"/>
            <p:cNvSpPr/>
            <p:nvPr/>
          </p:nvSpPr>
          <p:spPr>
            <a:xfrm>
              <a:off x="5299710" y="1676400"/>
              <a:ext cx="19050" cy="17487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Ellipse 39"/>
            <p:cNvSpPr/>
            <p:nvPr/>
          </p:nvSpPr>
          <p:spPr>
            <a:xfrm>
              <a:off x="5166360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25998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5166360" y="211645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259984" y="21902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5166360" y="269938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259984" y="27732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5166360" y="328231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259984" y="335613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578602" y="1564957"/>
              <a:ext cx="11839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的 CPU 时间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579745" y="1833086"/>
              <a:ext cx="38542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 × CPI(A) × 时钟周期(A) = I × 2.0 × 250 ps = 500·I ps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578602" y="2147888"/>
              <a:ext cx="11839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的 CPU 时间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579745" y="2416016"/>
              <a:ext cx="38542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 × CPI(B) × 时钟周期(B) = I × 1.2 × 500 ps = 600·I ps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578602" y="273081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求比值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579745" y="2998946"/>
              <a:ext cx="39288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CPU 时间(B) / CPU 时间(A) = 600·I ps / 500·I ps = 1.2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578602" y="331374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5579745" y="3581876"/>
              <a:ext cx="17161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 更快</a:t>
              </a: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，A 比 B 快 1.2 倍</a:t>
              </a:r>
            </a:p>
          </p:txBody>
        </p:sp>
      </p:grpSp>
      <p:grpSp>
        <p:nvGrpSpPr>
          <p:cNvPr id="62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56" name="Rectangle 56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726129" y="6018966"/>
              <a:ext cx="224134" cy="192560"/>
              <a:chOff x="726129" y="6018966"/>
              <a:chExt cx="224134" cy="19256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838200" y="608933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726129" y="601896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838200" y="616712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1040892" y="6028373"/>
              <a:ext cx="65788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B 的 CPI 更小却更慢。只看 CPI 或只看时钟周期都会下错结论，要看两者的乘积。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40978" cy="909257"/>
            <a:chOff x="520446" y="342900"/>
            <a:chExt cx="624097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性能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4097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各类指令 CPI 不同时，按加权平均求 CPI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21"/>
              <p:cNvSpPr txBox="1">
                <a:spLocks noGrp="1"/>
              </p:cNvSpPr>
              <p:nvPr/>
            </p:nvSpPr>
            <p:spPr>
              <a:xfrm>
                <a:off x="533400" y="1524000"/>
                <a:ext cx="5085398" cy="64960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 m:val="on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CPU 时钟周期数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m:rPr>
                                      <m:nor m:val="on"/>
                                    </m:rP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CPI</m:t>
                                  </m:r>
                                </m:e>
                                <m:sub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×</m:t>
                              </m:r>
                              <m:sSub>
                                <m:e>
                                  <m:r>
                                    <m:rPr>
                                      <m:nor m:val="on"/>
                                    </m:rP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指令数</m:t>
                                  </m:r>
                                </m:e>
                                <m:sub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formula22"/>
              <p:cNvSpPr txBox="1">
                <a:spLocks noGrp="1"/>
              </p:cNvSpPr>
              <p:nvPr/>
            </p:nvSpPr>
            <p:spPr>
              <a:xfrm>
                <a:off x="533400" y="2364105"/>
                <a:ext cx="5085398" cy="53149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 m:val="on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CPI</m:t>
                      </m:r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nor m:val="on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CPU 时钟周期数</m:t>
                          </m:r>
                        </m:num>
                        <m:den>
                          <m:r>
                            <m:rPr>
                              <m:nor m:val="on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指令数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m:rPr>
                                      <m:nor m:val="on"/>
                                    </m:r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CPI</m:t>
                                  </m:r>
                                </m:e>
                                <m:sub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×</m:t>
                              </m:r>
                              <m:f>
                                <m:fPr>
                                  <m:type m:val="bar"/>
                                  <m:ctrl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sSub>
                                    <m:e>
                                      <m:r>
                                        <m:rPr>
                                          <m:nor m:val="on"/>
                                        </m:rP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指令数</m:t>
                                      </m:r>
                                    </m:e>
                                    <m:sub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m:rPr>
                                      <m:nor m:val="on"/>
                                    </m:r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指令数</m:t>
                                  </m:r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</a:p>
            </p:txBody>
          </p:sp>
        </mc:Choice>
      </mc:AlternateContent>
      <p:grpSp>
        <p:nvGrpSpPr>
          <p:cNvPr id="15" name="c1-callout-3"/>
          <p:cNvGrpSpPr/>
          <p:nvPr/>
        </p:nvGrpSpPr>
        <p:grpSpPr>
          <a:xfrm>
            <a:off x="533400" y="3086100"/>
            <a:ext cx="5085398" cy="1059180"/>
            <a:chOff x="533400" y="3086100"/>
            <a:chExt cx="5085398" cy="1059180"/>
          </a:xfrm>
        </p:grpSpPr>
        <p:sp>
          <p:nvSpPr>
            <p:cNvPr id="9" name="Rectangle 9"/>
            <p:cNvSpPr/>
            <p:nvPr/>
          </p:nvSpPr>
          <p:spPr>
            <a:xfrm>
              <a:off x="533400" y="3086100"/>
              <a:ext cx="5085398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738188" y="3515678"/>
              <a:ext cx="200026" cy="200026"/>
              <a:chOff x="738188" y="3515678"/>
              <a:chExt cx="200026" cy="200026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738188" y="351567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838200" y="358235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827088" y="361569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1040130" y="3234690"/>
              <a:ext cx="41871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指令数ᵢ / 指令数 是第 i 类指令的相对频率。平均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CPI 取决于程序中各类指令所占的比例，所以编译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器也会影响 CPI。</a:t>
              </a:r>
            </a:p>
          </p:txBody>
        </p:sp>
      </p:grpSp>
      <p:grpSp>
        <p:nvGrpSpPr>
          <p:cNvPr id="41" name="c2-table-1"/>
          <p:cNvGrpSpPr/>
          <p:nvPr/>
        </p:nvGrpSpPr>
        <p:grpSpPr>
          <a:xfrm>
            <a:off x="5917882" y="1524000"/>
            <a:ext cx="5740718" cy="2091214"/>
            <a:chOff x="5917882" y="1524000"/>
            <a:chExt cx="5740718" cy="2091214"/>
          </a:xfrm>
        </p:grpSpPr>
        <p:sp>
          <p:nvSpPr>
            <p:cNvPr id="16" name="Rectangle 16"/>
            <p:cNvSpPr/>
            <p:nvPr/>
          </p:nvSpPr>
          <p:spPr>
            <a:xfrm>
              <a:off x="5923598" y="1524000"/>
              <a:ext cx="5735002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693586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指令类别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688711" y="165973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853619" y="165973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017574" y="165973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031420" y="2108359"/>
              <a:ext cx="11995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该类指令的 CPI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693897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58804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022759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923598" y="2416492"/>
              <a:ext cx="57350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923598" y="2421255"/>
              <a:ext cx="573500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031420" y="2556986"/>
              <a:ext cx="12549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序列 1 中的条数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693897" y="255698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8804" y="255698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022759" y="255698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923598" y="2866072"/>
              <a:ext cx="57350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031420" y="3005614"/>
              <a:ext cx="12549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序列 2 中的条数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693897" y="30056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858804" y="30056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022759" y="30056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923598" y="1524000"/>
              <a:ext cx="5735002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8161020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9324975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10489882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917882" y="3395186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例：同一段高级语言代码，编译器可以生成两种指令序列</a:t>
              </a:r>
            </a:p>
          </p:txBody>
        </p:sp>
      </p:grpSp>
      <p:grpSp>
        <p:nvGrpSpPr>
          <p:cNvPr id="63" name="c2-table-2"/>
          <p:cNvGrpSpPr/>
          <p:nvPr/>
        </p:nvGrpSpPr>
        <p:grpSpPr>
          <a:xfrm>
            <a:off x="5923598" y="3761422"/>
            <a:ext cx="5735002" cy="1346835"/>
            <a:chOff x="5923598" y="3761422"/>
            <a:chExt cx="5735002" cy="1346835"/>
          </a:xfrm>
        </p:grpSpPr>
        <p:sp>
          <p:nvSpPr>
            <p:cNvPr id="42" name="Rectangle 42"/>
            <p:cNvSpPr/>
            <p:nvPr/>
          </p:nvSpPr>
          <p:spPr>
            <a:xfrm>
              <a:off x="5923598" y="3761422"/>
              <a:ext cx="5735002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203912" y="389620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序列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264565" y="389620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指令数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812466" y="389620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时钟周期数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629609" y="3896201"/>
              <a:ext cx="6825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平均 CPI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127017" y="4345781"/>
              <a:ext cx="5113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序列 1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139638" y="4345781"/>
              <a:ext cx="7797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2+1+2 = 5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424761" y="4345781"/>
              <a:ext cx="164993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2×1 + 1×2 + 2×3 = 10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533634" y="434578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10/5 = 2.0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923598" y="4653915"/>
              <a:ext cx="57350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5923598" y="4658678"/>
              <a:ext cx="573500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127017" y="4794409"/>
              <a:ext cx="5113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序列 2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139638" y="4794409"/>
              <a:ext cx="7797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4+1+1 = 6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8227695" y="4668202"/>
              <a:ext cx="2045018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472147" y="4794409"/>
              <a:ext cx="15551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4×1 + 1×2 + 1×3 = 9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10291762" y="4668202"/>
              <a:ext cx="1357312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10581020" y="4794409"/>
              <a:ext cx="7797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9/6 = 1.5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5923598" y="3761422"/>
              <a:ext cx="5735002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6837045" y="3761422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8213408" y="3761422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10277475" y="3761422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9" name="c2-callout-3"/>
          <p:cNvGrpSpPr/>
          <p:nvPr/>
        </p:nvGrpSpPr>
        <p:grpSpPr>
          <a:xfrm>
            <a:off x="5923598" y="5297805"/>
            <a:ext cx="5735002" cy="782955"/>
            <a:chOff x="5923598" y="5297805"/>
            <a:chExt cx="5735002" cy="782955"/>
          </a:xfrm>
        </p:grpSpPr>
        <p:sp>
          <p:nvSpPr>
            <p:cNvPr id="64" name="Rectangle 64"/>
            <p:cNvSpPr/>
            <p:nvPr/>
          </p:nvSpPr>
          <p:spPr>
            <a:xfrm>
              <a:off x="5923598" y="5297805"/>
              <a:ext cx="5735002" cy="782955"/>
            </a:xfrm>
            <a:prstGeom prst="roundRect">
              <a:avLst>
                <a:gd name="adj" fmla="val 1459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6128385" y="5589270"/>
              <a:ext cx="200026" cy="200026"/>
              <a:chOff x="6128385" y="5589270"/>
              <a:chExt cx="200026" cy="200026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6128385" y="558927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6195060" y="5667058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6430328" y="5446395"/>
              <a:ext cx="43395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序列 2 多执行 1 条指令，时钟周期数反而更少（9 &lt;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10），所以序列 2 更快。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性能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性能公式总结：三个因子分别受哪些因素影响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24"/>
              <p:cNvSpPr txBox="1">
                <a:spLocks noGrp="1"/>
              </p:cNvSpPr>
              <p:nvPr/>
            </p:nvSpPr>
            <p:spPr>
              <a:xfrm>
                <a:off x="533400" y="1524000"/>
                <a:ext cx="11125200" cy="6686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 m:val="on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CPU 时间</m:t>
                      </m:r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nor m:val="on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指令数</m:t>
                          </m:r>
                        </m:num>
                        <m:den>
                          <m:r>
                            <m:rPr>
                              <m:nor m:val="on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程序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f>
                        <m:fPr>
                          <m:type m:val="bar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nor m:val="on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时钟周期数</m:t>
                          </m:r>
                        </m:num>
                        <m:den>
                          <m:r>
                            <m:rPr>
                              <m:nor m:val="on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指令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f>
                        <m:fPr>
                          <m:type m:val="bar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nor m:val="on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秒</m:t>
                          </m:r>
                        </m:num>
                        <m:den>
                          <m:r>
                            <m:rPr>
                              <m:nor m:val="on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时钟周期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44" name="c1-table-2"/>
          <p:cNvGrpSpPr/>
          <p:nvPr/>
        </p:nvGrpSpPr>
        <p:grpSpPr>
          <a:xfrm>
            <a:off x="533400" y="2383155"/>
            <a:ext cx="11125200" cy="2697480"/>
            <a:chOff x="533400" y="2383155"/>
            <a:chExt cx="11125200" cy="2697480"/>
          </a:xfrm>
        </p:grpSpPr>
        <p:sp>
          <p:nvSpPr>
            <p:cNvPr id="8" name="Rectangle 8"/>
            <p:cNvSpPr/>
            <p:nvPr/>
          </p:nvSpPr>
          <p:spPr>
            <a:xfrm>
              <a:off x="533400" y="2383155"/>
              <a:ext cx="11125200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71931" y="251888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影响因素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550257" y="2518886"/>
              <a:ext cx="7497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指令数 IC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97351" y="2518886"/>
              <a:ext cx="2805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CPI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780271" y="2518886"/>
              <a:ext cx="9626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时钟周期 Tc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557108" y="251888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41223" y="308086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832494" y="308086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858857" y="308086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可能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168976" y="308086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092380" y="2967514"/>
              <a:ext cx="516610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决定执行多少条语句，从而决定指令数；若偏用除法等慢指令，CPI 也会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变高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50234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507105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1223" y="364283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编程语言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832494" y="3642836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945014" y="3642836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168976" y="3642836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092380" y="3642836"/>
              <a:ext cx="55464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语句要翻译成指令；语言特性（如大量间接调用）会用到 CPI 较高的指令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395192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1223" y="409146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编译程序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832494" y="4091464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945014" y="4091464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168976" y="4091464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092380" y="4091464"/>
              <a:ext cx="48377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决定源语句怎样翻译成指令，同时影响指令数和各类指令的比例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40055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4405312"/>
              <a:ext cx="1112520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1223" y="4653439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指令集体系结构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832494" y="4653439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945014" y="4653439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168976" y="4653439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092380" y="4540091"/>
              <a:ext cx="52148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决定完成一个功能要几条指令、每条指令几个周期，以及处理器的时钟频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率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2383155"/>
              <a:ext cx="11125200" cy="26974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2308860" y="2383155"/>
              <a:ext cx="9525" cy="2697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3532822" y="2383155"/>
              <a:ext cx="9525" cy="2697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4533900" y="2383155"/>
              <a:ext cx="9525" cy="2697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5979795" y="2383155"/>
              <a:ext cx="9525" cy="2697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5" name="Rectangle 4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0130" y="5991225"/>
              <a:ext cx="89352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三个因子的乘积才是 CPU 时间。单看时钟频率、CPI 或指令数中的任何一项，都可能得出错误结论。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913376" cy="2997517"/>
            <a:chOff x="667512" y="1835468"/>
            <a:chExt cx="4913376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功耗墙与多处理器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90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时钟频率为什么不再猛涨，处理器为什么转向多核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6431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 功耗墙：CMOS 动态功耗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降低功耗的例题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6302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1.8 从单处理器转向多处理器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822484" cy="909257"/>
            <a:chOff x="520446" y="342900"/>
            <a:chExt cx="882248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功耗墙与多处理器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82248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功耗增长趋势：频率和功耗一起上涨，2004 年后都停住了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61" name="c1-table-1"/>
          <p:cNvGrpSpPr/>
          <p:nvPr/>
        </p:nvGrpSpPr>
        <p:grpSpPr>
          <a:xfrm>
            <a:off x="528447" y="1524000"/>
            <a:ext cx="5415153" cy="4664106"/>
            <a:chOff x="528447" y="1524000"/>
            <a:chExt cx="5415153" cy="4664106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40005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02683" y="1645444"/>
              <a:ext cx="1475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Intel 处理器（年份）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566157" y="1645444"/>
              <a:ext cx="9677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时钟频率 MHz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103979" y="1645444"/>
              <a:ext cx="4886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功耗 W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0555" y="2045494"/>
              <a:ext cx="1096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80286（1982）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312686" y="20454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12.5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586237" y="204549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3.3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193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324100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0555" y="2445544"/>
              <a:ext cx="1096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80386（1985）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78538" y="244554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586237" y="244554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4.1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7193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0555" y="2845594"/>
              <a:ext cx="1096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80486（1989）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478538" y="284559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586237" y="284559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4.9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1194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124200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0555" y="3245644"/>
              <a:ext cx="12677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Pentium（1993）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478538" y="324564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66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503311" y="32456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10.1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5194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0555" y="3645694"/>
              <a:ext cx="15818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Pentium Pro（1997）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395612" y="364569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503311" y="36456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29.1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39195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3924300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0555" y="4045744"/>
              <a:ext cx="22708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Pentium 4 Willamette（2001）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312686" y="40457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2000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503311" y="40457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75.3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3195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0555" y="4445794"/>
              <a:ext cx="21526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Pentium 4 Prescott（2004）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3356610" y="4333875"/>
              <a:ext cx="1387792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4312686" y="44457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3600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762500" y="4333875"/>
              <a:ext cx="1171575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586237" y="444579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103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47196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533400" y="4724400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30555" y="4845844"/>
              <a:ext cx="1993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Core 2 Kentsfield（2007）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4312686" y="48458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2667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669163" y="484584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95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33400" y="51196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30555" y="5245894"/>
              <a:ext cx="1953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Core i5 Clarkdale（2010）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4312686" y="52458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3300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669163" y="524589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87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33400" y="55197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533400" y="5524500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30555" y="5645944"/>
              <a:ext cx="200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Core i5 Ivy Bridge（2012）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4312686" y="56459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3400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669163" y="564594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77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33400" y="1524000"/>
              <a:ext cx="5410200" cy="44005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3342322" y="1524000"/>
              <a:ext cx="9525" cy="44005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4748212" y="1524000"/>
              <a:ext cx="9525" cy="44005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28447" y="5997416"/>
              <a:ext cx="296446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 年间 8 代 Intel x86 处理器，数据读自原课件图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formula28"/>
              <p:cNvSpPr txBox="1">
                <a:spLocks noGrp="1"/>
              </p:cNvSpPr>
              <p:nvPr/>
            </p:nvSpPr>
            <p:spPr>
              <a:xfrm>
                <a:off x="6248400" y="1524000"/>
                <a:ext cx="5410200" cy="5143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 m:val="on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功耗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∝</m:t>
                      </m:r>
                      <m:f>
                        <m:fPr>
                          <m:type m:val="bar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m:rPr>
                          <m:nor m:val="on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负载电容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sSup>
                        <m:e>
                          <m:r>
                            <m:rPr>
                              <m:nor m:val="on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电压</m:t>
                          </m:r>
                        </m:e>
                        <m:sup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m:rPr>
                          <m:nor m:val="on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开关频率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75" name="c2-card-2"/>
          <p:cNvGrpSpPr/>
          <p:nvPr/>
        </p:nvGrpSpPr>
        <p:grpSpPr>
          <a:xfrm>
            <a:off x="6248400" y="2207895"/>
            <a:ext cx="5410200" cy="1828800"/>
            <a:chOff x="6248400" y="2207895"/>
            <a:chExt cx="5410200" cy="1828800"/>
          </a:xfrm>
        </p:grpSpPr>
        <p:sp>
          <p:nvSpPr>
            <p:cNvPr id="63" name="Rectangle 63"/>
            <p:cNvSpPr/>
            <p:nvPr/>
          </p:nvSpPr>
          <p:spPr>
            <a:xfrm>
              <a:off x="6248400" y="2207895"/>
              <a:ext cx="5410200" cy="1828800"/>
            </a:xfrm>
            <a:prstGeom prst="roundRect">
              <a:avLst>
                <a:gd name="adj" fmla="val 729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6257925" y="2341245"/>
              <a:ext cx="47625" cy="156210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6473190" y="2394585"/>
              <a:ext cx="1086802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535078" y="2427446"/>
              <a:ext cx="9620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CMOS 动态功耗</a:t>
              </a:r>
            </a:p>
          </p:txBody>
        </p:sp>
        <p:sp>
          <p:nvSpPr>
            <p:cNvPr id="67" name="Ellipse 67"/>
            <p:cNvSpPr/>
            <p:nvPr/>
          </p:nvSpPr>
          <p:spPr>
            <a:xfrm>
              <a:off x="6481762" y="2795588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637782" y="2739390"/>
              <a:ext cx="37029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主要的能耗发生在晶体管开关（0→1、1→0）时</a:t>
              </a:r>
            </a:p>
          </p:txBody>
        </p:sp>
        <p:sp>
          <p:nvSpPr>
            <p:cNvPr id="69" name="Ellipse 69"/>
            <p:cNvSpPr/>
            <p:nvPr/>
          </p:nvSpPr>
          <p:spPr>
            <a:xfrm>
              <a:off x="6481762" y="3095625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6637782" y="3039427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负载电容：与输出端连接的晶体管数和工艺有关</a:t>
              </a:r>
            </a:p>
          </p:txBody>
        </p:sp>
        <p:sp>
          <p:nvSpPr>
            <p:cNvPr id="71" name="Ellipse 71"/>
            <p:cNvSpPr/>
            <p:nvPr/>
          </p:nvSpPr>
          <p:spPr>
            <a:xfrm>
              <a:off x="6481762" y="3395662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6637782" y="333946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开关频率：随时钟频率变化</a:t>
              </a:r>
            </a:p>
          </p:txBody>
        </p:sp>
        <p:sp>
          <p:nvSpPr>
            <p:cNvPr id="73" name="Ellipse 73"/>
            <p:cNvSpPr/>
            <p:nvPr/>
          </p:nvSpPr>
          <p:spPr>
            <a:xfrm>
              <a:off x="6481762" y="3695700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6637782" y="3639502"/>
              <a:ext cx="42771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电压：每代工艺约降 15%，20 多年从 5 V 降到约 1 V</a:t>
              </a:r>
            </a:p>
          </p:txBody>
        </p:sp>
      </p:grpSp>
      <p:grpSp>
        <p:nvGrpSpPr>
          <p:cNvPr id="82" name="c2-card-3"/>
          <p:cNvGrpSpPr/>
          <p:nvPr/>
        </p:nvGrpSpPr>
        <p:grpSpPr>
          <a:xfrm>
            <a:off x="6248400" y="4207192"/>
            <a:ext cx="5410200" cy="1943100"/>
            <a:chOff x="6248400" y="4207192"/>
            <a:chExt cx="5410200" cy="1943100"/>
          </a:xfrm>
        </p:grpSpPr>
        <p:sp>
          <p:nvSpPr>
            <p:cNvPr id="76" name="Rectangle 76"/>
            <p:cNvSpPr/>
            <p:nvPr/>
          </p:nvSpPr>
          <p:spPr>
            <a:xfrm>
              <a:off x="6248400" y="4207192"/>
              <a:ext cx="5410200" cy="1943100"/>
            </a:xfrm>
            <a:prstGeom prst="roundRect">
              <a:avLst>
                <a:gd name="adj" fmla="val 68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7" name="Rectangle 77"/>
            <p:cNvSpPr/>
            <p:nvPr/>
          </p:nvSpPr>
          <p:spPr>
            <a:xfrm>
              <a:off x="6257925" y="4340542"/>
              <a:ext cx="47625" cy="167640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6473190" y="439388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6565862" y="442674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6466332" y="4738687"/>
              <a:ext cx="451427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原课件图上标注功耗 ×30、电压 5 V → 1 V、频率 ×1000。按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左表从 80286 到 Prescott 计算，频率约 ×290，功耗约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×31。电压的平方项下降，使功耗远没有频率涨得快。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6467475" y="5548789"/>
              <a:ext cx="4074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原课件公式省略了 1/2；比较新旧处理器时这个常数会约掉。</a:t>
              </a:r>
            </a:p>
          </p:txBody>
        </p:sp>
      </p:grpSp>
      <p:grpSp>
        <p:nvGrpSpPr>
          <p:cNvPr id="8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3" name="TextBox 83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382890" cy="909257"/>
            <a:chOff x="520446" y="342900"/>
            <a:chExt cx="93828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功耗墙与多处理器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3828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降低功耗例题：电容、电压、频率各降 15%，功耗降到约一半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4977765" cy="2036445"/>
            <a:chOff x="533400" y="1524000"/>
            <a:chExt cx="4977765" cy="203644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2036445"/>
            </a:xfrm>
            <a:prstGeom prst="roundRect">
              <a:avLst>
                <a:gd name="adj" fmla="val 654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6974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题目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一种新处理器与旧处理器相比：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50888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446020"/>
              <a:ext cx="26706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负载电容只有旧处理器的 85%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284416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2781300"/>
              <a:ext cx="330669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电压降低 15%，开关频率也降低 15%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73430" y="3116580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：新处理器的动态功耗是旧处理器的多少？</a:t>
              </a:r>
            </a:p>
          </p:txBody>
        </p:sp>
      </p:grpSp>
      <p:grpSp>
        <p:nvGrpSpPr>
          <p:cNvPr id="31" name="c1-steps-2"/>
          <p:cNvGrpSpPr/>
          <p:nvPr/>
        </p:nvGrpSpPr>
        <p:grpSpPr>
          <a:xfrm>
            <a:off x="533400" y="3760470"/>
            <a:ext cx="4638645" cy="1878615"/>
            <a:chOff x="533400" y="3760470"/>
            <a:chExt cx="4638645" cy="1878615"/>
          </a:xfrm>
        </p:grpSpPr>
        <p:sp>
          <p:nvSpPr>
            <p:cNvPr id="18" name="Rectangle 18"/>
            <p:cNvSpPr/>
            <p:nvPr/>
          </p:nvSpPr>
          <p:spPr>
            <a:xfrm>
              <a:off x="666750" y="3903345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533400" y="376047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27024" y="383428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533400" y="441102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27024" y="448484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533400" y="506158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27024" y="51354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4880" y="379476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代入公式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6023" y="4088606"/>
              <a:ext cx="42260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电容、电压、频率分别乘 0.85，1/2 在分子分母中约掉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4880" y="4445318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化简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6023" y="4739164"/>
              <a:ext cx="23133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0.85 × 0.85² × 0.85 = 0.85⁴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4880" y="509587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46023" y="5389721"/>
              <a:ext cx="38628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0.85⁴ ≈ 0.52，新处理器功耗约为旧处理器的 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52%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formula30"/>
              <p:cNvSpPr txBox="1">
                <a:spLocks noGrp="1"/>
              </p:cNvSpPr>
              <p:nvPr/>
            </p:nvSpPr>
            <p:spPr>
              <a:xfrm>
                <a:off x="5815965" y="1524000"/>
                <a:ext cx="5842635" cy="3857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  <m:ctrlP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e>
                              <m: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nor m:val="on"/>
                                </m:rP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new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nor m:val="on"/>
                                </m:rP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old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e>
                              <m: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nor m:val="on"/>
                                </m:rP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old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×</m:t>
                          </m:r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0.85</m:t>
                          </m:r>
                          <m:r>
                            <m:rPr>
                              <m:sty m:val="p"/>
                            </m:rP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×</m:t>
                          </m:r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1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e>
                                      <m:r>
                                        <a:rPr lang="zh-CN" sz="11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V</m:t>
                                      </m:r>
                                    </m:e>
                                    <m:sub>
                                      <m:r>
                                        <m:rPr>
                                          <m:nor m:val="on"/>
                                        </m:rPr>
                                        <a:rPr lang="zh-CN" sz="11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old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zh-CN" sz="11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×</m:t>
                                  </m:r>
                                  <m:r>
                                    <a:rPr lang="zh-CN" sz="11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0.85</m:t>
                                  </m:r>
                                </m:e>
                              </m:d>
                            </m:e>
                            <m:sup>
                              <m: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×</m:t>
                          </m:r>
                          <m:sSub>
                            <m:e>
                              <m: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nor m:val="on"/>
                                </m:rP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old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×</m:t>
                          </m:r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0.85</m:t>
                          </m:r>
                        </m:num>
                        <m:den>
                          <m:sSub>
                            <m:e>
                              <m: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nor m:val="on"/>
                                </m:rP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old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×</m:t>
                          </m:r>
                          <m:sSubSup>
                            <m:e>
                              <m: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nor m:val="on"/>
                                </m:rP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old</m:t>
                              </m:r>
                            </m:sub>
                            <m:sup>
                              <m: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×</m:t>
                          </m:r>
                          <m:sSub>
                            <m:e>
                              <m: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nor m:val="on"/>
                                </m:rP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old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0.8</m:t>
                      </m:r>
                      <m:sSup>
                        <m:e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</m:t>
                          </m:r>
                        </m:e>
                        <m:sup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0.52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39" name="c2-callout-2"/>
          <p:cNvGrpSpPr/>
          <p:nvPr/>
        </p:nvGrpSpPr>
        <p:grpSpPr>
          <a:xfrm>
            <a:off x="5815965" y="2100262"/>
            <a:ext cx="5842635" cy="782955"/>
            <a:chOff x="5815965" y="2100262"/>
            <a:chExt cx="5842635" cy="782955"/>
          </a:xfrm>
        </p:grpSpPr>
        <p:sp>
          <p:nvSpPr>
            <p:cNvPr id="33" name="Rectangle 33"/>
            <p:cNvSpPr/>
            <p:nvPr/>
          </p:nvSpPr>
          <p:spPr>
            <a:xfrm>
              <a:off x="5815965" y="2100262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6020753" y="2391728"/>
              <a:ext cx="200026" cy="200025"/>
              <a:chOff x="6020753" y="2391728"/>
              <a:chExt cx="200026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020753" y="23917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6060491" y="24361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6095207" y="25473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6322695" y="2248852"/>
              <a:ext cx="4587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对比：若只把电压降低 15%，电容和频率不变，功耗 =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0.85² ≈ 0.72。电压是平方项，降电压最有效。</a:t>
              </a:r>
            </a:p>
          </p:txBody>
        </p:sp>
      </p:grpSp>
      <p:grpSp>
        <p:nvGrpSpPr>
          <p:cNvPr id="49" name="c2-card-3"/>
          <p:cNvGrpSpPr/>
          <p:nvPr/>
        </p:nvGrpSpPr>
        <p:grpSpPr>
          <a:xfrm>
            <a:off x="5815965" y="3073718"/>
            <a:ext cx="5842635" cy="2553652"/>
            <a:chOff x="5815965" y="3073718"/>
            <a:chExt cx="5842635" cy="2553652"/>
          </a:xfrm>
        </p:grpSpPr>
        <p:sp>
          <p:nvSpPr>
            <p:cNvPr id="40" name="Rectangle 40"/>
            <p:cNvSpPr/>
            <p:nvPr/>
          </p:nvSpPr>
          <p:spPr>
            <a:xfrm>
              <a:off x="5815965" y="3073718"/>
              <a:ext cx="5842635" cy="2553652"/>
            </a:xfrm>
            <a:prstGeom prst="roundRect">
              <a:avLst>
                <a:gd name="adj" fmla="val 522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5825490" y="3207068"/>
              <a:ext cx="47625" cy="228695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063615" y="3283268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149873" y="331898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功耗墙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069330" y="3723323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227445" y="3660458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不能再降低电压：再降，晶体管漏电太严重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6069330" y="4058602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227445" y="3995738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也不能散去更多的热量：散热已到极限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057138" y="4327684"/>
              <a:ext cx="505231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靠提高时钟频率提升性能的路走不通了。还有什么办法？下一页给出答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案：在一块芯片上放多个处理器。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606799" cy="909257"/>
            <a:chOff x="520446" y="342900"/>
            <a:chExt cx="56067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功耗墙与多处理器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6067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单处理器性能增长放缓：约每年 22%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8" name="c1-table-1"/>
          <p:cNvGrpSpPr/>
          <p:nvPr/>
        </p:nvGrpSpPr>
        <p:grpSpPr>
          <a:xfrm>
            <a:off x="528447" y="1524000"/>
            <a:ext cx="5631371" cy="2673382"/>
            <a:chOff x="528447" y="1524000"/>
            <a:chExt cx="5631371" cy="267338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439102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20128" y="164877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时期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019490" y="164877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年增长率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339590" y="164877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原因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29412" y="2087880"/>
              <a:ext cx="95829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1978–1986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980057" y="2087880"/>
              <a:ext cx="5861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 25%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92564" y="208788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主要靠工艺进步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9744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402205"/>
              <a:ext cx="5626418" cy="67913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29412" y="2646998"/>
              <a:ext cx="95829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1986–2003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980057" y="2646998"/>
              <a:ext cx="5861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 52%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992564" y="2526982"/>
              <a:ext cx="292836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更先进的体系结构和组成思想，加上工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艺进步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07562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29412" y="3326130"/>
              <a:ext cx="10359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2003 年以后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893570" y="3089910"/>
              <a:ext cx="993458" cy="660082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980057" y="3326130"/>
              <a:ext cx="5861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 22%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992564" y="3206115"/>
              <a:ext cx="292836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受功耗、可利用的指令级并行程度和存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储器延迟的限制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1524000"/>
              <a:ext cx="5626418" cy="223551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1879282" y="1524000"/>
              <a:ext cx="9525" cy="22355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2891790" y="1524000"/>
              <a:ext cx="9525" cy="22355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8447" y="3833336"/>
              <a:ext cx="5361686" cy="3640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65"/>
                </a:lnSpc>
              </a:pPr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性能以 VAX-11/780（1978）为 1。原课件文字写“大约每年 20%”，图中标注为 22%/year，右侧</a:t>
              </a:r>
              <a:br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按图中数据验算</a:t>
              </a:r>
            </a:p>
          </p:txBody>
        </p:sp>
      </p:grpSp>
      <p:grpSp>
        <p:nvGrpSpPr>
          <p:cNvPr id="39" name="c1-card-2"/>
          <p:cNvGrpSpPr/>
          <p:nvPr/>
        </p:nvGrpSpPr>
        <p:grpSpPr>
          <a:xfrm>
            <a:off x="533400" y="4328160"/>
            <a:ext cx="5626418" cy="1868805"/>
            <a:chOff x="533400" y="4328160"/>
            <a:chExt cx="5626418" cy="1868805"/>
          </a:xfrm>
        </p:grpSpPr>
        <p:sp>
          <p:nvSpPr>
            <p:cNvPr id="29" name="Rectangle 29"/>
            <p:cNvSpPr/>
            <p:nvPr/>
          </p:nvSpPr>
          <p:spPr>
            <a:xfrm>
              <a:off x="533400" y="4328160"/>
              <a:ext cx="5626418" cy="1868805"/>
            </a:xfrm>
            <a:prstGeom prst="roundRect">
              <a:avLst>
                <a:gd name="adj" fmla="val 713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542925" y="4461510"/>
              <a:ext cx="47625" cy="160210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758190" y="4514850"/>
              <a:ext cx="1407795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22233" y="4547711"/>
              <a:ext cx="12797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2003 年后为什么变慢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66762" y="4915852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22782" y="4859655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功耗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：频率和电压都提不上去（功耗墙）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66762" y="5215890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22782" y="5159692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指令级并行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：流水线、预测等手段能挖掘的并行已接近极限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66762" y="5515928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22782" y="545973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存储器延迟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：处理器比主存快得多，等数据的时间占比越来越大</a:t>
              </a:r>
            </a:p>
          </p:txBody>
        </p:sp>
      </p:grpSp>
      <p:grpSp>
        <p:nvGrpSpPr>
          <p:cNvPr id="53" name="c2-steps-1"/>
          <p:cNvGrpSpPr/>
          <p:nvPr/>
        </p:nvGrpSpPr>
        <p:grpSpPr>
          <a:xfrm>
            <a:off x="6464618" y="1533525"/>
            <a:ext cx="4940934" cy="2099787"/>
            <a:chOff x="6464618" y="1533525"/>
            <a:chExt cx="4940934" cy="2099787"/>
          </a:xfrm>
        </p:grpSpPr>
        <p:sp>
          <p:nvSpPr>
            <p:cNvPr id="40" name="Rectangle 40"/>
            <p:cNvSpPr/>
            <p:nvPr/>
          </p:nvSpPr>
          <p:spPr>
            <a:xfrm>
              <a:off x="6597968" y="1676400"/>
              <a:ext cx="19050" cy="15801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Ellipse 41"/>
            <p:cNvSpPr/>
            <p:nvPr/>
          </p:nvSpPr>
          <p:spPr>
            <a:xfrm>
              <a:off x="6464618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558241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464618" y="232314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558241" y="23969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6464618" y="311372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558241" y="31875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876860" y="1564957"/>
              <a:ext cx="13117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1986 → 2003 年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878002" y="1833086"/>
              <a:ext cx="452755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图中性能从 5 增至 6,043，17 年约 1200 倍；1.52¹⁷ ≈ 1230，与 52%/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年相符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876860" y="2355532"/>
              <a:ext cx="13117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2003 → 2012 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878002" y="2622709"/>
              <a:ext cx="449199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 6,043 增至 34,967，9 年约 5.8 倍；5.8 开 9 次方 ≈ 1.22，即每年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 22%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876860" y="314515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878002" y="3413284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单核性能增长明显放缓，处理器厂商转向在一块芯片上放多个核</a:t>
              </a:r>
            </a:p>
          </p:txBody>
        </p:sp>
      </p:grpSp>
      <p:grpSp>
        <p:nvGrpSpPr>
          <p:cNvPr id="82" name="c2-table-2"/>
          <p:cNvGrpSpPr/>
          <p:nvPr/>
        </p:nvGrpSpPr>
        <p:grpSpPr>
          <a:xfrm>
            <a:off x="6464618" y="3796665"/>
            <a:ext cx="5193982" cy="2400300"/>
            <a:chOff x="6464618" y="3796665"/>
            <a:chExt cx="5193982" cy="2400300"/>
          </a:xfrm>
        </p:grpSpPr>
        <p:sp>
          <p:nvSpPr>
            <p:cNvPr id="54" name="Rectangle 54"/>
            <p:cNvSpPr/>
            <p:nvPr/>
          </p:nvSpPr>
          <p:spPr>
            <a:xfrm>
              <a:off x="6464618" y="3796665"/>
              <a:ext cx="5193982" cy="40005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723418" y="391810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年份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344014" y="391810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图中的计算机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676014" y="391810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相对性能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700048" y="4318159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1978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393305" y="4318159"/>
              <a:ext cx="8876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VAX-11/780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467089" y="43181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464618" y="459200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6464618" y="4596765"/>
              <a:ext cx="519398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700048" y="4718209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1986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393305" y="4718209"/>
              <a:ext cx="672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VAX 8700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467089" y="47182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6464618" y="499205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700048" y="5118259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1996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393305" y="5118259"/>
              <a:ext cx="19149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Digital Alphastation 5/500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301237" y="5118259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481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6464618" y="539210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6464618" y="5396865"/>
              <a:ext cx="519398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6700048" y="5518309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2003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393305" y="5518309"/>
              <a:ext cx="1563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Intel Xeon EE 3.2 GHz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135385" y="5518309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6,043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6464618" y="579215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6700048" y="5918359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2012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7393305" y="5918359"/>
              <a:ext cx="16731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Intel Xeon 4 核 3.6 GHz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052459" y="5918359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34,967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6464618" y="3796665"/>
              <a:ext cx="5193982" cy="24003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0" name="Rectangle 80"/>
            <p:cNvSpPr/>
            <p:nvPr/>
          </p:nvSpPr>
          <p:spPr>
            <a:xfrm>
              <a:off x="7291388" y="3796665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1" name="Rectangle 81"/>
            <p:cNvSpPr/>
            <p:nvPr/>
          </p:nvSpPr>
          <p:spPr>
            <a:xfrm>
              <a:off x="10303192" y="3796665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8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3" name="TextBox 83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功耗墙与多处理器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多核处理器：并行要由程序员显式写出来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3" name="c1-compare-1"/>
          <p:cNvGrpSpPr/>
          <p:nvPr/>
        </p:nvGrpSpPr>
        <p:grpSpPr>
          <a:xfrm>
            <a:off x="533400" y="1524000"/>
            <a:ext cx="5410200" cy="1653540"/>
            <a:chOff x="533400" y="1524000"/>
            <a:chExt cx="5410200" cy="165354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2533650" cy="1653540"/>
            </a:xfrm>
            <a:prstGeom prst="roundRect">
              <a:avLst>
                <a:gd name="adj" fmla="val 806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8684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73430" y="175831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指令级并行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86765" y="217551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44880" y="2112645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硬件一次执行多条指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令（如流水线）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79654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73367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对程序员不可见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09950" y="1524000"/>
              <a:ext cx="2533650" cy="1653540"/>
            </a:xfrm>
            <a:prstGeom prst="roundRect">
              <a:avLst>
                <a:gd name="adj" fmla="val 806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3419475" y="1657350"/>
              <a:ext cx="47625" cy="138684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649980" y="175831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显式并行编程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3663315" y="217551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821430" y="2112645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程序员自己把任务分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给多个核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3663315" y="279654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821430" y="27336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程序要为并行而改写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3076575" y="2188845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146915" y="2285048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56" name="c1-table-2"/>
          <p:cNvGrpSpPr/>
          <p:nvPr/>
        </p:nvGrpSpPr>
        <p:grpSpPr>
          <a:xfrm>
            <a:off x="527685" y="3368040"/>
            <a:ext cx="5415915" cy="2091214"/>
            <a:chOff x="527685" y="3368040"/>
            <a:chExt cx="5415915" cy="2091214"/>
          </a:xfrm>
        </p:grpSpPr>
        <p:sp>
          <p:nvSpPr>
            <p:cNvPr id="24" name="Rectangle 24"/>
            <p:cNvSpPr/>
            <p:nvPr/>
          </p:nvSpPr>
          <p:spPr>
            <a:xfrm>
              <a:off x="533400" y="3368040"/>
              <a:ext cx="5410200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44617" y="3503771"/>
              <a:ext cx="120062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 份工作的分法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311734" y="3503771"/>
              <a:ext cx="3390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核 1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960386" y="3503771"/>
              <a:ext cx="3390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核 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609991" y="3503771"/>
              <a:ext cx="3390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核 3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259596" y="3503771"/>
              <a:ext cx="3390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核 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997183" y="350377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完成时间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1223" y="395239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单核串行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427399" y="395239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294424" y="395239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26053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4265295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1223" y="440102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均衡分配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427399" y="440102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076052" y="440102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725657" y="440102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375262" y="440102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292055" y="440102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3400" y="471011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41223" y="484965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分配不均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332627" y="4849654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2.5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981279" y="4849654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3630884" y="4849654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4280489" y="4849654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192544" y="4849654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2.5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33400" y="3368040"/>
              <a:ext cx="5410200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2151698" y="336804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2801302" y="336804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3449955" y="336804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4099560" y="336804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4748212" y="336804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527685" y="5239226"/>
              <a:ext cx="4534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假设工作可任意拆分、不计通信开销；完成时间由负载最重的核决定</a:t>
              </a:r>
            </a:p>
          </p:txBody>
        </p:sp>
      </p:grpSp>
      <p:grpSp>
        <p:nvGrpSpPr>
          <p:cNvPr id="65" name="c2-card-1"/>
          <p:cNvGrpSpPr/>
          <p:nvPr/>
        </p:nvGrpSpPr>
        <p:grpSpPr>
          <a:xfrm>
            <a:off x="6248400" y="1524000"/>
            <a:ext cx="5410200" cy="1365885"/>
            <a:chOff x="6248400" y="1524000"/>
            <a:chExt cx="5410200" cy="1365885"/>
          </a:xfrm>
        </p:grpSpPr>
        <p:sp>
          <p:nvSpPr>
            <p:cNvPr id="57" name="Rectangle 57"/>
            <p:cNvSpPr/>
            <p:nvPr/>
          </p:nvSpPr>
          <p:spPr>
            <a:xfrm>
              <a:off x="6248400" y="1524000"/>
              <a:ext cx="5410200" cy="1365885"/>
            </a:xfrm>
            <a:prstGeom prst="roundRect">
              <a:avLst>
                <a:gd name="adj" fmla="val 97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6257925" y="1657350"/>
              <a:ext cx="47625" cy="109918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6496050" y="1733550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569507" y="176926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多核微处理器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6501765" y="217360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659880" y="211074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每块芯片上有多于一个处理器（核）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6501765" y="250888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659880" y="2446020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性能提升要靠多个核同时工作，这需要显式并行编程</a:t>
              </a:r>
            </a:p>
          </p:txBody>
        </p:sp>
      </p:grpSp>
      <p:grpSp>
        <p:nvGrpSpPr>
          <p:cNvPr id="76" name="c2-card-2"/>
          <p:cNvGrpSpPr/>
          <p:nvPr/>
        </p:nvGrpSpPr>
        <p:grpSpPr>
          <a:xfrm>
            <a:off x="6248400" y="3080385"/>
            <a:ext cx="5410200" cy="1986915"/>
            <a:chOff x="6248400" y="3080385"/>
            <a:chExt cx="5410200" cy="1986915"/>
          </a:xfrm>
        </p:grpSpPr>
        <p:sp>
          <p:nvSpPr>
            <p:cNvPr id="66" name="Rectangle 66"/>
            <p:cNvSpPr/>
            <p:nvPr/>
          </p:nvSpPr>
          <p:spPr>
            <a:xfrm>
              <a:off x="6248400" y="3080385"/>
              <a:ext cx="5410200" cy="1986915"/>
            </a:xfrm>
            <a:prstGeom prst="roundRect">
              <a:avLst>
                <a:gd name="adj" fmla="val 67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6257925" y="3213735"/>
              <a:ext cx="47625" cy="172021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6496050" y="3289935"/>
              <a:ext cx="1489710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6556705" y="3325654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显式并行编程的困难</a:t>
              </a:r>
            </a:p>
          </p:txBody>
        </p:sp>
        <p:sp>
          <p:nvSpPr>
            <p:cNvPr id="70" name="Ellipse 70"/>
            <p:cNvSpPr/>
            <p:nvPr/>
          </p:nvSpPr>
          <p:spPr>
            <a:xfrm>
              <a:off x="6501765" y="372999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659880" y="366712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为了性能而编程，编程难度增加</a:t>
              </a:r>
            </a:p>
          </p:txBody>
        </p:sp>
        <p:sp>
          <p:nvSpPr>
            <p:cNvPr id="72" name="Ellipse 72"/>
            <p:cNvSpPr/>
            <p:nvPr/>
          </p:nvSpPr>
          <p:spPr>
            <a:xfrm>
              <a:off x="6501765" y="406527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6659880" y="4002405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负载平衡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：每个核分到大致相同的任务量</a:t>
              </a:r>
            </a:p>
          </p:txBody>
        </p:sp>
        <p:sp>
          <p:nvSpPr>
            <p:cNvPr id="74" name="Ellipse 74"/>
            <p:cNvSpPr/>
            <p:nvPr/>
          </p:nvSpPr>
          <p:spPr>
            <a:xfrm>
              <a:off x="6501765" y="440055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6659880" y="4337685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优化通信和同步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：核之间协调的开销要小，减少调度开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销</a:t>
              </a:r>
            </a:p>
          </p:txBody>
        </p:sp>
      </p:grpSp>
      <p:grpSp>
        <p:nvGrpSpPr>
          <p:cNvPr id="83" name="c2-callout-3"/>
          <p:cNvGrpSpPr/>
          <p:nvPr/>
        </p:nvGrpSpPr>
        <p:grpSpPr>
          <a:xfrm>
            <a:off x="6248400" y="5257800"/>
            <a:ext cx="5410200" cy="782955"/>
            <a:chOff x="6248400" y="5257800"/>
            <a:chExt cx="5410200" cy="782955"/>
          </a:xfrm>
        </p:grpSpPr>
        <p:sp>
          <p:nvSpPr>
            <p:cNvPr id="77" name="Rectangle 77"/>
            <p:cNvSpPr/>
            <p:nvPr/>
          </p:nvSpPr>
          <p:spPr>
            <a:xfrm>
              <a:off x="6248400" y="5257800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81" name="Group 81"/>
            <p:cNvGrpSpPr/>
            <p:nvPr/>
          </p:nvGrpSpPr>
          <p:grpSpPr>
            <a:xfrm>
              <a:off x="6453188" y="5549265"/>
              <a:ext cx="200026" cy="200025"/>
              <a:chOff x="6453188" y="5549265"/>
              <a:chExt cx="200026" cy="200025"/>
            </a:xfrm>
          </p:grpSpPr>
          <p:sp>
            <p:nvSpPr>
              <p:cNvPr id="78" name="Freeform 78"/>
              <p:cNvSpPr/>
              <p:nvPr/>
            </p:nvSpPr>
            <p:spPr>
              <a:xfrm>
                <a:off x="6453188" y="554926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9" name="Freeform 79"/>
              <p:cNvSpPr/>
              <p:nvPr/>
            </p:nvSpPr>
            <p:spPr>
              <a:xfrm>
                <a:off x="6492926" y="559371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0" name="Freeform 80"/>
              <p:cNvSpPr/>
              <p:nvPr/>
            </p:nvSpPr>
            <p:spPr>
              <a:xfrm>
                <a:off x="6527642" y="570484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82" name="TextBox 82"/>
            <p:cNvSpPr txBox="1"/>
            <p:nvPr/>
          </p:nvSpPr>
          <p:spPr>
            <a:xfrm>
              <a:off x="6755130" y="5406390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有一部分工作没法并行，或核之间等待太多，加速就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会打折扣；第六部分的 Amdahl 定律可以定量估算。</a:t>
              </a:r>
            </a:p>
          </p:txBody>
        </p:sp>
      </p:grpSp>
      <p:grpSp>
        <p:nvGrpSpPr>
          <p:cNvPr id="8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4" name="TextBox 84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135499" cy="3351847"/>
            <a:chOff x="667512" y="1835468"/>
            <a:chExt cx="5135499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第六部分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88289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基准测试、谬误与陷阱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1255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用标准程序公平地比较计算机，并避开几个常见误区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1646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SPEC CPU 与 SPECpower 基准测试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7485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陷阱：Amdahl 定律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谬误：利用率低的计算机功耗低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2174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陷阱：用 MIPS 度量性能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13176" cy="909257"/>
            <a:chOff x="520446" y="342900"/>
            <a:chExt cx="721317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基准测试、谬误与陷阱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1317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SPEC CPU 基准：执行时间归一化后取几何平均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410200" cy="2223135"/>
            <a:chOff x="533400" y="1524000"/>
            <a:chExt cx="5410200" cy="22231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223135"/>
            </a:xfrm>
            <a:prstGeom prst="roundRect">
              <a:avLst>
                <a:gd name="adj" fmla="val 599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95643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877378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29821" y="1769269"/>
              <a:ext cx="17788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基准测试程序 benchmark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6765" y="217360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4880" y="211074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专门用来测试性能的程序，假定它们能代表实际的工作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负载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79463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731770"/>
              <a:ext cx="45015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SPEC（Standard Performance Evaluation Corp.，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标准性能评估组织）构建基准程序集，测试 CPU、I/O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系统和网络的性能</a:t>
              </a:r>
            </a:p>
          </p:txBody>
        </p:sp>
      </p:grpSp>
      <p:grpSp>
        <p:nvGrpSpPr>
          <p:cNvPr id="26" name="c1-card-2"/>
          <p:cNvGrpSpPr/>
          <p:nvPr/>
        </p:nvGrpSpPr>
        <p:grpSpPr>
          <a:xfrm>
            <a:off x="533400" y="3937635"/>
            <a:ext cx="5410200" cy="2421255"/>
            <a:chOff x="533400" y="3937635"/>
            <a:chExt cx="5410200" cy="2421255"/>
          </a:xfrm>
        </p:grpSpPr>
        <p:sp>
          <p:nvSpPr>
            <p:cNvPr id="16" name="Rectangle 16"/>
            <p:cNvSpPr/>
            <p:nvPr/>
          </p:nvSpPr>
          <p:spPr>
            <a:xfrm>
              <a:off x="533400" y="3937635"/>
              <a:ext cx="5410200" cy="2421255"/>
            </a:xfrm>
            <a:prstGeom prst="roundRect">
              <a:avLst>
                <a:gd name="adj" fmla="val 550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4070985"/>
              <a:ext cx="47625" cy="215455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81050" y="4147185"/>
              <a:ext cx="115824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23359" y="4182904"/>
              <a:ext cx="1073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SPEC CPU2006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86765" y="458724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44880" y="4524375"/>
              <a:ext cx="45681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测量执行选定程序的消逝时间；I/O 很少，可忽略，主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要反映 CPU 性能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86765" y="520827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44880" y="5145405"/>
              <a:ext cx="27988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CINT2006：12 个整数基准程序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86765" y="554355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44880" y="5480685"/>
              <a:ext cx="27348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CFP2006：17 个浮点基准程序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formula33"/>
              <p:cNvSpPr txBox="1">
                <a:spLocks noGrp="1"/>
              </p:cNvSpPr>
              <p:nvPr/>
            </p:nvSpPr>
            <p:spPr>
              <a:xfrm>
                <a:off x="6248400" y="1524000"/>
                <a:ext cx="5410200" cy="4629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 m:val="on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SPECratio</m:t>
                      </m:r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nor m:val="on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参考计算机上的执行时间</m:t>
                          </m:r>
                        </m:num>
                        <m:den>
                          <m:r>
                            <m:rPr>
                              <m:nor m:val="on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被测计算机上的执行时间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formula34"/>
              <p:cNvSpPr txBox="1">
                <a:spLocks noGrp="1"/>
              </p:cNvSpPr>
              <p:nvPr/>
            </p:nvSpPr>
            <p:spPr>
              <a:xfrm>
                <a:off x="6248400" y="2177415"/>
                <a:ext cx="5410200" cy="7086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 m:val="on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综合成绩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ad>
                        <m:radPr>
                          <m:degHide m:val="off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g>
                        <m:e>
                          <m:nary>
                            <m:naryPr>
                              <m:chr m:val="∏"/>
                              <m:limLoc m:val="undOvr"/>
                              <m:grow m:val="off"/>
                              <m:subHide m:val="off"/>
                              <m:supHide m:val="off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rPr>
                                      <m:nor m:val="on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SPECratio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nary>
                        </m:e>
                      </m:rad>
                    </m:oMath>
                  </m:oMathPara>
                </a14:m>
              </a:p>
            </p:txBody>
          </p:sp>
        </mc:Choice>
      </mc:AlternateContent>
      <p:grpSp>
        <p:nvGrpSpPr>
          <p:cNvPr id="35" name="c2-callout-3"/>
          <p:cNvGrpSpPr/>
          <p:nvPr/>
        </p:nvGrpSpPr>
        <p:grpSpPr>
          <a:xfrm>
            <a:off x="6248400" y="3076575"/>
            <a:ext cx="5410200" cy="1059180"/>
            <a:chOff x="6248400" y="3076575"/>
            <a:chExt cx="5410200" cy="1059180"/>
          </a:xfrm>
        </p:grpSpPr>
        <p:sp>
          <p:nvSpPr>
            <p:cNvPr id="29" name="Rectangle 29"/>
            <p:cNvSpPr/>
            <p:nvPr/>
          </p:nvSpPr>
          <p:spPr>
            <a:xfrm>
              <a:off x="6248400" y="3076575"/>
              <a:ext cx="5410200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6453188" y="3506153"/>
              <a:ext cx="200026" cy="200026"/>
              <a:chOff x="6453188" y="3506153"/>
              <a:chExt cx="200026" cy="200026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6453188" y="350615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6553200" y="357282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6542088" y="360616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6755130" y="3225165"/>
              <a:ext cx="43967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SPECratio 越大越快。用几何平均时，无论选哪台计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算机作参考，两台被测计算机综合成绩之比都不变。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原课件把 SPECratio 误写为 SPECration。</a:t>
              </a:r>
            </a:p>
          </p:txBody>
        </p:sp>
      </p:grpSp>
      <p:grpSp>
        <p:nvGrpSpPr>
          <p:cNvPr id="42" name="c2-callout-4"/>
          <p:cNvGrpSpPr/>
          <p:nvPr/>
        </p:nvGrpSpPr>
        <p:grpSpPr>
          <a:xfrm>
            <a:off x="6248400" y="4326255"/>
            <a:ext cx="5410200" cy="782955"/>
            <a:chOff x="6248400" y="4326255"/>
            <a:chExt cx="5410200" cy="782955"/>
          </a:xfrm>
        </p:grpSpPr>
        <p:sp>
          <p:nvSpPr>
            <p:cNvPr id="36" name="Rectangle 36"/>
            <p:cNvSpPr/>
            <p:nvPr/>
          </p:nvSpPr>
          <p:spPr>
            <a:xfrm>
              <a:off x="6248400" y="4326255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6453188" y="4617720"/>
              <a:ext cx="200026" cy="200025"/>
              <a:chOff x="6453188" y="4617720"/>
              <a:chExt cx="200026" cy="200025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6453188" y="461772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492926" y="466217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527642" y="477329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6755130" y="4474845"/>
              <a:ext cx="44443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例：两个程序的 SPECratio 为 20 和 80，综合成绩 =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√(20 × 80) = 40（算术平均则是 50）。</a:t>
              </a:r>
            </a:p>
          </p:txBody>
        </p:sp>
      </p:grpSp>
      <p:grpSp>
        <p:nvGrpSpPr>
          <p:cNvPr id="49" name="c2-callout-5"/>
          <p:cNvGrpSpPr/>
          <p:nvPr/>
        </p:nvGrpSpPr>
        <p:grpSpPr>
          <a:xfrm>
            <a:off x="6248400" y="5299710"/>
            <a:ext cx="5410200" cy="1059180"/>
            <a:chOff x="6248400" y="5299710"/>
            <a:chExt cx="5410200" cy="1059180"/>
          </a:xfrm>
        </p:grpSpPr>
        <p:sp>
          <p:nvSpPr>
            <p:cNvPr id="43" name="Rectangle 43"/>
            <p:cNvSpPr/>
            <p:nvPr/>
          </p:nvSpPr>
          <p:spPr>
            <a:xfrm>
              <a:off x="6248400" y="5299710"/>
              <a:ext cx="5410200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6453188" y="5729288"/>
              <a:ext cx="200026" cy="200026"/>
              <a:chOff x="6453188" y="5729288"/>
              <a:chExt cx="200026" cy="20002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6453188" y="57292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6553200" y="57959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542088" y="582930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6755130" y="5448300"/>
              <a:ext cx="45015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下一页 12 个比值中 libquantum 高达 190.0：算术平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均约 36.4，几何平均 25.7，单个极端值的影响小得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22222" cy="909257"/>
            <a:chOff x="520446" y="342900"/>
            <a:chExt cx="652222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基准测试、谬误与陷阱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2222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例：Intel Core i7 920 的 CINT2006 成绩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65" name="c1-table-1"/>
          <p:cNvGrpSpPr/>
          <p:nvPr/>
        </p:nvGrpSpPr>
        <p:grpSpPr>
          <a:xfrm>
            <a:off x="528447" y="1524000"/>
            <a:ext cx="5415153" cy="3063906"/>
            <a:chOff x="528447" y="1524000"/>
            <a:chExt cx="5415153" cy="3063906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40005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57402" y="164544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程序（用途）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817076" y="164544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指令数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575751" y="1645444"/>
              <a:ext cx="2456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CPI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137381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执行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786033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参考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62308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比值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0555" y="2045494"/>
              <a:ext cx="1375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perl（字符串处理）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60136" y="20454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2252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555449" y="20454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233687" y="204549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508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853706" y="20454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9770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503311" y="20454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19.2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23193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" y="2324100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0555" y="2445544"/>
              <a:ext cx="14626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bzip2（块排序压缩）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960136" y="24455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2390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555449" y="24455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0.70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233687" y="244554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629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853706" y="24455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9650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503311" y="24455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15.4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27193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0555" y="2845594"/>
              <a:ext cx="11687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gcc（C 编译器）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043062" y="284559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794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555449" y="28455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1.20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233687" y="284559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358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853706" y="28455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8050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503311" y="28455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22.5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31194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33400" y="3124200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30555" y="3245644"/>
              <a:ext cx="12089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mcf（组合优化）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043062" y="324564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221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555449" y="32456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2.66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233687" y="324564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221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853706" y="32456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9120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503311" y="32456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41.2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35194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30555" y="3645694"/>
              <a:ext cx="981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go（围棋 AI）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960136" y="36456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1274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3555449" y="36456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1.10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4233687" y="364569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527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4770780" y="364569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10490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503311" y="36456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19.9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33400" y="39195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533400" y="3924300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30555" y="4045744"/>
              <a:ext cx="1414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hmmer（基因搜索）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2960136" y="40457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2616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3555449" y="40457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0.60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4233687" y="404574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590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853706" y="40457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9330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5503311" y="40457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15.8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33400" y="1524000"/>
              <a:ext cx="5410200" cy="28003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2692718" y="1524000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3395662" y="1524000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3990975" y="1524000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4586288" y="1524000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5289232" y="1524000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528447" y="4397216"/>
              <a:ext cx="52442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指令数单位 10⁹ 条；执行、参考时间单位 s；比值即 SPECratio；时钟周期均为 0.376 ns</a:t>
              </a:r>
            </a:p>
          </p:txBody>
        </p:sp>
      </p:grpSp>
      <p:grpSp>
        <p:nvGrpSpPr>
          <p:cNvPr id="72" name="c1-callout-2"/>
          <p:cNvGrpSpPr/>
          <p:nvPr/>
        </p:nvGrpSpPr>
        <p:grpSpPr>
          <a:xfrm>
            <a:off x="533400" y="4719638"/>
            <a:ext cx="5410200" cy="729615"/>
            <a:chOff x="533400" y="4719638"/>
            <a:chExt cx="5410200" cy="729615"/>
          </a:xfrm>
        </p:grpSpPr>
        <p:sp>
          <p:nvSpPr>
            <p:cNvPr id="66" name="Rectangle 66"/>
            <p:cNvSpPr/>
            <p:nvPr/>
          </p:nvSpPr>
          <p:spPr>
            <a:xfrm>
              <a:off x="533400" y="4719638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738188" y="4984433"/>
              <a:ext cx="200026" cy="200025"/>
              <a:chOff x="738188" y="4984433"/>
              <a:chExt cx="200026" cy="20002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738188" y="498443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777926" y="502888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812642" y="514000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1040892" y="4866322"/>
              <a:ext cx="400850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验算 perl：2252×10⁹ × 0.60 × 0.376×10⁻⁹ s ≈ 508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s，SPECratio = 9770 / 508 ≈ 19.2。</a:t>
              </a:r>
            </a:p>
          </p:txBody>
        </p:sp>
      </p:grpSp>
      <p:grpSp>
        <p:nvGrpSpPr>
          <p:cNvPr id="134" name="c2-table-1"/>
          <p:cNvGrpSpPr/>
          <p:nvPr/>
        </p:nvGrpSpPr>
        <p:grpSpPr>
          <a:xfrm>
            <a:off x="6248400" y="1524000"/>
            <a:ext cx="5410200" cy="3200400"/>
            <a:chOff x="6248400" y="1524000"/>
            <a:chExt cx="5410200" cy="3200400"/>
          </a:xfrm>
        </p:grpSpPr>
        <p:sp>
          <p:nvSpPr>
            <p:cNvPr id="73" name="Rectangle 73"/>
            <p:cNvSpPr/>
            <p:nvPr/>
          </p:nvSpPr>
          <p:spPr>
            <a:xfrm>
              <a:off x="6248400" y="1524000"/>
              <a:ext cx="5410200" cy="40005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6872402" y="164544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程序（用途）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8532076" y="164544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指令数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9290751" y="1645444"/>
              <a:ext cx="2456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CPI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852381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执行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0501033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参考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1177308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比值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6345555" y="2045494"/>
              <a:ext cx="15042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sjeng（国际象棋 AI）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8675136" y="20454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1948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9270449" y="20454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0.80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9948687" y="204549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586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10485780" y="204549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12100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218311" y="20454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20.7</a:t>
              </a:r>
            </a:p>
          </p:txBody>
        </p:sp>
        <p:sp>
          <p:nvSpPr>
            <p:cNvPr id="86" name="Rectangle 86"/>
            <p:cNvSpPr/>
            <p:nvPr/>
          </p:nvSpPr>
          <p:spPr>
            <a:xfrm>
              <a:off x="6248400" y="23193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7" name="Rectangle 87"/>
            <p:cNvSpPr/>
            <p:nvPr/>
          </p:nvSpPr>
          <p:spPr>
            <a:xfrm>
              <a:off x="6248400" y="2324100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6345555" y="2445544"/>
              <a:ext cx="17393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libquantum（量子模拟）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8758062" y="244554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659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9270449" y="24455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0.44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9948687" y="244554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109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10485780" y="244554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20720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1135385" y="244554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190.0</a:t>
              </a:r>
            </a:p>
          </p:txBody>
        </p:sp>
        <p:sp>
          <p:nvSpPr>
            <p:cNvPr id="94" name="Rectangle 94"/>
            <p:cNvSpPr/>
            <p:nvPr/>
          </p:nvSpPr>
          <p:spPr>
            <a:xfrm>
              <a:off x="6248400" y="27193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5" name="TextBox 95"/>
            <p:cNvSpPr txBox="1"/>
            <p:nvPr/>
          </p:nvSpPr>
          <p:spPr>
            <a:xfrm>
              <a:off x="6345555" y="2845594"/>
              <a:ext cx="1525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h264avc（视频压缩）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8675136" y="28455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3793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9270449" y="28455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0.50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9948687" y="284559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713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10485780" y="284559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22130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11218311" y="28455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31.0</a:t>
              </a:r>
            </a:p>
          </p:txBody>
        </p:sp>
        <p:sp>
          <p:nvSpPr>
            <p:cNvPr id="101" name="Rectangle 101"/>
            <p:cNvSpPr/>
            <p:nvPr/>
          </p:nvSpPr>
          <p:spPr>
            <a:xfrm>
              <a:off x="6248400" y="31194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2" name="Rectangle 102"/>
            <p:cNvSpPr/>
            <p:nvPr/>
          </p:nvSpPr>
          <p:spPr>
            <a:xfrm>
              <a:off x="6248400" y="3124200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3" name="TextBox 103"/>
            <p:cNvSpPr txBox="1"/>
            <p:nvPr/>
          </p:nvSpPr>
          <p:spPr>
            <a:xfrm>
              <a:off x="6345555" y="3245644"/>
              <a:ext cx="18587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omnetpp（离散事件仿真）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8758062" y="324564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367</a:t>
              </a:r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9270449" y="32456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2.10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9948687" y="324564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290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10568706" y="32456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6250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11218311" y="32456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21.5</a:t>
              </a:r>
            </a:p>
          </p:txBody>
        </p:sp>
        <p:sp>
          <p:nvSpPr>
            <p:cNvPr id="109" name="Rectangle 109"/>
            <p:cNvSpPr/>
            <p:nvPr/>
          </p:nvSpPr>
          <p:spPr>
            <a:xfrm>
              <a:off x="6248400" y="35194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0" name="TextBox 110"/>
            <p:cNvSpPr txBox="1"/>
            <p:nvPr/>
          </p:nvSpPr>
          <p:spPr>
            <a:xfrm>
              <a:off x="6345555" y="3645694"/>
              <a:ext cx="1351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astar（游戏寻路）</a:t>
              </a:r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8675136" y="36456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1250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9270449" y="36456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1.00</a:t>
              </a:r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9948687" y="364569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470</a:t>
              </a:r>
            </a:p>
          </p:txBody>
        </p:sp>
        <p:sp>
          <p:nvSpPr>
            <p:cNvPr id="114" name="TextBox 114"/>
            <p:cNvSpPr txBox="1"/>
            <p:nvPr/>
          </p:nvSpPr>
          <p:spPr>
            <a:xfrm>
              <a:off x="10568706" y="36456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7020</a:t>
              </a:r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11218311" y="36456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14.9</a:t>
              </a:r>
            </a:p>
          </p:txBody>
        </p:sp>
        <p:sp>
          <p:nvSpPr>
            <p:cNvPr id="116" name="Rectangle 116"/>
            <p:cNvSpPr/>
            <p:nvPr/>
          </p:nvSpPr>
          <p:spPr>
            <a:xfrm>
              <a:off x="6248400" y="39195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7" name="Rectangle 117"/>
            <p:cNvSpPr/>
            <p:nvPr/>
          </p:nvSpPr>
          <p:spPr>
            <a:xfrm>
              <a:off x="6248400" y="3924300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18" name="TextBox 118"/>
            <p:cNvSpPr txBox="1"/>
            <p:nvPr/>
          </p:nvSpPr>
          <p:spPr>
            <a:xfrm>
              <a:off x="6345555" y="4045744"/>
              <a:ext cx="17499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xalancbmk（XML 解析）</a:t>
              </a:r>
            </a:p>
          </p:txBody>
        </p:sp>
        <p:sp>
          <p:nvSpPr>
            <p:cNvPr id="119" name="TextBox 119"/>
            <p:cNvSpPr txBox="1"/>
            <p:nvPr/>
          </p:nvSpPr>
          <p:spPr>
            <a:xfrm>
              <a:off x="8675136" y="40457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1045</a:t>
              </a:r>
            </a:p>
          </p:txBody>
        </p:sp>
        <p:sp>
          <p:nvSpPr>
            <p:cNvPr id="120" name="TextBox 120"/>
            <p:cNvSpPr txBox="1"/>
            <p:nvPr/>
          </p:nvSpPr>
          <p:spPr>
            <a:xfrm>
              <a:off x="9270449" y="40457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0.70</a:t>
              </a:r>
            </a:p>
          </p:txBody>
        </p:sp>
        <p:sp>
          <p:nvSpPr>
            <p:cNvPr id="121" name="TextBox 121"/>
            <p:cNvSpPr txBox="1"/>
            <p:nvPr/>
          </p:nvSpPr>
          <p:spPr>
            <a:xfrm>
              <a:off x="9948687" y="404574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275</a:t>
              </a:r>
            </a:p>
          </p:txBody>
        </p:sp>
        <p:sp>
          <p:nvSpPr>
            <p:cNvPr id="122" name="TextBox 122"/>
            <p:cNvSpPr txBox="1"/>
            <p:nvPr/>
          </p:nvSpPr>
          <p:spPr>
            <a:xfrm>
              <a:off x="10568706" y="40457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6900</a:t>
              </a:r>
            </a:p>
          </p:txBody>
        </p:sp>
        <p:sp>
          <p:nvSpPr>
            <p:cNvPr id="123" name="TextBox 123"/>
            <p:cNvSpPr txBox="1"/>
            <p:nvPr/>
          </p:nvSpPr>
          <p:spPr>
            <a:xfrm>
              <a:off x="11218311" y="40457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25.1</a:t>
              </a:r>
            </a:p>
          </p:txBody>
        </p:sp>
        <p:sp>
          <p:nvSpPr>
            <p:cNvPr id="124" name="Rectangle 124"/>
            <p:cNvSpPr/>
            <p:nvPr/>
          </p:nvSpPr>
          <p:spPr>
            <a:xfrm>
              <a:off x="6248400" y="43195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5" name="TextBox 125"/>
            <p:cNvSpPr txBox="1"/>
            <p:nvPr/>
          </p:nvSpPr>
          <p:spPr>
            <a:xfrm>
              <a:off x="6345555" y="44457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几何平均</a:t>
              </a:r>
            </a:p>
          </p:txBody>
        </p:sp>
        <p:sp>
          <p:nvSpPr>
            <p:cNvPr id="126" name="Rectangle 126"/>
            <p:cNvSpPr/>
            <p:nvPr/>
          </p:nvSpPr>
          <p:spPr>
            <a:xfrm>
              <a:off x="11018520" y="4333875"/>
              <a:ext cx="630555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7" name="TextBox 127"/>
            <p:cNvSpPr txBox="1"/>
            <p:nvPr/>
          </p:nvSpPr>
          <p:spPr>
            <a:xfrm>
              <a:off x="11218311" y="44457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25.7</a:t>
              </a:r>
            </a:p>
          </p:txBody>
        </p:sp>
        <p:sp>
          <p:nvSpPr>
            <p:cNvPr id="128" name="Rectangle 128"/>
            <p:cNvSpPr/>
            <p:nvPr/>
          </p:nvSpPr>
          <p:spPr>
            <a:xfrm>
              <a:off x="6248400" y="1524000"/>
              <a:ext cx="5410200" cy="32004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29" name="Rectangle 129"/>
            <p:cNvSpPr/>
            <p:nvPr/>
          </p:nvSpPr>
          <p:spPr>
            <a:xfrm>
              <a:off x="8407718" y="1524000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0" name="Rectangle 130"/>
            <p:cNvSpPr/>
            <p:nvPr/>
          </p:nvSpPr>
          <p:spPr>
            <a:xfrm>
              <a:off x="9110662" y="1524000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1" name="Rectangle 131"/>
            <p:cNvSpPr/>
            <p:nvPr/>
          </p:nvSpPr>
          <p:spPr>
            <a:xfrm>
              <a:off x="9705975" y="1524000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2" name="Rectangle 132"/>
            <p:cNvSpPr/>
            <p:nvPr/>
          </p:nvSpPr>
          <p:spPr>
            <a:xfrm>
              <a:off x="10301288" y="1524000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3" name="Rectangle 133"/>
            <p:cNvSpPr/>
            <p:nvPr/>
          </p:nvSpPr>
          <p:spPr>
            <a:xfrm>
              <a:off x="11004232" y="1524000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141" name="c2-callout-2"/>
          <p:cNvGrpSpPr/>
          <p:nvPr/>
        </p:nvGrpSpPr>
        <p:grpSpPr>
          <a:xfrm>
            <a:off x="6248400" y="4893945"/>
            <a:ext cx="5410200" cy="729615"/>
            <a:chOff x="6248400" y="4893945"/>
            <a:chExt cx="5410200" cy="729615"/>
          </a:xfrm>
        </p:grpSpPr>
        <p:sp>
          <p:nvSpPr>
            <p:cNvPr id="135" name="Rectangle 135"/>
            <p:cNvSpPr/>
            <p:nvPr/>
          </p:nvSpPr>
          <p:spPr>
            <a:xfrm>
              <a:off x="6248400" y="4893945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39" name="Group 139"/>
            <p:cNvGrpSpPr/>
            <p:nvPr/>
          </p:nvGrpSpPr>
          <p:grpSpPr>
            <a:xfrm>
              <a:off x="6453188" y="5158740"/>
              <a:ext cx="200026" cy="200026"/>
              <a:chOff x="6453188" y="5158740"/>
              <a:chExt cx="200026" cy="200026"/>
            </a:xfrm>
          </p:grpSpPr>
          <p:sp>
            <p:nvSpPr>
              <p:cNvPr id="136" name="Freeform 136"/>
              <p:cNvSpPr/>
              <p:nvPr/>
            </p:nvSpPr>
            <p:spPr>
              <a:xfrm>
                <a:off x="6453188" y="515874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37" name="Freeform 137"/>
              <p:cNvSpPr/>
              <p:nvPr/>
            </p:nvSpPr>
            <p:spPr>
              <a:xfrm>
                <a:off x="6553200" y="522541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38" name="Freeform 138"/>
              <p:cNvSpPr/>
              <p:nvPr/>
            </p:nvSpPr>
            <p:spPr>
              <a:xfrm>
                <a:off x="6542088" y="525875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40" name="TextBox 140"/>
            <p:cNvSpPr txBox="1"/>
            <p:nvPr/>
          </p:nvSpPr>
          <p:spPr>
            <a:xfrm>
              <a:off x="6755892" y="5040630"/>
              <a:ext cx="446284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bzip2 按表中数据算 9650 / 629 ≈ 15.3，原表为 15.4，是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原始数据取整造成的。</a:t>
              </a:r>
            </a:p>
          </p:txBody>
        </p:sp>
      </p:grpSp>
      <p:grpSp>
        <p:nvGrpSpPr>
          <p:cNvPr id="147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142" name="Rectangle 142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145" name="Group 145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143" name="Freeform 143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44" name="Freeform 144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46" name="TextBox 146"/>
            <p:cNvSpPr txBox="1"/>
            <p:nvPr/>
          </p:nvSpPr>
          <p:spPr>
            <a:xfrm>
              <a:off x="1040892" y="6028373"/>
              <a:ext cx="87508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12 个 SPECratio 相乘后开 12 次方 ≈ 25.7。时钟周期相同，CPI 却从 0.44 到 2.66 不等：CPI 随程序变化。</a:t>
              </a:r>
            </a:p>
          </p:txBody>
        </p:sp>
      </p:grpSp>
      <p:grpSp>
        <p:nvGrpSpPr>
          <p:cNvPr id="1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48" name="TextBox 148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149" name="TextBox 1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139711" cy="909257"/>
            <a:chOff x="520446" y="342900"/>
            <a:chExt cx="813971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基准测试、谬误与陷阱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13971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SPECpower：在 0%–100% 各档负载下测性能和功耗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3785235" cy="2272665"/>
            <a:chOff x="533400" y="1524000"/>
            <a:chExt cx="3785235" cy="22726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785235" cy="2272665"/>
            </a:xfrm>
            <a:prstGeom prst="roundRect">
              <a:avLst>
                <a:gd name="adj" fmla="val 586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00596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598295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24437" y="1769269"/>
              <a:ext cx="1511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SPECpower_ssj2008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6765" y="217360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4880" y="2110740"/>
              <a:ext cx="30156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报告服务器在不同负载水平下的功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耗：从 0% 到 100%，每档递增 10%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79463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731770"/>
              <a:ext cx="29870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性能：ssj_ops，每秒完成的业务操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作数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41566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352800"/>
              <a:ext cx="236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功耗：瓦特 W，即焦耳/秒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formula36"/>
              <p:cNvSpPr txBox="1">
                <a:spLocks noGrp="1"/>
              </p:cNvSpPr>
              <p:nvPr/>
            </p:nvSpPr>
            <p:spPr>
              <a:xfrm>
                <a:off x="533400" y="3987165"/>
                <a:ext cx="3785235" cy="64960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 m:val="on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每瓦总体性能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grow m:val="off"/>
                              <m:subHide m:val="off"/>
                              <m:supHide m:val="off"/>
                              <m:ctrl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10</m:t>
                              </m:r>
                            </m:sup>
                            <m:e>
                              <m:sSub>
                                <m:e>
                                  <m:r>
                                    <m:rPr>
                                      <m:nor m:val="on"/>
                                    </m:rP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性能</m:t>
                                  </m:r>
                                </m:e>
                                <m:sub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grow m:val="off"/>
                              <m:subHide m:val="off"/>
                              <m:supHide m:val="off"/>
                              <m:ctrl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10</m:t>
                              </m:r>
                            </m:sup>
                            <m:e>
                              <m:sSub>
                                <m:e>
                                  <m:r>
                                    <m:rPr>
                                      <m:nor m:val="on"/>
                                    </m:rP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功耗</m:t>
                                  </m:r>
                                </m:e>
                                <m:sub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25" name="c1-callout-3"/>
          <p:cNvGrpSpPr/>
          <p:nvPr/>
        </p:nvGrpSpPr>
        <p:grpSpPr>
          <a:xfrm>
            <a:off x="533400" y="4827270"/>
            <a:ext cx="3785235" cy="1059180"/>
            <a:chOff x="533400" y="4827270"/>
            <a:chExt cx="3785235" cy="1059180"/>
          </a:xfrm>
        </p:grpSpPr>
        <p:sp>
          <p:nvSpPr>
            <p:cNvPr id="19" name="Rectangle 19"/>
            <p:cNvSpPr/>
            <p:nvPr/>
          </p:nvSpPr>
          <p:spPr>
            <a:xfrm>
              <a:off x="533400" y="4827270"/>
              <a:ext cx="3785235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738188" y="5256848"/>
              <a:ext cx="200026" cy="200026"/>
              <a:chOff x="738188" y="5256848"/>
              <a:chExt cx="200026" cy="200026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525684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38200" y="532352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27088" y="535686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040130" y="4975860"/>
              <a:ext cx="25965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性能ᵢ（ssj_opsᵢ）、功耗ᵢ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（powerᵢ）是第 i 档负载（i 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10%）下的性能和平均功耗。</a:t>
              </a:r>
            </a:p>
          </p:txBody>
        </p:sp>
      </p:grpSp>
      <p:grpSp>
        <p:nvGrpSpPr>
          <p:cNvPr id="60" name="c2-table-1"/>
          <p:cNvGrpSpPr/>
          <p:nvPr/>
        </p:nvGrpSpPr>
        <p:grpSpPr>
          <a:xfrm>
            <a:off x="4617720" y="1524000"/>
            <a:ext cx="3370897" cy="3437097"/>
            <a:chOff x="4617720" y="1524000"/>
            <a:chExt cx="3370897" cy="3437097"/>
          </a:xfrm>
        </p:grpSpPr>
        <p:sp>
          <p:nvSpPr>
            <p:cNvPr id="26" name="Rectangle 26"/>
            <p:cNvSpPr/>
            <p:nvPr/>
          </p:nvSpPr>
          <p:spPr>
            <a:xfrm>
              <a:off x="4623435" y="1524000"/>
              <a:ext cx="3365182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91613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负载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740610" y="1659731"/>
              <a:ext cx="10632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性能 ssj_ops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204637" y="1659731"/>
              <a:ext cx="5583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功耗 W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871330" y="2108359"/>
              <a:ext cx="4471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100%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194783" y="2108359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865,618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583523" y="2108359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258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623435" y="2416492"/>
              <a:ext cx="33651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4623435" y="2421255"/>
              <a:ext cx="33651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921086" y="2556986"/>
              <a:ext cx="3476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90%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194783" y="2556986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786,688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583523" y="2556986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242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4623435" y="2866072"/>
              <a:ext cx="33651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921086" y="3005614"/>
              <a:ext cx="3476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80%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194783" y="3005614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698,051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583523" y="3005614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224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23435" y="3314700"/>
              <a:ext cx="33651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4623435" y="3319462"/>
              <a:ext cx="33651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4921086" y="3454241"/>
              <a:ext cx="3476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70%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194783" y="345424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607,826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583523" y="3454241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204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4623435" y="3763328"/>
              <a:ext cx="33651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4921086" y="3903821"/>
              <a:ext cx="3476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60%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194783" y="390382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521,391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583523" y="3903821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185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4623435" y="4211955"/>
              <a:ext cx="33651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4623435" y="4216718"/>
              <a:ext cx="33651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4921086" y="4352449"/>
              <a:ext cx="3476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50%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194783" y="4352449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436,757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583523" y="4352449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170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623435" y="1524000"/>
              <a:ext cx="3365182" cy="31413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5561648" y="1524000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6974205" y="1524000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4617720" y="4741069"/>
              <a:ext cx="24596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Intel Xeon X5650 服务器的测试结果</a:t>
              </a:r>
            </a:p>
          </p:txBody>
        </p:sp>
      </p:grpSp>
      <p:grpSp>
        <p:nvGrpSpPr>
          <p:cNvPr id="96" name="c3-table-1"/>
          <p:cNvGrpSpPr/>
          <p:nvPr/>
        </p:nvGrpSpPr>
        <p:grpSpPr>
          <a:xfrm>
            <a:off x="8293418" y="1524000"/>
            <a:ext cx="3365182" cy="3141346"/>
            <a:chOff x="8293418" y="1524000"/>
            <a:chExt cx="3365182" cy="3141346"/>
          </a:xfrm>
        </p:grpSpPr>
        <p:sp>
          <p:nvSpPr>
            <p:cNvPr id="61" name="Rectangle 61"/>
            <p:cNvSpPr/>
            <p:nvPr/>
          </p:nvSpPr>
          <p:spPr>
            <a:xfrm>
              <a:off x="8293418" y="1524000"/>
              <a:ext cx="3365182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858611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负载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410592" y="1659731"/>
              <a:ext cx="10632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性能 ssj_ops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874620" y="1659731"/>
              <a:ext cx="5583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功耗 W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591068" y="2108359"/>
              <a:ext cx="3476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40%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9864766" y="2108359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345,919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253506" y="2108359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157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8293418" y="2416492"/>
              <a:ext cx="33651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8293418" y="2421255"/>
              <a:ext cx="33651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8591068" y="2556986"/>
              <a:ext cx="3476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30%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864766" y="2556986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262,071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253506" y="2556986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146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8293418" y="2866072"/>
              <a:ext cx="33651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8591068" y="3005614"/>
              <a:ext cx="3476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20%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9864766" y="3005614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176,061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1253506" y="3005614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135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8293418" y="3314700"/>
              <a:ext cx="33651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8293418" y="3319462"/>
              <a:ext cx="33651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8591068" y="3454241"/>
              <a:ext cx="3476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10%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9959538" y="3454241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86,784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253506" y="3454241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121</a:t>
              </a:r>
            </a:p>
          </p:txBody>
        </p:sp>
        <p:sp>
          <p:nvSpPr>
            <p:cNvPr id="82" name="Rectangle 82"/>
            <p:cNvSpPr/>
            <p:nvPr/>
          </p:nvSpPr>
          <p:spPr>
            <a:xfrm>
              <a:off x="8293418" y="3763328"/>
              <a:ext cx="33651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8640824" y="3903821"/>
              <a:ext cx="2481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0%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10433401" y="390382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348278" y="390382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80</a:t>
              </a:r>
            </a:p>
          </p:txBody>
        </p:sp>
        <p:sp>
          <p:nvSpPr>
            <p:cNvPr id="86" name="Rectangle 86"/>
            <p:cNvSpPr/>
            <p:nvPr/>
          </p:nvSpPr>
          <p:spPr>
            <a:xfrm>
              <a:off x="8293418" y="4211955"/>
              <a:ext cx="33651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7" name="Rectangle 87"/>
            <p:cNvSpPr/>
            <p:nvPr/>
          </p:nvSpPr>
          <p:spPr>
            <a:xfrm>
              <a:off x="8293418" y="4216718"/>
              <a:ext cx="33651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8586114" y="435244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总和</a:t>
              </a:r>
            </a:p>
          </p:txBody>
        </p:sp>
        <p:sp>
          <p:nvSpPr>
            <p:cNvPr id="89" name="Rectangle 89"/>
            <p:cNvSpPr/>
            <p:nvPr/>
          </p:nvSpPr>
          <p:spPr>
            <a:xfrm>
              <a:off x="9244965" y="4226242"/>
              <a:ext cx="1394460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9675221" y="4352449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4,787,166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10658475" y="4226242"/>
              <a:ext cx="990600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11063961" y="4352449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1,922</a:t>
              </a:r>
            </a:p>
          </p:txBody>
        </p:sp>
        <p:sp>
          <p:nvSpPr>
            <p:cNvPr id="93" name="Rectangle 93"/>
            <p:cNvSpPr/>
            <p:nvPr/>
          </p:nvSpPr>
          <p:spPr>
            <a:xfrm>
              <a:off x="8293418" y="1524000"/>
              <a:ext cx="3365182" cy="31413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94" name="Rectangle 94"/>
            <p:cNvSpPr/>
            <p:nvPr/>
          </p:nvSpPr>
          <p:spPr>
            <a:xfrm>
              <a:off x="9230678" y="1524000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5" name="Rectangle 95"/>
            <p:cNvSpPr/>
            <p:nvPr/>
          </p:nvSpPr>
          <p:spPr>
            <a:xfrm>
              <a:off x="10644188" y="1524000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102" name="c3-callout-2"/>
          <p:cNvGrpSpPr/>
          <p:nvPr/>
        </p:nvGrpSpPr>
        <p:grpSpPr>
          <a:xfrm>
            <a:off x="8293418" y="4855845"/>
            <a:ext cx="3365182" cy="782955"/>
            <a:chOff x="8293418" y="4855845"/>
            <a:chExt cx="3365182" cy="782955"/>
          </a:xfrm>
        </p:grpSpPr>
        <p:sp>
          <p:nvSpPr>
            <p:cNvPr id="97" name="Rectangle 97"/>
            <p:cNvSpPr/>
            <p:nvPr/>
          </p:nvSpPr>
          <p:spPr>
            <a:xfrm>
              <a:off x="8293418" y="4855845"/>
              <a:ext cx="3365182" cy="782955"/>
            </a:xfrm>
            <a:prstGeom prst="roundRect">
              <a:avLst>
                <a:gd name="adj" fmla="val 14599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100" name="Group 100"/>
            <p:cNvGrpSpPr/>
            <p:nvPr/>
          </p:nvGrpSpPr>
          <p:grpSpPr>
            <a:xfrm>
              <a:off x="8498205" y="5147312"/>
              <a:ext cx="200023" cy="200023"/>
              <a:chOff x="8498205" y="5147312"/>
              <a:chExt cx="200023" cy="200023"/>
            </a:xfrm>
          </p:grpSpPr>
          <p:sp>
            <p:nvSpPr>
              <p:cNvPr id="98" name="Freeform 98"/>
              <p:cNvSpPr/>
              <p:nvPr/>
            </p:nvSpPr>
            <p:spPr>
              <a:xfrm>
                <a:off x="8498205" y="514731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99" name="Freeform 99"/>
              <p:cNvSpPr/>
              <p:nvPr/>
            </p:nvSpPr>
            <p:spPr>
              <a:xfrm>
                <a:off x="8631555" y="52139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01" name="TextBox 101"/>
            <p:cNvSpPr txBox="1"/>
            <p:nvPr/>
          </p:nvSpPr>
          <p:spPr>
            <a:xfrm>
              <a:off x="8800148" y="5004435"/>
              <a:ext cx="24822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每瓦总体性能 = 4,787,166 /</a:t>
              </a:r>
              <a:br/>
              <a:r>
                <a:rPr lang="en-US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1,922 ≈ 2,490 ssj_ops/W</a:t>
              </a:r>
            </a:p>
          </p:txBody>
        </p:sp>
      </p:grpSp>
      <p:grpSp>
        <p:nvGrpSpPr>
          <p:cNvPr id="10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03" name="TextBox 103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64652" cy="909257"/>
            <a:chOff x="520446" y="342900"/>
            <a:chExt cx="8264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基准测试、谬误与陷阱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646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陷阱：以为改进某一部分，总性能会按改进的倍数提高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39"/>
              <p:cNvSpPr txBox="1">
                <a:spLocks noGrp="1"/>
              </p:cNvSpPr>
              <p:nvPr/>
            </p:nvSpPr>
            <p:spPr>
              <a:xfrm>
                <a:off x="533400" y="1524000"/>
                <a:ext cx="5842635" cy="5915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nor m:val="on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改进后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nor m:val="on"/>
                                </m:r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受影响部分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 m:val="on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改进倍数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nor m:val="on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不受影响部分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grpSp>
        <p:nvGrpSpPr>
          <p:cNvPr id="13" name="c1-card-2"/>
          <p:cNvGrpSpPr/>
          <p:nvPr/>
        </p:nvGrpSpPr>
        <p:grpSpPr>
          <a:xfrm>
            <a:off x="533400" y="2295525"/>
            <a:ext cx="5842635" cy="1250632"/>
            <a:chOff x="533400" y="2295525"/>
            <a:chExt cx="5842635" cy="1250632"/>
          </a:xfrm>
        </p:grpSpPr>
        <p:sp>
          <p:nvSpPr>
            <p:cNvPr id="8" name="Rectangle 8"/>
            <p:cNvSpPr/>
            <p:nvPr/>
          </p:nvSpPr>
          <p:spPr>
            <a:xfrm>
              <a:off x="533400" y="2295525"/>
              <a:ext cx="5842635" cy="1250632"/>
            </a:xfrm>
            <a:prstGeom prst="roundRect">
              <a:avLst>
                <a:gd name="adj" fmla="val 106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542925" y="2428875"/>
              <a:ext cx="47625" cy="98393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69620" y="2493645"/>
              <a:ext cx="1506855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27732" y="2527935"/>
              <a:ext cx="13906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例题（Amdahl 定律）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381" y="2854166"/>
              <a:ext cx="515416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程序运行 100 s，其中 80 s 用于乘法。要使整个程序快 5 倍，乘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法要改进多少倍？</a:t>
              </a:r>
            </a:p>
          </p:txBody>
        </p:sp>
      </p:grpSp>
      <p:grpSp>
        <p:nvGrpSpPr>
          <p:cNvPr id="27" name="c1-steps-3"/>
          <p:cNvGrpSpPr/>
          <p:nvPr/>
        </p:nvGrpSpPr>
        <p:grpSpPr>
          <a:xfrm>
            <a:off x="533400" y="3736658"/>
            <a:ext cx="4593031" cy="1781555"/>
            <a:chOff x="533400" y="3736658"/>
            <a:chExt cx="4593031" cy="1781555"/>
          </a:xfrm>
        </p:grpSpPr>
        <p:sp>
          <p:nvSpPr>
            <p:cNvPr id="14" name="Rectangle 14"/>
            <p:cNvSpPr/>
            <p:nvPr/>
          </p:nvSpPr>
          <p:spPr>
            <a:xfrm>
              <a:off x="666750" y="3879532"/>
              <a:ext cx="19050" cy="123348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533400" y="373665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27024" y="381047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33400" y="43529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27024" y="44267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497014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27024" y="504396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5261" y="3769519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列方程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6404" y="4050030"/>
              <a:ext cx="27099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 5 倍即只用 20 s：20 = 80 / n + 20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5261" y="438673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求解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6404" y="4667250"/>
              <a:ext cx="33480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80 / n = 0，任何有限的 n 都满足不了，</a:t>
              </a:r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做不到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5261" y="500300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原因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6404" y="5283517"/>
              <a:ext cx="41800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不受影响的 20 s 一点没少，乘法再快，程序也要超过 20 s</a:t>
              </a:r>
            </a:p>
          </p:txBody>
        </p:sp>
      </p:grpSp>
      <p:grpSp>
        <p:nvGrpSpPr>
          <p:cNvPr id="30" name="c2-image-1"/>
          <p:cNvGrpSpPr/>
          <p:nvPr/>
        </p:nvGrpSpPr>
        <p:grpSpPr>
          <a:xfrm>
            <a:off x="6680835" y="1524000"/>
            <a:ext cx="4977765" cy="2437067"/>
            <a:chOff x="6680835" y="1524000"/>
            <a:chExt cx="4977765" cy="2437067"/>
          </a:xfrm>
        </p:grpSpPr>
        <p:pic>
          <p:nvPicPr>
            <p:cNvPr id="28" name="Image 28"/>
            <p:cNvPicPr>
              <a:picLocks noChangeAspect="1"/>
            </p:cNvPicPr>
            <p:nvPr/>
          </p:nvPicPr>
          <p:blipFill>
            <a:blip r:embed="rId2"/>
            <a:srcRect l="0" t="21361" r="0" b="21361"/>
            <a:stretch>
              <a:fillRect/>
            </a:stretch>
          </p:blipFill>
          <p:spPr>
            <a:xfrm>
              <a:off x="6680835" y="1524000"/>
              <a:ext cx="4977765" cy="2138362"/>
            </a:xfrm>
            <a:prstGeom prst="roundRect">
              <a:avLst>
                <a:gd name="adj" fmla="val 6236"/>
              </a:avLst>
            </a:prstGeom>
          </p:spPr>
        </p:pic>
        <p:sp>
          <p:nvSpPr>
            <p:cNvPr id="29" name="TextBox 29"/>
            <p:cNvSpPr txBox="1"/>
            <p:nvPr/>
          </p:nvSpPr>
          <p:spPr>
            <a:xfrm>
              <a:off x="7892225" y="3755708"/>
              <a:ext cx="25549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高速路段再快，堵车那一段照样要花时间</a:t>
              </a:r>
            </a:p>
          </p:txBody>
        </p:sp>
      </p:grpSp>
      <p:grpSp>
        <p:nvGrpSpPr>
          <p:cNvPr id="39" name="c2-card-2"/>
          <p:cNvGrpSpPr/>
          <p:nvPr/>
        </p:nvGrpSpPr>
        <p:grpSpPr>
          <a:xfrm>
            <a:off x="6680835" y="4118610"/>
            <a:ext cx="4977765" cy="1568768"/>
            <a:chOff x="6680835" y="4118610"/>
            <a:chExt cx="4977765" cy="1568768"/>
          </a:xfrm>
        </p:grpSpPr>
        <p:sp>
          <p:nvSpPr>
            <p:cNvPr id="31" name="Rectangle 31"/>
            <p:cNvSpPr/>
            <p:nvPr/>
          </p:nvSpPr>
          <p:spPr>
            <a:xfrm>
              <a:off x="6680835" y="4118610"/>
              <a:ext cx="4977765" cy="1568768"/>
            </a:xfrm>
            <a:prstGeom prst="roundRect">
              <a:avLst>
                <a:gd name="adj" fmla="val 850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690360" y="4251960"/>
              <a:ext cx="47625" cy="1302068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917055" y="431673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008495" y="435102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变式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924675" y="4737735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081266" y="4677251"/>
              <a:ext cx="387591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要快 4 倍（25 s）：25 = 80 / n + 20，n = 16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6924675" y="5054917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081266" y="4995386"/>
              <a:ext cx="406311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要快 2 倍（50 s）：50 = 80 / n + 20，n = 80 / 30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≈ 2.67</a:t>
              </a:r>
            </a:p>
          </p:txBody>
        </p:sp>
      </p:grpSp>
      <p:grpSp>
        <p:nvGrpSpPr>
          <p:cNvPr id="45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40" name="Rectangle 40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738188" y="6011230"/>
              <a:ext cx="200023" cy="200023"/>
              <a:chOff x="738188" y="6011230"/>
              <a:chExt cx="200023" cy="200023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738188" y="60112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71538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040511" y="6011704"/>
              <a:ext cx="70874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推论：加速常见事件。改进带来的收益，受限于被改进部分在总时间中所占的比例。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基准测试、谬误与陷阱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谬误：利用率低的计算机，功耗也低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3" name="c1-table-1"/>
          <p:cNvGrpSpPr/>
          <p:nvPr/>
        </p:nvGrpSpPr>
        <p:grpSpPr>
          <a:xfrm>
            <a:off x="528447" y="1524000"/>
            <a:ext cx="5415153" cy="2263806"/>
            <a:chOff x="528447" y="1524000"/>
            <a:chExt cx="5415153" cy="2263806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40005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88441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负载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811501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功耗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252747" y="164544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占满载功耗的比例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9239" y="2045494"/>
              <a:ext cx="3913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100%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240801" y="2045494"/>
              <a:ext cx="44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258 W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73156" y="2045494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100%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193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324100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192775" y="2445544"/>
              <a:ext cx="304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50%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240801" y="2445544"/>
              <a:ext cx="44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170 W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556082" y="2445544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66%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7193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192775" y="2845594"/>
              <a:ext cx="304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10%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240801" y="2845594"/>
              <a:ext cx="44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121 W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789045" y="2733675"/>
              <a:ext cx="2145030" cy="38100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556082" y="2845594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47%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1194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33400" y="3124200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34763" y="3245644"/>
              <a:ext cx="8203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0%（空闲）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328421" y="3245644"/>
              <a:ext cx="353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80 W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556082" y="3245644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31%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1524000"/>
              <a:ext cx="5410200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2151698" y="1524000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3774758" y="1524000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28447" y="3597116"/>
              <a:ext cx="18429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数据取自上一页 SPECpower 表</a:t>
              </a:r>
            </a:p>
          </p:txBody>
        </p:sp>
      </p:grpSp>
      <p:grpSp>
        <p:nvGrpSpPr>
          <p:cNvPr id="39" name="c1-card-2"/>
          <p:cNvGrpSpPr/>
          <p:nvPr/>
        </p:nvGrpSpPr>
        <p:grpSpPr>
          <a:xfrm>
            <a:off x="533400" y="3919538"/>
            <a:ext cx="5410200" cy="1185862"/>
            <a:chOff x="533400" y="3919538"/>
            <a:chExt cx="5410200" cy="1185862"/>
          </a:xfrm>
        </p:grpSpPr>
        <p:sp>
          <p:nvSpPr>
            <p:cNvPr id="34" name="Rectangle 34"/>
            <p:cNvSpPr/>
            <p:nvPr/>
          </p:nvSpPr>
          <p:spPr>
            <a:xfrm>
              <a:off x="533400" y="3919538"/>
              <a:ext cx="5410200" cy="1185862"/>
            </a:xfrm>
            <a:prstGeom prst="roundRect">
              <a:avLst>
                <a:gd name="adj" fmla="val 112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542925" y="4052888"/>
              <a:ext cx="47625" cy="91916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758190" y="410622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50862" y="413908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51332" y="4451032"/>
              <a:ext cx="469430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原课件写作“回顾 i7 功耗”，这组数据实际来自 SPECpower 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中的 Intel Xeon X5650 服务器。</a:t>
              </a:r>
            </a:p>
          </p:txBody>
        </p:sp>
      </p:grpSp>
      <p:grpSp>
        <p:nvGrpSpPr>
          <p:cNvPr id="46" name="c1-callout-3"/>
          <p:cNvGrpSpPr/>
          <p:nvPr/>
        </p:nvGrpSpPr>
        <p:grpSpPr>
          <a:xfrm>
            <a:off x="533400" y="5274945"/>
            <a:ext cx="5410200" cy="978218"/>
            <a:chOff x="533400" y="5274945"/>
            <a:chExt cx="5410200" cy="978218"/>
          </a:xfrm>
        </p:grpSpPr>
        <p:sp>
          <p:nvSpPr>
            <p:cNvPr id="40" name="Rectangle 40"/>
            <p:cNvSpPr/>
            <p:nvPr/>
          </p:nvSpPr>
          <p:spPr>
            <a:xfrm>
              <a:off x="533400" y="5274945"/>
              <a:ext cx="5410200" cy="978218"/>
            </a:xfrm>
            <a:prstGeom prst="roundRect">
              <a:avLst>
                <a:gd name="adj" fmla="val 1168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738188" y="5664518"/>
              <a:ext cx="200026" cy="200025"/>
              <a:chOff x="738188" y="5664518"/>
              <a:chExt cx="200026" cy="200025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738188" y="566451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777926" y="570896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12642" y="582009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1040892" y="5421630"/>
              <a:ext cx="4214241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每瓦性能：满载时 865,618 / 258 ≈ 3355 ssj_ops/W，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10% 负载时 86,784 / 121 ≈ 717 ssj_ops/W，只剩约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1/4.7。</a:t>
              </a:r>
            </a:p>
          </p:txBody>
        </p:sp>
      </p:grpSp>
      <p:grpSp>
        <p:nvGrpSpPr>
          <p:cNvPr id="55" name="c2-card-1"/>
          <p:cNvGrpSpPr/>
          <p:nvPr/>
        </p:nvGrpSpPr>
        <p:grpSpPr>
          <a:xfrm>
            <a:off x="6248400" y="1524000"/>
            <a:ext cx="5410200" cy="1485900"/>
            <a:chOff x="6248400" y="1524000"/>
            <a:chExt cx="5410200" cy="1485900"/>
          </a:xfrm>
        </p:grpSpPr>
        <p:sp>
          <p:nvSpPr>
            <p:cNvPr id="47" name="Rectangle 47"/>
            <p:cNvSpPr/>
            <p:nvPr/>
          </p:nvSpPr>
          <p:spPr>
            <a:xfrm>
              <a:off x="6248400" y="1524000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6257925" y="1657350"/>
              <a:ext cx="47625" cy="121920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4731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5658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事实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6481762" y="2110740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637782" y="2054542"/>
              <a:ext cx="31577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负载降到 10%，功耗仍有满载时的 47%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6481762" y="2411730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637782" y="2355532"/>
              <a:ext cx="433425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Google 数据中心的服务器大部分时间工作在 10%–50% 负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载，满载的时间不到 1%</a:t>
              </a:r>
            </a:p>
          </p:txBody>
        </p:sp>
      </p:grpSp>
      <p:grpSp>
        <p:nvGrpSpPr>
          <p:cNvPr id="61" name="c2-callout-2"/>
          <p:cNvGrpSpPr/>
          <p:nvPr/>
        </p:nvGrpSpPr>
        <p:grpSpPr>
          <a:xfrm>
            <a:off x="6248400" y="3179445"/>
            <a:ext cx="5410200" cy="729615"/>
            <a:chOff x="6248400" y="3179445"/>
            <a:chExt cx="5410200" cy="729615"/>
          </a:xfrm>
        </p:grpSpPr>
        <p:sp>
          <p:nvSpPr>
            <p:cNvPr id="56" name="Rectangle 56"/>
            <p:cNvSpPr/>
            <p:nvPr/>
          </p:nvSpPr>
          <p:spPr>
            <a:xfrm>
              <a:off x="6248400" y="3179445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6453188" y="3444242"/>
              <a:ext cx="200023" cy="200023"/>
              <a:chOff x="6453188" y="3444242"/>
              <a:chExt cx="200023" cy="200023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6453188" y="344424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6586538" y="351091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6755892" y="3326130"/>
              <a:ext cx="44714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设计时要考虑处理器功耗与负载的比例关系，让功耗随负载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一起下降。</a:t>
              </a:r>
            </a:p>
          </p:txBody>
        </p:sp>
      </p:grpSp>
      <p:grpSp>
        <p:nvGrpSpPr>
          <p:cNvPr id="81" name="c2-table-3"/>
          <p:cNvGrpSpPr/>
          <p:nvPr/>
        </p:nvGrpSpPr>
        <p:grpSpPr>
          <a:xfrm>
            <a:off x="6248400" y="4079558"/>
            <a:ext cx="5410200" cy="1600200"/>
            <a:chOff x="6248400" y="4079558"/>
            <a:chExt cx="5410200" cy="1600200"/>
          </a:xfrm>
        </p:grpSpPr>
        <p:sp>
          <p:nvSpPr>
            <p:cNvPr id="62" name="Rectangle 62"/>
            <p:cNvSpPr/>
            <p:nvPr/>
          </p:nvSpPr>
          <p:spPr>
            <a:xfrm>
              <a:off x="6248400" y="4079558"/>
              <a:ext cx="5410200" cy="40005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805333" y="42010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负载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163573" y="420100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功耗与负载成正比时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0533139" y="420100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实测功耗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6766132" y="4601051"/>
              <a:ext cx="3913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100%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9483486" y="4601051"/>
              <a:ext cx="44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258 W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119881" y="4601051"/>
              <a:ext cx="44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258 W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6248400" y="487489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6248400" y="4879658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809668" y="5001101"/>
              <a:ext cx="304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50%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9483486" y="5001101"/>
              <a:ext cx="44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129 W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119881" y="5001101"/>
              <a:ext cx="44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170 W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6248400" y="527494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6809668" y="5401151"/>
              <a:ext cx="304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10%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9395866" y="5401151"/>
              <a:ext cx="529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25.8 W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1119881" y="5401151"/>
              <a:ext cx="44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121 W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6248400" y="4079558"/>
              <a:ext cx="5410200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9" name="Rectangle 79"/>
            <p:cNvSpPr/>
            <p:nvPr/>
          </p:nvSpPr>
          <p:spPr>
            <a:xfrm>
              <a:off x="7669530" y="4079558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0" name="Rectangle 80"/>
            <p:cNvSpPr/>
            <p:nvPr/>
          </p:nvSpPr>
          <p:spPr>
            <a:xfrm>
              <a:off x="10017442" y="4079558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8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2" name="TextBox 82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794762" cy="909257"/>
            <a:chOff x="520446" y="342900"/>
            <a:chExt cx="679476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基准测试、谬误与陷阱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79476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陷阱：用 MIPS（每秒百万条指令）度量性能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42"/>
              <p:cNvSpPr txBox="1">
                <a:spLocks noGrp="1"/>
              </p:cNvSpPr>
              <p:nvPr/>
            </p:nvSpPr>
            <p:spPr>
              <a:xfrm>
                <a:off x="533400" y="1524000"/>
                <a:ext cx="5410200" cy="4886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 m:val="on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MIPS</m:t>
                      </m:r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nor m:val="on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指令数</m:t>
                          </m:r>
                        </m:num>
                        <m:den>
                          <m:r>
                            <m:rPr>
                              <m:nor m:val="on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执行时间</m:t>
                          </m:r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×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sSup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e>
                            <m:sup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6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nor m:val="on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指令数</m:t>
                          </m:r>
                        </m:num>
                        <m:den>
                          <m:f>
                            <m:fPr>
                              <m:type m:val="bar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nor m:val="on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指令数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×</m:t>
                              </m:r>
                              <m:r>
                                <m:rPr>
                                  <m:nor m:val="on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CPI</m:t>
                              </m:r>
                            </m:num>
                            <m:den>
                              <m:r>
                                <m:rPr>
                                  <m:nor m:val="on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时钟频率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×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sSup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e>
                            <m:sup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6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nor m:val="on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时钟频率</m:t>
                          </m:r>
                        </m:num>
                        <m:den>
                          <m:r>
                            <m:rPr>
                              <m:nor m:val="on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CPI</m:t>
                          </m:r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×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sSup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e>
                            <m:sup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6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18" name="c1-card-2"/>
          <p:cNvGrpSpPr/>
          <p:nvPr/>
        </p:nvGrpSpPr>
        <p:grpSpPr>
          <a:xfrm>
            <a:off x="533400" y="2203132"/>
            <a:ext cx="5410200" cy="2272665"/>
            <a:chOff x="533400" y="2203132"/>
            <a:chExt cx="5410200" cy="2272665"/>
          </a:xfrm>
        </p:grpSpPr>
        <p:sp>
          <p:nvSpPr>
            <p:cNvPr id="8" name="Rectangle 8"/>
            <p:cNvSpPr/>
            <p:nvPr/>
          </p:nvSpPr>
          <p:spPr>
            <a:xfrm>
              <a:off x="533400" y="2203132"/>
              <a:ext cx="5410200" cy="2272665"/>
            </a:xfrm>
            <a:prstGeom prst="roundRect">
              <a:avLst>
                <a:gd name="adj" fmla="val 586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542925" y="2336482"/>
              <a:ext cx="47625" cy="200596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81050" y="2412682"/>
              <a:ext cx="1143952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41328" y="2448401"/>
              <a:ext cx="1024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MIPS 反映不了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852738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789872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不同计算机指令集体系结构的差异：指令集不同，指令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数不可比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3473768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3410902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不同指令之间复杂性的差异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86765" y="3809048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44880" y="3746182"/>
              <a:ext cx="4425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同一台计算机运行不同程序，CPI 不同，MIPS 也跟着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666298"/>
            <a:ext cx="5410200" cy="1602105"/>
            <a:chOff x="533400" y="4666298"/>
            <a:chExt cx="5410200" cy="1602105"/>
          </a:xfrm>
        </p:grpSpPr>
        <p:sp>
          <p:nvSpPr>
            <p:cNvPr id="19" name="Rectangle 19"/>
            <p:cNvSpPr/>
            <p:nvPr/>
          </p:nvSpPr>
          <p:spPr>
            <a:xfrm>
              <a:off x="533400" y="4666298"/>
              <a:ext cx="5410200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542925" y="4799648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81050" y="4875848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71258" y="491156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73430" y="5253038"/>
              <a:ext cx="46729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原课件公式中写作“时钟周期”的两处应为“时钟频率”：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执行时间 = 指令数 × CPI / 时钟频率，所以 MIPS = 时钟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频率 / (CPI × 10⁶)。</a:t>
              </a:r>
            </a:p>
          </p:txBody>
        </p:sp>
      </p:grpSp>
      <p:grpSp>
        <p:nvGrpSpPr>
          <p:cNvPr id="45" name="c2-table-1"/>
          <p:cNvGrpSpPr/>
          <p:nvPr/>
        </p:nvGrpSpPr>
        <p:grpSpPr>
          <a:xfrm>
            <a:off x="6242685" y="1524000"/>
            <a:ext cx="5415915" cy="1642587"/>
            <a:chOff x="6242685" y="1524000"/>
            <a:chExt cx="5415915" cy="1642587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648298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计算机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044663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指令数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36786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时钟频率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956329" y="1659731"/>
              <a:ext cx="2805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CPI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854196" y="2108359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351718" y="2108359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10×10⁹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966833" y="2108359"/>
              <a:ext cx="4599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GHz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253506" y="2108359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48400" y="24164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248400" y="2421255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854196" y="2556986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446491" y="2556986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8×10⁹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966833" y="2556986"/>
              <a:ext cx="4599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GHz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253506" y="2556986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48400" y="1524000"/>
              <a:ext cx="5410200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7574280" y="15240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9036368" y="15240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10529888" y="15240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242685" y="2946559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补充例题：同一程序在两台计算机上的测量数据</a:t>
              </a:r>
            </a:p>
          </p:txBody>
        </p:sp>
      </p:grpSp>
      <p:grpSp>
        <p:nvGrpSpPr>
          <p:cNvPr id="63" name="c2-table-2"/>
          <p:cNvGrpSpPr/>
          <p:nvPr/>
        </p:nvGrpSpPr>
        <p:grpSpPr>
          <a:xfrm>
            <a:off x="6248400" y="3312795"/>
            <a:ext cx="5410200" cy="1800225"/>
            <a:chOff x="6248400" y="3312795"/>
            <a:chExt cx="5410200" cy="1800225"/>
          </a:xfrm>
        </p:grpSpPr>
        <p:sp>
          <p:nvSpPr>
            <p:cNvPr id="46" name="Rectangle 46"/>
            <p:cNvSpPr/>
            <p:nvPr/>
          </p:nvSpPr>
          <p:spPr>
            <a:xfrm>
              <a:off x="6248400" y="3312795"/>
              <a:ext cx="5410200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415888" y="344757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计算机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984277" y="3447574"/>
              <a:ext cx="4239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MIPS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102793" y="3447574"/>
              <a:ext cx="7303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CPU 时间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621786" y="4009549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123748" y="3770948"/>
              <a:ext cx="2145030" cy="656272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222046" y="3896201"/>
              <a:ext cx="158978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4×10⁹ / (1.0×10⁶) =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4000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386126" y="3896201"/>
              <a:ext cx="177673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10×10⁹ × 1.0 / 4×10⁹ =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2.5 s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248400" y="443198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6248400" y="4436745"/>
              <a:ext cx="541020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621786" y="4685824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222046" y="4572476"/>
              <a:ext cx="158978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4×10⁹ / (1.1×10⁶) ≈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3636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287828" y="4446270"/>
              <a:ext cx="2361248" cy="656272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9386126" y="4572476"/>
              <a:ext cx="168732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8×10⁹ × 1.1 / 4×10⁹ =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 s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6248400" y="3312795"/>
              <a:ext cx="5410200" cy="18002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7109460" y="3312795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9273540" y="3312795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0" name="c2-callout-3"/>
          <p:cNvGrpSpPr/>
          <p:nvPr/>
        </p:nvGrpSpPr>
        <p:grpSpPr>
          <a:xfrm>
            <a:off x="6248400" y="5302568"/>
            <a:ext cx="5410200" cy="782955"/>
            <a:chOff x="6248400" y="5302568"/>
            <a:chExt cx="5410200" cy="782955"/>
          </a:xfrm>
        </p:grpSpPr>
        <p:sp>
          <p:nvSpPr>
            <p:cNvPr id="64" name="Rectangle 64"/>
            <p:cNvSpPr/>
            <p:nvPr/>
          </p:nvSpPr>
          <p:spPr>
            <a:xfrm>
              <a:off x="6248400" y="5302568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6441129" y="5590341"/>
              <a:ext cx="224134" cy="192560"/>
              <a:chOff x="6441129" y="5590341"/>
              <a:chExt cx="224134" cy="192560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6553200" y="566070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6441129" y="559034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6553200" y="573849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6755130" y="5451158"/>
              <a:ext cx="44538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A 的 MIPS 更高，B 的执行时间却更短，B 才是更快的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计算机。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115437" cy="909257"/>
            <a:chOff x="520446" y="342900"/>
            <a:chExt cx="31154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基准测试、谬误与陷阱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1154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自测题（一）：概念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3505200" cy="2111692"/>
            <a:chOff x="533400" y="1524000"/>
            <a:chExt cx="3505200" cy="211169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505200" cy="2111692"/>
            </a:xfrm>
            <a:prstGeom prst="roundRect">
              <a:avLst>
                <a:gd name="adj" fmla="val 63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1520" y="172212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0468" y="175641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4281" y="2082641"/>
              <a:ext cx="28999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计算机的五大部件是什么？哪两个合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称处理器？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4281" y="2672239"/>
              <a:ext cx="28999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输入、输出、存储器、数据通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路、控制器。数据通路和控制器合称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处理器。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815715"/>
            <a:ext cx="3505200" cy="2383155"/>
            <a:chOff x="533400" y="3815715"/>
            <a:chExt cx="3505200" cy="2383155"/>
          </a:xfrm>
        </p:grpSpPr>
        <p:sp>
          <p:nvSpPr>
            <p:cNvPr id="13" name="Rectangle 13"/>
            <p:cNvSpPr/>
            <p:nvPr/>
          </p:nvSpPr>
          <p:spPr>
            <a:xfrm>
              <a:off x="533400" y="3815715"/>
              <a:ext cx="3505200" cy="2383155"/>
            </a:xfrm>
            <a:prstGeom prst="roundRect">
              <a:avLst>
                <a:gd name="adj" fmla="val 559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31520" y="401383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20468" y="404812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4281" y="4374356"/>
              <a:ext cx="269929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 MIPS 高的计算机不一定更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24281" y="4963954"/>
              <a:ext cx="2981071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MIPS 不反映指令集和指令复杂度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的差异。执行时间 = 指令数 × CPI /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时钟频率，指令数少的计算机即使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MIPS 低也可能更快。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4343400" y="1524000"/>
            <a:ext cx="3505200" cy="2383155"/>
            <a:chOff x="4343400" y="1524000"/>
            <a:chExt cx="3505200" cy="2383155"/>
          </a:xfrm>
        </p:grpSpPr>
        <p:sp>
          <p:nvSpPr>
            <p:cNvPr id="19" name="Rectangle 19"/>
            <p:cNvSpPr/>
            <p:nvPr/>
          </p:nvSpPr>
          <p:spPr>
            <a:xfrm>
              <a:off x="4343400" y="1524000"/>
              <a:ext cx="3505200" cy="2383155"/>
            </a:xfrm>
            <a:prstGeom prst="roundRect">
              <a:avLst>
                <a:gd name="adj" fmla="val 559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541520" y="172212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30468" y="175641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34281" y="2082641"/>
              <a:ext cx="29846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指令集体系结构（ISA）和应用二进制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接口（ABI）有什么区别？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34281" y="2672239"/>
              <a:ext cx="2899918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ISA 是硬件和底层软件之间的接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口；ABI 是用户可用的基本指令集加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上操作系统接口，是二进制程序在计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算机之间可移植的标准。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4343400" y="4087178"/>
            <a:ext cx="3505200" cy="2111692"/>
            <a:chOff x="4343400" y="4087178"/>
            <a:chExt cx="3505200" cy="2111692"/>
          </a:xfrm>
        </p:grpSpPr>
        <p:sp>
          <p:nvSpPr>
            <p:cNvPr id="25" name="Rectangle 25"/>
            <p:cNvSpPr/>
            <p:nvPr/>
          </p:nvSpPr>
          <p:spPr>
            <a:xfrm>
              <a:off x="4343400" y="4087178"/>
              <a:ext cx="3505200" cy="2111692"/>
            </a:xfrm>
            <a:prstGeom prst="roundRect">
              <a:avLst>
                <a:gd name="adj" fmla="val 63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541520" y="428529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30468" y="431958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34281" y="4645819"/>
              <a:ext cx="31026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“面向摩尔定律的设计”是什么意思？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34281" y="4963954"/>
              <a:ext cx="28999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设计一台计算机要花几年，要按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项目完成时的工艺水平来设计，而不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是按开始时的。</a:t>
              </a:r>
            </a:p>
          </p:txBody>
        </p:sp>
      </p:grpSp>
      <p:grpSp>
        <p:nvGrpSpPr>
          <p:cNvPr id="36" name="c3-card-1"/>
          <p:cNvGrpSpPr/>
          <p:nvPr/>
        </p:nvGrpSpPr>
        <p:grpSpPr>
          <a:xfrm>
            <a:off x="8153400" y="1524000"/>
            <a:ext cx="3505200" cy="2111692"/>
            <a:chOff x="8153400" y="1524000"/>
            <a:chExt cx="3505200" cy="2111692"/>
          </a:xfrm>
        </p:grpSpPr>
        <p:sp>
          <p:nvSpPr>
            <p:cNvPr id="31" name="Rectangle 31"/>
            <p:cNvSpPr/>
            <p:nvPr/>
          </p:nvSpPr>
          <p:spPr>
            <a:xfrm>
              <a:off x="8153400" y="1524000"/>
              <a:ext cx="3505200" cy="2111692"/>
            </a:xfrm>
            <a:prstGeom prst="roundRect">
              <a:avLst>
                <a:gd name="adj" fmla="val 63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8351520" y="172212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40468" y="175641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44281" y="2082641"/>
              <a:ext cx="28999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增加服务器数量来分担相互独立的请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求，主要改善响应时间还是吞吐率？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44281" y="2672239"/>
              <a:ext cx="28999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主要提高吞吐率。若原来请求需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要排队，排队时间变短，响应时间也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会缩短。</a:t>
              </a:r>
            </a:p>
          </p:txBody>
        </p:sp>
      </p:grpSp>
      <p:grpSp>
        <p:nvGrpSpPr>
          <p:cNvPr id="42" name="c3-card-2"/>
          <p:cNvGrpSpPr/>
          <p:nvPr/>
        </p:nvGrpSpPr>
        <p:grpSpPr>
          <a:xfrm>
            <a:off x="8153400" y="3815715"/>
            <a:ext cx="3505200" cy="2383155"/>
            <a:chOff x="8153400" y="3815715"/>
            <a:chExt cx="3505200" cy="2383155"/>
          </a:xfrm>
        </p:grpSpPr>
        <p:sp>
          <p:nvSpPr>
            <p:cNvPr id="37" name="Rectangle 37"/>
            <p:cNvSpPr/>
            <p:nvPr/>
          </p:nvSpPr>
          <p:spPr>
            <a:xfrm>
              <a:off x="8153400" y="3815715"/>
              <a:ext cx="3505200" cy="2383155"/>
            </a:xfrm>
            <a:prstGeom prst="roundRect">
              <a:avLst>
                <a:gd name="adj" fmla="val 559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8351520" y="401383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440468" y="404812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344281" y="4374356"/>
              <a:ext cx="27195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存储器层次为什么能兼顾速度和成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44281" y="4963954"/>
              <a:ext cx="2899918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常用数据放在快而贵的上层，大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量数据放在慢而便宜的下层；平均速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度接近上层，每位平均价格接近下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层。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115437" cy="909257"/>
            <a:chOff x="520446" y="342900"/>
            <a:chExt cx="31154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基准测试、谬误与陷阱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1154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自测题（二）：计算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2223135"/>
            <a:chOff x="533400" y="1524000"/>
            <a:chExt cx="5410200" cy="22231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223135"/>
            </a:xfrm>
            <a:prstGeom prst="roundRect">
              <a:avLst>
                <a:gd name="adj" fmla="val 599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30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476250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同一指令集，程序有 2×10⁹ 条指令。A 的 CPI 为 1.5、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频率 3 GHz；B 的 CPI 为 1.2、频率 2 GHz。哪台快，快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多少？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3017520"/>
              <a:ext cx="42729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 A = 2×10⁹ × 1.5 / 3×10⁹ = 1.0 s；B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2×10⁹ × 1.2 / 2×10⁹ = 1.2 s。A 比 B 快 1.2 倍。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937635"/>
            <a:ext cx="5410200" cy="1937385"/>
            <a:chOff x="533400" y="3937635"/>
            <a:chExt cx="5410200" cy="1937385"/>
          </a:xfrm>
        </p:grpSpPr>
        <p:sp>
          <p:nvSpPr>
            <p:cNvPr id="13" name="Rectangle 13"/>
            <p:cNvSpPr/>
            <p:nvPr/>
          </p:nvSpPr>
          <p:spPr>
            <a:xfrm>
              <a:off x="533400" y="3937635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42950" y="414718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30437" y="418290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5330" y="4524375"/>
              <a:ext cx="4636294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电容和频率不变，电压降低 20%，动态功耗变为原来的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多少？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5330" y="5145405"/>
              <a:ext cx="46920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功耗与电压的平方成正比：0.8² = 0.64，变为原来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 64%。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6248400" y="1524000"/>
            <a:ext cx="5410200" cy="1937385"/>
            <a:chOff x="6248400" y="1524000"/>
            <a:chExt cx="5410200" cy="1937385"/>
          </a:xfrm>
        </p:grpSpPr>
        <p:sp>
          <p:nvSpPr>
            <p:cNvPr id="19" name="Rectangle 19"/>
            <p:cNvSpPr/>
            <p:nvPr/>
          </p:nvSpPr>
          <p:spPr>
            <a:xfrm>
              <a:off x="6248400" y="1524000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57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45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50330" y="2110740"/>
              <a:ext cx="4664392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三类指令的 CPI 分别为 1、2、3，在程序中各占 50%、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30%、20%。平均 CPI 是多少？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50330" y="273177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加权平均：1 × 0.5 + 2 × 0.3 + 3 × 0.2 = 0.5 +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 + 0.6 = 1.7。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6248400" y="3651885"/>
            <a:ext cx="5410200" cy="2223135"/>
            <a:chOff x="6248400" y="3651885"/>
            <a:chExt cx="5410200" cy="2223135"/>
          </a:xfrm>
        </p:grpSpPr>
        <p:sp>
          <p:nvSpPr>
            <p:cNvPr id="25" name="Rectangle 25"/>
            <p:cNvSpPr/>
            <p:nvPr/>
          </p:nvSpPr>
          <p:spPr>
            <a:xfrm>
              <a:off x="6248400" y="3651885"/>
              <a:ext cx="5410200" cy="2223135"/>
            </a:xfrm>
            <a:prstGeom prst="roundRect">
              <a:avLst>
                <a:gd name="adj" fmla="val 599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57950" y="38614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45437" y="38971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50330" y="4238625"/>
              <a:ext cx="478536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程序运行 60 s，其中 45 s 的计算可以被加速。计算部分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加速 3 倍后，整个程序快多少倍？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50330" y="4859655"/>
              <a:ext cx="46824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改进后 45 / 3 + 15 = 30 s，60 / 30 = 2，整个程序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 2 倍。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1" name="TextBox 31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996184" cy="909257"/>
            <a:chOff x="520446" y="342900"/>
            <a:chExt cx="299618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第1章 概要与技术 · 基准测试、谬误与陷阱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5" name="c1-tree-1"/>
          <p:cNvGrpSpPr/>
          <p:nvPr/>
        </p:nvGrpSpPr>
        <p:grpSpPr>
          <a:xfrm>
            <a:off x="533400" y="1423035"/>
            <a:ext cx="4977764" cy="3144203"/>
            <a:chOff x="533400" y="1423035"/>
            <a:chExt cx="4977764" cy="3144203"/>
          </a:xfrm>
        </p:grpSpPr>
        <p:sp>
          <p:nvSpPr>
            <p:cNvPr id="7" name="Freeform 7"/>
            <p:cNvSpPr/>
            <p:nvPr/>
          </p:nvSpPr>
          <p:spPr>
            <a:xfrm>
              <a:off x="3711892" y="1714500"/>
              <a:ext cx="419100" cy="190500"/>
            </a:xfrm>
            <a:custGeom>
              <a:avLst/>
              <a:gdLst/>
              <a:ahLst/>
              <a:cxnLst/>
              <a:rect l="l" t="t" r="r" b="b"/>
              <a:pathLst>
                <a:path w="419100" h="190500">
                  <a:moveTo>
                    <a:pt x="0" y="190500"/>
                  </a:moveTo>
                  <a:lnTo>
                    <a:pt x="209550" y="19050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711892" y="1905000"/>
              <a:ext cx="419100" cy="190500"/>
            </a:xfrm>
            <a:custGeom>
              <a:avLst/>
              <a:gdLst/>
              <a:ahLst/>
              <a:cxnLst/>
              <a:rect l="l" t="t" r="r" b="b"/>
              <a:pathLst>
                <a:path w="419100" h="190500">
                  <a:moveTo>
                    <a:pt x="0" y="0"/>
                  </a:moveTo>
                  <a:lnTo>
                    <a:pt x="209550" y="0"/>
                  </a:lnTo>
                  <a:lnTo>
                    <a:pt x="209550" y="190500"/>
                  </a:lnTo>
                  <a:lnTo>
                    <a:pt x="419100" y="19050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3711892" y="2476500"/>
              <a:ext cx="419100" cy="190500"/>
            </a:xfrm>
            <a:custGeom>
              <a:avLst/>
              <a:gdLst/>
              <a:ahLst/>
              <a:cxnLst/>
              <a:rect l="l" t="t" r="r" b="b"/>
              <a:pathLst>
                <a:path w="419100" h="190500">
                  <a:moveTo>
                    <a:pt x="0" y="190500"/>
                  </a:moveTo>
                  <a:lnTo>
                    <a:pt x="209550" y="19050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711892" y="2667000"/>
              <a:ext cx="419100" cy="190500"/>
            </a:xfrm>
            <a:custGeom>
              <a:avLst/>
              <a:gdLst/>
              <a:ahLst/>
              <a:cxnLst/>
              <a:rect l="l" t="t" r="r" b="b"/>
              <a:pathLst>
                <a:path w="419100" h="190500">
                  <a:moveTo>
                    <a:pt x="0" y="0"/>
                  </a:moveTo>
                  <a:lnTo>
                    <a:pt x="209550" y="0"/>
                  </a:lnTo>
                  <a:lnTo>
                    <a:pt x="209550" y="190500"/>
                  </a:lnTo>
                  <a:lnTo>
                    <a:pt x="419100" y="19050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3711892" y="3238500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711892" y="3619500"/>
              <a:ext cx="419100" cy="381000"/>
            </a:xfrm>
            <a:custGeom>
              <a:avLst/>
              <a:gdLst/>
              <a:ahLst/>
              <a:cxnLst/>
              <a:rect l="l" t="t" r="r" b="b"/>
              <a:pathLst>
                <a:path w="419100" h="381000">
                  <a:moveTo>
                    <a:pt x="0" y="381000"/>
                  </a:moveTo>
                  <a:lnTo>
                    <a:pt x="209550" y="38100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3711892" y="4000500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711892" y="4000500"/>
              <a:ext cx="419100" cy="381000"/>
            </a:xfrm>
            <a:custGeom>
              <a:avLst/>
              <a:gdLst/>
              <a:ahLst/>
              <a:cxnLst/>
              <a:rect l="l" t="t" r="r" b="b"/>
              <a:pathLst>
                <a:path w="419100" h="381000">
                  <a:moveTo>
                    <a:pt x="0" y="0"/>
                  </a:moveTo>
                  <a:lnTo>
                    <a:pt x="209550" y="0"/>
                  </a:lnTo>
                  <a:lnTo>
                    <a:pt x="209550" y="381000"/>
                  </a:lnTo>
                  <a:lnTo>
                    <a:pt x="419100" y="38100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1913572" y="1905000"/>
              <a:ext cx="419100" cy="1047750"/>
            </a:xfrm>
            <a:custGeom>
              <a:avLst/>
              <a:gdLst/>
              <a:ahLst/>
              <a:cxnLst/>
              <a:rect l="l" t="t" r="r" b="b"/>
              <a:pathLst>
                <a:path w="419100" h="1047750">
                  <a:moveTo>
                    <a:pt x="0" y="1047750"/>
                  </a:moveTo>
                  <a:lnTo>
                    <a:pt x="209550" y="104775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1913572" y="2667000"/>
              <a:ext cx="419100" cy="285750"/>
            </a:xfrm>
            <a:custGeom>
              <a:avLst/>
              <a:gdLst/>
              <a:ahLst/>
              <a:cxnLst/>
              <a:rect l="l" t="t" r="r" b="b"/>
              <a:pathLst>
                <a:path w="419100" h="285750">
                  <a:moveTo>
                    <a:pt x="0" y="285750"/>
                  </a:moveTo>
                  <a:lnTo>
                    <a:pt x="209550" y="28575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1913572" y="2952750"/>
              <a:ext cx="419100" cy="285750"/>
            </a:xfrm>
            <a:custGeom>
              <a:avLst/>
              <a:gdLst/>
              <a:ahLst/>
              <a:cxnLst/>
              <a:rect l="l" t="t" r="r" b="b"/>
              <a:pathLst>
                <a:path w="419100" h="285750">
                  <a:moveTo>
                    <a:pt x="0" y="0"/>
                  </a:moveTo>
                  <a:lnTo>
                    <a:pt x="209550" y="0"/>
                  </a:lnTo>
                  <a:lnTo>
                    <a:pt x="209550" y="285750"/>
                  </a:lnTo>
                  <a:lnTo>
                    <a:pt x="419100" y="28575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1913572" y="2952750"/>
              <a:ext cx="419100" cy="1047750"/>
            </a:xfrm>
            <a:custGeom>
              <a:avLst/>
              <a:gdLst/>
              <a:ahLst/>
              <a:cxnLst/>
              <a:rect l="l" t="t" r="r" b="b"/>
              <a:pathLst>
                <a:path w="419100" h="1047750">
                  <a:moveTo>
                    <a:pt x="0" y="0"/>
                  </a:moveTo>
                  <a:lnTo>
                    <a:pt x="209550" y="0"/>
                  </a:lnTo>
                  <a:lnTo>
                    <a:pt x="209550" y="1047750"/>
                  </a:lnTo>
                  <a:lnTo>
                    <a:pt x="419100" y="104775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4130992" y="1423035"/>
              <a:ext cx="1380172" cy="582930"/>
            </a:xfrm>
            <a:prstGeom prst="roundRect">
              <a:avLst>
                <a:gd name="adj" fmla="val 16340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130992" y="1908810"/>
              <a:ext cx="138017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2332672" y="1718310"/>
              <a:ext cx="1380172" cy="372428"/>
            </a:xfrm>
            <a:prstGeom prst="roundRect">
              <a:avLst>
                <a:gd name="adj" fmla="val 25575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4130992" y="2185035"/>
              <a:ext cx="1380172" cy="582930"/>
            </a:xfrm>
            <a:prstGeom prst="roundRect">
              <a:avLst>
                <a:gd name="adj" fmla="val 16340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130992" y="2670810"/>
              <a:ext cx="138017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2332672" y="2480310"/>
              <a:ext cx="1380172" cy="372428"/>
            </a:xfrm>
            <a:prstGeom prst="roundRect">
              <a:avLst>
                <a:gd name="adj" fmla="val 25575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4130992" y="3051810"/>
              <a:ext cx="138017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2332672" y="3051810"/>
              <a:ext cx="1380172" cy="372428"/>
            </a:xfrm>
            <a:prstGeom prst="roundRect">
              <a:avLst>
                <a:gd name="adj" fmla="val 25575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4130992" y="3432810"/>
              <a:ext cx="138017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4130992" y="3813810"/>
              <a:ext cx="138017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4130992" y="4194810"/>
              <a:ext cx="138017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2332672" y="3813810"/>
              <a:ext cx="1380172" cy="372428"/>
            </a:xfrm>
            <a:prstGeom prst="roundRect">
              <a:avLst>
                <a:gd name="adj" fmla="val 25575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33400" y="2766060"/>
              <a:ext cx="1380172" cy="372428"/>
            </a:xfrm>
            <a:prstGeom prst="roundRect">
              <a:avLst>
                <a:gd name="adj" fmla="val 25575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4219766" y="1519714"/>
              <a:ext cx="1102106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8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分类与后 PC 时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219766" y="200644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八个伟大思想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421446" y="181594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计算机概貌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219766" y="2281714"/>
              <a:ext cx="988314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8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软件层次、五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大部件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219766" y="2768441"/>
              <a:ext cx="8042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ISA 与 ABI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421446" y="257794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程序与部件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219766" y="314944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成本与成品率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421446" y="314944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制造技术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219766" y="3530441"/>
              <a:ext cx="11944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CPU 时间与 CPI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219766" y="391144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功耗墙与多核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219766" y="429244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基准与误区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421446" y="391144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性能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22173" y="2863691"/>
              <a:ext cx="4570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第1章</a:t>
              </a:r>
            </a:p>
          </p:txBody>
        </p:sp>
      </p:grpSp>
      <p:grpSp>
        <p:nvGrpSpPr>
          <p:cNvPr id="52" name="c1-callout-2"/>
          <p:cNvGrpSpPr/>
          <p:nvPr/>
        </p:nvGrpSpPr>
        <p:grpSpPr>
          <a:xfrm>
            <a:off x="533400" y="4762500"/>
            <a:ext cx="4977765" cy="782955"/>
            <a:chOff x="533400" y="4762500"/>
            <a:chExt cx="4977765" cy="782955"/>
          </a:xfrm>
        </p:grpSpPr>
        <p:sp>
          <p:nvSpPr>
            <p:cNvPr id="46" name="Rectangle 46"/>
            <p:cNvSpPr/>
            <p:nvPr/>
          </p:nvSpPr>
          <p:spPr>
            <a:xfrm>
              <a:off x="533400" y="4762500"/>
              <a:ext cx="4977765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38188" y="5053965"/>
              <a:ext cx="200026" cy="200026"/>
              <a:chOff x="738188" y="5053965"/>
              <a:chExt cx="200026" cy="200026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738188" y="505396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38200" y="512064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27088" y="515397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040130" y="4911090"/>
              <a:ext cx="37776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本讲义更正原课件 7 处，见第 13、21、30、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31、43、47、48 页的“更正”。</a:t>
              </a:r>
            </a:p>
          </p:txBody>
        </p:sp>
      </p:grpSp>
      <p:grpSp>
        <p:nvGrpSpPr>
          <p:cNvPr id="67" name="c2-bullets-1"/>
          <p:cNvGrpSpPr/>
          <p:nvPr/>
        </p:nvGrpSpPr>
        <p:grpSpPr>
          <a:xfrm>
            <a:off x="5815965" y="1548765"/>
            <a:ext cx="5839873" cy="2647950"/>
            <a:chOff x="5815965" y="1548765"/>
            <a:chExt cx="5839873" cy="2647950"/>
          </a:xfrm>
        </p:grpSpPr>
        <p:sp>
          <p:nvSpPr>
            <p:cNvPr id="53" name="Freeform 53"/>
            <p:cNvSpPr/>
            <p:nvPr/>
          </p:nvSpPr>
          <p:spPr>
            <a:xfrm>
              <a:off x="5815965" y="1580198"/>
              <a:ext cx="143828" cy="117157"/>
            </a:xfrm>
            <a:custGeom>
              <a:avLst/>
              <a:gdLst/>
              <a:ahLst/>
              <a:cxnLst/>
              <a:rect l="l" t="t" r="r" b="b"/>
              <a:pathLst>
                <a:path w="143828" h="117157">
                  <a:moveTo>
                    <a:pt x="0" y="61912"/>
                  </a:moveTo>
                  <a:lnTo>
                    <a:pt x="54292" y="117157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066473" y="1548765"/>
              <a:ext cx="4880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 = 1 / 执行时间；“X 比 Y 快 n 倍”指性能之比为 n</a:t>
              </a:r>
            </a:p>
          </p:txBody>
        </p:sp>
        <p:sp>
          <p:nvSpPr>
            <p:cNvPr id="55" name="Freeform 55"/>
            <p:cNvSpPr/>
            <p:nvPr/>
          </p:nvSpPr>
          <p:spPr>
            <a:xfrm>
              <a:off x="5815965" y="1925002"/>
              <a:ext cx="143828" cy="117158"/>
            </a:xfrm>
            <a:custGeom>
              <a:avLst/>
              <a:gdLst/>
              <a:ahLst/>
              <a:cxnLst/>
              <a:rect l="l" t="t" r="r" b="b"/>
              <a:pathLst>
                <a:path w="143828" h="117158">
                  <a:moveTo>
                    <a:pt x="0" y="61912"/>
                  </a:moveTo>
                  <a:lnTo>
                    <a:pt x="54292" y="117158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066473" y="1893570"/>
              <a:ext cx="50920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CPU 时间 = 指令数 × CPI × 时钟周期 = 指令数 × CPI / 时钟频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率</a:t>
              </a:r>
            </a:p>
          </p:txBody>
        </p:sp>
        <p:sp>
          <p:nvSpPr>
            <p:cNvPr id="57" name="Freeform 57"/>
            <p:cNvSpPr/>
            <p:nvPr/>
          </p:nvSpPr>
          <p:spPr>
            <a:xfrm>
              <a:off x="5815965" y="2555558"/>
              <a:ext cx="143828" cy="117158"/>
            </a:xfrm>
            <a:custGeom>
              <a:avLst/>
              <a:gdLst/>
              <a:ahLst/>
              <a:cxnLst/>
              <a:rect l="l" t="t" r="r" b="b"/>
              <a:pathLst>
                <a:path w="143828" h="117158">
                  <a:moveTo>
                    <a:pt x="0" y="61912"/>
                  </a:moveTo>
                  <a:lnTo>
                    <a:pt x="54292" y="117158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066473" y="2524125"/>
              <a:ext cx="42089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 CPI = Σ（CPIᵢ × 第 i 类指令的相对频率）</a:t>
              </a:r>
            </a:p>
          </p:txBody>
        </p:sp>
        <p:sp>
          <p:nvSpPr>
            <p:cNvPr id="59" name="Freeform 59"/>
            <p:cNvSpPr/>
            <p:nvPr/>
          </p:nvSpPr>
          <p:spPr>
            <a:xfrm>
              <a:off x="5815965" y="2900362"/>
              <a:ext cx="143828" cy="117158"/>
            </a:xfrm>
            <a:custGeom>
              <a:avLst/>
              <a:gdLst/>
              <a:ahLst/>
              <a:cxnLst/>
              <a:rect l="l" t="t" r="r" b="b"/>
              <a:pathLst>
                <a:path w="143828" h="117158">
                  <a:moveTo>
                    <a:pt x="0" y="61912"/>
                  </a:moveTo>
                  <a:lnTo>
                    <a:pt x="54292" y="117158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066473" y="2868930"/>
              <a:ext cx="42153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动态功耗 ∝ 1/2 × 负载电容 × 电压² × 开关频率</a:t>
              </a:r>
            </a:p>
          </p:txBody>
        </p:sp>
        <p:sp>
          <p:nvSpPr>
            <p:cNvPr id="61" name="Freeform 61"/>
            <p:cNvSpPr/>
            <p:nvPr/>
          </p:nvSpPr>
          <p:spPr>
            <a:xfrm>
              <a:off x="5815965" y="3245168"/>
              <a:ext cx="143828" cy="117158"/>
            </a:xfrm>
            <a:custGeom>
              <a:avLst/>
              <a:gdLst/>
              <a:ahLst/>
              <a:cxnLst/>
              <a:rect l="l" t="t" r="r" b="b"/>
              <a:pathLst>
                <a:path w="143828" h="117158">
                  <a:moveTo>
                    <a:pt x="0" y="61912"/>
                  </a:moveTo>
                  <a:lnTo>
                    <a:pt x="54292" y="117158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066473" y="3213735"/>
              <a:ext cx="558936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Amdahl：T改进后 = T受影响部分 / 改进倍数 + T不受影响部分</a:t>
              </a:r>
            </a:p>
          </p:txBody>
        </p:sp>
        <p:sp>
          <p:nvSpPr>
            <p:cNvPr id="63" name="Freeform 63"/>
            <p:cNvSpPr/>
            <p:nvPr/>
          </p:nvSpPr>
          <p:spPr>
            <a:xfrm>
              <a:off x="5815965" y="3589972"/>
              <a:ext cx="143828" cy="117158"/>
            </a:xfrm>
            <a:custGeom>
              <a:avLst/>
              <a:gdLst/>
              <a:ahLst/>
              <a:cxnLst/>
              <a:rect l="l" t="t" r="r" b="b"/>
              <a:pathLst>
                <a:path w="143828" h="117158">
                  <a:moveTo>
                    <a:pt x="0" y="61912"/>
                  </a:moveTo>
                  <a:lnTo>
                    <a:pt x="54292" y="117158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066473" y="3558540"/>
              <a:ext cx="45687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每芯片价格 = 晶圆价格 / (每晶圆芯片数 × 成品率)</a:t>
              </a:r>
            </a:p>
          </p:txBody>
        </p:sp>
        <p:sp>
          <p:nvSpPr>
            <p:cNvPr id="65" name="Freeform 65"/>
            <p:cNvSpPr/>
            <p:nvPr/>
          </p:nvSpPr>
          <p:spPr>
            <a:xfrm>
              <a:off x="5815965" y="3934778"/>
              <a:ext cx="143828" cy="117157"/>
            </a:xfrm>
            <a:custGeom>
              <a:avLst/>
              <a:gdLst/>
              <a:ahLst/>
              <a:cxnLst/>
              <a:rect l="l" t="t" r="r" b="b"/>
              <a:pathLst>
                <a:path w="143828" h="117157">
                  <a:moveTo>
                    <a:pt x="0" y="61912"/>
                  </a:moveTo>
                  <a:lnTo>
                    <a:pt x="54292" y="117157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066473" y="3903345"/>
              <a:ext cx="51244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MIPS = 时钟频率 / (CPI × 10⁶)，不适合比较不同指令集</a:t>
              </a:r>
            </a:p>
          </p:txBody>
        </p:sp>
      </p:grpSp>
      <p:grpSp>
        <p:nvGrpSpPr>
          <p:cNvPr id="73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68" name="Rectangle 68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71" name="Group 71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2" name="TextBox 72"/>
            <p:cNvSpPr txBox="1"/>
            <p:nvPr/>
          </p:nvSpPr>
          <p:spPr>
            <a:xfrm>
              <a:off x="1040130" y="5991225"/>
              <a:ext cx="87119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比较两台计算机时，以同一程序的执行时间为准；时钟频率、CPI、MIPS 单独拿出来都可能误导。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4" name="TextBox 74"/>
            <p:cNvSpPr txBox="1"/>
            <p:nvPr/>
          </p:nvSpPr>
          <p:spPr>
            <a:xfrm>
              <a:off x="528447" y="658129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第1章 计算机概要与技术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coa_ch1">
  <a:themeElements>
    <a:clrScheme name="coa_ch1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oa_ch1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a_ch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2026-09-17T06:22:23Z</dcterms:created>
  <dcterms:modified xsi:type="dcterms:W3CDTF">2026-09-17T06:22:23Z</dcterms:modified>
  <cp:category/>
  <cp:contentStatus/>
</cp:coreProperties>
</file>