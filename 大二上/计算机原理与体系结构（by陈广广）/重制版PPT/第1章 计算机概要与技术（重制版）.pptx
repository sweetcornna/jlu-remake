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57a82b37f71840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dc3a8ac48f5221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651a6fb3f95826b.png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26" t="0" r="2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441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8319" y="17183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第1章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计算机概要与技术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计算机由什么组成，性能怎样度量和比较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八个伟大思想与抽象层次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五大部件与芯片制造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80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 时间与 CPI 计算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10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功耗墙与 Amdahl 定律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92978" cy="205359"/>
            <a:chOff x="680466" y="6192202"/>
            <a:chExt cx="569297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92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自学复习版｜据吉林大学《计算机原理与体系结构》第1章课件（2023 秋）整理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计算机革命与八个伟大思想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41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摩尔定律、计算机分类、后 PC 时代、八个设计思想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程序之下与计算机部件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389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软件层次、三级语言、五大部件、ISA 与 ABI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制造技术与成本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集成电路的发展、芯片制造流程、成本与成品率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552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响应时间与吞吐率、CPU 时间、CPI、性能公式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功耗墙与多处理器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动态功耗公式、单核性能放缓、多核编程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基准测试、谬误与陷阱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544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SPEC、Amdahl 定律、低负载功耗、MIPS 指标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说出计算机的五大部件、八个伟大思想，以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 ISA、ABI 的含义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用“CPU 时间 = 指令数 × CPI × 时钟周期”计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算并比较两台计算机的性能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按指令类别算加权平均 CPI，判断哪段代码更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425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用动态功耗公式和 Amdahl 定律做估算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解释为什么 MIPS 和低负载功耗容易误导判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计算机革命与八个伟大思想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计算机为什么发展得这么快，设计者靠哪些思想提升性能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计算机革命与计算机分类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99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1.1.2 后 PC 时代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1.1.3 本书要回答的问题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计算机体系结构中的八个伟大思想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摩尔定律让计算越来越便宜，许多新应用由此变得可行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1866900"/>
            <a:chOff x="533400" y="1524000"/>
            <a:chExt cx="4544378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技术基础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557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摩尔定律（Moore's Law）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集成电路上可容纳的资源（晶体管数）每 18–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个月翻一番。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同样的价钱能买到的计算能力持续快速增长，这是计算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机革命的基础。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581400"/>
            <a:ext cx="4544378" cy="1059180"/>
            <a:chOff x="533400" y="3581400"/>
            <a:chExt cx="4544378" cy="105918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140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010978"/>
              <a:ext cx="200026" cy="200026"/>
              <a:chOff x="738188" y="401097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0109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0776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41109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3729990"/>
              <a:ext cx="3520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摩尔定律是 Intel 创始人之一戈登·摩尔对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工艺发展速度的经验观察，并不是物理定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831080"/>
            <a:ext cx="4544378" cy="1059180"/>
            <a:chOff x="533400" y="4831080"/>
            <a:chExt cx="4544378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483108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60658"/>
              <a:ext cx="200026" cy="200025"/>
              <a:chOff x="738188" y="526065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60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305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416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979670"/>
              <a:ext cx="3644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 18–24 个月翻一番估算，10 年（120 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月）翻 5 到 6.7 次，资源增至约 32 到 100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376862" y="1524000"/>
            <a:ext cx="6281738" cy="4288632"/>
            <a:chOff x="5376862" y="1524000"/>
            <a:chExt cx="6281738" cy="4288632"/>
          </a:xfrm>
        </p:grpSpPr>
        <p:sp>
          <p:nvSpPr>
            <p:cNvPr id="29" name="Rectangle 29"/>
            <p:cNvSpPr/>
            <p:nvPr/>
          </p:nvSpPr>
          <p:spPr>
            <a:xfrm>
              <a:off x="5382578" y="1524000"/>
              <a:ext cx="6276022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8835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新应用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17205" y="16630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为什么离不开计算机的进步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89258" y="24174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车载计算机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20890" y="2150745"/>
              <a:ext cx="4206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微处理器的价格和性能在 20 世纪 80 年代初大幅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改善后，用计算机控制发动机、提升安全才变得划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82578" y="3027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82578" y="30327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9258" y="3171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0890" y="31718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便宜、低功耗的处理器让人随时随地通信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9258" y="37928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人类基因组计划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20890" y="3659505"/>
              <a:ext cx="4253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测定和分析 DNA 序列的计算量巨大，计算设备变便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宜后才能大规模开展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42700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82578" y="42748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9258" y="44138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万维网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20890" y="44138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大量联网计算机提供和访问信息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4757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9258" y="50349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搜索引擎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20890" y="490156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网上内容越来越多，要靠大规模计算快速找到相关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1524000"/>
              <a:ext cx="6276022" cy="3992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09448" y="1524000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76862" y="559260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原课件列举的五类新应用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四类计算机：用途不同，设计时受到的制约也不同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364105"/>
            <a:chOff x="533400" y="1524000"/>
            <a:chExt cx="11125200" cy="2364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68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58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3502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主要制约与说明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107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个人计算机 PC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0902" y="2085022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使用最广泛，运行大量第三方软件，为单个用户提供良好性能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752" y="208502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受性价比制约，价格要低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0902" y="251555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通过网络访问；容量大、性能好、可靠性高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752" y="2515552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功能和价格的伸缩范围很大，从小型服务器到整间机房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0527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超级计算机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0902" y="3052762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服务器中的最高端，用于高端科学和工程计算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6752" y="2946082"/>
              <a:ext cx="3822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代表最高的计算能力，但在整个计算机市场中所占份额很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528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575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5890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嵌入式计算机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0902" y="358902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作为部件和硬件集成在一起，如汽车、电视机、飞机里的计算机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6752" y="358902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通常面向单一应用，成本或功耗受到严格限制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3079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664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ompare-2"/>
          <p:cNvGrpSpPr/>
          <p:nvPr/>
        </p:nvGrpSpPr>
        <p:grpSpPr>
          <a:xfrm>
            <a:off x="533400" y="4073842"/>
            <a:ext cx="11125200" cy="1599248"/>
            <a:chOff x="533400" y="4073842"/>
            <a:chExt cx="11125200" cy="1599248"/>
          </a:xfrm>
        </p:grpSpPr>
        <p:sp>
          <p:nvSpPr>
            <p:cNvPr id="32" name="Rectangle 32"/>
            <p:cNvSpPr/>
            <p:nvPr/>
          </p:nvSpPr>
          <p:spPr>
            <a:xfrm>
              <a:off x="533400" y="4073842"/>
              <a:ext cx="5353050" cy="1599248"/>
            </a:xfrm>
            <a:prstGeom prst="roundRect">
              <a:avLst>
                <a:gd name="adj" fmla="val 8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07192"/>
              <a:ext cx="47625" cy="13325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8096" y="4301014"/>
              <a:ext cx="2350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通用计算机（PC、服务器）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46996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463915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运行用户自己选装的各种软件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2955" y="50196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9546" y="495919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性能和价格是主要卖点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05550" y="4073842"/>
              <a:ext cx="5353050" cy="1599248"/>
            </a:xfrm>
            <a:prstGeom prst="roundRect">
              <a:avLst>
                <a:gd name="adj" fmla="val 8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15075" y="4207192"/>
              <a:ext cx="47625" cy="13325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0246" y="430101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嵌入式计算机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55105" y="46996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1696" y="463915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只运行固定的一个或一组应用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55105" y="50196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1696" y="495919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用户往往意识不到里面有计算机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934075" y="471106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04415" y="48072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0408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嵌入式计算机是数量最多、应用范围最广的一类计算机。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38969" cy="909257"/>
            <a:chOff x="520446" y="342900"/>
            <a:chExt cx="75389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389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PC 时代：个人移动设备在手里，云计算在远端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01165"/>
            <a:chOff x="533400" y="1524000"/>
            <a:chExt cx="5410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8398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59" y="1769269"/>
              <a:ext cx="1275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个人移动设备 PMD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由电池供电，可以无线连接到网络上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价格只有几百美元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例：智能手机、平板电脑、电子眼镜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415665"/>
            <a:ext cx="5410200" cy="2272665"/>
            <a:chOff x="533400" y="3415665"/>
            <a:chExt cx="5410200" cy="2272665"/>
          </a:xfrm>
        </p:grpSpPr>
        <p:sp>
          <p:nvSpPr>
            <p:cNvPr id="18" name="Rectangle 18"/>
            <p:cNvSpPr/>
            <p:nvPr/>
          </p:nvSpPr>
          <p:spPr>
            <a:xfrm>
              <a:off x="533400" y="3415665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4901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25215"/>
              <a:ext cx="183070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153" y="3660934"/>
              <a:ext cx="1740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云计算 Cloud Computing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0652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002405"/>
              <a:ext cx="42552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仓储规模计算机 WSC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：把成千上万台服务器放在一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起，作为一台大计算机使用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623435"/>
              <a:ext cx="45158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软件即服务 SaaS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：软件在云端运行，用户通过网络使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用服务，不必在本地安装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3073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5244465"/>
              <a:ext cx="2965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典型的提供者：Amazon、Google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6273470" y="2106930"/>
            <a:ext cx="5126050" cy="2223707"/>
            <a:chOff x="6273470" y="2106930"/>
            <a:chExt cx="5126050" cy="2223707"/>
          </a:xfrm>
        </p:grpSpPr>
        <p:sp>
          <p:nvSpPr>
            <p:cNvPr id="29" name="Freeform 29"/>
            <p:cNvSpPr/>
            <p:nvPr/>
          </p:nvSpPr>
          <p:spPr>
            <a:xfrm>
              <a:off x="7692390" y="2460308"/>
              <a:ext cx="737235" cy="270510"/>
            </a:xfrm>
            <a:custGeom>
              <a:avLst/>
              <a:gdLst/>
              <a:ahLst/>
              <a:cxnLst/>
              <a:rect l="l" t="t" r="r" b="b"/>
              <a:pathLst>
                <a:path w="737235" h="270510">
                  <a:moveTo>
                    <a:pt x="0" y="0"/>
                  </a:moveTo>
                  <a:lnTo>
                    <a:pt x="737235" y="270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413432" y="2687002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77152"/>
                  </a:moveTo>
                  <a:lnTo>
                    <a:pt x="0" y="88582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602855" y="2415540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0" y="11430"/>
                  </a:moveTo>
                  <a:lnTo>
                    <a:pt x="105727" y="0"/>
                  </a:lnTo>
                  <a:lnTo>
                    <a:pt x="73342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692390" y="3117532"/>
              <a:ext cx="737235" cy="270510"/>
            </a:xfrm>
            <a:custGeom>
              <a:avLst/>
              <a:gdLst/>
              <a:ahLst/>
              <a:cxnLst/>
              <a:rect l="l" t="t" r="r" b="b"/>
              <a:pathLst>
                <a:path w="737235" h="270510">
                  <a:moveTo>
                    <a:pt x="0" y="270510"/>
                  </a:moveTo>
                  <a:lnTo>
                    <a:pt x="7372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13432" y="3072765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11430"/>
                  </a:moveTo>
                  <a:lnTo>
                    <a:pt x="32385" y="88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602855" y="3344228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0" y="77152"/>
                  </a:moveTo>
                  <a:lnTo>
                    <a:pt x="73342" y="0"/>
                  </a:lnTo>
                  <a:lnTo>
                    <a:pt x="105727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505950" y="2924175"/>
              <a:ext cx="369570" cy="9525"/>
            </a:xfrm>
            <a:custGeom>
              <a:avLst/>
              <a:gdLst/>
              <a:ahLst/>
              <a:cxnLst/>
              <a:rect l="l" t="t" r="r" b="b"/>
              <a:pathLst>
                <a:path w="369570" h="9525">
                  <a:moveTo>
                    <a:pt x="0" y="0"/>
                  </a:moveTo>
                  <a:lnTo>
                    <a:pt x="3695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875520" y="2876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0700" y="2876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49390" y="2106930"/>
              <a:ext cx="1238250" cy="320040"/>
            </a:xfrm>
            <a:prstGeom prst="roundRect">
              <a:avLst>
                <a:gd name="adj" fmla="val 2976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49390" y="3421380"/>
              <a:ext cx="1238250" cy="320040"/>
            </a:xfrm>
            <a:prstGeom prst="roundRect">
              <a:avLst>
                <a:gd name="adj" fmla="val 2976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496300" y="2764155"/>
              <a:ext cx="9144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970770" y="2495550"/>
              <a:ext cx="1428750" cy="857250"/>
            </a:xfrm>
            <a:prstGeom prst="roundRect">
              <a:avLst>
                <a:gd name="adj" fmla="val 1111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39331" y="2192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智能手机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39331" y="35071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平板电脑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5088" y="28498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互联网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63297" y="2849880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WSC 数据中心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898130" y="250317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24127" y="25369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98130" y="316039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24127" y="31942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3470" y="4125278"/>
              <a:ext cx="1790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应用的一部分在 PMD 上运行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43732" y="36966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另一部分在云上运行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248400" y="4572000"/>
            <a:ext cx="5410200" cy="1116330"/>
            <a:chOff x="6248400" y="4572000"/>
            <a:chExt cx="5410200" cy="1116330"/>
          </a:xfrm>
        </p:grpSpPr>
        <p:sp>
          <p:nvSpPr>
            <p:cNvPr id="53" name="Rectangle 53"/>
            <p:cNvSpPr/>
            <p:nvPr/>
          </p:nvSpPr>
          <p:spPr>
            <a:xfrm>
              <a:off x="6248400" y="4572000"/>
              <a:ext cx="5410200" cy="1116330"/>
            </a:xfrm>
            <a:prstGeom prst="roundRect">
              <a:avLst>
                <a:gd name="adj" fmla="val 1023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030155"/>
              <a:ext cx="200023" cy="200023"/>
              <a:chOff x="6453188" y="5030155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0301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86538" y="5096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130" y="488727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开发者通常把一个应用拆开：一部分在个人移动设备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上运行，一部分在云上运行。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本书要回答的问题：从程序到硬件，性能由谁决定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4514850" cy="2312670"/>
            <a:chOff x="525780" y="1548765"/>
            <a:chExt cx="4514850" cy="23126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学完本书应能回答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高级语言程序怎样翻译成机器语言，硬件怎样执行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5203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249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25336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软件和硬件之间的接口是什么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86512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29074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28784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哪些因素决定程序的性能，怎样改进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20992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3252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32232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硬件设计者用哪些技术改进性能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5547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249" y="35970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390" y="3568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什么是并行处理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3992880"/>
            <a:ext cx="4760595" cy="1994535"/>
            <a:chOff x="533400" y="3992880"/>
            <a:chExt cx="4760595" cy="1994535"/>
          </a:xfrm>
        </p:grpSpPr>
        <p:sp>
          <p:nvSpPr>
            <p:cNvPr id="24" name="Rectangle 24"/>
            <p:cNvSpPr/>
            <p:nvPr/>
          </p:nvSpPr>
          <p:spPr>
            <a:xfrm>
              <a:off x="533400" y="3992880"/>
              <a:ext cx="4760595" cy="1994535"/>
            </a:xfrm>
            <a:prstGeom prst="roundRect">
              <a:avLst>
                <a:gd name="adj" fmla="val 573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90137"/>
              <a:ext cx="200023" cy="200023"/>
              <a:chOff x="738188" y="4890137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8901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4956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609148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贯穿全书的一条线：受内存容量和速度等条件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制约，性能提升要靠处理器的并行和存储器的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层次结构。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593080" y="1524000"/>
            <a:ext cx="6065520" cy="3534252"/>
            <a:chOff x="5593080" y="1524000"/>
            <a:chExt cx="6065520" cy="3534252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96952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软件或硬件部分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24925" y="16630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决定性能的哪个方面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5475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9588" y="2150745"/>
              <a:ext cx="3101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源程序语句的数量，以及执行 I/O 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作的数量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761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76606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5475" y="290512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程序语言、编译器和体系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9588" y="30384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每条源语句对应的机器指令数量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35156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5475" y="36595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处理器和存储器系统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29588" y="36595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指令执行的速度快慢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4003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400812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5475" y="4147185"/>
              <a:ext cx="210978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系统（硬件和操作系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29588" y="4280535"/>
              <a:ext cx="2237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操作执行的速度快慢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1524000"/>
              <a:ext cx="6059805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18145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93080" y="483822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理解程序性能：四个层面各管一段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598795" y="5204460"/>
            <a:ext cx="6059805" cy="782955"/>
            <a:chOff x="5598795" y="5204460"/>
            <a:chExt cx="6059805" cy="782955"/>
          </a:xfrm>
        </p:grpSpPr>
        <p:sp>
          <p:nvSpPr>
            <p:cNvPr id="50" name="Rectangle 50"/>
            <p:cNvSpPr/>
            <p:nvPr/>
          </p:nvSpPr>
          <p:spPr>
            <a:xfrm>
              <a:off x="5598795" y="520446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5495925"/>
              <a:ext cx="200026" cy="200025"/>
              <a:chOff x="5803583" y="549592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803583" y="54959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43321" y="55403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78037" y="56515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525" y="5353050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第四部分的性能公式会把这些因素落到三个量上：指令数、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CPI、时钟周期。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八个伟大思想：计算机设计中反复使用的方法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33400" y="1524000"/>
            <a:ext cx="11125200" cy="4266248"/>
            <a:chOff x="533400" y="1524000"/>
            <a:chExt cx="11125200" cy="42662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29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786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86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4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297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7483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面向摩尔定律的设计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3966" y="2108359"/>
              <a:ext cx="5052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设计要花好几年，要按项目完成时的工艺水平来设计，而不是按开始时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656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预估几年后芯片上可用的晶体管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97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97483" y="27836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使用抽象简化设计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33966" y="27836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用层次化的模型描述系统，低层细节对高层隐藏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6566" y="27836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高级语言、指令集体系结构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297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7483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加速大概率事件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33966" y="323230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优化常见情况比优化罕见情况更能提高整体性能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6566" y="3232309"/>
              <a:ext cx="2008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定律（第六部分）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297" y="36809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7483" y="36809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通过并行提高性能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33966" y="36809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多个部件同时处理多项工作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96566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多核处理器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297" y="4130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97483" y="41305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通过流水线提高性能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33966" y="413051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把工作分成若干阶段，各阶段像流水线一样重叠进行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6566" y="4130516"/>
              <a:ext cx="884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 CPU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297" y="45791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97483" y="45791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通过预测提高性能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33966" y="457914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先按猜测执行；猜对的概率高且猜错后恢复代价不大时，平均更快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96566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887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5297" y="50277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97483" y="50277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存储器层次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33966" y="502777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快、小、每位贵的存储器在上层，慢、大、每位便宜的在下层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96566" y="5027771"/>
              <a:ext cx="1526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Cache、主存、磁盘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336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3416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297" y="54763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97483" y="547639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通过冗余提高可靠性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33966" y="547639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配备冗余部件，某个部件失效时由冗余部件接替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96566" y="54763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磁盘阵列、双电源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11125200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84898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42138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98398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计算机革命与八个伟大思想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流水线和存储器层次：两个思想的直观例子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065520" cy="2246472"/>
            <a:chOff x="527685" y="1524000"/>
            <a:chExt cx="6065520" cy="22464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771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时间单位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63875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352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03165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281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455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215074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54505" y="2021205"/>
              <a:ext cx="950595" cy="46863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21218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90862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93795" y="2021205"/>
              <a:ext cx="95059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60507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263842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24150" y="2508885"/>
              <a:ext cx="950595" cy="46863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90862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0507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63440" y="2508885"/>
              <a:ext cx="95059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0152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312610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93795" y="2996565"/>
              <a:ext cx="950595" cy="46863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60507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30152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633085" y="2996565"/>
              <a:ext cx="95059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99798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059805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4021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09862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67950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49152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1879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3550444"/>
              <a:ext cx="4451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例：洗 3 批衣服，每批要洗、烘、叠 3 个阶段，各占 1 个时间单位</a:t>
              </a:r>
            </a:p>
          </p:txBody>
        </p:sp>
      </p:grpSp>
      <p:grpSp>
        <p:nvGrpSpPr>
          <p:cNvPr id="48" name="c1-callout-2"/>
          <p:cNvGrpSpPr/>
          <p:nvPr/>
        </p:nvGrpSpPr>
        <p:grpSpPr>
          <a:xfrm>
            <a:off x="533400" y="3916680"/>
            <a:ext cx="6059805" cy="1059180"/>
            <a:chOff x="533400" y="3916680"/>
            <a:chExt cx="6059805" cy="1059180"/>
          </a:xfrm>
        </p:grpSpPr>
        <p:sp>
          <p:nvSpPr>
            <p:cNvPr id="43" name="Rectangle 43"/>
            <p:cNvSpPr/>
            <p:nvPr/>
          </p:nvSpPr>
          <p:spPr>
            <a:xfrm>
              <a:off x="533400" y="391668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4346258"/>
              <a:ext cx="200026" cy="200026"/>
              <a:chOff x="738188" y="434625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4346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4863" y="44240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4065270"/>
              <a:ext cx="4939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流水线方式 5 个时间单位做完；一批做完再做下一批要 3 ×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 = 9 个。每批本身没有变快，变快的是单位时间完成的批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5166360"/>
            <a:ext cx="6059805" cy="782955"/>
            <a:chOff x="533400" y="5166360"/>
            <a:chExt cx="6059805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16636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457825"/>
              <a:ext cx="200026" cy="200025"/>
              <a:chOff x="738188" y="545782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457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5502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5613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314950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各阶段耗时不同时，流水线的节拍由最慢的阶段决定。第4章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的流水线 CPU 也要尽量让各阶段耗时相近。</a:t>
              </a:r>
            </a:p>
          </p:txBody>
        </p:sp>
      </p:grpSp>
      <p:grpSp>
        <p:nvGrpSpPr>
          <p:cNvPr id="66" name="c2-flow-1"/>
          <p:cNvGrpSpPr/>
          <p:nvPr/>
        </p:nvGrpSpPr>
        <p:grpSpPr>
          <a:xfrm>
            <a:off x="7230428" y="1781175"/>
            <a:ext cx="4094798" cy="2439352"/>
            <a:chOff x="7230428" y="1781175"/>
            <a:chExt cx="4094798" cy="2439352"/>
          </a:xfrm>
        </p:grpSpPr>
        <p:sp>
          <p:nvSpPr>
            <p:cNvPr id="56" name="Freeform 56"/>
            <p:cNvSpPr/>
            <p:nvPr/>
          </p:nvSpPr>
          <p:spPr>
            <a:xfrm>
              <a:off x="9278302" y="22193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25915" y="2628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278302" y="317182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225915" y="3486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230428" y="1781175"/>
              <a:ext cx="409479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30428" y="2733675"/>
              <a:ext cx="409479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30428" y="3590925"/>
              <a:ext cx="4094798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21379" y="1911191"/>
              <a:ext cx="3513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Cache（SRAM）：最快、容量最小、每位最贵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08718" y="2863691"/>
              <a:ext cx="1139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主存（DRAM）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64946" y="3706654"/>
              <a:ext cx="34267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二级存储（闪存、磁盘）：最慢、容量最大、每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位最便宜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6898005" y="4572000"/>
            <a:ext cx="4760595" cy="1377315"/>
            <a:chOff x="6898005" y="4572000"/>
            <a:chExt cx="4760595" cy="1377315"/>
          </a:xfrm>
        </p:grpSpPr>
        <p:sp>
          <p:nvSpPr>
            <p:cNvPr id="67" name="Rectangle 67"/>
            <p:cNvSpPr/>
            <p:nvPr/>
          </p:nvSpPr>
          <p:spPr>
            <a:xfrm>
              <a:off x="6898005" y="4572000"/>
              <a:ext cx="4760595" cy="1377315"/>
            </a:xfrm>
            <a:prstGeom prst="roundRect">
              <a:avLst>
                <a:gd name="adj" fmla="val 82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102793" y="5160645"/>
              <a:ext cx="200026" cy="200025"/>
              <a:chOff x="7102793" y="516064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102793" y="51606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42531" y="52050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177247" y="53162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4735" y="4879658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把常用的数据放在上层，平均访问速度接近最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快的一层，每位的平均价格接近最便宜的一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程序之下与计算机部件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高级语言程序怎样变成硬件动作，硬件又由哪些部分组成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程序之下：软件层次与三级语言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35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五大部件、I/O 设备与处理器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48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抽象：ISA 与 ABI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数据存储与网络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程序之下：应用软件、系统软件、硬件三个层次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graph-1"/>
          <p:cNvGrpSpPr/>
          <p:nvPr/>
        </p:nvGrpSpPr>
        <p:grpSpPr>
          <a:xfrm>
            <a:off x="1091565" y="1863566"/>
            <a:ext cx="3429000" cy="3545681"/>
            <a:chOff x="1091565" y="1863566"/>
            <a:chExt cx="3429000" cy="3545681"/>
          </a:xfrm>
        </p:grpSpPr>
        <p:sp>
          <p:nvSpPr>
            <p:cNvPr id="7" name="Ellipse 7"/>
            <p:cNvSpPr/>
            <p:nvPr/>
          </p:nvSpPr>
          <p:spPr>
            <a:xfrm>
              <a:off x="1091565" y="1980247"/>
              <a:ext cx="3429000" cy="34290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682115" y="2570798"/>
              <a:ext cx="2247900" cy="2247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272665" y="3161348"/>
              <a:ext cx="1066800" cy="1066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38425" y="36204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54961" y="1863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应用软件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4961" y="26017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系统软件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5374958" y="1548765"/>
            <a:ext cx="6283642" cy="1895475"/>
            <a:chOff x="5374958" y="1548765"/>
            <a:chExt cx="6283642" cy="1895475"/>
          </a:xfrm>
        </p:grpSpPr>
        <p:sp>
          <p:nvSpPr>
            <p:cNvPr id="14" name="TextBox 14"/>
            <p:cNvSpPr txBox="1"/>
            <p:nvPr/>
          </p:nvSpPr>
          <p:spPr>
            <a:xfrm>
              <a:off x="537495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应用软件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6992" y="154876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用高级语言编写的程序，如浏览器、文字处理软件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82578" y="18688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74958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编译程序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992" y="198882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属于系统软件，把高级语言程序翻译成机器语言（指令）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82578" y="23088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4958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6992" y="2428875"/>
              <a:ext cx="477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属于系统软件，提供各种服务和监控：处理基本的输入输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出、分配外存和内存、让多个程序安全地共享计算机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2578" y="30308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74958" y="31508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6992" y="31508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处理器、存储器、输入和输出设备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5382578" y="3575685"/>
            <a:ext cx="6276022" cy="1316355"/>
            <a:chOff x="5382578" y="3575685"/>
            <a:chExt cx="6276022" cy="1316355"/>
          </a:xfrm>
        </p:grpSpPr>
        <p:sp>
          <p:nvSpPr>
            <p:cNvPr id="26" name="Rectangle 26"/>
            <p:cNvSpPr/>
            <p:nvPr/>
          </p:nvSpPr>
          <p:spPr>
            <a:xfrm>
              <a:off x="5382578" y="3575685"/>
              <a:ext cx="6276022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92128" y="37852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70486" y="38209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这就是抽象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4508" y="416242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复杂的高层操作经过几个软件层次，被逐步解释或翻译成简单的计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算机指令。每一层只需要知道下一层提供的接口。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5382578" y="5082540"/>
            <a:ext cx="6276022" cy="782955"/>
            <a:chOff x="5382578" y="5082540"/>
            <a:chExt cx="6276022" cy="782955"/>
          </a:xfrm>
        </p:grpSpPr>
        <p:sp>
          <p:nvSpPr>
            <p:cNvPr id="31" name="Rectangle 31"/>
            <p:cNvSpPr/>
            <p:nvPr/>
          </p:nvSpPr>
          <p:spPr>
            <a:xfrm>
              <a:off x="5382578" y="508254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587365" y="5374005"/>
              <a:ext cx="200026" cy="200025"/>
              <a:chOff x="5587365" y="537400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587365" y="53740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627104" y="54184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661819" y="55295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889308" y="5231130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例：浏览器（应用软件）要发送网页请求时，调用操作系统提供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的网络服务，操作系统再指挥网卡等硬件把数据发出去。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三级程序语言：高级语言、汇编语言、机器语言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492240" cy="3017520"/>
            <a:chOff x="533400" y="1524000"/>
            <a:chExt cx="6492240" cy="3017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73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602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2826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4174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8797" y="228409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接近问题的语句，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C、Java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6660" y="2150745"/>
              <a:ext cx="2872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抽象级别最接近问题领域；程序员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效率高；换一种机器重新编译即可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运行，可移植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279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3276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305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8797" y="317182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指令的文本表示，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用助记符书写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56660" y="317182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与机器指令基本一一对应，便于人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阅读和书写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823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40595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机器语言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8797" y="40595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二进制数字（位）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6660" y="392620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指令和数据都用二进制编码，硬件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可以直接执行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492240" cy="3017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97355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45218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732020"/>
            <a:ext cx="6492240" cy="792480"/>
            <a:chOff x="533400" y="4732020"/>
            <a:chExt cx="6492240" cy="792480"/>
          </a:xfrm>
        </p:grpSpPr>
        <p:sp>
          <p:nvSpPr>
            <p:cNvPr id="27" name="Rectangle 27"/>
            <p:cNvSpPr/>
            <p:nvPr/>
          </p:nvSpPr>
          <p:spPr>
            <a:xfrm>
              <a:off x="533400" y="4732020"/>
              <a:ext cx="6492240" cy="792480"/>
            </a:xfrm>
            <a:prstGeom prst="roundRect">
              <a:avLst>
                <a:gd name="adj" fmla="val 144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028248"/>
              <a:ext cx="200026" cy="200026"/>
              <a:chOff x="738188" y="502824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282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094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1282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85372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存储器里的一串二进制位，单看它分不出是指令还是数据：指令与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数据都是二进制的。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7633335" y="1704975"/>
            <a:ext cx="3722370" cy="3638550"/>
            <a:chOff x="7633335" y="1704975"/>
            <a:chExt cx="3722370" cy="3638550"/>
          </a:xfrm>
        </p:grpSpPr>
        <p:sp>
          <p:nvSpPr>
            <p:cNvPr id="34" name="Freeform 34"/>
            <p:cNvSpPr/>
            <p:nvPr/>
          </p:nvSpPr>
          <p:spPr>
            <a:xfrm>
              <a:off x="9494520" y="21431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42132" y="2400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494520" y="29432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42132" y="3200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494520" y="37433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442132" y="4000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494520" y="45434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442132" y="48006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33335" y="170497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33335" y="2505075"/>
              <a:ext cx="372237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33335" y="330517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33335" y="4105275"/>
              <a:ext cx="372237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633335" y="4905375"/>
              <a:ext cx="3722370" cy="438150"/>
            </a:xfrm>
            <a:custGeom>
              <a:avLst/>
              <a:gdLst/>
              <a:ahLst/>
              <a:cxnLst/>
              <a:rect l="l" t="t" r="r" b="b"/>
              <a:pathLst>
                <a:path w="3722370" h="438150">
                  <a:moveTo>
                    <a:pt x="133350" y="0"/>
                  </a:moveTo>
                  <a:lnTo>
                    <a:pt x="3722370" y="0"/>
                  </a:lnTo>
                  <a:lnTo>
                    <a:pt x="358902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48720" y="1834991"/>
              <a:ext cx="1491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高级语言程序（C）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9573" y="26350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3066" y="3435191"/>
              <a:ext cx="17829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汇编语言程序（MIPS）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29573" y="42352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汇编器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12632" y="50353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二进制机器语言程序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88639" cy="909257"/>
            <a:chOff x="520446" y="342900"/>
            <a:chExt cx="40886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886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例：swap 过程的三种表示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719262"/>
            <a:chOff x="533400" y="1524000"/>
            <a:chExt cx="4760595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45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高级语言程序（C）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57607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swap(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temp;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temp = v[k];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v[k] = v[k+1];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v[k+1] = temp;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433762"/>
            <a:ext cx="4760595" cy="1922145"/>
            <a:chOff x="533400" y="3433762"/>
            <a:chExt cx="4760595" cy="1922145"/>
          </a:xfrm>
        </p:grpSpPr>
        <p:sp>
          <p:nvSpPr>
            <p:cNvPr id="11" name="Rectangle 11"/>
            <p:cNvSpPr/>
            <p:nvPr/>
          </p:nvSpPr>
          <p:spPr>
            <a:xfrm>
              <a:off x="533400" y="3433762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85686"/>
              <a:ext cx="24196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汇编语言程序（MIPS）：$4 = v，$5 = 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848576"/>
              <a:ext cx="3176270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swap: sll $2, $5, 2    # $2 = k × 4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add $2, $4, $2   # $2 = v[k] 的地址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lw  $15, 0($2)   # $15 = v[k]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lw  $16, 4($2)   # $16 = v[k+1]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sw  $16, 0($2)   # v[k] = $16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sw  $15, 4($2)   # v[k+1] = $15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jr  $31          # 返回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5598795" y="1524000"/>
            <a:ext cx="6059805" cy="1922145"/>
            <a:chOff x="5598795" y="1524000"/>
            <a:chExt cx="6059805" cy="1922145"/>
          </a:xfrm>
        </p:grpSpPr>
        <p:sp>
          <p:nvSpPr>
            <p:cNvPr id="15" name="Rectangle 15"/>
            <p:cNvSpPr/>
            <p:nvPr/>
          </p:nvSpPr>
          <p:spPr>
            <a:xfrm>
              <a:off x="5598795" y="1524000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27192" y="16759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机器语言程序（按字段分开，右列为十六进制）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6430" y="1937861"/>
              <a:ext cx="376656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000000 00000 00101 00010 00010 000000   00051080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000000 00100 00010 00010 00000 100000   00821020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100011 00010 01111 0000000000000000     8C4F0000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100011 00010 10000 0000000000000100     8C500004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101011 00010 10000 0000000000000000     AC500000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101011 00010 01111 0000000000000100     AC4F0004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000000 11111 00000 00000 00000 001000   03E00008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5598795" y="3636645"/>
            <a:ext cx="6059805" cy="2133600"/>
            <a:chOff x="5598795" y="3636645"/>
            <a:chExt cx="6059805" cy="2133600"/>
          </a:xfrm>
        </p:grpSpPr>
        <p:sp>
          <p:nvSpPr>
            <p:cNvPr id="19" name="Rectangle 19"/>
            <p:cNvSpPr/>
            <p:nvPr/>
          </p:nvSpPr>
          <p:spPr>
            <a:xfrm>
              <a:off x="5598795" y="3636645"/>
              <a:ext cx="6059805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608320" y="3769995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46445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37606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8825" y="4223385"/>
              <a:ext cx="5263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原课件（取自教材插图）第一条写作 muli $2, $5, 4，MIPS 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有这条指令；下方 7 行二进制除 jr $31 外，寄存器字段都和汇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编指令对不上。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9968" y="5126831"/>
              <a:ext cx="5296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这里用 sll $2, $5, 2（左移 2 位即乘 4）实现 k × 4，并按 R 型、I 型格式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重新编码。编码规则见第2章。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五大部件：输入、输出、存储器、数据通路、控制器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741045" y="1636395"/>
            <a:ext cx="5129213" cy="3870007"/>
            <a:chOff x="741045" y="1636395"/>
            <a:chExt cx="5129213" cy="3870007"/>
          </a:xfrm>
        </p:grpSpPr>
        <p:sp>
          <p:nvSpPr>
            <p:cNvPr id="7" name="Freeform 7"/>
            <p:cNvSpPr/>
            <p:nvPr/>
          </p:nvSpPr>
          <p:spPr>
            <a:xfrm>
              <a:off x="1507808" y="2845118"/>
              <a:ext cx="1019175" cy="669608"/>
            </a:xfrm>
            <a:custGeom>
              <a:avLst/>
              <a:gdLst/>
              <a:ahLst/>
              <a:cxnLst/>
              <a:rect l="l" t="t" r="r" b="b"/>
              <a:pathLst>
                <a:path w="1019175" h="669608">
                  <a:moveTo>
                    <a:pt x="0" y="0"/>
                  </a:moveTo>
                  <a:lnTo>
                    <a:pt x="1019175" y="669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00312" y="3475672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79058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87818" y="4319588"/>
              <a:ext cx="1018223" cy="669607"/>
            </a:xfrm>
            <a:custGeom>
              <a:avLst/>
              <a:gdLst/>
              <a:ahLst/>
              <a:cxnLst/>
              <a:rect l="l" t="t" r="r" b="b"/>
              <a:pathLst>
                <a:path w="1018223" h="669607">
                  <a:moveTo>
                    <a:pt x="1018223" y="0"/>
                  </a:moveTo>
                  <a:lnTo>
                    <a:pt x="0" y="6696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07808" y="4949190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0" y="92392"/>
                  </a:moveTo>
                  <a:lnTo>
                    <a:pt x="53340" y="0"/>
                  </a:lnTo>
                  <a:lnTo>
                    <a:pt x="105727" y="800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49040" y="3040380"/>
              <a:ext cx="882967" cy="547688"/>
            </a:xfrm>
            <a:custGeom>
              <a:avLst/>
              <a:gdLst/>
              <a:ahLst/>
              <a:cxnLst/>
              <a:rect l="l" t="t" r="r" b="b"/>
              <a:pathLst>
                <a:path w="882967" h="547688">
                  <a:moveTo>
                    <a:pt x="0" y="547688"/>
                  </a:moveTo>
                  <a:lnTo>
                    <a:pt x="8829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06290" y="2989898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50482" y="90488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30002" y="4348162"/>
              <a:ext cx="802005" cy="498158"/>
            </a:xfrm>
            <a:custGeom>
              <a:avLst/>
              <a:gdLst/>
              <a:ahLst/>
              <a:cxnLst/>
              <a:rect l="l" t="t" r="r" b="b"/>
              <a:pathLst>
                <a:path w="802005" h="498158">
                  <a:moveTo>
                    <a:pt x="802005" y="4981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49040" y="429863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0"/>
                  </a:moveTo>
                  <a:lnTo>
                    <a:pt x="106680" y="9525"/>
                  </a:lnTo>
                  <a:lnTo>
                    <a:pt x="5619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606290" y="480631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203508" y="2989898"/>
              <a:ext cx="9525" cy="1811655"/>
            </a:xfrm>
            <a:custGeom>
              <a:avLst/>
              <a:gdLst/>
              <a:ahLst/>
              <a:cxnLst/>
              <a:rect l="l" t="t" r="r" b="b"/>
              <a:pathLst>
                <a:path w="9525" h="1811655">
                  <a:moveTo>
                    <a:pt x="0" y="0"/>
                  </a:moveTo>
                  <a:lnTo>
                    <a:pt x="0" y="181165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155882" y="4801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1045" y="2525078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1045" y="5041582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06040" y="3133725"/>
              <a:ext cx="1143000" cy="1619250"/>
            </a:xfrm>
            <a:prstGeom prst="roundRect">
              <a:avLst>
                <a:gd name="adj" fmla="val 8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36758" y="2380298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6758" y="4896802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7280" y="26108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7280" y="51263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29128" y="38690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55095" y="26108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74324" y="51263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07832" y="3113722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22628" y="31484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程序和数据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894522" y="458724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20519" y="46220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68128" y="319659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94124" y="32313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68128" y="450437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94124" y="45391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16805" y="385000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34699" y="38847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控制信号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5693" y="1636395"/>
              <a:ext cx="1115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处理器（CPU）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1898332"/>
            <a:chOff x="6464618" y="1524000"/>
            <a:chExt cx="5193982" cy="1898332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1733550"/>
              <a:ext cx="129254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66921" y="1769269"/>
              <a:ext cx="118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The BIG Picture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4648" y="211074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所有种类的计算机（桌面计算机、服务器、嵌入式计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算机）都由相同的五大部件组成（冯·诺依曼结构）。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数据通路和控制器合称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处理器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5791" y="3014186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数据通路负责算术运算，相当于常说的“运算器”。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464618" y="3612832"/>
            <a:ext cx="5193982" cy="1795462"/>
            <a:chOff x="6464618" y="3612832"/>
            <a:chExt cx="5193982" cy="1795462"/>
          </a:xfrm>
        </p:grpSpPr>
        <p:sp>
          <p:nvSpPr>
            <p:cNvPr id="47" name="Rectangle 47"/>
            <p:cNvSpPr/>
            <p:nvPr/>
          </p:nvSpPr>
          <p:spPr>
            <a:xfrm>
              <a:off x="6464618" y="3612832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555" y="37485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输入输出设备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17697" y="37485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2441" y="41971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用户界面设备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42198" y="41971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显示器、键盘、鼠标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45062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4618" y="451104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2441" y="46458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存储设备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42198" y="4645819"/>
              <a:ext cx="2130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硬盘、CD/DVD、闪存 flash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9549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2441" y="50944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网络适配器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42198" y="50944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与其他计算机通信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3612832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29612" y="361283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显示器与触摸屏：最常见的输出和输入设备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2272665"/>
            <a:chOff x="533400" y="1524000"/>
            <a:chExt cx="5951220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1158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7" y="1769269"/>
              <a:ext cx="1091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LCD 液晶显示器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屏幕由大量图像元素（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像素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）组成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5073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图像以位矩阵的形式存放在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帧缓冲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（frame buffer）中，每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个像素对应一组二进制位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显示器按刷新频率不断读出帧缓冲中的位，把图像显示到屏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幕上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27685" y="3987165"/>
            <a:ext cx="5956935" cy="1642587"/>
            <a:chOff x="527685" y="3987165"/>
            <a:chExt cx="5956935" cy="1642587"/>
          </a:xfrm>
        </p:grpSpPr>
        <p:sp>
          <p:nvSpPr>
            <p:cNvPr id="18" name="Rectangle 18"/>
            <p:cNvSpPr/>
            <p:nvPr/>
          </p:nvSpPr>
          <p:spPr>
            <a:xfrm>
              <a:off x="533400" y="3987165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7643" y="41228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像素坐标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6085" y="41228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帧缓冲中存的位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1552" y="412289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屏幕上的效果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5592" y="4571524"/>
              <a:ext cx="80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(X0, Y0)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7024" y="457152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4096" y="45715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较浅的点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796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88442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5592" y="5020151"/>
              <a:ext cx="80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(X1, Y1)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27024" y="50201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4096" y="50201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较深的点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87165"/>
              <a:ext cx="595122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80285" y="39871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61510" y="39871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685" y="540972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原课件插图中的例子：两个像素存的位不同，显示深浅不同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789420" y="1524000"/>
            <a:ext cx="4869180" cy="2322195"/>
            <a:chOff x="6789420" y="1524000"/>
            <a:chExt cx="4869180" cy="2322195"/>
          </a:xfrm>
        </p:grpSpPr>
        <p:sp>
          <p:nvSpPr>
            <p:cNvPr id="35" name="Rectangle 35"/>
            <p:cNvSpPr/>
            <p:nvPr/>
          </p:nvSpPr>
          <p:spPr>
            <a:xfrm>
              <a:off x="6789420" y="1524000"/>
              <a:ext cx="4869180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9894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3707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332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触摸屏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0900" y="211074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PC 时代设备（平板电脑、智能手机）用它代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替键盘和鼠标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278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0900" y="27317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通常采用电阻感应或电容感应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30670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许多平板和智能手机采用电容感应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42785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0900" y="34023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电容感应允许同时接触多个点（多点触摸）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789420" y="4036695"/>
            <a:ext cx="4869180" cy="1548765"/>
            <a:chOff x="6789420" y="4036695"/>
            <a:chExt cx="4869180" cy="1548765"/>
          </a:xfrm>
        </p:grpSpPr>
        <p:sp>
          <p:nvSpPr>
            <p:cNvPr id="48" name="Rectangle 48"/>
            <p:cNvSpPr/>
            <p:nvPr/>
          </p:nvSpPr>
          <p:spPr>
            <a:xfrm>
              <a:off x="6789420" y="4036695"/>
              <a:ext cx="4869180" cy="1548765"/>
            </a:xfrm>
            <a:prstGeom prst="roundRect">
              <a:avLst>
                <a:gd name="adj" fmla="val 738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94208" y="4711065"/>
              <a:ext cx="200026" cy="200026"/>
              <a:chOff x="6994208" y="471106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994208" y="47110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094220" y="4777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83108" y="48110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296150" y="4430078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电容感应的原理：人体是导体，手指碰到覆盖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透明导体的玻璃时，会改变该处的电容，控制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电路据此算出触点位置。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78472" cy="909257"/>
            <a:chOff x="520446" y="342900"/>
            <a:chExt cx="5278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78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 iPad 2：五大部件分别在哪里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6065520" cy="3046572"/>
            <a:chOff x="527685" y="1524000"/>
            <a:chExt cx="6065520" cy="30465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0608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拆出的部件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8340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电容式多点触摸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LCD 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00338" y="2150745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既显示图像（输出），又接收手指触摸（输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61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76606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905125"/>
              <a:ext cx="149733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电池（3.8 V，25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00338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为整机供电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5156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659505"/>
              <a:ext cx="150685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主板（Computer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board）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00338" y="3659505"/>
              <a:ext cx="3577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上面有 A5 处理器芯片、存储芯片和各种接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口芯片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88895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435054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原课件的拆机照片中标出的三类部件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716780"/>
            <a:ext cx="6059805" cy="782955"/>
            <a:chOff x="533400" y="4716780"/>
            <a:chExt cx="6059805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71678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008245"/>
              <a:ext cx="200026" cy="200025"/>
              <a:chOff x="738188" y="500824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0082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0526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1638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865370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手机、PC、服务器、嵌入式计算机外形差别很大，拆开后都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能找到这五类部件。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7325678" y="1771650"/>
            <a:ext cx="3932872" cy="3639979"/>
            <a:chOff x="7325678" y="1771650"/>
            <a:chExt cx="3932872" cy="3639979"/>
          </a:xfrm>
        </p:grpSpPr>
        <p:sp>
          <p:nvSpPr>
            <p:cNvPr id="30" name="Freeform 30"/>
            <p:cNvSpPr/>
            <p:nvPr/>
          </p:nvSpPr>
          <p:spPr>
            <a:xfrm>
              <a:off x="8754428" y="2034540"/>
              <a:ext cx="1496378" cy="237173"/>
            </a:xfrm>
            <a:custGeom>
              <a:avLst/>
              <a:gdLst/>
              <a:ahLst/>
              <a:cxnLst/>
              <a:rect l="l" t="t" r="r" b="b"/>
              <a:pathLst>
                <a:path w="1496378" h="237173">
                  <a:moveTo>
                    <a:pt x="0" y="0"/>
                  </a:moveTo>
                  <a:lnTo>
                    <a:pt x="1496378" y="2371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243185" y="222408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62865"/>
                  </a:moveTo>
                  <a:lnTo>
                    <a:pt x="0" y="94298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356282" y="2071688"/>
              <a:ext cx="2043112" cy="970597"/>
            </a:xfrm>
            <a:custGeom>
              <a:avLst/>
              <a:gdLst/>
              <a:ahLst/>
              <a:cxnLst/>
              <a:rect l="l" t="t" r="r" b="b"/>
              <a:pathLst>
                <a:path w="2043112" h="970597">
                  <a:moveTo>
                    <a:pt x="0" y="0"/>
                  </a:moveTo>
                  <a:lnTo>
                    <a:pt x="2043112" y="9705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379392" y="299942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3820"/>
                  </a:moveTo>
                  <a:lnTo>
                    <a:pt x="0" y="86678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754428" y="2446020"/>
              <a:ext cx="1496378" cy="237172"/>
            </a:xfrm>
            <a:custGeom>
              <a:avLst/>
              <a:gdLst/>
              <a:ahLst/>
              <a:cxnLst/>
              <a:rect l="l" t="t" r="r" b="b"/>
              <a:pathLst>
                <a:path w="1496378" h="237172">
                  <a:moveTo>
                    <a:pt x="0" y="237172"/>
                  </a:moveTo>
                  <a:lnTo>
                    <a:pt x="14963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243185" y="239934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2385"/>
                  </a:moveTo>
                  <a:lnTo>
                    <a:pt x="14288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754428" y="3320415"/>
              <a:ext cx="1496378" cy="237172"/>
            </a:xfrm>
            <a:custGeom>
              <a:avLst/>
              <a:gdLst/>
              <a:ahLst/>
              <a:cxnLst/>
              <a:rect l="l" t="t" r="r" b="b"/>
              <a:pathLst>
                <a:path w="1496378" h="237172">
                  <a:moveTo>
                    <a:pt x="0" y="237172"/>
                  </a:moveTo>
                  <a:lnTo>
                    <a:pt x="14963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243185" y="3273742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2385"/>
                  </a:moveTo>
                  <a:lnTo>
                    <a:pt x="14288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754428" y="4545330"/>
              <a:ext cx="1494472" cy="9525"/>
            </a:xfrm>
            <a:custGeom>
              <a:avLst/>
              <a:gdLst/>
              <a:ahLst/>
              <a:cxnLst/>
              <a:rect l="l" t="t" r="r" b="b"/>
              <a:pathLst>
                <a:path w="1494472" h="9525">
                  <a:moveTo>
                    <a:pt x="0" y="0"/>
                  </a:moveTo>
                  <a:lnTo>
                    <a:pt x="14944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248900" y="4497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754428" y="5261610"/>
              <a:ext cx="1494472" cy="9525"/>
            </a:xfrm>
            <a:custGeom>
              <a:avLst/>
              <a:gdLst/>
              <a:ahLst/>
              <a:cxnLst/>
              <a:rect l="l" t="t" r="r" b="b"/>
              <a:pathLst>
                <a:path w="1494472" h="9525">
                  <a:moveTo>
                    <a:pt x="0" y="0"/>
                  </a:moveTo>
                  <a:lnTo>
                    <a:pt x="14944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48900" y="5213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325678" y="177165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25678" y="2646045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25678" y="352044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25678" y="4395788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25678" y="5111115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44150" y="2208848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344150" y="3083242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344150" y="4395788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344150" y="5111115"/>
              <a:ext cx="91440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08176" y="18511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触摸屏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6627" y="27265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摄像头、麦克风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08176" y="36009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扬声器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66471" y="4475321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A5 芯片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06627" y="51916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闪存等存储芯片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44861" y="22893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44861" y="31637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69473" y="44753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69473" y="51916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处理器内部：数据通路、控制器和 Cache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417820" cy="1737360"/>
            <a:chOff x="525780" y="1548765"/>
            <a:chExt cx="5417820" cy="173736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32622" y="154876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完成算术运算，数据在其中传送和处理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2622" y="198882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按照程序的指令，指挥数据通路、存储器和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设备正确执行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高速缓冲存储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器 Cache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2622" y="271081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小而快的 SRAM 存储器，作为主存的缓冲，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存放马上要用的数据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7570"/>
            <a:ext cx="5410200" cy="2785110"/>
            <a:chOff x="533400" y="3417570"/>
            <a:chExt cx="5410200" cy="2785110"/>
          </a:xfrm>
        </p:grpSpPr>
        <p:sp>
          <p:nvSpPr>
            <p:cNvPr id="16" name="Rectangle 16"/>
            <p:cNvSpPr/>
            <p:nvPr/>
          </p:nvSpPr>
          <p:spPr>
            <a:xfrm>
              <a:off x="533400" y="3417570"/>
              <a:ext cx="5410200" cy="2785110"/>
            </a:xfrm>
            <a:prstGeom prst="roundRect">
              <a:avLst>
                <a:gd name="adj" fmla="val 47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550920"/>
              <a:ext cx="47625" cy="25184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627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3662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2078" y="3662362"/>
              <a:ext cx="3481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内部构成对程序设计有什么影响？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02336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容量小。程序访问的数据集中、连续时，大部分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访问在 Cache 里完成，程序就快；若频繁跳着访问大量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数据，就常常要去更慢的主存里取。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26806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第5章讲存储器层次时具体分析。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6764655" y="1562100"/>
            <a:ext cx="4671060" cy="3225165"/>
            <a:chOff x="6764655" y="1562100"/>
            <a:chExt cx="4671060" cy="3225165"/>
          </a:xfrm>
        </p:grpSpPr>
        <p:sp>
          <p:nvSpPr>
            <p:cNvPr id="24" name="Rectangle 24"/>
            <p:cNvSpPr/>
            <p:nvPr/>
          </p:nvSpPr>
          <p:spPr>
            <a:xfrm>
              <a:off x="7456170" y="1562100"/>
              <a:ext cx="1047750" cy="266700"/>
            </a:xfrm>
            <a:prstGeom prst="roundRect">
              <a:avLst>
                <a:gd name="adj" fmla="val 1428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64655" y="1971675"/>
              <a:ext cx="914400" cy="476250"/>
            </a:xfrm>
            <a:prstGeom prst="roundRect">
              <a:avLst>
                <a:gd name="adj" fmla="val 800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71498" y="1971675"/>
              <a:ext cx="914400" cy="476250"/>
            </a:xfrm>
            <a:prstGeom prst="roundRect">
              <a:avLst>
                <a:gd name="adj" fmla="val 800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64655" y="2554605"/>
              <a:ext cx="914400" cy="476250"/>
            </a:xfrm>
            <a:prstGeom prst="roundRect">
              <a:avLst>
                <a:gd name="adj" fmla="val 800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71498" y="2554605"/>
              <a:ext cx="914400" cy="476250"/>
            </a:xfrm>
            <a:prstGeom prst="roundRect">
              <a:avLst>
                <a:gd name="adj" fmla="val 800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64655" y="3316605"/>
              <a:ext cx="914400" cy="666750"/>
            </a:xfrm>
            <a:prstGeom prst="roundRect">
              <a:avLst>
                <a:gd name="adj" fmla="val 57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71498" y="3316605"/>
              <a:ext cx="914400" cy="666750"/>
            </a:xfrm>
            <a:prstGeom prst="roundRect">
              <a:avLst>
                <a:gd name="adj" fmla="val 57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82752" y="4501515"/>
              <a:ext cx="2286000" cy="285750"/>
            </a:xfrm>
            <a:prstGeom prst="roundRect">
              <a:avLst>
                <a:gd name="adj" fmla="val 133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2738" y="1903095"/>
              <a:ext cx="857250" cy="476250"/>
            </a:xfrm>
            <a:prstGeom prst="roundRect">
              <a:avLst>
                <a:gd name="adj" fmla="val 8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721215" y="2781300"/>
              <a:ext cx="952500" cy="571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1016615" y="2781300"/>
              <a:ext cx="419100" cy="571500"/>
            </a:xfrm>
            <a:prstGeom prst="roundRect">
              <a:avLst>
                <a:gd name="adj" fmla="val 909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862185" y="4029075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45335" y="16297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USB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3819" y="2144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40662" y="2144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33819" y="27270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0662" y="27270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数据通路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7264" y="3584258"/>
              <a:ext cx="489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ARM 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84107" y="3584258"/>
              <a:ext cx="489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ARM 核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59310" y="4578668"/>
              <a:ext cx="1532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DDR SDRAM 存储器接口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27447" y="2075498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GPIO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38754" y="30013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数字逻辑块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95375" y="3001328"/>
              <a:ext cx="261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02185" y="4201478"/>
              <a:ext cx="1148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视频、音频、WiFi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5143500"/>
            <a:ext cx="5410200" cy="1059180"/>
            <a:chOff x="6248400" y="5143500"/>
            <a:chExt cx="5410200" cy="1059180"/>
          </a:xfrm>
        </p:grpSpPr>
        <p:sp>
          <p:nvSpPr>
            <p:cNvPr id="49" name="Rectangle 49"/>
            <p:cNvSpPr/>
            <p:nvPr/>
          </p:nvSpPr>
          <p:spPr>
            <a:xfrm>
              <a:off x="6248400" y="514350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5573078"/>
              <a:ext cx="200026" cy="200025"/>
              <a:chOff x="6453188" y="557307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55730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92926" y="56175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27642" y="57286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5292090"/>
              <a:ext cx="4491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上图是 Apple A5 芯片的布局示意（按照片上的标注重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画，未按比例）：一块芯片集成了两个 ARM 核、4 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数据通路区域、存储器接口和多种 I/O 接口。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抽象：指令集体系结构是硬件和底层软件之间的接口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836295" y="1724025"/>
            <a:ext cx="3722370" cy="3790950"/>
            <a:chOff x="836295" y="1724025"/>
            <a:chExt cx="3722370" cy="3790950"/>
          </a:xfrm>
        </p:grpSpPr>
        <p:sp>
          <p:nvSpPr>
            <p:cNvPr id="7" name="Freeform 7"/>
            <p:cNvSpPr/>
            <p:nvPr/>
          </p:nvSpPr>
          <p:spPr>
            <a:xfrm>
              <a:off x="2697480" y="216217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97480" y="300037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97480" y="383857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97480" y="467677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6295" y="172402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6295" y="256222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6295" y="340042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6295" y="423862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6295" y="5076825"/>
              <a:ext cx="372237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46376" y="18540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30594" y="2692241"/>
              <a:ext cx="2533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ABI：用户指令集 + 操作系统接口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5592" y="35304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操作系统等系统软件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4302" y="4368641"/>
              <a:ext cx="1646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ISA：指令集体系结构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28" y="5206841"/>
              <a:ext cx="2558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硬件实现：处理器、存储器、I/O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166360" y="1524000"/>
            <a:ext cx="6492240" cy="1030605"/>
            <a:chOff x="5166360" y="1524000"/>
            <a:chExt cx="6492240" cy="1030605"/>
          </a:xfrm>
        </p:grpSpPr>
        <p:sp>
          <p:nvSpPr>
            <p:cNvPr id="22" name="Rectangle 22"/>
            <p:cNvSpPr/>
            <p:nvPr/>
          </p:nvSpPr>
          <p:spPr>
            <a:xfrm>
              <a:off x="5166360" y="1524000"/>
              <a:ext cx="649224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7588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14010" y="1733550"/>
              <a:ext cx="140493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5126" y="1769269"/>
              <a:ext cx="1283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抽象 Abstraction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06390" y="211074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用层次化的模型描述系统，掩盖底层的细节，便于构建复杂系统。</a:t>
              </a:r>
            </a:p>
          </p:txBody>
        </p:sp>
      </p:grpSp>
      <p:grpSp>
        <p:nvGrpSpPr>
          <p:cNvPr id="36" name="c2-kv-2"/>
          <p:cNvGrpSpPr/>
          <p:nvPr/>
        </p:nvGrpSpPr>
        <p:grpSpPr>
          <a:xfrm>
            <a:off x="5158740" y="2769870"/>
            <a:ext cx="6499860" cy="2019300"/>
            <a:chOff x="5158740" y="2769870"/>
            <a:chExt cx="6499860" cy="2019300"/>
          </a:xfrm>
        </p:grpSpPr>
        <p:sp>
          <p:nvSpPr>
            <p:cNvPr id="28" name="TextBox 28"/>
            <p:cNvSpPr txBox="1"/>
            <p:nvPr/>
          </p:nvSpPr>
          <p:spPr>
            <a:xfrm>
              <a:off x="5158740" y="2769870"/>
              <a:ext cx="180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指令集体系结构 ISA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6602" y="2769870"/>
              <a:ext cx="4206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硬件和底层软件之间的接口，包括写出能正确运行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的机器语言程序所需知道的一切：指令、I/O 设备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66360" y="36537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58740" y="3773805"/>
              <a:ext cx="180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应用二进制接口 ABI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06602" y="377380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基本指令集中用户可用的部分加上操作系统接口；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二进制程序在计算机之间可移植的标准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6360" y="4375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58740" y="44958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06602" y="44958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遵循体系结构抽象的硬件，以及相关的细节和接口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5166360" y="4920615"/>
            <a:ext cx="6492240" cy="794385"/>
            <a:chOff x="5166360" y="4920615"/>
            <a:chExt cx="6492240" cy="794385"/>
          </a:xfrm>
        </p:grpSpPr>
        <p:sp>
          <p:nvSpPr>
            <p:cNvPr id="37" name="Rectangle 37"/>
            <p:cNvSpPr/>
            <p:nvPr/>
          </p:nvSpPr>
          <p:spPr>
            <a:xfrm>
              <a:off x="5166360" y="4920615"/>
              <a:ext cx="6492240" cy="794385"/>
            </a:xfrm>
            <a:prstGeom prst="roundRect">
              <a:avLst>
                <a:gd name="adj" fmla="val 1438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371148" y="5217795"/>
              <a:ext cx="200026" cy="200025"/>
              <a:chOff x="5371148" y="521779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371148" y="5217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410886" y="5262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445602" y="5373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673090" y="5074920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同一种体系结构可以有多种实现，价格和性能不同，却能运行同样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的软件。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程序之下与计算机部件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数据存储与网络：断电后数据还在吗，计算机之间怎样通信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410200" cy="1800225"/>
            <a:chOff x="533400" y="1524000"/>
            <a:chExt cx="5410200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9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82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7570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断电后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主存储器（易失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4283" y="2221706"/>
              <a:ext cx="1817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DRAM；Cache 用 SRAM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4580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数据全部丢失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二级存储器（非易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失性）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2783681"/>
              <a:ext cx="13703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磁盘、闪存、光盘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（CD-ROM、DVD）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4580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数据保留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5169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3199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ompare-2"/>
          <p:cNvGrpSpPr/>
          <p:nvPr/>
        </p:nvGrpSpPr>
        <p:grpSpPr>
          <a:xfrm>
            <a:off x="533400" y="3514725"/>
            <a:ext cx="5410200" cy="1939290"/>
            <a:chOff x="533400" y="3514725"/>
            <a:chExt cx="5410200" cy="1939290"/>
          </a:xfrm>
        </p:grpSpPr>
        <p:sp>
          <p:nvSpPr>
            <p:cNvPr id="23" name="Rectangle 23"/>
            <p:cNvSpPr/>
            <p:nvPr/>
          </p:nvSpPr>
          <p:spPr>
            <a:xfrm>
              <a:off x="533400" y="3514725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64807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3430" y="37490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1662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10337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程序运行时存放程序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和数据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7872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72440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速度快、容量小、每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位价格高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48050" y="3514725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57575" y="364807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88080" y="37490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二级存储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701415" y="41662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59530" y="410337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两次运行之间长期保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701415" y="47872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59530" y="472440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速度慢、容量大、每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位价格低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076575" y="43224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46915" y="44186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811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127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063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2108359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局域网 LAN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7928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同一个建筑物内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18560" y="2108359"/>
              <a:ext cx="1345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以太网 Ethernet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6223" y="2556986"/>
              <a:ext cx="940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广域网 WAN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928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跨城市、跨大洲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18560" y="2556986"/>
              <a:ext cx="1302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因特网 Internet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6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无线网络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9283" y="3005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设备之间无线连接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18560" y="3005614"/>
              <a:ext cx="173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WiFi、蓝牙 Bluetooth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6669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0597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2"/>
          <p:cNvGrpSpPr/>
          <p:nvPr/>
        </p:nvGrpSpPr>
        <p:grpSpPr>
          <a:xfrm>
            <a:off x="6248400" y="3509962"/>
            <a:ext cx="5410200" cy="1944052"/>
            <a:chOff x="6248400" y="3509962"/>
            <a:chExt cx="5410200" cy="1944052"/>
          </a:xfrm>
        </p:grpSpPr>
        <p:sp>
          <p:nvSpPr>
            <p:cNvPr id="60" name="Rectangle 60"/>
            <p:cNvSpPr/>
            <p:nvPr/>
          </p:nvSpPr>
          <p:spPr>
            <a:xfrm>
              <a:off x="6248400" y="3509962"/>
              <a:ext cx="5410200" cy="1944052"/>
            </a:xfrm>
            <a:prstGeom prst="roundRect">
              <a:avLst>
                <a:gd name="adj" fmla="val 6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3643312"/>
              <a:ext cx="47625" cy="16773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6050" y="371951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73456" y="37552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联网的好处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01765" y="415956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9880" y="409670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：计算机之间高速交换信息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01765" y="449484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9880" y="443198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资源共享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：共用打印机、存储等设备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501765" y="483012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59880" y="476726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远距离访问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：在远处使用另一台计算机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130" y="5991225"/>
              <a:ext cx="8616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用的 SRAM 和主存用的 DRAM 断电后都会丢失数据；闪存断电不丢数据，但比 DRAM 慢。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制造技术与成本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性能不断提高的物质基础：集成电路越做越密，芯片越做越便宜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处理器和存储器的制造技术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半导体与芯片制造流程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集成电路成本与成品率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制造技术与成本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电子技术持续发展：容量和性能提升，成本降低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410200" cy="2692718"/>
            <a:chOff x="533400" y="1524000"/>
            <a:chExt cx="5410200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70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299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计算机中使用的技术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0366" y="1659731"/>
              <a:ext cx="1490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相对性能/单位成本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336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7046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2805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0336" y="255698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7046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327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336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7046" y="3005614"/>
              <a:ext cx="911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集成电路 IC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38506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0336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07046" y="3454241"/>
              <a:ext cx="1801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超大规模集成电路 VLSI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69871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2,400,000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0336" y="390382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7046" y="3903821"/>
              <a:ext cx="1801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甚大规模集成电路 ULSI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01236" y="3903821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250,000,000,000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39446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8334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407218"/>
            <a:ext cx="5410200" cy="1602105"/>
            <a:chOff x="533400" y="4407218"/>
            <a:chExt cx="5410200" cy="1602105"/>
          </a:xfrm>
        </p:grpSpPr>
        <p:sp>
          <p:nvSpPr>
            <p:cNvPr id="36" name="Rectangle 36"/>
            <p:cNvSpPr/>
            <p:nvPr/>
          </p:nvSpPr>
          <p:spPr>
            <a:xfrm>
              <a:off x="533400" y="4407218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54056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" y="46167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1258" y="4652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3430" y="4993958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1995 年写作“大规模集成电路”、2013 年写作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“超大规模集成电路”。教材原表分别为 VLSI（超大规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模）和 ULSI（甚大规模）。</a:t>
              </a:r>
            </a:p>
          </p:txBody>
        </p:sp>
      </p:grpSp>
      <p:grpSp>
        <p:nvGrpSpPr>
          <p:cNvPr id="98" name="c2-cells-1"/>
          <p:cNvGrpSpPr/>
          <p:nvPr/>
        </p:nvGrpSpPr>
        <p:grpSpPr>
          <a:xfrm>
            <a:off x="6242685" y="1524000"/>
            <a:ext cx="5415915" cy="1924050"/>
            <a:chOff x="6242685" y="1524000"/>
            <a:chExt cx="5415915" cy="1924050"/>
          </a:xfrm>
        </p:grpSpPr>
        <p:sp>
          <p:nvSpPr>
            <p:cNvPr id="42" name="TextBox 42"/>
            <p:cNvSpPr txBox="1"/>
            <p:nvPr/>
          </p:nvSpPr>
          <p:spPr>
            <a:xfrm>
              <a:off x="6242685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66548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2923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79018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56346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2440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69768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805862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82238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19285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95661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31755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09083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945178" y="15240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122506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2685" y="21207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66548" y="1981200"/>
              <a:ext cx="713422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79066" y="212074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379018" y="19812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92489" y="212074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092440" y="19812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59911" y="212074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256K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05862" y="19812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47654" y="212074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1M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519285" y="19812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761077" y="212074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4M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231755" y="198120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428499" y="212074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16M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945178" y="1981200"/>
              <a:ext cx="713422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141921" y="212074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64M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42685" y="27112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66548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42923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1998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379018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56346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092440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69768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805862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982238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2007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519285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695661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231755" y="25717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409083" y="27112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42685" y="3168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666548" y="30289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16338" y="316849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128M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379018" y="30289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529761" y="316849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256M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092440" y="30289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243183" y="316849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512M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805862" y="30289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064382" y="316849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1G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9519285" y="3028950"/>
              <a:ext cx="7134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777804" y="316849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2G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231755" y="3028950"/>
              <a:ext cx="713422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491227" y="316849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4G</a:t>
              </a:r>
            </a:p>
          </p:txBody>
        </p:sp>
      </p:grpSp>
      <p:grpSp>
        <p:nvGrpSpPr>
          <p:cNvPr id="100" name="c2-text-2"/>
          <p:cNvGrpSpPr/>
          <p:nvPr/>
        </p:nvGrpSpPr>
        <p:grpSpPr>
          <a:xfrm>
            <a:off x="6241923" y="3659981"/>
            <a:ext cx="4987290" cy="500824"/>
            <a:chOff x="6241923" y="3659981"/>
            <a:chExt cx="4987290" cy="500824"/>
          </a:xfrm>
        </p:grpSpPr>
        <p:sp>
          <p:nvSpPr>
            <p:cNvPr id="99" name="TextBox 99"/>
            <p:cNvSpPr txBox="1"/>
            <p:nvPr/>
          </p:nvSpPr>
          <p:spPr>
            <a:xfrm>
              <a:off x="6241923" y="3659981"/>
              <a:ext cx="498729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单片 DRAM 的容量（单位是位，16K 即 16 Kbit），数据读自原课件的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DRAM 容量图</a:t>
              </a:r>
            </a:p>
          </p:txBody>
        </p:sp>
      </p:grpSp>
      <p:grpSp>
        <p:nvGrpSpPr>
          <p:cNvPr id="106" name="c2-callout-3"/>
          <p:cNvGrpSpPr/>
          <p:nvPr/>
        </p:nvGrpSpPr>
        <p:grpSpPr>
          <a:xfrm>
            <a:off x="6248400" y="4300538"/>
            <a:ext cx="5410200" cy="1708785"/>
            <a:chOff x="6248400" y="4300538"/>
            <a:chExt cx="5410200" cy="1708785"/>
          </a:xfrm>
        </p:grpSpPr>
        <p:sp>
          <p:nvSpPr>
            <p:cNvPr id="101" name="Rectangle 101"/>
            <p:cNvSpPr/>
            <p:nvPr/>
          </p:nvSpPr>
          <p:spPr>
            <a:xfrm>
              <a:off x="6248400" y="4300538"/>
              <a:ext cx="5410200" cy="1708785"/>
            </a:xfrm>
            <a:prstGeom prst="roundRect">
              <a:avLst>
                <a:gd name="adj" fmla="val 668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53188" y="5054920"/>
              <a:ext cx="200023" cy="200023"/>
              <a:chOff x="6453188" y="5054920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6453188" y="50549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86538" y="5121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5130" y="4773930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1977→1996 年，16K→64M，19 年增至 4096 倍，约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 3 年变为 4 倍；1996→2012 年，64M→4G，16 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增至 64 倍，约 2.7 年翻一番。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制造技术与成本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从硅锭到芯片：半导体材料与制造流程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49662" cy="597598"/>
            <a:chOff x="525399" y="1550194"/>
            <a:chExt cx="1024966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4966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硅是一种天然的半导体。加入特定材料后，硅可以变成良好的导体（像细铜线、铝线）、良好的绝缘体（像塑料、玻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璃），或可控的导体/绝缘体（像开关，即晶体管）。</a:t>
              </a:r>
            </a:p>
          </p:txBody>
        </p:sp>
      </p:grpSp>
      <p:grpSp>
        <p:nvGrpSpPr>
          <p:cNvPr id="63" name="c1-flow-1"/>
          <p:cNvGrpSpPr/>
          <p:nvPr/>
        </p:nvGrpSpPr>
        <p:grpSpPr>
          <a:xfrm>
            <a:off x="689610" y="2563178"/>
            <a:ext cx="10813732" cy="2539364"/>
            <a:chOff x="689610" y="2563178"/>
            <a:chExt cx="10813732" cy="2539364"/>
          </a:xfrm>
        </p:grpSpPr>
        <p:sp>
          <p:nvSpPr>
            <p:cNvPr id="9" name="Freeform 9"/>
            <p:cNvSpPr/>
            <p:nvPr/>
          </p:nvSpPr>
          <p:spPr>
            <a:xfrm>
              <a:off x="2602230" y="278225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9875" y="2729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7270" y="278225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34915" y="2729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52310" y="278225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259955" y="2729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277350" y="278225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484995" y="2729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546080" y="3001328"/>
              <a:ext cx="9525" cy="507682"/>
            </a:xfrm>
            <a:custGeom>
              <a:avLst/>
              <a:gdLst/>
              <a:ahLst/>
              <a:cxnLst/>
              <a:rect l="l" t="t" r="r" b="b"/>
              <a:pathLst>
                <a:path w="9525" h="507682">
                  <a:moveTo>
                    <a:pt x="0" y="0"/>
                  </a:moveTo>
                  <a:lnTo>
                    <a:pt x="0" y="5076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493692" y="3509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382125" y="383286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277350" y="3780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157085" y="383286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52310" y="3780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932045" y="383286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827270" y="3780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707005" y="383286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602230" y="3780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645920" y="4051935"/>
              <a:ext cx="9525" cy="507683"/>
            </a:xfrm>
            <a:custGeom>
              <a:avLst/>
              <a:gdLst/>
              <a:ahLst/>
              <a:cxnLst/>
              <a:rect l="l" t="t" r="r" b="b"/>
              <a:pathLst>
                <a:path w="9525" h="507683">
                  <a:moveTo>
                    <a:pt x="0" y="0"/>
                  </a:moveTo>
                  <a:lnTo>
                    <a:pt x="0" y="5076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593532" y="45596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602230" y="48834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809875" y="4831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827270" y="48834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034915" y="4831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052310" y="48834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259955" y="4831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89610" y="2563178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14650" y="2563178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139690" y="2563178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64730" y="2563178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589770" y="2563178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589770" y="361378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364730" y="3518535"/>
              <a:ext cx="1912620" cy="628650"/>
            </a:xfrm>
            <a:custGeom>
              <a:avLst/>
              <a:gdLst/>
              <a:ahLst/>
              <a:cxnLst/>
              <a:rect l="l" t="t" r="r" b="b"/>
              <a:pathLst>
                <a:path w="1912620" h="628650">
                  <a:moveTo>
                    <a:pt x="133350" y="0"/>
                  </a:moveTo>
                  <a:lnTo>
                    <a:pt x="1912620" y="0"/>
                  </a:lnTo>
                  <a:lnTo>
                    <a:pt x="1779270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39690" y="361378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914650" y="3613785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610" y="361378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89610" y="4664392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914650" y="4664392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139690" y="4664392"/>
              <a:ext cx="1912620" cy="438150"/>
            </a:xfrm>
            <a:custGeom>
              <a:avLst/>
              <a:gdLst/>
              <a:ahLst/>
              <a:cxnLst/>
              <a:rect l="l" t="t" r="r" b="b"/>
              <a:pathLst>
                <a:path w="1912620" h="438150">
                  <a:moveTo>
                    <a:pt x="133350" y="0"/>
                  </a:moveTo>
                  <a:lnTo>
                    <a:pt x="1912620" y="0"/>
                  </a:lnTo>
                  <a:lnTo>
                    <a:pt x="177927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4730" y="4664392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67129" y="26931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硅锭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92169" y="26931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44896" y="26931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空白晶圆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1001" y="2693194"/>
              <a:ext cx="1400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20~40 道加工工序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22662" y="26931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有图案的晶圆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94976" y="37438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晶圆测试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83043" y="3634264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测试过的晶圆（标出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坏芯片）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7209" y="37438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47542" y="37438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测试过的裸片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0189" y="374380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合格裸片装入封装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2502" y="47944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封装后的芯片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19856" y="47944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成品测试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0269" y="47944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测试过的封装芯片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3779" y="47944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发货给客户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4" name="Rectangle 6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9968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成品率（yield）：一片晶圆上合格芯片数占芯片总数的百分比。坏芯片在晶圆测试时标出、划片后丢弃，封装后还要再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测一次。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制造技术与成本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集成电路成本：芯片面积越大，每片芯片贵得越多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544378" cy="2251710"/>
            <a:chOff x="533400" y="1524000"/>
            <a:chExt cx="4544378" cy="22517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251710"/>
            </a:xfrm>
            <a:prstGeom prst="roundRect">
              <a:avLst>
                <a:gd name="adj" fmla="val 5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5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48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Core i7 晶圆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387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直径 300 mm，32 nm 工艺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175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 个完整芯片（假设良率 100%）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每个芯片 20.7 mm × 10.5 mm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3132296"/>
              <a:ext cx="3841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晶圆边缘放不下完整芯片，所以实际芯片数少于“晶圆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面积 / 芯片面积”。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66210"/>
            <a:ext cx="4544378" cy="2232660"/>
            <a:chOff x="533400" y="3966210"/>
            <a:chExt cx="4544378" cy="2232660"/>
          </a:xfrm>
        </p:grpSpPr>
        <p:sp>
          <p:nvSpPr>
            <p:cNvPr id="20" name="Rectangle 20"/>
            <p:cNvSpPr/>
            <p:nvPr/>
          </p:nvSpPr>
          <p:spPr>
            <a:xfrm>
              <a:off x="533400" y="3966210"/>
              <a:ext cx="4544378" cy="2232660"/>
            </a:xfrm>
            <a:prstGeom prst="roundRect">
              <a:avLst>
                <a:gd name="adj" fmla="val 59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" y="417576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3605" y="42114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为什么是非线性关系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46158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45529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晶圆的价格和面积是固定的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48665" y="495109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48882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瑕疵率由加工步骤的数量决定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48665" y="52863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780" y="52235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芯片面积由体系结构和电路设计决定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5554504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面积变大，每片晶圆上的芯片变少，成品率也下降，两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个因素叠加。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4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每芯片的价格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每晶圆的价格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每晶圆的芯片数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成品率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5"/>
              <p:cNvSpPr txBox="1">
                <a:spLocks noGrp="1"/>
              </p:cNvSpPr>
              <p:nvPr/>
            </p:nvSpPr>
            <p:spPr>
              <a:xfrm>
                <a:off x="5382578" y="2331720"/>
                <a:ext cx="627602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每晶圆的芯片数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晶圆面积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芯片面积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6"/>
              <p:cNvSpPr txBox="1">
                <a:spLocks noGrp="1"/>
              </p:cNvSpPr>
              <p:nvPr/>
            </p:nvSpPr>
            <p:spPr>
              <a:xfrm>
                <a:off x="5382578" y="3139440"/>
                <a:ext cx="627602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成品率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 m:val="on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单位面积瑕疵数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×</m:t>
                                      </m:r>
                                      <m:r>
                                        <m:rPr>
                                          <m:nor m:val="on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芯片面积</m:t>
                                      </m:r>
                                    </m:num>
                                    <m:den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llout-4"/>
          <p:cNvGrpSpPr/>
          <p:nvPr/>
        </p:nvGrpSpPr>
        <p:grpSpPr>
          <a:xfrm>
            <a:off x="5382578" y="3947160"/>
            <a:ext cx="6276022" cy="782955"/>
            <a:chOff x="5382578" y="3947160"/>
            <a:chExt cx="6276022" cy="782955"/>
          </a:xfrm>
        </p:grpSpPr>
        <p:sp>
          <p:nvSpPr>
            <p:cNvPr id="34" name="Rectangle 34"/>
            <p:cNvSpPr/>
            <p:nvPr/>
          </p:nvSpPr>
          <p:spPr>
            <a:xfrm>
              <a:off x="5382578" y="394716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587365" y="4238625"/>
              <a:ext cx="200026" cy="200026"/>
              <a:chOff x="5587365" y="423862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587365" y="4238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687378" y="4305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676265" y="4338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889308" y="4095750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成品率公式是根据集成电路工厂的实际成品率总结出的经验公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式：单位面积瑕疵数与芯片面积的乘积越大，成品率越低。</a:t>
              </a:r>
            </a:p>
          </p:txBody>
        </p:sp>
      </p:grpSp>
      <p:grpSp>
        <p:nvGrpSpPr>
          <p:cNvPr id="47" name="c2-callout-5"/>
          <p:cNvGrpSpPr/>
          <p:nvPr/>
        </p:nvGrpSpPr>
        <p:grpSpPr>
          <a:xfrm>
            <a:off x="5382578" y="4920615"/>
            <a:ext cx="6276022" cy="1277302"/>
            <a:chOff x="5382578" y="4920615"/>
            <a:chExt cx="6276022" cy="1277302"/>
          </a:xfrm>
        </p:grpSpPr>
        <p:sp>
          <p:nvSpPr>
            <p:cNvPr id="41" name="Rectangle 41"/>
            <p:cNvSpPr/>
            <p:nvPr/>
          </p:nvSpPr>
          <p:spPr>
            <a:xfrm>
              <a:off x="5382578" y="4920615"/>
              <a:ext cx="6276022" cy="1277302"/>
            </a:xfrm>
            <a:prstGeom prst="roundRect">
              <a:avLst>
                <a:gd name="adj" fmla="val 894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587365" y="5459730"/>
              <a:ext cx="200026" cy="200025"/>
              <a:chOff x="5587365" y="5459730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587365" y="54597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627104" y="55041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661819" y="56153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889308" y="5178742"/>
              <a:ext cx="5225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代入 i7：晶圆面积 π × 150² ≈ 70,686 mm²，芯片面积 20.7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× 10.5 = 217.35 mm²，估算约 325 片，比实际的 280 片多，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差额就是边缘损失。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制造技术与成本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补充例题：芯片面积减半，每片芯片的价格降到多少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688691" cy="3472339"/>
            <a:chOff x="533400" y="1533525"/>
            <a:chExt cx="5688691" cy="34723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9537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31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1137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042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4872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5610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已知（晶圆价格和瑕疵率为假设值）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52031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 mm 晶圆价格 5000 美元，单位面积瑕疵数 0.2 个/cm²。芯片 A 为 20.7 mm 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10.5 mm = 2.1735 cm²；芯片 B 面积减半，为 1.0868 cm²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3555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每晶圆芯片数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622709"/>
              <a:ext cx="50325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晶圆面积 = π × (15 cm)² ≈ 706.86 cm²。A：706.86 / 2.1735 ≈ 325 片；B：≈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650 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451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成品率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13284"/>
              <a:ext cx="48475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A：1 / (1 + 0.2 × 2.1735 / 2)² = 1 / 1.2174² ≈ 0.675；B：1 / (1 + 0.2 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1.0868 / 2)² = 1 / 1.1087² ≈ 0.814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9357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每芯片的价格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02906"/>
              <a:ext cx="5275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A：5000 / (325 × 0.675) ≈ 22.8 美元；B：5000 / (650 × 0.814) ≈ 9.5 美元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5186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785836"/>
              <a:ext cx="3253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 / 22.8 ≈ 0.41，面积减半，价格降到约 41%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5170170"/>
            <a:ext cx="6059805" cy="1185862"/>
            <a:chOff x="533400" y="5170170"/>
            <a:chExt cx="6059805" cy="1185862"/>
          </a:xfrm>
        </p:grpSpPr>
        <p:sp>
          <p:nvSpPr>
            <p:cNvPr id="29" name="Rectangle 29"/>
            <p:cNvSpPr/>
            <p:nvPr/>
          </p:nvSpPr>
          <p:spPr>
            <a:xfrm>
              <a:off x="533400" y="5170170"/>
              <a:ext cx="605980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30352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535686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0357" y="538972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为什么小芯片成品率高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570071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瑕疵随机落在晶圆上。芯片越小，一个芯片上落到瑕疵的机会越小，所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以合格的比例越高。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898005" y="1524000"/>
            <a:ext cx="4760595" cy="2873692"/>
            <a:chOff x="6898005" y="1524000"/>
            <a:chExt cx="4760595" cy="2873692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67913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18082" y="17687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56392" y="1768792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芯片 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03632" y="1648778"/>
              <a:ext cx="1195435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芯片 B（面积减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4017" y="23279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芯片面积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44769" y="2327910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2.17 cm²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58316" y="2327910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 cm²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26374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8005" y="2642235"/>
              <a:ext cx="476059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4017" y="276701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每晶圆芯片数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80982" y="2767012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325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94530" y="2767012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650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0756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4017" y="32061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成品率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44724" y="3206115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67.5%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58271" y="3206115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81.4%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51472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8005" y="3519488"/>
              <a:ext cx="476059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4017" y="3645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合格芯片数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0982" y="364521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219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94530" y="364521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529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39538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4017" y="4083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每芯片价格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63032" y="4083368"/>
              <a:ext cx="986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22.8 美元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954578" y="3968115"/>
              <a:ext cx="1694498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76534" y="4083368"/>
              <a:ext cx="886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9.5 美元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28736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511540" y="1524000"/>
              <a:ext cx="9525" cy="28736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40290" y="1524000"/>
              <a:ext cx="9525" cy="28736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2"/>
          <p:cNvGrpSpPr/>
          <p:nvPr/>
        </p:nvGrpSpPr>
        <p:grpSpPr>
          <a:xfrm>
            <a:off x="6898005" y="4567238"/>
            <a:ext cx="4760595" cy="729615"/>
            <a:chOff x="6898005" y="4567238"/>
            <a:chExt cx="4760595" cy="729615"/>
          </a:xfrm>
        </p:grpSpPr>
        <p:sp>
          <p:nvSpPr>
            <p:cNvPr id="65" name="Rectangle 65"/>
            <p:cNvSpPr/>
            <p:nvPr/>
          </p:nvSpPr>
          <p:spPr>
            <a:xfrm>
              <a:off x="6898005" y="456723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102793" y="4832035"/>
              <a:ext cx="200023" cy="200023"/>
              <a:chOff x="7102793" y="483203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102793" y="48320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36143" y="4898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405497" y="4713922"/>
              <a:ext cx="3811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面积减半，价格降到约 41%，比一半还低：芯片数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翻倍，成品率同时提高。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6898005" y="5466398"/>
            <a:ext cx="4760595" cy="888682"/>
            <a:chOff x="6898005" y="5466398"/>
            <a:chExt cx="4760595" cy="888682"/>
          </a:xfrm>
        </p:grpSpPr>
        <p:sp>
          <p:nvSpPr>
            <p:cNvPr id="71" name="Rectangle 71"/>
            <p:cNvSpPr/>
            <p:nvPr/>
          </p:nvSpPr>
          <p:spPr>
            <a:xfrm>
              <a:off x="6898005" y="5466398"/>
              <a:ext cx="4760595" cy="888682"/>
            </a:xfrm>
            <a:prstGeom prst="roundRect">
              <a:avLst>
                <a:gd name="adj" fmla="val 128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102793" y="5811203"/>
              <a:ext cx="200026" cy="200026"/>
              <a:chOff x="7102793" y="5811203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102793" y="5811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02805" y="58778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91693" y="59112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405497" y="5692140"/>
              <a:ext cx="38627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公式估算忽略了晶圆边缘的损失，真实的 i7 晶圆只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280 个完整芯片。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697415" cy="3351847"/>
            <a:chOff x="667512" y="1835468"/>
            <a:chExt cx="36974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怎样定义、测量和比较计算机的性能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1.6.1 性能的定义：响应时间与吞吐率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68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1.6.2 性能的度量：CPU 时间与时钟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54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1.6.3 CPU 性能公式与 CPI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性能公式总结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哪架客机性能最好？先说清楚比的是哪项指标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27685" y="1524000"/>
            <a:ext cx="6497955" cy="3534252"/>
            <a:chOff x="527685" y="1524000"/>
            <a:chExt cx="6497955" cy="35342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7543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2995" y="17964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3132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载客量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98482" y="166306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航程（英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1713" y="1663065"/>
              <a:ext cx="107775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巡航速度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（英里/时）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4990" y="166306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吞吐率（乘客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 英里/时）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41744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波音 777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0500" y="241744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3387" y="241744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4630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47476" y="241744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26290" y="241744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228,750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61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66060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290512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波音 747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01215" y="2775585"/>
              <a:ext cx="82486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80500" y="2905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3387" y="2905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4150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7476" y="2905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412105" y="2775585"/>
              <a:ext cx="160401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6290" y="29051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286,700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89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0080" y="3392805"/>
              <a:ext cx="89535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协和式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Concorde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80500" y="352615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3387" y="352615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49078" y="3263265"/>
              <a:ext cx="1343978" cy="7353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36414" y="352615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6290" y="352615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178,200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033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00812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4147185"/>
              <a:ext cx="78533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道格拉斯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DC-8-50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80500" y="428053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45130" y="4017645"/>
              <a:ext cx="1084898" cy="7353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73387" y="428053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7476" y="428053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37351" y="428053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79,424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6492240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086928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3084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34790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97818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4838224"/>
              <a:ext cx="5657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吞吐率 = 载客量 × 巡航速度；绿色为各列最大值。原课件用 4 张条形图给出这些数据</a:t>
              </a:r>
            </a:p>
          </p:txBody>
        </p:sp>
      </p:grpSp>
      <p:grpSp>
        <p:nvGrpSpPr>
          <p:cNvPr id="55" name="c1-callout-2"/>
          <p:cNvGrpSpPr/>
          <p:nvPr/>
        </p:nvGrpSpPr>
        <p:grpSpPr>
          <a:xfrm>
            <a:off x="533400" y="5204460"/>
            <a:ext cx="6492240" cy="782955"/>
            <a:chOff x="533400" y="5204460"/>
            <a:chExt cx="649224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20446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495925"/>
              <a:ext cx="200026" cy="200026"/>
              <a:chOff x="738188" y="5495925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4959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56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55959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353050"/>
              <a:ext cx="5368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协和式的速度是 747 的 1350 / 610 ≈ 2.2 倍，吞吐率却只有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747 的 178,200 / 286,700 ≈ 62%：换一个指标，排名就变了。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330440" y="1524000"/>
            <a:ext cx="4328160" cy="2558415"/>
            <a:chOff x="7330440" y="1524000"/>
            <a:chExt cx="4328160" cy="2558415"/>
          </a:xfrm>
        </p:grpSpPr>
        <p:sp>
          <p:nvSpPr>
            <p:cNvPr id="56" name="Rectangle 56"/>
            <p:cNvSpPr/>
            <p:nvPr/>
          </p:nvSpPr>
          <p:spPr>
            <a:xfrm>
              <a:off x="7330440" y="1524000"/>
              <a:ext cx="4328160" cy="2558415"/>
            </a:xfrm>
            <a:prstGeom prst="roundRect">
              <a:avLst>
                <a:gd name="adj" fmla="val 521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3999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0949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结论取决于指标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54570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03820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看速度：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协和式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最快，一位乘客从一地到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另一地用时最短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45705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03820" y="2731770"/>
              <a:ext cx="35104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看吞吐率：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波音 747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最高，单位时间运送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的乘客最多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45705" y="34156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03820" y="3352800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看航程：DC-8-50 最远；看载客量：747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7330440" y="4272915"/>
            <a:ext cx="4328160" cy="1714500"/>
            <a:chOff x="7330440" y="4272915"/>
            <a:chExt cx="4328160" cy="1714500"/>
          </a:xfrm>
        </p:grpSpPr>
        <p:sp>
          <p:nvSpPr>
            <p:cNvPr id="66" name="Rectangle 66"/>
            <p:cNvSpPr/>
            <p:nvPr/>
          </p:nvSpPr>
          <p:spPr>
            <a:xfrm>
              <a:off x="7330440" y="4272915"/>
              <a:ext cx="4328160" cy="1714500"/>
            </a:xfrm>
            <a:prstGeom prst="roundRect">
              <a:avLst>
                <a:gd name="adj" fmla="val 666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535228" y="5030153"/>
              <a:ext cx="200026" cy="200025"/>
              <a:chOff x="7535228" y="503015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535228" y="5030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574966" y="5074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609682" y="5185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837170" y="4749165"/>
              <a:ext cx="3444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计算机也一样：个人用户关心自己的任务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多快完成，数据中心管理员关心单位时间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完成多少任务。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响应时间与吞吐率：一个看单个任务，一个看单位时间的总量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6067425" cy="1579245"/>
            <a:chOff x="525780" y="1548765"/>
            <a:chExt cx="6067425" cy="15792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响应时间（执行时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间）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43150" y="154876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完成某任务所需的总时间，包括硬盘访问、内存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访问、I/O 活动、操作系统开销和 CPU 执行时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吞吐率（吞吐量，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也叫带宽）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43150" y="255270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单位时间内完成的任务数量，例如每小时完成的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任务数、交易数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59455"/>
            <a:ext cx="6059805" cy="2202180"/>
            <a:chOff x="533400" y="3259455"/>
            <a:chExt cx="6059805" cy="2202180"/>
          </a:xfrm>
        </p:grpSpPr>
        <p:sp>
          <p:nvSpPr>
            <p:cNvPr id="13" name="Rectangle 13"/>
            <p:cNvSpPr/>
            <p:nvPr/>
          </p:nvSpPr>
          <p:spPr>
            <a:xfrm>
              <a:off x="533400" y="3259455"/>
              <a:ext cx="6059805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92805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4690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047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2078" y="350424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下面两种改动分别改善哪个指标？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85191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8942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86524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把处理器换成更快的型号：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响应时间缩短，吞吐率也提高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1871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2294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2005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增加处理器，分别处理相互独立的任务（如网页搜索请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求）：没有哪个任务变快，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只提高吞吐率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4818221"/>
              <a:ext cx="5239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若第 2 种情况下请求多到要排队，提高吞吐率能减少排队等待，响应时间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也会缩短。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898005" y="1524000"/>
            <a:ext cx="4760595" cy="4863942"/>
            <a:chOff x="6898005" y="1524000"/>
            <a:chExt cx="4760595" cy="4863942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10757" t="0" r="10757" b="0"/>
            <a:stretch>
              <a:fillRect/>
            </a:stretch>
          </p:blipFill>
          <p:spPr>
            <a:xfrm>
              <a:off x="6898005" y="1524000"/>
              <a:ext cx="4760595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387908" y="616791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多开收银台，单位时间结账的人变多，每人结账并不更快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相对性能：性能是执行时间的倒数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性能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rPr>
                                  <m:nor m:val="on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执行时间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1"/>
              <p:cNvSpPr txBox="1">
                <a:spLocks noGrp="1"/>
              </p:cNvSpPr>
              <p:nvPr/>
            </p:nvSpPr>
            <p:spPr>
              <a:xfrm>
                <a:off x="533400" y="2383155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比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快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倍：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性能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性能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执行时间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执行时间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llout-3"/>
          <p:cNvGrpSpPr/>
          <p:nvPr/>
        </p:nvGrpSpPr>
        <p:grpSpPr>
          <a:xfrm>
            <a:off x="533400" y="3190875"/>
            <a:ext cx="5626418" cy="782955"/>
            <a:chOff x="533400" y="3190875"/>
            <a:chExt cx="5626418" cy="782955"/>
          </a:xfrm>
        </p:grpSpPr>
        <p:sp>
          <p:nvSpPr>
            <p:cNvPr id="9" name="Rectangle 9"/>
            <p:cNvSpPr/>
            <p:nvPr/>
          </p:nvSpPr>
          <p:spPr>
            <a:xfrm>
              <a:off x="533400" y="319087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6129" y="3478648"/>
              <a:ext cx="224134" cy="192560"/>
              <a:chOff x="726129" y="3478648"/>
              <a:chExt cx="224134" cy="1925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8200" y="35490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26129" y="34786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8200" y="3626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3339465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本教材说“A 比 B 快 n 倍”，指性能之比为 n，不要再减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1。执行时间短的一方性能高。</a:t>
              </a:r>
            </a:p>
          </p:txBody>
        </p:sp>
      </p:grpSp>
      <p:grpSp>
        <p:nvGrpSpPr>
          <p:cNvPr id="21" name="c1-card-4"/>
          <p:cNvGrpSpPr/>
          <p:nvPr/>
        </p:nvGrpSpPr>
        <p:grpSpPr>
          <a:xfrm>
            <a:off x="533400" y="4164330"/>
            <a:ext cx="5626418" cy="2194560"/>
            <a:chOff x="533400" y="4164330"/>
            <a:chExt cx="5626418" cy="2194560"/>
          </a:xfrm>
        </p:grpSpPr>
        <p:sp>
          <p:nvSpPr>
            <p:cNvPr id="16" name="Rectangle 16"/>
            <p:cNvSpPr/>
            <p:nvPr/>
          </p:nvSpPr>
          <p:spPr>
            <a:xfrm>
              <a:off x="533400" y="4164330"/>
              <a:ext cx="5626418" cy="2194560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97680"/>
              <a:ext cx="47625" cy="1927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3738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507" y="44095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为什么取倒数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75107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执行时间越短越好，取倒数后变成“性能数值越大越好”，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和日常说“性能高”的方向一致。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464618" y="1533525"/>
            <a:ext cx="4549074" cy="1878615"/>
            <a:chOff x="6464618" y="1533525"/>
            <a:chExt cx="4549074" cy="1878615"/>
          </a:xfrm>
        </p:grpSpPr>
        <p:sp>
          <p:nvSpPr>
            <p:cNvPr id="22" name="Rectangle 22"/>
            <p:cNvSpPr/>
            <p:nvPr/>
          </p:nvSpPr>
          <p:spPr>
            <a:xfrm>
              <a:off x="6597968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1861661"/>
              <a:ext cx="4136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同一个程序，计算机 A 需要 10 s，计算机 B 需要 15 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221837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求执行时间之比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2512219"/>
              <a:ext cx="3377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执行时间B / 执行时间A = 15 s / 10 s = 1.5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098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241" y="3162776"/>
              <a:ext cx="3062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性能A / 性能B = 1.5，A 比 B 快 1.5 倍</a:t>
              </a:r>
            </a:p>
          </p:txBody>
        </p:sp>
      </p:grpSp>
      <p:grpSp>
        <p:nvGrpSpPr>
          <p:cNvPr id="50" name="c2-table-2"/>
          <p:cNvGrpSpPr/>
          <p:nvPr/>
        </p:nvGrpSpPr>
        <p:grpSpPr>
          <a:xfrm>
            <a:off x="6464618" y="3590925"/>
            <a:ext cx="5193982" cy="1795462"/>
            <a:chOff x="6464618" y="3590925"/>
            <a:chExt cx="5193982" cy="1795462"/>
          </a:xfrm>
        </p:grpSpPr>
        <p:sp>
          <p:nvSpPr>
            <p:cNvPr id="36" name="Rectangle 36"/>
            <p:cNvSpPr/>
            <p:nvPr/>
          </p:nvSpPr>
          <p:spPr>
            <a:xfrm>
              <a:off x="6464618" y="3590925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76439" y="3725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15437" y="37257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等价的式子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2441" y="4174331"/>
              <a:ext cx="1319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比 B 快 1.5 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3666" y="4174331"/>
              <a:ext cx="1621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性能A / 性能B = 1.5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44834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448818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2441" y="4623911"/>
              <a:ext cx="1319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比 A 慢 1.5 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53666" y="4623911"/>
              <a:ext cx="2310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执行时间B / 执行时间A = 1.5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49320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2441" y="5072539"/>
              <a:ext cx="1453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性能提高到 1.5 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3666" y="5072539"/>
              <a:ext cx="2606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执行时间变为原来的 1/1.5 ≈ 67%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590925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41080" y="35909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3"/>
          <p:cNvGrpSpPr/>
          <p:nvPr/>
        </p:nvGrpSpPr>
        <p:grpSpPr>
          <a:xfrm>
            <a:off x="6464618" y="5575935"/>
            <a:ext cx="5193982" cy="782955"/>
            <a:chOff x="6464618" y="5575935"/>
            <a:chExt cx="5193982" cy="782955"/>
          </a:xfrm>
        </p:grpSpPr>
        <p:sp>
          <p:nvSpPr>
            <p:cNvPr id="51" name="Rectangle 51"/>
            <p:cNvSpPr/>
            <p:nvPr/>
          </p:nvSpPr>
          <p:spPr>
            <a:xfrm>
              <a:off x="6464618" y="557593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867400"/>
              <a:ext cx="200026" cy="200025"/>
              <a:chOff x="6669405" y="5867400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8674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09144" y="59118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43859" y="60229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348" y="572452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提高性能与缩短执行时间是一回事，比较时统一用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其中一种说法，避免“增加”“减少”混用。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873" cy="909257"/>
            <a:chOff x="520446" y="342900"/>
            <a:chExt cx="7061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性能的度量：响应时间与 CPU 时间各包括什么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533400" y="1636395"/>
            <a:ext cx="4328160" cy="2635567"/>
            <a:chOff x="533400" y="1636395"/>
            <a:chExt cx="4328160" cy="2635567"/>
          </a:xfrm>
        </p:grpSpPr>
        <p:sp>
          <p:nvSpPr>
            <p:cNvPr id="7" name="Freeform 7"/>
            <p:cNvSpPr/>
            <p:nvPr/>
          </p:nvSpPr>
          <p:spPr>
            <a:xfrm>
              <a:off x="3303270" y="1809750"/>
              <a:ext cx="419100" cy="286702"/>
            </a:xfrm>
            <a:custGeom>
              <a:avLst/>
              <a:gdLst/>
              <a:ahLst/>
              <a:cxnLst/>
              <a:rect l="l" t="t" r="r" b="b"/>
              <a:pathLst>
                <a:path w="419100" h="286702">
                  <a:moveTo>
                    <a:pt x="0" y="286702"/>
                  </a:moveTo>
                  <a:lnTo>
                    <a:pt x="209550" y="2867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03270" y="209645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419100" y="2857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52550" y="2096452"/>
              <a:ext cx="419100" cy="1001078"/>
            </a:xfrm>
            <a:custGeom>
              <a:avLst/>
              <a:gdLst/>
              <a:ahLst/>
              <a:cxnLst/>
              <a:rect l="l" t="t" r="r" b="b"/>
              <a:pathLst>
                <a:path w="419100" h="1001078">
                  <a:moveTo>
                    <a:pt x="0" y="1001078"/>
                  </a:moveTo>
                  <a:lnTo>
                    <a:pt x="209550" y="10010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52550" y="2953702"/>
              <a:ext cx="419100" cy="143827"/>
            </a:xfrm>
            <a:custGeom>
              <a:avLst/>
              <a:gdLst/>
              <a:ahLst/>
              <a:cxnLst/>
              <a:rect l="l" t="t" r="r" b="b"/>
              <a:pathLst>
                <a:path w="419100" h="143827">
                  <a:moveTo>
                    <a:pt x="0" y="143827"/>
                  </a:moveTo>
                  <a:lnTo>
                    <a:pt x="209550" y="14382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52550" y="3097530"/>
              <a:ext cx="419100" cy="428625"/>
            </a:xfrm>
            <a:custGeom>
              <a:avLst/>
              <a:gdLst/>
              <a:ahLst/>
              <a:cxnLst/>
              <a:rect l="l" t="t" r="r" b="b"/>
              <a:pathLst>
                <a:path w="419100" h="428625">
                  <a:moveTo>
                    <a:pt x="0" y="0"/>
                  </a:moveTo>
                  <a:lnTo>
                    <a:pt x="209550" y="0"/>
                  </a:lnTo>
                  <a:lnTo>
                    <a:pt x="209550" y="428625"/>
                  </a:lnTo>
                  <a:lnTo>
                    <a:pt x="419100" y="4286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52550" y="3097530"/>
              <a:ext cx="419100" cy="1001078"/>
            </a:xfrm>
            <a:custGeom>
              <a:avLst/>
              <a:gdLst/>
              <a:ahLst/>
              <a:cxnLst/>
              <a:rect l="l" t="t" r="r" b="b"/>
              <a:pathLst>
                <a:path w="419100" h="1001078">
                  <a:moveTo>
                    <a:pt x="0" y="0"/>
                  </a:moveTo>
                  <a:lnTo>
                    <a:pt x="209550" y="0"/>
                  </a:lnTo>
                  <a:lnTo>
                    <a:pt x="209550" y="1001078"/>
                  </a:lnTo>
                  <a:lnTo>
                    <a:pt x="419100" y="100107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722370" y="1636395"/>
              <a:ext cx="113919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722370" y="2208848"/>
              <a:ext cx="113919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771650" y="1923098"/>
              <a:ext cx="1530668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71650" y="2780348"/>
              <a:ext cx="153066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771650" y="3260408"/>
              <a:ext cx="1530668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771650" y="3925252"/>
              <a:ext cx="153066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924175"/>
              <a:ext cx="819150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11905" y="1731169"/>
              <a:ext cx="972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CPU 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1905" y="2303621"/>
              <a:ext cx="972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 CPU 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1185" y="2017871"/>
              <a:ext cx="129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本程序的 CPU 时间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1185" y="2875121"/>
              <a:ext cx="917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操作时间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1185" y="3355181"/>
              <a:ext cx="1149350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运行其他程序的时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1185" y="4020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空闲时间等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935" y="30189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响应时间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7685" y="4578191"/>
            <a:ext cx="3328467" cy="220028"/>
            <a:chOff x="527685" y="4578191"/>
            <a:chExt cx="3328467" cy="220028"/>
          </a:xfrm>
        </p:grpSpPr>
        <p:sp>
          <p:nvSpPr>
            <p:cNvPr id="28" name="TextBox 28"/>
            <p:cNvSpPr txBox="1"/>
            <p:nvPr/>
          </p:nvSpPr>
          <p:spPr>
            <a:xfrm>
              <a:off x="527685" y="457819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响应时间又叫执行时间、墙上时钟时间、消逝时间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166360" y="1524000"/>
            <a:ext cx="6492240" cy="2428875"/>
            <a:chOff x="5166360" y="1524000"/>
            <a:chExt cx="6492240" cy="2428875"/>
          </a:xfrm>
        </p:grpSpPr>
        <p:sp>
          <p:nvSpPr>
            <p:cNvPr id="30" name="Rectangle 30"/>
            <p:cNvSpPr/>
            <p:nvPr/>
          </p:nvSpPr>
          <p:spPr>
            <a:xfrm>
              <a:off x="5166360" y="1524000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242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1564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包括什么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981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637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响应时间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95122" y="2054066"/>
              <a:ext cx="24579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完成任务的总时间：处理、I/O、OS 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销、空闲等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1670" y="215407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决定用户感受到的系统性能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6360" y="25307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66360" y="2535555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6372" y="275986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5122" y="2659856"/>
              <a:ext cx="2322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程序本身占用 CPU 的时间，不含等待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和运行其他程序的时间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51670" y="2659856"/>
              <a:ext cx="1611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分为用户 CPU 时间和系统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3136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6372" y="3265646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CPU 时间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5122" y="3265646"/>
              <a:ext cx="2028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执行用户程序本身的 CPU 时间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51670" y="3265646"/>
              <a:ext cx="1425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常说的 CPU 性能指它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35423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66360" y="354711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6372" y="3671411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 CPU 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5122" y="3671411"/>
              <a:ext cx="2631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操作系统为该程序服务所花的 CPU 时间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51670" y="3671411"/>
              <a:ext cx="2028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与用户 CPU 时间很难精确区分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1524000"/>
              <a:ext cx="6492240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90348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46895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table-2"/>
          <p:cNvGrpSpPr/>
          <p:nvPr/>
        </p:nvGrpSpPr>
        <p:grpSpPr>
          <a:xfrm>
            <a:off x="5161026" y="4128135"/>
            <a:ext cx="6497574" cy="1496949"/>
            <a:chOff x="5161026" y="4128135"/>
            <a:chExt cx="6497574" cy="1496949"/>
          </a:xfrm>
        </p:grpSpPr>
        <p:sp>
          <p:nvSpPr>
            <p:cNvPr id="55" name="Rectangle 55"/>
            <p:cNvSpPr/>
            <p:nvPr/>
          </p:nvSpPr>
          <p:spPr>
            <a:xfrm>
              <a:off x="5166360" y="4128135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13628" y="42524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某程序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21336" y="425243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 CPU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54823" y="425243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 CPU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92493" y="4252436"/>
              <a:ext cx="630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 I/O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34116" y="42524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响应时间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66372" y="46582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35611" y="465820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69098" y="465820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02586" y="465820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53147" y="465820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s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49349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166360" y="493966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66372" y="5063966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快一倍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69759" y="506396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03246" y="506396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02586" y="506396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s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434638" y="4949190"/>
              <a:ext cx="121443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336073" y="506396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s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166360" y="4128135"/>
              <a:ext cx="649224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719888" y="41281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953375" y="41281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186862" y="41281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420350" y="41281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161026" y="5419725"/>
              <a:ext cx="4522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小例子：CPU 时间从 6 s 降到 3 s，I/O 时间不变，响应时间只缩短 30%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1" name="Rectangle 8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3610"/>
              <a:ext cx="7851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CPU 性能和系统性能对不同的程序影响不同：I/O 很多的程序，CPU 再快，响应时间也改善有限。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0586" cy="909257"/>
            <a:chOff x="520446" y="342900"/>
            <a:chExt cx="93505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05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时钟：每个时钟周期完成一次数据传送、计算和状态更新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wave"/>
          <p:cNvGrpSpPr/>
          <p:nvPr/>
        </p:nvGrpSpPr>
        <p:grpSpPr>
          <a:xfrm>
            <a:off x="533400" y="1524000"/>
            <a:ext cx="11125200" cy="2495550"/>
            <a:chOff x="533400" y="1524000"/>
            <a:chExt cx="11125200" cy="2495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2495550"/>
            </a:xfrm>
            <a:prstGeom prst="roundRect">
              <a:avLst>
                <a:gd name="adj" fmla="val 534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904" y="2270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时钟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899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数据传送和计算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3470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更新状态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238500" y="20002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5905500" y="20002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8572500" y="20002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11239500" y="20002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857500" y="2171700"/>
              <a:ext cx="8496300" cy="342900"/>
            </a:xfrm>
            <a:custGeom>
              <a:avLst/>
              <a:gdLst/>
              <a:ahLst/>
              <a:cxnLst/>
              <a:rect l="l" t="t" r="r" b="b"/>
              <a:pathLst>
                <a:path w="8496300" h="342900">
                  <a:moveTo>
                    <a:pt x="0" y="342900"/>
                  </a:moveTo>
                  <a:lnTo>
                    <a:pt x="381000" y="342900"/>
                  </a:lnTo>
                  <a:lnTo>
                    <a:pt x="381000" y="342900"/>
                  </a:lnTo>
                  <a:lnTo>
                    <a:pt x="381000" y="0"/>
                  </a:lnTo>
                  <a:lnTo>
                    <a:pt x="1714500" y="0"/>
                  </a:lnTo>
                  <a:lnTo>
                    <a:pt x="1714500" y="342900"/>
                  </a:lnTo>
                  <a:lnTo>
                    <a:pt x="3048000" y="342900"/>
                  </a:lnTo>
                  <a:lnTo>
                    <a:pt x="3048000" y="0"/>
                  </a:lnTo>
                  <a:lnTo>
                    <a:pt x="4381500" y="0"/>
                  </a:lnTo>
                  <a:lnTo>
                    <a:pt x="4381500" y="342900"/>
                  </a:lnTo>
                  <a:lnTo>
                    <a:pt x="5715000" y="342900"/>
                  </a:lnTo>
                  <a:lnTo>
                    <a:pt x="5715000" y="0"/>
                  </a:lnTo>
                  <a:lnTo>
                    <a:pt x="7048500" y="0"/>
                  </a:lnTo>
                  <a:lnTo>
                    <a:pt x="7048500" y="342900"/>
                  </a:lnTo>
                  <a:lnTo>
                    <a:pt x="8382000" y="342900"/>
                  </a:lnTo>
                  <a:lnTo>
                    <a:pt x="8382000" y="0"/>
                  </a:lnTo>
                  <a:lnTo>
                    <a:pt x="8496300" y="0"/>
                  </a:lnTo>
                </a:path>
              </a:pathLst>
            </a:custGeom>
            <a:noFill/>
            <a:ln w="24765">
              <a:solidFill>
                <a:srgbClr val="1F5FA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333750" y="1905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238500" y="185737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47625"/>
                  </a:moveTo>
                  <a:lnTo>
                    <a:pt x="104775" y="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Polygon 18"/>
            <p:cNvSpPr/>
            <p:nvPr/>
          </p:nvSpPr>
          <p:spPr>
            <a:xfrm>
              <a:off x="5800725" y="185737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11002" y="1790700"/>
              <a:ext cx="721042" cy="2286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64736" y="183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3516" y="16583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上升沿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3295650" y="2809875"/>
              <a:ext cx="2552700" cy="323850"/>
            </a:xfrm>
            <a:custGeom>
              <a:avLst/>
              <a:gdLst/>
              <a:ahLst/>
              <a:cxnLst/>
              <a:rect l="l" t="t" r="r" b="b"/>
              <a:pathLst>
                <a:path w="2552700" h="323850">
                  <a:moveTo>
                    <a:pt x="0" y="161925"/>
                  </a:moveTo>
                  <a:lnTo>
                    <a:pt x="123825" y="0"/>
                  </a:lnTo>
                  <a:lnTo>
                    <a:pt x="2428875" y="0"/>
                  </a:lnTo>
                  <a:lnTo>
                    <a:pt x="2552700" y="161925"/>
                  </a:lnTo>
                  <a:lnTo>
                    <a:pt x="2428875" y="323850"/>
                  </a:lnTo>
                  <a:lnTo>
                    <a:pt x="123825" y="323850"/>
                  </a:lnTo>
                  <a:close/>
                </a:path>
              </a:pathLst>
            </a:cu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5962650" y="2809875"/>
              <a:ext cx="2552700" cy="323850"/>
            </a:xfrm>
            <a:custGeom>
              <a:avLst/>
              <a:gdLst/>
              <a:ahLst/>
              <a:cxnLst/>
              <a:rect l="l" t="t" r="r" b="b"/>
              <a:pathLst>
                <a:path w="2552700" h="323850">
                  <a:moveTo>
                    <a:pt x="0" y="161925"/>
                  </a:moveTo>
                  <a:lnTo>
                    <a:pt x="123825" y="0"/>
                  </a:lnTo>
                  <a:lnTo>
                    <a:pt x="2428875" y="0"/>
                  </a:lnTo>
                  <a:lnTo>
                    <a:pt x="2552700" y="161925"/>
                  </a:lnTo>
                  <a:lnTo>
                    <a:pt x="2428875" y="323850"/>
                  </a:lnTo>
                  <a:lnTo>
                    <a:pt x="123825" y="323850"/>
                  </a:lnTo>
                  <a:close/>
                </a:path>
              </a:pathLst>
            </a:cu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629650" y="2809875"/>
              <a:ext cx="2552700" cy="323850"/>
            </a:xfrm>
            <a:custGeom>
              <a:avLst/>
              <a:gdLst/>
              <a:ahLst/>
              <a:cxnLst/>
              <a:rect l="l" t="t" r="r" b="b"/>
              <a:pathLst>
                <a:path w="2552700" h="323850">
                  <a:moveTo>
                    <a:pt x="0" y="161925"/>
                  </a:moveTo>
                  <a:lnTo>
                    <a:pt x="123825" y="0"/>
                  </a:lnTo>
                  <a:lnTo>
                    <a:pt x="2428875" y="0"/>
                  </a:lnTo>
                  <a:lnTo>
                    <a:pt x="2552700" y="161925"/>
                  </a:lnTo>
                  <a:lnTo>
                    <a:pt x="2428875" y="323850"/>
                  </a:lnTo>
                  <a:lnTo>
                    <a:pt x="123825" y="323850"/>
                  </a:lnTo>
                  <a:close/>
                </a:path>
              </a:pathLst>
            </a:cu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87800" y="29027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组合逻辑传送、计算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5695950" y="3400425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142875"/>
                  </a:moveTo>
                  <a:lnTo>
                    <a:pt x="85725" y="0"/>
                  </a:lnTo>
                  <a:lnTo>
                    <a:pt x="333375" y="0"/>
                  </a:lnTo>
                  <a:lnTo>
                    <a:pt x="419100" y="142875"/>
                  </a:lnTo>
                  <a:lnTo>
                    <a:pt x="333375" y="28575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362950" y="3400425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142875"/>
                  </a:moveTo>
                  <a:lnTo>
                    <a:pt x="85725" y="0"/>
                  </a:lnTo>
                  <a:lnTo>
                    <a:pt x="333375" y="0"/>
                  </a:lnTo>
                  <a:lnTo>
                    <a:pt x="419100" y="142875"/>
                  </a:lnTo>
                  <a:lnTo>
                    <a:pt x="333375" y="28575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029950" y="3400425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142875"/>
                  </a:moveTo>
                  <a:lnTo>
                    <a:pt x="85725" y="0"/>
                  </a:lnTo>
                  <a:lnTo>
                    <a:pt x="333375" y="0"/>
                  </a:lnTo>
                  <a:lnTo>
                    <a:pt x="419100" y="142875"/>
                  </a:lnTo>
                  <a:lnTo>
                    <a:pt x="333375" y="28575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04966" y="34823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写入寄存器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857500" y="38862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11249025" y="383857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87138" y="38366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</p:grpSp>
      <p:grpSp>
        <p:nvGrpSpPr>
          <p:cNvPr id="39" name="c-period"/>
          <p:cNvGrpSpPr/>
          <p:nvPr/>
        </p:nvGrpSpPr>
        <p:grpSpPr>
          <a:xfrm>
            <a:off x="533400" y="4152900"/>
            <a:ext cx="3581400" cy="1504950"/>
            <a:chOff x="533400" y="4152900"/>
            <a:chExt cx="3581400" cy="1504950"/>
          </a:xfrm>
        </p:grpSpPr>
        <p:sp>
          <p:nvSpPr>
            <p:cNvPr id="34" name="Rectangle 34"/>
            <p:cNvSpPr/>
            <p:nvPr/>
          </p:nvSpPr>
          <p:spPr>
            <a:xfrm>
              <a:off x="533400" y="4152900"/>
              <a:ext cx="3581400" cy="1504950"/>
            </a:xfrm>
            <a:prstGeom prst="roundRect">
              <a:avLst>
                <a:gd name="adj" fmla="val 8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862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4286250"/>
              <a:ext cx="173545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5651" y="4345781"/>
              <a:ext cx="1588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时钟周期 clock period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904" y="4690110"/>
              <a:ext cx="2677287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一个时钟持续的时间，即相邻两个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上升沿之间的间隔。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</a:t>
              </a: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 ps = 0.25 ns = 250×10⁻¹² s</a:t>
              </a:r>
            </a:p>
          </p:txBody>
        </p:sp>
      </p:grpSp>
      <p:grpSp>
        <p:nvGrpSpPr>
          <p:cNvPr id="45" name="c-rate"/>
          <p:cNvGrpSpPr/>
          <p:nvPr/>
        </p:nvGrpSpPr>
        <p:grpSpPr>
          <a:xfrm>
            <a:off x="4305300" y="4152900"/>
            <a:ext cx="3581400" cy="1504950"/>
            <a:chOff x="4305300" y="4152900"/>
            <a:chExt cx="3581400" cy="1504950"/>
          </a:xfrm>
        </p:grpSpPr>
        <p:sp>
          <p:nvSpPr>
            <p:cNvPr id="40" name="Rectangle 40"/>
            <p:cNvSpPr/>
            <p:nvPr/>
          </p:nvSpPr>
          <p:spPr>
            <a:xfrm>
              <a:off x="4305300" y="4152900"/>
              <a:ext cx="3581400" cy="1504950"/>
            </a:xfrm>
            <a:prstGeom prst="roundRect">
              <a:avLst>
                <a:gd name="adj" fmla="val 8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14825" y="42862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33900" y="4286250"/>
              <a:ext cx="160782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11016" y="4345781"/>
              <a:ext cx="1453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时钟频率 clock rate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27804" y="4690110"/>
              <a:ext cx="2797302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每秒包含的时钟周期数，是时钟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周期的倒数。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</a:t>
              </a: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 GHz = 4000 MHz = 4.0×10⁹ Hz</a:t>
              </a:r>
            </a:p>
          </p:txBody>
        </p:sp>
      </p:grpSp>
      <p:grpSp>
        <p:nvGrpSpPr>
          <p:cNvPr id="51" name="c-cycle"/>
          <p:cNvGrpSpPr/>
          <p:nvPr/>
        </p:nvGrpSpPr>
        <p:grpSpPr>
          <a:xfrm>
            <a:off x="8077200" y="4152900"/>
            <a:ext cx="3581400" cy="1504950"/>
            <a:chOff x="8077200" y="4152900"/>
            <a:chExt cx="3581400" cy="1504950"/>
          </a:xfrm>
        </p:grpSpPr>
        <p:sp>
          <p:nvSpPr>
            <p:cNvPr id="46" name="Rectangle 46"/>
            <p:cNvSpPr/>
            <p:nvPr/>
          </p:nvSpPr>
          <p:spPr>
            <a:xfrm>
              <a:off x="8077200" y="4152900"/>
              <a:ext cx="3581400" cy="1504950"/>
            </a:xfrm>
            <a:prstGeom prst="roundRect">
              <a:avLst>
                <a:gd name="adj" fmla="val 8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86725" y="42862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05800" y="4286250"/>
              <a:ext cx="15278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85505" y="43457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一个周期里发生什么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99704" y="4690110"/>
              <a:ext cx="2602992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数据在部件之间传送并完成计算，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结果要在下一个时钟边沿之前稳定，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边沿到来时写入寄存器（更新状态）。</a:t>
              </a:r>
            </a:p>
          </p:txBody>
        </p:sp>
      </p:grpSp>
      <p:grpSp>
        <p:nvGrpSpPr>
          <p:cNvPr id="55" name="relation"/>
          <p:cNvGrpSpPr/>
          <p:nvPr/>
        </p:nvGrpSpPr>
        <p:grpSpPr>
          <a:xfrm>
            <a:off x="533400" y="5772150"/>
            <a:ext cx="6667500" cy="590550"/>
            <a:chOff x="533400" y="5772150"/>
            <a:chExt cx="6667500" cy="590550"/>
          </a:xfrm>
        </p:grpSpPr>
        <p:sp>
          <p:nvSpPr>
            <p:cNvPr id="52" name="Rectangle 52"/>
            <p:cNvSpPr/>
            <p:nvPr/>
          </p:nvSpPr>
          <p:spPr>
            <a:xfrm>
              <a:off x="533400" y="5772150"/>
              <a:ext cx="6667500" cy="590550"/>
            </a:xfrm>
            <a:prstGeom prst="roundRect">
              <a:avLst>
                <a:gd name="adj" fmla="val 19355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5523" y="5882164"/>
              <a:ext cx="1907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 = 1 / 时钟频率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6285" y="6126956"/>
              <a:ext cx="4597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CE7F5"/>
                  </a:solidFill>
                  <a:latin typeface="+mn-lt"/>
                  <a:ea typeface="+mn-ea"/>
                  <a:cs typeface="+mn-cs"/>
                </a:rPr>
                <a:t>两个例子是同一个时钟：1 / (4.0×10⁹ Hz) = 2.5×10⁻¹⁰ s = 250 ps</a:t>
              </a:r>
            </a:p>
          </p:txBody>
        </p:sp>
      </p:grpSp>
      <p:grpSp>
        <p:nvGrpSpPr>
          <p:cNvPr id="60" name="correction"/>
          <p:cNvGrpSpPr/>
          <p:nvPr/>
        </p:nvGrpSpPr>
        <p:grpSpPr>
          <a:xfrm>
            <a:off x="7391400" y="5772150"/>
            <a:ext cx="4267200" cy="590550"/>
            <a:chOff x="7391400" y="5772150"/>
            <a:chExt cx="4267200" cy="590550"/>
          </a:xfrm>
        </p:grpSpPr>
        <p:sp>
          <p:nvSpPr>
            <p:cNvPr id="56" name="Rectangle 56"/>
            <p:cNvSpPr/>
            <p:nvPr/>
          </p:nvSpPr>
          <p:spPr>
            <a:xfrm>
              <a:off x="7391400" y="5772150"/>
              <a:ext cx="4267200" cy="590550"/>
            </a:xfrm>
            <a:prstGeom prst="roundRect">
              <a:avLst>
                <a:gd name="adj" fmla="val 1935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00925" y="5867400"/>
              <a:ext cx="47625" cy="4000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95235" y="589835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原课件第三行写作“恢复时间”，教材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95235" y="6126956"/>
              <a:ext cx="2994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原图为 Update state，应译为“更新状态”。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9923" cy="909257"/>
            <a:chOff x="520446" y="342900"/>
            <a:chExt cx="81199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99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= 时钟周期数 × 时钟周期：缩短它有两条路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6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时间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时钟周期数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时钟周期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CPU 时钟周期数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时钟频率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239328"/>
            <a:ext cx="6059805" cy="1725930"/>
            <a:chOff x="533400" y="2239328"/>
            <a:chExt cx="6059805" cy="1725930"/>
          </a:xfrm>
        </p:grpSpPr>
        <p:sp>
          <p:nvSpPr>
            <p:cNvPr id="8" name="Rectangle 8"/>
            <p:cNvSpPr/>
            <p:nvPr/>
          </p:nvSpPr>
          <p:spPr>
            <a:xfrm>
              <a:off x="533400" y="2239328"/>
              <a:ext cx="6059805" cy="1725930"/>
            </a:xfrm>
            <a:prstGeom prst="roundRect">
              <a:avLst>
                <a:gd name="adj" fmla="val 77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5805" y="243173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242" y="24660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改进性能的两条路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5805" y="277558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1483" y="28149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6602" y="2787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减少程序需要的时钟周期数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5805" y="307848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1483" y="31168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6602" y="309086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提高时钟频率，也就是缩短时钟周期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0090" y="3389471"/>
              <a:ext cx="54165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两者常常此消彼长：为提高频率而减少每个周期做的事，完成同样的工作就需要更多周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期。硬件设计者要在两者之间权衡。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139565"/>
            <a:ext cx="6059805" cy="1775460"/>
            <a:chOff x="533400" y="4139565"/>
            <a:chExt cx="6059805" cy="1775460"/>
          </a:xfrm>
        </p:grpSpPr>
        <p:sp>
          <p:nvSpPr>
            <p:cNvPr id="19" name="Rectangle 19"/>
            <p:cNvSpPr/>
            <p:nvPr/>
          </p:nvSpPr>
          <p:spPr>
            <a:xfrm>
              <a:off x="533400" y="4139565"/>
              <a:ext cx="6059805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272915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33197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344" y="436626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7453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689158"/>
              <a:ext cx="5385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程序需要 10×10⁹ 个时钟周期，频率 2 GHz：10×10⁹ / 2×10⁹ = 5 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50472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991100"/>
              <a:ext cx="49257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频率提到 2.5 GHz，但周期数增至 12×10⁹：12×10⁹ / 2.5×10⁹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 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8190" y="5547836"/>
              <a:ext cx="2536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频率提高 25%，执行时间只缩短 4%。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898005" y="1524000"/>
            <a:ext cx="4760595" cy="1209675"/>
            <a:chOff x="6898005" y="1524000"/>
            <a:chExt cx="4760595" cy="1209675"/>
          </a:xfrm>
        </p:grpSpPr>
        <p:sp>
          <p:nvSpPr>
            <p:cNvPr id="29" name="Rectangle 29"/>
            <p:cNvSpPr/>
            <p:nvPr/>
          </p:nvSpPr>
          <p:spPr>
            <a:xfrm>
              <a:off x="6898005" y="1524000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21652" y="2072640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原课件把第 2 条写作“增加时钟效率？”，教材原文为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increase clock rate，应为“提高时钟频率”。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898005" y="2908935"/>
            <a:ext cx="4760595" cy="2028825"/>
            <a:chOff x="6898005" y="2908935"/>
            <a:chExt cx="4760595" cy="2028825"/>
          </a:xfrm>
        </p:grpSpPr>
        <p:sp>
          <p:nvSpPr>
            <p:cNvPr id="35" name="Rectangle 35"/>
            <p:cNvSpPr/>
            <p:nvPr/>
          </p:nvSpPr>
          <p:spPr>
            <a:xfrm>
              <a:off x="6898005" y="2908935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99414" y="30332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时间单位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31438" y="30332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8017" y="3439001"/>
              <a:ext cx="566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 毫秒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16315" y="343900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10⁻³ 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37157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372046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8017" y="3844766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 纳秒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16315" y="384476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10⁻⁹ 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41214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8017" y="425053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皮秒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6315" y="4250531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10⁻¹² 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45272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453199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8017" y="4656296"/>
              <a:ext cx="63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GHz 吉赫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16315" y="4656296"/>
              <a:ext cx="1258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10⁹ Hz = 10³ MHz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2908935"/>
              <a:ext cx="47605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11540" y="290893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例题：计算机 B 的时钟频率要提高到多少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328160" cy="2374582"/>
            <a:chOff x="533400" y="1524000"/>
            <a:chExt cx="4328160" cy="2374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374582"/>
            </a:xfrm>
            <a:prstGeom prst="roundRect">
              <a:avLst>
                <a:gd name="adj" fmla="val 5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07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5455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 A：时钟频率 2 GHz，运行某程序的 CPU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时间为 10 s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3825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要设计计算机 B，使同一程序的 CPU 时间为 6 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18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35605"/>
              <a:ext cx="35884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可以提高时钟频率，但这会使程序需要的时钟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周期数变为 A 的 1.2 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494722"/>
              <a:ext cx="2357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：B 的时钟频率应为多少？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072890"/>
            <a:ext cx="4328160" cy="1532572"/>
            <a:chOff x="533400" y="4072890"/>
            <a:chExt cx="4328160" cy="1532572"/>
          </a:xfrm>
        </p:grpSpPr>
        <p:sp>
          <p:nvSpPr>
            <p:cNvPr id="19" name="Rectangle 19"/>
            <p:cNvSpPr/>
            <p:nvPr/>
          </p:nvSpPr>
          <p:spPr>
            <a:xfrm>
              <a:off x="533400" y="4072890"/>
              <a:ext cx="4328160" cy="1532572"/>
            </a:xfrm>
            <a:prstGeom prst="roundRect">
              <a:avLst>
                <a:gd name="adj" fmla="val 74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739640"/>
              <a:ext cx="200026" cy="200025"/>
              <a:chOff x="738188" y="473964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739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784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895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4620578"/>
              <a:ext cx="32969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思路：先由 A 求出程序的时钟周期数，再用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的周期数和目标时间求频率。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166360" y="1533525"/>
            <a:ext cx="4829063" cy="2279809"/>
            <a:chOff x="5166360" y="1533525"/>
            <a:chExt cx="4829063" cy="2279809"/>
          </a:xfrm>
        </p:grpSpPr>
        <p:sp>
          <p:nvSpPr>
            <p:cNvPr id="26" name="Rectangle 26"/>
            <p:cNvSpPr/>
            <p:nvPr/>
          </p:nvSpPr>
          <p:spPr>
            <a:xfrm>
              <a:off x="529971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16636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998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16636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998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166360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998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78602" y="1564957"/>
              <a:ext cx="1275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的时钟周期数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79745" y="1833086"/>
              <a:ext cx="3422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时间A × 时钟频率A = 10 s × 2 GHz = 20 × 10⁹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78602" y="2152650"/>
              <a:ext cx="1275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的时钟周期数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9745" y="2419826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× 20 × 10⁹ = 24 × 10⁹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78602" y="2739390"/>
              <a:ext cx="1093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的时钟频率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79745" y="3006566"/>
              <a:ext cx="4415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时钟周期数B / CPU 时间B = 24 × 10⁹ / 6 s = 4 × 10⁹ Hz = </a:t>
              </a:r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 GHz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860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9745" y="3593306"/>
              <a:ext cx="2831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× 10⁹ / (4 × 10⁹ Hz) = 6 s，符合要求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5166360" y="3982402"/>
            <a:ext cx="6492240" cy="1623060"/>
            <a:chOff x="5166360" y="3982402"/>
            <a:chExt cx="6492240" cy="1623060"/>
          </a:xfrm>
        </p:grpSpPr>
        <p:sp>
          <p:nvSpPr>
            <p:cNvPr id="44" name="Rectangle 44"/>
            <p:cNvSpPr/>
            <p:nvPr/>
          </p:nvSpPr>
          <p:spPr>
            <a:xfrm>
              <a:off x="5166360" y="3982402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35713" y="4106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83106" y="41067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75878" y="4106704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59809" y="41067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时钟频率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6372" y="451246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14960" y="451246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× 10⁹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70092" y="4512469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55998" y="4512469"/>
              <a:ext cx="402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GHz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66360" y="47891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166360" y="4793932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6372" y="4918234"/>
              <a:ext cx="130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B（周期数 × 1.2）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14960" y="491823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× 10⁹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53018" y="491823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85070" y="4803458"/>
              <a:ext cx="156400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155998" y="4918234"/>
              <a:ext cx="402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GHz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51949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66372" y="5323999"/>
              <a:ext cx="1359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对照：B 周期数不变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14960" y="532399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× 10⁹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53018" y="532399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64838" y="5323999"/>
              <a:ext cx="793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3.33 GHz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66360" y="3982402"/>
              <a:ext cx="649224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212330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709660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070782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9502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频率翻倍（2 GHz → 4 GHz），CPU 时间只降到 60%。表中第三行是假设的对照：周期数若不增加，3.33 GHz 就够了。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5584" cy="909257"/>
            <a:chOff x="520446" y="342900"/>
            <a:chExt cx="80455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5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指令数与 CPI：CPU 时间 = 指令数 × CPI × 时钟周期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时钟周期数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指令数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0"/>
              <p:cNvSpPr txBox="1">
                <a:spLocks noGrp="1"/>
              </p:cNvSpPr>
              <p:nvPr/>
            </p:nvSpPr>
            <p:spPr>
              <a:xfrm>
                <a:off x="533400" y="2171700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时间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指令数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时钟周期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指令数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时钟频率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953702"/>
            <a:ext cx="5842635" cy="1316355"/>
            <a:chOff x="533400" y="2953702"/>
            <a:chExt cx="5842635" cy="1316355"/>
          </a:xfrm>
        </p:grpSpPr>
        <p:sp>
          <p:nvSpPr>
            <p:cNvPr id="9" name="Rectangle 9"/>
            <p:cNvSpPr/>
            <p:nvPr/>
          </p:nvSpPr>
          <p:spPr>
            <a:xfrm>
              <a:off x="533400" y="2953702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08705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3163252"/>
              <a:ext cx="27422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7629" y="3198971"/>
              <a:ext cx="27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CPI（clock cycles per instruction）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540442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每条指令的平均时钟周期数。不同指令需要的周期数不同时，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是程序执行的全部指令的平均值。</a:t>
              </a:r>
            </a:p>
          </p:txBody>
        </p:sp>
      </p:grpSp>
      <p:grpSp>
        <p:nvGrpSpPr>
          <p:cNvPr id="21" name="c1-callout-4"/>
          <p:cNvGrpSpPr/>
          <p:nvPr/>
        </p:nvGrpSpPr>
        <p:grpSpPr>
          <a:xfrm>
            <a:off x="533400" y="4460558"/>
            <a:ext cx="5842635" cy="782955"/>
            <a:chOff x="533400" y="4460558"/>
            <a:chExt cx="5842635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446055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752023"/>
              <a:ext cx="200026" cy="200025"/>
              <a:chOff x="738188" y="4752023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7520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7964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9075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609148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例：程序执行 5×10⁹ 条指令，CPI = 1.2，时钟频率 3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GHz，CPU 时间 = 5×10⁹ × 1.2 / 3×10⁹ = 2 s。</a:t>
              </a:r>
            </a:p>
          </p:txBody>
        </p:sp>
      </p:grpSp>
      <p:grpSp>
        <p:nvGrpSpPr>
          <p:cNvPr id="28" name="c1-callout-5"/>
          <p:cNvGrpSpPr/>
          <p:nvPr/>
        </p:nvGrpSpPr>
        <p:grpSpPr>
          <a:xfrm>
            <a:off x="533400" y="5434012"/>
            <a:ext cx="5842635" cy="782955"/>
            <a:chOff x="533400" y="5434012"/>
            <a:chExt cx="5842635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43401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725478"/>
              <a:ext cx="200026" cy="200026"/>
              <a:chOff x="738188" y="5725478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7254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792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8254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582602"/>
              <a:ext cx="4768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量纲检查：条 × (周期 / 条) × (秒 / 周期) = 秒。代入数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字前先把 ps、GHz 换成 s、Hz。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680835" y="1524000"/>
            <a:ext cx="4977765" cy="2217420"/>
            <a:chOff x="6680835" y="1524000"/>
            <a:chExt cx="4977765" cy="2217420"/>
          </a:xfrm>
        </p:grpSpPr>
        <p:sp>
          <p:nvSpPr>
            <p:cNvPr id="29" name="Rectangle 29"/>
            <p:cNvSpPr/>
            <p:nvPr/>
          </p:nvSpPr>
          <p:spPr>
            <a:xfrm>
              <a:off x="6680835" y="1524000"/>
              <a:ext cx="497776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1804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0403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由什么决定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7515" y="2150745"/>
              <a:ext cx="87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指令数 IC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1035" y="21507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程序本身、指令集体系结构和编译器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24945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0835" y="2499360"/>
              <a:ext cx="497776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7515" y="2771775"/>
              <a:ext cx="328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035" y="2638425"/>
              <a:ext cx="30537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硬件；各类指令 CPI 不同时，还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取决于程序中各类指令所占的比例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32489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7515" y="3392805"/>
              <a:ext cx="1128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 Tc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1035" y="33928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处理器的硬件实现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22174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69592" y="152400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2"/>
          <p:cNvGrpSpPr/>
          <p:nvPr/>
        </p:nvGrpSpPr>
        <p:grpSpPr>
          <a:xfrm>
            <a:off x="6680835" y="3931920"/>
            <a:ext cx="4977765" cy="782955"/>
            <a:chOff x="6680835" y="3931920"/>
            <a:chExt cx="4977765" cy="782955"/>
          </a:xfrm>
        </p:grpSpPr>
        <p:sp>
          <p:nvSpPr>
            <p:cNvPr id="44" name="Rectangle 44"/>
            <p:cNvSpPr/>
            <p:nvPr/>
          </p:nvSpPr>
          <p:spPr>
            <a:xfrm>
              <a:off x="6680835" y="393192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873564" y="4219693"/>
              <a:ext cx="224134" cy="192560"/>
              <a:chOff x="6873564" y="421969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985635" y="42900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73564" y="42196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85635" y="4367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187565" y="408051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两台计算机指令集相同时，同一程序的指令数相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同，只需比较 CPI × 时钟周期。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680835" y="4905375"/>
            <a:ext cx="4977765" cy="1311592"/>
            <a:chOff x="6680835" y="4905375"/>
            <a:chExt cx="4977765" cy="1311592"/>
          </a:xfrm>
        </p:grpSpPr>
        <p:sp>
          <p:nvSpPr>
            <p:cNvPr id="51" name="Rectangle 51"/>
            <p:cNvSpPr/>
            <p:nvPr/>
          </p:nvSpPr>
          <p:spPr>
            <a:xfrm>
              <a:off x="6680835" y="4905375"/>
              <a:ext cx="4977765" cy="1311592"/>
            </a:xfrm>
            <a:prstGeom prst="roundRect">
              <a:avLst>
                <a:gd name="adj" fmla="val 87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885623" y="5460683"/>
              <a:ext cx="200026" cy="200026"/>
              <a:chOff x="6885623" y="5460683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885623" y="54606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85635" y="5527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74523" y="55606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187565" y="5180648"/>
              <a:ext cx="3968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可以小于 1：能在一个时钟周期内处理多条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指令的处理器就是这样，第六部分 CINT2006 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中就有 CPI = 0.44 的程序。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例题：同一指令集的两台计算机，哪台更快、快多少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28066" y="1524000"/>
            <a:ext cx="4333494" cy="1614107"/>
            <a:chOff x="528066" y="1524000"/>
            <a:chExt cx="4333494" cy="161410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599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3573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93487" y="1651635"/>
              <a:ext cx="295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9758" y="209645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2058" y="2096452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 ps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84691" y="209645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0887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13635"/>
              <a:ext cx="432816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9758" y="254127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2058" y="2541270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4691" y="254127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328160" cy="1333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86915" y="152400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15690" y="152400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066" y="2932748"/>
              <a:ext cx="3351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指令集体系结构相同，运行同一程序，指令数都记为 I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3271838"/>
            <a:ext cx="4328160" cy="729615"/>
            <a:chOff x="533400" y="3271838"/>
            <a:chExt cx="4328160" cy="729615"/>
          </a:xfrm>
        </p:grpSpPr>
        <p:sp>
          <p:nvSpPr>
            <p:cNvPr id="24" name="Rectangle 24"/>
            <p:cNvSpPr/>
            <p:nvPr/>
          </p:nvSpPr>
          <p:spPr>
            <a:xfrm>
              <a:off x="533400" y="3271838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3536633"/>
              <a:ext cx="200026" cy="200025"/>
              <a:chOff x="738188" y="353663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35366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35810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36922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3417570"/>
              <a:ext cx="32969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指令集相同 ⇒ 指令数相同，比较每条指令的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平均耗时 CPI × 时钟周期即可。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175760"/>
            <a:ext cx="4328160" cy="1473518"/>
            <a:chOff x="533400" y="4175760"/>
            <a:chExt cx="4328160" cy="1473518"/>
          </a:xfrm>
        </p:grpSpPr>
        <p:sp>
          <p:nvSpPr>
            <p:cNvPr id="31" name="Rectangle 31"/>
            <p:cNvSpPr/>
            <p:nvPr/>
          </p:nvSpPr>
          <p:spPr>
            <a:xfrm>
              <a:off x="533400" y="4175760"/>
              <a:ext cx="4328160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309110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43681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5345" y="4402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4725352"/>
              <a:ext cx="34598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B 通过改进把 CPI 降到 0.9：每条指令平均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 × 500 ps = 450 ps，比 A 的 500 ps 短。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8190" y="5281136"/>
              <a:ext cx="3136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这时 B 更快，B 比 A 快 500 / 450 ≈ 1.11 倍。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5166360" y="1533525"/>
            <a:ext cx="4342267" cy="2279809"/>
            <a:chOff x="5166360" y="1533525"/>
            <a:chExt cx="4342267" cy="2279809"/>
          </a:xfrm>
        </p:grpSpPr>
        <p:sp>
          <p:nvSpPr>
            <p:cNvPr id="38" name="Rectangle 38"/>
            <p:cNvSpPr/>
            <p:nvPr/>
          </p:nvSpPr>
          <p:spPr>
            <a:xfrm>
              <a:off x="529971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16636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998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16636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5998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166360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5998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78602" y="1564957"/>
              <a:ext cx="1183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 CPU 时间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79745" y="1833086"/>
              <a:ext cx="3854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× CPI(A) × 时钟周期(A) = I × 2.0 × 250 ps = 500·I 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78602" y="2152650"/>
              <a:ext cx="1183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 CPU 时间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79745" y="2419826"/>
              <a:ext cx="3854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× CPI(B) × 时钟周期(B) = I × 1.2 × 500 ps = 600·I ps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78602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求比值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79745" y="3006566"/>
              <a:ext cx="39288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时间(B) / CPU 时间(A) = 600·I ps / 500·I ps = 1.2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7860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9745" y="3593306"/>
              <a:ext cx="1716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更快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，A 比 B 快 1.2 倍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5161026" y="3982402"/>
            <a:ext cx="6497574" cy="1496949"/>
            <a:chOff x="5161026" y="3982402"/>
            <a:chExt cx="6497574" cy="1496949"/>
          </a:xfrm>
        </p:grpSpPr>
        <p:sp>
          <p:nvSpPr>
            <p:cNvPr id="56" name="Rectangle 56"/>
            <p:cNvSpPr/>
            <p:nvPr/>
          </p:nvSpPr>
          <p:spPr>
            <a:xfrm>
              <a:off x="5166360" y="3982402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53596" y="41067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38894" y="4106704"/>
              <a:ext cx="1668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时钟频率 = 1 / 时钟周期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85644" y="4106704"/>
              <a:ext cx="2429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每秒执行的指令数 = 时钟频率 / CPI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33757" y="451246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05550" y="4512469"/>
              <a:ext cx="1306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250 ps = 4 GHz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42032" y="4512469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10⁹ / 2.0 = 2.0 × 10⁹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47891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166360" y="4793932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33757" y="49182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05550" y="4918234"/>
              <a:ext cx="1306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500 ps = 2 GHz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42032" y="4918234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10⁹ / 1.2 ≈ 1.67 × 10⁹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166360" y="3982402"/>
              <a:ext cx="649224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00775" y="398240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537258" y="398240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61026" y="5273992"/>
              <a:ext cx="6428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换一种算法验算：2.0 / 1.67 ≈ 1.2，结论相同。指令集相同才能这样比，理由见第 48 页的 MIPS 陷阱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6578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 的 CPI 更小却更慢。只看 CPI 或只看时钟周期都会下错结论，要看两者的乘积。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40978" cy="909257"/>
            <a:chOff x="520446" y="342900"/>
            <a:chExt cx="6240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40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各类指令 CPI 不同时，按加权平均求 CPI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3"/>
              <p:cNvSpPr txBox="1">
                <a:spLocks noGrp="1"/>
              </p:cNvSpPr>
              <p:nvPr/>
            </p:nvSpPr>
            <p:spPr>
              <a:xfrm>
                <a:off x="533400" y="1524000"/>
                <a:ext cx="5085398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时钟周期数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CPI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指令数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4"/>
              <p:cNvSpPr txBox="1">
                <a:spLocks noGrp="1"/>
              </p:cNvSpPr>
              <p:nvPr/>
            </p:nvSpPr>
            <p:spPr>
              <a:xfrm>
                <a:off x="533400" y="2447925"/>
                <a:ext cx="5085398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CPU 时钟周期数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指令数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CPI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e>
                                      <m:r>
                                        <m:rPr>
                                          <m:nor m:val="on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指令数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指令数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llout-3"/>
          <p:cNvGrpSpPr/>
          <p:nvPr/>
        </p:nvGrpSpPr>
        <p:grpSpPr>
          <a:xfrm>
            <a:off x="533400" y="3371850"/>
            <a:ext cx="5085398" cy="1059180"/>
            <a:chOff x="533400" y="3371850"/>
            <a:chExt cx="5085398" cy="1059180"/>
          </a:xfrm>
        </p:grpSpPr>
        <p:sp>
          <p:nvSpPr>
            <p:cNvPr id="9" name="Rectangle 9"/>
            <p:cNvSpPr/>
            <p:nvPr/>
          </p:nvSpPr>
          <p:spPr>
            <a:xfrm>
              <a:off x="533400" y="3371850"/>
              <a:ext cx="508539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3801428"/>
              <a:ext cx="200026" cy="200026"/>
              <a:chOff x="738188" y="3801428"/>
              <a:chExt cx="200026" cy="2000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38188" y="38014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38200" y="3868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27088" y="39014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3520440"/>
              <a:ext cx="4187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指令数ᵢ / 指令数 是第 i 类指令的相对频率。平均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取决于程序中各类指令所占的比例，所以编译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器也会影响 CPI。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5917882" y="1524000"/>
            <a:ext cx="5740718" cy="2091214"/>
            <a:chOff x="5917882" y="1524000"/>
            <a:chExt cx="5740718" cy="2091214"/>
          </a:xfrm>
        </p:grpSpPr>
        <p:sp>
          <p:nvSpPr>
            <p:cNvPr id="16" name="Rectangle 16"/>
            <p:cNvSpPr/>
            <p:nvPr/>
          </p:nvSpPr>
          <p:spPr>
            <a:xfrm>
              <a:off x="5923598" y="1524000"/>
              <a:ext cx="573500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935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指令类别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8871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361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17574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1420" y="2108359"/>
              <a:ext cx="1199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该类指令的 CPI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389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88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2275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23598" y="241649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23598" y="2421255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1420" y="2556986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1 中的条数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389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5880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2275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23598" y="28660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31420" y="300561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2 中的条数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9389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5880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275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23598" y="1524000"/>
              <a:ext cx="573500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6102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32497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4898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7882" y="33951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例：同一段高级语言代码，编译器可以生成两种指令序列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5923598" y="3761422"/>
            <a:ext cx="5735002" cy="1346835"/>
            <a:chOff x="5923598" y="3761422"/>
            <a:chExt cx="5735002" cy="1346835"/>
          </a:xfrm>
        </p:grpSpPr>
        <p:sp>
          <p:nvSpPr>
            <p:cNvPr id="42" name="Rectangle 42"/>
            <p:cNvSpPr/>
            <p:nvPr/>
          </p:nvSpPr>
          <p:spPr>
            <a:xfrm>
              <a:off x="5923598" y="3761422"/>
              <a:ext cx="573500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03912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4565" y="38962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12466" y="38962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29609" y="3896201"/>
              <a:ext cx="6825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 CPI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7017" y="43457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9638" y="434578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2+1+2 = 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4761" y="4345781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 + 1×2 + 2×3 = 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33634" y="43457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10/5 = 2.0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23598" y="465391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23598" y="4658678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7017" y="479440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9638" y="479440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4+1+1 = 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227695" y="4668202"/>
              <a:ext cx="204501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72147" y="4794409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4×1 + 1×2 + 1×3 = 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291762" y="4668202"/>
              <a:ext cx="13573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81020" y="479440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9/6 = 1.5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23598" y="3761422"/>
              <a:ext cx="573500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3704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21340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27747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llout-3"/>
          <p:cNvGrpSpPr/>
          <p:nvPr/>
        </p:nvGrpSpPr>
        <p:grpSpPr>
          <a:xfrm>
            <a:off x="5923598" y="5297805"/>
            <a:ext cx="5735002" cy="782955"/>
            <a:chOff x="5923598" y="5297805"/>
            <a:chExt cx="5735002" cy="782955"/>
          </a:xfrm>
        </p:grpSpPr>
        <p:sp>
          <p:nvSpPr>
            <p:cNvPr id="64" name="Rectangle 64"/>
            <p:cNvSpPr/>
            <p:nvPr/>
          </p:nvSpPr>
          <p:spPr>
            <a:xfrm>
              <a:off x="5923598" y="529780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128385" y="5589270"/>
              <a:ext cx="200026" cy="200026"/>
              <a:chOff x="6128385" y="558927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128385" y="55892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95060" y="56670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430328" y="5446395"/>
              <a:ext cx="4339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序列 2 多执行 1 条指令，时钟周期数反而更少（9 &lt;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10），所以序列 2 更快。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性能公式总结：三个因子分别受哪些因素影响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6"/>
              <p:cNvSpPr txBox="1">
                <a:spLocks noGrp="1"/>
              </p:cNvSpPr>
              <p:nvPr/>
            </p:nvSpPr>
            <p:spPr>
              <a:xfrm>
                <a:off x="533400" y="1524000"/>
                <a:ext cx="11125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时间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程序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时钟周期数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秒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时钟周期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4" name="c1-table-2"/>
          <p:cNvGrpSpPr/>
          <p:nvPr/>
        </p:nvGrpSpPr>
        <p:grpSpPr>
          <a:xfrm>
            <a:off x="533400" y="2383155"/>
            <a:ext cx="11125200" cy="2697480"/>
            <a:chOff x="533400" y="2383155"/>
            <a:chExt cx="11125200" cy="2697480"/>
          </a:xfrm>
        </p:grpSpPr>
        <p:sp>
          <p:nvSpPr>
            <p:cNvPr id="8" name="Rectangle 8"/>
            <p:cNvSpPr/>
            <p:nvPr/>
          </p:nvSpPr>
          <p:spPr>
            <a:xfrm>
              <a:off x="533400" y="2383155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1931" y="25188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影响因素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50257" y="2518886"/>
              <a:ext cx="7497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指令数 IC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97351" y="2518886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0271" y="2518886"/>
              <a:ext cx="9626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 Tc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57108" y="25188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0808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32494" y="30808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8857" y="30808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68976" y="30808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2380" y="2967514"/>
              <a:ext cx="51661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决定执行多少条语句，从而决定指令数；若偏用除法等慢指令，CPI 也会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02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071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428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编程语言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32494" y="36428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5014" y="36428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68976" y="36428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92380" y="3642836"/>
              <a:ext cx="5546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语句要翻译成指令；语言特性（如大量间接调用）会用到 CPI 较高的指令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519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091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32494" y="409146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45014" y="409146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68976" y="409146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2380" y="409146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决定源语句怎样翻译成指令，同时影响指令数和各类指令的比例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005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0531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6534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指令集体系结构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32494" y="465343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45014" y="465343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68976" y="465343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92380" y="4540091"/>
              <a:ext cx="5214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决定完成一个功能要几条指令、每条指令几个周期，以及处理器的时钟频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383155"/>
              <a:ext cx="11125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08860" y="23831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532822" y="23831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33900" y="23831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79795" y="23831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935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三个因子的乘积才是 CPU 时间。单看时钟频率、CPI 或指令数中的任何一项，都可能得出错误结论。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功耗墙与多处理器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时钟频率为什么不再猛涨，处理器为什么转向多核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3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 功耗墙：CMOS 动态功耗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降低功耗的例题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 从单处理器转向多处理器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22484" cy="909257"/>
            <a:chOff x="520446" y="342900"/>
            <a:chExt cx="88224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功耗墙与多处理器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224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功耗增长趋势：频率和功耗一起上涨，2004 年后都停住了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28066" y="1524000"/>
            <a:ext cx="5415534" cy="4743069"/>
            <a:chOff x="528066" y="1524000"/>
            <a:chExt cx="5415534" cy="47430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2683" y="1648301"/>
              <a:ext cx="147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Intel 处理器（年份）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66157" y="1648301"/>
              <a:ext cx="96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时钟频率 MHz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03979" y="1648301"/>
              <a:ext cx="488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 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096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80286（1982）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09829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3380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096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80386（1985）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5681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83380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096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80486（1989）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5681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83380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1267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Pentium（1993）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5681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0454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1581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Pro（1997）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2755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0454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227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4 Willamette（2001）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09829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00454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75.3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2152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4 Prescott（2004）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56610" y="4373880"/>
              <a:ext cx="13877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09829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762500" y="4373880"/>
              <a:ext cx="11715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83380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65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7012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4894421"/>
              <a:ext cx="1993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2 Kentsfield（2007）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09829" y="48944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2667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66306" y="48944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1711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412" y="5300186"/>
              <a:ext cx="1953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i5 Clarkdale（2010）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09829" y="53001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6306" y="53001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5768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58165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3412" y="5705951"/>
              <a:ext cx="2007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i5 Ivy Bridge（2012）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09829" y="57059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6306" y="57059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5410200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42322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748212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066" y="6061710"/>
              <a:ext cx="3176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 年间 8 代 Intel x86 处理器，数据读自原课件图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formula31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功耗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负载电容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电压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开关频率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5" name="c2-card-2"/>
          <p:cNvGrpSpPr/>
          <p:nvPr/>
        </p:nvGrpSpPr>
        <p:grpSpPr>
          <a:xfrm>
            <a:off x="6248400" y="2239328"/>
            <a:ext cx="5410200" cy="1860232"/>
            <a:chOff x="6248400" y="2239328"/>
            <a:chExt cx="5410200" cy="1860232"/>
          </a:xfrm>
        </p:grpSpPr>
        <p:sp>
          <p:nvSpPr>
            <p:cNvPr id="63" name="Rectangle 63"/>
            <p:cNvSpPr/>
            <p:nvPr/>
          </p:nvSpPr>
          <p:spPr>
            <a:xfrm>
              <a:off x="6248400" y="2239328"/>
              <a:ext cx="5410200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2372678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8905" y="2431732"/>
              <a:ext cx="1148715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37838" y="2466023"/>
              <a:ext cx="1030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CMOS 动态功耗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87478" y="28441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43497" y="27879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主要的能耗发生在晶体管开关（0→1、1→0）时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487478" y="31470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43497" y="309086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负载电容：与输出端连接的晶体管数和工艺有关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87478" y="34490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43497" y="339280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开关频率：随时钟频率变化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87478" y="37518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43497" y="3695700"/>
              <a:ext cx="4277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电压：每代工艺约降 15%，20 多年从 5 V 降到约 1 V</a:t>
              </a:r>
            </a:p>
          </p:txBody>
        </p:sp>
      </p:grpSp>
      <p:grpSp>
        <p:nvGrpSpPr>
          <p:cNvPr id="82" name="c2-card-3"/>
          <p:cNvGrpSpPr/>
          <p:nvPr/>
        </p:nvGrpSpPr>
        <p:grpSpPr>
          <a:xfrm>
            <a:off x="6248400" y="4273868"/>
            <a:ext cx="5410200" cy="1951672"/>
            <a:chOff x="6248400" y="4273868"/>
            <a:chExt cx="5410200" cy="1951672"/>
          </a:xfrm>
        </p:grpSpPr>
        <p:sp>
          <p:nvSpPr>
            <p:cNvPr id="76" name="Rectangle 76"/>
            <p:cNvSpPr/>
            <p:nvPr/>
          </p:nvSpPr>
          <p:spPr>
            <a:xfrm>
              <a:off x="6248400" y="4273868"/>
              <a:ext cx="5410200" cy="1951672"/>
            </a:xfrm>
            <a:prstGeom prst="roundRect">
              <a:avLst>
                <a:gd name="adj" fmla="val 6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7925" y="4407218"/>
              <a:ext cx="47625" cy="16849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78905" y="44662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70345" y="45005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72047" y="4823460"/>
              <a:ext cx="45142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原课件图上标注功耗 ×30、电压 5 V → 1 V、频率 ×1000。按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左表从 80286 到 Prescott 计算，频率约 ×290，功耗约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×31。电压的平方项下降，使功耗远没有频率涨得快。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73190" y="5636419"/>
              <a:ext cx="4074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原课件公式省略了 1/2；比较新旧处理器时这个常数会约掉。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82890" cy="909257"/>
            <a:chOff x="520446" y="342900"/>
            <a:chExt cx="93828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功耗墙与多处理器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828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降低功耗例题：电容、电压、频率各降 15%，功耗降到约一半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036445"/>
            <a:chOff x="533400" y="1524000"/>
            <a:chExt cx="4977765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一种新处理器与旧处理器相比：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负载电容只有旧处理器的 85%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电压降低 15%，开关频率也降低 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11658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：新处理器的动态功耗是旧处理器的多少？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760470"/>
            <a:ext cx="4638645" cy="1878615"/>
            <a:chOff x="533400" y="3760470"/>
            <a:chExt cx="4638645" cy="1878615"/>
          </a:xfrm>
        </p:grpSpPr>
        <p:sp>
          <p:nvSpPr>
            <p:cNvPr id="18" name="Rectangle 18"/>
            <p:cNvSpPr/>
            <p:nvPr/>
          </p:nvSpPr>
          <p:spPr>
            <a:xfrm>
              <a:off x="666750" y="390334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3400" y="37604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834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4110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484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061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5135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794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代入公式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088606"/>
              <a:ext cx="42260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电容、电压、频率分别乘 0.85，1/2 在分子分母中约掉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4453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739164"/>
              <a:ext cx="2313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 × 0.85² × 0.85 = 0.85⁴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095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389721"/>
              <a:ext cx="3862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0.85⁴ ≈ 0.52，新处理器功耗约为旧处理器的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52%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33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new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0.85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nor m:val="on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old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0.85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0.85</m:t>
                          </m:r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old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0.52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llout-2"/>
          <p:cNvGrpSpPr/>
          <p:nvPr/>
        </p:nvGrpSpPr>
        <p:grpSpPr>
          <a:xfrm>
            <a:off x="5815965" y="2203132"/>
            <a:ext cx="5842635" cy="782955"/>
            <a:chOff x="5815965" y="2203132"/>
            <a:chExt cx="5842635" cy="782955"/>
          </a:xfrm>
        </p:grpSpPr>
        <p:sp>
          <p:nvSpPr>
            <p:cNvPr id="33" name="Rectangle 33"/>
            <p:cNvSpPr/>
            <p:nvPr/>
          </p:nvSpPr>
          <p:spPr>
            <a:xfrm>
              <a:off x="5815965" y="220313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020753" y="2494598"/>
              <a:ext cx="200026" cy="200025"/>
              <a:chOff x="6020753" y="249459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020753" y="2494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60491" y="2539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95207" y="2650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322695" y="235172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对比：若只把电压降低 15%，电容和频率不变，功耗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0.85² ≈ 0.72。电压是平方项，降电压最有效。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5815965" y="3176588"/>
            <a:ext cx="5842635" cy="2450782"/>
            <a:chOff x="5815965" y="3176588"/>
            <a:chExt cx="5842635" cy="2450782"/>
          </a:xfrm>
        </p:grpSpPr>
        <p:sp>
          <p:nvSpPr>
            <p:cNvPr id="40" name="Rectangle 40"/>
            <p:cNvSpPr/>
            <p:nvPr/>
          </p:nvSpPr>
          <p:spPr>
            <a:xfrm>
              <a:off x="5815965" y="3176588"/>
              <a:ext cx="5842635" cy="2450782"/>
            </a:xfrm>
            <a:prstGeom prst="roundRect">
              <a:avLst>
                <a:gd name="adj" fmla="val 54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5490" y="3309938"/>
              <a:ext cx="47625" cy="21840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63615" y="338613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9873" y="3421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功耗墙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69330" y="3826193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27445" y="3763328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不能再降低电压：再降，晶体管漏电太严重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69330" y="4161473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27445" y="409860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也不能散去更多的热量：散热已到极限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57138" y="4430554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靠提高时钟频率提升性能的路走不通了。还有什么办法？下一页给出答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案：在一块芯片上放多个处理器。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06799" cy="909257"/>
            <a:chOff x="520446" y="342900"/>
            <a:chExt cx="56067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功耗墙与多处理器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0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单处理器性能增长放缓：约每年 22%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28066" y="1524000"/>
            <a:ext cx="5631752" cy="2724722"/>
            <a:chOff x="528066" y="1524000"/>
            <a:chExt cx="5631752" cy="27247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0128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19490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年增长率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3959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1978–1986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82914" y="209645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95422" y="20964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主要靠工艺进步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08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13635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661285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1986–2003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82914" y="2661285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52%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95422" y="2541270"/>
              <a:ext cx="29283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更先进的体系结构和组成思想，加上工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艺进步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3346132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 年以后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93570" y="3107055"/>
              <a:ext cx="993458" cy="6657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2914" y="334613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22%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95422" y="3226118"/>
              <a:ext cx="29283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受功耗、可利用的指令级并行程度和存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储器延迟的限制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626418" cy="2258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79282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91790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066" y="3856673"/>
              <a:ext cx="469125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性能以 VAX-11/780（1978）为 1。原课件文字写“大约每年 20%”，图中标注为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22%/year，右侧按图中数据验算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4382452"/>
            <a:ext cx="5626418" cy="1862138"/>
            <a:chOff x="533400" y="4382452"/>
            <a:chExt cx="5626418" cy="1862138"/>
          </a:xfrm>
        </p:grpSpPr>
        <p:sp>
          <p:nvSpPr>
            <p:cNvPr id="29" name="Rectangle 29"/>
            <p:cNvSpPr/>
            <p:nvPr/>
          </p:nvSpPr>
          <p:spPr>
            <a:xfrm>
              <a:off x="533400" y="4382452"/>
              <a:ext cx="5626418" cy="1862138"/>
            </a:xfrm>
            <a:prstGeom prst="roundRect">
              <a:avLst>
                <a:gd name="adj" fmla="val 71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15802"/>
              <a:ext cx="47625" cy="15954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574858"/>
              <a:ext cx="149352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5079" y="4609148"/>
              <a:ext cx="137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2003 年后为什么变慢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49882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493204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：频率和电压都提不上去（功耗墙）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52901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523398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：流水线、预测等手段能挖掘的并行已接近极限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2478" y="55930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497" y="5536883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存储器延迟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：处理器比主存快得多，等数据的时间占比越来越大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464618" y="1533525"/>
            <a:ext cx="4940934" cy="2107407"/>
            <a:chOff x="6464618" y="1533525"/>
            <a:chExt cx="4940934" cy="2107407"/>
          </a:xfrm>
        </p:grpSpPr>
        <p:sp>
          <p:nvSpPr>
            <p:cNvPr id="40" name="Rectangle 40"/>
            <p:cNvSpPr/>
            <p:nvPr/>
          </p:nvSpPr>
          <p:spPr>
            <a:xfrm>
              <a:off x="6597968" y="167640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2327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64618" y="31213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241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6860" y="1564957"/>
              <a:ext cx="1311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 → 2003 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8002" y="1833086"/>
              <a:ext cx="45275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图中性能从 5 增至 6,043，17 年约 1200 倍；1.52¹⁷ ≈ 1230，与 52%/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年相符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6860" y="2359342"/>
              <a:ext cx="1311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 → 2012 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8002" y="2627471"/>
              <a:ext cx="44919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6,043 增至 34,967，9 年约 5.8 倍；5.8 开 9 次方 ≈ 1.22，即每年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22%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6860" y="315372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8002" y="3420904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单核性能增长明显放缓，处理器厂商转向在一块芯片上放多个核</a:t>
              </a:r>
            </a:p>
          </p:txBody>
        </p:sp>
      </p:grpSp>
      <p:grpSp>
        <p:nvGrpSpPr>
          <p:cNvPr id="82" name="c2-table-2"/>
          <p:cNvGrpSpPr/>
          <p:nvPr/>
        </p:nvGrpSpPr>
        <p:grpSpPr>
          <a:xfrm>
            <a:off x="6464618" y="3810000"/>
            <a:ext cx="5193982" cy="2434590"/>
            <a:chOff x="6464618" y="3810000"/>
            <a:chExt cx="5193982" cy="2434590"/>
          </a:xfrm>
        </p:grpSpPr>
        <p:sp>
          <p:nvSpPr>
            <p:cNvPr id="54" name="Rectangle 54"/>
            <p:cNvSpPr/>
            <p:nvPr/>
          </p:nvSpPr>
          <p:spPr>
            <a:xfrm>
              <a:off x="6464618" y="3810000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23418" y="3934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44014" y="3934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图中的计算机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76014" y="3934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相对性能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0048" y="43400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96162" y="4340066"/>
              <a:ext cx="887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VAX-11/780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64232" y="4340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616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4618" y="4621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0048" y="47458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96162" y="4745831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VAX 8700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64232" y="4745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5022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00048" y="51515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96162" y="5151596"/>
              <a:ext cx="1914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Digital Alphastation 5/500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98380" y="5151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5428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64618" y="5433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00048" y="555736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96162" y="5557361"/>
              <a:ext cx="1563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Xeon EE 3.2 GHz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32528" y="5557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6,043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5834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00048" y="596312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96162" y="5963126"/>
              <a:ext cx="1673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Xeon 4 核 3.6 GHz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49602" y="5963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34,967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64618" y="3810000"/>
              <a:ext cx="5193982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291388" y="3810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303192" y="3810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功耗墙与多处理器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多核处理器：并行要由程序员显式写出来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410200" cy="1653540"/>
            <a:chOff x="533400" y="1524000"/>
            <a:chExt cx="5410200" cy="16535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硬件一次执行多条指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令（如流水线）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对程序员不可见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48050" y="1524000"/>
              <a:ext cx="249555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57575" y="165735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8808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显式并行编程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70141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953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程序员自己把任务分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给多个核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0141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530" y="2733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程序要为并行而改写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076575" y="21888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46915" y="22850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1-table-2"/>
          <p:cNvGrpSpPr/>
          <p:nvPr/>
        </p:nvGrpSpPr>
        <p:grpSpPr>
          <a:xfrm>
            <a:off x="527685" y="3368040"/>
            <a:ext cx="5415915" cy="2091214"/>
            <a:chOff x="527685" y="3368040"/>
            <a:chExt cx="5415915" cy="2091214"/>
          </a:xfrm>
        </p:grpSpPr>
        <p:sp>
          <p:nvSpPr>
            <p:cNvPr id="24" name="Rectangle 24"/>
            <p:cNvSpPr/>
            <p:nvPr/>
          </p:nvSpPr>
          <p:spPr>
            <a:xfrm>
              <a:off x="533400" y="336804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4617" y="3503771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份工作的分法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11734" y="350377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0386" y="350377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09991" y="350377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59596" y="350377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 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97183" y="3503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223" y="39523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单核串行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7399" y="39523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94424" y="39523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60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6529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4010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均衡分配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27399" y="44010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6052" y="44010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25657" y="44010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75262" y="44010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92055" y="44010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101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48496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分配不均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32627" y="48496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81279" y="48496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30884" y="48496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80489" y="48496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192544" y="484965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36804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151698" y="33680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801302" y="33680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449955" y="33680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099560" y="33680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748212" y="33680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685" y="523922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假设工作可任意拆分、不计通信开销；完成时间由负载最重的核决定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248400" y="1524000"/>
            <a:ext cx="5410200" cy="1365885"/>
            <a:chOff x="6248400" y="1524000"/>
            <a:chExt cx="5410200" cy="1365885"/>
          </a:xfrm>
        </p:grpSpPr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多核微处理器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988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每块芯片上有多于一个处理器（核）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59880" y="24460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性能提升要靠多个核同时工作，这需要显式并行编程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248400" y="3080385"/>
            <a:ext cx="5410200" cy="1986915"/>
            <a:chOff x="6248400" y="3080385"/>
            <a:chExt cx="5410200" cy="1986915"/>
          </a:xfrm>
        </p:grpSpPr>
        <p:sp>
          <p:nvSpPr>
            <p:cNvPr id="66" name="Rectangle 66"/>
            <p:cNvSpPr/>
            <p:nvPr/>
          </p:nvSpPr>
          <p:spPr>
            <a:xfrm>
              <a:off x="6248400" y="3080385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321373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96050" y="328993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56705" y="33256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显式并行编程的困难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501765" y="3729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9880" y="36671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为了性能而编程，编程难度增加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501765" y="40652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59880" y="40024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负载平衡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：每个核分到大致相同的任务量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501765" y="4400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59880" y="43376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优化通信和同步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：核之间协调的开销要小，减少调度开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</a:t>
              </a:r>
            </a:p>
          </p:txBody>
        </p:sp>
      </p:grpSp>
      <p:grpSp>
        <p:nvGrpSpPr>
          <p:cNvPr id="83" name="c2-callout-3"/>
          <p:cNvGrpSpPr/>
          <p:nvPr/>
        </p:nvGrpSpPr>
        <p:grpSpPr>
          <a:xfrm>
            <a:off x="6248400" y="5257800"/>
            <a:ext cx="5410200" cy="782955"/>
            <a:chOff x="6248400" y="5257800"/>
            <a:chExt cx="5410200" cy="782955"/>
          </a:xfrm>
        </p:grpSpPr>
        <p:sp>
          <p:nvSpPr>
            <p:cNvPr id="77" name="Rectangle 77"/>
            <p:cNvSpPr/>
            <p:nvPr/>
          </p:nvSpPr>
          <p:spPr>
            <a:xfrm>
              <a:off x="6248400" y="52578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53188" y="5549265"/>
              <a:ext cx="200026" cy="200025"/>
              <a:chOff x="6453188" y="5549265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453188" y="5549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492926" y="5593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27642" y="5704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5130" y="54063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有一部分工作没法并行，或核之间等待太多，加速就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会打折扣；第六部分的 Amdahl 定律可以定量估算。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基准测试、谬误与陷阱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用标准程序公平地比较计算机，并避开几个常见误区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64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 CPU 与 SPECpower 基准测试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48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陷阱：Amdahl 定律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谬误：利用率低的计算机功耗低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17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陷阱：用 MIPS 度量性能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3176" cy="909257"/>
            <a:chOff x="520446" y="342900"/>
            <a:chExt cx="7213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3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 CPU 基准：执行时间归一化后取几何平均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137410"/>
            <a:chOff x="533400" y="1524000"/>
            <a:chExt cx="5410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87737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106" y="1763554"/>
              <a:ext cx="1778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基准测试程序 benchmark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专门用来测试性能的程序，假定它们能代表实际的工作负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SPEC（Standard Performance Evaluation Corp.，标准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性能评估组织）构建基准程序集，测试 CPU、I/O 系统和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网络的性能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847148"/>
            <a:ext cx="5410200" cy="2212658"/>
            <a:chOff x="533400" y="3847148"/>
            <a:chExt cx="5410200" cy="2212658"/>
          </a:xfrm>
        </p:grpSpPr>
        <p:sp>
          <p:nvSpPr>
            <p:cNvPr id="16" name="Rectangle 16"/>
            <p:cNvSpPr/>
            <p:nvPr/>
          </p:nvSpPr>
          <p:spPr>
            <a:xfrm>
              <a:off x="533400" y="3847148"/>
              <a:ext cx="5410200" cy="2212658"/>
            </a:xfrm>
            <a:prstGeom prst="roundRect">
              <a:avLst>
                <a:gd name="adj" fmla="val 60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80498"/>
              <a:ext cx="47625" cy="19459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050982"/>
              <a:ext cx="115824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7644" y="4086701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SPEC CPU2006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4843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423886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测量执行选定程序的消逝时间；I/O 很少，可忽略，主要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反映 CPU 性能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50758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5015389"/>
              <a:ext cx="2649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CINT2006：12 个整数基准程序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539591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5335429"/>
              <a:ext cx="25890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CFP2006：17 个浮点基准程序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38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SPECratio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参考计算机上的执行时间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被测计算机上的执行时间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39"/>
              <p:cNvSpPr txBox="1">
                <a:spLocks noGrp="1"/>
              </p:cNvSpPr>
              <p:nvPr/>
            </p:nvSpPr>
            <p:spPr>
              <a:xfrm>
                <a:off x="6248400" y="2249805"/>
                <a:ext cx="5410200" cy="722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综合成绩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g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SPECratio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llout-3"/>
          <p:cNvGrpSpPr/>
          <p:nvPr/>
        </p:nvGrpSpPr>
        <p:grpSpPr>
          <a:xfrm>
            <a:off x="6248400" y="3157538"/>
            <a:ext cx="5410200" cy="1018222"/>
            <a:chOff x="6248400" y="3157538"/>
            <a:chExt cx="5410200" cy="1018222"/>
          </a:xfrm>
        </p:grpSpPr>
        <p:sp>
          <p:nvSpPr>
            <p:cNvPr id="29" name="Rectangle 29"/>
            <p:cNvSpPr/>
            <p:nvPr/>
          </p:nvSpPr>
          <p:spPr>
            <a:xfrm>
              <a:off x="6248400" y="315753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53188" y="3567113"/>
              <a:ext cx="200026" cy="200026"/>
              <a:chOff x="6453188" y="356711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53188" y="35671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53200" y="3633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42088" y="36671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755511" y="3304699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SPECratio 越大越快。用几何平均时，无论选哪台计算机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作参考，两台被测计算机综合成绩之比都不变。原课件把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SPECratio 误写为 SPECration。</a:t>
              </a:r>
            </a:p>
          </p:txBody>
        </p:sp>
      </p:grpSp>
      <p:grpSp>
        <p:nvGrpSpPr>
          <p:cNvPr id="42" name="c2-callout-4"/>
          <p:cNvGrpSpPr/>
          <p:nvPr/>
        </p:nvGrpSpPr>
        <p:grpSpPr>
          <a:xfrm>
            <a:off x="6248400" y="4361498"/>
            <a:ext cx="5410200" cy="756285"/>
            <a:chOff x="6248400" y="4361498"/>
            <a:chExt cx="5410200" cy="756285"/>
          </a:xfrm>
        </p:grpSpPr>
        <p:sp>
          <p:nvSpPr>
            <p:cNvPr id="36" name="Rectangle 36"/>
            <p:cNvSpPr/>
            <p:nvPr/>
          </p:nvSpPr>
          <p:spPr>
            <a:xfrm>
              <a:off x="6248400" y="436149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4639628"/>
              <a:ext cx="200026" cy="200025"/>
              <a:chOff x="6453188" y="463962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46396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92926" y="46840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27642" y="47952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511" y="4508659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例：两个程序的 SPECratio 为 20 和 80，综合成绩 = 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(20 × 80) = 40（算术平均则是 50）。</a:t>
              </a:r>
            </a:p>
          </p:txBody>
        </p:sp>
      </p:grpSp>
      <p:grpSp>
        <p:nvGrpSpPr>
          <p:cNvPr id="49" name="c2-callout-5"/>
          <p:cNvGrpSpPr/>
          <p:nvPr/>
        </p:nvGrpSpPr>
        <p:grpSpPr>
          <a:xfrm>
            <a:off x="6248400" y="5303520"/>
            <a:ext cx="5410200" cy="756285"/>
            <a:chOff x="6248400" y="5303520"/>
            <a:chExt cx="5410200" cy="756285"/>
          </a:xfrm>
        </p:grpSpPr>
        <p:sp>
          <p:nvSpPr>
            <p:cNvPr id="43" name="Rectangle 43"/>
            <p:cNvSpPr/>
            <p:nvPr/>
          </p:nvSpPr>
          <p:spPr>
            <a:xfrm>
              <a:off x="6248400" y="530352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581650"/>
              <a:ext cx="200026" cy="200026"/>
              <a:chOff x="6453188" y="558165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5816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648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6816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511" y="5450681"/>
              <a:ext cx="44418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下一页 12 个比值中 libquantum 高达 190.0：算术平均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36.4，几何平均 25.7，单个极端值的影响小得多。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2222" cy="909257"/>
            <a:chOff x="520446" y="342900"/>
            <a:chExt cx="6522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2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例：Intel Core i7 920 的 CINT2006 成绩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8066" y="1524000"/>
            <a:ext cx="5415534" cy="3306699"/>
            <a:chOff x="528066" y="1524000"/>
            <a:chExt cx="5415534" cy="33066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740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程序（用途）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1707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75751" y="1648301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373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60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623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1375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perl（字符串处理）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57279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2252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2591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30830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50849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9770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00454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2459831"/>
              <a:ext cx="146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bzip2（块排序压缩）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57279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2390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52591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30830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50849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9650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0454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2865596"/>
              <a:ext cx="1168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gcc（C 编译器）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205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2591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30830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50849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8050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00454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271361"/>
              <a:ext cx="1208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mcf（组合优化）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0205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2591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30830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50849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9120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00454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41.2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3677126"/>
              <a:ext cx="981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go（围棋 AI）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57279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52591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3083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67923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10490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00454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4082891"/>
              <a:ext cx="1414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hmmer（基因搜索）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57279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2616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52591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30830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50849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9330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00454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69271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39566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99097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58628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28923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066" y="4438650"/>
              <a:ext cx="50979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指令数单位 10⁹ 条；执行、参考时间单位 s；比值即 SPECratio；时钟周期均为 0.376</a:t>
              </a:r>
              <a:br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</p:grpSp>
      <p:grpSp>
        <p:nvGrpSpPr>
          <p:cNvPr id="72" name="c1-callout-2"/>
          <p:cNvGrpSpPr/>
          <p:nvPr/>
        </p:nvGrpSpPr>
        <p:grpSpPr>
          <a:xfrm>
            <a:off x="533400" y="4964430"/>
            <a:ext cx="5410200" cy="729615"/>
            <a:chOff x="533400" y="4964430"/>
            <a:chExt cx="5410200" cy="729615"/>
          </a:xfrm>
        </p:grpSpPr>
        <p:sp>
          <p:nvSpPr>
            <p:cNvPr id="66" name="Rectangle 66"/>
            <p:cNvSpPr/>
            <p:nvPr/>
          </p:nvSpPr>
          <p:spPr>
            <a:xfrm>
              <a:off x="533400" y="496443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229225"/>
              <a:ext cx="200026" cy="200025"/>
              <a:chOff x="738188" y="5229225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229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5273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5384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5111115"/>
              <a:ext cx="40085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验算 perl：2252×10⁹ × 0.60 × 0.376×10⁻⁹ s ≈ 508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s，SPECratio = 9770 / 508 ≈ 19.2。</a:t>
              </a:r>
            </a:p>
          </p:txBody>
        </p:sp>
      </p:grpSp>
      <p:grpSp>
        <p:nvGrpSpPr>
          <p:cNvPr id="134" name="c2-table-1"/>
          <p:cNvGrpSpPr/>
          <p:nvPr/>
        </p:nvGrpSpPr>
        <p:grpSpPr>
          <a:xfrm>
            <a:off x="6248400" y="1524000"/>
            <a:ext cx="5410200" cy="3246120"/>
            <a:chOff x="6248400" y="1524000"/>
            <a:chExt cx="5410200" cy="3246120"/>
          </a:xfrm>
        </p:grpSpPr>
        <p:sp>
          <p:nvSpPr>
            <p:cNvPr id="73" name="Rectangle 7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7240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程序（用途）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3207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指令数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90751" y="1648301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523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5010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773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比值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48412" y="2054066"/>
              <a:ext cx="150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sjeng（国际象棋 AI）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72279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1948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267591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45830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82923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12100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15454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20.7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8412" y="2459831"/>
              <a:ext cx="1739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libquantum（量子模拟）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755205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67591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945830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482923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20720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132528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190.0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48412" y="2865596"/>
              <a:ext cx="15255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h264avc（视频压缩）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672279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267591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945830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82923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22130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15454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348412" y="3271361"/>
              <a:ext cx="1858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omnetpp（离散事件仿真）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55205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267591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945830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565849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6250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15454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348412" y="3677126"/>
              <a:ext cx="1351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astar（游戏寻路）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72279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267591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94583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565849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7020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15454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14.9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348412" y="4082891"/>
              <a:ext cx="1749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xalancbmk（XML 解析）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672279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267591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945830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565849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6900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215454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25.1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248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348412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几何平均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11018520" y="4373880"/>
              <a:ext cx="63055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15454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25.7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248400" y="1524000"/>
              <a:ext cx="5410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840771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11066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970597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1030128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100423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1" name="c2-callout-2"/>
          <p:cNvGrpSpPr/>
          <p:nvPr/>
        </p:nvGrpSpPr>
        <p:grpSpPr>
          <a:xfrm>
            <a:off x="6248400" y="4945380"/>
            <a:ext cx="5410200" cy="748665"/>
            <a:chOff x="6248400" y="4945380"/>
            <a:chExt cx="5410200" cy="748665"/>
          </a:xfrm>
        </p:grpSpPr>
        <p:sp>
          <p:nvSpPr>
            <p:cNvPr id="135" name="Rectangle 135"/>
            <p:cNvSpPr/>
            <p:nvPr/>
          </p:nvSpPr>
          <p:spPr>
            <a:xfrm>
              <a:off x="6248400" y="4945380"/>
              <a:ext cx="5410200" cy="748665"/>
            </a:xfrm>
            <a:prstGeom prst="roundRect">
              <a:avLst>
                <a:gd name="adj" fmla="val 152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6453188" y="5219700"/>
              <a:ext cx="200026" cy="200026"/>
              <a:chOff x="6453188" y="5219700"/>
              <a:chExt cx="200026" cy="200026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6453188" y="52197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6553200" y="5286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6542088" y="53197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6755892" y="5100638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bzip2 按表中数据算 9650 / 629 ≈ 15.3，原表为 15.4，是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原始数据取整造成的。</a:t>
              </a:r>
            </a:p>
          </p:txBody>
        </p:sp>
      </p:grpSp>
      <p:grpSp>
        <p:nvGrpSpPr>
          <p:cNvPr id="14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42" name="Rectangle 1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6" name="TextBox 146"/>
            <p:cNvSpPr txBox="1"/>
            <p:nvPr/>
          </p:nvSpPr>
          <p:spPr>
            <a:xfrm>
              <a:off x="1040892" y="6023610"/>
              <a:ext cx="8750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个 SPECratio 相乘后开 12 次方 ≈ 25.7。时钟周期相同，CPI 却从 0.44 到 2.66 不等：CPI 随程序变化。</a:t>
              </a:r>
            </a:p>
          </p:txBody>
        </p:sp>
      </p:grpSp>
      <p:grpSp>
        <p:nvGrpSpPr>
          <p:cNvPr id="1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8" name="TextBox 14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9711" cy="909257"/>
            <a:chOff x="520446" y="342900"/>
            <a:chExt cx="81397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97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SPECpower：在 0%–100% 各档负载下测性能和功耗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3785235" cy="2272665"/>
            <a:chOff x="533400" y="1524000"/>
            <a:chExt cx="3785235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78523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9829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437" y="1769269"/>
              <a:ext cx="1511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SPECpower_ssj2008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015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报告服务器在不同负载水平下的功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耗：从 0% 到 100%，每档递增 10%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2987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性能：ssj_ops，每秒完成的业务操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236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功耗：瓦特 W，即焦耳/秒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41"/>
              <p:cNvSpPr txBox="1">
                <a:spLocks noGrp="1"/>
              </p:cNvSpPr>
              <p:nvPr/>
            </p:nvSpPr>
            <p:spPr>
              <a:xfrm>
                <a:off x="533400" y="3987165"/>
                <a:ext cx="3785235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每瓦总体性能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性能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功耗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llout-3"/>
          <p:cNvGrpSpPr/>
          <p:nvPr/>
        </p:nvGrpSpPr>
        <p:grpSpPr>
          <a:xfrm>
            <a:off x="533400" y="4869180"/>
            <a:ext cx="3785235" cy="1059180"/>
            <a:chOff x="533400" y="4869180"/>
            <a:chExt cx="3785235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4869180"/>
              <a:ext cx="37852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298758"/>
              <a:ext cx="200026" cy="200026"/>
              <a:chOff x="738188" y="529875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987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3654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3987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017770"/>
              <a:ext cx="2596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性能ᵢ（ssj_opsᵢ）、功耗ᵢ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（powerᵢ）是第 i 档负载（i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10%）下的性能和平均功耗。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4617720" y="1524000"/>
            <a:ext cx="3370897" cy="3437097"/>
            <a:chOff x="4617720" y="1524000"/>
            <a:chExt cx="3370897" cy="3437097"/>
          </a:xfrm>
        </p:grpSpPr>
        <p:sp>
          <p:nvSpPr>
            <p:cNvPr id="26" name="Rectangle 26"/>
            <p:cNvSpPr/>
            <p:nvPr/>
          </p:nvSpPr>
          <p:spPr>
            <a:xfrm>
              <a:off x="4623435" y="1524000"/>
              <a:ext cx="33651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161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0610" y="1659731"/>
              <a:ext cx="1063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 ssj_ops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4637" y="1659731"/>
              <a:ext cx="558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 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71330" y="2108359"/>
              <a:ext cx="44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94783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865,618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83523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23435" y="2416492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23435" y="2421255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1086" y="2556986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94783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786,688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83523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23435" y="2866072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21086" y="3005614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94783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698,051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83523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23435" y="3314700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23435" y="3319462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21086" y="3454241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94783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607,826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83523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23435" y="3763328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21086" y="3903821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94783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521,391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83523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623435" y="4211955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23435" y="4216718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21086" y="4352449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94783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436,757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83523" y="435244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623435" y="1524000"/>
              <a:ext cx="336518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6164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7420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617720" y="4741069"/>
              <a:ext cx="24596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Intel Xeon X5650 服务器的测试结果</a:t>
              </a:r>
            </a:p>
          </p:txBody>
        </p:sp>
      </p:grpSp>
      <p:grpSp>
        <p:nvGrpSpPr>
          <p:cNvPr id="96" name="c3-table-1"/>
          <p:cNvGrpSpPr/>
          <p:nvPr/>
        </p:nvGrpSpPr>
        <p:grpSpPr>
          <a:xfrm>
            <a:off x="8293418" y="1524000"/>
            <a:ext cx="3365182" cy="3141346"/>
            <a:chOff x="8293418" y="1524000"/>
            <a:chExt cx="3365182" cy="3141346"/>
          </a:xfrm>
        </p:grpSpPr>
        <p:sp>
          <p:nvSpPr>
            <p:cNvPr id="61" name="Rectangle 61"/>
            <p:cNvSpPr/>
            <p:nvPr/>
          </p:nvSpPr>
          <p:spPr>
            <a:xfrm>
              <a:off x="8293418" y="1524000"/>
              <a:ext cx="33651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86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10592" y="1659731"/>
              <a:ext cx="1063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 ssj_ops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74620" y="1659731"/>
              <a:ext cx="558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 W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91068" y="2108359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64766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345,919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3506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93418" y="2416492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293418" y="2421255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91068" y="2556986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64766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262,071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5350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293418" y="2866072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91068" y="3005614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64766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176,061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53506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293418" y="3314700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293418" y="3319462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591068" y="3454241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59538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86,784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53506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293418" y="3763328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640824" y="3903821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33401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348278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293418" y="4211955"/>
              <a:ext cx="33651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293418" y="4216718"/>
              <a:ext cx="33651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586114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总和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244965" y="4226242"/>
              <a:ext cx="139446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675221" y="435244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4,787,166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658475" y="4226242"/>
              <a:ext cx="99060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1063961" y="435244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1,922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293418" y="1524000"/>
              <a:ext cx="336518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3067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64418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2" name="c3-callout-2"/>
          <p:cNvGrpSpPr/>
          <p:nvPr/>
        </p:nvGrpSpPr>
        <p:grpSpPr>
          <a:xfrm>
            <a:off x="8293418" y="4855845"/>
            <a:ext cx="3365182" cy="1072515"/>
            <a:chOff x="8293418" y="4855845"/>
            <a:chExt cx="3365182" cy="1072515"/>
          </a:xfrm>
        </p:grpSpPr>
        <p:sp>
          <p:nvSpPr>
            <p:cNvPr id="97" name="Rectangle 97"/>
            <p:cNvSpPr/>
            <p:nvPr/>
          </p:nvSpPr>
          <p:spPr>
            <a:xfrm>
              <a:off x="8293418" y="4855845"/>
              <a:ext cx="3365182" cy="1072515"/>
            </a:xfrm>
            <a:prstGeom prst="roundRect">
              <a:avLst>
                <a:gd name="adj" fmla="val 1065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8498205" y="5292092"/>
              <a:ext cx="200023" cy="200023"/>
              <a:chOff x="8498205" y="5292092"/>
              <a:chExt cx="200023" cy="200023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8498205" y="52920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631555" y="53587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8800148" y="5149215"/>
              <a:ext cx="2482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每瓦总体性能 = 4,787,166 /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1,922 ≈ 2,490 ssj_ops/W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陷阱：以为改进某一部分，总性能会按改进的倍数提高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4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受影响部分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改进倍数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不受影响部分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2"/>
          <p:cNvGrpSpPr/>
          <p:nvPr/>
        </p:nvGrpSpPr>
        <p:grpSpPr>
          <a:xfrm>
            <a:off x="533400" y="2301240"/>
            <a:ext cx="5842635" cy="1274445"/>
            <a:chOff x="533400" y="2301240"/>
            <a:chExt cx="5842635" cy="1274445"/>
          </a:xfrm>
        </p:grpSpPr>
        <p:sp>
          <p:nvSpPr>
            <p:cNvPr id="8" name="Rectangle 8"/>
            <p:cNvSpPr/>
            <p:nvPr/>
          </p:nvSpPr>
          <p:spPr>
            <a:xfrm>
              <a:off x="533400" y="2301240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43459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75335" y="2505075"/>
              <a:ext cx="15935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9930" y="2540794"/>
              <a:ext cx="1483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例题（Amdahl 定律）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877979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 100 s，其中 80 s 用于乘法。要使整个程序快 5 倍，乘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法要改进多少倍？</a:t>
              </a:r>
            </a:p>
          </p:txBody>
        </p:sp>
      </p:grpSp>
      <p:grpSp>
        <p:nvGrpSpPr>
          <p:cNvPr id="27" name="c1-steps-3"/>
          <p:cNvGrpSpPr/>
          <p:nvPr/>
        </p:nvGrpSpPr>
        <p:grpSpPr>
          <a:xfrm>
            <a:off x="533400" y="3770948"/>
            <a:ext cx="4593031" cy="1789176"/>
            <a:chOff x="533400" y="3770948"/>
            <a:chExt cx="4593031" cy="1789176"/>
          </a:xfrm>
        </p:grpSpPr>
        <p:sp>
          <p:nvSpPr>
            <p:cNvPr id="14" name="Rectangle 14"/>
            <p:cNvSpPr/>
            <p:nvPr/>
          </p:nvSpPr>
          <p:spPr>
            <a:xfrm>
              <a:off x="666750" y="391382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770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844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3910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464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012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085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380380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列方程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4084320"/>
              <a:ext cx="2709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5 倍即只用 20 s：20 = 80 / n + 20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44248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4705350"/>
              <a:ext cx="3348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/ n = 0，任何有限的 n 都满足不了，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做不到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50449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5325428"/>
              <a:ext cx="4180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不受影响的 20 s 一点没少，乘法再快，程序也要超过 20 s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680835" y="1524000"/>
            <a:ext cx="4977765" cy="2394109"/>
            <a:chOff x="6680835" y="1524000"/>
            <a:chExt cx="4977765" cy="239410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22152" r="0" b="22152"/>
            <a:stretch>
              <a:fillRect/>
            </a:stretch>
          </p:blipFill>
          <p:spPr>
            <a:xfrm>
              <a:off x="6680835" y="1524000"/>
              <a:ext cx="4977765" cy="2079308"/>
            </a:xfrm>
            <a:prstGeom prst="roundRect">
              <a:avLst>
                <a:gd name="adj" fmla="val 6413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807033" y="369808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高速路段再快，堵车那一段照样要花时间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680835" y="4077652"/>
            <a:ext cx="4977765" cy="1594485"/>
            <a:chOff x="6680835" y="4077652"/>
            <a:chExt cx="4977765" cy="1594485"/>
          </a:xfrm>
        </p:grpSpPr>
        <p:sp>
          <p:nvSpPr>
            <p:cNvPr id="31" name="Rectangle 31"/>
            <p:cNvSpPr/>
            <p:nvPr/>
          </p:nvSpPr>
          <p:spPr>
            <a:xfrm>
              <a:off x="6680835" y="4077652"/>
              <a:ext cx="497776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4211002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22770" y="42814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13931" y="4317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0390" y="47148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86981" y="4654391"/>
              <a:ext cx="3875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要快 4 倍（25 s）：25 = 80 / n + 20，n = 16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30390" y="50349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6981" y="4974431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要快 2 倍（50 s）：50 = 80 / n + 20，n = 80 / 30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2.67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推论：加速常见事件。改进带来的收益，受限于被改进部分在总时间中所占的比例。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谬误：利用率低的计算机，功耗也低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8066" y="1524000"/>
            <a:ext cx="5415534" cy="2308479"/>
            <a:chOff x="528066" y="1524000"/>
            <a:chExt cx="5415534" cy="230847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84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115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52747" y="16483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占满载功耗的比例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239" y="2054066"/>
              <a:ext cx="391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37944" y="2054066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258 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70299" y="205406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2775" y="2459831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37944" y="2459831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 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3225" y="24598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2775" y="286559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37944" y="2865596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 W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89045" y="2750820"/>
              <a:ext cx="214503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553225" y="28655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4763" y="3271361"/>
              <a:ext cx="820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0%（空闲）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5564" y="3271361"/>
              <a:ext cx="353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3225" y="32713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15169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7475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066" y="3627120"/>
              <a:ext cx="1974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数据取自上一页 SPECpower 表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966210"/>
            <a:ext cx="5410200" cy="1209675"/>
            <a:chOff x="533400" y="3966210"/>
            <a:chExt cx="5410200" cy="1209675"/>
          </a:xfrm>
        </p:grpSpPr>
        <p:sp>
          <p:nvSpPr>
            <p:cNvPr id="34" name="Rectangle 34"/>
            <p:cNvSpPr/>
            <p:nvPr/>
          </p:nvSpPr>
          <p:spPr>
            <a:xfrm>
              <a:off x="533400" y="396621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09956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1586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41929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51580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原课件写作“回顾 i7 功耗”，这组数据实际来自 SPECpower 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 Intel Xeon X5650 服务器。</a:t>
              </a:r>
            </a:p>
          </p:txBody>
        </p:sp>
      </p:grpSp>
      <p:grpSp>
        <p:nvGrpSpPr>
          <p:cNvPr id="46" name="c1-callout-3"/>
          <p:cNvGrpSpPr/>
          <p:nvPr/>
        </p:nvGrpSpPr>
        <p:grpSpPr>
          <a:xfrm>
            <a:off x="533400" y="5351145"/>
            <a:ext cx="5410200" cy="978218"/>
            <a:chOff x="533400" y="5351145"/>
            <a:chExt cx="5410200" cy="978218"/>
          </a:xfrm>
        </p:grpSpPr>
        <p:sp>
          <p:nvSpPr>
            <p:cNvPr id="40" name="Rectangle 40"/>
            <p:cNvSpPr/>
            <p:nvPr/>
          </p:nvSpPr>
          <p:spPr>
            <a:xfrm>
              <a:off x="533400" y="535114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739765"/>
              <a:ext cx="200026" cy="200025"/>
              <a:chOff x="738188" y="573976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7397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7842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8953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496878"/>
              <a:ext cx="421424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每瓦性能：满载时 865,618 / 258 ≈ 3355 ssj_ops/W，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10% 负载时 86,784 / 121 ≈ 717 ssj_ops/W，只剩约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1/4.7。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248400" y="1524000"/>
            <a:ext cx="5410200" cy="1511618"/>
            <a:chOff x="6248400" y="1524000"/>
            <a:chExt cx="5410200" cy="1511618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事实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3497" y="2072640"/>
              <a:ext cx="3157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负载降到 10%，功耗仍有满载时的 47%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7478" y="24317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3497" y="2375535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数据中心的服务器大部分时间工作在 10%–50% 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载，满载的时间不到 1%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248400" y="3210878"/>
            <a:ext cx="5410200" cy="729615"/>
            <a:chOff x="6248400" y="3210878"/>
            <a:chExt cx="5410200" cy="729615"/>
          </a:xfrm>
        </p:grpSpPr>
        <p:sp>
          <p:nvSpPr>
            <p:cNvPr id="56" name="Rectangle 56"/>
            <p:cNvSpPr/>
            <p:nvPr/>
          </p:nvSpPr>
          <p:spPr>
            <a:xfrm>
              <a:off x="6248400" y="32108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3475675"/>
              <a:ext cx="200023" cy="200023"/>
              <a:chOff x="6453188" y="3475675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34756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35423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892" y="335756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设计时要考虑处理器功耗与负载的比例关系，让功耗随负载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一起下降。</a:t>
              </a:r>
            </a:p>
          </p:txBody>
        </p:sp>
      </p:grpSp>
      <p:grpSp>
        <p:nvGrpSpPr>
          <p:cNvPr id="81" name="c2-table-3"/>
          <p:cNvGrpSpPr/>
          <p:nvPr/>
        </p:nvGrpSpPr>
        <p:grpSpPr>
          <a:xfrm>
            <a:off x="6248400" y="4115752"/>
            <a:ext cx="5410200" cy="1623060"/>
            <a:chOff x="6248400" y="4115752"/>
            <a:chExt cx="5410200" cy="1623060"/>
          </a:xfrm>
        </p:grpSpPr>
        <p:sp>
          <p:nvSpPr>
            <p:cNvPr id="62" name="Rectangle 62"/>
            <p:cNvSpPr/>
            <p:nvPr/>
          </p:nvSpPr>
          <p:spPr>
            <a:xfrm>
              <a:off x="6248400" y="4115752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05333" y="42400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63573" y="42400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功耗与负载成正比时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33139" y="42400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实测功耗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66132" y="4645819"/>
              <a:ext cx="391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80629" y="4645819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258 W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17024" y="4645819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258 W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49225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492728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09668" y="5051584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80629" y="5051584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129 W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17024" y="5051584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 W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5328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09668" y="5457349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393009" y="5457349"/>
              <a:ext cx="529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 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17024" y="5457349"/>
              <a:ext cx="44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 W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411575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669530" y="41157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017442" y="41157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4762" cy="909257"/>
            <a:chOff x="520446" y="342900"/>
            <a:chExt cx="67947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47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陷阱：用 MIPS（每秒百万条指令）度量性能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7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MIPS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执行时间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指令数</m:t>
                          </m:r>
                        </m:num>
                        <m:den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指令数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CPI</m:t>
                              </m:r>
                            </m:num>
                            <m:den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时钟频率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时钟频率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228850"/>
            <a:ext cx="5410200" cy="2272665"/>
            <a:chOff x="533400" y="2228850"/>
            <a:chExt cx="5410200" cy="2272665"/>
          </a:xfrm>
        </p:grpSpPr>
        <p:sp>
          <p:nvSpPr>
            <p:cNvPr id="8" name="Rectangle 8"/>
            <p:cNvSpPr/>
            <p:nvPr/>
          </p:nvSpPr>
          <p:spPr>
            <a:xfrm>
              <a:off x="533400" y="2228850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6220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438400"/>
              <a:ext cx="114395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1328" y="2474119"/>
              <a:ext cx="1024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MIPS 反映不了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8784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8155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不同计算机指令集体系结构的差异：指令集不同，指令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数不可比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994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4366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不同指令之间复杂性的差异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8347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77190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同一台计算机运行不同程序，CPI 不同，MIPS 也跟着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692015"/>
            <a:ext cx="5410200" cy="1602105"/>
            <a:chOff x="533400" y="4692015"/>
            <a:chExt cx="5410200" cy="1602105"/>
          </a:xfrm>
        </p:grpSpPr>
        <p:sp>
          <p:nvSpPr>
            <p:cNvPr id="19" name="Rectangle 19"/>
            <p:cNvSpPr/>
            <p:nvPr/>
          </p:nvSpPr>
          <p:spPr>
            <a:xfrm>
              <a:off x="533400" y="469201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8253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9015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49372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5278755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原课件公式中写作“时钟周期”的两处应为“时钟频率”：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 = 指令数 × CPI / 时钟频率，所以 MIPS = 时钟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/ (CPI × 10⁶)。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242685" y="1524000"/>
            <a:ext cx="5415915" cy="1642587"/>
            <a:chOff x="6242685" y="1524000"/>
            <a:chExt cx="5415915" cy="1642587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829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466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367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时钟频率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6329" y="1659731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4196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51718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10×10⁹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66833" y="2108359"/>
              <a:ext cx="459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GHz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53506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4196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6491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8×10⁹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66833" y="2556986"/>
              <a:ext cx="459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GHz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350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7428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3636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52988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2685" y="294655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补充例题：同一程序在两台计算机上的测量数据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248400" y="3312795"/>
            <a:ext cx="5410200" cy="1800225"/>
            <a:chOff x="6248400" y="3312795"/>
            <a:chExt cx="5410200" cy="1800225"/>
          </a:xfrm>
        </p:grpSpPr>
        <p:sp>
          <p:nvSpPr>
            <p:cNvPr id="46" name="Rectangle 46"/>
            <p:cNvSpPr/>
            <p:nvPr/>
          </p:nvSpPr>
          <p:spPr>
            <a:xfrm>
              <a:off x="6248400" y="331279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5888" y="34475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84277" y="3447574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02793" y="3447574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21786" y="400954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23748" y="3770948"/>
              <a:ext cx="2145030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2046" y="3896201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4×10⁹ / (1.0×10⁶)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6126" y="3896201"/>
              <a:ext cx="1776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10×10⁹ × 1.0 / 4×10⁹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431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443674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21786" y="468582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2046" y="4572476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4×10⁹ / (1.1×10⁶)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3636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87828" y="4446270"/>
              <a:ext cx="2361248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86126" y="4572476"/>
              <a:ext cx="16873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8×10⁹ × 1.1 / 4×10⁹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31279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09460" y="331279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73540" y="331279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3"/>
          <p:cNvGrpSpPr/>
          <p:nvPr/>
        </p:nvGrpSpPr>
        <p:grpSpPr>
          <a:xfrm>
            <a:off x="6248400" y="5302568"/>
            <a:ext cx="5410200" cy="991552"/>
            <a:chOff x="6248400" y="5302568"/>
            <a:chExt cx="5410200" cy="991552"/>
          </a:xfrm>
        </p:grpSpPr>
        <p:sp>
          <p:nvSpPr>
            <p:cNvPr id="64" name="Rectangle 64"/>
            <p:cNvSpPr/>
            <p:nvPr/>
          </p:nvSpPr>
          <p:spPr>
            <a:xfrm>
              <a:off x="6248400" y="5302568"/>
              <a:ext cx="5410200" cy="991552"/>
            </a:xfrm>
            <a:prstGeom prst="roundRect">
              <a:avLst>
                <a:gd name="adj" fmla="val 1152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41129" y="5695116"/>
              <a:ext cx="224134" cy="192560"/>
              <a:chOff x="6441129" y="569511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553200" y="57654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441129" y="56951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53200" y="58432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5130" y="5555932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的 MIPS 更高，B 的执行时间却更短，B 才是更快的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计算机。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自测题（一）：概念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计算机的五大部件是什么？哪两个合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称处理器？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输入、输出、存储器、数据通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路、控制器。数据通路和控制器合称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408872"/>
            <a:chOff x="533400" y="3847148"/>
            <a:chExt cx="3505200" cy="2408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26992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MIPS 高的计算机不一定更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015389"/>
              <a:ext cx="298107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不反映指令集和指令复杂度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的差异。执行时间 = 指令数 × CPI /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时钟频率，指令数少的计算机即使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低也可能更快。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408872"/>
            <a:chOff x="4343400" y="1524000"/>
            <a:chExt cx="3505200" cy="240887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80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指令集体系结构（ISA）和应用二进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制接口（ABI）有什么区别？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8999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ISA 是硬件和底层软件之间的接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口；ABI 是用户可用的基本指令集加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上操作系统接口，是二进制程序在计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算机之间可移植的标准。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118610"/>
            <a:ext cx="3505200" cy="2137410"/>
            <a:chOff x="4343400" y="4118610"/>
            <a:chExt cx="3505200" cy="2137410"/>
          </a:xfrm>
        </p:grpSpPr>
        <p:sp>
          <p:nvSpPr>
            <p:cNvPr id="25" name="Rectangle 25"/>
            <p:cNvSpPr/>
            <p:nvPr/>
          </p:nvSpPr>
          <p:spPr>
            <a:xfrm>
              <a:off x="434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695349"/>
              <a:ext cx="3102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“面向摩尔定律的设计”是什么意思？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0153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设计一台计算机要花几年，要按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项目完成时的工艺水平来设计，而不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是按开始时的。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增加服务器数量来分担相互独立的请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求，主要改善响应时间还是吞吐率？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主要提高吞吐率。若原来请求需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要排队，排队时间变短，响应时间也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会缩短。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7195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存储器层次为什么能兼顾速度和成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99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常用数据放在快而贵的上层，大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量数据放在慢而便宜的下层；平均速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度接近上层，每位平均价格接近下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 · 基准测试、谬误与陷阱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6250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同一指令集，程序有 2×10⁹ 条指令。A 的 CPI 为 1.5、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3 GHz；B 的 CPI 为 1.2、频率 2 GHz。哪台快，快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A = 2×10⁹ × 1.5 / 3×10⁹ = 1.0 s；B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2×10⁹ × 1.2 / 2×10⁹ = 1.2 s。A 比 B 快 1.2 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1937385"/>
            <a:chOff x="533400" y="39376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6362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电容和频率不变，电压降低 20%，动态功耗变为原来的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功耗与电压的平方成正比：0.8² = 0.64，变为原来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64%。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6439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三类指令的 CPI 分别为 1、2、3，在程序中各占 50%、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30%、20%。平均 CPI 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加权平均：1 × 0.5 + 2 × 0.3 + 3 × 0.2 = 0.5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 + 0.6 = 1.7。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7853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 60 s，其中 45 s 的计算可以被加速。计算部分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 3 倍后，整个程序快多少倍？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 45 / 3 + 15 = 30 s，60 / 30 = 2，整个程序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2 倍。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第1章 概要与技术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ree-1"/>
          <p:cNvGrpSpPr/>
          <p:nvPr/>
        </p:nvGrpSpPr>
        <p:grpSpPr>
          <a:xfrm>
            <a:off x="533400" y="1544955"/>
            <a:ext cx="4976812" cy="3166110"/>
            <a:chOff x="533400" y="1544955"/>
            <a:chExt cx="4976812" cy="3166110"/>
          </a:xfrm>
        </p:grpSpPr>
        <p:sp>
          <p:nvSpPr>
            <p:cNvPr id="7" name="Freeform 7"/>
            <p:cNvSpPr/>
            <p:nvPr/>
          </p:nvSpPr>
          <p:spPr>
            <a:xfrm>
              <a:off x="3182302" y="1724025"/>
              <a:ext cx="419100" cy="200977"/>
            </a:xfrm>
            <a:custGeom>
              <a:avLst/>
              <a:gdLst/>
              <a:ahLst/>
              <a:cxnLst/>
              <a:rect l="l" t="t" r="r" b="b"/>
              <a:pathLst>
                <a:path w="419100" h="200977">
                  <a:moveTo>
                    <a:pt x="0" y="200977"/>
                  </a:moveTo>
                  <a:lnTo>
                    <a:pt x="209550" y="20097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2302" y="1925002"/>
              <a:ext cx="419100" cy="200025"/>
            </a:xfrm>
            <a:custGeom>
              <a:avLst/>
              <a:gdLst/>
              <a:ahLst/>
              <a:cxnLst/>
              <a:rect l="l" t="t" r="r" b="b"/>
              <a:pathLst>
                <a:path w="419100" h="200025">
                  <a:moveTo>
                    <a:pt x="0" y="0"/>
                  </a:moveTo>
                  <a:lnTo>
                    <a:pt x="209550" y="0"/>
                  </a:lnTo>
                  <a:lnTo>
                    <a:pt x="209550" y="200025"/>
                  </a:lnTo>
                  <a:lnTo>
                    <a:pt x="419100" y="2000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82302" y="2526030"/>
              <a:ext cx="419100" cy="200978"/>
            </a:xfrm>
            <a:custGeom>
              <a:avLst/>
              <a:gdLst/>
              <a:ahLst/>
              <a:cxnLst/>
              <a:rect l="l" t="t" r="r" b="b"/>
              <a:pathLst>
                <a:path w="419100" h="200978">
                  <a:moveTo>
                    <a:pt x="0" y="200978"/>
                  </a:moveTo>
                  <a:lnTo>
                    <a:pt x="209550" y="2009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2302" y="2727008"/>
              <a:ext cx="419100" cy="200025"/>
            </a:xfrm>
            <a:custGeom>
              <a:avLst/>
              <a:gdLst/>
              <a:ahLst/>
              <a:cxnLst/>
              <a:rect l="l" t="t" r="r" b="b"/>
              <a:pathLst>
                <a:path w="419100" h="200025">
                  <a:moveTo>
                    <a:pt x="0" y="0"/>
                  </a:moveTo>
                  <a:lnTo>
                    <a:pt x="209550" y="0"/>
                  </a:lnTo>
                  <a:lnTo>
                    <a:pt x="209550" y="200025"/>
                  </a:lnTo>
                  <a:lnTo>
                    <a:pt x="419100" y="2000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82302" y="332803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2302" y="3729038"/>
              <a:ext cx="419100" cy="401003"/>
            </a:xfrm>
            <a:custGeom>
              <a:avLst/>
              <a:gdLst/>
              <a:ahLst/>
              <a:cxnLst/>
              <a:rect l="l" t="t" r="r" b="b"/>
              <a:pathLst>
                <a:path w="419100" h="401003">
                  <a:moveTo>
                    <a:pt x="0" y="401003"/>
                  </a:moveTo>
                  <a:lnTo>
                    <a:pt x="209550" y="40100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82302" y="413004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2302" y="4130040"/>
              <a:ext cx="419100" cy="401002"/>
            </a:xfrm>
            <a:custGeom>
              <a:avLst/>
              <a:gdLst/>
              <a:ahLst/>
              <a:cxnLst/>
              <a:rect l="l" t="t" r="r" b="b"/>
              <a:pathLst>
                <a:path w="419100" h="401002">
                  <a:moveTo>
                    <a:pt x="0" y="0"/>
                  </a:moveTo>
                  <a:lnTo>
                    <a:pt x="209550" y="0"/>
                  </a:lnTo>
                  <a:lnTo>
                    <a:pt x="209550" y="401002"/>
                  </a:lnTo>
                  <a:lnTo>
                    <a:pt x="419100" y="4010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463992" y="1925002"/>
              <a:ext cx="419100" cy="1102043"/>
            </a:xfrm>
            <a:custGeom>
              <a:avLst/>
              <a:gdLst/>
              <a:ahLst/>
              <a:cxnLst/>
              <a:rect l="l" t="t" r="r" b="b"/>
              <a:pathLst>
                <a:path w="419100" h="1102043">
                  <a:moveTo>
                    <a:pt x="0" y="1102043"/>
                  </a:moveTo>
                  <a:lnTo>
                    <a:pt x="209550" y="110204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63992" y="2727008"/>
              <a:ext cx="419100" cy="300038"/>
            </a:xfrm>
            <a:custGeom>
              <a:avLst/>
              <a:gdLst/>
              <a:ahLst/>
              <a:cxnLst/>
              <a:rect l="l" t="t" r="r" b="b"/>
              <a:pathLst>
                <a:path w="419100" h="300038">
                  <a:moveTo>
                    <a:pt x="0" y="300038"/>
                  </a:moveTo>
                  <a:lnTo>
                    <a:pt x="209550" y="3000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63992" y="3027045"/>
              <a:ext cx="419100" cy="300990"/>
            </a:xfrm>
            <a:custGeom>
              <a:avLst/>
              <a:gdLst/>
              <a:ahLst/>
              <a:cxnLst/>
              <a:rect l="l" t="t" r="r" b="b"/>
              <a:pathLst>
                <a:path w="419100" h="300990">
                  <a:moveTo>
                    <a:pt x="0" y="0"/>
                  </a:moveTo>
                  <a:lnTo>
                    <a:pt x="209550" y="0"/>
                  </a:lnTo>
                  <a:lnTo>
                    <a:pt x="209550" y="300990"/>
                  </a:lnTo>
                  <a:lnTo>
                    <a:pt x="419100" y="3009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63992" y="3027045"/>
              <a:ext cx="419100" cy="1102995"/>
            </a:xfrm>
            <a:custGeom>
              <a:avLst/>
              <a:gdLst/>
              <a:ahLst/>
              <a:cxnLst/>
              <a:rect l="l" t="t" r="r" b="b"/>
              <a:pathLst>
                <a:path w="419100" h="1102995">
                  <a:moveTo>
                    <a:pt x="0" y="0"/>
                  </a:moveTo>
                  <a:lnTo>
                    <a:pt x="209550" y="0"/>
                  </a:lnTo>
                  <a:lnTo>
                    <a:pt x="209550" y="1102995"/>
                  </a:lnTo>
                  <a:lnTo>
                    <a:pt x="419100" y="11029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01402" y="1544955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01402" y="1945958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83092" y="1744980"/>
              <a:ext cx="129921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01402" y="2346008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01402" y="2747010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83092" y="2546985"/>
              <a:ext cx="129921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01402" y="3148012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83092" y="3148012"/>
              <a:ext cx="129921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01402" y="3549015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01402" y="3950018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01402" y="4351020"/>
              <a:ext cx="19088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883092" y="3950018"/>
              <a:ext cx="129921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847975"/>
              <a:ext cx="93059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90557" y="1640205"/>
              <a:ext cx="1271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分类与后 PC 时代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0557" y="204120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八个伟大思想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72246" y="18411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计算机概貌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557" y="24422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软件层次、五大部件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90557" y="2843212"/>
              <a:ext cx="754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ISA 与 ABI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2246" y="26431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程序与部件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90557" y="324421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成本与成品率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2246" y="32442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制造技术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90557" y="3645218"/>
              <a:ext cx="1119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时间与 CPI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90557" y="40462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功耗墙与多核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90557" y="44472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基准与误区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72246" y="40462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性能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554" y="294322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第1章</a:t>
              </a:r>
            </a:p>
          </p:txBody>
        </p:sp>
      </p:grpSp>
      <p:grpSp>
        <p:nvGrpSpPr>
          <p:cNvPr id="52" name="c1-callout-2"/>
          <p:cNvGrpSpPr/>
          <p:nvPr/>
        </p:nvGrpSpPr>
        <p:grpSpPr>
          <a:xfrm>
            <a:off x="533400" y="4916805"/>
            <a:ext cx="4977765" cy="756285"/>
            <a:chOff x="533400" y="4916805"/>
            <a:chExt cx="4977765" cy="756285"/>
          </a:xfrm>
        </p:grpSpPr>
        <p:sp>
          <p:nvSpPr>
            <p:cNvPr id="46" name="Rectangle 46"/>
            <p:cNvSpPr/>
            <p:nvPr/>
          </p:nvSpPr>
          <p:spPr>
            <a:xfrm>
              <a:off x="533400" y="491680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194935"/>
              <a:ext cx="200026" cy="200026"/>
              <a:chOff x="738188" y="519493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1949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261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52949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5063966"/>
              <a:ext cx="379260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共更正原课件 7 处：第 13、21、30、31、43、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47、48 页。</a:t>
              </a:r>
            </a:p>
          </p:txBody>
        </p:sp>
      </p:grpSp>
      <p:grpSp>
        <p:nvGrpSpPr>
          <p:cNvPr id="67" name="c2-bullets-1"/>
          <p:cNvGrpSpPr/>
          <p:nvPr/>
        </p:nvGrpSpPr>
        <p:grpSpPr>
          <a:xfrm>
            <a:off x="5815965" y="1547336"/>
            <a:ext cx="5644503" cy="2254187"/>
            <a:chOff x="5815965" y="1547336"/>
            <a:chExt cx="5644503" cy="2254187"/>
          </a:xfrm>
        </p:grpSpPr>
        <p:sp>
          <p:nvSpPr>
            <p:cNvPr id="53" name="Freeform 53"/>
            <p:cNvSpPr/>
            <p:nvPr/>
          </p:nvSpPr>
          <p:spPr>
            <a:xfrm>
              <a:off x="5815965" y="1577340"/>
              <a:ext cx="136207" cy="111443"/>
            </a:xfrm>
            <a:custGeom>
              <a:avLst/>
              <a:gdLst/>
              <a:ahLst/>
              <a:cxnLst/>
              <a:rect l="l" t="t" r="r" b="b"/>
              <a:pathLst>
                <a:path w="136207" h="111443">
                  <a:moveTo>
                    <a:pt x="0" y="59055"/>
                  </a:moveTo>
                  <a:lnTo>
                    <a:pt x="51435" y="111443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59234" y="1547336"/>
              <a:ext cx="46203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 = 1 / 执行时间；“X 比 Y 快 n 倍”指性能之比为 n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5815965" y="1906905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59234" y="1876901"/>
              <a:ext cx="540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= 指令数 × CPI × 时钟周期 = 指令数 × CPI / 时钟频率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815965" y="2236470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2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9234" y="2206466"/>
              <a:ext cx="3984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CPI = Σ（CPIᵢ × 第 i 类指令的相对频率）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5815965" y="2565082"/>
              <a:ext cx="136207" cy="111442"/>
            </a:xfrm>
            <a:custGeom>
              <a:avLst/>
              <a:gdLst/>
              <a:ahLst/>
              <a:cxnLst/>
              <a:rect l="l" t="t" r="r" b="b"/>
              <a:pathLst>
                <a:path w="136207" h="111442">
                  <a:moveTo>
                    <a:pt x="0" y="59055"/>
                  </a:moveTo>
                  <a:lnTo>
                    <a:pt x="51435" y="111442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59234" y="2535079"/>
              <a:ext cx="39906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动态功耗 ∝ 1/2 × 负载电容 × 电压² × 开关频率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5815965" y="2894648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9055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59234" y="2864644"/>
              <a:ext cx="52913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Amdahl：T改进后 = T受影响部分 / 改进倍数 + T不受影响部分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815965" y="3224212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59234" y="3194209"/>
              <a:ext cx="4325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每芯片价格 = 晶圆价格 / (每晶圆芯片数 × 成品率)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5815965" y="3552825"/>
              <a:ext cx="136207" cy="111442"/>
            </a:xfrm>
            <a:custGeom>
              <a:avLst/>
              <a:gdLst/>
              <a:ahLst/>
              <a:cxnLst/>
              <a:rect l="l" t="t" r="r" b="b"/>
              <a:pathLst>
                <a:path w="136207" h="111442">
                  <a:moveTo>
                    <a:pt x="0" y="59055"/>
                  </a:moveTo>
                  <a:lnTo>
                    <a:pt x="51435" y="111442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59234" y="3522821"/>
              <a:ext cx="48511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= 时钟频率 / (CPI × 10⁶)，不适合比较不同指令集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5815965" y="3930968"/>
            <a:ext cx="5842635" cy="1675448"/>
            <a:chOff x="5815965" y="3930968"/>
            <a:chExt cx="5842635" cy="1675448"/>
          </a:xfrm>
        </p:grpSpPr>
        <p:sp>
          <p:nvSpPr>
            <p:cNvPr id="68" name="Rectangle 68"/>
            <p:cNvSpPr/>
            <p:nvPr/>
          </p:nvSpPr>
          <p:spPr>
            <a:xfrm>
              <a:off x="5815965" y="3930968"/>
              <a:ext cx="5842635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25490" y="4064318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57900" y="413480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13653" y="417052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原课件总结的三条结论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065520" y="45681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22111" y="450770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技术进步让计算机的性价比不断提高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65520" y="48882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22111" y="4827746"/>
              <a:ext cx="45633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硬件和软件都按抽象层次组织，ISA 是两者之间的接口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065520" y="52082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22111" y="514778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功耗已成为限制因素，要靠并行继续提高性能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9" name="Rectangle 7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511" y="6004084"/>
              <a:ext cx="8247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比较两台计算机时，以同一程序的执行时间为准；时钟频率、CPI、MIPS 单独拿出来都可能误导。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第1章 计算机概要与技术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ch1">
  <a:themeElements>
    <a:clrScheme name="coa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2026-09-23T01:01:10Z</dcterms:created>
  <dcterms:modified xsi:type="dcterms:W3CDTF">2026-09-23T01:01:10Z</dcterms:modified>
  <cp:category/>
  <cp:contentStatus/>
</cp:coreProperties>
</file>