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9803c403c5a85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9e5a7e8618a5975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2b33e3482c69ec1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441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8319" y="17183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指令：计算机的语言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571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MIPS 为例，从指令格式读到程序运行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指令格式与寻址方式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756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操作数与机器码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分支、循环与过程调用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1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程序翻译与 ARM、x86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92978" cy="205359"/>
            <a:chOff x="680466" y="6192202"/>
            <a:chExt cx="569297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92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自学复习版｜据吉林大学《计算机原理与体系结构》第2章课件（2021 秋）整理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494" y="1519238"/>
            <a:ext cx="6285928" cy="4605814"/>
            <a:chOff x="523494" y="1519238"/>
            <a:chExt cx="6285928" cy="4605814"/>
          </a:xfrm>
        </p:grpSpPr>
        <p:sp>
          <p:nvSpPr>
            <p:cNvPr id="7" name="TextBox 7"/>
            <p:cNvSpPr txBox="1"/>
            <p:nvPr/>
          </p:nvSpPr>
          <p:spPr>
            <a:xfrm>
              <a:off x="523494" y="151923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2985" y="182641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操作码、地址码、扩展操作码、寻址方式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210312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494" y="219932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2227421"/>
              <a:ext cx="12987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的操作数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250650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寄存器、存储器、立即数，补码与符号扩展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78320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494" y="287845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461" y="29065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指令的机器表示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3186589"/>
              <a:ext cx="2551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型与 I 型编码、存储程序、逻辑操作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3462338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494" y="355854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461" y="358663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分支与过程调用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985" y="3865721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if/while 的编译、寄存器约定、栈帧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28700" y="4142422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494" y="423862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461" y="426672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字符与寻址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985" y="454580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字符串、32 位常数、分支与跳转地址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8700" y="482155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494" y="491775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1461" y="494585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同步、翻译与综合示例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985" y="5224939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ll/sc、编译到加载、数组与指针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28700" y="550164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494" y="559784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461" y="5625941"/>
              <a:ext cx="15628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ARM、x86 与小结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985" y="590502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两种真实指令集、谬误陷阱、设计原则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556760"/>
            <a:chOff x="7114222" y="1524000"/>
            <a:chExt cx="4544378" cy="4556760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556760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2900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90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35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3604" y="2054542"/>
              <a:ext cx="37427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手工完成 MIPS 汇编指令与机器码（二进制、十六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进制）的互译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7585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3604" y="2612708"/>
              <a:ext cx="3376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if、while、数组访问翻译成 MIPS 汇编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7585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3604" y="291274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按寄存器约定写出过程调用中保存和恢复寄存器的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7585" y="35261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3604" y="346995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算出分支、跳转的目标地址和扩展操作码能安排的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指令条数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47585" y="40833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3604" y="402717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MIPS 的四条设计原则，以及 RISC 与 CISC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主要差别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指令基础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一条指令要交代清楚：做什么、对谁做、结果放哪、下一条在哪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2.0.1 操作码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2.0.2 地址码与指令格式的演变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2.0.3 扩展操作码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常用寻址方式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指令由操作码和地址码组成，操作码位数取决于指令条数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193982" cy="2567940"/>
            <a:chOff x="533400" y="1524000"/>
            <a:chExt cx="5193982" cy="25679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67940"/>
            </a:xfrm>
            <a:prstGeom prst="roundRect">
              <a:avLst>
                <a:gd name="adj" fmla="val 51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012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指令要交代的四件事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做什么操作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要处理哪些数，这些数在哪里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27813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处理结果放在哪里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1032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1455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11658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下一条指令在哪里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3448526"/>
              <a:ext cx="4491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件由操作码给出，其余由地址码给出，或者隐含在 PC、累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加器、栈等部件中。</a:t>
              </a:r>
            </a:p>
          </p:txBody>
        </p:sp>
      </p:grpSp>
      <p:grpSp>
        <p:nvGrpSpPr>
          <p:cNvPr id="30" name="c1-cells-2"/>
          <p:cNvGrpSpPr/>
          <p:nvPr/>
        </p:nvGrpSpPr>
        <p:grpSpPr>
          <a:xfrm>
            <a:off x="526923" y="4282440"/>
            <a:ext cx="4409885" cy="419100"/>
            <a:chOff x="526923" y="4282440"/>
            <a:chExt cx="4409885" cy="419100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44124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指令格式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317308" y="4282440"/>
              <a:ext cx="1809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31985" y="4412456"/>
              <a:ext cx="1180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操作码字段 OP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127058" y="4282440"/>
              <a:ext cx="1809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13424" y="4412456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地址码字段 A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892040"/>
            <a:ext cx="5193982" cy="1316355"/>
            <a:chOff x="533400" y="4892040"/>
            <a:chExt cx="5193982" cy="1316355"/>
          </a:xfrm>
        </p:grpSpPr>
        <p:sp>
          <p:nvSpPr>
            <p:cNvPr id="31" name="Rectangle 31"/>
            <p:cNvSpPr/>
            <p:nvPr/>
          </p:nvSpPr>
          <p:spPr>
            <a:xfrm>
              <a:off x="533400" y="489204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02539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1050" y="5101590"/>
              <a:ext cx="137636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4676" y="5137309"/>
              <a:ext cx="124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2.0.5 指令的地位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3430" y="54787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指令是软件和硬件的分界面：硬件设计者用各种手段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实现它，软件设计者用它编写系统软件和应用软件。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032182" y="1524000"/>
            <a:ext cx="5626418" cy="2272665"/>
            <a:chOff x="6032182" y="1524000"/>
            <a:chExt cx="5626418" cy="2272665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79832" y="1733550"/>
              <a:ext cx="133064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7554" y="1769269"/>
              <a:ext cx="12142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2.0.1 操作码 OP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2212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规定指令做什么性质的操作，如加、减、乘、除、取数、存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数。每一种编码代表一种指令。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8554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43662" y="2731770"/>
              <a:ext cx="4770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位数由指令系统的规模决定：n 位最多区分 2ⁿ 种指令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85548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43662" y="306705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定长操作码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：位置和长度固定，指令规整、译码简单；缺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点是信息冗余大，程序总长度增加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032182" y="3987165"/>
            <a:ext cx="5626418" cy="2221230"/>
            <a:chOff x="6032182" y="3987165"/>
            <a:chExt cx="5626418" cy="2221230"/>
          </a:xfrm>
        </p:grpSpPr>
        <p:sp>
          <p:nvSpPr>
            <p:cNvPr id="47" name="Rectangle 47"/>
            <p:cNvSpPr/>
            <p:nvPr/>
          </p:nvSpPr>
          <p:spPr>
            <a:xfrm>
              <a:off x="6032182" y="3987165"/>
              <a:ext cx="5626418" cy="2221230"/>
            </a:xfrm>
            <a:prstGeom prst="roundRect">
              <a:avLst>
                <a:gd name="adj" fmla="val 60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120515"/>
              <a:ext cx="47625" cy="1954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79832" y="41967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73990" y="42324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7985" y="4231958"/>
              <a:ext cx="2737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370 为什么用 8 位操作码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285548" y="4655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43662" y="4592955"/>
              <a:ext cx="4892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字长 32 位，16 个通用寄存器 R0–R15，共 183 条指令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85548" y="49911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43662" y="4928235"/>
              <a:ext cx="4467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指令长度有 16、32、48 位几种，操作码都是 8 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3356" y="5260181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2⁷ = 128 &lt; 183 ≤ 256 = 2⁸，7 位不够区分 183 条指令，所以至少要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位。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地址码：从四地址到零地址，地址越少隐含的越多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8066" y="1524000"/>
            <a:ext cx="11130534" cy="3039999"/>
            <a:chOff x="528066" y="1524000"/>
            <a:chExt cx="11130534" cy="30399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7265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0698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指令字段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07914" y="17592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完成的操作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82915" y="175926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下一条指令地址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53994" y="1652588"/>
              <a:ext cx="160705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长度（OP 4 位、地址 6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6493" y="2289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四地址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59852" y="2289810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A1 A2 A3 A4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4892" y="2289810"/>
              <a:ext cx="1471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(A1) OP (A2) → A3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55826" y="2289810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A4 给出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57574" y="228981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 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81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8603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93" y="27146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三地址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9852" y="2714625"/>
              <a:ext cx="950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A1 A2 A3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4892" y="2714625"/>
              <a:ext cx="1471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(A1) OP (A2) → A3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5826" y="2714625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PC 隐含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57574" y="2714625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06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6493" y="31394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二地址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9852" y="3139440"/>
              <a:ext cx="712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A1 A2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4892" y="3139440"/>
              <a:ext cx="1471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(A1) OP (A2) → A1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5826" y="3139440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PC 隐含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57574" y="313944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299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3471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6493" y="35633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一地址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9852" y="3563302"/>
              <a:ext cx="47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A1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84892" y="3563302"/>
              <a:ext cx="3106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(ACC) OP (A1) → ACC，或只对 (A1) 运算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5826" y="3563302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PC 隐含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57574" y="3563302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54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6493" y="3988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零地址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59852" y="3988118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4892" y="3988118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操作数隐含在栈顶，或不需要操作数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55826" y="3988118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PC 隐含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01998" y="398811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2760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752600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77640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48575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51682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8066" y="4358640"/>
              <a:ext cx="51679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(X) 表示地址 X 中存放的内容；ACC 为累加器。不是所有指令都需要 3 个操作数。</a:t>
              </a:r>
            </a:p>
          </p:txBody>
        </p:sp>
      </p:grpSp>
      <p:grpSp>
        <p:nvGrpSpPr>
          <p:cNvPr id="56" name="c1-callout-2"/>
          <p:cNvGrpSpPr/>
          <p:nvPr/>
        </p:nvGrpSpPr>
        <p:grpSpPr>
          <a:xfrm>
            <a:off x="533400" y="4702492"/>
            <a:ext cx="11125200" cy="503872"/>
            <a:chOff x="533400" y="4702492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4702492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4854895"/>
              <a:ext cx="200023" cy="200023"/>
              <a:chOff x="738188" y="485489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48548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49215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4855369"/>
              <a:ext cx="80742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地址从显式变为隐含，指令变短；代价是隐含的部件（PC、累加器、栈）要在硬件中固定下来。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7" name="Rectangle 5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5753576"/>
              <a:ext cx="994219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2.0.4 影响指令格式的因素：机器字长（反映机器的能力）、存储器容量（单元个数和每个单元的位数）、指令功能的简单或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37102" cy="909257"/>
            <a:chOff x="520446" y="342900"/>
            <a:chExt cx="9437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37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扩展操作码：4 位 OP 加 3 个 6 位地址，最多安排多少条指令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100566" cy="264033"/>
            <a:chOff x="526542" y="1545907"/>
            <a:chExt cx="910056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定长指令里地址少的指令留出了空位，把这些位拿来加长操作码，就能在不增加指令长度的前提下安排更多指令。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28447" y="1928812"/>
            <a:ext cx="5415153" cy="2263807"/>
            <a:chOff x="528447" y="1928812"/>
            <a:chExt cx="5415153" cy="22638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3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37565" y="205025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19605" y="205025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0230" y="205025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99902" y="205025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3958" y="2450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三地址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7068" y="245030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0000–1110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4655" y="24503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65280" y="24503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4953" y="24503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3958" y="28503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二地址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08748" y="2738438"/>
              <a:ext cx="9544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14383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58724" y="2850356"/>
              <a:ext cx="218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65280" y="28503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4953" y="28503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3958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一地址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08748" y="3138488"/>
              <a:ext cx="9544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14383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382202" y="3138488"/>
              <a:ext cx="11715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13497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111111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49349" y="3250406"/>
              <a:ext cx="218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4953" y="32504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3958" y="3650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零地址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408748" y="3538538"/>
              <a:ext cx="9544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14383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82202" y="3538538"/>
              <a:ext cx="11715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13497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111111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72828" y="3538538"/>
              <a:ext cx="11715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904122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9022" y="3650456"/>
              <a:ext cx="218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28812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39446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36791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55854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74821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4001929"/>
              <a:ext cx="3327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橙色格子是扩展标志：遇到全 1 就说明操作码还要往后读</a:t>
              </a:r>
            </a:p>
          </p:txBody>
        </p:sp>
      </p:grpSp>
      <p:grpSp>
        <p:nvGrpSpPr>
          <p:cNvPr id="59" name="c1-callout-2"/>
          <p:cNvGrpSpPr/>
          <p:nvPr/>
        </p:nvGrpSpPr>
        <p:grpSpPr>
          <a:xfrm>
            <a:off x="533400" y="4324350"/>
            <a:ext cx="5410200" cy="775335"/>
            <a:chOff x="533400" y="4324350"/>
            <a:chExt cx="5410200" cy="775335"/>
          </a:xfrm>
        </p:grpSpPr>
        <p:sp>
          <p:nvSpPr>
            <p:cNvPr id="53" name="Rectangle 53"/>
            <p:cNvSpPr/>
            <p:nvPr/>
          </p:nvSpPr>
          <p:spPr>
            <a:xfrm>
              <a:off x="533400" y="4324350"/>
              <a:ext cx="5410200" cy="775335"/>
            </a:xfrm>
            <a:prstGeom prst="roundRect">
              <a:avLst>
                <a:gd name="adj" fmla="val 1474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4608313"/>
              <a:ext cx="224134" cy="192560"/>
              <a:chOff x="726129" y="460831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46786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46083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4756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449294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扩展规则：短操作码不能是长操作码的前缀，否则译码时分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不清一条指令到哪里结束。</a:t>
              </a:r>
            </a:p>
          </p:txBody>
        </p:sp>
      </p:grpSp>
      <p:grpSp>
        <p:nvGrpSpPr>
          <p:cNvPr id="77" name="c2-steps-1"/>
          <p:cNvGrpSpPr/>
          <p:nvPr/>
        </p:nvGrpSpPr>
        <p:grpSpPr>
          <a:xfrm>
            <a:off x="6248400" y="1938338"/>
            <a:ext cx="4887737" cy="2268379"/>
            <a:chOff x="6248400" y="1938338"/>
            <a:chExt cx="4887737" cy="2268379"/>
          </a:xfrm>
        </p:grpSpPr>
        <p:sp>
          <p:nvSpPr>
            <p:cNvPr id="60" name="Rectangle 60"/>
            <p:cNvSpPr/>
            <p:nvPr/>
          </p:nvSpPr>
          <p:spPr>
            <a:xfrm>
              <a:off x="6381750" y="2081212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248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2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48400" y="25212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2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248400" y="31041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2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48400" y="36871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2024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0642" y="1969770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三地址：15 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1785" y="2237899"/>
              <a:ext cx="4474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位共 16 种编码，留 1111 作扩展标志，0000–1110 给三地址指令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0642" y="2552700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二地址：63 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61785" y="2820829"/>
              <a:ext cx="4293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4 位为 1111，接下来 6 位共 64 种编码，留 111111 继续扩展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0642" y="3135630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一地址：63 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1785" y="3403759"/>
              <a:ext cx="356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10 位为 1111 111111，再取 6 位，同样留 111111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60642" y="3718560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零地址：64 条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61785" y="3986689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16 位全为 1，最后 6 位的 64 种编码全部可用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248400" y="4370070"/>
            <a:ext cx="5410200" cy="729615"/>
            <a:chOff x="6248400" y="4370070"/>
            <a:chExt cx="5410200" cy="729615"/>
          </a:xfrm>
        </p:grpSpPr>
        <p:sp>
          <p:nvSpPr>
            <p:cNvPr id="78" name="Rectangle 78"/>
            <p:cNvSpPr/>
            <p:nvPr/>
          </p:nvSpPr>
          <p:spPr>
            <a:xfrm>
              <a:off x="6248400" y="437007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53188" y="4634867"/>
              <a:ext cx="200023" cy="200023"/>
              <a:chOff x="6453188" y="4634867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453188" y="46348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86538" y="47015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5892" y="4515802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每级只留 1 个扩展标志时，共 15 + 63 + 63 + 64 = 205 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84" name="Rectangle 8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892" y="5779770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原课件只提出“这个格式的指令系统能力如何”，没有给出答案；上面是一种常见的分配方案。多留几个扩展标志，地址少的指令可以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更多，地址多的指令就相应变少。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常用寻址方式：由地址码找到操作数的几种办法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able-1"/>
          <p:cNvGrpSpPr/>
          <p:nvPr/>
        </p:nvGrpSpPr>
        <p:grpSpPr>
          <a:xfrm>
            <a:off x="528447" y="1524000"/>
            <a:ext cx="11130153" cy="3864006"/>
            <a:chOff x="528447" y="1524000"/>
            <a:chExt cx="11130153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46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973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寻址方式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65859" y="1645444"/>
              <a:ext cx="1501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有效地址 EA 与操作数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770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59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立即寻址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23298" y="2045494"/>
              <a:ext cx="1940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 = A（就写在指令里）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05675" y="20454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不访存，速度快；数值范围受字段位数限制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5960" y="2445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寄存器直接寻址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23298" y="2445544"/>
              <a:ext cx="909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 = (R)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5675" y="244554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不访存；寄存器编号位数少，指令短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5960" y="28455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寄存器间接寻址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23298" y="2845594"/>
              <a:ext cx="1857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(R)，操作数 = ((R))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5675" y="2845594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 1 次；寄存器位数够长就能访问全部主存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65960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直接寻址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3298" y="3245644"/>
              <a:ext cx="150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A，操作数 = (A)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5675" y="3245644"/>
              <a:ext cx="2478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 1 次；寻址范围受 A 的位数限制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65960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间接寻址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3298" y="3645694"/>
              <a:ext cx="1857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(A)，操作数 = ((A))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5675" y="3645694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 2 次；扩大了寻址范围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65960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相对寻址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23298" y="4045744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(PC) + 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05675" y="404574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常用于转移；程序在主存中移动位置后仍然正确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65960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基址寻址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23298" y="4445794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(BR) + 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05675" y="4445794"/>
              <a:ext cx="3146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基址寄存器 BR 由系统设定，用来扩大寻址范围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555" y="4845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65960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变址寻址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23298" y="4845844"/>
              <a:ext cx="951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(IX) + 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05675" y="4845844"/>
              <a:ext cx="3107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变址寄存器 IX 由程序修改，适合顺序处理数组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86404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42138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0375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8447" y="5197316"/>
              <a:ext cx="3713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为指令中的形式地址，R 为寄存器，(X) 表示 X 中存放的内容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1" name="Rectangle 6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5779770"/>
              <a:ext cx="98892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MIPS 只用其中几种：立即寻址、寄存器寻址、基址寻址（lw/sw）、PC 相对寻址（beq/bne），再加上伪直接寻址（j/jal），见第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五部分。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4628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指令集与操作数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运算的数放在哪里：寄存器、主存，还是指令本身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739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指令集与 MIPS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算术操作与设计原则一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寄存器、存储器、立即数操作数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无符号数、补码与符号扩展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5421" cy="909257"/>
            <a:chOff x="520446" y="342900"/>
            <a:chExt cx="8625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5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指令集是一台计算机全部指令的集合，本章以 MIPS 为例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2129790"/>
            <a:chOff x="533400" y="1524000"/>
            <a:chExt cx="5626418" cy="21297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820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385" y="1743551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2.1 指令集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一台计算机能执行的全部指令。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35553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不同计算机的指令集不同，但有许多共同之处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5557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早期计算机的指令集很简单，实现起来也简单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0118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955608"/>
              <a:ext cx="4886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许多现代计算机也采用简单指令集，例如 ARM 系列、RISC-V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3118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25564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存储程序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：指令和数据一样，以二进制形式存放在存储器中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823335"/>
            <a:ext cx="5626418" cy="2309812"/>
            <a:chOff x="533400" y="3823335"/>
            <a:chExt cx="5626418" cy="2309812"/>
          </a:xfrm>
        </p:grpSpPr>
        <p:sp>
          <p:nvSpPr>
            <p:cNvPr id="21" name="Rectangle 21"/>
            <p:cNvSpPr/>
            <p:nvPr/>
          </p:nvSpPr>
          <p:spPr>
            <a:xfrm>
              <a:off x="533400" y="3823335"/>
              <a:ext cx="5626418" cy="2309812"/>
            </a:xfrm>
            <a:prstGeom prst="roundRect">
              <a:avLst>
                <a:gd name="adj" fmla="val 5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956685"/>
              <a:ext cx="47625" cy="20431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40100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0862" y="40428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4353878"/>
              <a:ext cx="49429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原课件写作“斯坦福大学的 MIPS 来自 MIPS 公司”，顺序反了：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由斯坦福大学提出，再由 MIPS 公司（MIPS Technologies）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商业化。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332" y="5169218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原课件把早期计算机的简单指令集标为 RISC；RISC 是 1980 年代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才提出的设计思想，早期指令简单主要是受硬件条件限制。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2043112"/>
            <a:chOff x="6464618" y="1524000"/>
            <a:chExt cx="5193982" cy="2043112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2043112"/>
            </a:xfrm>
            <a:prstGeom prst="roundRect">
              <a:avLst>
                <a:gd name="adj" fmla="val 65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51308" y="1710690"/>
              <a:ext cx="90297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0651" y="1743551"/>
              <a:ext cx="7642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 指令集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59880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15899" y="2054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教材例子使用的指令集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59880" y="24117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5899" y="23555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在嵌入式处理器市场份额很大：家电、网络和存储设备、照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相机、打印机等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59880" y="29689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15899" y="291274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是许多现代指令集的典型代表，常用指令可查 MIPS 参考数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据卡和教材附录</a:t>
              </a:r>
            </a:p>
          </p:txBody>
        </p:sp>
      </p:grpSp>
      <p:grpSp>
        <p:nvGrpSpPr>
          <p:cNvPr id="43" name="c2-kv-2"/>
          <p:cNvGrpSpPr/>
          <p:nvPr/>
        </p:nvGrpSpPr>
        <p:grpSpPr>
          <a:xfrm>
            <a:off x="6457760" y="3759518"/>
            <a:ext cx="5200840" cy="656463"/>
            <a:chOff x="6457760" y="3759518"/>
            <a:chExt cx="5200840" cy="656463"/>
          </a:xfrm>
        </p:grpSpPr>
        <p:sp>
          <p:nvSpPr>
            <p:cNvPr id="38" name="TextBox 38"/>
            <p:cNvSpPr txBox="1"/>
            <p:nvPr/>
          </p:nvSpPr>
          <p:spPr>
            <a:xfrm>
              <a:off x="6457760" y="3759518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RISC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1170" y="3759518"/>
              <a:ext cx="3928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精简指令集：指令少、格式规整，如 MIPS、ARM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40462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7760" y="4151948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CISC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1170" y="4151948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复杂指令集：指令多、长度可变，如 x86</a:t>
              </a:r>
            </a:p>
          </p:txBody>
        </p:sp>
      </p:grpSp>
      <p:grpSp>
        <p:nvGrpSpPr>
          <p:cNvPr id="63" name="c2-table-3"/>
          <p:cNvGrpSpPr/>
          <p:nvPr/>
        </p:nvGrpSpPr>
        <p:grpSpPr>
          <a:xfrm>
            <a:off x="6464618" y="4532948"/>
            <a:ext cx="5193982" cy="1600200"/>
            <a:chOff x="6464618" y="4532948"/>
            <a:chExt cx="5193982" cy="1600200"/>
          </a:xfrm>
        </p:grpSpPr>
        <p:sp>
          <p:nvSpPr>
            <p:cNvPr id="44" name="Rectangle 44"/>
            <p:cNvSpPr/>
            <p:nvPr/>
          </p:nvSpPr>
          <p:spPr>
            <a:xfrm>
              <a:off x="6464618" y="4532948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60451" y="46543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4086" y="4654391"/>
              <a:ext cx="99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MIPS（RISC）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73055" y="4654391"/>
              <a:ext cx="900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x86（CISC）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1772" y="50544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指令长度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6240" y="5054441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32 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85998" y="5054441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1–17 字节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53282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533304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1772" y="54544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16240" y="545449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5998" y="545449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57283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1772" y="5854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6240" y="5854541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lw/sw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85998" y="585454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运算指令可直接访存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4532948"/>
              <a:ext cx="519398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14322" y="453294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84080" y="453294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34128" cy="909257"/>
            <a:chOff x="520446" y="342900"/>
            <a:chExt cx="85341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341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算术运算固定用三个操作数，操作数放在 32 个寄存器里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126932"/>
            <a:chOff x="533400" y="1524000"/>
            <a:chExt cx="5410200" cy="2126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26932"/>
            </a:xfrm>
            <a:prstGeom prst="roundRect">
              <a:avLst>
                <a:gd name="adj" fmla="val 6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02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6202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333" y="1743551"/>
              <a:ext cx="807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2.2 算术操作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58190" y="2032635"/>
              <a:ext cx="499872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6587" y="218455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6587" y="2445544"/>
              <a:ext cx="1789684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a, b, c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 = b + c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sub a, b, c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 = b - c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0527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9656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两个源操作数、一个目的操作数；所有算术运算都是这种形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式，注释以 # 开头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21430"/>
            <a:ext cx="5410200" cy="944880"/>
            <a:chOff x="533400" y="3821430"/>
            <a:chExt cx="5410200" cy="944880"/>
          </a:xfrm>
        </p:grpSpPr>
        <p:sp>
          <p:nvSpPr>
            <p:cNvPr id="17" name="Rectangle 17"/>
            <p:cNvSpPr/>
            <p:nvPr/>
          </p:nvSpPr>
          <p:spPr>
            <a:xfrm>
              <a:off x="533400" y="3821430"/>
              <a:ext cx="5410200" cy="944880"/>
            </a:xfrm>
            <a:prstGeom prst="roundRect">
              <a:avLst>
                <a:gd name="adj" fmla="val 1411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0090" y="400812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560" y="404098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设计原则一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59064" y="404336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简单源于规整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32" y="43691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规整使实现简单；简单才能以更低的成本获得更高的性能。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936808"/>
            <a:ext cx="5410200" cy="1202055"/>
            <a:chOff x="533400" y="4936808"/>
            <a:chExt cx="5410200" cy="1202055"/>
          </a:xfrm>
        </p:grpSpPr>
        <p:sp>
          <p:nvSpPr>
            <p:cNvPr id="23" name="Rectangle 23"/>
            <p:cNvSpPr/>
            <p:nvPr/>
          </p:nvSpPr>
          <p:spPr>
            <a:xfrm>
              <a:off x="533400" y="493680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0090" y="512349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1560" y="51563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设计原则二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9064" y="51577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越小越快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232" y="5484495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 32 个寄存器，选中其中一个的电路短而快；主存有数以百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万计的存储位置，访问慢得多。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785938"/>
            <a:chOff x="6248400" y="1524000"/>
            <a:chExt cx="5410200" cy="1785938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3190" y="1710690"/>
              <a:ext cx="121158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3183" y="1743551"/>
              <a:ext cx="10715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2.3 寄存器操作数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81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37782" y="2054542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有 32 个 32 位寄存器，编号 0–31，存放频繁使用的数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81762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37782" y="2612708"/>
              <a:ext cx="2543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位数据称为一个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字（word）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1762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7782" y="2912745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约定名：$t0–$t9 为临时寄存器，$s0–$s7 用来存放变量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480435"/>
            <a:ext cx="5410200" cy="2658428"/>
            <a:chOff x="6248400" y="3480435"/>
            <a:chExt cx="5410200" cy="2658428"/>
          </a:xfrm>
        </p:grpSpPr>
        <p:sp>
          <p:nvSpPr>
            <p:cNvPr id="40" name="Rectangle 40"/>
            <p:cNvSpPr/>
            <p:nvPr/>
          </p:nvSpPr>
          <p:spPr>
            <a:xfrm>
              <a:off x="6248400" y="3480435"/>
              <a:ext cx="5410200" cy="2658428"/>
            </a:xfrm>
            <a:prstGeom prst="roundRect">
              <a:avLst>
                <a:gd name="adj" fmla="val 5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613785"/>
              <a:ext cx="47625" cy="23917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3190" y="36671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8961" y="36999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4960" y="3701415"/>
              <a:ext cx="1845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(g + h) - (i + j);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7475" y="4023836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f、g、h、i、j 依次放在 $s0–$s4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3190" y="4267200"/>
              <a:ext cx="499872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01587" y="44191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1587" y="4679156"/>
              <a:ext cx="240576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$t0, $s1, $s2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g + h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$t1, $s3, $s4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i + j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sub $s0, $t0, $t1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f = $t0 - $t1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7475" y="5403056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一条指令只做一次运算，复杂表达式拆成多条，中间结果放在临时寄存器。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2240" cy="909257"/>
            <a:chOff x="520446" y="342900"/>
            <a:chExt cx="96122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22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存储器操作数：按字节编址，一个字占 4 个字节，MIPS 为大端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2657475"/>
            <a:chOff x="533400" y="1524000"/>
            <a:chExt cx="5626418" cy="2657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657475"/>
            </a:xfrm>
            <a:prstGeom prst="roundRect">
              <a:avLst>
                <a:gd name="adj" fmla="val 5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90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1828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727" y="1769269"/>
              <a:ext cx="139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2.3.1 存储器操作数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数组、结构、动态数据等复杂数据放在主存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运算前用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把数从主存读入寄存器，运算后用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果写回主存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按字节编址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：每个地址对应一个 8 位字节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02330"/>
              <a:ext cx="4720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一个字占 4 个字节，字的地址是 4 的倍数（字对齐）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3800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3737610"/>
              <a:ext cx="4778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采用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：字的高位字节放在低地址；小端相反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71975"/>
            <a:ext cx="5626418" cy="1600200"/>
            <a:chOff x="533400" y="4371975"/>
            <a:chExt cx="5626418" cy="1600200"/>
          </a:xfrm>
        </p:grpSpPr>
        <p:sp>
          <p:nvSpPr>
            <p:cNvPr id="22" name="Rectangle 22"/>
            <p:cNvSpPr/>
            <p:nvPr/>
          </p:nvSpPr>
          <p:spPr>
            <a:xfrm>
              <a:off x="533400" y="4371975"/>
              <a:ext cx="5626418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505325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5815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258" y="46172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958715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原课件写作“每个地址必须是 4 个字节”，原意是：字的地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址必须是 4 的倍数。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458902" y="1524000"/>
            <a:ext cx="5199698" cy="1642587"/>
            <a:chOff x="6458902" y="1524000"/>
            <a:chExt cx="5199698" cy="1642587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93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地址偏移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09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大端模式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16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小端模式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4941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6083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9152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24941" y="255698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6083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9152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2219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8902" y="2946559"/>
              <a:ext cx="267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例：16 位整数 0x1234 存入 short 变量</a:t>
              </a:r>
            </a:p>
          </p:txBody>
        </p:sp>
      </p:grpSp>
      <p:grpSp>
        <p:nvGrpSpPr>
          <p:cNvPr id="71" name="c2-cells-2"/>
          <p:cNvGrpSpPr/>
          <p:nvPr/>
        </p:nvGrpSpPr>
        <p:grpSpPr>
          <a:xfrm>
            <a:off x="6458141" y="3312795"/>
            <a:ext cx="2903981" cy="1457039"/>
            <a:chOff x="6458141" y="3312795"/>
            <a:chExt cx="2903981" cy="1457039"/>
          </a:xfrm>
        </p:grpSpPr>
        <p:sp>
          <p:nvSpPr>
            <p:cNvPr id="45" name="TextBox 45"/>
            <p:cNvSpPr txBox="1"/>
            <p:nvPr/>
          </p:nvSpPr>
          <p:spPr>
            <a:xfrm>
              <a:off x="6458141" y="34428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大端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923722" y="3312795"/>
              <a:ext cx="6096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22534" y="34428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533322" y="3312795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32134" y="34428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42922" y="3312795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41734" y="34428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752522" y="3312795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51334" y="34428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14729" y="37885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24329" y="37885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3929" y="37885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43529" y="37885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8141" y="42333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小端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923722" y="4103370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22534" y="42333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33322" y="4103370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32134" y="42333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142922" y="4103370"/>
              <a:ext cx="6096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41734" y="42333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752522" y="4103370"/>
              <a:ext cx="6096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951334" y="42333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14729" y="457914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24329" y="457914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33929" y="457914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43529" y="457914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103</a:t>
              </a:r>
            </a:p>
          </p:txBody>
        </p:sp>
      </p:grpSp>
      <p:grpSp>
        <p:nvGrpSpPr>
          <p:cNvPr id="78" name="c2-callout-3"/>
          <p:cNvGrpSpPr/>
          <p:nvPr/>
        </p:nvGrpSpPr>
        <p:grpSpPr>
          <a:xfrm>
            <a:off x="6464618" y="4912995"/>
            <a:ext cx="5193982" cy="1059180"/>
            <a:chOff x="6464618" y="4912995"/>
            <a:chExt cx="5193982" cy="1059180"/>
          </a:xfrm>
        </p:grpSpPr>
        <p:sp>
          <p:nvSpPr>
            <p:cNvPr id="72" name="Rectangle 72"/>
            <p:cNvSpPr/>
            <p:nvPr/>
          </p:nvSpPr>
          <p:spPr>
            <a:xfrm>
              <a:off x="6464618" y="491299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669405" y="5342573"/>
              <a:ext cx="200026" cy="200025"/>
              <a:chOff x="6669405" y="5342573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669405" y="53425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09144" y="53870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743859" y="54981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971348" y="5061585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上图把字 0x12345678 存到地址 100–103。看最低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地址放的是高位字节（大端）还是低位字节（小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端）。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2391" cy="909257"/>
            <a:chOff x="520446" y="342900"/>
            <a:chExt cx="62023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23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例：读写数组元素，字节偏移 = 下标 × 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520315"/>
            <a:chOff x="533400" y="1524000"/>
            <a:chExt cx="5410200" cy="25203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20315"/>
            </a:xfrm>
            <a:prstGeom prst="roundRect">
              <a:avLst>
                <a:gd name="adj" fmla="val 52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536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619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38" y="1756410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8644" y="1756886"/>
              <a:ext cx="12721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h + A[8];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2097405"/>
              <a:ext cx="3043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 在 $s1，h 在 $s2，数组 A 的基址在 $s3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9620" y="2356485"/>
              <a:ext cx="497586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8017" y="250840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636" y="2769870"/>
              <a:ext cx="250431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lw  $t0, 32($s3)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A[8]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$s1, $s2, $t0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g = h + A[8]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4118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352324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32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是偏移量（offset），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$s3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是基址寄存器（base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register）</a:t>
              </a:r>
            </a:p>
          </p:txBody>
        </p:sp>
      </p:grpSp>
      <p:grpSp>
        <p:nvGrpSpPr>
          <p:cNvPr id="34" name="c1-cells-2"/>
          <p:cNvGrpSpPr/>
          <p:nvPr/>
        </p:nvGrpSpPr>
        <p:grpSpPr>
          <a:xfrm>
            <a:off x="527685" y="4270058"/>
            <a:ext cx="3444239" cy="643889"/>
            <a:chOff x="527685" y="4270058"/>
            <a:chExt cx="3444239" cy="643889"/>
          </a:xfrm>
        </p:grpSpPr>
        <p:sp>
          <p:nvSpPr>
            <p:cNvPr id="19" name="TextBox 19"/>
            <p:cNvSpPr txBox="1"/>
            <p:nvPr/>
          </p:nvSpPr>
          <p:spPr>
            <a:xfrm>
              <a:off x="527685" y="46467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48665" y="4519612"/>
              <a:ext cx="6448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1846" y="464677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93508" y="4519612"/>
              <a:ext cx="6448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5736" y="464677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38350" y="4519612"/>
              <a:ext cx="6448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11044" y="46467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83192" y="4519612"/>
              <a:ext cx="6448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15421" y="464677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A[7]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27082" y="4519612"/>
              <a:ext cx="64484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60263" y="464677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A[8]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847" y="427005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$s3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33462" y="44243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97146" y="4270058"/>
              <a:ext cx="505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$s3 + 32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611880" y="44243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0" name="c1-card-3"/>
          <p:cNvGrpSpPr/>
          <p:nvPr/>
        </p:nvGrpSpPr>
        <p:grpSpPr>
          <a:xfrm>
            <a:off x="533400" y="5093970"/>
            <a:ext cx="5410200" cy="1250632"/>
            <a:chOff x="533400" y="5093970"/>
            <a:chExt cx="5410200" cy="1250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09397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522732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9620" y="52920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1060" y="53263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381" y="5652611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原课件称 A[8] 为“数组第 8 个分量”。下标从 0 开始，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A[8] 是第 9 个元素，地址 = 基址 + 8 × 4。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3027045"/>
            <a:chOff x="6248400" y="1524000"/>
            <a:chExt cx="5410200" cy="3027045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3027045"/>
            </a:xfrm>
            <a:prstGeom prst="roundRect">
              <a:avLst>
                <a:gd name="adj" fmla="val 44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2760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84620" y="1722120"/>
              <a:ext cx="4619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6038" y="1756410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53644" y="1756886"/>
              <a:ext cx="1753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A[12] = h + A[8];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8524" y="2097405"/>
              <a:ext cx="2268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在 $s2，数组 A 的基址在 $s3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84620" y="2356485"/>
              <a:ext cx="497586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13017" y="250840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2636" y="2769870"/>
              <a:ext cx="265099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lw  $t0, 32($s3)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A[8]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$t0, $s2, $t0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h + A[8]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sw  $t0, 48($s3)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A[12] = $t0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36014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3540919"/>
              <a:ext cx="32928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 lw（load word）：主存 → 寄存器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39195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3859054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存数 sw（store word）：寄存器 → 主存，写回 A[12]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的偏移是 12 × 4 = 48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248400" y="4731068"/>
            <a:ext cx="5410200" cy="1613535"/>
            <a:chOff x="6248400" y="4731068"/>
            <a:chExt cx="5410200" cy="1613535"/>
          </a:xfrm>
        </p:grpSpPr>
        <p:sp>
          <p:nvSpPr>
            <p:cNvPr id="55" name="Rectangle 55"/>
            <p:cNvSpPr/>
            <p:nvPr/>
          </p:nvSpPr>
          <p:spPr>
            <a:xfrm>
              <a:off x="6248400" y="4731068"/>
              <a:ext cx="5410200" cy="1613535"/>
            </a:xfrm>
            <a:prstGeom prst="roundRect">
              <a:avLst>
                <a:gd name="adj" fmla="val 70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41129" y="5434131"/>
              <a:ext cx="224134" cy="192560"/>
              <a:chOff x="6441129" y="5434131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553200" y="55044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41129" y="54341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53200" y="55822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5307806"/>
              <a:ext cx="424345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易错：偏移量要用字节数。A[12] 的偏移是 48，写成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 会取到 A[3]。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立即数、常数 0，以及为什么尽量用寄存器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69808"/>
            <a:chOff x="533400" y="1524000"/>
            <a:chExt cx="5410200" cy="22698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9808"/>
            </a:xfrm>
            <a:prstGeom prst="roundRect">
              <a:avLst>
                <a:gd name="adj" fmla="val 58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31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3637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080" y="1756410"/>
              <a:ext cx="1311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2.3.2 立即数操作数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常数直接写在指令里：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9620" y="2377440"/>
              <a:ext cx="497586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017" y="252936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636" y="2790825"/>
              <a:ext cx="257765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addi $s3, $s3, 4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$s3 = $s3 + 4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addi $s2, $s1, -1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$s2 = $s1 - 1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43281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373279"/>
              <a:ext cx="45428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没有“减立即数”指令，加一个负常数就能做减法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73830"/>
            <a:ext cx="5410200" cy="2197418"/>
            <a:chOff x="533400" y="3973830"/>
            <a:chExt cx="5410200" cy="2197418"/>
          </a:xfrm>
        </p:grpSpPr>
        <p:sp>
          <p:nvSpPr>
            <p:cNvPr id="18" name="Rectangle 18"/>
            <p:cNvSpPr/>
            <p:nvPr/>
          </p:nvSpPr>
          <p:spPr>
            <a:xfrm>
              <a:off x="533400" y="3973830"/>
              <a:ext cx="5410200" cy="2197418"/>
            </a:xfrm>
            <a:prstGeom prst="roundRect">
              <a:avLst>
                <a:gd name="adj" fmla="val 606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1520" y="41719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0958" y="42062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设计原则三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4881" y="420671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加速执行常用操作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455056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小常数出现的频率高；立即数操作不必到主存取常数，所以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更快。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2080260"/>
            <a:chOff x="6248400" y="1524000"/>
            <a:chExt cx="5410200" cy="208026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080260"/>
            </a:xfrm>
            <a:prstGeom prst="roundRect">
              <a:avLst>
                <a:gd name="adj" fmla="val 6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18135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84620" y="1722120"/>
              <a:ext cx="103632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9081" y="1756410"/>
              <a:ext cx="887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常数零 $zero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9224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48831" y="2082641"/>
              <a:ext cx="36560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号寄存器 $zero 的值恒为 0，不能被改写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224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8831" y="240077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常用来在寄存器之间传送数据：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84620" y="2694622"/>
              <a:ext cx="4975860" cy="693420"/>
            </a:xfrm>
            <a:prstGeom prst="roundRect">
              <a:avLst>
                <a:gd name="adj" fmla="val 137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3017" y="284654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2636" y="3108008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$t2, $s1, $zero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$t2 = $s1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784282"/>
            <a:ext cx="5410200" cy="2386012"/>
            <a:chOff x="6248400" y="3784282"/>
            <a:chExt cx="5410200" cy="2386012"/>
          </a:xfrm>
        </p:grpSpPr>
        <p:sp>
          <p:nvSpPr>
            <p:cNvPr id="36" name="Rectangle 36"/>
            <p:cNvSpPr/>
            <p:nvPr/>
          </p:nvSpPr>
          <p:spPr>
            <a:xfrm>
              <a:off x="6248400" y="3784282"/>
              <a:ext cx="5410200" cy="2386012"/>
            </a:xfrm>
            <a:prstGeom prst="roundRect">
              <a:avLst>
                <a:gd name="adj" fmla="val 5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917632"/>
              <a:ext cx="47625" cy="21193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84620" y="398240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2057" y="401669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寄存器与主存储器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2240" y="44034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8831" y="434292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寄存器的访问速度比主存快得多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2240" y="47215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8831" y="4661059"/>
              <a:ext cx="306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操作主存数据要多执行 lw、sw 指令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2240" y="5038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48831" y="497919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编译器应尽量用寄存器存放变量，寄存器不够时才把不常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用的变量放到主存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8524" y="5564505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原课件隐藏页“指令小结1”：指令在硬件上执行，与时钟、寄存器、数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据通路相互支持又相互制约。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3871" cy="909257"/>
            <a:chOff x="520446" y="342900"/>
            <a:chExt cx="78638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3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同样 32 位，按无符号数和按补码读出的值不同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861185"/>
            <a:chOff x="533400" y="1524000"/>
            <a:chExt cx="5410200" cy="1861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无符号数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3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6765" y="26689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606040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范围：0 ~ 2ⁿ − 1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0041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941320"/>
              <a:ext cx="2488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位：0 ~ 4,294,967,295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75685"/>
            <a:ext cx="5410200" cy="1701165"/>
            <a:chOff x="533400" y="3575685"/>
            <a:chExt cx="5410200" cy="1701165"/>
          </a:xfrm>
        </p:grpSpPr>
        <p:sp>
          <p:nvSpPr>
            <p:cNvPr id="17" name="Rectangle 17"/>
            <p:cNvSpPr/>
            <p:nvPr/>
          </p:nvSpPr>
          <p:spPr>
            <a:xfrm>
              <a:off x="533400" y="357568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0903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7852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6160" y="38209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162425"/>
              <a:ext cx="4104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0000 0000 0000 0000 1011₂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497705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1×2³ + 0×2² + 1×2¹ + 1×2⁰ = 8 + 2 + 1 = 11₁₀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861185"/>
            <a:chOff x="6248400" y="1524000"/>
            <a:chExt cx="5410200" cy="186118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二进制补码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4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Ellipse 29"/>
            <p:cNvSpPr/>
            <p:nvPr/>
          </p:nvSpPr>
          <p:spPr>
            <a:xfrm>
              <a:off x="6501765" y="26689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2606040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范围：−2ⁿ⁻¹ ~ 2ⁿ⁻¹ − 1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30041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2941320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位：−2,147,483,648 ~ 2,147,483,647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575685"/>
            <a:ext cx="5410200" cy="1701165"/>
            <a:chOff x="6248400" y="3575685"/>
            <a:chExt cx="5410200" cy="1701165"/>
          </a:xfrm>
        </p:grpSpPr>
        <p:sp>
          <p:nvSpPr>
            <p:cNvPr id="34" name="Rectangle 34"/>
            <p:cNvSpPr/>
            <p:nvPr/>
          </p:nvSpPr>
          <p:spPr>
            <a:xfrm>
              <a:off x="6248400" y="357568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70903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37852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1160" y="38209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4162425"/>
              <a:ext cx="4104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 1111 1111 1111 1111 1111 1100₂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4497705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−1×2³¹ + 1×2³⁰ + … + 1×2² + 0×2¹ + 0×2⁰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483298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−2,147,483,648 + 2,147,483,644 = −4₁₀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两种读法只差最高位的权：无符号数是 +2ⁿ⁻¹，补码是 −2ⁿ⁻¹。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0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925" y="407194"/>
              <a:ext cx="2708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MIPS 指令集与操作数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补码的性质：符号位、取反加 1、符号扩展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122170"/>
            <a:chOff x="533400" y="1524000"/>
            <a:chExt cx="5410200" cy="2122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844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特殊值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44808" y="1652588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位补码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3752" y="207645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… 0000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5012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752" y="2501265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 … 1111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2926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绝对值最大的负数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3752" y="292608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0000 … 0000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3499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最大的正数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83752" y="3349942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1111 … 1111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650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826192"/>
            <a:ext cx="5410200" cy="2422208"/>
            <a:chOff x="533400" y="3826192"/>
            <a:chExt cx="5410200" cy="2422208"/>
          </a:xfrm>
        </p:grpSpPr>
        <p:sp>
          <p:nvSpPr>
            <p:cNvPr id="26" name="Rectangle 26"/>
            <p:cNvSpPr/>
            <p:nvPr/>
          </p:nvSpPr>
          <p:spPr>
            <a:xfrm>
              <a:off x="533400" y="3826192"/>
              <a:ext cx="5410200" cy="2422208"/>
            </a:xfrm>
            <a:prstGeom prst="roundRect">
              <a:avLst>
                <a:gd name="adj" fmla="val 550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1520" y="402431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8959" y="40586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符号位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9140" y="444531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5731" y="4384834"/>
              <a:ext cx="39141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31 位是符号位：1 表示负数，0 表示非负数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9140" y="47634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5731" y="4702969"/>
              <a:ext cx="35605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−(−2ⁿ⁻¹) 无法表示，它比最大正数还大 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9140" y="50806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5731" y="502110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非负数的无符号表示和补码表示相同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1430655"/>
            <a:chOff x="6248400" y="1524000"/>
            <a:chExt cx="5410200" cy="1430655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430655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11639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84620" y="1722120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1679" y="1756410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取反加 1 得相反数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7"/>
                <p:cNvSpPr txBox="1">
                  <a:spLocks noGrp="1"/>
                </p:cNvSpPr>
                <p:nvPr/>
              </p:nvSpPr>
              <p:spPr>
                <a:xfrm>
                  <a:off x="6484620" y="2059305"/>
                  <a:ext cx="4975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1111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acc>
                          <m:accPr>
                            <m:chr m:val="̅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78524" y="2568892"/>
              <a:ext cx="4874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例：+2 = 0000…0010，取反得 1111…1101，加 1 得 −2 = 1111…1110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248400" y="3134678"/>
            <a:ext cx="5410200" cy="3113722"/>
            <a:chOff x="6248400" y="3134678"/>
            <a:chExt cx="5410200" cy="3113722"/>
          </a:xfrm>
        </p:grpSpPr>
        <p:sp>
          <p:nvSpPr>
            <p:cNvPr id="43" name="Rectangle 43"/>
            <p:cNvSpPr/>
            <p:nvPr/>
          </p:nvSpPr>
          <p:spPr>
            <a:xfrm>
              <a:off x="6248400" y="3134678"/>
              <a:ext cx="5410200" cy="3113722"/>
            </a:xfrm>
            <a:prstGeom prst="roundRect">
              <a:avLst>
                <a:gd name="adj" fmla="val 42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268028"/>
              <a:ext cx="47625" cy="284702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84620" y="33327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8059" y="33670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符号扩展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7381" y="369331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用更多的位表示同一个数，数值不变：把符号位复制到左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边；无符号数则左边补 0。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84620" y="4258628"/>
              <a:ext cx="497586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01624" y="438721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5888" y="438721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 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95540" y="4387215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扩展到 16 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89105" y="48120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9121" y="481203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9318" y="481203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0000 0000 0000 0010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84620" y="5103495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84620" y="5108258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89105" y="52358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99121" y="523589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9318" y="5235892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1111 1111 1111 1110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84620" y="4258628"/>
              <a:ext cx="497586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487602" y="42586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71610" y="42586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78524" y="5641658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中做符号扩展的有：addi 的立即数，lb、lh 取出的字节或半字，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beq、bne 的偏移量。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068862" cy="3351847"/>
            <a:chOff x="667512" y="1835468"/>
            <a:chExt cx="506886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指令的机器表示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05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把汇编指令翻译成 32 位二进制，再用十六进制读写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8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R 型指令与编码例题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60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型指令与设计原则四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存储程序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 移位、与、或、或非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0456" cy="909257"/>
            <a:chOff x="520446" y="342900"/>
            <a:chExt cx="9350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型指令：6 个字段，例 add $t0, $s1, $s2 = 0x02324020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250632"/>
            <a:chOff x="533400" y="1524000"/>
            <a:chExt cx="4977765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14966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558" y="1756410"/>
              <a:ext cx="1006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2.5 指令的表示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指令用二进制编码，称为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机器代码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。MIPS 指令都是 32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位，按字段划分，格式非常规整。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2955608"/>
            <a:ext cx="4977765" cy="848678"/>
            <a:chOff x="533400" y="2955608"/>
            <a:chExt cx="4977765" cy="848678"/>
          </a:xfrm>
        </p:grpSpPr>
        <p:sp>
          <p:nvSpPr>
            <p:cNvPr id="13" name="Rectangle 13"/>
            <p:cNvSpPr/>
            <p:nvPr/>
          </p:nvSpPr>
          <p:spPr>
            <a:xfrm>
              <a:off x="533400" y="2955608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0737" y="3083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6082" y="3083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34275" y="3083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11515" y="3083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32808" y="3083242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shamt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05115" y="308324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601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9946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78138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55378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33571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8916" y="35080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955608"/>
              <a:ext cx="4977765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62088" y="295560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39328" y="295560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17520" y="295560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94760" y="295560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952" y="295560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kv-3"/>
          <p:cNvGrpSpPr/>
          <p:nvPr/>
        </p:nvGrpSpPr>
        <p:grpSpPr>
          <a:xfrm>
            <a:off x="526161" y="4007644"/>
            <a:ext cx="4985004" cy="2359914"/>
            <a:chOff x="526161" y="4007644"/>
            <a:chExt cx="4985004" cy="2359914"/>
          </a:xfrm>
        </p:grpSpPr>
        <p:sp>
          <p:nvSpPr>
            <p:cNvPr id="33" name="TextBox 33"/>
            <p:cNvSpPr txBox="1"/>
            <p:nvPr/>
          </p:nvSpPr>
          <p:spPr>
            <a:xfrm>
              <a:off x="526161" y="400764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55788" y="4007644"/>
              <a:ext cx="2069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操作码，R 型指令都是 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110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161" y="4423886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55788" y="442388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第一个源操作数的寄存器编号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272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161" y="4840129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55788" y="484012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第二个源操作数的寄存器编号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435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161" y="525637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55788" y="52563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目的寄存器编号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5597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161" y="5672614"/>
              <a:ext cx="6065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shamt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55788" y="5672614"/>
              <a:ext cx="25091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移位位数，不移位时为 00000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9759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161" y="6088856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55788" y="6088856"/>
              <a:ext cx="3627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功能码（扩展操作码），区分 add、sub 等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5815965" y="1524000"/>
            <a:ext cx="5842635" cy="1697355"/>
            <a:chOff x="5815965" y="1524000"/>
            <a:chExt cx="5842635" cy="1697355"/>
          </a:xfrm>
        </p:grpSpPr>
        <p:sp>
          <p:nvSpPr>
            <p:cNvPr id="51" name="Rectangle 51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6426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68200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81647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9414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50690" y="1652588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shamt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71587" y="165258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86970" y="20764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special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2821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41665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54160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5645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71543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1313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72642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8609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4300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5645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15967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825490" y="2807018"/>
              <a:ext cx="1076325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91009" y="292608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920865" y="2807018"/>
              <a:ext cx="89439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39368" y="29260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833360" y="2807018"/>
              <a:ext cx="89439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052816" y="29260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746808" y="2807018"/>
              <a:ext cx="89439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965311" y="29260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659302" y="2807018"/>
              <a:ext cx="89439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878758" y="29260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572750" y="2807018"/>
              <a:ext cx="1076325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838269" y="292608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815965" y="1524000"/>
              <a:ext cx="584263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90657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1907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73252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64501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55846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llout-2"/>
          <p:cNvGrpSpPr/>
          <p:nvPr/>
        </p:nvGrpSpPr>
        <p:grpSpPr>
          <a:xfrm>
            <a:off x="5815965" y="3402330"/>
            <a:ext cx="5842635" cy="756285"/>
            <a:chOff x="5815965" y="3402330"/>
            <a:chExt cx="5842635" cy="756285"/>
          </a:xfrm>
        </p:grpSpPr>
        <p:sp>
          <p:nvSpPr>
            <p:cNvPr id="92" name="Rectangle 92"/>
            <p:cNvSpPr/>
            <p:nvPr/>
          </p:nvSpPr>
          <p:spPr>
            <a:xfrm>
              <a:off x="5815965" y="340233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020753" y="3680460"/>
              <a:ext cx="200026" cy="200026"/>
              <a:chOff x="6020753" y="3680460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020753" y="36804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120765" y="3747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109653" y="37804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323076" y="3549491"/>
              <a:ext cx="489267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查寄存器编号：$t0–$t7 为 8–15，$s0–$s7 为 16–23，$t8–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$t9 为 24–25（完整表见第四部分）。</a:t>
              </a:r>
            </a:p>
          </p:txBody>
        </p:sp>
      </p:grpSp>
      <p:grpSp>
        <p:nvGrpSpPr>
          <p:cNvPr id="107" name="c2-card-3"/>
          <p:cNvGrpSpPr/>
          <p:nvPr/>
        </p:nvGrpSpPr>
        <p:grpSpPr>
          <a:xfrm>
            <a:off x="5815965" y="4338638"/>
            <a:ext cx="5842635" cy="1973580"/>
            <a:chOff x="5815965" y="4338638"/>
            <a:chExt cx="5842635" cy="1973580"/>
          </a:xfrm>
        </p:grpSpPr>
        <p:sp>
          <p:nvSpPr>
            <p:cNvPr id="99" name="Rectangle 99"/>
            <p:cNvSpPr/>
            <p:nvPr/>
          </p:nvSpPr>
          <p:spPr>
            <a:xfrm>
              <a:off x="5815965" y="4338638"/>
              <a:ext cx="5842635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825490" y="4471988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052185" y="4536758"/>
              <a:ext cx="183737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102290" y="4571048"/>
              <a:ext cx="1736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写成十六进制：每 4 位一组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044946" y="4897279"/>
              <a:ext cx="52092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0000 0010 0011 0010 0100 0000 0010 0000₂ =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0x02324020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059805" y="52749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216396" y="521446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0–9 与十进制相同；a–f 依次为 1010、1011、1100、1101、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1110、1111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046089" y="5800725"/>
              <a:ext cx="4729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例：eca8 6420₁₆ = 1110 1100 1010 1000 0110 0100 0010 0000₂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16388" cy="909257"/>
            <a:chOff x="520446" y="342900"/>
            <a:chExt cx="60163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163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型指令：用 16 位字段放常数或偏移量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table-1"/>
          <p:cNvGrpSpPr/>
          <p:nvPr/>
        </p:nvGrpSpPr>
        <p:grpSpPr>
          <a:xfrm>
            <a:off x="533400" y="1524000"/>
            <a:ext cx="5626418" cy="800100"/>
            <a:chOff x="533400" y="1524000"/>
            <a:chExt cx="5626418" cy="800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829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35085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14243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59652" y="1645444"/>
              <a:ext cx="1586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constant or address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5904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82691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61849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6331" y="204549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62641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84008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6316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42322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2493645"/>
            <a:ext cx="5626418" cy="1828800"/>
            <a:chOff x="533400" y="2493645"/>
            <a:chExt cx="5626418" cy="1828800"/>
          </a:xfrm>
        </p:grpSpPr>
        <p:sp>
          <p:nvSpPr>
            <p:cNvPr id="21" name="Rectangle 21"/>
            <p:cNvSpPr/>
            <p:nvPr/>
          </p:nvSpPr>
          <p:spPr>
            <a:xfrm>
              <a:off x="533400" y="2493645"/>
              <a:ext cx="5626418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2626995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2680335"/>
              <a:ext cx="128397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3602" y="2713196"/>
              <a:ext cx="1153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型（立即数）格式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30813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30251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用于立即数算术运算和取数、存数指令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33813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3325177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rt：目的寄存器（addi、lw）或源寄存器（sw）编号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36814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3625215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常数范围：−2¹⁵ ~ 2¹⁵ − 1，即 −32768 ~ 32767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39814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3925252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地址：16 位偏移量加上 rs 中的基址</a:t>
              </a:r>
            </a:p>
          </p:txBody>
        </p:sp>
      </p:grpSp>
      <p:grpSp>
        <p:nvGrpSpPr>
          <p:cNvPr id="63" name="c1-table-3"/>
          <p:cNvGrpSpPr/>
          <p:nvPr/>
        </p:nvGrpSpPr>
        <p:grpSpPr>
          <a:xfrm>
            <a:off x="533400" y="4492942"/>
            <a:ext cx="5626418" cy="1600200"/>
            <a:chOff x="533400" y="4492942"/>
            <a:chExt cx="5626418" cy="1600200"/>
          </a:xfrm>
        </p:grpSpPr>
        <p:sp>
          <p:nvSpPr>
            <p:cNvPr id="34" name="Rectangle 34"/>
            <p:cNvSpPr/>
            <p:nvPr/>
          </p:nvSpPr>
          <p:spPr>
            <a:xfrm>
              <a:off x="533400" y="449294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94168" y="4614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80893" y="46143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92423" y="46143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03000" y="46143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98034" y="461438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常数或地址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0555" y="5014436"/>
              <a:ext cx="1246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$s3, $s3, 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26502" y="50144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96569" y="501443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07147" y="501443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33507" y="50144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2882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29304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5414486"/>
              <a:ext cx="1230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$t0, 32($s3)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85039" y="5414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96569" y="5414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48610" y="54144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92044" y="5414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6883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0555" y="5814536"/>
              <a:ext cx="1270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$t0, 48($s3)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85039" y="581453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96569" y="581453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48610" y="58145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92044" y="581453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492942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363152" y="449294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174682" y="449294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985260" y="449294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796790" y="449294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1"/>
          <p:cNvGrpSpPr/>
          <p:nvPr/>
        </p:nvGrpSpPr>
        <p:grpSpPr>
          <a:xfrm>
            <a:off x="6464618" y="1524000"/>
            <a:ext cx="5193982" cy="1760220"/>
            <a:chOff x="6464618" y="1524000"/>
            <a:chExt cx="5193982" cy="1760220"/>
          </a:xfrm>
        </p:grpSpPr>
        <p:sp>
          <p:nvSpPr>
            <p:cNvPr id="64" name="Rectangle 64"/>
            <p:cNvSpPr/>
            <p:nvPr/>
          </p:nvSpPr>
          <p:spPr>
            <a:xfrm>
              <a:off x="6464618" y="1524000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51308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32778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设计原则四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91234" y="17459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优秀的设计需要适宜的折中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659880" y="21278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15899" y="207168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一种格式装不下 16 位常数，于是分出 R、I 两种（跳转还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 J 型）格式，译码方式不同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659880" y="26850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15899" y="2628900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但所有指令都是 32 位，op 都在最高 6 位，rs、rt 位置相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同，格式尽量相似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464618" y="3453765"/>
            <a:ext cx="5193982" cy="2639378"/>
            <a:chOff x="6464618" y="3453765"/>
            <a:chExt cx="5193982" cy="2639378"/>
          </a:xfrm>
        </p:grpSpPr>
        <p:sp>
          <p:nvSpPr>
            <p:cNvPr id="73" name="Rectangle 73"/>
            <p:cNvSpPr/>
            <p:nvPr/>
          </p:nvSpPr>
          <p:spPr>
            <a:xfrm>
              <a:off x="6464618" y="3453765"/>
              <a:ext cx="5193982" cy="2639378"/>
            </a:xfrm>
            <a:prstGeom prst="roundRect">
              <a:avLst>
                <a:gd name="adj" fmla="val 50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74142" y="3587115"/>
              <a:ext cx="47625" cy="23726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89408" y="3640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74929" y="3673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编号说明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82549" y="3984308"/>
              <a:ext cx="45228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原课件此页把折中原则记为“设计原则 3”，小结页则把它列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为第 4 条（第 3 条是加速执行常用操作）。本讲义统一按小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结页编号。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3460" cy="909257"/>
            <a:chOff x="520446" y="342900"/>
            <a:chExt cx="69934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34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例：A[300] = h + A[300]，从汇编到机器码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5838" cy="293370"/>
            <a:chOff x="525780" y="1548765"/>
            <a:chExt cx="708583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5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 A 的基址在 $t1（9 号），h 在 $s2（18 号），临时结果放 $t0（8 号）。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4328160" cy="1072515"/>
            <a:chOff x="533400" y="1954530"/>
            <a:chExt cx="4328160" cy="10725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32816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汇编语言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279768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lw  $t0, 1200($t1)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A[300]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 $t0, $s2, $t0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h + A[300]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sw  $t0, 1200($t1)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A[300] = $t0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207068"/>
            <a:ext cx="4328160" cy="1018222"/>
            <a:chOff x="533400" y="3207068"/>
            <a:chExt cx="4328160" cy="1018222"/>
          </a:xfrm>
        </p:grpSpPr>
        <p:sp>
          <p:nvSpPr>
            <p:cNvPr id="13" name="Rectangle 13"/>
            <p:cNvSpPr/>
            <p:nvPr/>
          </p:nvSpPr>
          <p:spPr>
            <a:xfrm>
              <a:off x="533400" y="3207068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615690"/>
              <a:ext cx="200026" cy="200025"/>
              <a:chOff x="738188" y="361569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3615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3660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3771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3354229"/>
              <a:ext cx="335076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偏移 1200 = 300 × 4。lw 和 sw 的机器码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 op 不同（35 与 43），二进制只差第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29 位。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405312"/>
            <a:ext cx="4328160" cy="1601152"/>
            <a:chOff x="533400" y="4405312"/>
            <a:chExt cx="4328160" cy="1601152"/>
          </a:xfrm>
        </p:grpSpPr>
        <p:sp>
          <p:nvSpPr>
            <p:cNvPr id="20" name="Rectangle 20"/>
            <p:cNvSpPr/>
            <p:nvPr/>
          </p:nvSpPr>
          <p:spPr>
            <a:xfrm>
              <a:off x="533400" y="4405312"/>
              <a:ext cx="4328160" cy="1601152"/>
            </a:xfrm>
            <a:prstGeom prst="roundRect">
              <a:avLst>
                <a:gd name="adj" fmla="val 83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538662"/>
              <a:ext cx="47625" cy="13344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9620" y="46034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1060" y="46377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381" y="4964906"/>
              <a:ext cx="36032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原课件表头把 shamt 写成 “shamd”，助记符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“Add”“Sw”；MIPS 助记符为小写 add、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161026" y="1954530"/>
            <a:ext cx="6497574" cy="1977961"/>
            <a:chOff x="5161026" y="1954530"/>
            <a:chExt cx="6497574" cy="1977961"/>
          </a:xfrm>
        </p:grpSpPr>
        <p:sp>
          <p:nvSpPr>
            <p:cNvPr id="26" name="Rectangle 26"/>
            <p:cNvSpPr/>
            <p:nvPr/>
          </p:nvSpPr>
          <p:spPr>
            <a:xfrm>
              <a:off x="5166360" y="1954530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590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330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2450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587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94182" y="2083118"/>
              <a:ext cx="623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 16 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28400" y="2506980"/>
              <a:ext cx="190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07747" y="25069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1317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4739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22206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6360" y="27984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66360" y="280320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77514" y="293179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52172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6892" y="29317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44739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4486" y="2931795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8 · shamt 0 · funct 32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66360" y="32232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07198" y="335661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07747" y="3356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1317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4739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22206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1954530"/>
              <a:ext cx="649224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7597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19888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43426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47685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161026" y="37271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十进制字段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5161026" y="4070985"/>
            <a:ext cx="6497574" cy="1977962"/>
            <a:chOff x="5161026" y="4070985"/>
            <a:chExt cx="6497574" cy="1977962"/>
          </a:xfrm>
        </p:grpSpPr>
        <p:sp>
          <p:nvSpPr>
            <p:cNvPr id="57" name="Rectangle 57"/>
            <p:cNvSpPr/>
            <p:nvPr/>
          </p:nvSpPr>
          <p:spPr>
            <a:xfrm>
              <a:off x="5166360" y="4070985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91138" y="41995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38535" y="41995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47220" y="41995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91135" y="41995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9839" y="4199572"/>
              <a:ext cx="623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 16 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45533" y="41995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63630" y="4623435"/>
              <a:ext cx="190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65279" y="46234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8388" y="4623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62303" y="4623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62073" y="462343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0000 0100 1011 0000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693108" y="4623435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8D2804B0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166360" y="49149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66360" y="4919662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312744" y="504825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965279" y="50482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18388" y="50482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62303" y="50482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86305" y="504825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01000 00000 100000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13225" y="50482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02484020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166360" y="53397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342428" y="5473065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965279" y="54730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101011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18388" y="54730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62303" y="54730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62073" y="547306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0000 0100 1011 0000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693108" y="5473065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AD2804B0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166360" y="4070985"/>
              <a:ext cx="649224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5745480" y="407098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719888" y="407098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563802" y="407098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407718" y="407098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485120" y="407098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161026" y="584358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存放在存储器中的二进制形式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存储程序：指令和数据都是存储器里的二进制数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1020" y="1547336"/>
            <a:ext cx="5238623" cy="1530287"/>
            <a:chOff x="541020" y="1547336"/>
            <a:chExt cx="5238623" cy="1530287"/>
          </a:xfrm>
        </p:grpSpPr>
        <p:sp>
          <p:nvSpPr>
            <p:cNvPr id="7" name="Ellipse 7"/>
            <p:cNvSpPr/>
            <p:nvPr/>
          </p:nvSpPr>
          <p:spPr>
            <a:xfrm>
              <a:off x="541020" y="16078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611" y="15473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指令用二进制表示，和数一样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020" y="19345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87404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指令和数据都存放在存储器中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2612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20075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程序可以被其他程序当作数据处理，例如编译器、链接器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020" y="25879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611" y="2527459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“二进制兼容”让编译好的程序能在不同计算机上运行，前提是它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们遵循标准的指令集体系结构（ISA）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202305"/>
            <a:ext cx="5626418" cy="2970848"/>
            <a:chOff x="533400" y="3202305"/>
            <a:chExt cx="5626418" cy="2970848"/>
          </a:xfrm>
        </p:grpSpPr>
        <p:sp>
          <p:nvSpPr>
            <p:cNvPr id="16" name="Rectangle 16"/>
            <p:cNvSpPr/>
            <p:nvPr/>
          </p:nvSpPr>
          <p:spPr>
            <a:xfrm>
              <a:off x="533400" y="3202305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62125" y="33299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存储器中的内容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79670" y="33299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889" y="375475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会计程序（机器码）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44328" y="3635692"/>
              <a:ext cx="200691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37292" y="37547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0462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05098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17957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编辑程序（机器码）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144328" y="4060508"/>
              <a:ext cx="200691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37292" y="41795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4700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603432"/>
              <a:ext cx="1456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编译器（机器码）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44328" y="4484370"/>
              <a:ext cx="2006918" cy="40576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37292" y="460343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8948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89966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889" y="50282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工资数据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44328" y="4909185"/>
              <a:ext cx="200691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37292" y="50282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3197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889" y="5452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书稿文本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44328" y="5334000"/>
              <a:ext cx="200691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37292" y="5452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7435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74833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889" y="5876925"/>
              <a:ext cx="1941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源程序（给编辑器处理）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144328" y="5757862"/>
              <a:ext cx="200691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37292" y="5876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202305"/>
              <a:ext cx="5626418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130040" y="3202305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image-1"/>
          <p:cNvGrpSpPr/>
          <p:nvPr/>
        </p:nvGrpSpPr>
        <p:grpSpPr>
          <a:xfrm>
            <a:off x="6464618" y="1524000"/>
            <a:ext cx="5193982" cy="4861179"/>
            <a:chOff x="6464618" y="1524000"/>
            <a:chExt cx="5193982" cy="4861179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rcRect l="7310" t="0" r="7309" b="0"/>
            <a:stretch>
              <a:fillRect/>
            </a:stretch>
          </p:blipFill>
          <p:spPr>
            <a:xfrm>
              <a:off x="6464618" y="1524000"/>
              <a:ext cx="5193982" cy="4562475"/>
            </a:xfrm>
            <a:prstGeom prst="roundRect">
              <a:avLst>
                <a:gd name="adj" fmla="val 2922"/>
              </a:avLst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7219188" y="617982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类比：同一个书架上既放菜谱（程序），也放食材（数据）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1558" cy="909257"/>
            <a:chOff x="520446" y="342900"/>
            <a:chExt cx="7841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1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 逻辑操作与移位：sll、srl 用 shamt 给出位数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8447" y="1524000"/>
            <a:ext cx="5198935" cy="2663856"/>
            <a:chOff x="528447" y="1524000"/>
            <a:chExt cx="5198935" cy="26638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32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33357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15269" y="164544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76038" y="1645444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9643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895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9162" y="2045494"/>
              <a:ext cx="184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9643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&gt;&gt;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67489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&gt;&gt;&gt;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50315" y="24455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3789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041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0384" y="284559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and, andi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56741" y="3245644"/>
              <a:ext cx="56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69261" y="3245644"/>
              <a:ext cx="56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03310" y="324564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or, ori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按位取反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3789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041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31469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96405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9561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19100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3997166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逻辑操作对字中的若干位进行处理，用于打包和拆包</a:t>
              </a:r>
            </a:p>
          </p:txBody>
        </p:sp>
      </p:grpSp>
      <p:grpSp>
        <p:nvGrpSpPr>
          <p:cNvPr id="54" name="c1-card-2"/>
          <p:cNvGrpSpPr/>
          <p:nvPr/>
        </p:nvGrpSpPr>
        <p:grpSpPr>
          <a:xfrm>
            <a:off x="533400" y="4319588"/>
            <a:ext cx="5193982" cy="1785938"/>
            <a:chOff x="533400" y="4319588"/>
            <a:chExt cx="5193982" cy="1785938"/>
          </a:xfrm>
        </p:grpSpPr>
        <p:sp>
          <p:nvSpPr>
            <p:cNvPr id="44" name="Rectangle 44"/>
            <p:cNvSpPr/>
            <p:nvPr/>
          </p:nvSpPr>
          <p:spPr>
            <a:xfrm>
              <a:off x="533400" y="4319588"/>
              <a:ext cx="5193982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452938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8190" y="450627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6811" y="45391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66762" y="49072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782" y="4851082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负数右移要用 sra：srl 左边补 0，0xFFFFFFF8（−8）右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 1 位 = 2147483644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66762" y="54644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2782" y="5408295"/>
              <a:ext cx="4275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sra 用符号位填左边：右移 1 位 = 0xFFFFFFFC = −4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6762" y="57645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2782" y="5708333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shamt 只有 5 位，最多移 31 位（更多位数用 sllv/srlv）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032182" y="1524000"/>
            <a:ext cx="5626418" cy="1785938"/>
            <a:chOff x="6032182" y="1524000"/>
            <a:chExt cx="5626418" cy="1785938"/>
          </a:xfrm>
        </p:grpSpPr>
        <p:sp>
          <p:nvSpPr>
            <p:cNvPr id="55" name="Rectangle 55"/>
            <p:cNvSpPr/>
            <p:nvPr/>
          </p:nvSpPr>
          <p:spPr>
            <a:xfrm>
              <a:off x="6032182" y="1524000"/>
              <a:ext cx="5626418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165735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6972" y="1710690"/>
              <a:ext cx="119157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23380" y="1743551"/>
              <a:ext cx="1057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移位（R 型指令）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65545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21564" y="2054542"/>
              <a:ext cx="3557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shamt 字段给出移多少位，rs 不用（为 0）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265545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21564" y="2355532"/>
              <a:ext cx="412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sll 逻辑左移：右边空位补 0，左移 i 位相当于乘 2ⁱ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65545" y="27117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21564" y="2655570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srl 逻辑右移：左边空位补 0，右移 i 位相当于除以 2ⁱ（只对无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符号数成立）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032182" y="3480435"/>
            <a:ext cx="5626418" cy="2626042"/>
            <a:chOff x="6032182" y="3480435"/>
            <a:chExt cx="5626418" cy="2626042"/>
          </a:xfrm>
        </p:grpSpPr>
        <p:sp>
          <p:nvSpPr>
            <p:cNvPr id="66" name="Rectangle 66"/>
            <p:cNvSpPr/>
            <p:nvPr/>
          </p:nvSpPr>
          <p:spPr>
            <a:xfrm>
              <a:off x="6032182" y="3480435"/>
              <a:ext cx="5626418" cy="2626042"/>
            </a:xfrm>
            <a:prstGeom prst="roundRect">
              <a:avLst>
                <a:gd name="adj" fmla="val 5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41708" y="3613785"/>
              <a:ext cx="47625" cy="23593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56972" y="36671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2743" y="36999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97789" y="3701415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sll $t2, $s0, 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56972" y="4005262"/>
              <a:ext cx="521493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54710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36713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118715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01670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675346" y="412670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shamt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34164" y="412670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00320" y="4526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2322" y="4526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22862" y="4526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05817" y="4526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867395" y="4526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910382" y="4526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256972" y="4005262"/>
              <a:ext cx="521493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034212" y="400526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816215" y="400526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598218" y="400526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380220" y="400526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438448" y="400526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51258" y="4907756"/>
              <a:ext cx="26499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$t2 = $s0 × 16，机器码 0x00105100。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7800" cy="909257"/>
            <a:chOff x="520446" y="342900"/>
            <a:chExt cx="64178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指令的机器表示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7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and、or、nor：用掩码清零、置位和取反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492240" cy="2400300"/>
            <a:chOff x="533400" y="1524000"/>
            <a:chExt cx="6492240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8436" y="164544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 / 操作数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05542" y="164544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位内容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67990" y="204549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0000 0000 0000 0000 0000 1101 1100 0000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67990" y="244554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0000 0000 0000 0000 0011 1100 0000 0000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372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$t0, $t1, $t2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80360" y="2733675"/>
              <a:ext cx="4135755" cy="38100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67990" y="284559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0000 0000 0000 0000 0000 1100 0000 0000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194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45644"/>
              <a:ext cx="128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$t0, $t1, $t2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80360" y="3133725"/>
              <a:ext cx="4135755" cy="38100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67990" y="324564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0000 0000 0000 0000 0011 1101 1100 0000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194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645694"/>
              <a:ext cx="1547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 $t0, $t1, $zero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80360" y="3533775"/>
              <a:ext cx="4135755" cy="38100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67990" y="364569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1111 1111 1111 1111 1100 0011 1111 1111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49224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86607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093845"/>
            <a:ext cx="6492240" cy="729615"/>
            <a:chOff x="533400" y="4093845"/>
            <a:chExt cx="6492240" cy="729615"/>
          </a:xfrm>
        </p:grpSpPr>
        <p:sp>
          <p:nvSpPr>
            <p:cNvPr id="32" name="Rectangle 32"/>
            <p:cNvSpPr/>
            <p:nvPr/>
          </p:nvSpPr>
          <p:spPr>
            <a:xfrm>
              <a:off x="533400" y="4093845"/>
              <a:ext cx="649224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358640"/>
              <a:ext cx="200026" cy="200025"/>
              <a:chOff x="738188" y="435864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358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4403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4514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4240530"/>
              <a:ext cx="54315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位从右往左编号 0–31：$t1 的第 10–13 位为 1，and 后只剩两者共有的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10、11 位；or 后得到两者的并集。</a:t>
              </a:r>
            </a:p>
          </p:txBody>
        </p:sp>
      </p:grpSp>
      <p:grpSp>
        <p:nvGrpSpPr>
          <p:cNvPr id="42" name="c1-code-3"/>
          <p:cNvGrpSpPr/>
          <p:nvPr/>
        </p:nvGrpSpPr>
        <p:grpSpPr>
          <a:xfrm>
            <a:off x="533400" y="4993958"/>
            <a:ext cx="6492240" cy="858202"/>
            <a:chOff x="533400" y="4993958"/>
            <a:chExt cx="6492240" cy="858202"/>
          </a:xfrm>
        </p:grpSpPr>
        <p:sp>
          <p:nvSpPr>
            <p:cNvPr id="39" name="Rectangle 39"/>
            <p:cNvSpPr/>
            <p:nvPr/>
          </p:nvSpPr>
          <p:spPr>
            <a:xfrm>
              <a:off x="533400" y="4993958"/>
              <a:ext cx="649224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797" y="5145881"/>
              <a:ext cx="24103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例：取出 $s0 的第 2 个字节（位 8–15）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797" y="5405914"/>
              <a:ext cx="424154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andi $t0, $s0, 0xff00   # $s0 = 0x12345678 时 $t0 = 0x00005600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srl  $t0, $t0, 8        # 挪到最低字节，$t0 = 0x00000056</a:t>
              </a:r>
            </a:p>
          </p:txBody>
        </p:sp>
      </p:grpSp>
      <p:grpSp>
        <p:nvGrpSpPr>
          <p:cNvPr id="51" name="c2-kv-1"/>
          <p:cNvGrpSpPr/>
          <p:nvPr/>
        </p:nvGrpSpPr>
        <p:grpSpPr>
          <a:xfrm>
            <a:off x="7323582" y="1545907"/>
            <a:ext cx="4335018" cy="1048894"/>
            <a:chOff x="7323582" y="1545907"/>
            <a:chExt cx="4335018" cy="1048894"/>
          </a:xfrm>
        </p:grpSpPr>
        <p:sp>
          <p:nvSpPr>
            <p:cNvPr id="43" name="TextBox 43"/>
            <p:cNvSpPr txBox="1"/>
            <p:nvPr/>
          </p:nvSpPr>
          <p:spPr>
            <a:xfrm>
              <a:off x="7323582" y="1545907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and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794" y="1545907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掩码操作：选出掩码为 1 的位，其余位清零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30440" y="183261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23582" y="193833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0794" y="19383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把掩码为 1 的位置 1，其余位不变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30440" y="222504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23582" y="233076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80794" y="2330768"/>
              <a:ext cx="2823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NOR b = NOT (a OR b)，“或非”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330440" y="2711768"/>
            <a:ext cx="4328160" cy="1443038"/>
            <a:chOff x="7330440" y="2711768"/>
            <a:chExt cx="4328160" cy="1443038"/>
          </a:xfrm>
        </p:grpSpPr>
        <p:sp>
          <p:nvSpPr>
            <p:cNvPr id="52" name="Rectangle 52"/>
            <p:cNvSpPr/>
            <p:nvPr/>
          </p:nvSpPr>
          <p:spPr>
            <a:xfrm>
              <a:off x="7330440" y="2711768"/>
              <a:ext cx="4328160" cy="1443038"/>
            </a:xfrm>
            <a:prstGeom prst="roundRect">
              <a:avLst>
                <a:gd name="adj" fmla="val 92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17130" y="2898458"/>
              <a:ext cx="137445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82296" y="2931319"/>
              <a:ext cx="124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为什么没有 not 指令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10272" y="3243262"/>
              <a:ext cx="36827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为了保持三操作数格式，MIPS 用 nor $t0, $t1,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$zero 实现按位取反：与 0 或非，结果就是 $t1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取反。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7330440" y="4324350"/>
            <a:ext cx="4328160" cy="2000250"/>
            <a:chOff x="7330440" y="4324350"/>
            <a:chExt cx="4328160" cy="2000250"/>
          </a:xfrm>
        </p:grpSpPr>
        <p:sp>
          <p:nvSpPr>
            <p:cNvPr id="57" name="Rectangle 57"/>
            <p:cNvSpPr/>
            <p:nvPr/>
          </p:nvSpPr>
          <p:spPr>
            <a:xfrm>
              <a:off x="7330440" y="4324350"/>
              <a:ext cx="432816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445770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55230" y="451104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43851" y="45439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63802" y="49120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9822" y="4855845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andi、ori、xori 的 16 位立即数按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零扩展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齐，addi、slti、lw 的立即数按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符号扩展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补齐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63802" y="54692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19822" y="5413058"/>
              <a:ext cx="35970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andi $t0, $s0, -1 的掩码是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0x0000FFFF，只留低 16 位，高 16 位反而被清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757443" cy="3351847"/>
            <a:chOff x="667512" y="1835468"/>
            <a:chExt cx="575744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分支与过程调用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47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用条件分支拼出 if 和 while，用 jal、jr 和栈实现函数调用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 beq、bne、j 与 slt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69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 if 与 while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 寄存器约定与 jal、jr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叶过程、递归过程、栈帧与内存布局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68257" cy="909257"/>
            <a:chOff x="520446" y="342900"/>
            <a:chExt cx="51682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682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 用 beq、bne、j 编译 if 语句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4874895" cy="2091214"/>
            <a:chOff x="527685" y="1524000"/>
            <a:chExt cx="487489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94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140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279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rs, rt, L1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91930" y="2108359"/>
              <a:ext cx="2404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rs 与 rt 相等，转到标签 L1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279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 rs, rt, L1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91930" y="2556986"/>
              <a:ext cx="2404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rs 与 rt 不等，转到标签 L1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329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L1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91930" y="3005614"/>
              <a:ext cx="147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无条件转到标签 L1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7934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339518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条件为真时转到带标签的指令，否则顺序执行下一条</a:t>
              </a:r>
            </a:p>
          </p:txBody>
        </p:sp>
      </p:grpSp>
      <p:grpSp>
        <p:nvGrpSpPr>
          <p:cNvPr id="43" name="c1-flow-2"/>
          <p:cNvGrpSpPr/>
          <p:nvPr/>
        </p:nvGrpSpPr>
        <p:grpSpPr>
          <a:xfrm>
            <a:off x="666750" y="3893820"/>
            <a:ext cx="4602480" cy="2254568"/>
            <a:chOff x="666750" y="3893820"/>
            <a:chExt cx="4602480" cy="2254568"/>
          </a:xfrm>
        </p:grpSpPr>
        <p:sp>
          <p:nvSpPr>
            <p:cNvPr id="23" name="Freeform 23"/>
            <p:cNvSpPr/>
            <p:nvPr/>
          </p:nvSpPr>
          <p:spPr>
            <a:xfrm>
              <a:off x="1344930" y="4495800"/>
              <a:ext cx="1623060" cy="241935"/>
            </a:xfrm>
            <a:custGeom>
              <a:avLst/>
              <a:gdLst/>
              <a:ahLst/>
              <a:cxnLst/>
              <a:rect l="l" t="t" r="r" b="b"/>
              <a:pathLst>
                <a:path w="1623060" h="241935">
                  <a:moveTo>
                    <a:pt x="1623060" y="0"/>
                  </a:moveTo>
                  <a:lnTo>
                    <a:pt x="1623060" y="173355"/>
                  </a:lnTo>
                  <a:lnTo>
                    <a:pt x="0" y="173355"/>
                  </a:lnTo>
                  <a:lnTo>
                    <a:pt x="0" y="2419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92542" y="47377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67990" y="4495800"/>
              <a:ext cx="1623060" cy="241935"/>
            </a:xfrm>
            <a:custGeom>
              <a:avLst/>
              <a:gdLst/>
              <a:ahLst/>
              <a:cxnLst/>
              <a:rect l="l" t="t" r="r" b="b"/>
              <a:pathLst>
                <a:path w="1623060" h="241935">
                  <a:moveTo>
                    <a:pt x="0" y="0"/>
                  </a:moveTo>
                  <a:lnTo>
                    <a:pt x="0" y="173355"/>
                  </a:lnTo>
                  <a:lnTo>
                    <a:pt x="1623060" y="173355"/>
                  </a:lnTo>
                  <a:lnTo>
                    <a:pt x="1623060" y="2419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38662" y="47377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344930" y="5280660"/>
              <a:ext cx="1623060" cy="324803"/>
            </a:xfrm>
            <a:custGeom>
              <a:avLst/>
              <a:gdLst/>
              <a:ahLst/>
              <a:cxnLst/>
              <a:rect l="l" t="t" r="r" b="b"/>
              <a:pathLst>
                <a:path w="1623060" h="324803">
                  <a:moveTo>
                    <a:pt x="0" y="0"/>
                  </a:moveTo>
                  <a:lnTo>
                    <a:pt x="0" y="215265"/>
                  </a:lnTo>
                  <a:lnTo>
                    <a:pt x="1623060" y="215265"/>
                  </a:lnTo>
                  <a:lnTo>
                    <a:pt x="1623060" y="3248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915602" y="5605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967990" y="5280660"/>
              <a:ext cx="1623060" cy="324803"/>
            </a:xfrm>
            <a:custGeom>
              <a:avLst/>
              <a:gdLst/>
              <a:ahLst/>
              <a:cxnLst/>
              <a:rect l="l" t="t" r="r" b="b"/>
              <a:pathLst>
                <a:path w="1623060" h="324803">
                  <a:moveTo>
                    <a:pt x="1623060" y="0"/>
                  </a:moveTo>
                  <a:lnTo>
                    <a:pt x="1623060" y="215265"/>
                  </a:lnTo>
                  <a:lnTo>
                    <a:pt x="0" y="215265"/>
                  </a:lnTo>
                  <a:lnTo>
                    <a:pt x="0" y="3248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915602" y="5605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289810" y="3893820"/>
              <a:ext cx="1356360" cy="601980"/>
            </a:xfrm>
            <a:custGeom>
              <a:avLst/>
              <a:gdLst/>
              <a:ahLst/>
              <a:cxnLst/>
              <a:rect l="l" t="t" r="r" b="b"/>
              <a:pathLst>
                <a:path w="1356360" h="601980">
                  <a:moveTo>
                    <a:pt x="678180" y="0"/>
                  </a:moveTo>
                  <a:lnTo>
                    <a:pt x="1356360" y="300990"/>
                  </a:lnTo>
                  <a:lnTo>
                    <a:pt x="67818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6750" y="4842510"/>
              <a:ext cx="135636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12870" y="4842510"/>
              <a:ext cx="135636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89810" y="5710238"/>
              <a:ext cx="135636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90119" y="4105751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== j ?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8134" y="4972526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g + 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44254" y="4972526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g − 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82611" y="5840254"/>
              <a:ext cx="370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Exit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42160" y="44529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80451" y="44796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65220" y="44529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03510" y="44796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5707380" y="1524000"/>
            <a:ext cx="5951220" cy="2622232"/>
            <a:chOff x="5707380" y="1524000"/>
            <a:chExt cx="5951220" cy="2622232"/>
          </a:xfrm>
        </p:grpSpPr>
        <p:sp>
          <p:nvSpPr>
            <p:cNvPr id="44" name="Rectangle 44"/>
            <p:cNvSpPr/>
            <p:nvPr/>
          </p:nvSpPr>
          <p:spPr>
            <a:xfrm>
              <a:off x="5707380" y="1524000"/>
              <a:ext cx="5951220" cy="2622232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6905" y="1657350"/>
              <a:ext cx="47625" cy="23555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5503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5014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13183" y="1768792"/>
              <a:ext cx="3492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(i == j) f = g + h; else f = g - h;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48553" y="2126456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f、g、h、i、j 依次放在 $s0–$s4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55030" y="2401252"/>
              <a:ext cx="549402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83427" y="255317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82665" y="2816066"/>
              <a:ext cx="350342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$s3, $s4, Else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i != j 时转 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 $s0, $s1, $s2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f = g + h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  Exit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跳过 else 部分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Else: sub $s0, $s1, $s2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f = g - h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Exit: ...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5707380" y="4336732"/>
            <a:ext cx="5951220" cy="1059180"/>
            <a:chOff x="5707380" y="4336732"/>
            <a:chExt cx="5951220" cy="1059180"/>
          </a:xfrm>
        </p:grpSpPr>
        <p:sp>
          <p:nvSpPr>
            <p:cNvPr id="54" name="Rectangle 54"/>
            <p:cNvSpPr/>
            <p:nvPr/>
          </p:nvSpPr>
          <p:spPr>
            <a:xfrm>
              <a:off x="5707380" y="4336732"/>
              <a:ext cx="595122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912168" y="4766310"/>
              <a:ext cx="200026" cy="200025"/>
              <a:chOff x="5912168" y="476631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912168" y="47663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951906" y="48107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986622" y="49218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214110" y="4485322"/>
              <a:ext cx="4872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编译 if 时通常测试相反的条件（i != j）跳到 else 分支，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then 部分紧跟在后面顺序执行。标签对应的地址由汇编器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1042" cy="909257"/>
            <a:chOff x="520446" y="342900"/>
            <a:chExt cx="69610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10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 while 循环：算地址、取数、比较、回跳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672474" cy="308039"/>
            <a:chOff x="525399" y="1550194"/>
            <a:chExt cx="867247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6724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代码 while (save[i] == k) i += 1;　其中 i 在 $s3，k 在 $s5，数组 save 的基址在 $s6。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951220" cy="1922145"/>
            <a:chOff x="533400" y="1967865"/>
            <a:chExt cx="5951220" cy="19221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88035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Loop: sll  $t1, $s3, 2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i *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  $t1, $t1, $s6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$t1 = save[i] 的地址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lw   $t0, 0($t1)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save[i]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 $t0, $s5, Exit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save[i] != k 时退出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addi $s3, $s3, 1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i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   Loop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回到循环开头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Exit: ...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080510"/>
            <a:ext cx="5951220" cy="1612582"/>
            <a:chOff x="533400" y="4080510"/>
            <a:chExt cx="5951220" cy="1612582"/>
          </a:xfrm>
        </p:grpSpPr>
        <p:sp>
          <p:nvSpPr>
            <p:cNvPr id="13" name="Rectangle 13"/>
            <p:cNvSpPr/>
            <p:nvPr/>
          </p:nvSpPr>
          <p:spPr>
            <a:xfrm>
              <a:off x="533400" y="4080510"/>
              <a:ext cx="595122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21386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4290060"/>
              <a:ext cx="171259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5167" y="4325779"/>
              <a:ext cx="160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基本块（basic block）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66725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一段指令序列，内部没有转出的指令（最后一条除外），也没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有被转入的指令（第一条除外）。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528399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编译器识别基本块用于优化，高级处理器能加速基本块的执行。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789420" y="1977390"/>
            <a:ext cx="3584402" cy="2529173"/>
            <a:chOff x="6789420" y="1977390"/>
            <a:chExt cx="3584402" cy="2529173"/>
          </a:xfrm>
        </p:grpSpPr>
        <p:sp>
          <p:nvSpPr>
            <p:cNvPr id="20" name="Rectangle 20"/>
            <p:cNvSpPr/>
            <p:nvPr/>
          </p:nvSpPr>
          <p:spPr>
            <a:xfrm>
              <a:off x="692277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78942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304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89420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04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789420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8304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89420" y="39290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8304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090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算地址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2043" y="2304574"/>
              <a:ext cx="2899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左移 2 位得到字节偏移，再加上基址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0900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2043" y="295513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读出 save[i]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0900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2043" y="3606641"/>
              <a:ext cx="3171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save[i] 与 k 不等就跳到 Exit，结束循环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0900" y="396335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2043" y="4257199"/>
              <a:ext cx="1888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加 1，再用 j 回到 Loop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789420" y="4684395"/>
            <a:ext cx="4869180" cy="1007745"/>
            <a:chOff x="6789420" y="4684395"/>
            <a:chExt cx="4869180" cy="1007745"/>
          </a:xfrm>
        </p:grpSpPr>
        <p:sp>
          <p:nvSpPr>
            <p:cNvPr id="38" name="Rectangle 38"/>
            <p:cNvSpPr/>
            <p:nvPr/>
          </p:nvSpPr>
          <p:spPr>
            <a:xfrm>
              <a:off x="6789420" y="4684395"/>
              <a:ext cx="4869180" cy="1007745"/>
            </a:xfrm>
            <a:prstGeom prst="roundRect">
              <a:avLst>
                <a:gd name="adj" fmla="val 1134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982149" y="5085516"/>
              <a:ext cx="224134" cy="192560"/>
              <a:chOff x="6982149" y="508551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94220" y="5155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82149" y="5085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94220" y="5233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96150" y="4946332"/>
              <a:ext cx="3863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易错：sll $t1, $s3, 2 不能省。数组下标 i 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乘 4 才是字节偏移。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0690" cy="909257"/>
            <a:chOff x="520446" y="342900"/>
            <a:chExt cx="92206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06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 系列先把比较结果存进寄存器，有符号与无符号结果不同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000250"/>
            <a:chOff x="533400" y="1524000"/>
            <a:chExt cx="5410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89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640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072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 rd, rs, 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94635" y="2045494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&lt; rt 时 rd = 1，否则为 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1247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slti rt, rs, 常数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4635" y="2445544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&lt; 常数时 rt = 1，否则为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159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sltu rd, rs, 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94635" y="2845594"/>
              <a:ext cx="162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slt，按无符号数比较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1334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sltiu rt, rs, 常数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635" y="32456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slti，按无符号数比较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9271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code-2"/>
          <p:cNvGrpSpPr/>
          <p:nvPr/>
        </p:nvGrpSpPr>
        <p:grpSpPr>
          <a:xfrm>
            <a:off x="533400" y="3693795"/>
            <a:ext cx="5410200" cy="858202"/>
            <a:chOff x="533400" y="3693795"/>
            <a:chExt cx="5410200" cy="858202"/>
          </a:xfrm>
        </p:grpSpPr>
        <p:sp>
          <p:nvSpPr>
            <p:cNvPr id="26" name="Rectangle 26"/>
            <p:cNvSpPr/>
            <p:nvPr/>
          </p:nvSpPr>
          <p:spPr>
            <a:xfrm>
              <a:off x="533400" y="3693795"/>
              <a:ext cx="541020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797" y="384571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797" y="4106704"/>
              <a:ext cx="332676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slt $t0, $s1, $s2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$s1 &lt; $s2 时 $t0 =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bne $t0, $zero, L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$t0 != 0 即 $s1 &lt; $s2，转 L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4721542"/>
            <a:ext cx="5410200" cy="1443038"/>
            <a:chOff x="533400" y="4721542"/>
            <a:chExt cx="5410200" cy="1443038"/>
          </a:xfrm>
        </p:grpSpPr>
        <p:sp>
          <p:nvSpPr>
            <p:cNvPr id="30" name="Rectangle 30"/>
            <p:cNvSpPr/>
            <p:nvPr/>
          </p:nvSpPr>
          <p:spPr>
            <a:xfrm>
              <a:off x="533400" y="472154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85489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8190" y="4908232"/>
              <a:ext cx="168211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3778" y="4941094"/>
              <a:ext cx="1570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为什么没有 blt、bge 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5253038"/>
              <a:ext cx="45399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硬件判断 &lt;、≥ 比判断 =、≠ 慢，并进分支指令会拉长时钟周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期，拖慢所有指令。beq、bne 最常用，其余比较用 slt 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beq/bne 组合，是好的折中。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248400" y="1524000"/>
            <a:ext cx="5410200" cy="2529840"/>
            <a:chOff x="6248400" y="1524000"/>
            <a:chExt cx="5410200" cy="252984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529840"/>
            </a:xfrm>
            <a:prstGeom prst="roundRect">
              <a:avLst>
                <a:gd name="adj" fmla="val 52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2263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3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8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14960" y="17459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同一对数，两种比较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6332" y="207168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$s0 = 1111 1111 … 1111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6332" y="2371725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$s1 = 0000 0000 … 0001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3190" y="2649855"/>
              <a:ext cx="49987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89203" y="2771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6043" y="277129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$s0 看作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57256" y="2771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0345" y="3171349"/>
              <a:ext cx="1333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 $t0, $s0, $s1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5350" y="317134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 &lt; +1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52735" y="317134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$t0 =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3190" y="3445192"/>
              <a:ext cx="49987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3449955"/>
              <a:ext cx="49987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0345" y="3571399"/>
              <a:ext cx="1420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sltu $t0, $s0, $s1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5350" y="3571399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4,294,967,295 &gt;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52735" y="357139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$t0 = 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73190" y="2649855"/>
              <a:ext cx="499872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413432" y="264985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350818" y="264985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248400" y="4223385"/>
            <a:ext cx="5410200" cy="1941195"/>
            <a:chOff x="6248400" y="4223385"/>
            <a:chExt cx="5410200" cy="1941195"/>
          </a:xfrm>
        </p:grpSpPr>
        <p:sp>
          <p:nvSpPr>
            <p:cNvPr id="59" name="Rectangle 59"/>
            <p:cNvSpPr/>
            <p:nvPr/>
          </p:nvSpPr>
          <p:spPr>
            <a:xfrm>
              <a:off x="6248400" y="4223385"/>
              <a:ext cx="5410200" cy="1941195"/>
            </a:xfrm>
            <a:prstGeom prst="roundRect">
              <a:avLst>
                <a:gd name="adj" fmla="val 68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356735"/>
              <a:ext cx="47625" cy="16744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3190" y="44100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5862" y="44429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6332" y="4753928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“sltui”，MIPS 中立即数无符号比较指令的助记符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sltiu。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5148" cy="909257"/>
            <a:chOff x="520446" y="342900"/>
            <a:chExt cx="6815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5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 过程调用分六步，jal 负责去，jr 负责回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3802924" cy="3831240"/>
            <a:chOff x="533400" y="1533525"/>
            <a:chExt cx="3802924" cy="38312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253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787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861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放参数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1861661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把参数放到过程能访问的寄存器 $a0–$a3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转过去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51221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把控制转移给过程（jal）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要空间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1627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获得过程所需的存储资源（栈）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35204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做事情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813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执行过程的操作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1709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463891"/>
              <a:ext cx="3390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把结果放到调用者能访问的寄存器 $v0、$v1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48215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115401"/>
              <a:ext cx="2218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把控制交回调用点（jr $ra）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过程调用指令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2110740"/>
              <a:ext cx="465296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jal ProcedureLabel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（跳转并链接）：把下一条指令的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PC + 4 存入 $ra，再跳到过程入口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731770"/>
              <a:ext cx="450913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 $ra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（寄存器跳转）：把 $ra 复制到 PC，回到调用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点；也用于 case/switch 等按计算出的地址跳转</a:t>
              </a:r>
            </a:p>
          </p:txBody>
        </p:sp>
      </p:grpSp>
      <p:grpSp>
        <p:nvGrpSpPr>
          <p:cNvPr id="42" name="c2-image-2"/>
          <p:cNvGrpSpPr/>
          <p:nvPr/>
        </p:nvGrpSpPr>
        <p:grpSpPr>
          <a:xfrm>
            <a:off x="6248400" y="3651885"/>
            <a:ext cx="5410200" cy="2736057"/>
            <a:chOff x="6248400" y="3651885"/>
            <a:chExt cx="5410200" cy="2736057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0" t="20164" r="0" b="20165"/>
            <a:stretch>
              <a:fillRect/>
            </a:stretch>
          </p:blipFill>
          <p:spPr>
            <a:xfrm>
              <a:off x="6248400" y="3651885"/>
              <a:ext cx="5410200" cy="2421255"/>
            </a:xfrm>
            <a:prstGeom prst="roundRect">
              <a:avLst>
                <a:gd name="adj" fmla="val 5507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440041" y="616791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类比：栈像一摞盘子，最后放上去的最先取走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1481" cy="909257"/>
            <a:chOff x="520446" y="342900"/>
            <a:chExt cx="64514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14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寄存器约定：哪些要由被调用者保存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5410200" cy="2971800"/>
            <a:chOff x="533400" y="1524000"/>
            <a:chExt cx="5410200" cy="2971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53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31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5758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7339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保持不变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$zero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023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1384" y="207645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4168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023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1384" y="250126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汇编器临时寄存器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4168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92608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$v0–$v1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1383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2–3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91384" y="29260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返回结果值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5712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349942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$a0–$a3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71383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1384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传递参数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15712" y="33499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3774757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$t0–$t7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26958" y="377475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91384" y="377475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临时寄存器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15712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0709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889" y="419862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$s0–$s7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82534" y="41986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16–23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91384" y="419862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保存寄存器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871085" y="4080510"/>
              <a:ext cx="10629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15712" y="41986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541020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82689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8413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85679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card-2"/>
          <p:cNvGrpSpPr/>
          <p:nvPr/>
        </p:nvGrpSpPr>
        <p:grpSpPr>
          <a:xfrm>
            <a:off x="533400" y="4674870"/>
            <a:ext cx="5410200" cy="1568768"/>
            <a:chOff x="533400" y="4674870"/>
            <a:chExt cx="5410200" cy="1568768"/>
          </a:xfrm>
        </p:grpSpPr>
        <p:sp>
          <p:nvSpPr>
            <p:cNvPr id="50" name="Rectangle 50"/>
            <p:cNvSpPr/>
            <p:nvPr/>
          </p:nvSpPr>
          <p:spPr>
            <a:xfrm>
              <a:off x="533400" y="467487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1520" y="4872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2960" y="4907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9140" y="52939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5731" y="5234464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$t：被调用者可以随意改写；调用者若在调用后还要用，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自己先保存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39140" y="58835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5731" y="5823109"/>
              <a:ext cx="3474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$s：被调用者要用就先压栈，返回前恢复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6248400" y="1524000"/>
            <a:ext cx="5410200" cy="2971800"/>
            <a:chOff x="6248400" y="1524000"/>
            <a:chExt cx="5410200" cy="2971800"/>
          </a:xfrm>
        </p:grpSpPr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03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581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7258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8839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保持不变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50889" y="20764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$t8–$t9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97534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24–25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06384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临时寄存器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30712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0889" y="2501265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$k0–$k1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97534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26–27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06384" y="250126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留给操作系统内核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69168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50889" y="292608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$gp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30807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06384" y="292608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全局指针（静态数据）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586085" y="2807018"/>
              <a:ext cx="10629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030712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50889" y="334994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$sp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30807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06384" y="33499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栈指针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586085" y="3230880"/>
              <a:ext cx="10629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030712" y="33499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50889" y="3774757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$fp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830807" y="377475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406384" y="3774757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帧指针（帧的第一个字）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0586085" y="3655695"/>
              <a:ext cx="10629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030712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48400" y="40709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350889" y="419862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$ra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830807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406384" y="41986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返回地址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586085" y="4080510"/>
              <a:ext cx="10629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1030712" y="41986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1524000"/>
              <a:ext cx="541020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54189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29913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57179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c2-card-2"/>
          <p:cNvGrpSpPr/>
          <p:nvPr/>
        </p:nvGrpSpPr>
        <p:grpSpPr>
          <a:xfrm>
            <a:off x="6248400" y="4674870"/>
            <a:ext cx="5410200" cy="1568768"/>
            <a:chOff x="6248400" y="4674870"/>
            <a:chExt cx="5410200" cy="1568768"/>
          </a:xfrm>
        </p:grpSpPr>
        <p:sp>
          <p:nvSpPr>
            <p:cNvPr id="104" name="Rectangle 104"/>
            <p:cNvSpPr/>
            <p:nvPr/>
          </p:nvSpPr>
          <p:spPr>
            <a:xfrm>
              <a:off x="6248400" y="467487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257925" y="480822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84620" y="4872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76060" y="4907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477381" y="5234464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$s0–$s7 写作“保存参数”，应为保存寄存器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（saved register），存放调用前后都要保持的变量。原课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件未列出的 $at、$k0–$k1 这里一并补全。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5219" cy="909257"/>
            <a:chOff x="520446" y="342900"/>
            <a:chExt cx="73352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52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叶过程 leaf_example：用到 $s0 就先压栈保存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640205"/>
            <a:chOff x="533400" y="1524000"/>
            <a:chExt cx="4977765" cy="1640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237738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leaf_example(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 = (g + h) - (i + j);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28066" y="3344228"/>
            <a:ext cx="4983099" cy="1553146"/>
            <a:chOff x="528066" y="3344228"/>
            <a:chExt cx="4983099" cy="1553146"/>
          </a:xfrm>
        </p:grpSpPr>
        <p:sp>
          <p:nvSpPr>
            <p:cNvPr id="11" name="Rectangle 11"/>
            <p:cNvSpPr/>
            <p:nvPr/>
          </p:nvSpPr>
          <p:spPr>
            <a:xfrm>
              <a:off x="533400" y="3344228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3128" y="34728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栈地址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35646" y="34728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1187" y="3472815"/>
              <a:ext cx="87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 $s0 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8376" y="34728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6158" y="38976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940" y="3897630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调用者数据 ◀ $sp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70466" y="38976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40670" y="3897630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调用者数据 ◀ $sp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88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9290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3819" y="4321492"/>
              <a:ext cx="415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54874" y="43214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（空闲）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727960" y="4202430"/>
              <a:ext cx="13049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29116" y="4321492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$s0 旧值 ◀ $sp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66832" y="43214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（已弹出）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44228"/>
              <a:ext cx="497776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44918" y="33442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713672" y="33442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36695" y="334422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066" y="4692015"/>
              <a:ext cx="3572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栈向低地址增长：压栈先减 $sp 再存，弹栈先取再加 $sp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5036820"/>
            <a:ext cx="4977765" cy="1283018"/>
            <a:chOff x="533400" y="5036820"/>
            <a:chExt cx="4977765" cy="1283018"/>
          </a:xfrm>
        </p:grpSpPr>
        <p:sp>
          <p:nvSpPr>
            <p:cNvPr id="33" name="Rectangle 33"/>
            <p:cNvSpPr/>
            <p:nvPr/>
          </p:nvSpPr>
          <p:spPr>
            <a:xfrm>
              <a:off x="533400" y="5036820"/>
              <a:ext cx="4977765" cy="1283018"/>
            </a:xfrm>
            <a:prstGeom prst="roundRect">
              <a:avLst>
                <a:gd name="adj" fmla="val 10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170170"/>
              <a:ext cx="47625" cy="10163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" y="52349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1060" y="52692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381" y="5595461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int leaf_example (int g, h, i, j)；C 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言要求每个形参都写出类型。</a:t>
              </a:r>
            </a:p>
          </p:txBody>
        </p:sp>
      </p:grpSp>
      <p:grpSp>
        <p:nvGrpSpPr>
          <p:cNvPr id="46" name="c2-code-1"/>
          <p:cNvGrpSpPr/>
          <p:nvPr/>
        </p:nvGrpSpPr>
        <p:grpSpPr>
          <a:xfrm>
            <a:off x="5815965" y="1524000"/>
            <a:ext cx="5842635" cy="2397442"/>
            <a:chOff x="5815965" y="1524000"/>
            <a:chExt cx="5842635" cy="2397442"/>
          </a:xfrm>
        </p:grpSpPr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44362" y="16759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35015" y="2086928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35015" y="2276475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35015" y="3223260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35015" y="3411855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43981" y="1937385"/>
              <a:ext cx="308438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leaf_example: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-4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栈中留出 1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   $s0, 0($sp)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保存 $s0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$t0, $a0, $a1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$t0 = g + h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$t1, $a2, $a3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i + j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sub  $s0, $t0, $t1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f = $t0 - $t1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$v0, $s0, $zero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返回值 = 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lw   $s0, 0($sp)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恢复 $s0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4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弹出 1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jr   $ra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815965" y="4101465"/>
            <a:ext cx="5842635" cy="1018222"/>
            <a:chOff x="5815965" y="4101465"/>
            <a:chExt cx="5842635" cy="1018222"/>
          </a:xfrm>
        </p:grpSpPr>
        <p:sp>
          <p:nvSpPr>
            <p:cNvPr id="47" name="Rectangle 47"/>
            <p:cNvSpPr/>
            <p:nvPr/>
          </p:nvSpPr>
          <p:spPr>
            <a:xfrm>
              <a:off x="5815965" y="4101465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020753" y="4511040"/>
              <a:ext cx="200026" cy="200025"/>
              <a:chOff x="6020753" y="4511040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20753" y="45110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60491" y="45554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095207" y="46666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323076" y="4249579"/>
              <a:ext cx="494677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叶过程不再调用其他过程。参数 g–j 在 $a0–$a3，结果放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$v0。$t0、$t1 按约定不用保存；f 用的 $s0 是保存寄存器，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要先压栈。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5815965" y="5300662"/>
            <a:ext cx="5842635" cy="1018222"/>
            <a:chOff x="5815965" y="5300662"/>
            <a:chExt cx="5842635" cy="1018222"/>
          </a:xfrm>
        </p:grpSpPr>
        <p:sp>
          <p:nvSpPr>
            <p:cNvPr id="54" name="Rectangle 54"/>
            <p:cNvSpPr/>
            <p:nvPr/>
          </p:nvSpPr>
          <p:spPr>
            <a:xfrm>
              <a:off x="5815965" y="5300662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5710240"/>
              <a:ext cx="200023" cy="200023"/>
              <a:chOff x="6020753" y="571024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20753" y="57102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54103" y="5776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3076" y="5447824"/>
              <a:ext cx="485660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机器码：sw $s0, 0($sp) 是 I 型，op=43、rs=29、rt=16、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偏移量 0，拼起来是 0xAFB00000；对应的 lw 只把 op 换成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35，得 0x8FB00000。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3799" cy="909257"/>
            <a:chOff x="520446" y="342900"/>
            <a:chExt cx="75737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3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非叶过程 fact：调用别人之前先保存 $ra 和参数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450658"/>
            <a:chOff x="533400" y="1524000"/>
            <a:chExt cx="4760595" cy="1450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024378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 在 $a0，结果在 $v0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 1)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* fact(n - 1);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154680"/>
            <a:ext cx="4760595" cy="1615440"/>
            <a:chOff x="533400" y="3154680"/>
            <a:chExt cx="4760595" cy="1615440"/>
          </a:xfrm>
        </p:grpSpPr>
        <p:sp>
          <p:nvSpPr>
            <p:cNvPr id="11" name="Rectangle 11"/>
            <p:cNvSpPr/>
            <p:nvPr/>
          </p:nvSpPr>
          <p:spPr>
            <a:xfrm>
              <a:off x="533400" y="3154680"/>
              <a:ext cx="476059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28803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335280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056" y="33870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非叶过程要压栈的内容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773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714274"/>
              <a:ext cx="3398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自己的返回地址 $ra：内层 jal 会改写它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40919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403145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调用后还要用的参数和临时寄存器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44091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43495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调用返回后再从栈中恢复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950142"/>
            <a:ext cx="4760595" cy="1305878"/>
            <a:chOff x="533400" y="4950142"/>
            <a:chExt cx="4760595" cy="1305878"/>
          </a:xfrm>
        </p:grpSpPr>
        <p:sp>
          <p:nvSpPr>
            <p:cNvPr id="22" name="Rectangle 22"/>
            <p:cNvSpPr/>
            <p:nvPr/>
          </p:nvSpPr>
          <p:spPr>
            <a:xfrm>
              <a:off x="533400" y="4950142"/>
              <a:ext cx="4760595" cy="1305878"/>
            </a:xfrm>
            <a:prstGeom prst="roundRect">
              <a:avLst>
                <a:gd name="adj" fmla="val 10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083492"/>
              <a:ext cx="47625" cy="10391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9620" y="51482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1060" y="5182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550878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C 代码写作 return f;，函数中没有变量 f，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return 1;（对应 addi $v0, $zero, 1）。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5598795" y="1524000"/>
            <a:ext cx="6059805" cy="3533775"/>
            <a:chOff x="5598795" y="1524000"/>
            <a:chExt cx="6059805" cy="3533775"/>
          </a:xfrm>
        </p:grpSpPr>
        <p:sp>
          <p:nvSpPr>
            <p:cNvPr id="28" name="Rectangle 28"/>
            <p:cNvSpPr/>
            <p:nvPr/>
          </p:nvSpPr>
          <p:spPr>
            <a:xfrm>
              <a:off x="5598795" y="1524000"/>
              <a:ext cx="6059805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27192" y="16759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617845" y="227647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617845" y="246507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17845" y="3980498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617845" y="417004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26811" y="1937385"/>
              <a:ext cx="3504438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fact: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-8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栈中留 2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   $ra, 4($sp)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保存返回地址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   $a0, 0($sp)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保存参数 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slti $t0, $a0, 1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n &lt; 1 ?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beq  $t0, $zero, L1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否：转 L1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$v0, $zero, 1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是：结果为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8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弹出 2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jr   $ra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L1: addi $a0, $a0, -1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n = n - 1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jal  fact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递归调用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lw   $a0, 0($sp)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恢复原来的 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lw   $ra, 4($sp)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恢复返回地址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8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弹出 2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mul  $v0, $a0, $v0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结果 = n * fact(n-1)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jr   $ra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5598795" y="5237798"/>
            <a:ext cx="6059805" cy="1018222"/>
            <a:chOff x="5598795" y="5237798"/>
            <a:chExt cx="6059805" cy="1018222"/>
          </a:xfrm>
        </p:grpSpPr>
        <p:sp>
          <p:nvSpPr>
            <p:cNvPr id="36" name="Rectangle 36"/>
            <p:cNvSpPr/>
            <p:nvPr/>
          </p:nvSpPr>
          <p:spPr>
            <a:xfrm>
              <a:off x="5598795" y="5237798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791524" y="5643681"/>
              <a:ext cx="224134" cy="192560"/>
              <a:chOff x="5791524" y="564368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903595" y="5714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791524" y="5643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903595" y="5791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105906" y="5384959"/>
              <a:ext cx="509104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jal fact 会改写 $ra，所以进过程先把旧 $ra 压栈，否则递归回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不到调用者；$a0 在 jal 之后还要做乘法，也得一起保存。两条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返回路径各弹出 2 个字，$sp 才能复位。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8350" cy="909257"/>
            <a:chOff x="520446" y="342900"/>
            <a:chExt cx="77883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83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追踪 fact(2)：每一层在栈里保存自己的 $ra 和 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912039" cy="264033"/>
            <a:chOff x="526542" y="1545907"/>
            <a:chExt cx="99120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91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main 调用前 $sp = S；A 是 main 中 jal fact 的下一条指令地址，B 是 fact 中 jal fact 的下一条（lw $a0, 0($sp)）。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28447" y="1928812"/>
            <a:ext cx="4549331" cy="3063907"/>
            <a:chOff x="528447" y="1928812"/>
            <a:chExt cx="4549331" cy="30639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2081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栈地址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7528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9643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0059" y="245030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1670" y="2450306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$ra =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56969" y="24503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fact(2)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0059" y="285035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1670" y="28503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$a0 =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56969" y="28503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fact(2)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059" y="3250406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− 12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1670" y="3250406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$ra =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56969" y="32504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242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290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059" y="3650456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1670" y="36504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$a0 =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56969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243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059" y="4050506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31670" y="4050506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$ra = 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37598" y="3938588"/>
              <a:ext cx="143065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56969" y="4050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fact(0)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243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3291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059" y="4450556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− 24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31670" y="44505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$a0 = 0 ◀ $sp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637598" y="4338638"/>
              <a:ext cx="143065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56969" y="4450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fact(0)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28812"/>
              <a:ext cx="454437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82975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2331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447" y="480202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递归最深处（fact(0) 刚压栈）的栈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5382578" y="1928812"/>
            <a:ext cx="6276022" cy="2800350"/>
            <a:chOff x="5382578" y="1928812"/>
            <a:chExt cx="6276022" cy="2800350"/>
          </a:xfrm>
        </p:grpSpPr>
        <p:sp>
          <p:nvSpPr>
            <p:cNvPr id="46" name="Rectangle 46"/>
            <p:cNvSpPr/>
            <p:nvPr/>
          </p:nvSpPr>
          <p:spPr>
            <a:xfrm>
              <a:off x="5382578" y="1928812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718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1950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发生的事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83174" y="20502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$v0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7908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70295" y="2450306"/>
              <a:ext cx="25087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main：$a0 = 2，jal fact（$ra = A）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7232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2724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82578" y="27289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79084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70295" y="2850356"/>
              <a:ext cx="3707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fact(2)：压栈；2 ≥ 1，$a0 = 1，jal fact（$ra = B）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7232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31242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79084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70295" y="3250406"/>
              <a:ext cx="3707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fact(1)：压栈；1 ≥ 1，$a0 = 0，jal fact（$ra = B）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7232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35242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82578" y="35290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79084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70295" y="3650456"/>
              <a:ext cx="340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fact(0)：压栈；0 &lt; 1，$v0 = 1，弹栈，jr 回到 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7232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82578" y="39243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7908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70295" y="4050506"/>
              <a:ext cx="4385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fact(1)：恢复 $a0 = 1、$ra = B，弹栈，$v0 = 1 × 1，jr 回到 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7232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82578" y="43243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82578" y="43291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679084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70295" y="4450556"/>
              <a:ext cx="4385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fact(2)：恢复 $a0 = 2、$ra = A，弹栈，$v0 = 2 × 1，jr 回到 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72320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82578" y="1928812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6837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77563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llout-2"/>
          <p:cNvGrpSpPr/>
          <p:nvPr/>
        </p:nvGrpSpPr>
        <p:grpSpPr>
          <a:xfrm>
            <a:off x="5382578" y="4898708"/>
            <a:ext cx="6276022" cy="729615"/>
            <a:chOff x="5382578" y="4898708"/>
            <a:chExt cx="6276022" cy="729615"/>
          </a:xfrm>
        </p:grpSpPr>
        <p:sp>
          <p:nvSpPr>
            <p:cNvPr id="80" name="Rectangle 80"/>
            <p:cNvSpPr/>
            <p:nvPr/>
          </p:nvSpPr>
          <p:spPr>
            <a:xfrm>
              <a:off x="5382578" y="4898708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5587365" y="5163503"/>
              <a:ext cx="200026" cy="200025"/>
              <a:chOff x="5587365" y="5163503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5587365" y="51635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5627104" y="52079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5661819" y="53190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5890070" y="5045392"/>
              <a:ext cx="53200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步 fact(0) 没有改动 $a0 和 $ra，直接加 8 弹栈即可，不必从栈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里取回。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7" name="Rectangle 8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892" y="6028373"/>
              <a:ext cx="7576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易错：如果 fact 不保存 $ra，第 3 步的 jal 会把 A 覆盖成 B，最外层 jr $ra 就回不到 main。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栈帧：过程的局部数据由被调用者放在栈上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27685" y="1524000"/>
            <a:ext cx="5199697" cy="2539842"/>
            <a:chOff x="527685" y="1524000"/>
            <a:chExt cx="5199697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1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2586" y="16597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调用过程中的栈帧（高地址在上）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2261" y="2108359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$fp 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85925" y="1982152"/>
              <a:ext cx="403193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84223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保存的参数寄存器（如有）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85925" y="2430780"/>
              <a:ext cx="403193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84223" y="2556986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保存的返回地址 $ra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685925" y="2880360"/>
              <a:ext cx="403193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84223" y="300561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保存的保存寄存器 $s（如有）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2261" y="345424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$sp 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85925" y="3328988"/>
              <a:ext cx="403193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84223" y="345424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局部数组和结构（如有）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7163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3843814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调用前和返回后，$sp、$fp 都指向调用者的帧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210050"/>
            <a:ext cx="5193982" cy="1703070"/>
            <a:chOff x="533400" y="4210050"/>
            <a:chExt cx="5193982" cy="1703070"/>
          </a:xfrm>
        </p:grpSpPr>
        <p:sp>
          <p:nvSpPr>
            <p:cNvPr id="29" name="Rectangle 29"/>
            <p:cNvSpPr/>
            <p:nvPr/>
          </p:nvSpPr>
          <p:spPr>
            <a:xfrm>
              <a:off x="533400" y="4210050"/>
              <a:ext cx="5193982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34340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58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4796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原课件写作“局部数据有调用者分配”，应为由被调用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者（callee）分配。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032182" y="1524000"/>
            <a:ext cx="5626418" cy="2322195"/>
            <a:chOff x="6032182" y="1524000"/>
            <a:chExt cx="5626418" cy="2322195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1708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79832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0488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过程帧（活动记录）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8554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43662" y="2110740"/>
              <a:ext cx="4703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局部数据（如 C 的自动变量）由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被调用者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在栈上分配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85548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43662" y="244602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帧指针 $fp 指向帧的第一个字，栈指针 $sp 指向栈顶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85548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43662" y="278130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过程执行中 $sp 可能移动，$fp 保持不变，用 $fp 加偏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移访问局部数据更稳定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85548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43662" y="3402330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一些编译器用 $fp 管理栈</a:t>
              </a:r>
            </a:p>
          </p:txBody>
        </p:sp>
      </p:grpSp>
      <p:grpSp>
        <p:nvGrpSpPr>
          <p:cNvPr id="61" name="c2-steps-2"/>
          <p:cNvGrpSpPr/>
          <p:nvPr/>
        </p:nvGrpSpPr>
        <p:grpSpPr>
          <a:xfrm>
            <a:off x="6032182" y="4046220"/>
            <a:ext cx="5422672" cy="1878615"/>
            <a:chOff x="6032182" y="4046220"/>
            <a:chExt cx="5422672" cy="1878615"/>
          </a:xfrm>
        </p:grpSpPr>
        <p:sp>
          <p:nvSpPr>
            <p:cNvPr id="48" name="Rectangle 48"/>
            <p:cNvSpPr/>
            <p:nvPr/>
          </p:nvSpPr>
          <p:spPr>
            <a:xfrm>
              <a:off x="6165532" y="418909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032182" y="40462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41200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32182" y="46967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806" y="4770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32182" y="53473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5806" y="5421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3662" y="40805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进入过程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4806" y="437435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$sp 下移，依次保存参数、$ra、$s 寄存器，再留出局部数组空间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3662" y="473106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4806" y="5024914"/>
              <a:ext cx="3028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 $fp 或 $sp 加偏移访问帧里的数据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3662" y="5381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4806" y="5675471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恢复寄存器，$sp、$fp 回到调用前的值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分支与过程调用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内存布局：正文、静态数据、堆、栈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276022" cy="3826192"/>
            <a:chOff x="533400" y="1524000"/>
            <a:chExt cx="6276022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7753" y="165973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起始地址（十六进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8691" y="17730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40529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存放的内容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895" y="2335054"/>
              <a:ext cx="147314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7fff fffc（$sp 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26018" y="2208848"/>
              <a:ext cx="111061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88691" y="244840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3980" y="2335054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自动存储：局部变量、保存的寄存器；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向低地址增长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87464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1052" y="31237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（中间空闲）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26018" y="2884170"/>
              <a:ext cx="111061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30221" y="31237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53980" y="3010376"/>
              <a:ext cx="2792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堆：如 C 的 malloc、Java 的 new；向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高地址增长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461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2809" y="3799046"/>
              <a:ext cx="863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0221" y="37990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53980" y="3685699"/>
              <a:ext cx="28333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全局变量、static 变量、常数数组和字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符串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214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2624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4835" y="4361021"/>
              <a:ext cx="137927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0040 0000（pc 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2534" y="44743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3980" y="44743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程序的机器代码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968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2809" y="5037296"/>
              <a:ext cx="863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02534" y="50372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53980" y="50372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不使用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276022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11730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4139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1887855"/>
            <a:chOff x="7114222" y="1524000"/>
            <a:chExt cx="4544378" cy="1887855"/>
          </a:xfrm>
        </p:grpSpPr>
        <p:sp>
          <p:nvSpPr>
            <p:cNvPr id="38" name="Rectangle 38"/>
            <p:cNvSpPr/>
            <p:nvPr/>
          </p:nvSpPr>
          <p:spPr>
            <a:xfrm>
              <a:off x="7114222" y="1524000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23748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61872" y="1733550"/>
              <a:ext cx="13296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27328" y="1769269"/>
              <a:ext cx="1198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$gp = 1000 8000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4252" y="2110740"/>
              <a:ext cx="37299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位偏移是有符号数，范围 −32768 ~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32767。$gp 指向静态数据区起点加 0x8000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处，用 offset($gp) 就能访问 1000 0000 ~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ffff 这 64 KB。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7114222" y="3602355"/>
            <a:ext cx="4544378" cy="1747838"/>
            <a:chOff x="7114222" y="3602355"/>
            <a:chExt cx="4544378" cy="1747838"/>
          </a:xfrm>
        </p:grpSpPr>
        <p:sp>
          <p:nvSpPr>
            <p:cNvPr id="44" name="Rectangle 44"/>
            <p:cNvSpPr/>
            <p:nvPr/>
          </p:nvSpPr>
          <p:spPr>
            <a:xfrm>
              <a:off x="7114222" y="3602355"/>
              <a:ext cx="4544378" cy="1747838"/>
            </a:xfrm>
            <a:prstGeom prst="roundRect">
              <a:avLst>
                <a:gd name="adj" fmla="val 76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23772" y="38119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92327" y="38476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堆与栈相向增长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152" y="418909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栈从高地址往下长，堆从低地址往上长，两者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共用中间的空闲区，谁用得多都不会过早耗尽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4125" cy="3675697"/>
            <a:chOff x="667512" y="1835468"/>
            <a:chExt cx="633412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字符与寻址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242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字节操作处理字符串；16 位字段不够用时，怎样得到 32 位常数和远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处的地址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 字符编码与 strcpy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165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2.10 lui 构造 32 位常数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分支地址、跳转地址与远程分支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749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五种寻址方式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7126" cy="909257"/>
            <a:chOff x="520446" y="342900"/>
            <a:chExt cx="67971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71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 字符按字节编码，用 lb、sb 等指令读写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1800225"/>
            <a:chOff x="533400" y="1524000"/>
            <a:chExt cx="5410200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83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4938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345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ASCII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1180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35655" y="2045494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 个可显示字符 + 33 个控制字符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Latin-1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1180" y="24455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5655" y="2445544"/>
              <a:ext cx="1880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ASCII 再加 96 个可显示字符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94560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Unicode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1180" y="2845594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覆盖世界上大多数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文字（含汉字）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5655" y="2845594"/>
              <a:ext cx="21308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Java、C++ 宽字符使用；UTF-8、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UTF-16 为变长编码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1926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3373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3493770"/>
            <a:ext cx="5410200" cy="1443038"/>
            <a:chOff x="533400" y="3493770"/>
            <a:chExt cx="5410200" cy="1443038"/>
          </a:xfrm>
        </p:grpSpPr>
        <p:sp>
          <p:nvSpPr>
            <p:cNvPr id="27" name="Rectangle 27"/>
            <p:cNvSpPr/>
            <p:nvPr/>
          </p:nvSpPr>
          <p:spPr>
            <a:xfrm>
              <a:off x="533400" y="3493770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62712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36804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37133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4025265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原课件称 Unicode 为“32 位字符集”。准确地说，Unicode 码点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最多需要 21 位，UTF-32 用 32 位定长存放一个字符，Java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是 16 位的 UTF-16 码元。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107305"/>
            <a:ext cx="5410200" cy="1132522"/>
            <a:chOff x="533400" y="5107305"/>
            <a:chExt cx="5410200" cy="1132522"/>
          </a:xfrm>
        </p:grpSpPr>
        <p:sp>
          <p:nvSpPr>
            <p:cNvPr id="33" name="Rectangle 33"/>
            <p:cNvSpPr/>
            <p:nvPr/>
          </p:nvSpPr>
          <p:spPr>
            <a:xfrm>
              <a:off x="533400" y="5107305"/>
              <a:ext cx="5410200" cy="1132522"/>
            </a:xfrm>
            <a:prstGeom prst="roundRect">
              <a:avLst>
                <a:gd name="adj" fmla="val 100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573078"/>
              <a:ext cx="200026" cy="200026"/>
              <a:chOff x="738188" y="557307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5730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6397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6730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578792"/>
              <a:ext cx="454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 节在原课件中为隐藏页，这里保留作为完整知识点。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2400300"/>
            <a:chOff x="6248400" y="1524000"/>
            <a:chExt cx="5410200" cy="240030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739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790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5555" y="2045494"/>
              <a:ext cx="1372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lb rt, offset(rs)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9635" y="2045494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1 字节，符号扩展到 32 位放入 rt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2445544"/>
              <a:ext cx="1372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lh rt, offset(rs)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09635" y="244554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取半字（16 位），符号扩展到 32 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5555" y="284559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lbu / lhu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9635" y="284559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取字节 / 半字，零扩展到 32 位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5555" y="3245644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 rt, offset(rs)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9635" y="324564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rt 最低的 8 位存入主存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5555" y="3645694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 rt, offset(rs)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09635" y="3645694"/>
              <a:ext cx="188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rt 最低的 16 位存入主存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1524000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40771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6248400" y="4093845"/>
            <a:ext cx="5410200" cy="729615"/>
            <a:chOff x="6248400" y="4093845"/>
            <a:chExt cx="5410200" cy="729615"/>
          </a:xfrm>
        </p:grpSpPr>
        <p:sp>
          <p:nvSpPr>
            <p:cNvPr id="62" name="Rectangle 62"/>
            <p:cNvSpPr/>
            <p:nvPr/>
          </p:nvSpPr>
          <p:spPr>
            <a:xfrm>
              <a:off x="6248400" y="40938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4358640"/>
              <a:ext cx="200026" cy="200025"/>
              <a:chOff x="6453188" y="435864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4358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4403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4514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892" y="4240530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字符一般用 lbu 取出。用 lb 时，值不小于 128 的字节会被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扩展成负数。</a:t>
              </a:r>
            </a:p>
          </p:txBody>
        </p:sp>
      </p:grpSp>
      <p:grpSp>
        <p:nvGrpSpPr>
          <p:cNvPr id="78" name="c2-card-3"/>
          <p:cNvGrpSpPr/>
          <p:nvPr/>
        </p:nvGrpSpPr>
        <p:grpSpPr>
          <a:xfrm>
            <a:off x="6248400" y="4993958"/>
            <a:ext cx="5410200" cy="1245870"/>
            <a:chOff x="6248400" y="4993958"/>
            <a:chExt cx="5410200" cy="1245870"/>
          </a:xfrm>
        </p:grpSpPr>
        <p:sp>
          <p:nvSpPr>
            <p:cNvPr id="69" name="Rectangle 69"/>
            <p:cNvSpPr/>
            <p:nvPr/>
          </p:nvSpPr>
          <p:spPr>
            <a:xfrm>
              <a:off x="6248400" y="4993958"/>
              <a:ext cx="5410200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57925" y="5127308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3190" y="518064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68961" y="521350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14960" y="5214938"/>
              <a:ext cx="2977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同一个字节，lb 与 lbu 读出的值不同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81762" y="55978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37782" y="5541645"/>
              <a:ext cx="4741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0($s1) 处的字节是 0xA8：lbu 得到 0x000000A8 = 168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81762" y="58978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37782" y="5841683"/>
              <a:ext cx="4743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lb 把最高位的 1 向左复制 24 位，得到 0xFFFFFFA8 = −88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2725" cy="909257"/>
            <a:chOff x="520446" y="342900"/>
            <a:chExt cx="64727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27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例：strcpy 逐字节复制，遇到空字符结束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73824" cy="293370"/>
            <a:chOff x="525780" y="1548765"/>
            <a:chExt cx="697382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73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字符串以空字符 NUL（值为 0）结尾。x、y 的基址在 $a0、$a1，i 放在 $s0。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4544378" cy="1829752"/>
            <a:chOff x="533400" y="1954530"/>
            <a:chExt cx="4544378" cy="182975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544378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243097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strcpy(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y[])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= 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((x[i] = y[i]) !=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'\0'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+=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964305"/>
            <a:ext cx="4544378" cy="756285"/>
            <a:chOff x="533400" y="3964305"/>
            <a:chExt cx="4544378" cy="7562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64305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242435"/>
              <a:ext cx="200026" cy="200025"/>
              <a:chOff x="738188" y="424243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242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286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398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111466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字符占 1 个字节，x[i] 的地址 = 基址 + i，不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用乘 4。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900612"/>
            <a:ext cx="4544378" cy="1250632"/>
            <a:chOff x="533400" y="4900612"/>
            <a:chExt cx="4544378" cy="1250632"/>
          </a:xfrm>
        </p:grpSpPr>
        <p:sp>
          <p:nvSpPr>
            <p:cNvPr id="20" name="Rectangle 20"/>
            <p:cNvSpPr/>
            <p:nvPr/>
          </p:nvSpPr>
          <p:spPr>
            <a:xfrm>
              <a:off x="533400" y="4900612"/>
              <a:ext cx="454437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503396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9620" y="50987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1060" y="51330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381" y="5459254"/>
              <a:ext cx="38376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null-terminated string 译作“非终止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字符串”，应为以空字符结尾的字符串。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382578" y="1954530"/>
            <a:ext cx="6276022" cy="3154680"/>
            <a:chOff x="5382578" y="1954530"/>
            <a:chExt cx="6276022" cy="3154680"/>
          </a:xfrm>
        </p:grpSpPr>
        <p:sp>
          <p:nvSpPr>
            <p:cNvPr id="26" name="Rectangle 26"/>
            <p:cNvSpPr/>
            <p:nvPr/>
          </p:nvSpPr>
          <p:spPr>
            <a:xfrm>
              <a:off x="5382578" y="1954530"/>
              <a:ext cx="6276022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10974" y="210645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0594" y="2367915"/>
              <a:ext cx="3417761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strcpy: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-4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栈中留 1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   $s0, 0($sp)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保存 $s0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$s0, $zero, $zero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L1: add  $t1, $s0, $a1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$t1 = y[i] 的地址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lbu  $t2, 0($t1)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$t2 = y[i]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  $t3, $s0, $a0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$t3 = x[i] 的地址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sb   $t2, 0($t3)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x[i] = y[i]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beq  $t2, $zero, L2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复制的是 0 就结束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$s0, $s0, 1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i + 1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   L1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下一个字符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L2: lw   $s0, 0($sp)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恢复 $s0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 $sp, $sp, 4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弹出 1 个字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jr   $ra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5382578" y="5290185"/>
            <a:ext cx="6276022" cy="862012"/>
            <a:chOff x="5382578" y="5290185"/>
            <a:chExt cx="6276022" cy="862012"/>
          </a:xfrm>
        </p:grpSpPr>
        <p:sp>
          <p:nvSpPr>
            <p:cNvPr id="30" name="Rectangle 30"/>
            <p:cNvSpPr/>
            <p:nvPr/>
          </p:nvSpPr>
          <p:spPr>
            <a:xfrm>
              <a:off x="5382578" y="5290185"/>
              <a:ext cx="6276022" cy="862012"/>
            </a:xfrm>
            <a:prstGeom prst="roundRect">
              <a:avLst>
                <a:gd name="adj" fmla="val 13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587365" y="5620703"/>
              <a:ext cx="200026" cy="200026"/>
              <a:chOff x="5587365" y="5620703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587365" y="56207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54040" y="56984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889688" y="5621179"/>
              <a:ext cx="493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优化：strcpy 是叶过程，把 i 放在 $t0 就不必压栈保存。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8650" cy="909257"/>
            <a:chOff x="520446" y="342900"/>
            <a:chExt cx="75686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86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2.10 32 位常数：lui 装高 16 位，ori 补低 16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479232"/>
            <a:chOff x="533400" y="1524000"/>
            <a:chExt cx="5951220" cy="1479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479232"/>
            </a:xfrm>
            <a:prstGeom prst="roundRect">
              <a:avLst>
                <a:gd name="adj" fmla="val 90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25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30206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011" y="1756410"/>
              <a:ext cx="1168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lui rt, constant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53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16 位常数放进 rt 的高 16 位，低 16 位清 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2396490"/>
              <a:ext cx="5170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大部分常数较小，16 位立即数够用；偶尔需要 32 位常数时，用 lui 和 ori 两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条指令拼出来。</a:t>
              </a:r>
            </a:p>
          </p:txBody>
        </p:sp>
      </p:grpSp>
      <p:grpSp>
        <p:nvGrpSpPr>
          <p:cNvPr id="26" name="c1-table-2"/>
          <p:cNvGrpSpPr/>
          <p:nvPr/>
        </p:nvGrpSpPr>
        <p:grpSpPr>
          <a:xfrm>
            <a:off x="533400" y="3183255"/>
            <a:ext cx="5951220" cy="1274445"/>
            <a:chOff x="533400" y="3183255"/>
            <a:chExt cx="5951220" cy="1274445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595122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7315" y="33118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6772" y="3311842"/>
              <a:ext cx="827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$s0 的内容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3736657"/>
              <a:ext cx="868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lui $s0, 61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8999" y="3736657"/>
              <a:ext cx="319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0000 0000 0011 1101 0000 0000 0000 0000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281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0328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4160520"/>
              <a:ext cx="152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 $s0, $s0, 2304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566035" y="4042410"/>
              <a:ext cx="390906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58999" y="4160520"/>
              <a:ext cx="319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0000 0000 0011 1101 0000 1001 0000 0000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83255"/>
              <a:ext cx="595122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51748" y="318325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3"/>
          <p:cNvGrpSpPr/>
          <p:nvPr/>
        </p:nvGrpSpPr>
        <p:grpSpPr>
          <a:xfrm>
            <a:off x="533400" y="4636770"/>
            <a:ext cx="5951220" cy="1522095"/>
            <a:chOff x="533400" y="4636770"/>
            <a:chExt cx="5951220" cy="1522095"/>
          </a:xfrm>
        </p:grpSpPr>
        <p:sp>
          <p:nvSpPr>
            <p:cNvPr id="27" name="Rectangle 27"/>
            <p:cNvSpPr/>
            <p:nvPr/>
          </p:nvSpPr>
          <p:spPr>
            <a:xfrm>
              <a:off x="533400" y="4636770"/>
              <a:ext cx="595122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77012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48348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1060" y="48691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381" y="5196364"/>
              <a:ext cx="513613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ori 之后的结果写作 0000 0000 0111 1101 0000 1001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0000，高 16 位错成了 0x007D。ori 不改变高 16 位，应为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 0011 1101 0000 1001 0000 0000。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6789420" y="1533525"/>
            <a:ext cx="4399178" cy="1781556"/>
            <a:chOff x="6789420" y="1533525"/>
            <a:chExt cx="4399178" cy="1781556"/>
          </a:xfrm>
        </p:grpSpPr>
        <p:sp>
          <p:nvSpPr>
            <p:cNvPr id="33" name="Rectangle 33"/>
            <p:cNvSpPr/>
            <p:nvPr/>
          </p:nvSpPr>
          <p:spPr>
            <a:xfrm>
              <a:off x="692277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78942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304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8942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8304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1281" y="1566386"/>
              <a:ext cx="1028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lui $s0, 61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2424" y="1846898"/>
              <a:ext cx="3544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 = 0x003D，放到高 16 位：$s0 = 0x003D0000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01281" y="2183606"/>
              <a:ext cx="1800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 $s0, $s0, 2304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02424" y="2464118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2304 = 0x0900，零扩展后与 $s0 按位或，填进低 16 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281" y="27998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2424" y="3080385"/>
              <a:ext cx="3517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0x003D0900 = 61 × 65536 + 2304 = 4,000,000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789420" y="3486150"/>
            <a:ext cx="4869180" cy="756285"/>
            <a:chOff x="6789420" y="3486150"/>
            <a:chExt cx="4869180" cy="756285"/>
          </a:xfrm>
        </p:grpSpPr>
        <p:sp>
          <p:nvSpPr>
            <p:cNvPr id="47" name="Rectangle 47"/>
            <p:cNvSpPr/>
            <p:nvPr/>
          </p:nvSpPr>
          <p:spPr>
            <a:xfrm>
              <a:off x="6789420" y="348615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982149" y="3760588"/>
              <a:ext cx="224134" cy="192560"/>
              <a:chOff x="6982149" y="3760588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094220" y="38309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82149" y="37605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094220" y="3908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296531" y="3634264"/>
              <a:ext cx="38917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这里不能把 ori 换成 addi：addi 的立即数做符号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扩展，低 16 位最高位为 1 时会改变高 16 位。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5845" cy="909257"/>
            <a:chOff x="520446" y="342900"/>
            <a:chExt cx="61658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58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分支用 PC 相对寻址，跳转用伪直接寻址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table-1"/>
          <p:cNvGrpSpPr/>
          <p:nvPr/>
        </p:nvGrpSpPr>
        <p:grpSpPr>
          <a:xfrm>
            <a:off x="533400" y="1524000"/>
            <a:ext cx="5410200" cy="848678"/>
            <a:chOff x="533400" y="1524000"/>
            <a:chExt cx="5410200" cy="8486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074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7133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1620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41089" y="1652588"/>
              <a:ext cx="1699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constant or address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4606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5198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0066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91101" y="207645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41020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4305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8887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3373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2552700"/>
            <a:ext cx="5410200" cy="2165032"/>
            <a:chOff x="533400" y="2552700"/>
            <a:chExt cx="5410200" cy="2165032"/>
          </a:xfrm>
        </p:grpSpPr>
        <p:sp>
          <p:nvSpPr>
            <p:cNvPr id="21" name="Rectangle 21"/>
            <p:cNvSpPr/>
            <p:nvPr/>
          </p:nvSpPr>
          <p:spPr>
            <a:xfrm>
              <a:off x="533400" y="2552700"/>
              <a:ext cx="5410200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2686050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2750820"/>
              <a:ext cx="160496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624" y="2785110"/>
              <a:ext cx="14899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分支地址（beq、bne）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7240" y="31718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831" y="311229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指令里有操作码、两个寄存器和一个目标地址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7240" y="34899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3831" y="342947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大多数分支目标离分支指令不远，向前向后都有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7240" y="38071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3831" y="3747611"/>
              <a:ext cx="43913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PC 相对寻址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：目标地址 = PC + 偏移 × 4，执行时 PC 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经加 4，指向下一条指令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524" y="4332922"/>
              <a:ext cx="4364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偏移以“条指令”为单位，可达 PC + 4 前后各约 2¹⁵ 条指令。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4898708"/>
            <a:ext cx="5410200" cy="1250632"/>
            <a:chOff x="533400" y="4898708"/>
            <a:chExt cx="5410200" cy="1250632"/>
          </a:xfrm>
        </p:grpSpPr>
        <p:sp>
          <p:nvSpPr>
            <p:cNvPr id="33" name="Rectangle 33"/>
            <p:cNvSpPr/>
            <p:nvPr/>
          </p:nvSpPr>
          <p:spPr>
            <a:xfrm>
              <a:off x="533400" y="4898708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03205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" y="50968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1060" y="51311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381" y="545734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原课件写作“此时 PC 的增加量是 4 的倍数”；原文 PC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already incremented by 4 的意思是 PC 已经加了 4。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848678"/>
            <a:chOff x="6248400" y="1524000"/>
            <a:chExt cx="5410200" cy="848678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574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27613" y="165258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address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99606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0281" y="207645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25805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2552700"/>
            <a:ext cx="5410200" cy="1297305"/>
            <a:chOff x="6248400" y="2552700"/>
            <a:chExt cx="5410200" cy="1297305"/>
          </a:xfrm>
        </p:grpSpPr>
        <p:sp>
          <p:nvSpPr>
            <p:cNvPr id="47" name="Rectangle 47"/>
            <p:cNvSpPr/>
            <p:nvPr/>
          </p:nvSpPr>
          <p:spPr>
            <a:xfrm>
              <a:off x="6248400" y="255270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268605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2750820"/>
              <a:ext cx="134588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0372" y="2785110"/>
              <a:ext cx="1215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跳转地址（j、jal）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2240" y="31718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8831" y="3112294"/>
              <a:ext cx="48699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目标可以在代码段的任何位置，除 op 外的 26 位都是地址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92240" y="34899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8831" y="3429476"/>
              <a:ext cx="45343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伪直接寻址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：目标地址 = PC 高 4 位 : (address × 4)</a:t>
              </a:r>
            </a:p>
          </p:txBody>
        </p:sp>
      </p:grpSp>
      <p:grpSp>
        <p:nvGrpSpPr>
          <p:cNvPr id="67" name="c2-table-3"/>
          <p:cNvGrpSpPr/>
          <p:nvPr/>
        </p:nvGrpSpPr>
        <p:grpSpPr>
          <a:xfrm>
            <a:off x="6243066" y="4030980"/>
            <a:ext cx="5415534" cy="1341691"/>
            <a:chOff x="6243066" y="4030980"/>
            <a:chExt cx="5415534" cy="1341691"/>
          </a:xfrm>
        </p:grpSpPr>
        <p:sp>
          <p:nvSpPr>
            <p:cNvPr id="56" name="Rectangle 56"/>
            <p:cNvSpPr/>
            <p:nvPr/>
          </p:nvSpPr>
          <p:spPr>
            <a:xfrm>
              <a:off x="6248400" y="403098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80933" y="415861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70770" y="4158615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 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31025" y="415861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09944" y="4583430"/>
              <a:ext cx="659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的高 4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11985" y="46901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指令中的 address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95037" y="46901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030980"/>
              <a:ext cx="5410200" cy="10620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27570" y="4030980"/>
              <a:ext cx="9525" cy="10620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915650" y="4030980"/>
              <a:ext cx="9525" cy="10620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3066" y="5167312"/>
              <a:ext cx="2996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拼出 32 位目标地址。严格说高 4 位取自 PC + 4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79142" cy="909257"/>
            <a:chOff x="520446" y="342900"/>
            <a:chExt cx="6579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79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例：while 循环的机器码，起始地址 80000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33400" y="1524000"/>
            <a:ext cx="11125200" cy="3395662"/>
            <a:chOff x="533400" y="1524000"/>
            <a:chExt cx="11125200" cy="3395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02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8037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9337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68909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其余字段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4126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十六进制机器码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0335" y="207645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8409" y="2076450"/>
              <a:ext cx="164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Loop: sll $t1, $s3,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820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0786" y="207645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0 · rt 19 · rd 9 · shamt 2 · funct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1275" y="20764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00134880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335" y="250126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8409" y="2501265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$t1, $t1, $s6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8820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30786" y="2501265"/>
              <a:ext cx="3073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9 · rt 22 · rd 9 · shamt 0 · funct 32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51275" y="250126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01364820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335" y="292608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8409" y="292608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$t0, 0($t1)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378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0786" y="2926080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9 · rt 8 · 偏移 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31158" y="2926080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8D280000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0335" y="334994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8409" y="3349942"/>
              <a:ext cx="1458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 $t0, $s5, Exit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820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30786" y="3349942"/>
              <a:ext cx="1567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rs 8 · rt 21 · 偏移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51275" y="334994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15150002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414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0335" y="3774757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80016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8409" y="3774757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$s3, $s3,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8820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30786" y="3774757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19 · rt 19 · 立即数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51275" y="3774757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22730001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0662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07098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0335" y="419862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80020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8409" y="4198620"/>
              <a:ext cx="469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8204" y="41986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30786" y="4198620"/>
              <a:ext cx="1149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address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20000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31158" y="4198620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08004E20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4900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335" y="462343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80024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48409" y="4623435"/>
              <a:ext cx="561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Exit: 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524000"/>
              <a:ext cx="11125200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641158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645342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3535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62172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1-callout-2"/>
          <p:cNvGrpSpPr/>
          <p:nvPr/>
        </p:nvGrpSpPr>
        <p:grpSpPr>
          <a:xfrm>
            <a:off x="533400" y="5099685"/>
            <a:ext cx="11125200" cy="503872"/>
            <a:chOff x="533400" y="5099685"/>
            <a:chExt cx="11125200" cy="503872"/>
          </a:xfrm>
        </p:grpSpPr>
        <p:sp>
          <p:nvSpPr>
            <p:cNvPr id="60" name="Rectangle 60"/>
            <p:cNvSpPr/>
            <p:nvPr/>
          </p:nvSpPr>
          <p:spPr>
            <a:xfrm>
              <a:off x="533400" y="5099685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251135"/>
              <a:ext cx="200023" cy="200023"/>
              <a:chOff x="738188" y="525113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2511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5317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5251609"/>
              <a:ext cx="92754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bne 偏移：执行时 PC + 4 = 80016，(80024 − 80016) ÷ 4 = 2。j 地址：80000 ÷ 4 = 20000，存的是字地址。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6" name="Rectangle 6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1170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更正：原课件文字写“设循环的起始地址是 8000”，表中地址从 80000 开始，应为 80000。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8383" cy="909257"/>
            <a:chOff x="520446" y="342900"/>
            <a:chExt cx="8278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8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远程分支：16 位偏移够不着时，汇编器改写成 bne + j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922145"/>
            <a:chOff x="533400" y="1524000"/>
            <a:chExt cx="497776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9760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原指令：L1 太远，16 位偏移放不下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beq $s0, $s1, L1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汇编器改写为：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bne $s0, $s1, L2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条件取反，跳过 j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  L1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26 位地址，跳得远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L2: ...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636645"/>
            <a:ext cx="4977765" cy="1643062"/>
            <a:chOff x="533400" y="3636645"/>
            <a:chExt cx="4977765" cy="1643062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4977765" cy="1643062"/>
            </a:xfrm>
            <a:prstGeom prst="roundRect">
              <a:avLst>
                <a:gd name="adj" fmla="val 695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357688"/>
              <a:ext cx="200026" cy="200025"/>
              <a:chOff x="738188" y="4357688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3576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4021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5132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21481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改写后语义不变：相等时执行 j L1，不等时跳到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L2 继续往下走。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5815965" y="1524000"/>
            <a:ext cx="5842635" cy="2248852"/>
            <a:chOff x="5815965" y="1524000"/>
            <a:chExt cx="5842635" cy="2248852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91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608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地址来源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054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可达范围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23788" y="2221706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/ bne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8711" y="2221706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位有符号偏移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61310" y="2108359"/>
              <a:ext cx="22725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 前后各约 2¹⁵ 条指令（±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KB）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3788" y="2897029"/>
              <a:ext cx="483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/ jal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8711" y="289702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位地址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61310" y="2783681"/>
              <a:ext cx="24188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PC + 4 高 4 位相同的 2²⁶ 条指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令（256 MB）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3788" y="3459004"/>
              <a:ext cx="166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8711" y="3459004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位寄存器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61310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任意地址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9612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84872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5815965" y="3963352"/>
            <a:ext cx="5842635" cy="1316355"/>
            <a:chOff x="5815965" y="3963352"/>
            <a:chExt cx="5842635" cy="1316355"/>
          </a:xfrm>
        </p:grpSpPr>
        <p:sp>
          <p:nvSpPr>
            <p:cNvPr id="38" name="Rectangle 38"/>
            <p:cNvSpPr/>
            <p:nvPr/>
          </p:nvSpPr>
          <p:spPr>
            <a:xfrm>
              <a:off x="5815965" y="3963352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409670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63615" y="41729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3823" y="4208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55995" y="4550092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原课件记作“把短跳转（2¹⁶ 范围）变成长跳转（2²⁶ 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围）”，这里的单位是“条指令”，换算成字节还要乘 4。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1952" cy="909257"/>
            <a:chOff x="520446" y="342900"/>
            <a:chExt cx="3361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字符与寻址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361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的五种寻址方式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mode1"/>
          <p:cNvGrpSpPr/>
          <p:nvPr/>
        </p:nvGrpSpPr>
        <p:grpSpPr>
          <a:xfrm>
            <a:off x="533400" y="1524000"/>
            <a:ext cx="11125200" cy="920115"/>
            <a:chOff x="533400" y="1524000"/>
            <a:chExt cx="11125200" cy="9201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920115"/>
            </a:xfrm>
            <a:prstGeom prst="roundRect">
              <a:avLst>
                <a:gd name="adj" fmla="val 124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6640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 立即寻址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9516" y="1934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addi、andi、ori、slti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9516" y="2163128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 = 指令中的 16 位常数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28950" y="160020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40359" y="16740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29050" y="160020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73784" y="16740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95800" y="160020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40534" y="16740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62550" y="1600200"/>
              <a:ext cx="2133600" cy="285750"/>
            </a:xfrm>
            <a:prstGeom prst="rect">
              <a:avLst/>
            </a:pr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97473" y="16740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8235" y="17264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操作数就在指令里，不必访存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1963102"/>
              <a:ext cx="189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addi、slti：符号扩展到 32 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38616" y="2172652"/>
              <a:ext cx="1713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andi、ori：零扩展到 32 位</a:t>
              </a:r>
            </a:p>
          </p:txBody>
        </p:sp>
      </p:grpSp>
      <p:grpSp>
        <p:nvGrpSpPr>
          <p:cNvPr id="44" name="mode2"/>
          <p:cNvGrpSpPr/>
          <p:nvPr/>
        </p:nvGrpSpPr>
        <p:grpSpPr>
          <a:xfrm>
            <a:off x="533400" y="2491740"/>
            <a:ext cx="11125200" cy="920115"/>
            <a:chOff x="533400" y="2491740"/>
            <a:chExt cx="11125200" cy="920115"/>
          </a:xfrm>
        </p:grpSpPr>
        <p:sp>
          <p:nvSpPr>
            <p:cNvPr id="23" name="Rectangle 23"/>
            <p:cNvSpPr/>
            <p:nvPr/>
          </p:nvSpPr>
          <p:spPr>
            <a:xfrm>
              <a:off x="533400" y="2491740"/>
              <a:ext cx="11125200" cy="920115"/>
            </a:xfrm>
            <a:prstGeom prst="roundRect">
              <a:avLst>
                <a:gd name="adj" fmla="val 124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992" y="263175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 寄存器寻址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9516" y="290226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add、sub、slt、jr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9516" y="313086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 = 寄存器中的值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28950" y="256794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40359" y="26417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29050" y="256794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73784" y="26417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95800" y="256794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40534" y="26417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2550" y="256794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7284" y="26417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29300" y="256794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34568" y="2641759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shamt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256794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83070" y="264175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38997" y="26627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寄存器组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43950" y="2844165"/>
              <a:ext cx="2914650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69398" y="29370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4162425" y="2853690"/>
              <a:ext cx="4562475" cy="152400"/>
            </a:xfrm>
            <a:custGeom>
              <a:avLst/>
              <a:gdLst/>
              <a:ahLst/>
              <a:cxnLst/>
              <a:rect l="l" t="t" r="r" b="b"/>
              <a:pathLst>
                <a:path w="4562475" h="152400">
                  <a:moveTo>
                    <a:pt x="0" y="0"/>
                  </a:moveTo>
                  <a:lnTo>
                    <a:pt x="0" y="152400"/>
                  </a:lnTo>
                  <a:lnTo>
                    <a:pt x="4562475" y="15240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8648700" y="29584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</p:grpSp>
      <p:grpSp>
        <p:nvGrpSpPr>
          <p:cNvPr id="72" name="mode3"/>
          <p:cNvGrpSpPr/>
          <p:nvPr/>
        </p:nvGrpSpPr>
        <p:grpSpPr>
          <a:xfrm>
            <a:off x="533400" y="3459480"/>
            <a:ext cx="11125200" cy="920115"/>
            <a:chOff x="533400" y="3459480"/>
            <a:chExt cx="11125200" cy="920115"/>
          </a:xfrm>
        </p:grpSpPr>
        <p:sp>
          <p:nvSpPr>
            <p:cNvPr id="45" name="Rectangle 45"/>
            <p:cNvSpPr/>
            <p:nvPr/>
          </p:nvSpPr>
          <p:spPr>
            <a:xfrm>
              <a:off x="533400" y="3459480"/>
              <a:ext cx="11125200" cy="920115"/>
            </a:xfrm>
            <a:prstGeom prst="roundRect">
              <a:avLst>
                <a:gd name="adj" fmla="val 124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7992" y="359949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3 基址寻址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9516" y="3870008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lw、sw、lb、sb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9516" y="4098608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= 寄存器 + 16 位偏移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28950" y="353568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40359" y="36094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29050" y="353568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73784" y="36094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495800" y="353568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0534" y="36094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2550" y="3535680"/>
              <a:ext cx="21336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97473" y="36094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偏移量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028950" y="4011930"/>
              <a:ext cx="23812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987698" y="40857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7296150" y="3678555"/>
              <a:ext cx="762000" cy="95250"/>
            </a:xfrm>
            <a:custGeom>
              <a:avLst/>
              <a:gdLst/>
              <a:ahLst/>
              <a:cxnLst/>
              <a:rect l="l" t="t" r="r" b="b"/>
              <a:pathLst>
                <a:path w="762000" h="95250">
                  <a:moveTo>
                    <a:pt x="0" y="0"/>
                  </a:moveTo>
                  <a:lnTo>
                    <a:pt x="762000" y="0"/>
                  </a:lnTo>
                  <a:lnTo>
                    <a:pt x="762000" y="9525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410200" y="4059555"/>
              <a:ext cx="2647950" cy="95250"/>
            </a:xfrm>
            <a:custGeom>
              <a:avLst/>
              <a:gdLst/>
              <a:ahLst/>
              <a:cxnLst/>
              <a:rect l="l" t="t" r="r" b="b"/>
              <a:pathLst>
                <a:path w="2647950" h="95250">
                  <a:moveTo>
                    <a:pt x="0" y="95250"/>
                  </a:moveTo>
                  <a:lnTo>
                    <a:pt x="2647950" y="95250"/>
                  </a:lnTo>
                  <a:lnTo>
                    <a:pt x="2647950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915275" y="37738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293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998815" y="382809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8201025" y="391668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8648700" y="3869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38997" y="35733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743950" y="3754755"/>
              <a:ext cx="728662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51316" y="38476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72612" y="3754755"/>
              <a:ext cx="728662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80931" y="38476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半字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201275" y="3754755"/>
              <a:ext cx="1457325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848835" y="38476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</p:grpSp>
      <p:grpSp>
        <p:nvGrpSpPr>
          <p:cNvPr id="97" name="mode4"/>
          <p:cNvGrpSpPr/>
          <p:nvPr/>
        </p:nvGrpSpPr>
        <p:grpSpPr>
          <a:xfrm>
            <a:off x="533400" y="4427220"/>
            <a:ext cx="11125200" cy="920115"/>
            <a:chOff x="533400" y="4427220"/>
            <a:chExt cx="11125200" cy="920115"/>
          </a:xfrm>
        </p:grpSpPr>
        <p:sp>
          <p:nvSpPr>
            <p:cNvPr id="73" name="Rectangle 73"/>
            <p:cNvSpPr/>
            <p:nvPr/>
          </p:nvSpPr>
          <p:spPr>
            <a:xfrm>
              <a:off x="533400" y="4427220"/>
              <a:ext cx="11125200" cy="920115"/>
            </a:xfrm>
            <a:prstGeom prst="roundRect">
              <a:avLst>
                <a:gd name="adj" fmla="val 124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7992" y="4567238"/>
              <a:ext cx="1194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4 PC 相对寻址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9516" y="483774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beq、bne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9516" y="5066348"/>
              <a:ext cx="1578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 = PC + 4 + 偏移 × 4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028950" y="450342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340359" y="45772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829050" y="450342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073784" y="45772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495800" y="4503420"/>
              <a:ext cx="6667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740534" y="45772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162550" y="4503420"/>
              <a:ext cx="21336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997473" y="4577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偏移量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028950" y="4979670"/>
              <a:ext cx="23812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990828" y="5053489"/>
              <a:ext cx="45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</a:t>
              </a:r>
            </a:p>
          </p:txBody>
        </p:sp>
        <p:sp>
          <p:nvSpPr>
            <p:cNvPr id="87" name="Freeform 87"/>
            <p:cNvSpPr/>
            <p:nvPr/>
          </p:nvSpPr>
          <p:spPr>
            <a:xfrm>
              <a:off x="7296150" y="4646295"/>
              <a:ext cx="762000" cy="95250"/>
            </a:xfrm>
            <a:custGeom>
              <a:avLst/>
              <a:gdLst/>
              <a:ahLst/>
              <a:cxnLst/>
              <a:rect l="l" t="t" r="r" b="b"/>
              <a:pathLst>
                <a:path w="762000" h="95250">
                  <a:moveTo>
                    <a:pt x="0" y="0"/>
                  </a:moveTo>
                  <a:lnTo>
                    <a:pt x="762000" y="0"/>
                  </a:lnTo>
                  <a:lnTo>
                    <a:pt x="762000" y="9525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575230" y="4493419"/>
              <a:ext cx="203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× 4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5410200" y="5027295"/>
              <a:ext cx="2647950" cy="95250"/>
            </a:xfrm>
            <a:custGeom>
              <a:avLst/>
              <a:gdLst/>
              <a:ahLst/>
              <a:cxnLst/>
              <a:rect l="l" t="t" r="r" b="b"/>
              <a:pathLst>
                <a:path w="2647950" h="95250">
                  <a:moveTo>
                    <a:pt x="0" y="95250"/>
                  </a:moveTo>
                  <a:lnTo>
                    <a:pt x="2647950" y="95250"/>
                  </a:lnTo>
                  <a:lnTo>
                    <a:pt x="2647950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7915275" y="474154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2937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998815" y="479583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8201025" y="488442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93" name="Polygon 93"/>
            <p:cNvSpPr/>
            <p:nvPr/>
          </p:nvSpPr>
          <p:spPr>
            <a:xfrm>
              <a:off x="8648700" y="48367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738997" y="45410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743950" y="4722495"/>
              <a:ext cx="2914650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667850" y="48153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目标指令（字）</a:t>
              </a:r>
            </a:p>
          </p:txBody>
        </p:sp>
      </p:grpSp>
      <p:grpSp>
        <p:nvGrpSpPr>
          <p:cNvPr id="118" name="mode5"/>
          <p:cNvGrpSpPr/>
          <p:nvPr/>
        </p:nvGrpSpPr>
        <p:grpSpPr>
          <a:xfrm>
            <a:off x="533400" y="5394960"/>
            <a:ext cx="11125200" cy="920115"/>
            <a:chOff x="533400" y="5394960"/>
            <a:chExt cx="11125200" cy="920115"/>
          </a:xfrm>
        </p:grpSpPr>
        <p:sp>
          <p:nvSpPr>
            <p:cNvPr id="98" name="Rectangle 98"/>
            <p:cNvSpPr/>
            <p:nvPr/>
          </p:nvSpPr>
          <p:spPr>
            <a:xfrm>
              <a:off x="533400" y="5394960"/>
              <a:ext cx="11125200" cy="920115"/>
            </a:xfrm>
            <a:prstGeom prst="roundRect">
              <a:avLst>
                <a:gd name="adj" fmla="val 124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97992" y="553497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5 伪直接寻址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99516" y="5805488"/>
              <a:ext cx="35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j、jal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99516" y="6034088"/>
              <a:ext cx="1805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 = PC 高 4 位 : 地址 × 4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028950" y="5471160"/>
              <a:ext cx="800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340359" y="55449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3829050" y="5471160"/>
              <a:ext cx="346710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406111" y="55449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3028950" y="5947410"/>
              <a:ext cx="2381250" cy="285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5B6475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662609" y="6021229"/>
              <a:ext cx="1113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PC（取高 4 位）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7296150" y="5614035"/>
              <a:ext cx="762000" cy="95250"/>
            </a:xfrm>
            <a:custGeom>
              <a:avLst/>
              <a:gdLst/>
              <a:ahLst/>
              <a:cxnLst/>
              <a:rect l="l" t="t" r="r" b="b"/>
              <a:pathLst>
                <a:path w="762000" h="95250">
                  <a:moveTo>
                    <a:pt x="0" y="0"/>
                  </a:moveTo>
                  <a:lnTo>
                    <a:pt x="762000" y="0"/>
                  </a:lnTo>
                  <a:lnTo>
                    <a:pt x="762000" y="9525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575230" y="5461159"/>
              <a:ext cx="203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× 4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5410200" y="5995035"/>
              <a:ext cx="2647950" cy="95250"/>
            </a:xfrm>
            <a:custGeom>
              <a:avLst/>
              <a:gdLst/>
              <a:ahLst/>
              <a:cxnLst/>
              <a:rect l="l" t="t" r="r" b="b"/>
              <a:pathLst>
                <a:path w="2647950" h="95250">
                  <a:moveTo>
                    <a:pt x="0" y="95250"/>
                  </a:moveTo>
                  <a:lnTo>
                    <a:pt x="2647950" y="95250"/>
                  </a:lnTo>
                  <a:lnTo>
                    <a:pt x="2647950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111" name="Ellipse 111"/>
            <p:cNvSpPr/>
            <p:nvPr/>
          </p:nvSpPr>
          <p:spPr>
            <a:xfrm>
              <a:off x="7915275" y="57092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2937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998815" y="576357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</a:t>
              </a:r>
            </a:p>
          </p:txBody>
        </p:sp>
        <p:sp>
          <p:nvSpPr>
            <p:cNvPr id="113" name="Line 113"/>
            <p:cNvSpPr/>
            <p:nvPr/>
          </p:nvSpPr>
          <p:spPr>
            <a:xfrm>
              <a:off x="8201025" y="585216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114" name="Polygon 114"/>
            <p:cNvSpPr/>
            <p:nvPr/>
          </p:nvSpPr>
          <p:spPr>
            <a:xfrm>
              <a:off x="8648700" y="58045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8738997" y="55087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8743950" y="5690235"/>
              <a:ext cx="2914650" cy="323850"/>
            </a:xfrm>
            <a:prstGeom prst="rect">
              <a:avLst/>
            </a:prstGeom>
            <a:solidFill>
              <a:srgbClr val="FDEEE7"/>
            </a:solidFill>
            <a:ln w="14288">
              <a:solidFill>
                <a:srgbClr val="F26B3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667850" y="57831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目标指令（字）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45606" cy="3351847"/>
            <a:chOff x="667512" y="1835468"/>
            <a:chExt cx="644560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同步、翻译与综合示例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35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共享存储器时怎样保证原子性；C 程序怎样一步步变成运行的进程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2.11 数据竞争与 ll/sc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2.12 编译、汇编、链接、加载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36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动态链接与 Java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2.13–2.14 swap、数组与指针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8245" cy="909257"/>
            <a:chOff x="520446" y="342900"/>
            <a:chExt cx="67782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82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2.11 并行与同步：用 ll 和 sc 实现原子读写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3165158"/>
            <a:chOff x="533400" y="1524000"/>
            <a:chExt cx="5410200" cy="31651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65158"/>
            </a:xfrm>
            <a:prstGeom prst="roundRect">
              <a:avLst>
                <a:gd name="adj" fmla="val 42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984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数据竞争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多个任务共享存储器的同一区域，例如任务 1 写、任务 2 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它写的结果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两者不同步就会发生数据竞争：结果取决于访问次序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需要硬件提供同步手段，例如用 lock、unlock 控制互斥区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58190" y="3190875"/>
              <a:ext cx="499872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587" y="334279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587" y="3602831"/>
              <a:ext cx="2138172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多核处理器上两个任务访问同一单元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任务1:  sw $t0, 0($s0)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任务2:  lw $t1, 0($s0)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475" y="4326731"/>
              <a:ext cx="5047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不同步时无法判断 $t1 读到的是 $t0 的新值，还是 0($s0) 单元原来的值。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858702"/>
            <a:ext cx="5410200" cy="1185862"/>
            <a:chOff x="533400" y="4858702"/>
            <a:chExt cx="5410200" cy="1185862"/>
          </a:xfrm>
        </p:grpSpPr>
        <p:sp>
          <p:nvSpPr>
            <p:cNvPr id="22" name="Rectangle 22"/>
            <p:cNvSpPr/>
            <p:nvPr/>
          </p:nvSpPr>
          <p:spPr>
            <a:xfrm>
              <a:off x="533400" y="485870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0090" y="504539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659" y="50782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原子读写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232" y="539019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读和写之间不允许其他操作访问该单元。可以是单条指令（如寄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存器与主存原子交换），也可以是一对指令。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8400" y="1524000"/>
            <a:ext cx="5410200" cy="1400175"/>
            <a:chOff x="6248400" y="1524000"/>
            <a:chExt cx="5410200" cy="140017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034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085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5555" y="2045494"/>
              <a:ext cx="1333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 rt, offset(rs)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68615" y="2045494"/>
              <a:ext cx="3336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链接取数（load linked）：取数，并记下这个单元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32410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5555" y="2545556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 rt, offset(rs)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8615" y="2445544"/>
              <a:ext cx="33611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条件存数（store conditional）：自 ll 以来该单元没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被改写则存入，rt 置 1；否则失败，rt 置 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400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66698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2"/>
          <p:cNvGrpSpPr/>
          <p:nvPr/>
        </p:nvGrpSpPr>
        <p:grpSpPr>
          <a:xfrm>
            <a:off x="6248400" y="3093720"/>
            <a:ext cx="5410200" cy="2950845"/>
            <a:chOff x="6248400" y="3093720"/>
            <a:chExt cx="5410200" cy="2950845"/>
          </a:xfrm>
        </p:grpSpPr>
        <p:sp>
          <p:nvSpPr>
            <p:cNvPr id="39" name="Rectangle 39"/>
            <p:cNvSpPr/>
            <p:nvPr/>
          </p:nvSpPr>
          <p:spPr>
            <a:xfrm>
              <a:off x="6248400" y="3093720"/>
              <a:ext cx="5410200" cy="2950845"/>
            </a:xfrm>
            <a:prstGeom prst="roundRect">
              <a:avLst>
                <a:gd name="adj" fmla="val 45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227070"/>
              <a:ext cx="47625" cy="26841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3190" y="328041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8961" y="331327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4960" y="3315652"/>
              <a:ext cx="2038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原子交换 $s4 与 0($s1)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73190" y="3619500"/>
              <a:ext cx="499872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01587" y="37714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01587" y="4032409"/>
              <a:ext cx="2797810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try: add $t0, $zero, $s4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复制要写入的值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ll  $t1, 0($s1)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链接取数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sc  $t0, 0($s1)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条件存数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beq $t0, $zero, try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失败则重试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add $s4, $zero, $t1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旧值放入 $s4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7475" y="5106829"/>
              <a:ext cx="47480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可用于测试并设置锁变量。原课件代码用分号写注释，MIPS 汇编注释应以 #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开头；2.11 节原为隐藏页。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4053" cy="909257"/>
            <a:chOff x="520446" y="342900"/>
            <a:chExt cx="75440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40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2.12 从 C 程序到运行：编译、汇编、链接、加载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flow-1"/>
          <p:cNvGrpSpPr/>
          <p:nvPr/>
        </p:nvGrpSpPr>
        <p:grpSpPr>
          <a:xfrm>
            <a:off x="689610" y="1605915"/>
            <a:ext cx="10813732" cy="2217419"/>
            <a:chOff x="689610" y="1605915"/>
            <a:chExt cx="10813732" cy="2217419"/>
          </a:xfrm>
        </p:grpSpPr>
        <p:sp>
          <p:nvSpPr>
            <p:cNvPr id="7" name="Freeform 7"/>
            <p:cNvSpPr/>
            <p:nvPr/>
          </p:nvSpPr>
          <p:spPr>
            <a:xfrm>
              <a:off x="2602230" y="192119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192119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192119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192119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546080" y="2235518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493692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277350" y="271462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484995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546080" y="2933700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493692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382125" y="350805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277350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157085" y="350805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052310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89610" y="1702118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14650" y="1702118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139690" y="1702118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64730" y="1702118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589770" y="1605915"/>
              <a:ext cx="1912620" cy="629602"/>
            </a:xfrm>
            <a:custGeom>
              <a:avLst/>
              <a:gdLst/>
              <a:ahLst/>
              <a:cxnLst/>
              <a:rect l="l" t="t" r="r" b="b"/>
              <a:pathLst>
                <a:path w="1912620" h="629602">
                  <a:moveTo>
                    <a:pt x="133350" y="0"/>
                  </a:moveTo>
                  <a:lnTo>
                    <a:pt x="1912620" y="0"/>
                  </a:lnTo>
                  <a:lnTo>
                    <a:pt x="1779270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139690" y="2400300"/>
              <a:ext cx="1913572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364730" y="2495550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589770" y="2495550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589770" y="3193732"/>
              <a:ext cx="1912620" cy="629602"/>
            </a:xfrm>
            <a:custGeom>
              <a:avLst/>
              <a:gdLst/>
              <a:ahLst/>
              <a:cxnLst/>
              <a:rect l="l" t="t" r="r" b="b"/>
              <a:pathLst>
                <a:path w="1912620" h="629602">
                  <a:moveTo>
                    <a:pt x="133350" y="0"/>
                  </a:moveTo>
                  <a:lnTo>
                    <a:pt x="1912620" y="0"/>
                  </a:lnTo>
                  <a:lnTo>
                    <a:pt x="1779270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64730" y="3288982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39690" y="3288982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89751" y="1832134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程序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06013" y="18321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2582" y="18321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汇编语言程序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56093" y="18321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89363" y="172259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目标模块（机器语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58003" y="2516029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许多编译器直接产生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目标模块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9152" y="26255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库例程（机器语言）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1133" y="26255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08083" y="3310414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可执行文件（机器语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56093" y="34189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1053" y="34189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</p:grpSp>
      <p:grpSp>
        <p:nvGrpSpPr>
          <p:cNvPr id="72" name="c1-table-2"/>
          <p:cNvGrpSpPr/>
          <p:nvPr/>
        </p:nvGrpSpPr>
        <p:grpSpPr>
          <a:xfrm>
            <a:off x="533400" y="4095750"/>
            <a:ext cx="11125200" cy="2244090"/>
            <a:chOff x="533400" y="4095750"/>
            <a:chExt cx="11125200" cy="2244090"/>
          </a:xfrm>
        </p:grpSpPr>
        <p:sp>
          <p:nvSpPr>
            <p:cNvPr id="48" name="Rectangle 48"/>
            <p:cNvSpPr/>
            <p:nvPr/>
          </p:nvSpPr>
          <p:spPr>
            <a:xfrm>
              <a:off x="533400" y="409575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44244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25544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98509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1223" y="46801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21446" y="46801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高级语言程序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03823" y="468010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汇编语言程序（或直接产生目标模块）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9882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49930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1223" y="51287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421446" y="51287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汇编语言程序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03823" y="51287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目标模块：机器指令、数据和链接所需的信息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4378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1223" y="55773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21446" y="55773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若干目标模块和库例程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03823" y="55773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可执行文件（静态链接：运行前全部合并）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886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8912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1223" y="60259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421446" y="60259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磁盘上的可执行文件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3823" y="60259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装入内存并开始运行的程序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09575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308860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91238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汇编伪指令由汇编器展开；目标文件由六部分组成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443038"/>
            <a:chOff x="533400" y="1524000"/>
            <a:chExt cx="5193982" cy="1443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伪指令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大多数汇编指令与机器指令一一对应。伪指令是汇编语言里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的“变种”，没有对应的机器指令，由汇编器翻译成一条或几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条真实指令。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136582"/>
            <a:ext cx="5193982" cy="1561148"/>
            <a:chOff x="533400" y="3136582"/>
            <a:chExt cx="5193982" cy="1561148"/>
          </a:xfrm>
        </p:grpSpPr>
        <p:sp>
          <p:nvSpPr>
            <p:cNvPr id="13" name="Rectangle 13"/>
            <p:cNvSpPr/>
            <p:nvPr/>
          </p:nvSpPr>
          <p:spPr>
            <a:xfrm>
              <a:off x="533400" y="3136582"/>
              <a:ext cx="5193982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28850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797" y="3549491"/>
              <a:ext cx="1752346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move $t0, $t1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伪指令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$t0, $zero, $t1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blt  $t0, $t1, L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伪指令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slt  $at, $t0, $t1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bne  $at, $zero, L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868228"/>
            <a:ext cx="5193982" cy="1338262"/>
            <a:chOff x="533400" y="4868228"/>
            <a:chExt cx="5193982" cy="1338262"/>
          </a:xfrm>
        </p:grpSpPr>
        <p:sp>
          <p:nvSpPr>
            <p:cNvPr id="17" name="Rectangle 17"/>
            <p:cNvSpPr/>
            <p:nvPr/>
          </p:nvSpPr>
          <p:spPr>
            <a:xfrm>
              <a:off x="533400" y="4868228"/>
              <a:ext cx="5193982" cy="1338262"/>
            </a:xfrm>
            <a:prstGeom prst="roundRect">
              <a:avLst>
                <a:gd name="adj" fmla="val 854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5433178"/>
              <a:ext cx="224134" cy="192560"/>
              <a:chOff x="726129" y="5433178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55035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54331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581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317808"/>
              <a:ext cx="42142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$at（1 号寄存器）留给汇编器展开伪指令时使用，自己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写汇编时不要占用。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027230" y="1524000"/>
            <a:ext cx="5631370" cy="3063906"/>
            <a:chOff x="6027230" y="1524000"/>
            <a:chExt cx="5631370" cy="3063906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672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目标文件的组成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323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9338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目标文件头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7167" y="204549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描述目标文件其他部分的大小和位置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9338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17167" y="24455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翻译后的指令，即机器语言代码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9338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静态数据段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17167" y="28455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在程序整个生命周期内分配的数据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2182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9338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重定位信息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7167" y="324564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标出程序装入内存时依赖绝对地址的指令和数据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5194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9338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17167" y="36456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全局定义和外部引用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919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39243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9338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调试信息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17167" y="40457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与源文件的对应关系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1525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27230" y="4397216"/>
              <a:ext cx="4627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汇编器（或编译器）生成目标文件，其中含有把各部分拼成完整程序所需的信息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032182" y="4719638"/>
            <a:ext cx="5626418" cy="1485900"/>
            <a:chOff x="6032182" y="4719638"/>
            <a:chExt cx="5626418" cy="1485900"/>
          </a:xfrm>
        </p:grpSpPr>
        <p:sp>
          <p:nvSpPr>
            <p:cNvPr id="51" name="Rectangle 51"/>
            <p:cNvSpPr/>
            <p:nvPr/>
          </p:nvSpPr>
          <p:spPr>
            <a:xfrm>
              <a:off x="6032182" y="4719638"/>
              <a:ext cx="5626418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1708" y="4852988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6972" y="490632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26289" y="49391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汇编器要扫描两遍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65545" y="5307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21564" y="5251133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第一遍扫描建立符号表，定下每个标签的地址；第二遍逐条生成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机器码并填入地址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65545" y="58645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21564" y="5808345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引用外部符号（如 jal printf）此时填 0，记入重定位信息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链接器合并模块、修补引用；加载器把程序装入内存并启动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591077" cy="1685449"/>
            <a:chOff x="533400" y="1533525"/>
            <a:chExt cx="3591077" cy="168544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把各模块的代码段、数据段按符号放入内存映像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601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决定数据和指令标签的地址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修补引用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99894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修正内部引用和外部引用，产生可执行映像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82328"/>
            <a:ext cx="5193982" cy="1185862"/>
            <a:chOff x="533400" y="3382328"/>
            <a:chExt cx="5193982" cy="1185862"/>
          </a:xfrm>
        </p:grpSpPr>
        <p:sp>
          <p:nvSpPr>
            <p:cNvPr id="21" name="Rectangle 21"/>
            <p:cNvSpPr/>
            <p:nvPr/>
          </p:nvSpPr>
          <p:spPr>
            <a:xfrm>
              <a:off x="533400" y="338232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51567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356901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6811" y="36018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重定位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391382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位置相关的部分可以留给重定位装入程序修正；有虚拟内存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时不必这样做，程序可以直接装入虚拟空间中的绝对位置。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737735"/>
            <a:ext cx="5193982" cy="1371600"/>
            <a:chOff x="533400" y="4737735"/>
            <a:chExt cx="5193982" cy="1371600"/>
          </a:xfrm>
        </p:grpSpPr>
        <p:sp>
          <p:nvSpPr>
            <p:cNvPr id="27" name="Rectangle 27"/>
            <p:cNvSpPr/>
            <p:nvPr/>
          </p:nvSpPr>
          <p:spPr>
            <a:xfrm>
              <a:off x="533400" y="4737735"/>
              <a:ext cx="5193982" cy="137160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71085"/>
              <a:ext cx="47625" cy="1104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9244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9572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26923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原课件写作“程序必须以绝对地址装入”，原意是有虚拟内存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时程序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装入绝对位置。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032182" y="1533525"/>
            <a:ext cx="5015895" cy="3434239"/>
            <a:chOff x="6032182" y="1533525"/>
            <a:chExt cx="5015895" cy="3434239"/>
          </a:xfrm>
        </p:grpSpPr>
        <p:sp>
          <p:nvSpPr>
            <p:cNvPr id="33" name="Rectangle 33"/>
            <p:cNvSpPr/>
            <p:nvPr/>
          </p:nvSpPr>
          <p:spPr>
            <a:xfrm>
              <a:off x="6165532" y="1676400"/>
              <a:ext cx="19050" cy="2914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32182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580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32182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32823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32182" y="38652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44481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5806" y="4521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读文件头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5567" y="183308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确定正文段和数据段的大小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424" y="21478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建地址空间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5567" y="241601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为正文和数据建立足够大的地址空间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4424" y="2730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5567" y="299894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把指令和初始数据拷贝到内存，或设置页表项使它们可用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4424" y="33137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准备参数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5567" y="358187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把主程序的参数复制到栈顶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4424" y="389667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初始化寄存器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5567" y="4164806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包括 $sp、$fp、$gp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4424" y="44796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跳到启动例程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5567" y="4747736"/>
              <a:ext cx="4602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把参数复制到寄存器并调用 main；main 返回后用系统调用 exit 结束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032182" y="5131118"/>
            <a:ext cx="5626418" cy="978218"/>
            <a:chOff x="6032182" y="5131118"/>
            <a:chExt cx="5626418" cy="978218"/>
          </a:xfrm>
        </p:grpSpPr>
        <p:sp>
          <p:nvSpPr>
            <p:cNvPr id="59" name="Rectangle 59"/>
            <p:cNvSpPr/>
            <p:nvPr/>
          </p:nvSpPr>
          <p:spPr>
            <a:xfrm>
              <a:off x="6032182" y="5131118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236970" y="5520690"/>
              <a:ext cx="200026" cy="200025"/>
              <a:chOff x="6236970" y="552069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236970" y="5520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276709" y="5565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311424" y="5676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539674" y="5277802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修补一条 jal：目标文件里 jal sub 的地址字段是 0，重定位信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息标明它引用外部符号；链接器定出 sub 的地址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0x00400180，填入它除以 4 的低 26 位 0x100060。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78516" cy="909257"/>
            <a:chOff x="520446" y="342900"/>
            <a:chExt cx="91785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785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动态链接用到才装入；Java 先解释字节码，热点再即时编译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01165"/>
            <a:chOff x="533400" y="1524000"/>
            <a:chExt cx="5410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5161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428" y="1769269"/>
              <a:ext cx="1342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动态链接库（DLL）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过程被调用时才链接、装入，要求库代码可重定位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不像静态链接那样把所有引用到的库都装进映像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自动使用库的新版本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425190"/>
            <a:ext cx="5078044" cy="1878615"/>
            <a:chOff x="533400" y="3425190"/>
            <a:chExt cx="5078044" cy="1878615"/>
          </a:xfrm>
        </p:grpSpPr>
        <p:sp>
          <p:nvSpPr>
            <p:cNvPr id="18" name="Rectangle 18"/>
            <p:cNvSpPr/>
            <p:nvPr/>
          </p:nvSpPr>
          <p:spPr>
            <a:xfrm>
              <a:off x="666750" y="35680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3400" y="3425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499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0757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149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7263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4800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4594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第一次调用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5332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经间接表跳到桩代码，桩代码装入例程编号，转到动态链接器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1100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40388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动态链接器映射例程，改写间接表中的地址，再跳到例程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7605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以后的调用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05444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经间接表直接到达例程（延迟过程链接）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482590"/>
            <a:ext cx="5410200" cy="782955"/>
            <a:chOff x="533400" y="5482590"/>
            <a:chExt cx="5410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4825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74055"/>
              <a:ext cx="200026" cy="200026"/>
              <a:chOff x="738188" y="577405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740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840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8740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631180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更正：原课件本页译文有误（如“库的信息一次性代入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内存”），这里按教材原意改写。</a:t>
              </a:r>
            </a:p>
          </p:txBody>
        </p:sp>
      </p:grpSp>
      <p:grpSp>
        <p:nvGrpSpPr>
          <p:cNvPr id="67" name="c2-flow-1"/>
          <p:cNvGrpSpPr/>
          <p:nvPr/>
        </p:nvGrpSpPr>
        <p:grpSpPr>
          <a:xfrm>
            <a:off x="6381750" y="1723072"/>
            <a:ext cx="5143500" cy="3874771"/>
            <a:chOff x="6381750" y="1723072"/>
            <a:chExt cx="5143500" cy="3874771"/>
          </a:xfrm>
        </p:grpSpPr>
        <p:sp>
          <p:nvSpPr>
            <p:cNvPr id="39" name="Freeform 39"/>
            <p:cNvSpPr/>
            <p:nvPr/>
          </p:nvSpPr>
          <p:spPr>
            <a:xfrm>
              <a:off x="8953500" y="2161222"/>
              <a:ext cx="9525" cy="292418"/>
            </a:xfrm>
            <a:custGeom>
              <a:avLst/>
              <a:gdLst/>
              <a:ahLst/>
              <a:cxnLst/>
              <a:rect l="l" t="t" r="r" b="b"/>
              <a:pathLst>
                <a:path w="9525" h="292418">
                  <a:moveTo>
                    <a:pt x="0" y="0"/>
                  </a:moveTo>
                  <a:lnTo>
                    <a:pt x="0" y="2924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1112" y="24536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299656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01112" y="31927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150418" y="3612832"/>
              <a:ext cx="1034415" cy="511492"/>
            </a:xfrm>
            <a:custGeom>
              <a:avLst/>
              <a:gdLst/>
              <a:ahLst/>
              <a:cxnLst/>
              <a:rect l="l" t="t" r="r" b="b"/>
              <a:pathLst>
                <a:path w="1034415" h="511492">
                  <a:moveTo>
                    <a:pt x="1034415" y="0"/>
                  </a:moveTo>
                  <a:lnTo>
                    <a:pt x="824865" y="0"/>
                  </a:lnTo>
                  <a:lnTo>
                    <a:pt x="0" y="0"/>
                  </a:lnTo>
                  <a:lnTo>
                    <a:pt x="0" y="406717"/>
                  </a:lnTo>
                  <a:lnTo>
                    <a:pt x="0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098030" y="4124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722168" y="3612832"/>
              <a:ext cx="1034415" cy="511492"/>
            </a:xfrm>
            <a:custGeom>
              <a:avLst/>
              <a:gdLst/>
              <a:ahLst/>
              <a:cxnLst/>
              <a:rect l="l" t="t" r="r" b="b"/>
              <a:pathLst>
                <a:path w="1034415" h="511492">
                  <a:moveTo>
                    <a:pt x="0" y="0"/>
                  </a:moveTo>
                  <a:lnTo>
                    <a:pt x="209550" y="0"/>
                  </a:lnTo>
                  <a:lnTo>
                    <a:pt x="1034415" y="0"/>
                  </a:lnTo>
                  <a:lnTo>
                    <a:pt x="1034415" y="406717"/>
                  </a:lnTo>
                  <a:lnTo>
                    <a:pt x="1034415" y="511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704195" y="4124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150418" y="4667250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098030" y="48634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918132" y="4448175"/>
              <a:ext cx="1965960" cy="835343"/>
            </a:xfrm>
            <a:custGeom>
              <a:avLst/>
              <a:gdLst/>
              <a:ahLst/>
              <a:cxnLst/>
              <a:rect l="l" t="t" r="r" b="b"/>
              <a:pathLst>
                <a:path w="1965960" h="835343">
                  <a:moveTo>
                    <a:pt x="0" y="835343"/>
                  </a:moveTo>
                  <a:lnTo>
                    <a:pt x="209550" y="835343"/>
                  </a:lnTo>
                  <a:lnTo>
                    <a:pt x="1861185" y="835343"/>
                  </a:lnTo>
                  <a:lnTo>
                    <a:pt x="1861185" y="0"/>
                  </a:ln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884092" y="43957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756582" y="477202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1962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704195" y="4667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184832" y="1723072"/>
              <a:ext cx="1537335" cy="438150"/>
            </a:xfrm>
            <a:custGeom>
              <a:avLst/>
              <a:gdLst/>
              <a:ahLst/>
              <a:cxnLst/>
              <a:rect l="l" t="t" r="r" b="b"/>
              <a:pathLst>
                <a:path w="1537335" h="438150">
                  <a:moveTo>
                    <a:pt x="133350" y="0"/>
                  </a:moveTo>
                  <a:lnTo>
                    <a:pt x="1537335" y="0"/>
                  </a:lnTo>
                  <a:lnTo>
                    <a:pt x="140398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84832" y="255841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184832" y="3297555"/>
              <a:ext cx="1537335" cy="629603"/>
            </a:xfrm>
            <a:custGeom>
              <a:avLst/>
              <a:gdLst/>
              <a:ahLst/>
              <a:cxnLst/>
              <a:rect l="l" t="t" r="r" b="b"/>
              <a:pathLst>
                <a:path w="1537335" h="629603">
                  <a:moveTo>
                    <a:pt x="133350" y="0"/>
                  </a:moveTo>
                  <a:lnTo>
                    <a:pt x="1537335" y="0"/>
                  </a:lnTo>
                  <a:lnTo>
                    <a:pt x="1403985" y="629603"/>
                  </a:lnTo>
                  <a:lnTo>
                    <a:pt x="0" y="629603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381750" y="4229100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88868" y="4229100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381750" y="4968240"/>
              <a:ext cx="1536382" cy="629603"/>
            </a:xfrm>
            <a:custGeom>
              <a:avLst/>
              <a:gdLst/>
              <a:ahLst/>
              <a:cxnLst/>
              <a:rect l="l" t="t" r="r" b="b"/>
              <a:pathLst>
                <a:path w="1536382" h="629603">
                  <a:moveTo>
                    <a:pt x="133350" y="0"/>
                  </a:moveTo>
                  <a:lnTo>
                    <a:pt x="1536382" y="0"/>
                  </a:lnTo>
                  <a:lnTo>
                    <a:pt x="1403032" y="629603"/>
                  </a:lnTo>
                  <a:lnTo>
                    <a:pt x="0" y="629603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988868" y="4968240"/>
              <a:ext cx="1536382" cy="629603"/>
            </a:xfrm>
            <a:custGeom>
              <a:avLst/>
              <a:gdLst/>
              <a:ahLst/>
              <a:cxnLst/>
              <a:rect l="l" t="t" r="r" b="b"/>
              <a:pathLst>
                <a:path w="1536382" h="629603">
                  <a:moveTo>
                    <a:pt x="133350" y="0"/>
                  </a:moveTo>
                  <a:lnTo>
                    <a:pt x="1536382" y="0"/>
                  </a:lnTo>
                  <a:lnTo>
                    <a:pt x="1403032" y="629603"/>
                  </a:lnTo>
                  <a:lnTo>
                    <a:pt x="0" y="629603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56269" y="1853089"/>
              <a:ext cx="794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程序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88553" y="2688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59343" y="3414236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类文件（字节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8399" y="4359116"/>
              <a:ext cx="1184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JIT 即时编译器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73195" y="4359116"/>
              <a:ext cx="9667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虚拟机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56261" y="508492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已编译的方法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（机器码）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62425" y="508492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库例程（机器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码）</a:t>
              </a:r>
            </a:p>
          </p:txBody>
        </p:sp>
      </p:grpSp>
      <p:grpSp>
        <p:nvGrpSpPr>
          <p:cNvPr id="69" name="c2-text-2"/>
          <p:cNvGrpSpPr/>
          <p:nvPr/>
        </p:nvGrpSpPr>
        <p:grpSpPr>
          <a:xfrm>
            <a:off x="6241923" y="5912644"/>
            <a:ext cx="5206746" cy="500824"/>
            <a:chOff x="6241923" y="5912644"/>
            <a:chExt cx="5206746" cy="500824"/>
          </a:xfrm>
        </p:grpSpPr>
        <p:sp>
          <p:nvSpPr>
            <p:cNvPr id="68" name="TextBox 68"/>
            <p:cNvSpPr txBox="1"/>
            <p:nvPr/>
          </p:nvSpPr>
          <p:spPr>
            <a:xfrm>
              <a:off x="6241923" y="5912644"/>
              <a:ext cx="520674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解释执行字节码，可移植但慢；JIT 把常用的“热”方法编译成本机机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器码后直接执行。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9881" cy="909257"/>
            <a:chOff x="520446" y="342900"/>
            <a:chExt cx="7639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9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2.13 综合示例：swap 过程交换 v[k] 与 v[k+1]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922145"/>
            <a:chOff x="533400" y="1524000"/>
            <a:chExt cx="476059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967230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swap(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temp;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temp = v[k];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v[k] = v[k+1];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v[k+1] = temp;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steps-2"/>
          <p:cNvGrpSpPr/>
          <p:nvPr/>
        </p:nvGrpSpPr>
        <p:grpSpPr>
          <a:xfrm>
            <a:off x="533400" y="3646170"/>
            <a:ext cx="3940774" cy="1878615"/>
            <a:chOff x="533400" y="3646170"/>
            <a:chExt cx="3940774" cy="1878615"/>
          </a:xfrm>
        </p:grpSpPr>
        <p:sp>
          <p:nvSpPr>
            <p:cNvPr id="11" name="Rectangle 11"/>
            <p:cNvSpPr/>
            <p:nvPr/>
          </p:nvSpPr>
          <p:spPr>
            <a:xfrm>
              <a:off x="666750" y="378904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36461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719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2967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9472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5021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6804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分配寄存器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974306"/>
              <a:ext cx="26407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在 $a0，k 在 $a1，temp 在 $t0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433101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为过程体生成汇编代码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6248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先算出 v[k] 的地址，再取数、存数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981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保存寄存器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5275421"/>
              <a:ext cx="352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swap 是叶过程，只用 $t 寄存器，不需要保存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5598795" y="1524000"/>
            <a:ext cx="6059805" cy="1922145"/>
            <a:chOff x="5598795" y="1524000"/>
            <a:chExt cx="6059805" cy="1922145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27192" y="16759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26430" y="1937861"/>
              <a:ext cx="341096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swap: sll $t1, $a1, 2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k *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 $t1, $a0, $t1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$t1 = v[k] 的地址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lw  $t0, 0($t1)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temp = v[k]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lw  $t2, 4($t1)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$t2 = v[k+1]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sw  $t2, 0($t1)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v[k] = $t2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sw  $t0, 4($t1)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v[k+1] = temp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jr  $ra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返回调用者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5598795" y="3636645"/>
            <a:ext cx="6059805" cy="782955"/>
            <a:chOff x="5598795" y="3636645"/>
            <a:chExt cx="6059805" cy="782955"/>
          </a:xfrm>
        </p:grpSpPr>
        <p:sp>
          <p:nvSpPr>
            <p:cNvPr id="29" name="Rectangle 29"/>
            <p:cNvSpPr/>
            <p:nvPr/>
          </p:nvSpPr>
          <p:spPr>
            <a:xfrm>
              <a:off x="5598795" y="363664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791524" y="3924418"/>
              <a:ext cx="224134" cy="192560"/>
              <a:chOff x="5791524" y="392441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903595" y="39947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791524" y="39244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03595" y="4072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105525" y="3785235"/>
              <a:ext cx="4625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代码中 v[k+1] 按元素计数，MIPS 按字节编址，所以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v[k+1] 在 v[k] 之后 4 个字节，偏移写 4。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5598795" y="4610100"/>
            <a:ext cx="6059805" cy="902970"/>
            <a:chOff x="5598795" y="4610100"/>
            <a:chExt cx="6059805" cy="902970"/>
          </a:xfrm>
        </p:grpSpPr>
        <p:sp>
          <p:nvSpPr>
            <p:cNvPr id="36" name="Rectangle 36"/>
            <p:cNvSpPr/>
            <p:nvPr/>
          </p:nvSpPr>
          <p:spPr>
            <a:xfrm>
              <a:off x="5598795" y="4610100"/>
              <a:ext cx="6059805" cy="902970"/>
            </a:xfrm>
            <a:prstGeom prst="roundRect">
              <a:avLst>
                <a:gd name="adj" fmla="val 1265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803583" y="4961573"/>
              <a:ext cx="200026" cy="200026"/>
              <a:chOff x="5803583" y="496157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03583" y="49615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903595" y="5028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892483" y="50615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105525" y="4818698"/>
              <a:ext cx="5006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原课件的排序例子只给出了 swap；调用它的冒泡排序 sort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过程见教材 2.13 节。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9508" cy="909257"/>
            <a:chOff x="520446" y="342900"/>
            <a:chExt cx="75695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95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2.14 清零数组：下标版 clear1 与指针版 clear2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719262"/>
            <a:chOff x="533400" y="1524000"/>
            <a:chExt cx="5410200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下标版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59308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clear1(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size; i += 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array[i]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433762"/>
            <a:ext cx="5410200" cy="1922145"/>
            <a:chOff x="533400" y="3433762"/>
            <a:chExt cx="5410200" cy="1922145"/>
          </a:xfrm>
        </p:grpSpPr>
        <p:sp>
          <p:nvSpPr>
            <p:cNvPr id="11" name="Rectangle 11"/>
            <p:cNvSpPr/>
            <p:nvPr/>
          </p:nvSpPr>
          <p:spPr>
            <a:xfrm>
              <a:off x="533400" y="3433762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8568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" y="400812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4211002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035" y="3848576"/>
              <a:ext cx="3531870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move $t0, $zero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loop1: sll  $t1, $t0, 2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i *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add  $t2, $a0, $t1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$t2 = &amp;array[i]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sw   $zero, 0($t2)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array[i] =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addi $t0, $t0, 1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i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slt  $t3, $t0, $a1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$t3 = (i &lt; size)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bne  $t3, $zero, loop1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1922145"/>
            <a:chOff x="6248400" y="1524000"/>
            <a:chExt cx="5410200" cy="192214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035" y="1937861"/>
              <a:ext cx="32189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clear2(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*array,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 &amp;array[0]; p &lt; &amp;array[size];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p = p + 1)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*p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ode-2"/>
          <p:cNvGrpSpPr/>
          <p:nvPr/>
        </p:nvGrpSpPr>
        <p:grpSpPr>
          <a:xfrm>
            <a:off x="6248400" y="3636645"/>
            <a:ext cx="5410200" cy="1922145"/>
            <a:chOff x="6248400" y="3636645"/>
            <a:chExt cx="5410200" cy="1922145"/>
          </a:xfrm>
        </p:grpSpPr>
        <p:sp>
          <p:nvSpPr>
            <p:cNvPr id="21" name="Rectangle 21"/>
            <p:cNvSpPr/>
            <p:nvPr/>
          </p:nvSpPr>
          <p:spPr>
            <a:xfrm>
              <a:off x="6248400" y="3636645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3788569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67450" y="4211002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67450" y="441388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35" y="4050506"/>
              <a:ext cx="415772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move $t0, $a0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p = &amp;array[0]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sll  $t1, $a1, 2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$t1 = size *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add  $t2, $a0, $t1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$t2 = &amp;array[size]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loop2: sw   $zero, 0($t0)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Memory[p] =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addi $t0, $t0, 4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p = p + 4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slt  $t3, $t0, $t2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$t3 = (p &lt; &amp;array[size])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bne  $t3, $zero, loop2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同步、翻译与综合示例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数组与指针：手写指针能省的，编译器也能省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410200" cy="1800225"/>
            <a:chOff x="533400" y="1524000"/>
            <a:chExt cx="5410200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83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1391" y="1645444"/>
              <a:ext cx="99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下标版 clear1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91179" y="1645444"/>
              <a:ext cx="99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指针版 clear2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1180" y="2045494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每轮都算 i × 4 + 基址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30968" y="2045494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循环前算一次 &amp;array[size]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545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循环内指令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1180" y="2445544"/>
              <a:ext cx="14267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条：sll、add、sw、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addi、slt、bne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43338" y="2333625"/>
              <a:ext cx="2090738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30968" y="25455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条：sw、addi、slt、bne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194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0456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循环变量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21180" y="304561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每轮加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30968" y="3045619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每轮加 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71926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29050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3493770"/>
            <a:ext cx="5410200" cy="729615"/>
            <a:chOff x="533400" y="3493770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349377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3754873"/>
              <a:ext cx="224134" cy="192560"/>
              <a:chOff x="726129" y="3754873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38252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37548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39030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3640455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两段汇编都先执行一次循环体再判断条件，隐含假设 size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&gt; 0。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393882"/>
            <a:ext cx="5410200" cy="1771650"/>
            <a:chOff x="533400" y="4393882"/>
            <a:chExt cx="5410200" cy="1771650"/>
          </a:xfrm>
        </p:grpSpPr>
        <p:sp>
          <p:nvSpPr>
            <p:cNvPr id="35" name="Rectangle 35"/>
            <p:cNvSpPr/>
            <p:nvPr/>
          </p:nvSpPr>
          <p:spPr>
            <a:xfrm>
              <a:off x="533400" y="4393882"/>
              <a:ext cx="5410200" cy="1771650"/>
            </a:xfrm>
            <a:prstGeom prst="roundRect">
              <a:avLst>
                <a:gd name="adj" fmla="val 75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0090" y="458057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3458" y="461343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编译器也能做到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8662" y="49806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4682" y="4924425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乘元素长度被“强度削弱”为移位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28662" y="52806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4682" y="522446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归纳变量消除：去掉循环内的下标计算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28662" y="55806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682" y="552450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所以应当写清晰、安全的下标代码，把优化交给编译器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1228725"/>
            <a:chOff x="6248400" y="1524000"/>
            <a:chExt cx="5410200" cy="1228725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1657350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3190" y="1710690"/>
              <a:ext cx="115824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4383" y="1743551"/>
              <a:ext cx="1015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2.14 数组与指针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1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37782" y="2054542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数组地址 = 下标 × 元素长度 + 基址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1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7782" y="23555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指针直接对应内存地址，省去下标计算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2922270"/>
            <a:ext cx="5410200" cy="2343150"/>
            <a:chOff x="6248400" y="2922270"/>
            <a:chExt cx="5410200" cy="2343150"/>
          </a:xfrm>
        </p:grpSpPr>
        <p:sp>
          <p:nvSpPr>
            <p:cNvPr id="54" name="Rectangle 54"/>
            <p:cNvSpPr/>
            <p:nvPr/>
          </p:nvSpPr>
          <p:spPr>
            <a:xfrm>
              <a:off x="6248400" y="2922270"/>
              <a:ext cx="5410200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3055620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3190" y="3108960"/>
              <a:ext cx="165639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30083" y="3141821"/>
              <a:ext cx="15435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2.13 编译优化的经验教训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1762" y="35099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7782" y="345376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衡量优化要看编译时间、指令数、时钟周期、CPI 和算法；执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行时间是唯一准确的标准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1762" y="40671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37782" y="4010977"/>
              <a:ext cx="4395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单看指令数或 CPI 不能描述性能；优化效果与算法有关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81762" y="43672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37782" y="4311015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JIT 编译的 Java 明显快于解释执行，有时可与优化后的 C 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81762" y="49244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37782" y="486822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再好的编译器也救不了糟糕的算法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248400" y="5435918"/>
            <a:ext cx="5410200" cy="729615"/>
            <a:chOff x="6248400" y="5435918"/>
            <a:chExt cx="5410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6248400" y="54359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453188" y="5700713"/>
              <a:ext cx="200026" cy="200026"/>
              <a:chOff x="6453188" y="5700713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7007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53200" y="5767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42088" y="58007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55892" y="5582602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更正：原课件写作“某些情况要对编译完 C 进行优化”，原文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意思是有时可与优化后的 C 相当。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9313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ARM、x86 与本章小结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对照两种真实指令集，再回顾谬误、陷阱和设计原则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50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2.16 ARM：同为 RISC 的嵌入式指令集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4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2.17 x86：不断兼容扩展的 CISC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2.18 谬误与陷阱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2.19 设计原则与指令使用频率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3552" cy="909257"/>
            <a:chOff x="520446" y="342900"/>
            <a:chExt cx="69635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35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2.16 ARM 与 MIPS 很相似，但寻址方式更多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5410200" cy="3590925"/>
            <a:chOff x="533400" y="1524000"/>
            <a:chExt cx="5410200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047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6150" y="1659731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50552" y="1659731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0343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651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指令长度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6207" y="255698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9284" y="255698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1389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位平坦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76971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位平坦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0669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83747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数据寻址方式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26970" y="3777615"/>
              <a:ext cx="17440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33593" y="390382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96670" y="390382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3524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数据寄存器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426970" y="4226242"/>
              <a:ext cx="17440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853583" y="4352449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个 32 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16661" y="4352449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 32 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801076"/>
              <a:ext cx="8017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输入/输出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62199" y="48010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存储器映射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25276" y="48010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存储器映射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541020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41268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17576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llout-2"/>
          <p:cNvGrpSpPr/>
          <p:nvPr/>
        </p:nvGrpSpPr>
        <p:grpSpPr>
          <a:xfrm>
            <a:off x="533400" y="5305425"/>
            <a:ext cx="5410200" cy="782955"/>
            <a:chOff x="533400" y="5305425"/>
            <a:chExt cx="5410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533400" y="53054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596890"/>
              <a:ext cx="200026" cy="200026"/>
              <a:chOff x="738188" y="559689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5968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6635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56969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454015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2.16、2.17 节在原课件中为隐藏页，作为拓展阅读保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248400" y="1524000"/>
            <a:ext cx="5410200" cy="2518410"/>
            <a:chOff x="6248400" y="1524000"/>
            <a:chExt cx="5410200" cy="2518410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518410"/>
            </a:xfrm>
            <a:prstGeom prst="roundRect">
              <a:avLst>
                <a:gd name="adj" fmla="val 5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1657350"/>
              <a:ext cx="47625" cy="22517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6050" y="1733550"/>
              <a:ext cx="178022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38826" y="1769269"/>
              <a:ext cx="16956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ARM 寄存器（共 37 个）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9880" y="2110740"/>
              <a:ext cx="3766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 32 位通用寄存器，含程序计数器 PC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59880" y="244602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其中未分组寄存器 R0–R7，分组寄存器 R8–R14，PC 为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R15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59880" y="3067050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个状态寄存器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9573" y="3398996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任何时刻都能访问的是 15 个通用寄存器 R0–R14、PC，以及 1 或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个状态寄存器。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232910"/>
            <a:ext cx="5410200" cy="1855470"/>
            <a:chOff x="6248400" y="4232910"/>
            <a:chExt cx="5410200" cy="1855470"/>
          </a:xfrm>
        </p:grpSpPr>
        <p:sp>
          <p:nvSpPr>
            <p:cNvPr id="66" name="Rectangle 66"/>
            <p:cNvSpPr/>
            <p:nvPr/>
          </p:nvSpPr>
          <p:spPr>
            <a:xfrm>
              <a:off x="6248400" y="4232910"/>
              <a:ext cx="541020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4366260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96050" y="4442460"/>
              <a:ext cx="158496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41311" y="4478179"/>
              <a:ext cx="1494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 MIPS 是 31 个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8430" y="481965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 32 个寄存器中 $zero 恒为 0，能存数据的是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07383" cy="909257"/>
            <a:chOff x="520446" y="342900"/>
            <a:chExt cx="5307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07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 的发展、特点与体系结构版本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193982" cy="3200400"/>
            <a:chOff x="533400" y="1524000"/>
            <a:chExt cx="5193982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84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4492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14550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3555" y="2045494"/>
              <a:ext cx="36172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ARM 原型在英国剑桥 Acorn 公司诞生，由 VLSI 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术公司制造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193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2412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64556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3555" y="2645569"/>
              <a:ext cx="3035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 Advanced RISC Machines 公司（ARM）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194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0456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3555" y="3045619"/>
              <a:ext cx="2657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推出第一款 RISC 嵌入式处理器核 ARM6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2422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44566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3555" y="3445669"/>
              <a:ext cx="1997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推出 ARM7 核，此后应用最广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8457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3555" y="3845719"/>
              <a:ext cx="2527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Thumb 扩展：16 位指令，代码密度高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195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4325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345781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1999–2001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3555" y="4245769"/>
              <a:ext cx="34180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随移动电话普及，32 位 RISC 处理器市场占有率从超过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 升至超过 75%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193982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7163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893945"/>
            <a:ext cx="5193982" cy="1185862"/>
            <a:chOff x="533400" y="4893945"/>
            <a:chExt cx="5193982" cy="1185862"/>
          </a:xfrm>
        </p:grpSpPr>
        <p:sp>
          <p:nvSpPr>
            <p:cNvPr id="33" name="Rectangle 33"/>
            <p:cNvSpPr/>
            <p:nvPr/>
          </p:nvSpPr>
          <p:spPr>
            <a:xfrm>
              <a:off x="533400" y="4893945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090" y="508063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3458" y="511349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特点与商业模式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232" y="5425440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体积小、功耗低、成本低、性能高；16 位 / 32 位双指令集；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只做设计、出售知识产权，由 100 多家合作伙伴生产芯片。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032182" y="1524000"/>
            <a:ext cx="5626418" cy="2800350"/>
            <a:chOff x="6032182" y="1524000"/>
            <a:chExt cx="5626418" cy="2800350"/>
          </a:xfrm>
        </p:grpSpPr>
        <p:sp>
          <p:nvSpPr>
            <p:cNvPr id="38" name="Rectangle 38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9211" y="164544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 / 扩展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1297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9338" y="2045494"/>
              <a:ext cx="90896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v1、v2（已淘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汰）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9982" y="2045494"/>
              <a:ext cx="3780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基本数据处理，字节/字/多字存取，软件中断，26 位地址；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 加乘法、协处理器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519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252412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9338" y="2645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79982" y="2645569"/>
              <a:ext cx="3910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位寻址；M 扩展：长乘法，32 × 32 得到完整 64 位结果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2919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9338" y="30456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79982" y="3045619"/>
              <a:ext cx="3671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增加半字存取指令；v4T 引入 Thumb（T）16 位指令集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3324225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9338" y="3545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79982" y="3445669"/>
              <a:ext cx="3809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 ARM 与 Thumb 的交互；E：增强 DSP 指令；J：Jazelle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硬件执行 Java 字节码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3919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29338" y="4045744"/>
              <a:ext cx="304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D、I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79982" y="4045744"/>
              <a:ext cx="3694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片上调试：响应调试暂停请求；EmbeddedICE 片上断点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1524000"/>
              <a:ext cx="562641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7806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032182" y="4493895"/>
            <a:ext cx="5626418" cy="1585912"/>
            <a:chOff x="6032182" y="4493895"/>
            <a:chExt cx="5626418" cy="1585912"/>
          </a:xfrm>
        </p:grpSpPr>
        <p:sp>
          <p:nvSpPr>
            <p:cNvPr id="60" name="Rectangle 60"/>
            <p:cNvSpPr/>
            <p:nvPr/>
          </p:nvSpPr>
          <p:spPr>
            <a:xfrm>
              <a:off x="6032182" y="4493895"/>
              <a:ext cx="5626418" cy="1585912"/>
            </a:xfrm>
            <a:prstGeom prst="roundRect">
              <a:avLst>
                <a:gd name="adj" fmla="val 84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627245"/>
              <a:ext cx="47625" cy="13192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6972" y="4680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8692" y="4713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50114" y="5025390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T 扩展列在 v3 下。Thumb 实际随 v4T 推出（如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ARM7TDMI），v3 引入的是 M 扩展（v3M）。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84557" cy="909257"/>
            <a:chOff x="520446" y="342900"/>
            <a:chExt cx="73845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845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 用条件码和条件执行代替 MIPS 的比较分支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893695"/>
            <a:chOff x="533400" y="1524000"/>
            <a:chExt cx="4977765" cy="2893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8398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59" y="1769269"/>
              <a:ext cx="1275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ARM 的比较与分支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算术、逻辑指令可以把结果特征记入条件码：N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（负）、Z（零）、C（进位）、V（溢出）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比较指令只设置条件码，不保存结果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每条指令都可以带执行条件：指令字最高 4 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条件域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只为跳过一条指令而写的分支，可以改成条件执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4608195"/>
            <a:ext cx="4977764" cy="1653540"/>
            <a:chOff x="533400" y="4608195"/>
            <a:chExt cx="4977764" cy="1653540"/>
          </a:xfrm>
        </p:grpSpPr>
        <p:sp>
          <p:nvSpPr>
            <p:cNvPr id="20" name="Rectangle 20"/>
            <p:cNvSpPr/>
            <p:nvPr/>
          </p:nvSpPr>
          <p:spPr>
            <a:xfrm>
              <a:off x="533400" y="4608195"/>
              <a:ext cx="2317432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741545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3430" y="4842510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2597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1968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先比较设条件码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55949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553212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再按条件分支或执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93732" y="4608195"/>
              <a:ext cx="2317432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03258" y="4741545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33762" y="4842510"/>
              <a:ext cx="496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7098" y="52597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05212" y="51968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没有条件码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447098" y="55949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05212" y="5532120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beq/bne 直接比较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两个寄存器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2860358" y="527304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30698" y="536924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5815965" y="1524000"/>
            <a:ext cx="5842635" cy="4488180"/>
            <a:chOff x="5815965" y="1524000"/>
            <a:chExt cx="5842635" cy="4488180"/>
          </a:xfrm>
        </p:grpSpPr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174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寻址方式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22690" y="1659731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62732" y="1659731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23788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寄存器操作数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336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8208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3788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立即数操作数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1336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82084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23788" y="3005614"/>
              <a:ext cx="228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+ 偏移（转移或基址）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13366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82084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23788" y="3454241"/>
              <a:ext cx="1944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+ 寄存器（变址）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13366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82084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23788" y="3903821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+ 倍乘的寄存器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13366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82084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15965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23788" y="4352449"/>
              <a:ext cx="228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+ 偏移，并更新寄存器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13366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82084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15965" y="46605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23788" y="4801076"/>
              <a:ext cx="2461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+ 寄存器，并更新寄存器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13366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82084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51101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15965" y="511492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23788" y="52497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自动增量、自动减量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13366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82084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5965" y="55587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23788" y="5698331"/>
              <a:ext cx="1142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相对的数据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13366" y="56983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82084" y="56983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815965" y="1524000"/>
              <a:ext cx="5842635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31640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48512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38309" cy="909257"/>
            <a:chOff x="520446" y="342900"/>
            <a:chExt cx="4638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38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 与 MIPS 的指令编码对比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legend"/>
          <p:cNvGrpSpPr/>
          <p:nvPr/>
        </p:nvGrpSpPr>
        <p:grpSpPr>
          <a:xfrm>
            <a:off x="533400" y="1581150"/>
            <a:ext cx="11130534" cy="241459"/>
            <a:chOff x="533400" y="1581150"/>
            <a:chExt cx="11130534" cy="241459"/>
          </a:xfrm>
        </p:grpSpPr>
        <p:sp>
          <p:nvSpPr>
            <p:cNvPr id="7" name="Rectangle 7"/>
            <p:cNvSpPr/>
            <p:nvPr/>
          </p:nvSpPr>
          <p:spPr>
            <a:xfrm>
              <a:off x="533400" y="1581150"/>
              <a:ext cx="209550" cy="17145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3435" y="16025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31620" y="1581150"/>
              <a:ext cx="209550" cy="1714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11655" y="16025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29840" y="1581150"/>
              <a:ext cx="209550" cy="17145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09875" y="1602581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/ 地址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33812" y="1581150"/>
              <a:ext cx="209550" cy="171450"/>
            </a:xfrm>
            <a:prstGeom prst="rect">
              <a:avLst/>
            </a:prstGeom>
            <a:solidFill>
              <a:srgbClr val="FEF3C7"/>
            </a:solidFill>
            <a:ln w="11430">
              <a:solidFill>
                <a:srgbClr val="5B647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13848" y="1602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操作码或寄存器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73735" y="1610678"/>
              <a:ext cx="4790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括号内为位数；ARM 最高 4 位 Opx 是条件域，MIPS 的 Const(5) 即 shamt</a:t>
              </a:r>
            </a:p>
          </p:txBody>
        </p:sp>
      </p:grpSp>
      <p:grpSp>
        <p:nvGrpSpPr>
          <p:cNvPr id="70" name="fmt1"/>
          <p:cNvGrpSpPr/>
          <p:nvPr/>
        </p:nvGrpSpPr>
        <p:grpSpPr>
          <a:xfrm>
            <a:off x="533400" y="1905000"/>
            <a:ext cx="11125200" cy="1057275"/>
            <a:chOff x="533400" y="1905000"/>
            <a:chExt cx="11125200" cy="1057275"/>
          </a:xfrm>
        </p:grpSpPr>
        <p:sp>
          <p:nvSpPr>
            <p:cNvPr id="17" name="Rectangle 17"/>
            <p:cNvSpPr/>
            <p:nvPr/>
          </p:nvSpPr>
          <p:spPr>
            <a:xfrm>
              <a:off x="533400" y="1905000"/>
              <a:ext cx="11125200" cy="1057275"/>
            </a:xfrm>
            <a:prstGeom prst="roundRect">
              <a:avLst>
                <a:gd name="adj" fmla="val 10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323" y="2257901"/>
              <a:ext cx="1146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寄存器-寄存器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0466" y="2510790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add、sub 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4728" y="219789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43250" y="2133600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87707" y="2197894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Opx(4)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67062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41534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08145" y="2133600"/>
              <a:ext cx="2128838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26252" y="2197894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Op(8)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1958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9419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36030" y="2133600"/>
              <a:ext cx="1064895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6944" y="2197894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Rs1(4)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9842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4314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400925" y="2133600"/>
              <a:ext cx="1064895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4475" y="2197894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Rd(4)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4738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9209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65820" y="2133600"/>
              <a:ext cx="2128838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41772" y="2197894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Opx(8)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9632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93731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593705" y="2133600"/>
              <a:ext cx="1064895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864619" y="2197894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Rs2(4)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17518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58626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44545" y="2693194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143250" y="2628900"/>
              <a:ext cx="1596390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95609" y="2693194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Op(6)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67062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73029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739640" y="2628900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43904" y="2693194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Rs1(5)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63452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03671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70282" y="2628900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74546" y="2693194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Rs2(5)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94095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34314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00925" y="2628900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46873" y="2693194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Rd(5)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4738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4956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731568" y="2628900"/>
              <a:ext cx="1330642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055239" y="2693194"/>
              <a:ext cx="682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Const(5)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5380" y="24936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62236" y="2493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062210" y="2628900"/>
              <a:ext cx="1596390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572415" y="2693194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Opx(6)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86022" y="2493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58626" y="2493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12" name="fmt2"/>
          <p:cNvGrpSpPr/>
          <p:nvPr/>
        </p:nvGrpSpPr>
        <p:grpSpPr>
          <a:xfrm>
            <a:off x="533400" y="3019425"/>
            <a:ext cx="11125200" cy="1057275"/>
            <a:chOff x="533400" y="3019425"/>
            <a:chExt cx="11125200" cy="1057275"/>
          </a:xfrm>
        </p:grpSpPr>
        <p:sp>
          <p:nvSpPr>
            <p:cNvPr id="71" name="Rectangle 71"/>
            <p:cNvSpPr/>
            <p:nvPr/>
          </p:nvSpPr>
          <p:spPr>
            <a:xfrm>
              <a:off x="533400" y="3019425"/>
              <a:ext cx="11125200" cy="1057275"/>
            </a:xfrm>
            <a:prstGeom prst="roundRect">
              <a:avLst>
                <a:gd name="adj" fmla="val 10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9323" y="3372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数据传送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0466" y="36252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取数、存数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694728" y="331231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143250" y="3248025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387707" y="3312319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Opx(4)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167062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041534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208145" y="3248025"/>
              <a:ext cx="2128838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026252" y="3312319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Op(8)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231958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69419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336030" y="3248025"/>
              <a:ext cx="1064895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606944" y="3312319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Rs1(4)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59842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34314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400925" y="3248025"/>
              <a:ext cx="1064895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714475" y="3312319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Rd(4)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24738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99209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465820" y="3248025"/>
              <a:ext cx="3192780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679104" y="3312319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Const(12)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489632" y="31127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58626" y="31127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644545" y="3807619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143250" y="3743325"/>
              <a:ext cx="1596390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695609" y="3807619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Op(6)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167062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73029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739640" y="3743325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143904" y="3807619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Rs1(5)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763452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903671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070282" y="3743325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517183" y="3807619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Rd(5)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094095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234314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400925" y="3743325"/>
              <a:ext cx="4257675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146656" y="3807619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Const(16)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424738" y="36080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58626" y="36080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46" name="fmt3"/>
          <p:cNvGrpSpPr/>
          <p:nvPr/>
        </p:nvGrpSpPr>
        <p:grpSpPr>
          <a:xfrm>
            <a:off x="533400" y="4133850"/>
            <a:ext cx="11125200" cy="1057275"/>
            <a:chOff x="533400" y="4133850"/>
            <a:chExt cx="11125200" cy="1057275"/>
          </a:xfrm>
        </p:grpSpPr>
        <p:sp>
          <p:nvSpPr>
            <p:cNvPr id="113" name="Rectangle 113"/>
            <p:cNvSpPr/>
            <p:nvPr/>
          </p:nvSpPr>
          <p:spPr>
            <a:xfrm>
              <a:off x="533400" y="4133850"/>
              <a:ext cx="11125200" cy="1057275"/>
            </a:xfrm>
            <a:prstGeom prst="roundRect">
              <a:avLst>
                <a:gd name="adj" fmla="val 10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79323" y="44867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条件分支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80466" y="4739640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beq、bne 等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694728" y="44267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3143250" y="4362450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3387707" y="4426744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Opx(4)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3167062" y="4227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4041534" y="4227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4208145" y="4362450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493804" y="4426744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Op(4)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4231958" y="4227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5105476" y="4227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272088" y="4362450"/>
              <a:ext cx="6386512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082714" y="4426744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Const(24)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5295900" y="4227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558626" y="42271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2644545" y="4922044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3143250" y="4857750"/>
              <a:ext cx="1596390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3695609" y="4922044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Op(6)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167062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4573029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4739640" y="4857750"/>
              <a:ext cx="1330642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5B6475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5143904" y="4922044"/>
              <a:ext cx="52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Rs1(5)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4763452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5903671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6070282" y="4857750"/>
              <a:ext cx="1330642" cy="266700"/>
            </a:xfrm>
            <a:prstGeom prst="rect">
              <a:avLst/>
            </a:prstGeom>
            <a:solidFill>
              <a:srgbClr val="FEF3C7"/>
            </a:solidFill>
            <a:ln w="11430">
              <a:solidFill>
                <a:srgbClr val="5B6475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6290929" y="4922044"/>
              <a:ext cx="89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Opx/Rs2(5)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094095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7234314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7400925" y="4857750"/>
              <a:ext cx="4257675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9146656" y="4922044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Const(16)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424738" y="47224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1558626" y="47224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72" name="fmt4"/>
          <p:cNvGrpSpPr/>
          <p:nvPr/>
        </p:nvGrpSpPr>
        <p:grpSpPr>
          <a:xfrm>
            <a:off x="533400" y="5248275"/>
            <a:ext cx="11125200" cy="1057275"/>
            <a:chOff x="533400" y="5248275"/>
            <a:chExt cx="11125200" cy="1057275"/>
          </a:xfrm>
        </p:grpSpPr>
        <p:sp>
          <p:nvSpPr>
            <p:cNvPr id="147" name="Rectangle 147"/>
            <p:cNvSpPr/>
            <p:nvPr/>
          </p:nvSpPr>
          <p:spPr>
            <a:xfrm>
              <a:off x="533400" y="5248275"/>
              <a:ext cx="11125200" cy="1057275"/>
            </a:xfrm>
            <a:prstGeom prst="roundRect">
              <a:avLst>
                <a:gd name="adj" fmla="val 10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679323" y="560117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跳转 / 调用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680466" y="5854065"/>
              <a:ext cx="35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j、jal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2694728" y="554116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3143250" y="5476875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3387707" y="5541169"/>
              <a:ext cx="575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Opx(4)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3167062" y="5341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4041534" y="5341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4208145" y="5476875"/>
              <a:ext cx="1064895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4493804" y="5541169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Op(4)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4231958" y="5341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5105476" y="5341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5272088" y="5476875"/>
              <a:ext cx="6386512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8082714" y="5541169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Const(24)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5295900" y="5341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58626" y="53416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2644545" y="6036469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3143250" y="5972175"/>
              <a:ext cx="1596390" cy="266700"/>
            </a:xfrm>
            <a:prstGeom prst="rect">
              <a:avLst/>
            </a:prstGeom>
            <a:solidFill>
              <a:srgbClr val="1F5FA8"/>
            </a:solidFill>
            <a:ln w="11430">
              <a:solidFill>
                <a:srgbClr val="5B6475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3695609" y="6036469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Op(6)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3167062" y="58369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4573029" y="58369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4739640" y="5972175"/>
              <a:ext cx="6918960" cy="266700"/>
            </a:xfrm>
            <a:prstGeom prst="rect">
              <a:avLst/>
            </a:prstGeom>
            <a:solidFill>
              <a:srgbClr val="FDEEE7"/>
            </a:solidFill>
            <a:ln w="11430">
              <a:solidFill>
                <a:srgbClr val="5B6475"/>
              </a:solidFill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7816014" y="6036469"/>
              <a:ext cx="766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Const(26)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4763452" y="58369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1558626" y="58369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3" name="TextBox 17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3248" cy="909257"/>
            <a:chOff x="520446" y="342900"/>
            <a:chExt cx="6433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3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2.17 x86 的演变（上）：从 8 位到 32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141346"/>
            <a:chOff x="533400" y="1524000"/>
            <a:chExt cx="11125200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23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349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022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662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8080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5898" y="21083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位微处理器；累加器加 3 对变址寄存器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662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8086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55898" y="2556986"/>
              <a:ext cx="3159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8080 的 16 位扩展；复杂指令集（CISC）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6628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8087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5898" y="30056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浮点协处理器；增加浮点指令和寄存器栈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6628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80286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5898" y="3454241"/>
              <a:ext cx="4418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位地址，MMU（内存管理单元）；段式存储映射与保护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6628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80386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55898" y="3903821"/>
              <a:ext cx="5361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位扩展（IA-32）；新的寻址方式和操作；支持分页，同时保留分段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76628" y="4352449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i486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5898" y="4352449"/>
              <a:ext cx="45816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流水线，片上 cache 和 FPU；出现 AMD、Cyrix 等兼容厂商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404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4331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4855845"/>
            <a:ext cx="11125200" cy="1030605"/>
            <a:chOff x="533400" y="4855845"/>
            <a:chExt cx="11125200" cy="1030605"/>
          </a:xfrm>
        </p:grpSpPr>
        <p:sp>
          <p:nvSpPr>
            <p:cNvPr id="41" name="Rectangle 41"/>
            <p:cNvSpPr/>
            <p:nvPr/>
          </p:nvSpPr>
          <p:spPr>
            <a:xfrm>
              <a:off x="533400" y="4855845"/>
              <a:ext cx="11125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989195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1050" y="50653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1258" y="51011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3430" y="5442585"/>
              <a:ext cx="7870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8080 写作“累加器，8 个寄存器组对”，教材原文为累加器加 3 对变址寄存器。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x86 的演变（下）：为了向后兼容，指令越加越多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590925"/>
            <a:chOff x="533400" y="1524000"/>
            <a:chExt cx="11125200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4847" y="1659731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/ 扩展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84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8560" y="2108359"/>
              <a:ext cx="673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8418" y="2108359"/>
              <a:ext cx="5267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超标量；后期版本加入 MMX 指令；出现过著名的 FDIV 浮点除法错误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1995–1997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8560" y="2556986"/>
              <a:ext cx="1296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Pro、II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8418" y="2556986"/>
              <a:ext cx="3124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新微体系结构 P6；Pentium II 加入 MMX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8560" y="3005614"/>
              <a:ext cx="894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III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8418" y="3005614"/>
              <a:ext cx="21457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SSE 指令及相应寄存器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8560" y="3454241"/>
              <a:ext cx="820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418" y="3454241"/>
              <a:ext cx="2840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新微体系结构 NetBurst；加入 SSE2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2003–2004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8560" y="3903821"/>
              <a:ext cx="1259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AMD64、EM64T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8418" y="3903821"/>
              <a:ext cx="346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体系结构扩展到 64 位，Intel 以 EM64T 跟进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8560" y="4352449"/>
              <a:ext cx="841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Core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68418" y="4352449"/>
              <a:ext cx="184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SSE4，支持虚拟机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801076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2007–2008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98560" y="4801076"/>
              <a:ext cx="886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SSE5、AVX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68418" y="4801076"/>
              <a:ext cx="53741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 宣布 SSE5；Intel 宣布 AVX，SSE 寄存器从 128 位加长到 256 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08597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5583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6795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技术上的优雅不等于市场成功：Intel 如果不扩展兼容性，竞争者也会去做。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0958" cy="909257"/>
            <a:chOff x="520446" y="342900"/>
            <a:chExt cx="82809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09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x86 的寄存器与寻址方式：两个操作数，可以直接访存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4765548" cy="3463956"/>
            <a:chOff x="528447" y="1524000"/>
            <a:chExt cx="4765548" cy="34639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164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573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56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EAX、ECX、EDX、EBX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29852" y="2045494"/>
              <a:ext cx="2050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 GPR 0–3（32 位）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1484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ESP、EBP、ESI、EDI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9852" y="2445544"/>
              <a:ext cx="2050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 GPR 4–7（32 位）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29852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代码段指针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29852" y="32456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栈段指针（栈顶）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645694"/>
              <a:ext cx="119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DS、ES、FS、GS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29852" y="3645694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数据段指针 0–3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045744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29852" y="4045744"/>
              <a:ext cx="1091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指令指针（PC）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195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445794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EFLAGS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9852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4760595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2793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4797266"/>
              <a:ext cx="1025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段寄存器为 16 位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593842" y="1524000"/>
            <a:ext cx="6064758" cy="2663856"/>
            <a:chOff x="5593842" y="1524000"/>
            <a:chExt cx="6064758" cy="2663856"/>
          </a:xfrm>
        </p:grpSpPr>
        <p:sp>
          <p:nvSpPr>
            <p:cNvPr id="37" name="Rectangle 37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774" y="164544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 / 目的操作数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17367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第二个源操作数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9966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18916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9966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18916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9966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8916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598795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9966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18916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89966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18916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63917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93842" y="3997166"/>
              <a:ext cx="4515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每条指令 2 个操作数，其中一个既是源又是目的；两个操作数不能都是存储器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598795" y="4319588"/>
            <a:ext cx="6059805" cy="1828800"/>
            <a:chOff x="5598795" y="4319588"/>
            <a:chExt cx="6059805" cy="1828800"/>
          </a:xfrm>
        </p:grpSpPr>
        <p:sp>
          <p:nvSpPr>
            <p:cNvPr id="60" name="Rectangle 60"/>
            <p:cNvSpPr/>
            <p:nvPr/>
          </p:nvSpPr>
          <p:spPr>
            <a:xfrm>
              <a:off x="5598795" y="4319588"/>
              <a:ext cx="6059805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08320" y="4452938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23585" y="450627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97905" y="453913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存储器寻址方式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832158" y="49072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88177" y="485108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地址在寄存器中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832158" y="520731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88177" y="5151120"/>
              <a:ext cx="1639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= R基址 + 位移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832158" y="55073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88177" y="5451158"/>
              <a:ext cx="4585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= R基址 + 2^scale × R变址（scale = 0、1、2、3）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832158" y="58073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88177" y="5751195"/>
              <a:ext cx="31863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= R基址 + 2^scale × R变址 + 位移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x86 指令变长编码，硬件再把它翻译成微操作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842635" cy="2800350"/>
            <a:chOff x="533400" y="1524000"/>
            <a:chExt cx="5842635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32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30867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各字段（位数）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28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973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 EIP + 位移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83155" y="2045494"/>
              <a:ext cx="1538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 4 · 条件 4 · 位移 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88741" y="204549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字节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83155" y="2445544"/>
              <a:ext cx="1193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CALL 8 · 偏移 32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88741" y="24455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字节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1617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 EBX, [EDI + 45]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83155" y="2845594"/>
              <a:ext cx="2803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 6 · d 1 · w 1 · 后缀字节 8 · 位移 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8741" y="284559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字节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ESI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83155" y="3245644"/>
              <a:ext cx="1261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5 · 寄存器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88741" y="32456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字节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1215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EAX, #6765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3155" y="3645694"/>
              <a:ext cx="2424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4 · 寄存器 3 · w 1 · 立即数 32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88741" y="364569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字节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112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EDX, #42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3155" y="4045744"/>
              <a:ext cx="2674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7 · w 1 · 后缀字节 8 · 立即数 32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88741" y="40457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字节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2812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3687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493895"/>
            <a:ext cx="5842635" cy="1489710"/>
            <a:chOff x="533400" y="4493895"/>
            <a:chExt cx="5842635" cy="1489710"/>
          </a:xfrm>
        </p:grpSpPr>
        <p:sp>
          <p:nvSpPr>
            <p:cNvPr id="41" name="Rectangle 41"/>
            <p:cNvSpPr/>
            <p:nvPr/>
          </p:nvSpPr>
          <p:spPr>
            <a:xfrm>
              <a:off x="533400" y="4493895"/>
              <a:ext cx="5842635" cy="1489710"/>
            </a:xfrm>
            <a:prstGeom prst="roundRect">
              <a:avLst>
                <a:gd name="adj" fmla="val 8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627245"/>
              <a:ext cx="47625" cy="12230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46805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2759" y="47134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变长编码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0815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025390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后缀字节（postbyte）指明寻址方式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3816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325428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前缀字节（prefix）修改操作：操作数长度、重复、锁定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475" y="5622131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更正：原课件写作“后置字节修改操作”，修改操作的是前缀字节。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680835" y="1524000"/>
            <a:ext cx="4977765" cy="2343150"/>
            <a:chOff x="6680835" y="1524000"/>
            <a:chExt cx="4977765" cy="2343150"/>
          </a:xfrm>
        </p:grpSpPr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2343150"/>
            </a:xfrm>
            <a:prstGeom prst="roundRect">
              <a:avLst>
                <a:gd name="adj" fmla="val 56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67525" y="1710690"/>
              <a:ext cx="83820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48720" y="1743551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x86 的实现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76098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32117" y="205454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复杂指令集更难实现：硬件先把指令翻译成简单的微操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76098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32117" y="2612708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简单指令 1 条对应 1 个微操作，复杂指令对应多个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876098" y="29689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32117" y="2912745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微操作引擎与 RISC 类似；巨大的市场份额让这种做法在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经济上可行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876098" y="35261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32117" y="3469958"/>
              <a:ext cx="3411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性能与 RISC 相当，编译器会避开复杂指令</a:t>
              </a:r>
            </a:p>
          </p:txBody>
        </p:sp>
      </p:grpSp>
      <p:grpSp>
        <p:nvGrpSpPr>
          <p:cNvPr id="82" name="c2-table-2"/>
          <p:cNvGrpSpPr/>
          <p:nvPr/>
        </p:nvGrpSpPr>
        <p:grpSpPr>
          <a:xfrm>
            <a:off x="6680835" y="4037648"/>
            <a:ext cx="4977765" cy="1600200"/>
            <a:chOff x="6680835" y="4037648"/>
            <a:chExt cx="4977765" cy="1600200"/>
          </a:xfrm>
        </p:grpSpPr>
        <p:sp>
          <p:nvSpPr>
            <p:cNvPr id="63" name="Rectangle 63"/>
            <p:cNvSpPr/>
            <p:nvPr/>
          </p:nvSpPr>
          <p:spPr>
            <a:xfrm>
              <a:off x="6680835" y="4037648"/>
              <a:ext cx="497776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72033" y="4159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47406" y="4159091"/>
              <a:ext cx="99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MIPS（RISC）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812" y="4159091"/>
              <a:ext cx="900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x86（CISC）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77990" y="45591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指令长度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3365" y="4559141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32 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14560" y="4559141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1–15 字节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80835" y="48329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80835" y="4837748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77990" y="49591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73365" y="495919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14560" y="495919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680835" y="523303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77990" y="53592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73365" y="5359241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load/store 指令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14560" y="535924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运算指令可直接访存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680835" y="4037648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771448" y="403764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712642" y="403764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52356" cy="909257"/>
            <a:chOff x="520446" y="342900"/>
            <a:chExt cx="28523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6434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2.18 谬误与陷阱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335405"/>
            <a:chOff x="533400" y="1524000"/>
            <a:chExt cx="595122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谬误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指令越强大，性能越高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指令条数少了，但复杂指令难实现，可能拖慢所有指令；编译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器更擅长用简单指令生成快的代码。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49905"/>
            <a:ext cx="5951220" cy="1335405"/>
            <a:chOff x="533400" y="3049905"/>
            <a:chExt cx="5951220" cy="133540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793" y="32951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谬误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8760" y="329469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用汇编语言编程能得到最高性能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6556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现代编译器更适应现代处理器；汇编代码行数多，更易出错，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编写和调试更费时间。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575810"/>
            <a:ext cx="5951220" cy="1335405"/>
            <a:chOff x="533400" y="4575810"/>
            <a:chExt cx="5951220" cy="1335405"/>
          </a:xfrm>
        </p:grpSpPr>
        <p:sp>
          <p:nvSpPr>
            <p:cNvPr id="21" name="Rectangle 21"/>
            <p:cNvSpPr/>
            <p:nvPr/>
          </p:nvSpPr>
          <p:spPr>
            <a:xfrm>
              <a:off x="533400" y="4575810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70916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78536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7793" y="48210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谬误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8760" y="482060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为了向后兼容，指令集不需要改变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518160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兼容靠的是不断加指令：x86 指令从 1978 年约 80 条增长到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2008 年的 800 多条。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789420" y="1524000"/>
            <a:ext cx="4869180" cy="1335405"/>
            <a:chOff x="6789420" y="1524000"/>
            <a:chExt cx="4869180" cy="1335405"/>
          </a:xfrm>
        </p:grpSpPr>
        <p:sp>
          <p:nvSpPr>
            <p:cNvPr id="28" name="Rectangle 28"/>
            <p:cNvSpPr/>
            <p:nvPr/>
          </p:nvSpPr>
          <p:spPr>
            <a:xfrm>
              <a:off x="6789420" y="1524000"/>
              <a:ext cx="486918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9894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3707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2381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陷阱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4780" y="1768792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忘记连续的字地址相差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9450" y="212979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按字节编址时，下一个字的地址要加 4，不是加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789420" y="3049905"/>
            <a:ext cx="4869180" cy="2861310"/>
            <a:chOff x="6789420" y="3049905"/>
            <a:chExt cx="4869180" cy="2861310"/>
          </a:xfrm>
        </p:grpSpPr>
        <p:sp>
          <p:nvSpPr>
            <p:cNvPr id="35" name="Rectangle 35"/>
            <p:cNvSpPr/>
            <p:nvPr/>
          </p:nvSpPr>
          <p:spPr>
            <a:xfrm>
              <a:off x="6789420" y="3049905"/>
              <a:ext cx="4869180" cy="2861310"/>
            </a:xfrm>
            <a:prstGeom prst="roundRect">
              <a:avLst>
                <a:gd name="adj" fmla="val 46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98945" y="3183255"/>
              <a:ext cx="47625" cy="25946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37070" y="325945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3813" y="32951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陷阱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4780" y="329469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过程返回后还用指向其局部变量的指针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9450" y="365569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例如过程把自己局部数组的指针传出去。栈帧弹出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后，这块空间随时会被其他调用覆盖，指针随之失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0129" cy="909257"/>
            <a:chOff x="520446" y="342900"/>
            <a:chExt cx="78101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01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2.19 四条设计原则，与 MIPS 各类指令的使用频率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697480"/>
            <a:chOff x="533400" y="1524000"/>
            <a:chExt cx="5410200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43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设计原则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20419" y="1659731"/>
              <a:ext cx="1400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MIPS 中的体现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简单源于规整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5303" y="2108359"/>
              <a:ext cx="28902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指令都是 32 位；算术指令都用三个操作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越小越快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05303" y="2783681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32 个寄存器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加速执行常用操作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05303" y="3232309"/>
              <a:ext cx="2637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立即数指令、PC 相对分支、$zero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178363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优秀的设计需要适宜的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05303" y="3680936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三种格式长度相同、字段尽量对齐；长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常数用 lui 拼接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9271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rd-2"/>
          <p:cNvGrpSpPr/>
          <p:nvPr/>
        </p:nvGrpSpPr>
        <p:grpSpPr>
          <a:xfrm>
            <a:off x="533400" y="4411980"/>
            <a:ext cx="5410200" cy="1914525"/>
            <a:chOff x="533400" y="4411980"/>
            <a:chExt cx="5410200" cy="1914525"/>
          </a:xfrm>
        </p:grpSpPr>
        <p:sp>
          <p:nvSpPr>
            <p:cNvPr id="26" name="Rectangle 26"/>
            <p:cNvSpPr/>
            <p:nvPr/>
          </p:nvSpPr>
          <p:spPr>
            <a:xfrm>
              <a:off x="533400" y="441198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54533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6215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1258" y="4657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499872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原课件小结把第 4 条写作“优秀的设计需要适宜（复用）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方案”，原文 good compromises 是“折中”，与 2.5 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248400" y="1524000"/>
            <a:ext cx="5410200" cy="3599498"/>
            <a:chOff x="6248400" y="1524000"/>
            <a:chExt cx="5410200" cy="3599498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0180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5213" y="1773079"/>
              <a:ext cx="825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 示例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53549" y="1659731"/>
              <a:ext cx="76398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SPEC2006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35589" y="1659731"/>
              <a:ext cx="76398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SPEC2006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622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9678" y="233505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add、sub、addi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69673" y="233505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586085" y="2208848"/>
              <a:ext cx="10629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51713" y="233505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数据传送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9678" y="2783681"/>
              <a:ext cx="17117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lw、sw、lb、lbu、lh、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lhu、sb、lui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04045" y="2657475"/>
              <a:ext cx="106299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69673" y="289702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51713" y="289702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62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29678" y="3459004"/>
              <a:ext cx="16954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and、or、nor、andi、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ori、sll、srl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69673" y="357235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99099" y="3572351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4%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994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99954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622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9678" y="4134326"/>
              <a:ext cx="17035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beq、bne、slt、slti、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sltiu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04045" y="4009072"/>
              <a:ext cx="106299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69673" y="424767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99099" y="4247674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6701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56223" y="4810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29678" y="4810601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j、jr、jal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17059" y="4810601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2%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99099" y="4810601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217092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89758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571798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bullets-2"/>
          <p:cNvGrpSpPr/>
          <p:nvPr/>
        </p:nvGrpSpPr>
        <p:grpSpPr>
          <a:xfrm>
            <a:off x="6257925" y="5335429"/>
            <a:ext cx="5045202" cy="1040892"/>
            <a:chOff x="6257925" y="5335429"/>
            <a:chExt cx="5045202" cy="1040892"/>
          </a:xfrm>
        </p:grpSpPr>
        <p:sp>
          <p:nvSpPr>
            <p:cNvPr id="71" name="Ellipse 71"/>
            <p:cNvSpPr/>
            <p:nvPr/>
          </p:nvSpPr>
          <p:spPr>
            <a:xfrm>
              <a:off x="6257925" y="53873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13373" y="533542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用标准测试程序统计指令的执行情况，据此决定加速哪些常用操作、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在哪里折中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257925" y="59359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13373" y="588406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软件与硬件的层次：编译器、汇编器、硬件；MIPS 是典型的 RISC 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令集，x86 是 CISC 指令集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自测题（一）：编码与地址计算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134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addi $t0, $s1, -8 的十六进制机器码。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字段为 op 8、rs 17、rt 8，−8 = 0xFFF8：001000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 01000 1111111111111000 = 0x2228FFF8。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937385"/>
            <a:chOff x="533400" y="33661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47029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位于 0x00400020，偏移字段为 −3，目标地址是多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 PC + 4 = 0x00400024，再减 3 × 4 = 12，得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0x00400018。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3125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机器码 0x02538822 是哪条指令？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拆开得 op 0、rs 18、rt 19、rd 17、shamt 0、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 34，即 sub $s1, $s2, $s3。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66135"/>
            <a:ext cx="5410200" cy="1937385"/>
            <a:chOff x="6248400" y="33661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3952875"/>
              <a:ext cx="46743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 OP、3 个 6 位地址，三地址指令用了 14 条，二地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址指令最多几条（还要留一地址、零地址）？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 1110、1111 两个扩展标志，各接 6 位共 128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种，留 1 种继续扩展，最多 127 条。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94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666" y="407194"/>
              <a:ext cx="2765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 · ARM、x86 与本章小结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自测题（二）：数的表示与过程调用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551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的 8 位补码是什么？符号扩展到 16 位是什么？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6 = 0000 0110 取反加 1 得 1111 1010；扩展后为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 1111 1010。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937385"/>
            <a:chOff x="533400" y="33661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47886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lui $t0, 0x1234 之后，接 ori $t0, $t0, 0x8765 得到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什么？为什么不能换成 addi？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0x12348765。addi 会把 0x8765 符号扩展成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0xFFFF8765，高 16 位变成 0x1233。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082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$s0 = 0xFFFFFFFE，$s1 = 3，slt 与 sltu 比较 $s0 &lt;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$s1 的结果？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有符号比较 slt：−2 &lt; 3，结果 1；无符号比较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sltu：4,294,967,294 &gt; 3，结果 0。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651635"/>
            <a:chOff x="6248400" y="3651885"/>
            <a:chExt cx="5410200" cy="16516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934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为什么非叶过程必须把 $ra 压栈，叶过程可以不保存？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jal 会把返回地址写进 $ra。非叶过程内部还要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jal，会覆盖它；叶过程不再调用别人，$ra 不变。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第2章 指令系统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533400" y="1567815"/>
            <a:ext cx="5086350" cy="4046221"/>
            <a:chOff x="533400" y="1567815"/>
            <a:chExt cx="5086350" cy="4046221"/>
          </a:xfrm>
        </p:grpSpPr>
        <p:sp>
          <p:nvSpPr>
            <p:cNvPr id="7" name="Freeform 7"/>
            <p:cNvSpPr/>
            <p:nvPr/>
          </p:nvSpPr>
          <p:spPr>
            <a:xfrm>
              <a:off x="3754755" y="1753552"/>
              <a:ext cx="419100" cy="229552"/>
            </a:xfrm>
            <a:custGeom>
              <a:avLst/>
              <a:gdLst/>
              <a:ahLst/>
              <a:cxnLst/>
              <a:rect l="l" t="t" r="r" b="b"/>
              <a:pathLst>
                <a:path w="419100" h="229552">
                  <a:moveTo>
                    <a:pt x="0" y="229552"/>
                  </a:moveTo>
                  <a:lnTo>
                    <a:pt x="209550" y="2295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754755" y="1983105"/>
              <a:ext cx="419100" cy="229553"/>
            </a:xfrm>
            <a:custGeom>
              <a:avLst/>
              <a:gdLst/>
              <a:ahLst/>
              <a:cxnLst/>
              <a:rect l="l" t="t" r="r" b="b"/>
              <a:pathLst>
                <a:path w="419100" h="229553">
                  <a:moveTo>
                    <a:pt x="0" y="0"/>
                  </a:moveTo>
                  <a:lnTo>
                    <a:pt x="209550" y="0"/>
                  </a:lnTo>
                  <a:lnTo>
                    <a:pt x="209550" y="229553"/>
                  </a:lnTo>
                  <a:lnTo>
                    <a:pt x="419100" y="2295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754755" y="2672715"/>
              <a:ext cx="419100" cy="229552"/>
            </a:xfrm>
            <a:custGeom>
              <a:avLst/>
              <a:gdLst/>
              <a:ahLst/>
              <a:cxnLst/>
              <a:rect l="l" t="t" r="r" b="b"/>
              <a:pathLst>
                <a:path w="419100" h="229552">
                  <a:moveTo>
                    <a:pt x="0" y="229552"/>
                  </a:moveTo>
                  <a:lnTo>
                    <a:pt x="209550" y="2295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54755" y="2902268"/>
              <a:ext cx="419100" cy="229553"/>
            </a:xfrm>
            <a:custGeom>
              <a:avLst/>
              <a:gdLst/>
              <a:ahLst/>
              <a:cxnLst/>
              <a:rect l="l" t="t" r="r" b="b"/>
              <a:pathLst>
                <a:path w="419100" h="229553">
                  <a:moveTo>
                    <a:pt x="0" y="0"/>
                  </a:moveTo>
                  <a:lnTo>
                    <a:pt x="209550" y="0"/>
                  </a:lnTo>
                  <a:lnTo>
                    <a:pt x="209550" y="229553"/>
                  </a:lnTo>
                  <a:lnTo>
                    <a:pt x="419100" y="2295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54755" y="3590925"/>
              <a:ext cx="419100" cy="229553"/>
            </a:xfrm>
            <a:custGeom>
              <a:avLst/>
              <a:gdLst/>
              <a:ahLst/>
              <a:cxnLst/>
              <a:rect l="l" t="t" r="r" b="b"/>
              <a:pathLst>
                <a:path w="419100" h="229553">
                  <a:moveTo>
                    <a:pt x="0" y="229553"/>
                  </a:moveTo>
                  <a:lnTo>
                    <a:pt x="209550" y="22955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54755" y="3820478"/>
              <a:ext cx="419100" cy="229552"/>
            </a:xfrm>
            <a:custGeom>
              <a:avLst/>
              <a:gdLst/>
              <a:ahLst/>
              <a:cxnLst/>
              <a:rect l="l" t="t" r="r" b="b"/>
              <a:pathLst>
                <a:path w="419100" h="229552">
                  <a:moveTo>
                    <a:pt x="0" y="0"/>
                  </a:moveTo>
                  <a:lnTo>
                    <a:pt x="209550" y="0"/>
                  </a:lnTo>
                  <a:lnTo>
                    <a:pt x="209550" y="229552"/>
                  </a:lnTo>
                  <a:lnTo>
                    <a:pt x="419100" y="22955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54755" y="4509135"/>
              <a:ext cx="419100" cy="230505"/>
            </a:xfrm>
            <a:custGeom>
              <a:avLst/>
              <a:gdLst/>
              <a:ahLst/>
              <a:cxnLst/>
              <a:rect l="l" t="t" r="r" b="b"/>
              <a:pathLst>
                <a:path w="419100" h="230505">
                  <a:moveTo>
                    <a:pt x="0" y="230505"/>
                  </a:moveTo>
                  <a:lnTo>
                    <a:pt x="209550" y="2305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54755" y="4739640"/>
              <a:ext cx="419100" cy="229553"/>
            </a:xfrm>
            <a:custGeom>
              <a:avLst/>
              <a:gdLst/>
              <a:ahLst/>
              <a:cxnLst/>
              <a:rect l="l" t="t" r="r" b="b"/>
              <a:pathLst>
                <a:path w="419100" h="229553">
                  <a:moveTo>
                    <a:pt x="0" y="0"/>
                  </a:moveTo>
                  <a:lnTo>
                    <a:pt x="209550" y="0"/>
                  </a:lnTo>
                  <a:lnTo>
                    <a:pt x="209550" y="229553"/>
                  </a:lnTo>
                  <a:lnTo>
                    <a:pt x="419100" y="2295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54755" y="542829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16418" y="1983105"/>
              <a:ext cx="419100" cy="1723073"/>
            </a:xfrm>
            <a:custGeom>
              <a:avLst/>
              <a:gdLst/>
              <a:ahLst/>
              <a:cxnLst/>
              <a:rect l="l" t="t" r="r" b="b"/>
              <a:pathLst>
                <a:path w="419100" h="1723073">
                  <a:moveTo>
                    <a:pt x="0" y="1723073"/>
                  </a:moveTo>
                  <a:lnTo>
                    <a:pt x="209550" y="172307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16418" y="2902268"/>
              <a:ext cx="419100" cy="803910"/>
            </a:xfrm>
            <a:custGeom>
              <a:avLst/>
              <a:gdLst/>
              <a:ahLst/>
              <a:cxnLst/>
              <a:rect l="l" t="t" r="r" b="b"/>
              <a:pathLst>
                <a:path w="419100" h="803910">
                  <a:moveTo>
                    <a:pt x="0" y="803910"/>
                  </a:moveTo>
                  <a:lnTo>
                    <a:pt x="209550" y="80391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16418" y="3706178"/>
              <a:ext cx="419100" cy="114300"/>
            </a:xfrm>
            <a:custGeom>
              <a:avLst/>
              <a:gdLst/>
              <a:ahLst/>
              <a:cxnLst/>
              <a:rect l="l" t="t" r="r" b="b"/>
              <a:pathLst>
                <a:path w="419100" h="114300">
                  <a:moveTo>
                    <a:pt x="0" y="0"/>
                  </a:moveTo>
                  <a:lnTo>
                    <a:pt x="209550" y="0"/>
                  </a:lnTo>
                  <a:lnTo>
                    <a:pt x="209550" y="114300"/>
                  </a:lnTo>
                  <a:lnTo>
                    <a:pt x="419100" y="1143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16418" y="3706178"/>
              <a:ext cx="419100" cy="1033462"/>
            </a:xfrm>
            <a:custGeom>
              <a:avLst/>
              <a:gdLst/>
              <a:ahLst/>
              <a:cxnLst/>
              <a:rect l="l" t="t" r="r" b="b"/>
              <a:pathLst>
                <a:path w="419100" h="1033462">
                  <a:moveTo>
                    <a:pt x="0" y="0"/>
                  </a:moveTo>
                  <a:lnTo>
                    <a:pt x="209550" y="0"/>
                  </a:lnTo>
                  <a:lnTo>
                    <a:pt x="209550" y="1033462"/>
                  </a:lnTo>
                  <a:lnTo>
                    <a:pt x="419100" y="10334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16418" y="3706178"/>
              <a:ext cx="419100" cy="1722120"/>
            </a:xfrm>
            <a:custGeom>
              <a:avLst/>
              <a:gdLst/>
              <a:ahLst/>
              <a:cxnLst/>
              <a:rect l="l" t="t" r="r" b="b"/>
              <a:pathLst>
                <a:path w="419100" h="1722120">
                  <a:moveTo>
                    <a:pt x="0" y="0"/>
                  </a:moveTo>
                  <a:lnTo>
                    <a:pt x="209550" y="0"/>
                  </a:lnTo>
                  <a:lnTo>
                    <a:pt x="209550" y="1722120"/>
                  </a:lnTo>
                  <a:lnTo>
                    <a:pt x="419100" y="172212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73855" y="1567815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73855" y="2026920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35518" y="1797368"/>
              <a:ext cx="151828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73855" y="2486025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73855" y="2945130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35518" y="2715578"/>
              <a:ext cx="151828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73855" y="3404235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173855" y="3864292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35518" y="3634740"/>
              <a:ext cx="151828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73855" y="4323398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73855" y="4782502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35518" y="4552950"/>
              <a:ext cx="151828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73855" y="5241608"/>
              <a:ext cx="14458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35518" y="5241608"/>
              <a:ext cx="151828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519488"/>
              <a:ext cx="1283018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62628" y="16644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扩展操作码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2628" y="21235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寻址方式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24290" y="18940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指令格式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62628" y="2583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三类操作数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62628" y="30427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补码与扩展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24290" y="2813209"/>
              <a:ext cx="9982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MIPS 操作数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62628" y="3501866"/>
              <a:ext cx="867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R/I/J 格式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62628" y="39609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五种寻址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24290" y="37314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机器表示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62628" y="44200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分支与循环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62628" y="48801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过程与栈帧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24290" y="46505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控制与过程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62628" y="53392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编译到加载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324290" y="53392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程序翻译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173" y="36171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指令系统</a:t>
              </a:r>
            </a:p>
          </p:txBody>
        </p:sp>
      </p:grpSp>
      <p:grpSp>
        <p:nvGrpSpPr>
          <p:cNvPr id="70" name="c2-bullets-1"/>
          <p:cNvGrpSpPr/>
          <p:nvPr/>
        </p:nvGrpSpPr>
        <p:grpSpPr>
          <a:xfrm>
            <a:off x="5923598" y="1548765"/>
            <a:ext cx="5656897" cy="3337560"/>
            <a:chOff x="5923598" y="1548765"/>
            <a:chExt cx="5656897" cy="3337560"/>
          </a:xfrm>
        </p:grpSpPr>
        <p:sp>
          <p:nvSpPr>
            <p:cNvPr id="52" name="Freeform 52"/>
            <p:cNvSpPr/>
            <p:nvPr/>
          </p:nvSpPr>
          <p:spPr>
            <a:xfrm>
              <a:off x="5923598" y="1580198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74105" y="1548765"/>
              <a:ext cx="5406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型：op rs rt rd shamt funct 依次 6、5、5、5、5、6 位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5923598" y="192500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74105" y="1893570"/>
              <a:ext cx="3687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型：op rs rt 常数依次 6、5、5、16 位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923598" y="2269808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74105" y="2238375"/>
              <a:ext cx="2407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型：op 6 位、地址 26 位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923598" y="261461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74105" y="2583180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数组元素偏移 = 下标 × 4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923598" y="295941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74105" y="2927985"/>
              <a:ext cx="2658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 = PC + 4 + 偏移 × 4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923598" y="330422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74105" y="3272790"/>
              <a:ext cx="3557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跳转目标 = PC 高 4 位拼接（地址 × 4）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5923598" y="3649028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74105" y="3617595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位常数用 lui 装高 16 位，再用 ori 补低 16 位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5923598" y="399383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74105" y="3962400"/>
              <a:ext cx="518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被调用者保证 $s、$sp、$ra 不变；$t、$a、$v 可被改写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5923598" y="433863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74105" y="4307205"/>
              <a:ext cx="5111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RISC：定长指令，只用 load/store 访存；CISC：变长指令，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运算可直接访存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四条设计原则：简单源于规整；越小越快；加速执行常用操作；优秀的设计需要适宜的折中。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第2章 指令：计算机的语言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ch2">
  <a:themeElements>
    <a:clrScheme name="coa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2026-09-19T04:11:47Z</dcterms:created>
  <dcterms:modified xsi:type="dcterms:W3CDTF">2026-09-19T04:11:47Z</dcterms:modified>
  <cp:category/>
  <cp:contentStatus/>
</cp:coreProperties>
</file>