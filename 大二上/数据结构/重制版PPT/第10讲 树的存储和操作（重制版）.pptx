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1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1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3a5f1e8c446194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2da3f37a61f4bf1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46bddfa1d9fa95a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601462" cy="3437763"/>
            <a:chOff x="666750" y="1619250"/>
            <a:chExt cx="560146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第10讲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树的存储和操作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树与二叉树的转换、五种存储结构、树和森林的遍历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左孩子-右兄弟对应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遍历序列加结点度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五种存储结构对比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六个递归算法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10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树与二叉树的转换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树、森林如何变成二叉树，二叉树又如何还原回去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树的顺序存储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双亲表示法、孩子表示法，以及遍历序列加结点度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树的链接存储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0078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Father 链接、多重链表、孩子链表、左孩子-右兄弟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树和森林的遍历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先根、后根、层次，以及它们与二叉树遍历的对应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树上的基本操作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0132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遍历、找父结点、按值查找、删除子树的完整 C 实现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给定一棵树或一个森林，画出它对应的二叉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树，并说出根结点为什么没有右孩子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给定一串遍历序列和结点度序列，手工还原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出树形，并说明扫描方向为什么不同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说出五种存储结构各自把什么存进了结点，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找父亲和找孩子分别要多少时间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写出左孩子-右兄弟结构上先根遍历与找父结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点的递归代码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解释森林的后根序列为什么等于对应二叉树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的中根序列而不是后根序列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39827" cy="3675697"/>
            <a:chOff x="667512" y="1835468"/>
            <a:chExt cx="6239827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树与二叉树的转换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2992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用“左孩子-右兄弟”把孩子数不定的树，变成左右各一个孩子的二叉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树转换成二叉树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森林转换成二叉树的两种方法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二叉树还原成树或森林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森林与二叉树的自然对应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树与二叉树的转换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树的孩子数不定，二叉树的算法却是现成的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293495"/>
            <a:chOff x="533400" y="1524000"/>
            <a:chExt cx="4977765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2524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森林是 m（m ≥ 0）棵互不相交的树的集合。把一棵树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的根结点删掉，它的各棵子树就构成一个森林。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002280"/>
            <a:ext cx="4977765" cy="2457450"/>
            <a:chOff x="533400" y="3002280"/>
            <a:chExt cx="4977765" cy="2457450"/>
          </a:xfrm>
        </p:grpSpPr>
        <p:sp>
          <p:nvSpPr>
            <p:cNvPr id="14" name="Rectangle 14"/>
            <p:cNvSpPr/>
            <p:nvPr/>
          </p:nvSpPr>
          <p:spPr>
            <a:xfrm>
              <a:off x="533400" y="3002280"/>
              <a:ext cx="4977765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13563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2061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4842" y="32418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直接存树难在哪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36395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357997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每个结点的孩子数不一样，按最大度开指针，大量指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针会空着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42310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417147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改成按各自的度开指针，结点大小又不相等，不便管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2955" y="48225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546" y="4762976"/>
              <a:ext cx="41081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二叉树的左右孩子固定是两个，第 8、9 讲的算法框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架已经写好</a:t>
              </a:r>
            </a:p>
          </p:txBody>
        </p:sp>
      </p:grpSp>
      <p:grpSp>
        <p:nvGrpSpPr>
          <p:cNvPr id="75" name="c2-tree-1"/>
          <p:cNvGrpSpPr/>
          <p:nvPr/>
        </p:nvGrpSpPr>
        <p:grpSpPr>
          <a:xfrm>
            <a:off x="5815965" y="1529715"/>
            <a:ext cx="5842635" cy="4136708"/>
            <a:chOff x="5815965" y="1529715"/>
            <a:chExt cx="5842635" cy="4136708"/>
          </a:xfrm>
        </p:grpSpPr>
        <p:sp>
          <p:nvSpPr>
            <p:cNvPr id="25" name="Freeform 25"/>
            <p:cNvSpPr/>
            <p:nvPr/>
          </p:nvSpPr>
          <p:spPr>
            <a:xfrm>
              <a:off x="9494520" y="1696402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345758"/>
                  </a:moveTo>
                  <a:lnTo>
                    <a:pt x="209550" y="3457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494520" y="204216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494520" y="2042160"/>
              <a:ext cx="419100" cy="345757"/>
            </a:xfrm>
            <a:custGeom>
              <a:avLst/>
              <a:gdLst/>
              <a:ahLst/>
              <a:cxnLst/>
              <a:rect l="l" t="t" r="r" b="b"/>
              <a:pathLst>
                <a:path w="419100" h="345757">
                  <a:moveTo>
                    <a:pt x="0" y="0"/>
                  </a:moveTo>
                  <a:lnTo>
                    <a:pt x="209550" y="0"/>
                  </a:lnTo>
                  <a:lnTo>
                    <a:pt x="209550" y="345757"/>
                  </a:lnTo>
                  <a:lnTo>
                    <a:pt x="419100" y="34575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494520" y="2733675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345758"/>
                  </a:moveTo>
                  <a:lnTo>
                    <a:pt x="209550" y="3457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494520" y="307943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494520" y="3079432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0"/>
                  </a:moveTo>
                  <a:lnTo>
                    <a:pt x="209550" y="0"/>
                  </a:lnTo>
                  <a:lnTo>
                    <a:pt x="209550" y="345758"/>
                  </a:lnTo>
                  <a:lnTo>
                    <a:pt x="419100" y="34575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494520" y="3770948"/>
              <a:ext cx="419100" cy="519112"/>
            </a:xfrm>
            <a:custGeom>
              <a:avLst/>
              <a:gdLst/>
              <a:ahLst/>
              <a:cxnLst/>
              <a:rect l="l" t="t" r="r" b="b"/>
              <a:pathLst>
                <a:path w="419100" h="519112">
                  <a:moveTo>
                    <a:pt x="0" y="519112"/>
                  </a:moveTo>
                  <a:lnTo>
                    <a:pt x="209550" y="51911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494520" y="4116705"/>
              <a:ext cx="419100" cy="173355"/>
            </a:xfrm>
            <a:custGeom>
              <a:avLst/>
              <a:gdLst/>
              <a:ahLst/>
              <a:cxnLst/>
              <a:rect l="l" t="t" r="r" b="b"/>
              <a:pathLst>
                <a:path w="419100" h="173355">
                  <a:moveTo>
                    <a:pt x="0" y="173355"/>
                  </a:moveTo>
                  <a:lnTo>
                    <a:pt x="209550" y="1733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494520" y="4290060"/>
              <a:ext cx="419100" cy="172403"/>
            </a:xfrm>
            <a:custGeom>
              <a:avLst/>
              <a:gdLst/>
              <a:ahLst/>
              <a:cxnLst/>
              <a:rect l="l" t="t" r="r" b="b"/>
              <a:pathLst>
                <a:path w="419100" h="172403">
                  <a:moveTo>
                    <a:pt x="0" y="0"/>
                  </a:moveTo>
                  <a:lnTo>
                    <a:pt x="209550" y="0"/>
                  </a:lnTo>
                  <a:lnTo>
                    <a:pt x="209550" y="172403"/>
                  </a:lnTo>
                  <a:lnTo>
                    <a:pt x="419100" y="17240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494520" y="4290060"/>
              <a:ext cx="419100" cy="518160"/>
            </a:xfrm>
            <a:custGeom>
              <a:avLst/>
              <a:gdLst/>
              <a:ahLst/>
              <a:cxnLst/>
              <a:rect l="l" t="t" r="r" b="b"/>
              <a:pathLst>
                <a:path w="419100" h="518160">
                  <a:moveTo>
                    <a:pt x="0" y="0"/>
                  </a:moveTo>
                  <a:lnTo>
                    <a:pt x="209550" y="0"/>
                  </a:lnTo>
                  <a:lnTo>
                    <a:pt x="209550" y="518160"/>
                  </a:lnTo>
                  <a:lnTo>
                    <a:pt x="419100" y="5181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494520" y="5153978"/>
              <a:ext cx="419100" cy="173355"/>
            </a:xfrm>
            <a:custGeom>
              <a:avLst/>
              <a:gdLst/>
              <a:ahLst/>
              <a:cxnLst/>
              <a:rect l="l" t="t" r="r" b="b"/>
              <a:pathLst>
                <a:path w="419100" h="173355">
                  <a:moveTo>
                    <a:pt x="0" y="173355"/>
                  </a:moveTo>
                  <a:lnTo>
                    <a:pt x="209550" y="1733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494520" y="5327332"/>
              <a:ext cx="419100" cy="172403"/>
            </a:xfrm>
            <a:custGeom>
              <a:avLst/>
              <a:gdLst/>
              <a:ahLst/>
              <a:cxnLst/>
              <a:rect l="l" t="t" r="r" b="b"/>
              <a:pathLst>
                <a:path w="419100" h="172403">
                  <a:moveTo>
                    <a:pt x="0" y="0"/>
                  </a:moveTo>
                  <a:lnTo>
                    <a:pt x="209550" y="0"/>
                  </a:lnTo>
                  <a:lnTo>
                    <a:pt x="209550" y="172403"/>
                  </a:lnTo>
                  <a:lnTo>
                    <a:pt x="419100" y="17240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417118" y="2042160"/>
              <a:ext cx="419100" cy="1643062"/>
            </a:xfrm>
            <a:custGeom>
              <a:avLst/>
              <a:gdLst/>
              <a:ahLst/>
              <a:cxnLst/>
              <a:rect l="l" t="t" r="r" b="b"/>
              <a:pathLst>
                <a:path w="419100" h="1643062">
                  <a:moveTo>
                    <a:pt x="0" y="1643062"/>
                  </a:moveTo>
                  <a:lnTo>
                    <a:pt x="209550" y="16430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417118" y="3079432"/>
              <a:ext cx="419100" cy="605790"/>
            </a:xfrm>
            <a:custGeom>
              <a:avLst/>
              <a:gdLst/>
              <a:ahLst/>
              <a:cxnLst/>
              <a:rect l="l" t="t" r="r" b="b"/>
              <a:pathLst>
                <a:path w="419100" h="605790">
                  <a:moveTo>
                    <a:pt x="0" y="605790"/>
                  </a:moveTo>
                  <a:lnTo>
                    <a:pt x="209550" y="60579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417118" y="3685222"/>
              <a:ext cx="419100" cy="604838"/>
            </a:xfrm>
            <a:custGeom>
              <a:avLst/>
              <a:gdLst/>
              <a:ahLst/>
              <a:cxnLst/>
              <a:rect l="l" t="t" r="r" b="b"/>
              <a:pathLst>
                <a:path w="419100" h="604838">
                  <a:moveTo>
                    <a:pt x="0" y="0"/>
                  </a:moveTo>
                  <a:lnTo>
                    <a:pt x="209550" y="0"/>
                  </a:lnTo>
                  <a:lnTo>
                    <a:pt x="209550" y="604838"/>
                  </a:lnTo>
                  <a:lnTo>
                    <a:pt x="419100" y="60483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417118" y="3685222"/>
              <a:ext cx="419100" cy="1642110"/>
            </a:xfrm>
            <a:custGeom>
              <a:avLst/>
              <a:gdLst/>
              <a:ahLst/>
              <a:cxnLst/>
              <a:rect l="l" t="t" r="r" b="b"/>
              <a:pathLst>
                <a:path w="419100" h="1642110">
                  <a:moveTo>
                    <a:pt x="0" y="0"/>
                  </a:moveTo>
                  <a:lnTo>
                    <a:pt x="209550" y="0"/>
                  </a:lnTo>
                  <a:lnTo>
                    <a:pt x="209550" y="1642110"/>
                  </a:lnTo>
                  <a:lnTo>
                    <a:pt x="419100" y="164211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913620" y="1529715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913620" y="1875472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913620" y="2221230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836218" y="1875472"/>
              <a:ext cx="1658302" cy="333375"/>
            </a:xfrm>
            <a:prstGeom prst="roundRect">
              <a:avLst>
                <a:gd name="adj" fmla="val 28571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13620" y="2566988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13620" y="2912745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913620" y="3171825"/>
              <a:ext cx="1744980" cy="506730"/>
            </a:xfrm>
            <a:prstGeom prst="roundRect">
              <a:avLst>
                <a:gd name="adj" fmla="val 18797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36218" y="2912745"/>
              <a:ext cx="1658302" cy="333375"/>
            </a:xfrm>
            <a:prstGeom prst="roundRect">
              <a:avLst>
                <a:gd name="adj" fmla="val 28571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913620" y="3604260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913620" y="3950018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913620" y="4295775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913620" y="4641532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836218" y="4123372"/>
              <a:ext cx="1658302" cy="333375"/>
            </a:xfrm>
            <a:prstGeom prst="roundRect">
              <a:avLst>
                <a:gd name="adj" fmla="val 28571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913620" y="4987290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913620" y="5333048"/>
              <a:ext cx="17449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36218" y="5159692"/>
              <a:ext cx="1658302" cy="333375"/>
            </a:xfrm>
            <a:prstGeom prst="roundRect">
              <a:avLst>
                <a:gd name="adj" fmla="val 28571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15965" y="3430905"/>
              <a:ext cx="1602105" cy="506730"/>
            </a:xfrm>
            <a:prstGeom prst="roundRect">
              <a:avLst>
                <a:gd name="adj" fmla="val 1879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003536" y="1623060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 → 二叉树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003536" y="1968818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 → 二叉树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03536" y="2314575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 → 树 / 森林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26134" y="196881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树与二叉树的转换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03536" y="266033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双亲表示法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03536" y="300609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孩子表示法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03536" y="3265170"/>
              <a:ext cx="544068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遍历序列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结点度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26134" y="30060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顺序存储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03536" y="3697605"/>
              <a:ext cx="807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 链接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03536" y="40433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多重链表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03536" y="43891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孩子链表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03536" y="4734878"/>
              <a:ext cx="936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左孩子-右兄弟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926134" y="42167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链接存储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03536" y="5080635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 / 后根 / 层次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003536" y="542639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六个递归算法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26134" y="525399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遍历与操作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905881" y="3525202"/>
              <a:ext cx="544068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树的存储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和操作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6" name="Rectangle 7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511" y="6004084"/>
              <a:ext cx="9572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本讲的主线：先把树变成二叉树，树上的大部分问题就能套用二叉树已有的算法框架，剩下的只是换一套字段名。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树与二叉树的转换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树转二叉树：连上兄弟，只留长子那条边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539996" cy="2011109"/>
            <a:chOff x="533400" y="1533525"/>
            <a:chExt cx="4539996" cy="20111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加兄弟连线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在所有兄弟结点之间加一条连线（图中的红色虚线）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74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只留长子边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7927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每个结点与孩子的连线，只保留与最左边那个孩子的一条，去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掉与其余孩子的连线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调整图形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旋转连线的方向与长短，画成符合二叉树规范的样子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720465"/>
            <a:ext cx="4760595" cy="2185988"/>
            <a:chOff x="533400" y="3720465"/>
            <a:chExt cx="4760595" cy="2185988"/>
          </a:xfrm>
        </p:grpSpPr>
        <p:sp>
          <p:nvSpPr>
            <p:cNvPr id="21" name="Rectangle 21"/>
            <p:cNvSpPr/>
            <p:nvPr/>
          </p:nvSpPr>
          <p:spPr>
            <a:xfrm>
              <a:off x="533400" y="3720465"/>
              <a:ext cx="4760595" cy="2185988"/>
            </a:xfrm>
            <a:prstGeom prst="roundRect">
              <a:avLst>
                <a:gd name="adj" fmla="val 61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7235" y="392430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0692" y="39600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三条对应规则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7235" y="428529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580" y="43256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8128" y="4297204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一个结点的左孩子，仍然是它在二叉树里的左孩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37235" y="487680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5580" y="49171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8128" y="488870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一个结点的右兄弟，变成它在二叉树里的右孩子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37235" y="519684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5580" y="52371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8128" y="5208746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由一棵树转出的二叉树，根结点一定没有右孩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子。根结点没有兄弟，右孩子这个位置就空着</a:t>
              </a:r>
            </a:p>
          </p:txBody>
        </p:sp>
      </p:grpSp>
      <p:grpSp>
        <p:nvGrpSpPr>
          <p:cNvPr id="55" name="c2-graph-1"/>
          <p:cNvGrpSpPr/>
          <p:nvPr/>
        </p:nvGrpSpPr>
        <p:grpSpPr>
          <a:xfrm>
            <a:off x="6057710" y="1614488"/>
            <a:ext cx="4783645" cy="1452562"/>
            <a:chOff x="6057710" y="1614488"/>
            <a:chExt cx="4783645" cy="1452562"/>
          </a:xfrm>
        </p:grpSpPr>
        <p:sp>
          <p:nvSpPr>
            <p:cNvPr id="34" name="Freeform 34"/>
            <p:cNvSpPr/>
            <p:nvPr/>
          </p:nvSpPr>
          <p:spPr>
            <a:xfrm>
              <a:off x="6724650" y="1809750"/>
              <a:ext cx="1747838" cy="480060"/>
            </a:xfrm>
            <a:custGeom>
              <a:avLst/>
              <a:gdLst/>
              <a:ahLst/>
              <a:cxnLst/>
              <a:rect l="l" t="t" r="r" b="b"/>
              <a:pathLst>
                <a:path w="1747838" h="480060">
                  <a:moveTo>
                    <a:pt x="1747838" y="0"/>
                  </a:moveTo>
                  <a:lnTo>
                    <a:pt x="0" y="4800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628698" y="1928812"/>
              <a:ext cx="9525" cy="241935"/>
            </a:xfrm>
            <a:custGeom>
              <a:avLst/>
              <a:gdLst/>
              <a:ahLst/>
              <a:cxnLst/>
              <a:rect l="l" t="t" r="r" b="b"/>
              <a:pathLst>
                <a:path w="9525" h="241935">
                  <a:moveTo>
                    <a:pt x="0" y="0"/>
                  </a:moveTo>
                  <a:lnTo>
                    <a:pt x="0" y="2419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84908" y="1809750"/>
              <a:ext cx="1747838" cy="480060"/>
            </a:xfrm>
            <a:custGeom>
              <a:avLst/>
              <a:gdLst/>
              <a:ahLst/>
              <a:cxnLst/>
              <a:rect l="l" t="t" r="r" b="b"/>
              <a:pathLst>
                <a:path w="1747838" h="480060">
                  <a:moveTo>
                    <a:pt x="0" y="0"/>
                  </a:moveTo>
                  <a:lnTo>
                    <a:pt x="1747838" y="4800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798118" y="2415540"/>
              <a:ext cx="691515" cy="415290"/>
            </a:xfrm>
            <a:custGeom>
              <a:avLst/>
              <a:gdLst/>
              <a:ahLst/>
              <a:cxnLst/>
              <a:rect l="l" t="t" r="r" b="b"/>
              <a:pathLst>
                <a:path w="691515" h="415290">
                  <a:moveTo>
                    <a:pt x="691515" y="0"/>
                  </a:moveTo>
                  <a:lnTo>
                    <a:pt x="0" y="415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767762" y="2415540"/>
              <a:ext cx="691515" cy="415290"/>
            </a:xfrm>
            <a:custGeom>
              <a:avLst/>
              <a:gdLst/>
              <a:ahLst/>
              <a:cxnLst/>
              <a:rect l="l" t="t" r="r" b="b"/>
              <a:pathLst>
                <a:path w="691515" h="415290">
                  <a:moveTo>
                    <a:pt x="0" y="0"/>
                  </a:moveTo>
                  <a:lnTo>
                    <a:pt x="691515" y="415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730365" y="2332672"/>
              <a:ext cx="1736407" cy="9525"/>
            </a:xfrm>
            <a:custGeom>
              <a:avLst/>
              <a:gdLst/>
              <a:ahLst/>
              <a:cxnLst/>
              <a:rect l="l" t="t" r="r" b="b"/>
              <a:pathLst>
                <a:path w="1736407" h="9525">
                  <a:moveTo>
                    <a:pt x="0" y="0"/>
                  </a:moveTo>
                  <a:lnTo>
                    <a:pt x="1736407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8790622" y="2332672"/>
              <a:ext cx="1736408" cy="9525"/>
            </a:xfrm>
            <a:custGeom>
              <a:avLst/>
              <a:gdLst/>
              <a:ahLst/>
              <a:cxnLst/>
              <a:rect l="l" t="t" r="r" b="b"/>
              <a:pathLst>
                <a:path w="1736408" h="9525">
                  <a:moveTo>
                    <a:pt x="0" y="0"/>
                  </a:moveTo>
                  <a:lnTo>
                    <a:pt x="1736408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41" name="Freeform 41"/>
            <p:cNvSpPr/>
            <p:nvPr/>
          </p:nvSpPr>
          <p:spPr>
            <a:xfrm>
              <a:off x="7820978" y="2914650"/>
              <a:ext cx="1615440" cy="9525"/>
            </a:xfrm>
            <a:custGeom>
              <a:avLst/>
              <a:gdLst/>
              <a:ahLst/>
              <a:cxnLst/>
              <a:rect l="l" t="t" r="r" b="b"/>
              <a:pathLst>
                <a:path w="1615440" h="9525">
                  <a:moveTo>
                    <a:pt x="0" y="0"/>
                  </a:moveTo>
                  <a:lnTo>
                    <a:pt x="161544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42" name="Ellipse 42"/>
            <p:cNvSpPr/>
            <p:nvPr/>
          </p:nvSpPr>
          <p:spPr>
            <a:xfrm>
              <a:off x="8476298" y="161448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416040" y="21802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476298" y="21802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536555" y="21802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506652" y="27622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9445942" y="27622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76982" y="169687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16725" y="226266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76982" y="226266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37240" y="226266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07337" y="28446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46627" y="28446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57710" y="163734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</p:grpSp>
      <p:grpSp>
        <p:nvGrpSpPr>
          <p:cNvPr id="75" name="c2-graph-2"/>
          <p:cNvGrpSpPr/>
          <p:nvPr/>
        </p:nvGrpSpPr>
        <p:grpSpPr>
          <a:xfrm>
            <a:off x="7143750" y="3431858"/>
            <a:ext cx="4377690" cy="2369820"/>
            <a:chOff x="7143750" y="3431858"/>
            <a:chExt cx="4377690" cy="2369820"/>
          </a:xfrm>
        </p:grpSpPr>
        <p:sp>
          <p:nvSpPr>
            <p:cNvPr id="56" name="Freeform 56"/>
            <p:cNvSpPr/>
            <p:nvPr/>
          </p:nvSpPr>
          <p:spPr>
            <a:xfrm>
              <a:off x="7446645" y="3642360"/>
              <a:ext cx="1031558" cy="400050"/>
            </a:xfrm>
            <a:custGeom>
              <a:avLst/>
              <a:gdLst/>
              <a:ahLst/>
              <a:cxnLst/>
              <a:rect l="l" t="t" r="r" b="b"/>
              <a:pathLst>
                <a:path w="1031558" h="400050">
                  <a:moveTo>
                    <a:pt x="1031558" y="0"/>
                  </a:moveTo>
                  <a:lnTo>
                    <a:pt x="0" y="4000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439025" y="4176712"/>
              <a:ext cx="682943" cy="363855"/>
            </a:xfrm>
            <a:custGeom>
              <a:avLst/>
              <a:gdLst/>
              <a:ahLst/>
              <a:cxnLst/>
              <a:rect l="l" t="t" r="r" b="b"/>
              <a:pathLst>
                <a:path w="682943" h="363855">
                  <a:moveTo>
                    <a:pt x="0" y="0"/>
                  </a:moveTo>
                  <a:lnTo>
                    <a:pt x="682943" y="3638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555230" y="4700588"/>
              <a:ext cx="571500" cy="347662"/>
            </a:xfrm>
            <a:custGeom>
              <a:avLst/>
              <a:gdLst/>
              <a:ahLst/>
              <a:cxnLst/>
              <a:rect l="l" t="t" r="r" b="b"/>
              <a:pathLst>
                <a:path w="571500" h="347662">
                  <a:moveTo>
                    <a:pt x="571500" y="0"/>
                  </a:moveTo>
                  <a:lnTo>
                    <a:pt x="0" y="3476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411528" y="4686300"/>
              <a:ext cx="798195" cy="377190"/>
            </a:xfrm>
            <a:custGeom>
              <a:avLst/>
              <a:gdLst/>
              <a:ahLst/>
              <a:cxnLst/>
              <a:rect l="l" t="t" r="r" b="b"/>
              <a:pathLst>
                <a:path w="798195" h="377190">
                  <a:moveTo>
                    <a:pt x="0" y="0"/>
                  </a:moveTo>
                  <a:lnTo>
                    <a:pt x="798195" y="3771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555230" y="5216842"/>
              <a:ext cx="571500" cy="347662"/>
            </a:xfrm>
            <a:custGeom>
              <a:avLst/>
              <a:gdLst/>
              <a:ahLst/>
              <a:cxnLst/>
              <a:rect l="l" t="t" r="r" b="b"/>
              <a:pathLst>
                <a:path w="571500" h="347662">
                  <a:moveTo>
                    <a:pt x="0" y="0"/>
                  </a:moveTo>
                  <a:lnTo>
                    <a:pt x="571500" y="3476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8476298" y="343185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7143750" y="39481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8113395" y="446436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7264718" y="498062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9204008" y="498062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8113395" y="549687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576982" y="351424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44435" y="40305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14080" y="454675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65402" y="506301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304692" y="506301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14080" y="557926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94748" y="37642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由树转换的二叉树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372600" y="4177665"/>
              <a:ext cx="214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是 A 的长子，C 是 B 的兄弟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树与二叉树的转换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森林转二叉树：补虚根，或者把树根串成右链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272540"/>
            <a:chOff x="533400" y="1524000"/>
            <a:chExt cx="5410200" cy="12725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方法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6660" y="17564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先补一个虚拟的根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3905" y="20783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702" y="2090738"/>
              <a:ext cx="3266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引入一个虚拟的根 R，把森林变成一棵树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3905" y="238029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958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4702" y="239268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按上一页的办法，把这棵树转换成二叉树</a:t>
              </a:r>
            </a:p>
          </p:txBody>
        </p:sp>
      </p:grpSp>
      <p:grpSp>
        <p:nvGrpSpPr>
          <p:cNvPr id="56" name="c1-graph-2"/>
          <p:cNvGrpSpPr/>
          <p:nvPr/>
        </p:nvGrpSpPr>
        <p:grpSpPr>
          <a:xfrm>
            <a:off x="715328" y="3070860"/>
            <a:ext cx="4721542" cy="2273618"/>
            <a:chOff x="715328" y="3070860"/>
            <a:chExt cx="4721542" cy="2273618"/>
          </a:xfrm>
        </p:grpSpPr>
        <p:sp>
          <p:nvSpPr>
            <p:cNvPr id="19" name="Freeform 19"/>
            <p:cNvSpPr/>
            <p:nvPr/>
          </p:nvSpPr>
          <p:spPr>
            <a:xfrm>
              <a:off x="1756410" y="3272790"/>
              <a:ext cx="1341120" cy="561022"/>
            </a:xfrm>
            <a:custGeom>
              <a:avLst/>
              <a:gdLst/>
              <a:ahLst/>
              <a:cxnLst/>
              <a:rect l="l" t="t" r="r" b="b"/>
              <a:pathLst>
                <a:path w="1341120" h="561022">
                  <a:moveTo>
                    <a:pt x="1341120" y="0"/>
                  </a:moveTo>
                  <a:lnTo>
                    <a:pt x="0" y="5610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238500" y="3366135"/>
              <a:ext cx="9525" cy="373380"/>
            </a:xfrm>
            <a:custGeom>
              <a:avLst/>
              <a:gdLst/>
              <a:ahLst/>
              <a:cxnLst/>
              <a:rect l="l" t="t" r="r" b="b"/>
              <a:pathLst>
                <a:path w="9525" h="373380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379470" y="3272790"/>
              <a:ext cx="1341120" cy="561022"/>
            </a:xfrm>
            <a:custGeom>
              <a:avLst/>
              <a:gdLst/>
              <a:ahLst/>
              <a:cxnLst/>
              <a:rect l="l" t="t" r="r" b="b"/>
              <a:pathLst>
                <a:path w="1341120" h="561022">
                  <a:moveTo>
                    <a:pt x="0" y="0"/>
                  </a:moveTo>
                  <a:lnTo>
                    <a:pt x="1341120" y="5610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71550" y="3993832"/>
              <a:ext cx="530542" cy="475297"/>
            </a:xfrm>
            <a:custGeom>
              <a:avLst/>
              <a:gdLst/>
              <a:ahLst/>
              <a:cxnLst/>
              <a:rect l="l" t="t" r="r" b="b"/>
              <a:pathLst>
                <a:path w="530542" h="475297">
                  <a:moveTo>
                    <a:pt x="530542" y="0"/>
                  </a:moveTo>
                  <a:lnTo>
                    <a:pt x="0" y="4752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615440" y="4044315"/>
              <a:ext cx="9525" cy="374332"/>
            </a:xfrm>
            <a:custGeom>
              <a:avLst/>
              <a:gdLst/>
              <a:ahLst/>
              <a:cxnLst/>
              <a:rect l="l" t="t" r="r" b="b"/>
              <a:pathLst>
                <a:path w="9525" h="374332">
                  <a:moveTo>
                    <a:pt x="0" y="0"/>
                  </a:moveTo>
                  <a:lnTo>
                    <a:pt x="0" y="3743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728788" y="3993832"/>
              <a:ext cx="530542" cy="475297"/>
            </a:xfrm>
            <a:custGeom>
              <a:avLst/>
              <a:gdLst/>
              <a:ahLst/>
              <a:cxnLst/>
              <a:rect l="l" t="t" r="r" b="b"/>
              <a:pathLst>
                <a:path w="530542" h="475297">
                  <a:moveTo>
                    <a:pt x="0" y="0"/>
                  </a:moveTo>
                  <a:lnTo>
                    <a:pt x="530542" y="4752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238500" y="4044315"/>
              <a:ext cx="9525" cy="374332"/>
            </a:xfrm>
            <a:custGeom>
              <a:avLst/>
              <a:gdLst/>
              <a:ahLst/>
              <a:cxnLst/>
              <a:rect l="l" t="t" r="r" b="b"/>
              <a:pathLst>
                <a:path w="9525" h="374332">
                  <a:moveTo>
                    <a:pt x="0" y="0"/>
                  </a:moveTo>
                  <a:lnTo>
                    <a:pt x="0" y="3743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317682" y="4002405"/>
              <a:ext cx="438150" cy="458153"/>
            </a:xfrm>
            <a:custGeom>
              <a:avLst/>
              <a:gdLst/>
              <a:ahLst/>
              <a:cxnLst/>
              <a:rect l="l" t="t" r="r" b="b"/>
              <a:pathLst>
                <a:path w="438150" h="458153">
                  <a:moveTo>
                    <a:pt x="438150" y="0"/>
                  </a:moveTo>
                  <a:lnTo>
                    <a:pt x="0" y="4581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943475" y="4020502"/>
              <a:ext cx="268605" cy="421957"/>
            </a:xfrm>
            <a:custGeom>
              <a:avLst/>
              <a:gdLst/>
              <a:ahLst/>
              <a:cxnLst/>
              <a:rect l="l" t="t" r="r" b="b"/>
              <a:pathLst>
                <a:path w="268605" h="421957">
                  <a:moveTo>
                    <a:pt x="0" y="0"/>
                  </a:moveTo>
                  <a:lnTo>
                    <a:pt x="268605" y="4219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293995" y="4723448"/>
              <a:ext cx="9525" cy="325755"/>
            </a:xfrm>
            <a:custGeom>
              <a:avLst/>
              <a:gdLst/>
              <a:ahLst/>
              <a:cxnLst/>
              <a:rect l="l" t="t" r="r" b="b"/>
              <a:pathLst>
                <a:path w="9525" h="325755">
                  <a:moveTo>
                    <a:pt x="0" y="0"/>
                  </a:moveTo>
                  <a:lnTo>
                    <a:pt x="0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767840" y="3891915"/>
              <a:ext cx="1318260" cy="9525"/>
            </a:xfrm>
            <a:custGeom>
              <a:avLst/>
              <a:gdLst/>
              <a:ahLst/>
              <a:cxnLst/>
              <a:rect l="l" t="t" r="r" b="b"/>
              <a:pathLst>
                <a:path w="1318260" h="9525">
                  <a:moveTo>
                    <a:pt x="0" y="0"/>
                  </a:moveTo>
                  <a:lnTo>
                    <a:pt x="131826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3390900" y="3891915"/>
              <a:ext cx="1318260" cy="9525"/>
            </a:xfrm>
            <a:custGeom>
              <a:avLst/>
              <a:gdLst/>
              <a:ahLst/>
              <a:cxnLst/>
              <a:rect l="l" t="t" r="r" b="b"/>
              <a:pathLst>
                <a:path w="1318260" h="9525">
                  <a:moveTo>
                    <a:pt x="0" y="0"/>
                  </a:moveTo>
                  <a:lnTo>
                    <a:pt x="131826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1010602" y="4571048"/>
              <a:ext cx="452438" cy="9525"/>
            </a:xfrm>
            <a:custGeom>
              <a:avLst/>
              <a:gdLst/>
              <a:ahLst/>
              <a:cxnLst/>
              <a:rect l="l" t="t" r="r" b="b"/>
              <a:pathLst>
                <a:path w="452438" h="9525">
                  <a:moveTo>
                    <a:pt x="0" y="0"/>
                  </a:moveTo>
                  <a:lnTo>
                    <a:pt x="452438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1767840" y="4571048"/>
              <a:ext cx="452438" cy="9525"/>
            </a:xfrm>
            <a:custGeom>
              <a:avLst/>
              <a:gdLst/>
              <a:ahLst/>
              <a:cxnLst/>
              <a:rect l="l" t="t" r="r" b="b"/>
              <a:pathLst>
                <a:path w="452438" h="9525">
                  <a:moveTo>
                    <a:pt x="0" y="0"/>
                  </a:moveTo>
                  <a:lnTo>
                    <a:pt x="452438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4364355" y="4571048"/>
              <a:ext cx="777240" cy="9525"/>
            </a:xfrm>
            <a:custGeom>
              <a:avLst/>
              <a:gdLst/>
              <a:ahLst/>
              <a:cxnLst/>
              <a:rect l="l" t="t" r="r" b="b"/>
              <a:pathLst>
                <a:path w="777240" h="9525">
                  <a:moveTo>
                    <a:pt x="0" y="0"/>
                  </a:moveTo>
                  <a:lnTo>
                    <a:pt x="77724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34" name="Ellipse 34"/>
            <p:cNvSpPr/>
            <p:nvPr/>
          </p:nvSpPr>
          <p:spPr>
            <a:xfrm>
              <a:off x="3095625" y="3070860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1472565" y="37490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095625" y="37490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4718685" y="37490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15328" y="44281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472565" y="44281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2229802" y="44281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3095625" y="44281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4069080" y="44281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5151120" y="44281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5151120" y="50587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193297" y="315325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70237" y="383143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93297" y="383143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16357" y="383143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2999" y="451056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70237" y="451056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327474" y="451056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193297" y="451056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66752" y="451056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67087" y="4510564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48792" y="514111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6248400" y="1524000"/>
            <a:ext cx="5410200" cy="1529715"/>
            <a:chOff x="6248400" y="1524000"/>
            <a:chExt cx="5410200" cy="1529715"/>
          </a:xfrm>
        </p:grpSpPr>
        <p:sp>
          <p:nvSpPr>
            <p:cNvPr id="57" name="Rectangle 57"/>
            <p:cNvSpPr/>
            <p:nvPr/>
          </p:nvSpPr>
          <p:spPr>
            <a:xfrm>
              <a:off x="6248400" y="1524000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57925" y="165735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89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663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方法 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81660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把各棵树的根串成一条右链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78905" y="20783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34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59702" y="209073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先把每棵树各自转换成二叉树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78905" y="238029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3458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59702" y="239268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以第一棵二叉树的根为总根，其余二叉树的根依次作为上一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棵二叉树根结点的右孩子</a:t>
              </a:r>
            </a:p>
          </p:txBody>
        </p:sp>
      </p:grpSp>
      <p:grpSp>
        <p:nvGrpSpPr>
          <p:cNvPr id="101" name="c2-graph-2"/>
          <p:cNvGrpSpPr/>
          <p:nvPr/>
        </p:nvGrpSpPr>
        <p:grpSpPr>
          <a:xfrm>
            <a:off x="6376035" y="3388995"/>
            <a:ext cx="4993005" cy="1888807"/>
            <a:chOff x="6376035" y="3388995"/>
            <a:chExt cx="4993005" cy="1888807"/>
          </a:xfrm>
        </p:grpSpPr>
        <p:sp>
          <p:nvSpPr>
            <p:cNvPr id="69" name="Freeform 69"/>
            <p:cNvSpPr/>
            <p:nvPr/>
          </p:nvSpPr>
          <p:spPr>
            <a:xfrm>
              <a:off x="6617970" y="3648075"/>
              <a:ext cx="504825" cy="591503"/>
            </a:xfrm>
            <a:custGeom>
              <a:avLst/>
              <a:gdLst/>
              <a:ahLst/>
              <a:cxnLst/>
              <a:rect l="l" t="t" r="r" b="b"/>
              <a:pathLst>
                <a:path w="504825" h="591503">
                  <a:moveTo>
                    <a:pt x="504825" y="0"/>
                  </a:moveTo>
                  <a:lnTo>
                    <a:pt x="0" y="5915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7221855" y="3684270"/>
              <a:ext cx="9525" cy="518160"/>
            </a:xfrm>
            <a:custGeom>
              <a:avLst/>
              <a:gdLst/>
              <a:ahLst/>
              <a:cxnLst/>
              <a:rect l="l" t="t" r="r" b="b"/>
              <a:pathLst>
                <a:path w="9525" h="518160">
                  <a:moveTo>
                    <a:pt x="0" y="0"/>
                  </a:moveTo>
                  <a:lnTo>
                    <a:pt x="0" y="518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320915" y="3648075"/>
              <a:ext cx="505778" cy="591503"/>
            </a:xfrm>
            <a:custGeom>
              <a:avLst/>
              <a:gdLst/>
              <a:ahLst/>
              <a:cxnLst/>
              <a:rect l="l" t="t" r="r" b="b"/>
              <a:pathLst>
                <a:path w="505778" h="591503">
                  <a:moveTo>
                    <a:pt x="0" y="0"/>
                  </a:moveTo>
                  <a:lnTo>
                    <a:pt x="505778" y="5915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9062085" y="3684270"/>
              <a:ext cx="9525" cy="518160"/>
            </a:xfrm>
            <a:custGeom>
              <a:avLst/>
              <a:gdLst/>
              <a:ahLst/>
              <a:cxnLst/>
              <a:rect l="l" t="t" r="r" b="b"/>
              <a:pathLst>
                <a:path w="9525" h="518160">
                  <a:moveTo>
                    <a:pt x="0" y="0"/>
                  </a:moveTo>
                  <a:lnTo>
                    <a:pt x="0" y="518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0226992" y="3659505"/>
              <a:ext cx="374332" cy="568642"/>
            </a:xfrm>
            <a:custGeom>
              <a:avLst/>
              <a:gdLst/>
              <a:ahLst/>
              <a:cxnLst/>
              <a:rect l="l" t="t" r="r" b="b"/>
              <a:pathLst>
                <a:path w="374332" h="568642">
                  <a:moveTo>
                    <a:pt x="374332" y="0"/>
                  </a:moveTo>
                  <a:lnTo>
                    <a:pt x="0" y="5686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10768012" y="3659505"/>
              <a:ext cx="374332" cy="568642"/>
            </a:xfrm>
            <a:custGeom>
              <a:avLst/>
              <a:gdLst/>
              <a:ahLst/>
              <a:cxnLst/>
              <a:rect l="l" t="t" r="r" b="b"/>
              <a:pathLst>
                <a:path w="374332" h="568642">
                  <a:moveTo>
                    <a:pt x="0" y="0"/>
                  </a:moveTo>
                  <a:lnTo>
                    <a:pt x="374332" y="5686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11226165" y="4507230"/>
              <a:ext cx="9525" cy="475298"/>
            </a:xfrm>
            <a:custGeom>
              <a:avLst/>
              <a:gdLst/>
              <a:ahLst/>
              <a:cxnLst/>
              <a:rect l="l" t="t" r="r" b="b"/>
              <a:pathLst>
                <a:path w="9525" h="475298">
                  <a:moveTo>
                    <a:pt x="0" y="0"/>
                  </a:moveTo>
                  <a:lnTo>
                    <a:pt x="0" y="4752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6671310" y="4354830"/>
              <a:ext cx="398145" cy="9525"/>
            </a:xfrm>
            <a:custGeom>
              <a:avLst/>
              <a:gdLst/>
              <a:ahLst/>
              <a:cxnLst/>
              <a:rect l="l" t="t" r="r" b="b"/>
              <a:pathLst>
                <a:path w="398145" h="9525">
                  <a:moveTo>
                    <a:pt x="0" y="0"/>
                  </a:moveTo>
                  <a:lnTo>
                    <a:pt x="398145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77" name="Freeform 77"/>
            <p:cNvSpPr/>
            <p:nvPr/>
          </p:nvSpPr>
          <p:spPr>
            <a:xfrm>
              <a:off x="7374255" y="4354830"/>
              <a:ext cx="399097" cy="9525"/>
            </a:xfrm>
            <a:custGeom>
              <a:avLst/>
              <a:gdLst/>
              <a:ahLst/>
              <a:cxnLst/>
              <a:rect l="l" t="t" r="r" b="b"/>
              <a:pathLst>
                <a:path w="399097" h="9525">
                  <a:moveTo>
                    <a:pt x="0" y="0"/>
                  </a:moveTo>
                  <a:lnTo>
                    <a:pt x="399097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78" name="Freeform 78"/>
            <p:cNvSpPr/>
            <p:nvPr/>
          </p:nvSpPr>
          <p:spPr>
            <a:xfrm>
              <a:off x="10296525" y="4354830"/>
              <a:ext cx="777240" cy="9525"/>
            </a:xfrm>
            <a:custGeom>
              <a:avLst/>
              <a:gdLst/>
              <a:ahLst/>
              <a:cxnLst/>
              <a:rect l="l" t="t" r="r" b="b"/>
              <a:pathLst>
                <a:path w="777240" h="9525">
                  <a:moveTo>
                    <a:pt x="0" y="0"/>
                  </a:moveTo>
                  <a:lnTo>
                    <a:pt x="77724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79" name="Freeform 79"/>
            <p:cNvSpPr/>
            <p:nvPr/>
          </p:nvSpPr>
          <p:spPr>
            <a:xfrm>
              <a:off x="7374255" y="3531870"/>
              <a:ext cx="1535430" cy="9525"/>
            </a:xfrm>
            <a:custGeom>
              <a:avLst/>
              <a:gdLst/>
              <a:ahLst/>
              <a:cxnLst/>
              <a:rect l="l" t="t" r="r" b="b"/>
              <a:pathLst>
                <a:path w="1535430" h="9525">
                  <a:moveTo>
                    <a:pt x="0" y="0"/>
                  </a:moveTo>
                  <a:lnTo>
                    <a:pt x="153543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80" name="Freeform 80"/>
            <p:cNvSpPr/>
            <p:nvPr/>
          </p:nvSpPr>
          <p:spPr>
            <a:xfrm>
              <a:off x="9214485" y="3531870"/>
              <a:ext cx="1318260" cy="9525"/>
            </a:xfrm>
            <a:custGeom>
              <a:avLst/>
              <a:gdLst/>
              <a:ahLst/>
              <a:cxnLst/>
              <a:rect l="l" t="t" r="r" b="b"/>
              <a:pathLst>
                <a:path w="1318260" h="9525">
                  <a:moveTo>
                    <a:pt x="0" y="0"/>
                  </a:moveTo>
                  <a:lnTo>
                    <a:pt x="1318260" y="0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81" name="Ellipse 81"/>
            <p:cNvSpPr/>
            <p:nvPr/>
          </p:nvSpPr>
          <p:spPr>
            <a:xfrm>
              <a:off x="7078980" y="33889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6376035" y="42119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7078980" y="42119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7782878" y="42119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8919210" y="33889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8919210" y="42119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10542270" y="33889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10001250" y="42119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11083290" y="42119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11083290" y="499205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176652" y="347138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473707" y="429434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176652" y="429434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880549" y="429434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016882" y="347138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016882" y="429434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639942" y="347138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098922" y="429434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199257" y="4294346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180962" y="50744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</p:grpSp>
      <p:grpSp>
        <p:nvGrpSpPr>
          <p:cNvPr id="108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102" name="Rectangle 102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1040892" y="5779770"/>
              <a:ext cx="98892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更正：源课件方法 1 画到带虚根 R 的二叉树就结束了。要与方法 2 的结果一致，还得把 R 连同它那条边去掉，剩下的左子树才是森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林对应的二叉树。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树与二叉树的转换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根的右链上有几个结点，森林里就有几棵树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graph-1"/>
          <p:cNvGrpSpPr/>
          <p:nvPr/>
        </p:nvGrpSpPr>
        <p:grpSpPr>
          <a:xfrm>
            <a:off x="1075372" y="1614488"/>
            <a:ext cx="4372242" cy="2640330"/>
            <a:chOff x="1075372" y="1614488"/>
            <a:chExt cx="4372242" cy="2640330"/>
          </a:xfrm>
        </p:grpSpPr>
        <p:sp>
          <p:nvSpPr>
            <p:cNvPr id="7" name="Freeform 7"/>
            <p:cNvSpPr/>
            <p:nvPr/>
          </p:nvSpPr>
          <p:spPr>
            <a:xfrm>
              <a:off x="1338262" y="1807845"/>
              <a:ext cx="753428" cy="353377"/>
            </a:xfrm>
            <a:custGeom>
              <a:avLst/>
              <a:gdLst/>
              <a:ahLst/>
              <a:cxnLst/>
              <a:rect l="l" t="t" r="r" b="b"/>
              <a:pathLst>
                <a:path w="753428" h="353377">
                  <a:moveTo>
                    <a:pt x="753428" y="0"/>
                  </a:moveTo>
                  <a:lnTo>
                    <a:pt x="0" y="3533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50770" y="1807845"/>
              <a:ext cx="754380" cy="353377"/>
            </a:xfrm>
            <a:custGeom>
              <a:avLst/>
              <a:gdLst/>
              <a:ahLst/>
              <a:cxnLst/>
              <a:rect l="l" t="t" r="r" b="b"/>
              <a:pathLst>
                <a:path w="754380" h="353377">
                  <a:moveTo>
                    <a:pt x="0" y="0"/>
                  </a:moveTo>
                  <a:lnTo>
                    <a:pt x="754380" y="353377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06830" y="2326005"/>
              <a:ext cx="253365" cy="267653"/>
            </a:xfrm>
            <a:custGeom>
              <a:avLst/>
              <a:gdLst/>
              <a:ahLst/>
              <a:cxnLst/>
              <a:rect l="l" t="t" r="r" b="b"/>
              <a:pathLst>
                <a:path w="253365" h="267653">
                  <a:moveTo>
                    <a:pt x="0" y="0"/>
                  </a:moveTo>
                  <a:lnTo>
                    <a:pt x="253365" y="2676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57362" y="2801302"/>
              <a:ext cx="253365" cy="266700"/>
            </a:xfrm>
            <a:custGeom>
              <a:avLst/>
              <a:gdLst/>
              <a:ahLst/>
              <a:cxnLst/>
              <a:rect l="l" t="t" r="r" b="b"/>
              <a:pathLst>
                <a:path w="253365" h="266700">
                  <a:moveTo>
                    <a:pt x="0" y="0"/>
                  </a:moveTo>
                  <a:lnTo>
                    <a:pt x="253365" y="266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780348" y="2314575"/>
              <a:ext cx="344805" cy="290512"/>
            </a:xfrm>
            <a:custGeom>
              <a:avLst/>
              <a:gdLst/>
              <a:ahLst/>
              <a:cxnLst/>
              <a:rect l="l" t="t" r="r" b="b"/>
              <a:pathLst>
                <a:path w="344805" h="290512">
                  <a:moveTo>
                    <a:pt x="344805" y="0"/>
                  </a:moveTo>
                  <a:lnTo>
                    <a:pt x="0" y="2905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56610" y="2296478"/>
              <a:ext cx="542925" cy="326707"/>
            </a:xfrm>
            <a:custGeom>
              <a:avLst/>
              <a:gdLst/>
              <a:ahLst/>
              <a:cxnLst/>
              <a:rect l="l" t="t" r="r" b="b"/>
              <a:pathLst>
                <a:path w="542925" h="326707">
                  <a:moveTo>
                    <a:pt x="0" y="0"/>
                  </a:moveTo>
                  <a:lnTo>
                    <a:pt x="542925" y="326707"/>
                  </a:lnTo>
                </a:path>
              </a:pathLst>
            </a:custGeom>
            <a:noFill/>
            <a:ln w="17145">
              <a:solidFill>
                <a:srgbClr val="DC2626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69982" y="2801302"/>
              <a:ext cx="253365" cy="266700"/>
            </a:xfrm>
            <a:custGeom>
              <a:avLst/>
              <a:gdLst/>
              <a:ahLst/>
              <a:cxnLst/>
              <a:rect l="l" t="t" r="r" b="b"/>
              <a:pathLst>
                <a:path w="253365" h="266700">
                  <a:moveTo>
                    <a:pt x="253365" y="0"/>
                  </a:moveTo>
                  <a:lnTo>
                    <a:pt x="0" y="266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98558" y="3238500"/>
              <a:ext cx="646747" cy="341947"/>
            </a:xfrm>
            <a:custGeom>
              <a:avLst/>
              <a:gdLst/>
              <a:ahLst/>
              <a:cxnLst/>
              <a:rect l="l" t="t" r="r" b="b"/>
              <a:pathLst>
                <a:path w="646747" h="341947">
                  <a:moveTo>
                    <a:pt x="0" y="0"/>
                  </a:moveTo>
                  <a:lnTo>
                    <a:pt x="646747" y="3419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120515" y="3750945"/>
              <a:ext cx="253365" cy="266700"/>
            </a:xfrm>
            <a:custGeom>
              <a:avLst/>
              <a:gdLst/>
              <a:ahLst/>
              <a:cxnLst/>
              <a:rect l="l" t="t" r="r" b="b"/>
              <a:pathLst>
                <a:path w="253365" h="266700">
                  <a:moveTo>
                    <a:pt x="253365" y="0"/>
                  </a:moveTo>
                  <a:lnTo>
                    <a:pt x="0" y="266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087880" y="1614488"/>
              <a:ext cx="266700" cy="2667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75372" y="208883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100388" y="2088832"/>
              <a:ext cx="266700" cy="2667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524952" y="256413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538412" y="256413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888105" y="2564130"/>
              <a:ext cx="266700" cy="2667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975485" y="303847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438525" y="303847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338638" y="35137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888105" y="398811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79503" y="169164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66995" y="216598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92010" y="216598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16575" y="26412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30035" y="26412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79728" y="26412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67108" y="31156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30148" y="31156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47062" y="3590925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79728" y="40652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59274" y="17459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根的右链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47006" y="2108835"/>
              <a:ext cx="600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A → E → G</a:t>
              </a:r>
            </a:p>
          </p:txBody>
        </p:sp>
      </p:grpSp>
      <p:grpSp>
        <p:nvGrpSpPr>
          <p:cNvPr id="44" name="c1-callout-2"/>
          <p:cNvGrpSpPr/>
          <p:nvPr/>
        </p:nvGrpSpPr>
        <p:grpSpPr>
          <a:xfrm>
            <a:off x="533400" y="4482465"/>
            <a:ext cx="5626418" cy="1167765"/>
            <a:chOff x="533400" y="4482465"/>
            <a:chExt cx="5626418" cy="1167765"/>
          </a:xfrm>
        </p:grpSpPr>
        <p:sp>
          <p:nvSpPr>
            <p:cNvPr id="39" name="Rectangle 39"/>
            <p:cNvSpPr/>
            <p:nvPr/>
          </p:nvSpPr>
          <p:spPr>
            <a:xfrm>
              <a:off x="533400" y="4482465"/>
              <a:ext cx="5626418" cy="1167765"/>
            </a:xfrm>
            <a:prstGeom prst="roundRect">
              <a:avLst>
                <a:gd name="adj" fmla="val 978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4965383"/>
              <a:ext cx="200026" cy="200026"/>
              <a:chOff x="738188" y="4965383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49653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04863" y="50431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1273" y="4859179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红色的右链 A → E → G 上有 3 个结点，正好是森林里 3 棵树的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根。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464618" y="1524000"/>
            <a:ext cx="5193982" cy="1185862"/>
            <a:chOff x="6464618" y="1524000"/>
            <a:chExt cx="5193982" cy="1185862"/>
          </a:xfrm>
        </p:grpSpPr>
        <p:sp>
          <p:nvSpPr>
            <p:cNvPr id="45" name="Rectangle 45"/>
            <p:cNvSpPr/>
            <p:nvPr/>
          </p:nvSpPr>
          <p:spPr>
            <a:xfrm>
              <a:off x="6464618" y="1524000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45592" y="17049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11810" y="17378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两句话记住这个转换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55118" y="2097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10566" y="2045494"/>
              <a:ext cx="2968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树结点的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左孩子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⇔ 二叉树结点的左孩子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55118" y="238220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10566" y="2330291"/>
              <a:ext cx="2968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树结点的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右兄弟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⇔ 二叉树结点的右孩子</a:t>
              </a:r>
            </a:p>
          </p:txBody>
        </p:sp>
      </p:grpSp>
      <p:grpSp>
        <p:nvGrpSpPr>
          <p:cNvPr id="71" name="c2-table-2"/>
          <p:cNvGrpSpPr/>
          <p:nvPr/>
        </p:nvGrpSpPr>
        <p:grpSpPr>
          <a:xfrm>
            <a:off x="6464618" y="2874645"/>
            <a:ext cx="5193982" cy="1906905"/>
            <a:chOff x="6464618" y="2874645"/>
            <a:chExt cx="5193982" cy="1906905"/>
          </a:xfrm>
        </p:grpSpPr>
        <p:sp>
          <p:nvSpPr>
            <p:cNvPr id="53" name="Rectangle 53"/>
            <p:cNvSpPr/>
            <p:nvPr/>
          </p:nvSpPr>
          <p:spPr>
            <a:xfrm>
              <a:off x="6464618" y="2874645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25843" y="299275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森林里的东西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11284" y="299275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对应二叉树里的东西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59296" y="337375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各棵树的根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40521" y="337375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根结点起的一条右链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363283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64618" y="3637598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9296" y="3754755"/>
              <a:ext cx="1200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x 的 k 个孩子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40521" y="3754755"/>
              <a:ext cx="1947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的左孩子起的一条右链，长 k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40147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59296" y="4136708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结点总数 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40521" y="4136708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结点总数仍是 n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43957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64618" y="4400550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59296" y="451770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只有一棵树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740521" y="451770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根结点没有右孩子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2874645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641080" y="287464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allout-3"/>
          <p:cNvGrpSpPr/>
          <p:nvPr/>
        </p:nvGrpSpPr>
        <p:grpSpPr>
          <a:xfrm>
            <a:off x="6464618" y="4946332"/>
            <a:ext cx="5193982" cy="702945"/>
            <a:chOff x="6464618" y="4946332"/>
            <a:chExt cx="5193982" cy="702945"/>
          </a:xfrm>
        </p:grpSpPr>
        <p:sp>
          <p:nvSpPr>
            <p:cNvPr id="72" name="Rectangle 72"/>
            <p:cNvSpPr/>
            <p:nvPr/>
          </p:nvSpPr>
          <p:spPr>
            <a:xfrm>
              <a:off x="6464618" y="4946332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669405" y="5197793"/>
              <a:ext cx="200026" cy="200026"/>
              <a:chOff x="6669405" y="5197793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669405" y="51977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769418" y="52644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758305" y="52978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972491" y="5091589"/>
              <a:ext cx="42801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这两条计数规律对随机生成的 500 个森林逐一验证过，都成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9" name="Rectangle 7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1273" y="6039326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认图的窍门：二叉树里沿右指针一直走，走出来的是一串兄弟；沿左指针走一步，才是下一辈。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树与二叉树的转换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二叉树转树：右子树为空时才能还原成一棵树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539996" cy="2011109"/>
            <a:chOff x="533400" y="1533525"/>
            <a:chExt cx="4539996" cy="20111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55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连孙作子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对每个结点，若它有左孩子，就把左孩子的右孩子、右孩子的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右孩子……依次与它连起来（图中红色虚线）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40839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去掉右孩子边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8907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去掉所有父结点与右孩子之间的连线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调整图形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调整连线的方向与长短，画成规范的树形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720465"/>
            <a:ext cx="4760595" cy="1638300"/>
            <a:chOff x="533400" y="3720465"/>
            <a:chExt cx="4760595" cy="1638300"/>
          </a:xfrm>
        </p:grpSpPr>
        <p:sp>
          <p:nvSpPr>
            <p:cNvPr id="21" name="Rectangle 21"/>
            <p:cNvSpPr/>
            <p:nvPr/>
          </p:nvSpPr>
          <p:spPr>
            <a:xfrm>
              <a:off x="533400" y="3720465"/>
              <a:ext cx="4760595" cy="1638300"/>
            </a:xfrm>
            <a:prstGeom prst="roundRect">
              <a:avLst>
                <a:gd name="adj" fmla="val 814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7235" y="392430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0692" y="39600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两条对应规则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7235" y="428529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580" y="43256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8128" y="429720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一个结点的左孩子，仍然是它在树里的孩子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37235" y="460533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5580" y="464567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8128" y="461724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一个结点的右孩子，是它在树里的兄弟</a:t>
              </a:r>
            </a:p>
          </p:txBody>
        </p:sp>
      </p:grpSp>
      <p:grpSp>
        <p:nvGrpSpPr>
          <p:cNvPr id="52" name="c2-graph-1"/>
          <p:cNvGrpSpPr/>
          <p:nvPr/>
        </p:nvGrpSpPr>
        <p:grpSpPr>
          <a:xfrm>
            <a:off x="7153275" y="1580198"/>
            <a:ext cx="3542157" cy="1881664"/>
            <a:chOff x="7153275" y="1580198"/>
            <a:chExt cx="3542157" cy="1881664"/>
          </a:xfrm>
        </p:grpSpPr>
        <p:sp>
          <p:nvSpPr>
            <p:cNvPr id="31" name="Freeform 31"/>
            <p:cNvSpPr/>
            <p:nvPr/>
          </p:nvSpPr>
          <p:spPr>
            <a:xfrm>
              <a:off x="7441882" y="1765935"/>
              <a:ext cx="1041083" cy="310515"/>
            </a:xfrm>
            <a:custGeom>
              <a:avLst/>
              <a:gdLst/>
              <a:ahLst/>
              <a:cxnLst/>
              <a:rect l="l" t="t" r="r" b="b"/>
              <a:pathLst>
                <a:path w="1041083" h="310515">
                  <a:moveTo>
                    <a:pt x="1041083" y="0"/>
                  </a:moveTo>
                  <a:lnTo>
                    <a:pt x="0" y="3105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437120" y="2177415"/>
              <a:ext cx="686753" cy="281940"/>
            </a:xfrm>
            <a:custGeom>
              <a:avLst/>
              <a:gdLst/>
              <a:ahLst/>
              <a:cxnLst/>
              <a:rect l="l" t="t" r="r" b="b"/>
              <a:pathLst>
                <a:path w="686753" h="281940">
                  <a:moveTo>
                    <a:pt x="0" y="0"/>
                  </a:moveTo>
                  <a:lnTo>
                    <a:pt x="686753" y="2819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555230" y="2582228"/>
              <a:ext cx="572452" cy="267652"/>
            </a:xfrm>
            <a:custGeom>
              <a:avLst/>
              <a:gdLst/>
              <a:ahLst/>
              <a:cxnLst/>
              <a:rect l="l" t="t" r="r" b="b"/>
              <a:pathLst>
                <a:path w="572452" h="267652">
                  <a:moveTo>
                    <a:pt x="572452" y="0"/>
                  </a:moveTo>
                  <a:lnTo>
                    <a:pt x="0" y="2676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408670" y="2569845"/>
              <a:ext cx="803910" cy="292417"/>
            </a:xfrm>
            <a:custGeom>
              <a:avLst/>
              <a:gdLst/>
              <a:ahLst/>
              <a:cxnLst/>
              <a:rect l="l" t="t" r="r" b="b"/>
              <a:pathLst>
                <a:path w="803910" h="292417">
                  <a:moveTo>
                    <a:pt x="0" y="0"/>
                  </a:moveTo>
                  <a:lnTo>
                    <a:pt x="803910" y="2924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555230" y="2979420"/>
              <a:ext cx="572452" cy="267652"/>
            </a:xfrm>
            <a:custGeom>
              <a:avLst/>
              <a:gdLst/>
              <a:ahLst/>
              <a:cxnLst/>
              <a:rect l="l" t="t" r="r" b="b"/>
              <a:pathLst>
                <a:path w="572452" h="267652">
                  <a:moveTo>
                    <a:pt x="0" y="0"/>
                  </a:moveTo>
                  <a:lnTo>
                    <a:pt x="572452" y="2676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328660" y="1861185"/>
              <a:ext cx="237172" cy="517207"/>
            </a:xfrm>
            <a:custGeom>
              <a:avLst/>
              <a:gdLst/>
              <a:ahLst/>
              <a:cxnLst/>
              <a:rect l="l" t="t" r="r" b="b"/>
              <a:pathLst>
                <a:path w="237172" h="517207">
                  <a:moveTo>
                    <a:pt x="237172" y="0"/>
                  </a:moveTo>
                  <a:lnTo>
                    <a:pt x="0" y="517207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8708708" y="1852612"/>
              <a:ext cx="567690" cy="931545"/>
            </a:xfrm>
            <a:custGeom>
              <a:avLst/>
              <a:gdLst/>
              <a:ahLst/>
              <a:cxnLst/>
              <a:rect l="l" t="t" r="r" b="b"/>
              <a:pathLst>
                <a:path w="567690" h="931545">
                  <a:moveTo>
                    <a:pt x="0" y="0"/>
                  </a:moveTo>
                  <a:lnTo>
                    <a:pt x="567690" y="931545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38" name="Freeform 38"/>
            <p:cNvSpPr/>
            <p:nvPr/>
          </p:nvSpPr>
          <p:spPr>
            <a:xfrm>
              <a:off x="8265795" y="2669858"/>
              <a:ext cx="9525" cy="489585"/>
            </a:xfrm>
            <a:custGeom>
              <a:avLst/>
              <a:gdLst/>
              <a:ahLst/>
              <a:cxnLst/>
              <a:rect l="l" t="t" r="r" b="b"/>
              <a:pathLst>
                <a:path w="9525" h="489585">
                  <a:moveTo>
                    <a:pt x="0" y="0"/>
                  </a:moveTo>
                  <a:lnTo>
                    <a:pt x="0" y="489585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39" name="Ellipse 39"/>
            <p:cNvSpPr/>
            <p:nvPr/>
          </p:nvSpPr>
          <p:spPr>
            <a:xfrm>
              <a:off x="8485822" y="158019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153275" y="19773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122920" y="237458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274242" y="277177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213532" y="277177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122920" y="31689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76982" y="165306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44435" y="20502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14080" y="244744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5402" y="28446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04692" y="28446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14080" y="32418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198608" y="1692593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二叉树</a:t>
              </a:r>
            </a:p>
          </p:txBody>
        </p:sp>
      </p:grpSp>
      <p:grpSp>
        <p:nvGrpSpPr>
          <p:cNvPr id="71" name="c2-graph-2"/>
          <p:cNvGrpSpPr/>
          <p:nvPr/>
        </p:nvGrpSpPr>
        <p:grpSpPr>
          <a:xfrm>
            <a:off x="6425565" y="3786188"/>
            <a:ext cx="4673727" cy="1490186"/>
            <a:chOff x="6425565" y="3786188"/>
            <a:chExt cx="4673727" cy="1490186"/>
          </a:xfrm>
        </p:grpSpPr>
        <p:sp>
          <p:nvSpPr>
            <p:cNvPr id="53" name="Freeform 53"/>
            <p:cNvSpPr/>
            <p:nvPr/>
          </p:nvSpPr>
          <p:spPr>
            <a:xfrm>
              <a:off x="6715125" y="3970972"/>
              <a:ext cx="1767840" cy="513398"/>
            </a:xfrm>
            <a:custGeom>
              <a:avLst/>
              <a:gdLst/>
              <a:ahLst/>
              <a:cxnLst/>
              <a:rect l="l" t="t" r="r" b="b"/>
              <a:pathLst>
                <a:path w="1767840" h="513398">
                  <a:moveTo>
                    <a:pt x="1767840" y="0"/>
                  </a:moveTo>
                  <a:lnTo>
                    <a:pt x="0" y="5133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628698" y="4081462"/>
              <a:ext cx="9525" cy="293370"/>
            </a:xfrm>
            <a:custGeom>
              <a:avLst/>
              <a:gdLst/>
              <a:ahLst/>
              <a:cxnLst/>
              <a:rect l="l" t="t" r="r" b="b"/>
              <a:pathLst>
                <a:path w="9525" h="293370">
                  <a:moveTo>
                    <a:pt x="0" y="0"/>
                  </a:moveTo>
                  <a:lnTo>
                    <a:pt x="0" y="2933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775382" y="3970972"/>
              <a:ext cx="1767840" cy="513398"/>
            </a:xfrm>
            <a:custGeom>
              <a:avLst/>
              <a:gdLst/>
              <a:ahLst/>
              <a:cxnLst/>
              <a:rect l="l" t="t" r="r" b="b"/>
              <a:pathLst>
                <a:path w="1767840" h="513398">
                  <a:moveTo>
                    <a:pt x="0" y="0"/>
                  </a:moveTo>
                  <a:lnTo>
                    <a:pt x="1767840" y="5133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788592" y="4607242"/>
              <a:ext cx="710565" cy="439102"/>
            </a:xfrm>
            <a:custGeom>
              <a:avLst/>
              <a:gdLst/>
              <a:ahLst/>
              <a:cxnLst/>
              <a:rect l="l" t="t" r="r" b="b"/>
              <a:pathLst>
                <a:path w="710565" h="439102">
                  <a:moveTo>
                    <a:pt x="710565" y="0"/>
                  </a:moveTo>
                  <a:lnTo>
                    <a:pt x="0" y="4391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758238" y="4607242"/>
              <a:ext cx="710565" cy="439102"/>
            </a:xfrm>
            <a:custGeom>
              <a:avLst/>
              <a:gdLst/>
              <a:ahLst/>
              <a:cxnLst/>
              <a:rect l="l" t="t" r="r" b="b"/>
              <a:pathLst>
                <a:path w="710565" h="439102">
                  <a:moveTo>
                    <a:pt x="0" y="0"/>
                  </a:moveTo>
                  <a:lnTo>
                    <a:pt x="710565" y="4391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8485822" y="378618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6425565" y="438435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8485822" y="438435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10546080" y="438435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7516178" y="49834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9455468" y="49834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576982" y="385905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16725" y="445722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76982" y="445722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37240" y="445722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07337" y="505634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546627" y="505634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794748" y="37995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由二叉树转换的树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72" name="Rectangle 72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511" y="5753576"/>
              <a:ext cx="98790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更正：源课件这里说的“二叉树的右子树为空”，指的是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根结点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的右子树为空。树内部的结点完全可以有右孩子，那表示它有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兄弟。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树与二叉树的转换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二叉树转森林：先把根上的右链一节一节断开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graph-1"/>
          <p:cNvGrpSpPr/>
          <p:nvPr/>
        </p:nvGrpSpPr>
        <p:grpSpPr>
          <a:xfrm>
            <a:off x="1543050" y="1668780"/>
            <a:ext cx="3589972" cy="2773680"/>
            <a:chOff x="1543050" y="1668780"/>
            <a:chExt cx="3589972" cy="2773680"/>
          </a:xfrm>
        </p:grpSpPr>
        <p:sp>
          <p:nvSpPr>
            <p:cNvPr id="7" name="Freeform 7"/>
            <p:cNvSpPr/>
            <p:nvPr/>
          </p:nvSpPr>
          <p:spPr>
            <a:xfrm>
              <a:off x="1804035" y="1866900"/>
              <a:ext cx="990600" cy="498158"/>
            </a:xfrm>
            <a:custGeom>
              <a:avLst/>
              <a:gdLst/>
              <a:ahLst/>
              <a:cxnLst/>
              <a:rect l="l" t="t" r="r" b="b"/>
              <a:pathLst>
                <a:path w="990600" h="498158">
                  <a:moveTo>
                    <a:pt x="990600" y="0"/>
                  </a:moveTo>
                  <a:lnTo>
                    <a:pt x="0" y="4981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51810" y="1863090"/>
              <a:ext cx="1091565" cy="505777"/>
            </a:xfrm>
            <a:custGeom>
              <a:avLst/>
              <a:gdLst/>
              <a:ahLst/>
              <a:cxnLst/>
              <a:rect l="l" t="t" r="r" b="b"/>
              <a:pathLst>
                <a:path w="1091565" h="505777">
                  <a:moveTo>
                    <a:pt x="0" y="0"/>
                  </a:moveTo>
                  <a:lnTo>
                    <a:pt x="1091565" y="505777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776412" y="2530792"/>
              <a:ext cx="421958" cy="423862"/>
            </a:xfrm>
            <a:custGeom>
              <a:avLst/>
              <a:gdLst/>
              <a:ahLst/>
              <a:cxnLst/>
              <a:rect l="l" t="t" r="r" b="b"/>
              <a:pathLst>
                <a:path w="421958" h="423862">
                  <a:moveTo>
                    <a:pt x="0" y="0"/>
                  </a:moveTo>
                  <a:lnTo>
                    <a:pt x="421958" y="4238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70710" y="3166110"/>
              <a:ext cx="337185" cy="406718"/>
            </a:xfrm>
            <a:custGeom>
              <a:avLst/>
              <a:gdLst/>
              <a:ahLst/>
              <a:cxnLst/>
              <a:rect l="l" t="t" r="r" b="b"/>
              <a:pathLst>
                <a:path w="337185" h="406718">
                  <a:moveTo>
                    <a:pt x="337185" y="0"/>
                  </a:moveTo>
                  <a:lnTo>
                    <a:pt x="0" y="4067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70710" y="3792855"/>
              <a:ext cx="337185" cy="406717"/>
            </a:xfrm>
            <a:custGeom>
              <a:avLst/>
              <a:gdLst/>
              <a:ahLst/>
              <a:cxnLst/>
              <a:rect l="l" t="t" r="r" b="b"/>
              <a:pathLst>
                <a:path w="337185" h="406717">
                  <a:moveTo>
                    <a:pt x="0" y="0"/>
                  </a:moveTo>
                  <a:lnTo>
                    <a:pt x="337185" y="4067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49992" y="2530792"/>
              <a:ext cx="421958" cy="423862"/>
            </a:xfrm>
            <a:custGeom>
              <a:avLst/>
              <a:gdLst/>
              <a:ahLst/>
              <a:cxnLst/>
              <a:rect l="l" t="t" r="r" b="b"/>
              <a:pathLst>
                <a:path w="421958" h="423862">
                  <a:moveTo>
                    <a:pt x="421958" y="0"/>
                  </a:moveTo>
                  <a:lnTo>
                    <a:pt x="0" y="4238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381500" y="2522220"/>
              <a:ext cx="510540" cy="440055"/>
            </a:xfrm>
            <a:custGeom>
              <a:avLst/>
              <a:gdLst/>
              <a:ahLst/>
              <a:cxnLst/>
              <a:rect l="l" t="t" r="r" b="b"/>
              <a:pathLst>
                <a:path w="510540" h="440055">
                  <a:moveTo>
                    <a:pt x="0" y="0"/>
                  </a:moveTo>
                  <a:lnTo>
                    <a:pt x="510540" y="440055"/>
                  </a:lnTo>
                </a:path>
              </a:pathLst>
            </a:custGeom>
            <a:noFill/>
            <a:ln w="17145">
              <a:solidFill>
                <a:srgbClr val="DC2626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572000" y="3166110"/>
              <a:ext cx="337185" cy="406718"/>
            </a:xfrm>
            <a:custGeom>
              <a:avLst/>
              <a:gdLst/>
              <a:ahLst/>
              <a:cxnLst/>
              <a:rect l="l" t="t" r="r" b="b"/>
              <a:pathLst>
                <a:path w="337185" h="406718">
                  <a:moveTo>
                    <a:pt x="337185" y="0"/>
                  </a:moveTo>
                  <a:lnTo>
                    <a:pt x="0" y="4067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572000" y="3792855"/>
              <a:ext cx="337185" cy="406717"/>
            </a:xfrm>
            <a:custGeom>
              <a:avLst/>
              <a:gdLst/>
              <a:ahLst/>
              <a:cxnLst/>
              <a:rect l="l" t="t" r="r" b="b"/>
              <a:pathLst>
                <a:path w="337185" h="406717">
                  <a:moveTo>
                    <a:pt x="0" y="0"/>
                  </a:moveTo>
                  <a:lnTo>
                    <a:pt x="337185" y="4067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788920" y="166878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543050" y="229552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139565" y="229552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165985" y="292227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516630" y="292227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866322" y="292227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646872" y="354901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347210" y="354901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165985" y="417576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866322" y="417576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80543" y="174688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34673" y="237363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31188" y="237363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57608" y="299942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08253" y="299942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57945" y="299942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38495" y="362616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55635" y="3626168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57608" y="425291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57945" y="425291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455670" y="203739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482442" y="206644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断开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493895" y="266414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21619" y="269319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断开</a:t>
              </a:r>
            </a:p>
          </p:txBody>
        </p:sp>
      </p:grpSp>
      <p:grpSp>
        <p:nvGrpSpPr>
          <p:cNvPr id="47" name="c1-callout-2"/>
          <p:cNvGrpSpPr/>
          <p:nvPr/>
        </p:nvGrpSpPr>
        <p:grpSpPr>
          <a:xfrm>
            <a:off x="533400" y="5170170"/>
            <a:ext cx="5193982" cy="1135380"/>
            <a:chOff x="533400" y="5170170"/>
            <a:chExt cx="5193982" cy="1135380"/>
          </a:xfrm>
        </p:grpSpPr>
        <p:sp>
          <p:nvSpPr>
            <p:cNvPr id="41" name="Rectangle 41"/>
            <p:cNvSpPr/>
            <p:nvPr/>
          </p:nvSpPr>
          <p:spPr>
            <a:xfrm>
              <a:off x="533400" y="5170170"/>
              <a:ext cx="5193982" cy="1135380"/>
            </a:xfrm>
            <a:prstGeom prst="roundRect">
              <a:avLst>
                <a:gd name="adj" fmla="val 1006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26129" y="5634156"/>
              <a:ext cx="224134" cy="192560"/>
              <a:chOff x="726129" y="5634156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38200" y="57045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6129" y="56341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57823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273" y="5531644"/>
              <a:ext cx="4288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只断开从根出发的这条右链，断 2 次得到 3 棵二叉树。树内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部结点的右孩子是兄弟，不能断。</a:t>
              </a:r>
            </a:p>
          </p:txBody>
        </p:sp>
      </p:grpSp>
      <p:grpSp>
        <p:nvGrpSpPr>
          <p:cNvPr id="57" name="c2-steps-1"/>
          <p:cNvGrpSpPr/>
          <p:nvPr/>
        </p:nvGrpSpPr>
        <p:grpSpPr>
          <a:xfrm>
            <a:off x="6032182" y="1533525"/>
            <a:ext cx="5358384" cy="1236916"/>
            <a:chOff x="6032182" y="1533525"/>
            <a:chExt cx="5358384" cy="1236916"/>
          </a:xfrm>
        </p:grpSpPr>
        <p:sp>
          <p:nvSpPr>
            <p:cNvPr id="48" name="Rectangle 48"/>
            <p:cNvSpPr/>
            <p:nvPr/>
          </p:nvSpPr>
          <p:spPr>
            <a:xfrm>
              <a:off x="6165532" y="1676400"/>
              <a:ext cx="19050" cy="746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032182" y="22802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5806" y="2354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806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断右链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5948" y="1818322"/>
              <a:ext cx="49446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从根出发，断开它与右孩子的连线，右孩子再断它自己的右孩子，直到右链走完，得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到多棵二叉树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4806" y="23102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各自还原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5948" y="256508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把每棵二叉树按上一页的办法转换成树</a:t>
              </a:r>
            </a:p>
          </p:txBody>
        </p:sp>
      </p:grpSp>
      <p:grpSp>
        <p:nvGrpSpPr>
          <p:cNvPr id="85" name="c2-graph-2"/>
          <p:cNvGrpSpPr/>
          <p:nvPr/>
        </p:nvGrpSpPr>
        <p:grpSpPr>
          <a:xfrm>
            <a:off x="6133148" y="3081338"/>
            <a:ext cx="5198744" cy="1577340"/>
            <a:chOff x="6133148" y="3081338"/>
            <a:chExt cx="5198744" cy="1577340"/>
          </a:xfrm>
        </p:grpSpPr>
        <p:sp>
          <p:nvSpPr>
            <p:cNvPr id="58" name="Freeform 58"/>
            <p:cNvSpPr/>
            <p:nvPr/>
          </p:nvSpPr>
          <p:spPr>
            <a:xfrm>
              <a:off x="6342698" y="3308032"/>
              <a:ext cx="391478" cy="468630"/>
            </a:xfrm>
            <a:custGeom>
              <a:avLst/>
              <a:gdLst/>
              <a:ahLst/>
              <a:cxnLst/>
              <a:rect l="l" t="t" r="r" b="b"/>
              <a:pathLst>
                <a:path w="391478" h="468630">
                  <a:moveTo>
                    <a:pt x="391478" y="0"/>
                  </a:moveTo>
                  <a:lnTo>
                    <a:pt x="0" y="4686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894195" y="3315652"/>
              <a:ext cx="301943" cy="452438"/>
            </a:xfrm>
            <a:custGeom>
              <a:avLst/>
              <a:gdLst/>
              <a:ahLst/>
              <a:cxnLst/>
              <a:rect l="l" t="t" r="r" b="b"/>
              <a:pathLst>
                <a:path w="301943" h="452438">
                  <a:moveTo>
                    <a:pt x="0" y="0"/>
                  </a:moveTo>
                  <a:lnTo>
                    <a:pt x="301943" y="4524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6895148" y="3989070"/>
              <a:ext cx="299085" cy="436245"/>
            </a:xfrm>
            <a:custGeom>
              <a:avLst/>
              <a:gdLst/>
              <a:ahLst/>
              <a:cxnLst/>
              <a:rect l="l" t="t" r="r" b="b"/>
              <a:pathLst>
                <a:path w="299085" h="436245">
                  <a:moveTo>
                    <a:pt x="299085" y="0"/>
                  </a:moveTo>
                  <a:lnTo>
                    <a:pt x="0" y="4362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7345680" y="3989070"/>
              <a:ext cx="299085" cy="436245"/>
            </a:xfrm>
            <a:custGeom>
              <a:avLst/>
              <a:gdLst/>
              <a:ahLst/>
              <a:cxnLst/>
              <a:rect l="l" t="t" r="r" b="b"/>
              <a:pathLst>
                <a:path w="299085" h="436245">
                  <a:moveTo>
                    <a:pt x="0" y="0"/>
                  </a:moveTo>
                  <a:lnTo>
                    <a:pt x="299085" y="4362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844915" y="3338512"/>
              <a:ext cx="9525" cy="407670"/>
            </a:xfrm>
            <a:custGeom>
              <a:avLst/>
              <a:gdLst/>
              <a:ahLst/>
              <a:cxnLst/>
              <a:rect l="l" t="t" r="r" b="b"/>
              <a:pathLst>
                <a:path w="9525" h="407670">
                  <a:moveTo>
                    <a:pt x="0" y="0"/>
                  </a:moveTo>
                  <a:lnTo>
                    <a:pt x="0" y="4076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0168890" y="3308032"/>
              <a:ext cx="391478" cy="468630"/>
            </a:xfrm>
            <a:custGeom>
              <a:avLst/>
              <a:gdLst/>
              <a:ahLst/>
              <a:cxnLst/>
              <a:rect l="l" t="t" r="r" b="b"/>
              <a:pathLst>
                <a:path w="391478" h="468630">
                  <a:moveTo>
                    <a:pt x="391478" y="0"/>
                  </a:moveTo>
                  <a:lnTo>
                    <a:pt x="0" y="4686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730865" y="3308032"/>
              <a:ext cx="392430" cy="468630"/>
            </a:xfrm>
            <a:custGeom>
              <a:avLst/>
              <a:gdLst/>
              <a:ahLst/>
              <a:cxnLst/>
              <a:rect l="l" t="t" r="r" b="b"/>
              <a:pathLst>
                <a:path w="392430" h="468630">
                  <a:moveTo>
                    <a:pt x="0" y="0"/>
                  </a:moveTo>
                  <a:lnTo>
                    <a:pt x="392430" y="4686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6696075" y="308133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6133148" y="375570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7145655" y="375570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696075" y="441102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7596188" y="441102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8721090" y="308133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8721090" y="375570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10522268" y="308133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9959340" y="375570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11084242" y="375570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78173" y="31489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15245" y="382333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227753" y="382333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778173" y="447865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78285" y="447865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03188" y="31489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03188" y="382333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604365" y="31489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58240" y="3823335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166340" y="382333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</p:grpSp>
      <p:grpSp>
        <p:nvGrpSpPr>
          <p:cNvPr id="91" name="c2-card-3"/>
          <p:cNvGrpSpPr/>
          <p:nvPr/>
        </p:nvGrpSpPr>
        <p:grpSpPr>
          <a:xfrm>
            <a:off x="6032182" y="4918710"/>
            <a:ext cx="5626418" cy="1386840"/>
            <a:chOff x="6032182" y="4918710"/>
            <a:chExt cx="5626418" cy="1386840"/>
          </a:xfrm>
        </p:grpSpPr>
        <p:sp>
          <p:nvSpPr>
            <p:cNvPr id="86" name="Rectangle 86"/>
            <p:cNvSpPr/>
            <p:nvPr/>
          </p:nvSpPr>
          <p:spPr>
            <a:xfrm>
              <a:off x="6032182" y="4918710"/>
              <a:ext cx="562641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041708" y="505206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251258" y="509968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335827" y="513254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对照着读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244780" y="5439251"/>
              <a:ext cx="49385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是 A 的左孩子，所以 B 是 A 的孩子；C 是 B 的右孩子，所以 C 是 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的兄弟，也就是 A 的第二个孩子。D 是 C 的左孩子，E 是 D 的右孩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子，于是 D、E 都是 C 的孩子。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树与二叉树的转换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森林与二叉树之间是一一对应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604962"/>
            <a:chOff x="533400" y="1524000"/>
            <a:chExt cx="5410200" cy="16049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4962"/>
            </a:xfrm>
            <a:prstGeom prst="roundRect">
              <a:avLst>
                <a:gd name="adj" fmla="val 8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82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自然对应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任一森林都对应唯一一棵二叉树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任一棵二叉树都对应唯一的一个森林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273748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这个变换称为森林与二叉树之间的自然对应。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13748"/>
            <a:ext cx="5410200" cy="1817370"/>
            <a:chOff x="533400" y="3313748"/>
            <a:chExt cx="5410200" cy="1817370"/>
          </a:xfrm>
        </p:grpSpPr>
        <p:sp>
          <p:nvSpPr>
            <p:cNvPr id="17" name="Rectangle 17"/>
            <p:cNvSpPr/>
            <p:nvPr/>
          </p:nvSpPr>
          <p:spPr>
            <a:xfrm>
              <a:off x="533400" y="3313748"/>
              <a:ext cx="541020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447098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3517582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2040" y="355330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为什么一定是一一对应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3890486"/>
              <a:ext cx="472135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森林转二叉树的两步（兄弟连成右链、长子接成左孩子）和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二叉树转森林的两步（右孩子拆回兄弟、左孩子拆回长子）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逐字互为逆操作。结点集合没变，每条“父子边”只是换了一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个名字存放，所以来回转换一定回到原样。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5316855"/>
            <a:ext cx="5410200" cy="905828"/>
            <a:chOff x="533400" y="5316855"/>
            <a:chExt cx="5410200" cy="905828"/>
          </a:xfrm>
        </p:grpSpPr>
        <p:sp>
          <p:nvSpPr>
            <p:cNvPr id="23" name="Rectangle 23"/>
            <p:cNvSpPr/>
            <p:nvPr/>
          </p:nvSpPr>
          <p:spPr>
            <a:xfrm>
              <a:off x="533400" y="5316855"/>
              <a:ext cx="5410200" cy="905828"/>
            </a:xfrm>
            <a:prstGeom prst="roundRect">
              <a:avLst>
                <a:gd name="adj" fmla="val 1261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670233"/>
              <a:ext cx="200026" cy="200026"/>
              <a:chOff x="738188" y="5670233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6702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04863" y="574802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5539264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反过来说，任意一棵二叉树都能还原成森林；只有根的右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子树为空的那些二叉树，才能还原成单独一棵树。</a:t>
              </a:r>
            </a:p>
          </p:txBody>
        </p:sp>
      </p:grpSp>
      <p:grpSp>
        <p:nvGrpSpPr>
          <p:cNvPr id="41" name="c2-flow-1"/>
          <p:cNvGrpSpPr/>
          <p:nvPr/>
        </p:nvGrpSpPr>
        <p:grpSpPr>
          <a:xfrm>
            <a:off x="6381750" y="2001202"/>
            <a:ext cx="5143500" cy="757809"/>
            <a:chOff x="6381750" y="2001202"/>
            <a:chExt cx="5143500" cy="757809"/>
          </a:xfrm>
        </p:grpSpPr>
        <p:sp>
          <p:nvSpPr>
            <p:cNvPr id="29" name="Freeform 29"/>
            <p:cNvSpPr/>
            <p:nvPr/>
          </p:nvSpPr>
          <p:spPr>
            <a:xfrm>
              <a:off x="7918132" y="2217420"/>
              <a:ext cx="1965960" cy="9525"/>
            </a:xfrm>
            <a:custGeom>
              <a:avLst/>
              <a:gdLst/>
              <a:ahLst/>
              <a:cxnLst/>
              <a:rect l="l" t="t" r="r" b="b"/>
              <a:pathLst>
                <a:path w="1965960" h="9525">
                  <a:moveTo>
                    <a:pt x="0" y="0"/>
                  </a:moveTo>
                  <a:lnTo>
                    <a:pt x="196596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884092" y="21640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150418" y="2429828"/>
              <a:ext cx="3606165" cy="313373"/>
            </a:xfrm>
            <a:custGeom>
              <a:avLst/>
              <a:gdLst/>
              <a:ahLst/>
              <a:cxnLst/>
              <a:rect l="l" t="t" r="r" b="b"/>
              <a:pathLst>
                <a:path w="3606165" h="313373">
                  <a:moveTo>
                    <a:pt x="3606165" y="0"/>
                  </a:moveTo>
                  <a:lnTo>
                    <a:pt x="3606165" y="209550"/>
                  </a:lnTo>
                  <a:lnTo>
                    <a:pt x="3606165" y="313373"/>
                  </a:lnTo>
                  <a:lnTo>
                    <a:pt x="1803082" y="313373"/>
                  </a:lnTo>
                  <a:lnTo>
                    <a:pt x="0" y="313373"/>
                  </a:lnTo>
                  <a:lnTo>
                    <a:pt x="0" y="20955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098030" y="24298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381750" y="2004060"/>
              <a:ext cx="1536382" cy="424815"/>
            </a:xfrm>
            <a:prstGeom prst="roundRect">
              <a:avLst>
                <a:gd name="adj" fmla="val 22422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988868" y="2004060"/>
              <a:ext cx="1536382" cy="424815"/>
            </a:xfrm>
            <a:prstGeom prst="roundRect">
              <a:avLst>
                <a:gd name="adj" fmla="val 22422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10235" y="2133600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 F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35628" y="2133600"/>
              <a:ext cx="641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 B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05775" y="2001202"/>
              <a:ext cx="16954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00060" y="202787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兄弟连右链、长子当左孩子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007792" y="2526982"/>
              <a:ext cx="16954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02078" y="25536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断右链、右孩子还原成兄弟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095625"/>
            <a:ext cx="5410200" cy="2185988"/>
            <a:chOff x="6248400" y="3095625"/>
            <a:chExt cx="5410200" cy="2185988"/>
          </a:xfrm>
        </p:grpSpPr>
        <p:sp>
          <p:nvSpPr>
            <p:cNvPr id="42" name="Rectangle 42"/>
            <p:cNvSpPr/>
            <p:nvPr/>
          </p:nvSpPr>
          <p:spPr>
            <a:xfrm>
              <a:off x="6248400" y="3095625"/>
              <a:ext cx="5410200" cy="2185988"/>
            </a:xfrm>
            <a:prstGeom prst="roundRect">
              <a:avLst>
                <a:gd name="adj" fmla="val 61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52235" y="329946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08940" y="333517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三条可以直接用的推论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59855" y="373189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16446" y="3672364"/>
              <a:ext cx="41913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森林里有 m 棵树 ⇔ 二叉树根的右链上有 m 个结点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59855" y="405193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16446" y="3992404"/>
              <a:ext cx="445084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 x 有 k 个孩子 ⇔ 二叉树里 x 的左孩子起的右链上有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个结点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59855" y="464343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16446" y="458390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森林有 n 个结点 ⇔ 二叉树有 n 个结点，空指针恒为 n + 1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248400" y="5467350"/>
            <a:ext cx="5410200" cy="756285"/>
            <a:chOff x="6248400" y="5467350"/>
            <a:chExt cx="5410200" cy="756285"/>
          </a:xfrm>
        </p:grpSpPr>
        <p:sp>
          <p:nvSpPr>
            <p:cNvPr id="52" name="Rectangle 52"/>
            <p:cNvSpPr/>
            <p:nvPr/>
          </p:nvSpPr>
          <p:spPr>
            <a:xfrm>
              <a:off x="6248400" y="546735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41129" y="5741788"/>
              <a:ext cx="224134" cy="192560"/>
              <a:chOff x="6441129" y="5741788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53200" y="58121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441129" y="57417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53200" y="58899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5511" y="5614511"/>
              <a:ext cx="425246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一一对应说的是“森林 ⇔ 二叉树”。“树 ⇔ 二叉树”只是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它的特例，对应的二叉树根没有右孩子。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树的顺序存储结构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不存指针，只用数组下标和结点度，把树形记下来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双亲表示法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孩子表示法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树的先根与后根遍历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遍历序列加结点度唯一确定树形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树的顺序存储结构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双亲表示法：按层次编号，每个结点记住父亲的下标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ree-1"/>
          <p:cNvGrpSpPr/>
          <p:nvPr/>
        </p:nvGrpSpPr>
        <p:grpSpPr>
          <a:xfrm>
            <a:off x="773430" y="1736408"/>
            <a:ext cx="4413885" cy="2531745"/>
            <a:chOff x="773430" y="1736408"/>
            <a:chExt cx="4413885" cy="2531745"/>
          </a:xfrm>
        </p:grpSpPr>
        <p:sp>
          <p:nvSpPr>
            <p:cNvPr id="7" name="Freeform 7"/>
            <p:cNvSpPr/>
            <p:nvPr/>
          </p:nvSpPr>
          <p:spPr>
            <a:xfrm>
              <a:off x="930592" y="2632710"/>
              <a:ext cx="396240" cy="739140"/>
            </a:xfrm>
            <a:custGeom>
              <a:avLst/>
              <a:gdLst/>
              <a:ahLst/>
              <a:cxnLst/>
              <a:rect l="l" t="t" r="r" b="b"/>
              <a:pathLst>
                <a:path w="396240" h="739140">
                  <a:moveTo>
                    <a:pt x="396240" y="0"/>
                  </a:moveTo>
                  <a:lnTo>
                    <a:pt x="0" y="7391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26832" y="2632710"/>
              <a:ext cx="397192" cy="739140"/>
            </a:xfrm>
            <a:custGeom>
              <a:avLst/>
              <a:gdLst/>
              <a:ahLst/>
              <a:cxnLst/>
              <a:rect l="l" t="t" r="r" b="b"/>
              <a:pathLst>
                <a:path w="397192" h="739140">
                  <a:moveTo>
                    <a:pt x="0" y="0"/>
                  </a:moveTo>
                  <a:lnTo>
                    <a:pt x="397192" y="7391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971925" y="3371850"/>
              <a:ext cx="528638" cy="739140"/>
            </a:xfrm>
            <a:custGeom>
              <a:avLst/>
              <a:gdLst/>
              <a:ahLst/>
              <a:cxnLst/>
              <a:rect l="l" t="t" r="r" b="b"/>
              <a:pathLst>
                <a:path w="528638" h="739140">
                  <a:moveTo>
                    <a:pt x="528638" y="0"/>
                  </a:moveTo>
                  <a:lnTo>
                    <a:pt x="0" y="7391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500562" y="3371850"/>
              <a:ext cx="9525" cy="739140"/>
            </a:xfrm>
            <a:custGeom>
              <a:avLst/>
              <a:gdLst/>
              <a:ahLst/>
              <a:cxnLst/>
              <a:rect l="l" t="t" r="r" b="b"/>
              <a:pathLst>
                <a:path w="9525" h="739140">
                  <a:moveTo>
                    <a:pt x="0" y="0"/>
                  </a:moveTo>
                  <a:lnTo>
                    <a:pt x="0" y="7391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500562" y="3371850"/>
              <a:ext cx="529590" cy="739140"/>
            </a:xfrm>
            <a:custGeom>
              <a:avLst/>
              <a:gdLst/>
              <a:ahLst/>
              <a:cxnLst/>
              <a:rect l="l" t="t" r="r" b="b"/>
              <a:pathLst>
                <a:path w="529590" h="739140">
                  <a:moveTo>
                    <a:pt x="0" y="0"/>
                  </a:moveTo>
                  <a:lnTo>
                    <a:pt x="529590" y="7391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00562" y="2632710"/>
              <a:ext cx="9525" cy="739140"/>
            </a:xfrm>
            <a:custGeom>
              <a:avLst/>
              <a:gdLst/>
              <a:ahLst/>
              <a:cxnLst/>
              <a:rect l="l" t="t" r="r" b="b"/>
              <a:pathLst>
                <a:path w="9525" h="739140">
                  <a:moveTo>
                    <a:pt x="0" y="0"/>
                  </a:moveTo>
                  <a:lnTo>
                    <a:pt x="0" y="7391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326832" y="1893570"/>
              <a:ext cx="1586865" cy="739140"/>
            </a:xfrm>
            <a:custGeom>
              <a:avLst/>
              <a:gdLst/>
              <a:ahLst/>
              <a:cxnLst/>
              <a:rect l="l" t="t" r="r" b="b"/>
              <a:pathLst>
                <a:path w="1586865" h="739140">
                  <a:moveTo>
                    <a:pt x="1586865" y="0"/>
                  </a:moveTo>
                  <a:lnTo>
                    <a:pt x="0" y="7391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13698" y="1893570"/>
              <a:ext cx="9525" cy="739140"/>
            </a:xfrm>
            <a:custGeom>
              <a:avLst/>
              <a:gdLst/>
              <a:ahLst/>
              <a:cxnLst/>
              <a:rect l="l" t="t" r="r" b="b"/>
              <a:pathLst>
                <a:path w="9525" h="739140">
                  <a:moveTo>
                    <a:pt x="0" y="0"/>
                  </a:moveTo>
                  <a:lnTo>
                    <a:pt x="0" y="7391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913698" y="1893570"/>
              <a:ext cx="1586865" cy="739140"/>
            </a:xfrm>
            <a:custGeom>
              <a:avLst/>
              <a:gdLst/>
              <a:ahLst/>
              <a:cxnLst/>
              <a:rect l="l" t="t" r="r" b="b"/>
              <a:pathLst>
                <a:path w="1586865" h="739140">
                  <a:moveTo>
                    <a:pt x="0" y="0"/>
                  </a:moveTo>
                  <a:lnTo>
                    <a:pt x="1586865" y="7391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73430" y="3214688"/>
              <a:ext cx="314325" cy="3143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566862" y="3214688"/>
              <a:ext cx="314325" cy="3143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169670" y="2475548"/>
              <a:ext cx="314325" cy="3143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756535" y="2475548"/>
              <a:ext cx="314325" cy="3143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814762" y="3953828"/>
              <a:ext cx="314325" cy="3143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343400" y="3953828"/>
              <a:ext cx="314325" cy="3143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872990" y="3953828"/>
              <a:ext cx="314325" cy="3143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343400" y="3214688"/>
              <a:ext cx="314325" cy="3143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343400" y="2475548"/>
              <a:ext cx="314325" cy="3143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756535" y="1736408"/>
              <a:ext cx="314325" cy="3143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8877" y="33018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72310" y="33018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75117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61982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20210" y="40409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48847" y="40409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78437" y="40409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48847" y="33018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48847" y="25627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61982" y="18235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4666298"/>
            <a:ext cx="4760595" cy="756285"/>
            <a:chOff x="533400" y="4666298"/>
            <a:chExt cx="4760595" cy="756285"/>
          </a:xfrm>
        </p:grpSpPr>
        <p:sp>
          <p:nvSpPr>
            <p:cNvPr id="37" name="Rectangle 37"/>
            <p:cNvSpPr/>
            <p:nvPr/>
          </p:nvSpPr>
          <p:spPr>
            <a:xfrm>
              <a:off x="533400" y="4666298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944428"/>
              <a:ext cx="200026" cy="200026"/>
              <a:chOff x="738188" y="494442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49444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011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50444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4813459"/>
              <a:ext cx="390080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0 空着不用，根的父下标写 0，表示“没有父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亲”。</a:t>
              </a:r>
            </a:p>
          </p:txBody>
        </p:sp>
      </p:grpSp>
      <p:grpSp>
        <p:nvGrpSpPr>
          <p:cNvPr id="107" name="c2-cells-1"/>
          <p:cNvGrpSpPr/>
          <p:nvPr/>
        </p:nvGrpSpPr>
        <p:grpSpPr>
          <a:xfrm>
            <a:off x="5593461" y="1524000"/>
            <a:ext cx="4729734" cy="1552576"/>
            <a:chOff x="5593461" y="1524000"/>
            <a:chExt cx="4729734" cy="1552576"/>
          </a:xfrm>
        </p:grpSpPr>
        <p:sp>
          <p:nvSpPr>
            <p:cNvPr id="44" name="TextBox 44"/>
            <p:cNvSpPr txBox="1"/>
            <p:nvPr/>
          </p:nvSpPr>
          <p:spPr>
            <a:xfrm>
              <a:off x="5593461" y="16621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13219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9559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55129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1469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97039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3379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8949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5289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0859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7199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22769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9109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64679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1019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6589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22929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48499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648396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904095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026681" y="16621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93461" y="2234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13219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9328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5129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1238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97039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3148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38949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55058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80859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96968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22769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38878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64679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80788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06589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22698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48499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64608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9904095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065186" y="22345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593461" y="2807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父下标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132195" y="26698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2955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551295" y="26698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7146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970395" y="26698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1337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389495" y="26698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5528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7808595" y="26698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9719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227695" y="26698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3910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646795" y="26698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8101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9065895" y="26698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2292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9484995" y="26698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6483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9904095" y="26698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0067496" y="2807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118" name="c2-card-2"/>
          <p:cNvGrpSpPr/>
          <p:nvPr/>
        </p:nvGrpSpPr>
        <p:grpSpPr>
          <a:xfrm>
            <a:off x="5598795" y="3261360"/>
            <a:ext cx="6059805" cy="2160270"/>
            <a:chOff x="5598795" y="3261360"/>
            <a:chExt cx="6059805" cy="2160270"/>
          </a:xfrm>
        </p:grpSpPr>
        <p:sp>
          <p:nvSpPr>
            <p:cNvPr id="108" name="Rectangle 108"/>
            <p:cNvSpPr/>
            <p:nvPr/>
          </p:nvSpPr>
          <p:spPr>
            <a:xfrm>
              <a:off x="5598795" y="3261360"/>
              <a:ext cx="6059805" cy="2160270"/>
            </a:xfrm>
            <a:prstGeom prst="roundRect">
              <a:avLst>
                <a:gd name="adj" fmla="val 61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5802630" y="346519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5863285" y="350091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两个字段，两种代价</a:t>
              </a:r>
            </a:p>
          </p:txBody>
        </p:sp>
        <p:sp>
          <p:nvSpPr>
            <p:cNvPr id="111" name="Ellipse 111"/>
            <p:cNvSpPr/>
            <p:nvPr/>
          </p:nvSpPr>
          <p:spPr>
            <a:xfrm>
              <a:off x="5810250" y="389858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5966841" y="3838099"/>
              <a:ext cx="36265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找父结点 O(1)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：直接读 parent 字段就行</a:t>
              </a:r>
            </a:p>
          </p:txBody>
        </p:sp>
        <p:sp>
          <p:nvSpPr>
            <p:cNvPr id="113" name="Ellipse 113"/>
            <p:cNvSpPr/>
            <p:nvPr/>
          </p:nvSpPr>
          <p:spPr>
            <a:xfrm>
              <a:off x="5810250" y="42186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5966841" y="4158139"/>
              <a:ext cx="51404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找孩子 O(n)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：得扫一遍整个数组，看谁的 parent 等于自己</a:t>
              </a: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5810250" y="453866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5966841" y="447817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判断一个结点是不是叶结点，同样要扫一遍数组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5796534" y="4794885"/>
              <a:ext cx="5148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O(1) 的前提是已经知道该结点在数组中的下标，且数组元素定长、可随机访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问。</a:t>
              </a:r>
            </a:p>
          </p:txBody>
        </p:sp>
      </p:grpSp>
      <p:grpSp>
        <p:nvGrpSpPr>
          <p:cNvPr id="12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19" name="Rectangle 11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4" name="TextBox 124"/>
            <p:cNvSpPr txBox="1"/>
            <p:nvPr/>
          </p:nvSpPr>
          <p:spPr>
            <a:xfrm>
              <a:off x="1040511" y="6004084"/>
              <a:ext cx="10585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层次顺序编号有个副产品：父结点的下标一定小于孩子的下标。按下标从 1 扫到 n 读一遍结点名，读出来就是一次层次遍历。</a:t>
              </a:r>
            </a:p>
          </p:txBody>
        </p:sp>
      </p:grpSp>
      <p:grpSp>
        <p:nvGrpSpPr>
          <p:cNvPr id="1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6" name="TextBox 12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树的顺序存储结构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孩子表示法：反过来，每个结点记住孩子的下标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2" name="c1-cells-1"/>
          <p:cNvGrpSpPr/>
          <p:nvPr/>
        </p:nvGrpSpPr>
        <p:grpSpPr>
          <a:xfrm>
            <a:off x="528638" y="1524000"/>
            <a:ext cx="4659630" cy="2364105"/>
            <a:chOff x="528638" y="1524000"/>
            <a:chExt cx="4659630" cy="2364105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459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72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7071" y="1645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163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86171" y="1645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354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05271" y="1645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545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24371" y="1645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736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43471" y="1645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927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62571" y="1645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118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81671" y="1645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9309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00771" y="1645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500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19871" y="16459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769168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03986" y="16459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638" y="214788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9726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65090" y="21478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41636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84190" y="21478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83546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03290" y="21478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25456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422390" y="21478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67366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841490" y="21478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09276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60590" y="21478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51186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679690" y="21478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93096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098790" y="21478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35006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17890" y="21478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769168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936990" y="21478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8638" y="264985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孩子 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9726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67071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41636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86171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83546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005271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25456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424371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67366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843471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09276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262571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51186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681671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93096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100771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35006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519871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769168" y="252793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938971" y="26498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28638" y="3151823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孩子 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97268" y="30299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67071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416368" y="30299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86171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835468" y="30299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2005271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254568" y="30299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24371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2673668" y="30299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2843471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3092768" y="30299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3262571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511868" y="30299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681671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3930968" y="30299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100771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4350068" y="30299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519871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4769168" y="302990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938971" y="31518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28638" y="3653790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孩子 3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997268" y="35318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167071" y="3653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416368" y="35318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586171" y="3653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1835468" y="35318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2005271" y="3653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2254568" y="35318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2424371" y="3653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2673668" y="35318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2843471" y="3653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3092768" y="35318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3262571" y="3653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3511868" y="35318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3646686" y="36537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3930968" y="35318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4100771" y="3653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4350068" y="35318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4519871" y="3653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4769168" y="353187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4938971" y="36537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21" name="c1-card-2"/>
          <p:cNvGrpSpPr/>
          <p:nvPr/>
        </p:nvGrpSpPr>
        <p:grpSpPr>
          <a:xfrm>
            <a:off x="533400" y="4052888"/>
            <a:ext cx="6276022" cy="1432560"/>
            <a:chOff x="533400" y="4052888"/>
            <a:chExt cx="6276022" cy="1432560"/>
          </a:xfrm>
        </p:grpSpPr>
        <p:sp>
          <p:nvSpPr>
            <p:cNvPr id="113" name="Rectangle 113"/>
            <p:cNvSpPr/>
            <p:nvPr/>
          </p:nvSpPr>
          <p:spPr>
            <a:xfrm>
              <a:off x="533400" y="4052888"/>
              <a:ext cx="6276022" cy="1432560"/>
            </a:xfrm>
            <a:prstGeom prst="roundRect">
              <a:avLst>
                <a:gd name="adj" fmla="val 930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714375" y="4233862"/>
              <a:ext cx="244125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747631" y="4266724"/>
              <a:ext cx="23756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空间账（这棵树 n = 10，最大度 d = 3）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723900" y="462629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879348" y="4574381"/>
              <a:ext cx="5131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下标格子一共 n × d =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30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个，其中真正指向孩子的只有 n − 1 = 9 个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723900" y="49110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879348" y="4859179"/>
              <a:ext cx="3742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剩下 21 个格子都是 0，占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70%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。d 越大浪费越多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09041" y="5140642"/>
              <a:ext cx="4187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每条边被记录一次，所以有用的格子数恒等于 n − 1，与树形无关。</a:t>
              </a:r>
            </a:p>
          </p:txBody>
        </p:sp>
      </p:grpSp>
      <p:grpSp>
        <p:nvGrpSpPr>
          <p:cNvPr id="151" name="c2-tree-1"/>
          <p:cNvGrpSpPr/>
          <p:nvPr/>
        </p:nvGrpSpPr>
        <p:grpSpPr>
          <a:xfrm>
            <a:off x="7370445" y="1609725"/>
            <a:ext cx="4157663" cy="1488757"/>
            <a:chOff x="7370445" y="1609725"/>
            <a:chExt cx="4157663" cy="1488757"/>
          </a:xfrm>
        </p:grpSpPr>
        <p:sp>
          <p:nvSpPr>
            <p:cNvPr id="122" name="Freeform 122"/>
            <p:cNvSpPr/>
            <p:nvPr/>
          </p:nvSpPr>
          <p:spPr>
            <a:xfrm>
              <a:off x="7492365" y="2145982"/>
              <a:ext cx="379095" cy="415290"/>
            </a:xfrm>
            <a:custGeom>
              <a:avLst/>
              <a:gdLst/>
              <a:ahLst/>
              <a:cxnLst/>
              <a:rect l="l" t="t" r="r" b="b"/>
              <a:pathLst>
                <a:path w="379095" h="415290">
                  <a:moveTo>
                    <a:pt x="379095" y="0"/>
                  </a:moveTo>
                  <a:lnTo>
                    <a:pt x="0" y="4152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7871460" y="2145982"/>
              <a:ext cx="379095" cy="415290"/>
            </a:xfrm>
            <a:custGeom>
              <a:avLst/>
              <a:gdLst/>
              <a:ahLst/>
              <a:cxnLst/>
              <a:rect l="l" t="t" r="r" b="b"/>
              <a:pathLst>
                <a:path w="379095" h="415290">
                  <a:moveTo>
                    <a:pt x="0" y="0"/>
                  </a:moveTo>
                  <a:lnTo>
                    <a:pt x="379095" y="4152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10396538" y="2561272"/>
              <a:ext cx="504825" cy="415290"/>
            </a:xfrm>
            <a:custGeom>
              <a:avLst/>
              <a:gdLst/>
              <a:ahLst/>
              <a:cxnLst/>
              <a:rect l="l" t="t" r="r" b="b"/>
              <a:pathLst>
                <a:path w="504825" h="415290">
                  <a:moveTo>
                    <a:pt x="504825" y="0"/>
                  </a:moveTo>
                  <a:lnTo>
                    <a:pt x="0" y="4152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10901362" y="2561272"/>
              <a:ext cx="9525" cy="415290"/>
            </a:xfrm>
            <a:custGeom>
              <a:avLst/>
              <a:gdLst/>
              <a:ahLst/>
              <a:cxnLst/>
              <a:rect l="l" t="t" r="r" b="b"/>
              <a:pathLst>
                <a:path w="9525" h="415290">
                  <a:moveTo>
                    <a:pt x="0" y="0"/>
                  </a:moveTo>
                  <a:lnTo>
                    <a:pt x="0" y="4152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10901362" y="2561272"/>
              <a:ext cx="504825" cy="415290"/>
            </a:xfrm>
            <a:custGeom>
              <a:avLst/>
              <a:gdLst/>
              <a:ahLst/>
              <a:cxnLst/>
              <a:rect l="l" t="t" r="r" b="b"/>
              <a:pathLst>
                <a:path w="504825" h="415290">
                  <a:moveTo>
                    <a:pt x="0" y="0"/>
                  </a:moveTo>
                  <a:lnTo>
                    <a:pt x="504825" y="4152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10901362" y="2145982"/>
              <a:ext cx="9525" cy="415290"/>
            </a:xfrm>
            <a:custGeom>
              <a:avLst/>
              <a:gdLst/>
              <a:ahLst/>
              <a:cxnLst/>
              <a:rect l="l" t="t" r="r" b="b"/>
              <a:pathLst>
                <a:path w="9525" h="415290">
                  <a:moveTo>
                    <a:pt x="0" y="0"/>
                  </a:moveTo>
                  <a:lnTo>
                    <a:pt x="0" y="4152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7871460" y="1731645"/>
              <a:ext cx="1514475" cy="414338"/>
            </a:xfrm>
            <a:custGeom>
              <a:avLst/>
              <a:gdLst/>
              <a:ahLst/>
              <a:cxnLst/>
              <a:rect l="l" t="t" r="r" b="b"/>
              <a:pathLst>
                <a:path w="1514475" h="414338">
                  <a:moveTo>
                    <a:pt x="1514475" y="0"/>
                  </a:moveTo>
                  <a:lnTo>
                    <a:pt x="0" y="4143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9385935" y="1731645"/>
              <a:ext cx="9525" cy="414338"/>
            </a:xfrm>
            <a:custGeom>
              <a:avLst/>
              <a:gdLst/>
              <a:ahLst/>
              <a:cxnLst/>
              <a:rect l="l" t="t" r="r" b="b"/>
              <a:pathLst>
                <a:path w="9525" h="414338">
                  <a:moveTo>
                    <a:pt x="0" y="0"/>
                  </a:moveTo>
                  <a:lnTo>
                    <a:pt x="0" y="4143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9385935" y="1731645"/>
              <a:ext cx="1515428" cy="414338"/>
            </a:xfrm>
            <a:custGeom>
              <a:avLst/>
              <a:gdLst/>
              <a:ahLst/>
              <a:cxnLst/>
              <a:rect l="l" t="t" r="r" b="b"/>
              <a:pathLst>
                <a:path w="1515428" h="414338">
                  <a:moveTo>
                    <a:pt x="0" y="0"/>
                  </a:moveTo>
                  <a:lnTo>
                    <a:pt x="1515428" y="4143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1" name="Ellipse 131"/>
            <p:cNvSpPr/>
            <p:nvPr/>
          </p:nvSpPr>
          <p:spPr>
            <a:xfrm>
              <a:off x="7370445" y="243935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2" name="Ellipse 132"/>
            <p:cNvSpPr/>
            <p:nvPr/>
          </p:nvSpPr>
          <p:spPr>
            <a:xfrm>
              <a:off x="8128635" y="243935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3" name="Ellipse 133"/>
            <p:cNvSpPr/>
            <p:nvPr/>
          </p:nvSpPr>
          <p:spPr>
            <a:xfrm>
              <a:off x="7749540" y="202406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4" name="Ellipse 134"/>
            <p:cNvSpPr/>
            <p:nvPr/>
          </p:nvSpPr>
          <p:spPr>
            <a:xfrm>
              <a:off x="9264015" y="202406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5" name="Ellipse 135"/>
            <p:cNvSpPr/>
            <p:nvPr/>
          </p:nvSpPr>
          <p:spPr>
            <a:xfrm>
              <a:off x="10274618" y="285464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6" name="Ellipse 136"/>
            <p:cNvSpPr/>
            <p:nvPr/>
          </p:nvSpPr>
          <p:spPr>
            <a:xfrm>
              <a:off x="10779442" y="285464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7" name="Ellipse 137"/>
            <p:cNvSpPr/>
            <p:nvPr/>
          </p:nvSpPr>
          <p:spPr>
            <a:xfrm>
              <a:off x="11284268" y="285464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8" name="Ellipse 138"/>
            <p:cNvSpPr/>
            <p:nvPr/>
          </p:nvSpPr>
          <p:spPr>
            <a:xfrm>
              <a:off x="10779442" y="243935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9" name="Ellipse 139"/>
            <p:cNvSpPr/>
            <p:nvPr/>
          </p:nvSpPr>
          <p:spPr>
            <a:xfrm>
              <a:off x="10779442" y="2024062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0" name="Ellipse 140"/>
            <p:cNvSpPr/>
            <p:nvPr/>
          </p:nvSpPr>
          <p:spPr>
            <a:xfrm>
              <a:off x="9264015" y="1609725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7450638" y="250507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8208828" y="250507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7829733" y="209073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9344208" y="209073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0354810" y="29203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0859635" y="29203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1364460" y="29203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0859635" y="250507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0859635" y="209073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9344208" y="16754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161" name="c2-card-2"/>
          <p:cNvGrpSpPr/>
          <p:nvPr/>
        </p:nvGrpSpPr>
        <p:grpSpPr>
          <a:xfrm>
            <a:off x="7114222" y="3348990"/>
            <a:ext cx="4544378" cy="2136458"/>
            <a:chOff x="7114222" y="3348990"/>
            <a:chExt cx="4544378" cy="2136458"/>
          </a:xfrm>
        </p:grpSpPr>
        <p:sp>
          <p:nvSpPr>
            <p:cNvPr id="152" name="Rectangle 152"/>
            <p:cNvSpPr/>
            <p:nvPr/>
          </p:nvSpPr>
          <p:spPr>
            <a:xfrm>
              <a:off x="7114222" y="3348990"/>
              <a:ext cx="4544378" cy="2136458"/>
            </a:xfrm>
            <a:prstGeom prst="roundRect">
              <a:avLst>
                <a:gd name="adj" fmla="val 624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7295198" y="3529965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7346163" y="356282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优缺点正好和双亲表示法互补</a:t>
              </a:r>
            </a:p>
          </p:txBody>
        </p:sp>
        <p:sp>
          <p:nvSpPr>
            <p:cNvPr id="155" name="Ellipse 155"/>
            <p:cNvSpPr/>
            <p:nvPr/>
          </p:nvSpPr>
          <p:spPr>
            <a:xfrm>
              <a:off x="7304722" y="39223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7460170" y="3869531"/>
              <a:ext cx="3458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找孩子 O(1)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：三个格子读出来就是全部孩子</a:t>
              </a:r>
            </a:p>
          </p:txBody>
        </p:sp>
        <p:sp>
          <p:nvSpPr>
            <p:cNvPr id="157" name="Ellipse 157"/>
            <p:cNvSpPr/>
            <p:nvPr/>
          </p:nvSpPr>
          <p:spPr>
            <a:xfrm>
              <a:off x="7304722" y="420719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7460170" y="4154329"/>
              <a:ext cx="3616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找父亲 O(n)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：得扫全表，看谁的孩子里有自己</a:t>
              </a:r>
            </a:p>
          </p:txBody>
        </p:sp>
        <p:sp>
          <p:nvSpPr>
            <p:cNvPr id="159" name="Ellipse 159"/>
            <p:cNvSpPr/>
            <p:nvPr/>
          </p:nvSpPr>
          <p:spPr>
            <a:xfrm>
              <a:off x="7304722" y="44919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7460170" y="4440079"/>
              <a:ext cx="3768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 表示“这个孩子不存在”，所以下标必须从 1 开始编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号</a:t>
              </a:r>
            </a:p>
          </p:txBody>
        </p:sp>
      </p:grpSp>
      <p:grpSp>
        <p:nvGrpSpPr>
          <p:cNvPr id="168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162" name="Rectangle 162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66" name="Group 166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4" name="Freeform 164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5" name="Freeform 165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7" name="TextBox 167"/>
            <p:cNvSpPr txBox="1"/>
            <p:nvPr/>
          </p:nvSpPr>
          <p:spPr>
            <a:xfrm>
              <a:off x="1041273" y="5805011"/>
              <a:ext cx="9896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把两种字段都存上，就是“双亲孩子表示法”，找父亲和找孩子都是 O(1)，代价是每个结点多一个整数。第四部分的父亲孩子链表用的就是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这个思路。</a:t>
              </a:r>
            </a:p>
          </p:txBody>
        </p:sp>
      </p:grpSp>
      <p:grpSp>
        <p:nvGrpSpPr>
          <p:cNvPr id="1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9" name="TextBox 16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树的顺序存储结构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树的先根遍历与后根遍历：递归地定义在子树上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977765" cy="1202055"/>
            <a:chOff x="533400" y="1524000"/>
            <a:chExt cx="4977765" cy="1202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树的先根遍历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2475" y="204978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3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223" y="20616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访问根结点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2475" y="233553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382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223" y="234648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从左到右，依次先根遍历根结点的诸子树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2890838"/>
            <a:ext cx="4977765" cy="1202055"/>
            <a:chOff x="533400" y="2890838"/>
            <a:chExt cx="4977765" cy="1202055"/>
          </a:xfrm>
        </p:grpSpPr>
        <p:sp>
          <p:nvSpPr>
            <p:cNvPr id="19" name="Rectangle 19"/>
            <p:cNvSpPr/>
            <p:nvPr/>
          </p:nvSpPr>
          <p:spPr>
            <a:xfrm>
              <a:off x="533400" y="2890838"/>
              <a:ext cx="4977765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024188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30718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147" y="31046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18450" y="311229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树的后根遍历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2475" y="341757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4382" y="34531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2223" y="342852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从左到右，依次后根遍历根结点的诸子树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52475" y="370236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4382" y="373799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223" y="371332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访问根结点</a:t>
              </a:r>
            </a:p>
          </p:txBody>
        </p:sp>
      </p:grpSp>
      <p:grpSp>
        <p:nvGrpSpPr>
          <p:cNvPr id="36" name="c1-card-3"/>
          <p:cNvGrpSpPr/>
          <p:nvPr/>
        </p:nvGrpSpPr>
        <p:grpSpPr>
          <a:xfrm>
            <a:off x="533400" y="4258628"/>
            <a:ext cx="4977765" cy="1386840"/>
            <a:chOff x="533400" y="4258628"/>
            <a:chExt cx="4977765" cy="1386840"/>
          </a:xfrm>
        </p:grpSpPr>
        <p:sp>
          <p:nvSpPr>
            <p:cNvPr id="31" name="Rectangle 31"/>
            <p:cNvSpPr/>
            <p:nvPr/>
          </p:nvSpPr>
          <p:spPr>
            <a:xfrm>
              <a:off x="533400" y="4258628"/>
              <a:ext cx="497776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391978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2475" y="443960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5843" y="447246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树有中根遍历吗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998" y="4779169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没有。二叉树的中根遍历靠“左子树 → 根 → 右子树”把根夹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在正中间，位置是确定的。树的子树棵数不定，根该插在第几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棵子树之后没有统一规定，所以中根遍历对树没有定义。</a:t>
              </a:r>
            </a:p>
          </p:txBody>
        </p:sp>
      </p:grpSp>
      <p:grpSp>
        <p:nvGrpSpPr>
          <p:cNvPr id="66" name="c2-tree-1"/>
          <p:cNvGrpSpPr/>
          <p:nvPr/>
        </p:nvGrpSpPr>
        <p:grpSpPr>
          <a:xfrm>
            <a:off x="6165533" y="1680210"/>
            <a:ext cx="5305425" cy="2035492"/>
            <a:chOff x="6165533" y="1680210"/>
            <a:chExt cx="5305425" cy="2035492"/>
          </a:xfrm>
        </p:grpSpPr>
        <p:sp>
          <p:nvSpPr>
            <p:cNvPr id="37" name="Freeform 37"/>
            <p:cNvSpPr/>
            <p:nvPr/>
          </p:nvSpPr>
          <p:spPr>
            <a:xfrm>
              <a:off x="6302692" y="2404110"/>
              <a:ext cx="486727" cy="587693"/>
            </a:xfrm>
            <a:custGeom>
              <a:avLst/>
              <a:gdLst/>
              <a:ahLst/>
              <a:cxnLst/>
              <a:rect l="l" t="t" r="r" b="b"/>
              <a:pathLst>
                <a:path w="486727" h="587693">
                  <a:moveTo>
                    <a:pt x="486727" y="0"/>
                  </a:moveTo>
                  <a:lnTo>
                    <a:pt x="0" y="5876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789420" y="2404110"/>
              <a:ext cx="486728" cy="587693"/>
            </a:xfrm>
            <a:custGeom>
              <a:avLst/>
              <a:gdLst/>
              <a:ahLst/>
              <a:cxnLst/>
              <a:rect l="l" t="t" r="r" b="b"/>
              <a:pathLst>
                <a:path w="486728" h="587693">
                  <a:moveTo>
                    <a:pt x="0" y="0"/>
                  </a:moveTo>
                  <a:lnTo>
                    <a:pt x="486728" y="5876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035540" y="2991802"/>
              <a:ext cx="649605" cy="586740"/>
            </a:xfrm>
            <a:custGeom>
              <a:avLst/>
              <a:gdLst/>
              <a:ahLst/>
              <a:cxnLst/>
              <a:rect l="l" t="t" r="r" b="b"/>
              <a:pathLst>
                <a:path w="649605" h="586740">
                  <a:moveTo>
                    <a:pt x="649605" y="0"/>
                  </a:moveTo>
                  <a:lnTo>
                    <a:pt x="0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685145" y="2991802"/>
              <a:ext cx="9525" cy="586740"/>
            </a:xfrm>
            <a:custGeom>
              <a:avLst/>
              <a:gdLst/>
              <a:ahLst/>
              <a:cxnLst/>
              <a:rect l="l" t="t" r="r" b="b"/>
              <a:pathLst>
                <a:path w="9525" h="586740">
                  <a:moveTo>
                    <a:pt x="0" y="0"/>
                  </a:moveTo>
                  <a:lnTo>
                    <a:pt x="0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685145" y="2991802"/>
              <a:ext cx="648653" cy="586740"/>
            </a:xfrm>
            <a:custGeom>
              <a:avLst/>
              <a:gdLst/>
              <a:ahLst/>
              <a:cxnLst/>
              <a:rect l="l" t="t" r="r" b="b"/>
              <a:pathLst>
                <a:path w="648653" h="586740">
                  <a:moveTo>
                    <a:pt x="0" y="0"/>
                  </a:moveTo>
                  <a:lnTo>
                    <a:pt x="648653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685145" y="2404110"/>
              <a:ext cx="9525" cy="587693"/>
            </a:xfrm>
            <a:custGeom>
              <a:avLst/>
              <a:gdLst/>
              <a:ahLst/>
              <a:cxnLst/>
              <a:rect l="l" t="t" r="r" b="b"/>
              <a:pathLst>
                <a:path w="9525" h="587693">
                  <a:moveTo>
                    <a:pt x="0" y="0"/>
                  </a:moveTo>
                  <a:lnTo>
                    <a:pt x="0" y="5876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789420" y="1817370"/>
              <a:ext cx="1947862" cy="586740"/>
            </a:xfrm>
            <a:custGeom>
              <a:avLst/>
              <a:gdLst/>
              <a:ahLst/>
              <a:cxnLst/>
              <a:rect l="l" t="t" r="r" b="b"/>
              <a:pathLst>
                <a:path w="1947862" h="586740">
                  <a:moveTo>
                    <a:pt x="1947862" y="0"/>
                  </a:moveTo>
                  <a:lnTo>
                    <a:pt x="0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737282" y="1817370"/>
              <a:ext cx="9525" cy="586740"/>
            </a:xfrm>
            <a:custGeom>
              <a:avLst/>
              <a:gdLst/>
              <a:ahLst/>
              <a:cxnLst/>
              <a:rect l="l" t="t" r="r" b="b"/>
              <a:pathLst>
                <a:path w="9525" h="586740">
                  <a:moveTo>
                    <a:pt x="0" y="0"/>
                  </a:moveTo>
                  <a:lnTo>
                    <a:pt x="0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737282" y="1817370"/>
              <a:ext cx="1947862" cy="586740"/>
            </a:xfrm>
            <a:custGeom>
              <a:avLst/>
              <a:gdLst/>
              <a:ahLst/>
              <a:cxnLst/>
              <a:rect l="l" t="t" r="r" b="b"/>
              <a:pathLst>
                <a:path w="1947862" h="586740">
                  <a:moveTo>
                    <a:pt x="0" y="0"/>
                  </a:moveTo>
                  <a:lnTo>
                    <a:pt x="1947862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165533" y="2854643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138988" y="2854643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652260" y="2266950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600122" y="2266950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9898380" y="3441382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547985" y="3441382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1196638" y="3441382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547985" y="2854643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10547985" y="2266950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8600122" y="1680210"/>
              <a:ext cx="274320" cy="27432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57489" y="29303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30944" y="29303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44217" y="234362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92079" y="234362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90337" y="35180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39942" y="35180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88594" y="35180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39942" y="29303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39942" y="234362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92079" y="175688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81" name="c2-table-2"/>
          <p:cNvGrpSpPr/>
          <p:nvPr/>
        </p:nvGrpSpPr>
        <p:grpSpPr>
          <a:xfrm>
            <a:off x="5815965" y="4036695"/>
            <a:ext cx="5842635" cy="1525905"/>
            <a:chOff x="5815965" y="4036695"/>
            <a:chExt cx="5842635" cy="1525905"/>
          </a:xfrm>
        </p:grpSpPr>
        <p:sp>
          <p:nvSpPr>
            <p:cNvPr id="67" name="Rectangle 67"/>
            <p:cNvSpPr/>
            <p:nvPr/>
          </p:nvSpPr>
          <p:spPr>
            <a:xfrm>
              <a:off x="5815965" y="4036695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87072" y="41538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遍历方式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67038" y="41538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这棵树的序列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910644" y="45358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29881" y="4535805"/>
              <a:ext cx="12353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A D E B C F G H K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815965" y="47948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815965" y="479964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910644" y="49168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29881" y="4916805"/>
              <a:ext cx="12353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E A B G H K F C R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815965" y="51758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910644" y="52978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29881" y="5297805"/>
              <a:ext cx="12353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A B C D E F G H K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815965" y="4036695"/>
              <a:ext cx="584263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330440" y="403669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2" name="Rectangle 8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1273" y="6039326"/>
              <a:ext cx="10179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先根序列的第一个结点一定是根，后根序列的最后一个结点一定是根，层次序列的第一个也是根。这三条是后面还原树形时的起手式。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树的顺序存储结构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先根序列加上每个结点的度，树形就被唯一确定了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316355"/>
            <a:chOff x="533400" y="1524000"/>
            <a:chExt cx="5193982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如果已知一棵树的先根序列和每个结点的度，则能唯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一确定该树的结构。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3040380"/>
            <a:ext cx="5001641" cy="2581561"/>
            <a:chOff x="533400" y="3040380"/>
            <a:chExt cx="5001641" cy="2581561"/>
          </a:xfrm>
        </p:grpSpPr>
        <p:sp>
          <p:nvSpPr>
            <p:cNvPr id="13" name="Rectangle 13"/>
            <p:cNvSpPr/>
            <p:nvPr/>
          </p:nvSpPr>
          <p:spPr>
            <a:xfrm>
              <a:off x="666750" y="318325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0403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909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64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3414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415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0746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归纳基础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6851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树中只有一个结点时，序列只有一项，树形显然唯一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2522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归纳假设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19074"/>
              <a:ext cx="3131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假设结点个数小于 n（n ≥ 2）时定理成立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3757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归纳步骤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669631"/>
              <a:ext cx="4589018" cy="952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结点数为 n 时，先根序列的第一个结点就是根。设根的度为 k，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则根有 k 棵子树，序列中余下的 n − 1 项按顺序正是这 k 棵子树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的先根序列。每棵子树的结点数都小于 n，由归纳假设各自唯一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确定，整棵树的树形随之唯一确定</a:t>
              </a:r>
            </a:p>
          </p:txBody>
        </p:sp>
      </p:grpSp>
      <p:grpSp>
        <p:nvGrpSpPr>
          <p:cNvPr id="43" name="c2-graph-1"/>
          <p:cNvGrpSpPr/>
          <p:nvPr/>
        </p:nvGrpSpPr>
        <p:grpSpPr>
          <a:xfrm>
            <a:off x="6348412" y="1664018"/>
            <a:ext cx="4092893" cy="1767364"/>
            <a:chOff x="6348412" y="1664018"/>
            <a:chExt cx="4092893" cy="1767364"/>
          </a:xfrm>
        </p:grpSpPr>
        <p:sp>
          <p:nvSpPr>
            <p:cNvPr id="27" name="Freeform 27"/>
            <p:cNvSpPr/>
            <p:nvPr/>
          </p:nvSpPr>
          <p:spPr>
            <a:xfrm>
              <a:off x="6586538" y="1895475"/>
              <a:ext cx="579120" cy="545783"/>
            </a:xfrm>
            <a:custGeom>
              <a:avLst/>
              <a:gdLst/>
              <a:ahLst/>
              <a:cxnLst/>
              <a:rect l="l" t="t" r="r" b="b"/>
              <a:pathLst>
                <a:path w="579120" h="545783">
                  <a:moveTo>
                    <a:pt x="579120" y="0"/>
                  </a:moveTo>
                  <a:lnTo>
                    <a:pt x="0" y="5457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374255" y="1895475"/>
              <a:ext cx="579120" cy="545783"/>
            </a:xfrm>
            <a:custGeom>
              <a:avLst/>
              <a:gdLst/>
              <a:ahLst/>
              <a:cxnLst/>
              <a:rect l="l" t="t" r="r" b="b"/>
              <a:pathLst>
                <a:path w="579120" h="545783">
                  <a:moveTo>
                    <a:pt x="0" y="0"/>
                  </a:moveTo>
                  <a:lnTo>
                    <a:pt x="579120" y="5457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307955" y="1940242"/>
              <a:ext cx="9525" cy="456248"/>
            </a:xfrm>
            <a:custGeom>
              <a:avLst/>
              <a:gdLst/>
              <a:ahLst/>
              <a:cxnLst/>
              <a:rect l="l" t="t" r="r" b="b"/>
              <a:pathLst>
                <a:path w="9525" h="456248">
                  <a:moveTo>
                    <a:pt x="0" y="0"/>
                  </a:moveTo>
                  <a:lnTo>
                    <a:pt x="0" y="4562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307955" y="2682240"/>
              <a:ext cx="9525" cy="456247"/>
            </a:xfrm>
            <a:custGeom>
              <a:avLst/>
              <a:gdLst/>
              <a:ahLst/>
              <a:cxnLst/>
              <a:rect l="l" t="t" r="r" b="b"/>
              <a:pathLst>
                <a:path w="9525" h="456247">
                  <a:moveTo>
                    <a:pt x="0" y="0"/>
                  </a:moveTo>
                  <a:lnTo>
                    <a:pt x="0" y="4562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136130" y="166401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348412" y="240601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923848" y="240601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174605" y="166401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10174605" y="240601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0174605" y="314801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17765" y="172735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0047" y="24693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05482" y="24693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56240" y="172735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56240" y="24693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56240" y="321135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6032182" y="3667125"/>
            <a:ext cx="5626418" cy="1346835"/>
            <a:chOff x="6032182" y="3667125"/>
            <a:chExt cx="5626418" cy="1346835"/>
          </a:xfrm>
        </p:grpSpPr>
        <p:sp>
          <p:nvSpPr>
            <p:cNvPr id="44" name="Rectangle 44"/>
            <p:cNvSpPr/>
            <p:nvPr/>
          </p:nvSpPr>
          <p:spPr>
            <a:xfrm>
              <a:off x="6032182" y="3667125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97307" y="38028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25218" y="38028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先根序列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08832" y="38028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结点度序列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40006" y="42514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左边那棵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27836" y="4251484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40456" y="4251484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2 0 0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32182" y="45596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32182" y="456438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40006" y="47001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右边那棵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27836" y="4700111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40456" y="470011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32182" y="3667125"/>
              <a:ext cx="56264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715250" y="36671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627870" y="36671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3"/>
          <p:cNvGrpSpPr/>
          <p:nvPr/>
        </p:nvGrpSpPr>
        <p:grpSpPr>
          <a:xfrm>
            <a:off x="6032182" y="5204460"/>
            <a:ext cx="5626418" cy="782955"/>
            <a:chOff x="6032182" y="5204460"/>
            <a:chExt cx="5626418" cy="782955"/>
          </a:xfrm>
        </p:grpSpPr>
        <p:sp>
          <p:nvSpPr>
            <p:cNvPr id="60" name="Rectangle 60"/>
            <p:cNvSpPr/>
            <p:nvPr/>
          </p:nvSpPr>
          <p:spPr>
            <a:xfrm>
              <a:off x="6032182" y="520446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224912" y="5492233"/>
              <a:ext cx="224134" cy="192560"/>
              <a:chOff x="6224912" y="5492233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336983" y="55626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224912" y="54922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336983" y="5640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538912" y="5353050"/>
              <a:ext cx="4692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光有先根序列不够：上面两棵树的先根序列都是 A B C。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补上度序列，2 0 0 与 1 1 0 才把它们区分开。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树的顺序存储结构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由先根序列还原：从右往左，就近认领子树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cells-1"/>
          <p:cNvGrpSpPr/>
          <p:nvPr/>
        </p:nvGrpSpPr>
        <p:grpSpPr>
          <a:xfrm>
            <a:off x="528638" y="1524000"/>
            <a:ext cx="4766309" cy="888683"/>
            <a:chOff x="528638" y="1524000"/>
            <a:chExt cx="4766309" cy="888683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5258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先根序列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3950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55578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71612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03240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19275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50903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66938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98565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13648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46228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61310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93890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08972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41553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56635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89215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904298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052727" y="1652588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251960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83588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99622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31250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947285" y="1524000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78913" y="1652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638" y="217170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结点度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23950" y="2044065"/>
              <a:ext cx="347662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57558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471612" y="2044065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605221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819275" y="2044065"/>
              <a:ext cx="347662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952883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166938" y="2044065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300546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513648" y="2044065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648208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861310" y="2044065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995871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208972" y="2044065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343533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556635" y="2044065"/>
              <a:ext cx="347662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91196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904298" y="2044065"/>
              <a:ext cx="347662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37906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251960" y="2044065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385568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599622" y="2044065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33231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947285" y="2044065"/>
              <a:ext cx="34766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080893" y="21717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62" name="c1-card-2"/>
          <p:cNvGrpSpPr/>
          <p:nvPr/>
        </p:nvGrpSpPr>
        <p:grpSpPr>
          <a:xfrm>
            <a:off x="533400" y="2582228"/>
            <a:ext cx="4760595" cy="1443038"/>
            <a:chOff x="533400" y="2582228"/>
            <a:chExt cx="4760595" cy="1443038"/>
          </a:xfrm>
        </p:grpSpPr>
        <p:sp>
          <p:nvSpPr>
            <p:cNvPr id="58" name="Rectangle 58"/>
            <p:cNvSpPr/>
            <p:nvPr/>
          </p:nvSpPr>
          <p:spPr>
            <a:xfrm>
              <a:off x="533400" y="2582228"/>
              <a:ext cx="4760595" cy="1443038"/>
            </a:xfrm>
            <a:prstGeom prst="roundRect">
              <a:avLst>
                <a:gd name="adj" fmla="val 924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20090" y="276891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4659" y="28017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还原规则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3232" y="3113722"/>
              <a:ext cx="420566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从右往左扫描。遇到度为 k 的结点 X，就把它右边最近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 k 棵已经成形的子树，依次认作 X 的子树。度为 0 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结点自己就是一棵单结点子树。</a:t>
              </a:r>
            </a:p>
          </p:txBody>
        </p:sp>
      </p:grpSp>
      <p:grpSp>
        <p:nvGrpSpPr>
          <p:cNvPr id="76" name="c1-steps-3"/>
          <p:cNvGrpSpPr/>
          <p:nvPr/>
        </p:nvGrpSpPr>
        <p:grpSpPr>
          <a:xfrm>
            <a:off x="533400" y="4204335"/>
            <a:ext cx="4751614" cy="2100738"/>
            <a:chOff x="533400" y="4204335"/>
            <a:chExt cx="4751614" cy="2100738"/>
          </a:xfrm>
        </p:grpSpPr>
        <p:sp>
          <p:nvSpPr>
            <p:cNvPr id="63" name="Rectangle 63"/>
            <p:cNvSpPr/>
            <p:nvPr/>
          </p:nvSpPr>
          <p:spPr>
            <a:xfrm>
              <a:off x="666750" y="4347210"/>
              <a:ext cx="19050" cy="13735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533400" y="42043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7024" y="4278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33400" y="49949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7024" y="5068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33400" y="55778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7024" y="56516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5642" y="4236720"/>
              <a:ext cx="679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先处理 I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785" y="4503896"/>
              <a:ext cx="40723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从右端起 L、K、J 度都是 0。I 的度是 2，认领右边最近的两棵：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和 K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5642" y="5026342"/>
              <a:ext cx="730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再处理 H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6785" y="5294471"/>
              <a:ext cx="4338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的度是 2，此时它右边最近的两棵子树是“以 I 为根的子树”和 L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45642" y="5609273"/>
              <a:ext cx="730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最后是 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6785" y="5877401"/>
              <a:ext cx="40581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的度是 3 先认领 D、E、F；A 的度是 4，认领 B、C 子树、G、H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子树，还原完成</a:t>
              </a:r>
            </a:p>
          </p:txBody>
        </p:sp>
      </p:grpSp>
      <p:grpSp>
        <p:nvGrpSpPr>
          <p:cNvPr id="112" name="c2-graph-1"/>
          <p:cNvGrpSpPr/>
          <p:nvPr/>
        </p:nvGrpSpPr>
        <p:grpSpPr>
          <a:xfrm>
            <a:off x="5931218" y="1605915"/>
            <a:ext cx="5515927" cy="2710815"/>
            <a:chOff x="5931218" y="1605915"/>
            <a:chExt cx="5515927" cy="2710815"/>
          </a:xfrm>
        </p:grpSpPr>
        <p:sp>
          <p:nvSpPr>
            <p:cNvPr id="77" name="Freeform 77"/>
            <p:cNvSpPr/>
            <p:nvPr/>
          </p:nvSpPr>
          <p:spPr>
            <a:xfrm>
              <a:off x="6238875" y="1804988"/>
              <a:ext cx="2234565" cy="669608"/>
            </a:xfrm>
            <a:custGeom>
              <a:avLst/>
              <a:gdLst/>
              <a:ahLst/>
              <a:cxnLst/>
              <a:rect l="l" t="t" r="r" b="b"/>
              <a:pathLst>
                <a:path w="2234565" h="669608">
                  <a:moveTo>
                    <a:pt x="2234565" y="0"/>
                  </a:moveTo>
                  <a:lnTo>
                    <a:pt x="0" y="6696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7554278" y="1844992"/>
              <a:ext cx="937260" cy="590550"/>
            </a:xfrm>
            <a:custGeom>
              <a:avLst/>
              <a:gdLst/>
              <a:ahLst/>
              <a:cxnLst/>
              <a:rect l="l" t="t" r="r" b="b"/>
              <a:pathLst>
                <a:path w="937260" h="590550">
                  <a:moveTo>
                    <a:pt x="937260" y="0"/>
                  </a:moveTo>
                  <a:lnTo>
                    <a:pt x="0" y="5905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8698230" y="1905000"/>
              <a:ext cx="224790" cy="470535"/>
            </a:xfrm>
            <a:custGeom>
              <a:avLst/>
              <a:gdLst/>
              <a:ahLst/>
              <a:cxnLst/>
              <a:rect l="l" t="t" r="r" b="b"/>
              <a:pathLst>
                <a:path w="224790" h="470535">
                  <a:moveTo>
                    <a:pt x="0" y="0"/>
                  </a:moveTo>
                  <a:lnTo>
                    <a:pt x="224790" y="4705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8781098" y="1814512"/>
              <a:ext cx="1756410" cy="650558"/>
            </a:xfrm>
            <a:custGeom>
              <a:avLst/>
              <a:gdLst/>
              <a:ahLst/>
              <a:cxnLst/>
              <a:rect l="l" t="t" r="r" b="b"/>
              <a:pathLst>
                <a:path w="1756410" h="650558">
                  <a:moveTo>
                    <a:pt x="0" y="0"/>
                  </a:moveTo>
                  <a:lnTo>
                    <a:pt x="1756410" y="6505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6797040" y="2642235"/>
              <a:ext cx="512445" cy="579120"/>
            </a:xfrm>
            <a:custGeom>
              <a:avLst/>
              <a:gdLst/>
              <a:ahLst/>
              <a:cxnLst/>
              <a:rect l="l" t="t" r="r" b="b"/>
              <a:pathLst>
                <a:path w="512445" h="579120">
                  <a:moveTo>
                    <a:pt x="512445" y="0"/>
                  </a:moveTo>
                  <a:lnTo>
                    <a:pt x="0" y="5791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7417118" y="2683192"/>
              <a:ext cx="9525" cy="498158"/>
            </a:xfrm>
            <a:custGeom>
              <a:avLst/>
              <a:gdLst/>
              <a:ahLst/>
              <a:cxnLst/>
              <a:rect l="l" t="t" r="r" b="b"/>
              <a:pathLst>
                <a:path w="9525" h="498158">
                  <a:moveTo>
                    <a:pt x="0" y="0"/>
                  </a:moveTo>
                  <a:lnTo>
                    <a:pt x="0" y="4981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7524750" y="2642235"/>
              <a:ext cx="512445" cy="579120"/>
            </a:xfrm>
            <a:custGeom>
              <a:avLst/>
              <a:gdLst/>
              <a:ahLst/>
              <a:cxnLst/>
              <a:rect l="l" t="t" r="r" b="b"/>
              <a:pathLst>
                <a:path w="512445" h="579120">
                  <a:moveTo>
                    <a:pt x="0" y="0"/>
                  </a:moveTo>
                  <a:lnTo>
                    <a:pt x="512445" y="5791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10287000" y="2661285"/>
              <a:ext cx="320040" cy="541973"/>
            </a:xfrm>
            <a:custGeom>
              <a:avLst/>
              <a:gdLst/>
              <a:ahLst/>
              <a:cxnLst/>
              <a:rect l="l" t="t" r="r" b="b"/>
              <a:pathLst>
                <a:path w="320040" h="541973">
                  <a:moveTo>
                    <a:pt x="320040" y="0"/>
                  </a:moveTo>
                  <a:lnTo>
                    <a:pt x="0" y="5419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10785158" y="2651760"/>
              <a:ext cx="413385" cy="561023"/>
            </a:xfrm>
            <a:custGeom>
              <a:avLst/>
              <a:gdLst/>
              <a:ahLst/>
              <a:cxnLst/>
              <a:rect l="l" t="t" r="r" b="b"/>
              <a:pathLst>
                <a:path w="413385" h="561023">
                  <a:moveTo>
                    <a:pt x="0" y="0"/>
                  </a:moveTo>
                  <a:lnTo>
                    <a:pt x="413385" y="5610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9802178" y="3482340"/>
              <a:ext cx="320040" cy="542925"/>
            </a:xfrm>
            <a:custGeom>
              <a:avLst/>
              <a:gdLst/>
              <a:ahLst/>
              <a:cxnLst/>
              <a:rect l="l" t="t" r="r" b="b"/>
              <a:pathLst>
                <a:path w="320040" h="542925">
                  <a:moveTo>
                    <a:pt x="320040" y="0"/>
                  </a:moveTo>
                  <a:lnTo>
                    <a:pt x="0" y="5429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287000" y="3482340"/>
              <a:ext cx="320040" cy="542925"/>
            </a:xfrm>
            <a:custGeom>
              <a:avLst/>
              <a:gdLst/>
              <a:ahLst/>
              <a:cxnLst/>
              <a:rect l="l" t="t" r="r" b="b"/>
              <a:pathLst>
                <a:path w="320040" h="542925">
                  <a:moveTo>
                    <a:pt x="0" y="0"/>
                  </a:moveTo>
                  <a:lnTo>
                    <a:pt x="320040" y="5429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8476298" y="160591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5931218" y="236886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7264718" y="236886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8840152" y="236886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10536555" y="236886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3" name="Ellipse 93"/>
            <p:cNvSpPr/>
            <p:nvPr/>
          </p:nvSpPr>
          <p:spPr>
            <a:xfrm>
              <a:off x="6537008" y="319087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4" name="Ellipse 94"/>
            <p:cNvSpPr/>
            <p:nvPr/>
          </p:nvSpPr>
          <p:spPr>
            <a:xfrm>
              <a:off x="7264718" y="319087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5" name="Ellipse 95"/>
            <p:cNvSpPr/>
            <p:nvPr/>
          </p:nvSpPr>
          <p:spPr>
            <a:xfrm>
              <a:off x="7991475" y="319087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10051732" y="319087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7" name="Ellipse 97"/>
            <p:cNvSpPr/>
            <p:nvPr/>
          </p:nvSpPr>
          <p:spPr>
            <a:xfrm>
              <a:off x="11142345" y="319087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8" name="Ellipse 98"/>
            <p:cNvSpPr/>
            <p:nvPr/>
          </p:nvSpPr>
          <p:spPr>
            <a:xfrm>
              <a:off x="9566910" y="401193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9" name="Ellipse 99"/>
            <p:cNvSpPr/>
            <p:nvPr/>
          </p:nvSpPr>
          <p:spPr>
            <a:xfrm>
              <a:off x="10536555" y="401193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583494" y="169783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038414" y="246078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371914" y="246078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947349" y="246078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643752" y="246078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644204" y="32818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371914" y="32818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98672" y="32818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177225" y="3281839"/>
              <a:ext cx="53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249542" y="32818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674107" y="410384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643752" y="410384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</p:grpSp>
      <p:grpSp>
        <p:nvGrpSpPr>
          <p:cNvPr id="116" name="c2-card-2"/>
          <p:cNvGrpSpPr/>
          <p:nvPr/>
        </p:nvGrpSpPr>
        <p:grpSpPr>
          <a:xfrm>
            <a:off x="5598795" y="4627245"/>
            <a:ext cx="6059805" cy="1670685"/>
            <a:chOff x="5598795" y="4627245"/>
            <a:chExt cx="6059805" cy="1670685"/>
          </a:xfrm>
        </p:grpSpPr>
        <p:sp>
          <p:nvSpPr>
            <p:cNvPr id="113" name="Rectangle 113"/>
            <p:cNvSpPr/>
            <p:nvPr/>
          </p:nvSpPr>
          <p:spPr>
            <a:xfrm>
              <a:off x="5598795" y="4627245"/>
              <a:ext cx="6059805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5608320" y="4760595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5816727" y="4836795"/>
              <a:ext cx="536295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复核：这棵树的先根序列确实是 A B C D E F G H I J K L，度依次为 4 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0 0 0 0 2 2 0 0 0，与给定的两行逐项对上。图中深色的四个结点就是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度不为 0 的 A、C、H、I。</a:t>
              </a:r>
            </a:p>
          </p:txBody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树的顺序存储结构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后根序列和层次序列同样能还原，只是扫描方向不同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cells-1"/>
          <p:cNvGrpSpPr/>
          <p:nvPr/>
        </p:nvGrpSpPr>
        <p:grpSpPr>
          <a:xfrm>
            <a:off x="528638" y="1524000"/>
            <a:ext cx="5624512" cy="858203"/>
            <a:chOff x="528638" y="1524000"/>
            <a:chExt cx="5624512" cy="858203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459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后根序列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39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917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430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108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621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299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812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490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003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681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194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872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385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063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576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254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767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61375" y="1645920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958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636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149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827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34050" y="15240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01873" y="16459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638" y="214788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结点度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2395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937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54305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128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96215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1319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38125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510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800350" y="2025968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9701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21945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892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63855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8083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5765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274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76750" y="2025968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465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895850" y="202596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656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14950" y="2025968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847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34050" y="2025968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03853" y="2147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62" name="c1-card-2"/>
          <p:cNvGrpSpPr/>
          <p:nvPr/>
        </p:nvGrpSpPr>
        <p:grpSpPr>
          <a:xfrm>
            <a:off x="533400" y="2546985"/>
            <a:ext cx="5626418" cy="1386840"/>
            <a:chOff x="533400" y="2546985"/>
            <a:chExt cx="5626418" cy="1386840"/>
          </a:xfrm>
        </p:grpSpPr>
        <p:sp>
          <p:nvSpPr>
            <p:cNvPr id="58" name="Rectangle 58"/>
            <p:cNvSpPr/>
            <p:nvPr/>
          </p:nvSpPr>
          <p:spPr>
            <a:xfrm>
              <a:off x="533400" y="2546985"/>
              <a:ext cx="5626418" cy="1386840"/>
            </a:xfrm>
            <a:prstGeom prst="roundRect">
              <a:avLst>
                <a:gd name="adj" fmla="val 961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4375" y="272796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0593" y="276082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后根序列的还原规则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7898" y="3068479"/>
              <a:ext cx="49141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从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左往右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扫描。度为 k 的结点 X，认领它左边最近的 k 棵已成形子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树。C 的度是 3，认领 D、E、F；A 的度是 4，认领 B、C 子树、G、H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子树。</a:t>
              </a:r>
            </a:p>
          </p:txBody>
        </p:sp>
      </p:grpSp>
      <p:grpSp>
        <p:nvGrpSpPr>
          <p:cNvPr id="113" name="c1-cells-3"/>
          <p:cNvGrpSpPr/>
          <p:nvPr/>
        </p:nvGrpSpPr>
        <p:grpSpPr>
          <a:xfrm>
            <a:off x="528638" y="4098608"/>
            <a:ext cx="5624512" cy="858202"/>
            <a:chOff x="528638" y="4098608"/>
            <a:chExt cx="5624512" cy="858202"/>
          </a:xfrm>
        </p:grpSpPr>
        <p:sp>
          <p:nvSpPr>
            <p:cNvPr id="63" name="TextBox 63"/>
            <p:cNvSpPr txBox="1"/>
            <p:nvPr/>
          </p:nvSpPr>
          <p:spPr>
            <a:xfrm>
              <a:off x="528638" y="422052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层次序列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1239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2917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5430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7108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9621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1299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23812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5490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28003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9681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2194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3872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36385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8063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0576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2254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44767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661375" y="4220528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48958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0636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3149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4827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734050" y="409860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901873" y="42205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28638" y="47224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结点度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123950" y="460057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2937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543050" y="460057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7128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962150" y="460057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21319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2381250" y="460057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25510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2800350" y="460057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29701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3219450" y="460057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33892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3638550" y="460057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38083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4057650" y="460057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42274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4476750" y="460057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46465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4895850" y="460057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50656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5314950" y="460057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54847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5734050" y="460057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5903853" y="47224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18" name="c1-card-4"/>
          <p:cNvGrpSpPr/>
          <p:nvPr/>
        </p:nvGrpSpPr>
        <p:grpSpPr>
          <a:xfrm>
            <a:off x="533400" y="5121592"/>
            <a:ext cx="5626418" cy="1143952"/>
            <a:chOff x="533400" y="5121592"/>
            <a:chExt cx="5626418" cy="1143952"/>
          </a:xfrm>
        </p:grpSpPr>
        <p:sp>
          <p:nvSpPr>
            <p:cNvPr id="114" name="Rectangle 114"/>
            <p:cNvSpPr/>
            <p:nvPr/>
          </p:nvSpPr>
          <p:spPr>
            <a:xfrm>
              <a:off x="533400" y="5121592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14375" y="530256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780593" y="533542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层次序列的还原规则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07898" y="5643086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根在最前面。用队列：根入队；每次出队一个结点，按它的度从序列里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依次领走紧接着的若干个结点当孩子，再把孩子入队。</a:t>
              </a:r>
            </a:p>
          </p:txBody>
        </p:sp>
      </p:grpSp>
      <p:grpSp>
        <p:nvGrpSpPr>
          <p:cNvPr id="154" name="c2-graph-1"/>
          <p:cNvGrpSpPr/>
          <p:nvPr/>
        </p:nvGrpSpPr>
        <p:grpSpPr>
          <a:xfrm>
            <a:off x="6737032" y="1606868"/>
            <a:ext cx="4752976" cy="2318384"/>
            <a:chOff x="6737032" y="1606868"/>
            <a:chExt cx="4752976" cy="2318384"/>
          </a:xfrm>
        </p:grpSpPr>
        <p:sp>
          <p:nvSpPr>
            <p:cNvPr id="119" name="Freeform 119"/>
            <p:cNvSpPr/>
            <p:nvPr/>
          </p:nvSpPr>
          <p:spPr>
            <a:xfrm>
              <a:off x="7025640" y="1795462"/>
              <a:ext cx="1890712" cy="586740"/>
            </a:xfrm>
            <a:custGeom>
              <a:avLst/>
              <a:gdLst/>
              <a:ahLst/>
              <a:cxnLst/>
              <a:rect l="l" t="t" r="r" b="b"/>
              <a:pathLst>
                <a:path w="1890712" h="586740">
                  <a:moveTo>
                    <a:pt x="1890712" y="0"/>
                  </a:moveTo>
                  <a:lnTo>
                    <a:pt x="0" y="5867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8150542" y="1833562"/>
              <a:ext cx="783907" cy="510540"/>
            </a:xfrm>
            <a:custGeom>
              <a:avLst/>
              <a:gdLst/>
              <a:ahLst/>
              <a:cxnLst/>
              <a:rect l="l" t="t" r="r" b="b"/>
              <a:pathLst>
                <a:path w="783907" h="510540">
                  <a:moveTo>
                    <a:pt x="783907" y="0"/>
                  </a:moveTo>
                  <a:lnTo>
                    <a:pt x="0" y="5105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9124950" y="1888808"/>
              <a:ext cx="184785" cy="400050"/>
            </a:xfrm>
            <a:custGeom>
              <a:avLst/>
              <a:gdLst/>
              <a:ahLst/>
              <a:cxnLst/>
              <a:rect l="l" t="t" r="r" b="b"/>
              <a:pathLst>
                <a:path w="184785" h="400050">
                  <a:moveTo>
                    <a:pt x="0" y="0"/>
                  </a:moveTo>
                  <a:lnTo>
                    <a:pt x="184785" y="4000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9204008" y="1804035"/>
              <a:ext cx="1481138" cy="568642"/>
            </a:xfrm>
            <a:custGeom>
              <a:avLst/>
              <a:gdLst/>
              <a:ahLst/>
              <a:cxnLst/>
              <a:rect l="l" t="t" r="r" b="b"/>
              <a:pathLst>
                <a:path w="1481138" h="568642">
                  <a:moveTo>
                    <a:pt x="0" y="0"/>
                  </a:moveTo>
                  <a:lnTo>
                    <a:pt x="1481138" y="5686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7502842" y="2539365"/>
              <a:ext cx="417195" cy="453390"/>
            </a:xfrm>
            <a:custGeom>
              <a:avLst/>
              <a:gdLst/>
              <a:ahLst/>
              <a:cxnLst/>
              <a:rect l="l" t="t" r="r" b="b"/>
              <a:pathLst>
                <a:path w="417195" h="453390">
                  <a:moveTo>
                    <a:pt x="417195" y="0"/>
                  </a:moveTo>
                  <a:lnTo>
                    <a:pt x="0" y="4533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8022908" y="2580322"/>
              <a:ext cx="9525" cy="372428"/>
            </a:xfrm>
            <a:custGeom>
              <a:avLst/>
              <a:gdLst/>
              <a:ahLst/>
              <a:cxnLst/>
              <a:rect l="l" t="t" r="r" b="b"/>
              <a:pathLst>
                <a:path w="9525" h="372428">
                  <a:moveTo>
                    <a:pt x="0" y="0"/>
                  </a:moveTo>
                  <a:lnTo>
                    <a:pt x="0" y="3724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8125778" y="2539365"/>
              <a:ext cx="417195" cy="453390"/>
            </a:xfrm>
            <a:custGeom>
              <a:avLst/>
              <a:gdLst/>
              <a:ahLst/>
              <a:cxnLst/>
              <a:rect l="l" t="t" r="r" b="b"/>
              <a:pathLst>
                <a:path w="417195" h="453390">
                  <a:moveTo>
                    <a:pt x="0" y="0"/>
                  </a:moveTo>
                  <a:lnTo>
                    <a:pt x="417195" y="4533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10491788" y="2557462"/>
              <a:ext cx="256223" cy="418147"/>
            </a:xfrm>
            <a:custGeom>
              <a:avLst/>
              <a:gdLst/>
              <a:ahLst/>
              <a:cxnLst/>
              <a:rect l="l" t="t" r="r" b="b"/>
              <a:pathLst>
                <a:path w="256223" h="418147">
                  <a:moveTo>
                    <a:pt x="256223" y="0"/>
                  </a:moveTo>
                  <a:lnTo>
                    <a:pt x="0" y="4181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10920412" y="2548890"/>
              <a:ext cx="334327" cy="435292"/>
            </a:xfrm>
            <a:custGeom>
              <a:avLst/>
              <a:gdLst/>
              <a:ahLst/>
              <a:cxnLst/>
              <a:rect l="l" t="t" r="r" b="b"/>
              <a:pathLst>
                <a:path w="334327" h="435292">
                  <a:moveTo>
                    <a:pt x="0" y="0"/>
                  </a:moveTo>
                  <a:lnTo>
                    <a:pt x="334327" y="4352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10076498" y="3234690"/>
              <a:ext cx="256222" cy="418147"/>
            </a:xfrm>
            <a:custGeom>
              <a:avLst/>
              <a:gdLst/>
              <a:ahLst/>
              <a:cxnLst/>
              <a:rect l="l" t="t" r="r" b="b"/>
              <a:pathLst>
                <a:path w="256222" h="418147">
                  <a:moveTo>
                    <a:pt x="256222" y="0"/>
                  </a:moveTo>
                  <a:lnTo>
                    <a:pt x="0" y="4181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10491788" y="3234690"/>
              <a:ext cx="256223" cy="418147"/>
            </a:xfrm>
            <a:custGeom>
              <a:avLst/>
              <a:gdLst/>
              <a:ahLst/>
              <a:cxnLst/>
              <a:rect l="l" t="t" r="r" b="b"/>
              <a:pathLst>
                <a:path w="256223" h="418147">
                  <a:moveTo>
                    <a:pt x="0" y="0"/>
                  </a:moveTo>
                  <a:lnTo>
                    <a:pt x="256223" y="4181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0" name="Ellipse 130"/>
            <p:cNvSpPr/>
            <p:nvPr/>
          </p:nvSpPr>
          <p:spPr>
            <a:xfrm>
              <a:off x="8919210" y="16068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1" name="Ellipse 131"/>
            <p:cNvSpPr/>
            <p:nvPr/>
          </p:nvSpPr>
          <p:spPr>
            <a:xfrm>
              <a:off x="6737032" y="228504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2" name="Ellipse 132"/>
            <p:cNvSpPr/>
            <p:nvPr/>
          </p:nvSpPr>
          <p:spPr>
            <a:xfrm>
              <a:off x="7880032" y="228504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3" name="Ellipse 133"/>
            <p:cNvSpPr/>
            <p:nvPr/>
          </p:nvSpPr>
          <p:spPr>
            <a:xfrm>
              <a:off x="9230678" y="228504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4" name="Ellipse 134"/>
            <p:cNvSpPr/>
            <p:nvPr/>
          </p:nvSpPr>
          <p:spPr>
            <a:xfrm>
              <a:off x="10685145" y="228504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5" name="Ellipse 135"/>
            <p:cNvSpPr/>
            <p:nvPr/>
          </p:nvSpPr>
          <p:spPr>
            <a:xfrm>
              <a:off x="7257098" y="296227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6" name="Ellipse 136"/>
            <p:cNvSpPr/>
            <p:nvPr/>
          </p:nvSpPr>
          <p:spPr>
            <a:xfrm>
              <a:off x="7880032" y="296227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7" name="Ellipse 137"/>
            <p:cNvSpPr/>
            <p:nvPr/>
          </p:nvSpPr>
          <p:spPr>
            <a:xfrm>
              <a:off x="8502968" y="296227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8" name="Ellipse 138"/>
            <p:cNvSpPr/>
            <p:nvPr/>
          </p:nvSpPr>
          <p:spPr>
            <a:xfrm>
              <a:off x="10268902" y="296227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9" name="Ellipse 139"/>
            <p:cNvSpPr/>
            <p:nvPr/>
          </p:nvSpPr>
          <p:spPr>
            <a:xfrm>
              <a:off x="11204258" y="296227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0" name="Ellipse 140"/>
            <p:cNvSpPr/>
            <p:nvPr/>
          </p:nvSpPr>
          <p:spPr>
            <a:xfrm>
              <a:off x="9853612" y="363950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1" name="Ellipse 141"/>
            <p:cNvSpPr/>
            <p:nvPr/>
          </p:nvSpPr>
          <p:spPr>
            <a:xfrm>
              <a:off x="10685145" y="363950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9020358" y="169354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6838180" y="237172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7981180" y="237172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9331825" y="237172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0786293" y="237172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7358245" y="304895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7981180" y="304895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8604115" y="304895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10386852" y="3048952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1305405" y="304895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9954760" y="372713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0786293" y="372713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</p:grpSp>
      <p:grpSp>
        <p:nvGrpSpPr>
          <p:cNvPr id="160" name="c2-card-2"/>
          <p:cNvGrpSpPr/>
          <p:nvPr/>
        </p:nvGrpSpPr>
        <p:grpSpPr>
          <a:xfrm>
            <a:off x="6464618" y="4198620"/>
            <a:ext cx="5193982" cy="2066925"/>
            <a:chOff x="6464618" y="4198620"/>
            <a:chExt cx="5193982" cy="2066925"/>
          </a:xfrm>
        </p:grpSpPr>
        <p:sp>
          <p:nvSpPr>
            <p:cNvPr id="155" name="Rectangle 155"/>
            <p:cNvSpPr/>
            <p:nvPr/>
          </p:nvSpPr>
          <p:spPr>
            <a:xfrm>
              <a:off x="6464618" y="4198620"/>
              <a:ext cx="5193982" cy="2066925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6" name="Rectangle 156"/>
            <p:cNvSpPr/>
            <p:nvPr/>
          </p:nvSpPr>
          <p:spPr>
            <a:xfrm>
              <a:off x="6474142" y="4331970"/>
              <a:ext cx="47625" cy="18002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6683692" y="4379595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6735610" y="441245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三种序列还原出的是同一棵树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6677216" y="4720114"/>
              <a:ext cx="45321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上面两组数据和第 16 页那组，还原出来的都是这棵 12 结点的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树。本讲义用脚本对 3000 棵随机生成的树逐一做了三种还原，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没有出现不一致。</a:t>
              </a:r>
            </a:p>
          </p:txBody>
        </p:sp>
      </p:grpSp>
      <p:grpSp>
        <p:nvGrpSpPr>
          <p:cNvPr id="1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1" name="TextBox 16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树的顺序存储结构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顺序表示法省掉了指针，代价是访问不方便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6276022" cy="2790825"/>
            <a:chOff x="533400" y="1524000"/>
            <a:chExt cx="6276022" cy="2790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555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表示法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21230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每个结点存什么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54009" y="1655445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找父 / 找孩子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0309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适合做什么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1917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双亲表示法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19872" y="2191702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层次序号 + 父下标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76282" y="2191702"/>
              <a:ext cx="1009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 / O(n)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7406" y="208502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求祖先、求根、判同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一棵树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927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97468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83559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孩子表示法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19872" y="272891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层次序号 + d 个子下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76282" y="2835592"/>
              <a:ext cx="1009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 / O(1)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57406" y="272891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逐层展开、求所有后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2365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37280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双亲孩子表示法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19872" y="337280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上面两样都存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76282" y="3372802"/>
              <a:ext cx="1027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 / O(1)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57406" y="337280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两类操作都频繁时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661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70935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802380"/>
              <a:ext cx="95821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遍历序列 + 结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19872" y="3802380"/>
              <a:ext cx="14066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一行结点名 + 一行度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76282" y="3909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都不支持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57406" y="3802380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输入输出、压缩存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储、建树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276022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09762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66172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4729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4500562"/>
            <a:ext cx="6276022" cy="1533525"/>
            <a:chOff x="533400" y="4500562"/>
            <a:chExt cx="6276022" cy="1533525"/>
          </a:xfrm>
        </p:grpSpPr>
        <p:sp>
          <p:nvSpPr>
            <p:cNvPr id="38" name="Rectangle 38"/>
            <p:cNvSpPr/>
            <p:nvPr/>
          </p:nvSpPr>
          <p:spPr>
            <a:xfrm>
              <a:off x="533400" y="4500562"/>
              <a:ext cx="6276022" cy="1533525"/>
            </a:xfrm>
            <a:prstGeom prst="roundRect">
              <a:avLst>
                <a:gd name="adj" fmla="val 745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167313"/>
              <a:ext cx="200026" cy="200026"/>
              <a:chOff x="738188" y="516731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1673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2339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52673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5036344"/>
              <a:ext cx="526237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前三种的 O(1) 都以“已经知道下标”为前提。只给结点名要先找下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标，那一步本身就是 O(n)。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7114222" y="1524000"/>
            <a:ext cx="4544378" cy="1865948"/>
            <a:chOff x="7114222" y="1524000"/>
            <a:chExt cx="4544378" cy="1865948"/>
          </a:xfrm>
        </p:grpSpPr>
        <p:sp>
          <p:nvSpPr>
            <p:cNvPr id="45" name="Rectangle 45"/>
            <p:cNvSpPr/>
            <p:nvPr/>
          </p:nvSpPr>
          <p:spPr>
            <a:xfrm>
              <a:off x="7114222" y="1524000"/>
              <a:ext cx="4544378" cy="1865948"/>
            </a:xfrm>
            <a:prstGeom prst="roundRect">
              <a:avLst>
                <a:gd name="adj" fmla="val 714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18058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91514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源课件的总结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25677" y="21612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82268" y="2100739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“遍历序列 + 结点度序列”这种顺序表示法不保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存指针，节省空间，但牺牲了结点访问的便利性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25677" y="27527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82268" y="2692241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它更适合作为树的输入输出，用于树的创建、压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缩存储等场合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7114222" y="3575685"/>
            <a:ext cx="4544378" cy="2457450"/>
            <a:chOff x="7114222" y="3575685"/>
            <a:chExt cx="4544378" cy="2457450"/>
          </a:xfrm>
        </p:grpSpPr>
        <p:sp>
          <p:nvSpPr>
            <p:cNvPr id="53" name="Rectangle 53"/>
            <p:cNvSpPr/>
            <p:nvPr/>
          </p:nvSpPr>
          <p:spPr>
            <a:xfrm>
              <a:off x="7114222" y="3575685"/>
              <a:ext cx="4544378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23748" y="3709035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56158" y="377952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42416" y="38152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怎么挑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363777" y="42129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20368" y="4152424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结点集合基本不变、只查不改：数组类表示法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最省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63777" y="480441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20368" y="4743926"/>
              <a:ext cx="34409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要频繁插入删除子树：用第三部分的链接结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构，数组下标一改就要整体重排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63777" y="539591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20368" y="533542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要把一棵树写进文件再读回来：写两行数，比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写一堆指针可靠得多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树的链接存储结构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从只记父亲，到按度开指针，再到每个结点只要两个指针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556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 链接结构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多重链表的定长与不定长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孩子链表与父亲孩子链表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145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左孩子-右兄弟链接结构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28248" cy="909257"/>
            <a:chOff x="520446" y="342900"/>
            <a:chExt cx="6828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树的链接存储结构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28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 链接结构：每个结点只存一个父指针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969645" y="1610678"/>
            <a:ext cx="4105275" cy="2045017"/>
            <a:chOff x="969645" y="1610678"/>
            <a:chExt cx="4105275" cy="2045017"/>
          </a:xfrm>
        </p:grpSpPr>
        <p:sp>
          <p:nvSpPr>
            <p:cNvPr id="7" name="Freeform 7"/>
            <p:cNvSpPr/>
            <p:nvPr/>
          </p:nvSpPr>
          <p:spPr>
            <a:xfrm>
              <a:off x="1689735" y="2022158"/>
              <a:ext cx="862965" cy="415290"/>
            </a:xfrm>
            <a:custGeom>
              <a:avLst/>
              <a:gdLst/>
              <a:ahLst/>
              <a:cxnLst/>
              <a:rect l="l" t="t" r="r" b="b"/>
              <a:pathLst>
                <a:path w="862965" h="415290">
                  <a:moveTo>
                    <a:pt x="0" y="415290"/>
                  </a:moveTo>
                  <a:lnTo>
                    <a:pt x="8629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31745" y="197929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952"/>
                  </a:moveTo>
                  <a:lnTo>
                    <a:pt x="4191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022282" y="2075498"/>
              <a:ext cx="9525" cy="350520"/>
            </a:xfrm>
            <a:custGeom>
              <a:avLst/>
              <a:gdLst/>
              <a:ahLst/>
              <a:cxnLst/>
              <a:rect l="l" t="t" r="r" b="b"/>
              <a:pathLst>
                <a:path w="9525" h="350520">
                  <a:moveTo>
                    <a:pt x="0" y="35052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74658" y="19802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491865" y="2022158"/>
              <a:ext cx="862012" cy="415290"/>
            </a:xfrm>
            <a:custGeom>
              <a:avLst/>
              <a:gdLst/>
              <a:ahLst/>
              <a:cxnLst/>
              <a:rect l="l" t="t" r="r" b="b"/>
              <a:pathLst>
                <a:path w="862012" h="415290">
                  <a:moveTo>
                    <a:pt x="862012" y="4152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06140" y="1979295"/>
              <a:ext cx="105727" cy="85725"/>
            </a:xfrm>
            <a:custGeom>
              <a:avLst/>
              <a:gdLst/>
              <a:ahLst/>
              <a:cxnLst/>
              <a:rect l="l" t="t" r="r" b="b"/>
              <a:pathLst>
                <a:path w="105727" h="85725">
                  <a:moveTo>
                    <a:pt x="0" y="952"/>
                  </a:moveTo>
                  <a:lnTo>
                    <a:pt x="105727" y="0"/>
                  </a:lnTo>
                  <a:lnTo>
                    <a:pt x="6477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318385" y="2861310"/>
              <a:ext cx="442912" cy="424815"/>
            </a:xfrm>
            <a:custGeom>
              <a:avLst/>
              <a:gdLst/>
              <a:ahLst/>
              <a:cxnLst/>
              <a:rect l="l" t="t" r="r" b="b"/>
              <a:pathLst>
                <a:path w="442912" h="424815">
                  <a:moveTo>
                    <a:pt x="0" y="424815"/>
                  </a:moveTo>
                  <a:lnTo>
                    <a:pt x="4429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727960" y="2795588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101918" y="0"/>
                  </a:moveTo>
                  <a:lnTo>
                    <a:pt x="65723" y="100012"/>
                  </a:lnTo>
                  <a:lnTo>
                    <a:pt x="0" y="3143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283268" y="2861310"/>
              <a:ext cx="441960" cy="424815"/>
            </a:xfrm>
            <a:custGeom>
              <a:avLst/>
              <a:gdLst/>
              <a:ahLst/>
              <a:cxnLst/>
              <a:rect l="l" t="t" r="r" b="b"/>
              <a:pathLst>
                <a:path w="441960" h="424815">
                  <a:moveTo>
                    <a:pt x="441960" y="4248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14688" y="2795588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0" y="0"/>
                  </a:moveTo>
                  <a:lnTo>
                    <a:pt x="101917" y="31433"/>
                  </a:lnTo>
                  <a:lnTo>
                    <a:pt x="35242" y="1000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578418" y="1610678"/>
              <a:ext cx="886778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69645" y="2426018"/>
              <a:ext cx="72104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61285" y="2426018"/>
              <a:ext cx="72104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53878" y="2426018"/>
              <a:ext cx="72104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765935" y="3286125"/>
              <a:ext cx="72104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557588" y="3286125"/>
              <a:ext cx="72104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99476" y="1725454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77975" y="25407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70567" y="25407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3160" y="25407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74265" y="34009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65917" y="34009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972878"/>
            <a:ext cx="4977765" cy="2300288"/>
            <a:chOff x="533400" y="3972878"/>
            <a:chExt cx="4977765" cy="2300288"/>
          </a:xfrm>
        </p:grpSpPr>
        <p:sp>
          <p:nvSpPr>
            <p:cNvPr id="30" name="Rectangle 30"/>
            <p:cNvSpPr/>
            <p:nvPr/>
          </p:nvSpPr>
          <p:spPr>
            <a:xfrm>
              <a:off x="533400" y="3972878"/>
              <a:ext cx="4977765" cy="2300288"/>
            </a:xfrm>
            <a:prstGeom prst="roundRect">
              <a:avLst>
                <a:gd name="adj" fmla="val 579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37235" y="417671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3493" y="42124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9996" y="454961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个结点一共 n 个指针，其中只有根结点的那一个是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空。这是所有链接结构里指针最少的一种。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5815965" y="1524000"/>
            <a:ext cx="5842635" cy="1189672"/>
            <a:chOff x="5815965" y="1524000"/>
            <a:chExt cx="5842635" cy="1189672"/>
          </a:xfrm>
        </p:grpSpPr>
        <p:sp>
          <p:nvSpPr>
            <p:cNvPr id="35" name="Rectangle 35"/>
            <p:cNvSpPr/>
            <p:nvPr/>
          </p:nvSpPr>
          <p:spPr>
            <a:xfrm>
              <a:off x="5815965" y="1524000"/>
              <a:ext cx="5842635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44362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结点定义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44514" y="1936337"/>
              <a:ext cx="2707589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FNode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data;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数据域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FNode *Father;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指向父结点 */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FNode;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5815965" y="2898458"/>
            <a:ext cx="5842635" cy="1545908"/>
            <a:chOff x="5815965" y="2898458"/>
            <a:chExt cx="5842635" cy="1545908"/>
          </a:xfrm>
        </p:grpSpPr>
        <p:sp>
          <p:nvSpPr>
            <p:cNvPr id="39" name="Rectangle 39"/>
            <p:cNvSpPr/>
            <p:nvPr/>
          </p:nvSpPr>
          <p:spPr>
            <a:xfrm>
              <a:off x="5815965" y="2898458"/>
              <a:ext cx="584263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25490" y="3031808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57900" y="310229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48108" y="31380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50661" y="3475196"/>
              <a:ext cx="50639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找父结点方便。顺着 Father 一直走就能得到从任意结点到根的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整条路径，判断两个结点是否在同一棵树里也只要各自走到根比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一下。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5815965" y="4630102"/>
            <a:ext cx="5842635" cy="1643062"/>
            <a:chOff x="5815965" y="4630102"/>
            <a:chExt cx="5842635" cy="1643062"/>
          </a:xfrm>
        </p:grpSpPr>
        <p:sp>
          <p:nvSpPr>
            <p:cNvPr id="45" name="Rectangle 45"/>
            <p:cNvSpPr/>
            <p:nvPr/>
          </p:nvSpPr>
          <p:spPr>
            <a:xfrm>
              <a:off x="5815965" y="4630102"/>
              <a:ext cx="5842635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25490" y="4763452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57900" y="48339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48108" y="4869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065520" y="52673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22111" y="5206841"/>
              <a:ext cx="51637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找子结点难，只能把所有结点扫一遍看谁的 Father 指向自己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065520" y="558736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22111" y="552688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很难确定一个结点是否为叶结点，同样要扫一遍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065520" y="59074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22111" y="584692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不易实现遍历操作，先根、后根都走不动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树的链接存储结构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按最大度开指针：找孩子方便，但大半指针是空的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table-1"/>
          <p:cNvGrpSpPr/>
          <p:nvPr/>
        </p:nvGrpSpPr>
        <p:grpSpPr>
          <a:xfrm>
            <a:off x="528447" y="1524000"/>
            <a:ext cx="5847588" cy="1863756"/>
            <a:chOff x="528447" y="1524000"/>
            <a:chExt cx="5847588" cy="18637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984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46655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06750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65892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25987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85130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45225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0555" y="204549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 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16430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7557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35668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9481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5395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14048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244554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 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6430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7557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35668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9481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5395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14048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284559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 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16430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7557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35668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9481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5395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14048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584263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81451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573655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333750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09289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852035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612130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447" y="3197066"/>
              <a:ext cx="24967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定长结点：每个结点一律开 d = 3 个指针格</a:t>
              </a:r>
            </a:p>
          </p:txBody>
        </p:sp>
      </p:grpSp>
      <p:grpSp>
        <p:nvGrpSpPr>
          <p:cNvPr id="80" name="c1-table-2"/>
          <p:cNvGrpSpPr/>
          <p:nvPr/>
        </p:nvGrpSpPr>
        <p:grpSpPr>
          <a:xfrm>
            <a:off x="528447" y="3519488"/>
            <a:ext cx="5847588" cy="1464658"/>
            <a:chOff x="528447" y="3519488"/>
            <a:chExt cx="5847588" cy="1464658"/>
          </a:xfrm>
        </p:grpSpPr>
        <p:sp>
          <p:nvSpPr>
            <p:cNvPr id="48" name="Rectangle 48"/>
            <p:cNvSpPr/>
            <p:nvPr/>
          </p:nvSpPr>
          <p:spPr>
            <a:xfrm>
              <a:off x="533400" y="3519488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9848" y="36409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46655" y="36409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906750" y="36409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65892" y="36409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425987" y="36409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85130" y="36409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45225" y="36409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0555" y="40409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916430" y="40409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75572" y="40409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435668" y="40409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194810" y="40409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53952" y="40409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714048" y="40409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43148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33400" y="431958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0555" y="44410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916430" y="4441031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675572" y="44410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435668" y="4441031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F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194810" y="44410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953952" y="44410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714048" y="44410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3400" y="3519488"/>
              <a:ext cx="5842635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1814512" y="351948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2573655" y="351948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3333750" y="351948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4092892" y="351948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4852035" y="351948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5612130" y="351948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28447" y="4793456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不定长结点：指针格数就等于自己的度</a:t>
              </a:r>
            </a:p>
          </p:txBody>
        </p:sp>
      </p:grpSp>
      <p:grpSp>
        <p:nvGrpSpPr>
          <p:cNvPr id="85" name="c1-card-3"/>
          <p:cNvGrpSpPr/>
          <p:nvPr/>
        </p:nvGrpSpPr>
        <p:grpSpPr>
          <a:xfrm>
            <a:off x="533400" y="5114925"/>
            <a:ext cx="5842635" cy="1185862"/>
            <a:chOff x="533400" y="5114925"/>
            <a:chExt cx="5842635" cy="1185862"/>
          </a:xfrm>
        </p:grpSpPr>
        <p:sp>
          <p:nvSpPr>
            <p:cNvPr id="81" name="Rectangle 81"/>
            <p:cNvSpPr/>
            <p:nvPr/>
          </p:nvSpPr>
          <p:spPr>
            <a:xfrm>
              <a:off x="533400" y="5114925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20090" y="5301615"/>
              <a:ext cx="236982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55245" y="5334476"/>
              <a:ext cx="22995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空间账（这棵树 n = 6，最大度 d = 3）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3232" y="5646420"/>
              <a:ext cx="48743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定长写法共 n × d = 18 个指针格，真正指向孩子的只有 n − 1 = 5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个，13 个是空，占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72.2%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。d 越大，空的比例越高。</a:t>
              </a:r>
            </a:p>
          </p:txBody>
        </p:sp>
      </p:grpSp>
      <p:grpSp>
        <p:nvGrpSpPr>
          <p:cNvPr id="88" name="c2-image-1"/>
          <p:cNvGrpSpPr/>
          <p:nvPr/>
        </p:nvGrpSpPr>
        <p:grpSpPr>
          <a:xfrm>
            <a:off x="7647597" y="1524000"/>
            <a:ext cx="3044241" cy="2378106"/>
            <a:chOff x="7647597" y="1524000"/>
            <a:chExt cx="3044241" cy="2378106"/>
          </a:xfrm>
        </p:grpSpPr>
        <p:pic>
          <p:nvPicPr>
            <p:cNvPr id="86" name="Image 86"/>
            <p:cNvPicPr>
              <a:picLocks noChangeAspect="1"/>
            </p:cNvPicPr>
            <p:nvPr/>
          </p:nvPicPr>
          <p:blipFill>
            <a:blip r:embed="rId2"/>
            <a:srcRect l="6" t="0" r="5" b="0"/>
            <a:stretch>
              <a:fillRect/>
            </a:stretch>
          </p:blipFill>
          <p:spPr>
            <a:xfrm>
              <a:off x="7773352" y="1524000"/>
              <a:ext cx="2793682" cy="2095500"/>
            </a:xfrm>
            <a:prstGeom prst="roundRect">
              <a:avLst>
                <a:gd name="adj" fmla="val 6363"/>
              </a:avLst>
            </a:prstGeom>
          </p:spPr>
        </p:pic>
        <p:sp>
          <p:nvSpPr>
            <p:cNvPr id="87" name="TextBox 87"/>
            <p:cNvSpPr txBox="1"/>
            <p:nvPr/>
          </p:nvSpPr>
          <p:spPr>
            <a:xfrm>
              <a:off x="7647597" y="3711416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每列都按最多的那格数开，装了东西的格子寥寥无几</a:t>
              </a:r>
            </a:p>
          </p:txBody>
        </p:sp>
      </p:grpSp>
      <p:grpSp>
        <p:nvGrpSpPr>
          <p:cNvPr id="97" name="c2-card-2"/>
          <p:cNvGrpSpPr/>
          <p:nvPr/>
        </p:nvGrpSpPr>
        <p:grpSpPr>
          <a:xfrm>
            <a:off x="6680835" y="4052888"/>
            <a:ext cx="4977765" cy="2247900"/>
            <a:chOff x="6680835" y="4052888"/>
            <a:chExt cx="4977765" cy="2247900"/>
          </a:xfrm>
        </p:grpSpPr>
        <p:sp>
          <p:nvSpPr>
            <p:cNvPr id="89" name="Rectangle 89"/>
            <p:cNvSpPr/>
            <p:nvPr/>
          </p:nvSpPr>
          <p:spPr>
            <a:xfrm>
              <a:off x="6680835" y="4052888"/>
              <a:ext cx="4977765" cy="2247900"/>
            </a:xfrm>
            <a:prstGeom prst="roundRect">
              <a:avLst>
                <a:gd name="adj" fmla="val 59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6690360" y="4186238"/>
              <a:ext cx="47625" cy="19812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905625" y="423957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975894" y="427243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两种写法各有毛病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914198" y="464058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070217" y="458438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定长：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大量指针为空，浪费空间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。而且树里新来一个度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更大的结点，全表都要加宽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6914198" y="519779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070217" y="514159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不定长：每个结点占据的存储空间不等，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给操作和维护</a:t>
              </a:r>
              <a:br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带来不便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，结点不能简单地按下标定位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树的链接存储结构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孩子链表：数组存结点，链表挂它的孩子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28447" y="1524000"/>
            <a:ext cx="5631371" cy="2933414"/>
            <a:chOff x="528447" y="1524000"/>
            <a:chExt cx="5631371" cy="29334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390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5542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2866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父下标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45420" y="1641157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孩子链表（存的是下标）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03401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91118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91231" y="202311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→ 3 → 4 → 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03401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91118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91231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663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03401" y="2785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91118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91231" y="2785110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→ 6 → ∧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45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049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03401" y="3167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91118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91231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426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03401" y="3548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91118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91231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807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811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03401" y="393001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91118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91231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5626418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20396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991678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89179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8447" y="4266724"/>
              <a:ext cx="3453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去掉“父下标”一列就是孩子链表，加上它就是父亲孩子链表</a:t>
              </a:r>
            </a:p>
          </p:txBody>
        </p:sp>
      </p:grpSp>
      <p:grpSp>
        <p:nvGrpSpPr>
          <p:cNvPr id="54" name="c1-card-2"/>
          <p:cNvGrpSpPr/>
          <p:nvPr/>
        </p:nvGrpSpPr>
        <p:grpSpPr>
          <a:xfrm>
            <a:off x="533400" y="4584382"/>
            <a:ext cx="5626418" cy="1423035"/>
            <a:chOff x="533400" y="4584382"/>
            <a:chExt cx="5626418" cy="1423035"/>
          </a:xfrm>
        </p:grpSpPr>
        <p:sp>
          <p:nvSpPr>
            <p:cNvPr id="50" name="Rectangle 50"/>
            <p:cNvSpPr/>
            <p:nvPr/>
          </p:nvSpPr>
          <p:spPr>
            <a:xfrm>
              <a:off x="533400" y="4584382"/>
              <a:ext cx="5626418" cy="1423035"/>
            </a:xfrm>
            <a:prstGeom prst="roundRect">
              <a:avLst>
                <a:gd name="adj" fmla="val 937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4375" y="476535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2996" y="479821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7898" y="5104924"/>
              <a:ext cx="4954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数组有 n = 6 个表项，孩子链表结点一共 n − 1 = 5 个，每条边恰好对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应一个链表结点。比定长多重链表的 18 个指针格省得多。</a:t>
              </a:r>
            </a:p>
          </p:txBody>
        </p:sp>
      </p:grpSp>
      <p:grpSp>
        <p:nvGrpSpPr>
          <p:cNvPr id="72" name="c2-graph-1"/>
          <p:cNvGrpSpPr/>
          <p:nvPr/>
        </p:nvGrpSpPr>
        <p:grpSpPr>
          <a:xfrm>
            <a:off x="7153275" y="1575435"/>
            <a:ext cx="3817620" cy="1231583"/>
            <a:chOff x="7153275" y="1575435"/>
            <a:chExt cx="3817620" cy="1231583"/>
          </a:xfrm>
        </p:grpSpPr>
        <p:sp>
          <p:nvSpPr>
            <p:cNvPr id="55" name="Freeform 55"/>
            <p:cNvSpPr/>
            <p:nvPr/>
          </p:nvSpPr>
          <p:spPr>
            <a:xfrm>
              <a:off x="7442835" y="1758315"/>
              <a:ext cx="1471612" cy="399098"/>
            </a:xfrm>
            <a:custGeom>
              <a:avLst/>
              <a:gdLst/>
              <a:ahLst/>
              <a:cxnLst/>
              <a:rect l="l" t="t" r="r" b="b"/>
              <a:pathLst>
                <a:path w="1471612" h="399098">
                  <a:moveTo>
                    <a:pt x="1471612" y="0"/>
                  </a:moveTo>
                  <a:lnTo>
                    <a:pt x="0" y="3990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062085" y="1870710"/>
              <a:ext cx="9525" cy="174307"/>
            </a:xfrm>
            <a:custGeom>
              <a:avLst/>
              <a:gdLst/>
              <a:ahLst/>
              <a:cxnLst/>
              <a:rect l="l" t="t" r="r" b="b"/>
              <a:pathLst>
                <a:path w="9525" h="174307">
                  <a:moveTo>
                    <a:pt x="0" y="0"/>
                  </a:moveTo>
                  <a:lnTo>
                    <a:pt x="0" y="1743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208770" y="1758315"/>
              <a:ext cx="1471612" cy="399098"/>
            </a:xfrm>
            <a:custGeom>
              <a:avLst/>
              <a:gdLst/>
              <a:ahLst/>
              <a:cxnLst/>
              <a:rect l="l" t="t" r="r" b="b"/>
              <a:pathLst>
                <a:path w="1471612" h="399098">
                  <a:moveTo>
                    <a:pt x="0" y="0"/>
                  </a:moveTo>
                  <a:lnTo>
                    <a:pt x="1471612" y="3990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363902" y="2272665"/>
              <a:ext cx="564832" cy="316230"/>
            </a:xfrm>
            <a:custGeom>
              <a:avLst/>
              <a:gdLst/>
              <a:ahLst/>
              <a:cxnLst/>
              <a:rect l="l" t="t" r="r" b="b"/>
              <a:pathLst>
                <a:path w="564832" h="316230">
                  <a:moveTo>
                    <a:pt x="564832" y="0"/>
                  </a:moveTo>
                  <a:lnTo>
                    <a:pt x="0" y="3162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194482" y="2272665"/>
              <a:ext cx="565785" cy="316230"/>
            </a:xfrm>
            <a:custGeom>
              <a:avLst/>
              <a:gdLst/>
              <a:ahLst/>
              <a:cxnLst/>
              <a:rect l="l" t="t" r="r" b="b"/>
              <a:pathLst>
                <a:path w="565785" h="316230">
                  <a:moveTo>
                    <a:pt x="0" y="0"/>
                  </a:moveTo>
                  <a:lnTo>
                    <a:pt x="565785" y="3162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8919210" y="157543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7153275" y="205454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8919210" y="205454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685145" y="205454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087678" y="25212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9749790" y="25212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16882" y="165782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50947" y="21369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16882" y="21369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82817" y="21369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185349" y="26036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847462" y="26036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464618" y="2984182"/>
            <a:ext cx="5193982" cy="1428750"/>
            <a:chOff x="6464618" y="2984182"/>
            <a:chExt cx="5193982" cy="1428750"/>
          </a:xfrm>
        </p:grpSpPr>
        <p:sp>
          <p:nvSpPr>
            <p:cNvPr id="73" name="Rectangle 73"/>
            <p:cNvSpPr/>
            <p:nvPr/>
          </p:nvSpPr>
          <p:spPr>
            <a:xfrm>
              <a:off x="6464618" y="2984182"/>
              <a:ext cx="5193982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474142" y="3117532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683692" y="31651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76364" y="31980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693218" y="355758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848666" y="350567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每个结点一个孩子链表，链表结点的数据域存的是孩子在数组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中的下标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693218" y="408527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848666" y="4033361"/>
              <a:ext cx="4640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涉及子结点的操作方便；补上父下标一列后找父亲也是 O(1)</a:t>
              </a:r>
            </a:p>
          </p:txBody>
        </p:sp>
      </p:grpSp>
      <p:grpSp>
        <p:nvGrpSpPr>
          <p:cNvPr id="90" name="c2-card-3"/>
          <p:cNvGrpSpPr/>
          <p:nvPr/>
        </p:nvGrpSpPr>
        <p:grpSpPr>
          <a:xfrm>
            <a:off x="6464618" y="4577715"/>
            <a:ext cx="5193982" cy="1428750"/>
            <a:chOff x="6464618" y="4577715"/>
            <a:chExt cx="5193982" cy="1428750"/>
          </a:xfrm>
        </p:grpSpPr>
        <p:sp>
          <p:nvSpPr>
            <p:cNvPr id="82" name="Rectangle 82"/>
            <p:cNvSpPr/>
            <p:nvPr/>
          </p:nvSpPr>
          <p:spPr>
            <a:xfrm>
              <a:off x="6464618" y="4577715"/>
              <a:ext cx="5193982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6474142" y="4711065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683692" y="4758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76364" y="4791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693218" y="515207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848666" y="509920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不带父下标时，与父结点有关的操作都不方便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693218" y="54368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848666" y="538400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结点住在数组里，删一个结点要么留空洞，要么搬动后面全部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03211" cy="909257"/>
            <a:chOff x="520446" y="342900"/>
            <a:chExt cx="64032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树的链接存储结构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032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左孩子-右兄弟：树的结点也只要两个指针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ells-1"/>
          <p:cNvGrpSpPr/>
          <p:nvPr/>
        </p:nvGrpSpPr>
        <p:grpSpPr>
          <a:xfrm>
            <a:off x="528066" y="1524000"/>
            <a:ext cx="4089654" cy="979170"/>
            <a:chOff x="528066" y="1524000"/>
            <a:chExt cx="4089654" cy="979170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621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树结点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333500" y="1524000"/>
              <a:ext cx="10944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19369" y="1662112"/>
              <a:ext cx="7236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FirstChild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427922" y="1524000"/>
              <a:ext cx="10944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804705" y="1662112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23298" y="1524000"/>
              <a:ext cx="109442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11112" y="1662112"/>
              <a:ext cx="9178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NextBrother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8066" y="223456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二叉树结点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2096452"/>
              <a:ext cx="5981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61680" y="2234565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931670" y="2096452"/>
              <a:ext cx="5981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58898" y="2234565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28888" y="2096452"/>
              <a:ext cx="59817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35015" y="2234565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</p:grpSp>
      <p:grpSp>
        <p:nvGrpSpPr>
          <p:cNvPr id="25" name="c1-code-2"/>
          <p:cNvGrpSpPr/>
          <p:nvPr/>
        </p:nvGrpSpPr>
        <p:grpSpPr>
          <a:xfrm>
            <a:off x="533400" y="2688908"/>
            <a:ext cx="5410200" cy="1360170"/>
            <a:chOff x="533400" y="2688908"/>
            <a:chExt cx="5410200" cy="1360170"/>
          </a:xfrm>
        </p:grpSpPr>
        <p:sp>
          <p:nvSpPr>
            <p:cNvPr id="22" name="Rectangle 22"/>
            <p:cNvSpPr/>
            <p:nvPr/>
          </p:nvSpPr>
          <p:spPr>
            <a:xfrm>
              <a:off x="533400" y="2688908"/>
              <a:ext cx="5410200" cy="1360170"/>
            </a:xfrm>
            <a:prstGeom prst="roundRect">
              <a:avLst>
                <a:gd name="adj" fmla="val 70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1797" y="284083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结点定义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949" y="3101245"/>
              <a:ext cx="3232861" cy="866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data;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数据域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*FirstChild;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第一个孩子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*NextBrother;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下一个兄弟 */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TreeNode;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233862"/>
            <a:ext cx="5410200" cy="2076450"/>
            <a:chOff x="533400" y="4233862"/>
            <a:chExt cx="5410200" cy="2076450"/>
          </a:xfrm>
        </p:grpSpPr>
        <p:sp>
          <p:nvSpPr>
            <p:cNvPr id="26" name="Rectangle 26"/>
            <p:cNvSpPr/>
            <p:nvPr/>
          </p:nvSpPr>
          <p:spPr>
            <a:xfrm>
              <a:off x="533400" y="4233862"/>
              <a:ext cx="5410200" cy="2076450"/>
            </a:xfrm>
            <a:prstGeom prst="roundRect">
              <a:avLst>
                <a:gd name="adj" fmla="val 64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367212"/>
              <a:ext cx="47625" cy="18097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75335" y="44376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5543" y="44734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8096" y="4810601"/>
              <a:ext cx="462487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源课件写作 NextBrother。使用更广泛的命名是</a:t>
              </a:r>
              <a:br/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NextSibling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，两者含义完全相同，读别人的代码时注意一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下。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7213879" y="1524000"/>
            <a:ext cx="3479241" cy="2439829"/>
            <a:chOff x="7213879" y="1524000"/>
            <a:chExt cx="3479241" cy="2439829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0" t="6" r="0" b="5"/>
            <a:stretch>
              <a:fillRect/>
            </a:stretch>
          </p:blipFill>
          <p:spPr>
            <a:xfrm>
              <a:off x="7537132" y="1524000"/>
              <a:ext cx="2833688" cy="2125028"/>
            </a:xfrm>
            <a:prstGeom prst="roundRect">
              <a:avLst>
                <a:gd name="adj" fmla="val 6275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213879" y="374380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家长只牵长子的手，弟弟妹妹由哥哥姐姐一个牵一个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4124325"/>
            <a:ext cx="5410200" cy="2185988"/>
            <a:chOff x="6248400" y="4124325"/>
            <a:chExt cx="5410200" cy="2185988"/>
          </a:xfrm>
        </p:grpSpPr>
        <p:sp>
          <p:nvSpPr>
            <p:cNvPr id="35" name="Rectangle 35"/>
            <p:cNvSpPr/>
            <p:nvPr/>
          </p:nvSpPr>
          <p:spPr>
            <a:xfrm>
              <a:off x="6248400" y="4124325"/>
              <a:ext cx="5410200" cy="2185988"/>
            </a:xfrm>
            <a:prstGeom prst="roundRect">
              <a:avLst>
                <a:gd name="adj" fmla="val 61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52235" y="432816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08940" y="436387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为什么这个结构最常用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59855" y="476059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16446" y="4701064"/>
              <a:ext cx="45770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它和二叉树的二叉链表表示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完全一样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，可以直接套用二叉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树的算法框架来实现对树的操作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59855" y="535209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6446" y="529256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结点定长，两个指针，不随最大度变化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59855" y="567213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16446" y="5612606"/>
              <a:ext cx="45951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个结点共 2n 个指针，非空的恰好 n − 1 个，空指针恒为</a:t>
              </a:r>
              <a:br/>
              <a:r>
                <a:rPr lang="en-US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n + 1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个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30087" cy="909257"/>
            <a:chOff x="520446" y="342900"/>
            <a:chExt cx="50300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树的链接存储结构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300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同一棵树的左孩子-右兄弟链接图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graph-1"/>
          <p:cNvGrpSpPr/>
          <p:nvPr/>
        </p:nvGrpSpPr>
        <p:grpSpPr>
          <a:xfrm>
            <a:off x="1152525" y="1645920"/>
            <a:ext cx="3523297" cy="1578769"/>
            <a:chOff x="1152525" y="1645920"/>
            <a:chExt cx="3523297" cy="1578769"/>
          </a:xfrm>
        </p:grpSpPr>
        <p:sp>
          <p:nvSpPr>
            <p:cNvPr id="7" name="Freeform 7"/>
            <p:cNvSpPr/>
            <p:nvPr/>
          </p:nvSpPr>
          <p:spPr>
            <a:xfrm>
              <a:off x="1436370" y="1844992"/>
              <a:ext cx="1336358" cy="538162"/>
            </a:xfrm>
            <a:custGeom>
              <a:avLst/>
              <a:gdLst/>
              <a:ahLst/>
              <a:cxnLst/>
              <a:rect l="l" t="t" r="r" b="b"/>
              <a:pathLst>
                <a:path w="1336358" h="538162">
                  <a:moveTo>
                    <a:pt x="1336358" y="0"/>
                  </a:moveTo>
                  <a:lnTo>
                    <a:pt x="0" y="5381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13698" y="1941195"/>
              <a:ext cx="9525" cy="346710"/>
            </a:xfrm>
            <a:custGeom>
              <a:avLst/>
              <a:gdLst/>
              <a:ahLst/>
              <a:cxnLst/>
              <a:rect l="l" t="t" r="r" b="b"/>
              <a:pathLst>
                <a:path w="9525" h="346710">
                  <a:moveTo>
                    <a:pt x="0" y="0"/>
                  </a:moveTo>
                  <a:lnTo>
                    <a:pt x="0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055620" y="1844992"/>
              <a:ext cx="1335405" cy="538162"/>
            </a:xfrm>
            <a:custGeom>
              <a:avLst/>
              <a:gdLst/>
              <a:ahLst/>
              <a:cxnLst/>
              <a:rect l="l" t="t" r="r" b="b"/>
              <a:pathLst>
                <a:path w="1335405" h="538162">
                  <a:moveTo>
                    <a:pt x="0" y="0"/>
                  </a:moveTo>
                  <a:lnTo>
                    <a:pt x="1335405" y="5381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68855" y="2537460"/>
              <a:ext cx="527685" cy="440055"/>
            </a:xfrm>
            <a:custGeom>
              <a:avLst/>
              <a:gdLst/>
              <a:ahLst/>
              <a:cxnLst/>
              <a:rect l="l" t="t" r="r" b="b"/>
              <a:pathLst>
                <a:path w="527685" h="440055">
                  <a:moveTo>
                    <a:pt x="527685" y="0"/>
                  </a:moveTo>
                  <a:lnTo>
                    <a:pt x="0" y="4400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30855" y="2537460"/>
              <a:ext cx="527685" cy="440055"/>
            </a:xfrm>
            <a:custGeom>
              <a:avLst/>
              <a:gdLst/>
              <a:ahLst/>
              <a:cxnLst/>
              <a:rect l="l" t="t" r="r" b="b"/>
              <a:pathLst>
                <a:path w="527685" h="440055">
                  <a:moveTo>
                    <a:pt x="0" y="0"/>
                  </a:moveTo>
                  <a:lnTo>
                    <a:pt x="527685" y="4400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770822" y="164592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52525" y="22974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770822" y="22974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390072" y="22974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008822" y="29317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32822" y="29317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61982" y="171878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43685" y="23702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61982" y="23702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1232" y="23702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99982" y="30046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23982" y="30046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476625"/>
            <a:ext cx="4760595" cy="1986915"/>
            <a:chOff x="533400" y="3476625"/>
            <a:chExt cx="4760595" cy="1986915"/>
          </a:xfrm>
        </p:grpSpPr>
        <p:sp>
          <p:nvSpPr>
            <p:cNvPr id="25" name="Rectangle 25"/>
            <p:cNvSpPr/>
            <p:nvPr/>
          </p:nvSpPr>
          <p:spPr>
            <a:xfrm>
              <a:off x="533400" y="3476625"/>
              <a:ext cx="4760595" cy="1986915"/>
            </a:xfrm>
            <a:prstGeom prst="roundRect">
              <a:avLst>
                <a:gd name="adj" fmla="val 671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42950" y="368617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7555" y="37218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怎么读右边那张图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48665" y="412623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780" y="4063365"/>
              <a:ext cx="4075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向下的箭头是 FirstChild，只指向第一个孩子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48665" y="44615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780" y="4398645"/>
              <a:ext cx="3891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向右的箭头是 NextBrother，把同辈串成一条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48665" y="50825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6780" y="50196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图上没画出来的指针全是 ∧，一共 7 个</a:t>
              </a:r>
            </a:p>
          </p:txBody>
        </p:sp>
      </p:grpSp>
      <p:grpSp>
        <p:nvGrpSpPr>
          <p:cNvPr id="67" name="c2-graph-1"/>
          <p:cNvGrpSpPr/>
          <p:nvPr/>
        </p:nvGrpSpPr>
        <p:grpSpPr>
          <a:xfrm>
            <a:off x="6137910" y="1655445"/>
            <a:ext cx="4463415" cy="2059305"/>
            <a:chOff x="6137910" y="1655445"/>
            <a:chExt cx="4463415" cy="2059305"/>
          </a:xfrm>
        </p:grpSpPr>
        <p:sp>
          <p:nvSpPr>
            <p:cNvPr id="35" name="Freeform 35"/>
            <p:cNvSpPr/>
            <p:nvPr/>
          </p:nvSpPr>
          <p:spPr>
            <a:xfrm>
              <a:off x="6447472" y="1998345"/>
              <a:ext cx="9525" cy="394335"/>
            </a:xfrm>
            <a:custGeom>
              <a:avLst/>
              <a:gdLst/>
              <a:ahLst/>
              <a:cxnLst/>
              <a:rect l="l" t="t" r="r" b="b"/>
              <a:pathLst>
                <a:path w="9525" h="394335">
                  <a:moveTo>
                    <a:pt x="0" y="0"/>
                  </a:moveTo>
                  <a:lnTo>
                    <a:pt x="0" y="3943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399848" y="2392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723698" y="2659380"/>
              <a:ext cx="1291590" cy="9525"/>
            </a:xfrm>
            <a:custGeom>
              <a:avLst/>
              <a:gdLst/>
              <a:ahLst/>
              <a:cxnLst/>
              <a:rect l="l" t="t" r="r" b="b"/>
              <a:pathLst>
                <a:path w="1291590" h="9525">
                  <a:moveTo>
                    <a:pt x="0" y="0"/>
                  </a:moveTo>
                  <a:lnTo>
                    <a:pt x="12915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015288" y="26117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662988" y="2659380"/>
              <a:ext cx="1290638" cy="9525"/>
            </a:xfrm>
            <a:custGeom>
              <a:avLst/>
              <a:gdLst/>
              <a:ahLst/>
              <a:cxnLst/>
              <a:rect l="l" t="t" r="r" b="b"/>
              <a:pathLst>
                <a:path w="1290638" h="9525">
                  <a:moveTo>
                    <a:pt x="0" y="0"/>
                  </a:moveTo>
                  <a:lnTo>
                    <a:pt x="12906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953625" y="26117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386762" y="2830830"/>
              <a:ext cx="9525" cy="445770"/>
            </a:xfrm>
            <a:custGeom>
              <a:avLst/>
              <a:gdLst/>
              <a:ahLst/>
              <a:cxnLst/>
              <a:rect l="l" t="t" r="r" b="b"/>
              <a:pathLst>
                <a:path w="9525" h="445770">
                  <a:moveTo>
                    <a:pt x="0" y="0"/>
                  </a:moveTo>
                  <a:lnTo>
                    <a:pt x="0" y="4457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339138" y="3276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662988" y="3543300"/>
              <a:ext cx="1290638" cy="9525"/>
            </a:xfrm>
            <a:custGeom>
              <a:avLst/>
              <a:gdLst/>
              <a:ahLst/>
              <a:cxnLst/>
              <a:rect l="l" t="t" r="r" b="b"/>
              <a:pathLst>
                <a:path w="1290638" h="9525">
                  <a:moveTo>
                    <a:pt x="0" y="0"/>
                  </a:moveTo>
                  <a:lnTo>
                    <a:pt x="12906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953625" y="3495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171248" y="1655445"/>
              <a:ext cx="55245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171248" y="2487930"/>
              <a:ext cx="55245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10538" y="2487930"/>
              <a:ext cx="55245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048875" y="2487930"/>
              <a:ext cx="55245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110538" y="3371850"/>
              <a:ext cx="55245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048875" y="3371850"/>
              <a:ext cx="55245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95757" y="175688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95757" y="258937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35047" y="258937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73385" y="258937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5047" y="34732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73385" y="34732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137910" y="2157412"/>
              <a:ext cx="61912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51702" y="2189798"/>
              <a:ext cx="5915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FirstChild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33260" y="2573655"/>
              <a:ext cx="76771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42080" y="2606040"/>
              <a:ext cx="7500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NextBrother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972550" y="2573655"/>
              <a:ext cx="76771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981370" y="2606040"/>
              <a:ext cx="7500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NextBrother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077200" y="3015615"/>
              <a:ext cx="61912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090992" y="3048000"/>
              <a:ext cx="5915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FirstChild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972550" y="3457575"/>
              <a:ext cx="76771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981370" y="3489960"/>
              <a:ext cx="7500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NextBrother</a:t>
              </a:r>
            </a:p>
          </p:txBody>
        </p:sp>
      </p:grpSp>
      <p:grpSp>
        <p:nvGrpSpPr>
          <p:cNvPr id="73" name="c2-callout-2"/>
          <p:cNvGrpSpPr/>
          <p:nvPr/>
        </p:nvGrpSpPr>
        <p:grpSpPr>
          <a:xfrm>
            <a:off x="5598795" y="4238625"/>
            <a:ext cx="6059805" cy="1224915"/>
            <a:chOff x="5598795" y="4238625"/>
            <a:chExt cx="6059805" cy="1224915"/>
          </a:xfrm>
        </p:grpSpPr>
        <p:sp>
          <p:nvSpPr>
            <p:cNvPr id="68" name="Rectangle 68"/>
            <p:cNvSpPr/>
            <p:nvPr/>
          </p:nvSpPr>
          <p:spPr>
            <a:xfrm>
              <a:off x="5598795" y="4238625"/>
              <a:ext cx="6059805" cy="1224915"/>
            </a:xfrm>
            <a:prstGeom prst="roundRect">
              <a:avLst>
                <a:gd name="adj" fmla="val 933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5803583" y="4751070"/>
              <a:ext cx="200026" cy="200026"/>
              <a:chOff x="5803583" y="4751070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5803583" y="47510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5870258" y="482885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105525" y="4608195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把这张图的向下箭头看成左指针、向右箭头看成右指针，它就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是第 5 页那棵二叉树的二叉链表。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0322" cy="909257"/>
            <a:chOff x="520446" y="342900"/>
            <a:chExt cx="84603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树的链接存储结构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03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五种链接与顺序结构，按“找父亲 / 找孩子 / 省空间”挑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33400" y="1524000"/>
            <a:ext cx="6492240" cy="3821430"/>
            <a:chOff x="533400" y="1524000"/>
            <a:chExt cx="6492240" cy="38214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144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90800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每个结点存什么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198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7760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找孩子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324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双亲表示法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99513" y="2108359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 + 父下标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16883" y="2108359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96028" y="2108359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04713" y="21083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个整数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孩子表示法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9513" y="255698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 + d 个子下标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16883" y="2556986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96028" y="2556986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04713" y="2556986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× d 个整数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6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005614"/>
              <a:ext cx="1015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 链接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99513" y="30056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一个父指针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16883" y="3005614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96028" y="3005614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04713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个指针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147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319462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5675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多重链表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99513" y="356758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d 或按度开指针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16883" y="3567589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96028" y="3567589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04713" y="3454241"/>
              <a:ext cx="9639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n × d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900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4243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孩子链表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99513" y="42438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 + 孩子链表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16883" y="4243864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96028" y="42438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顺链走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04713" y="4130516"/>
              <a:ext cx="11427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表项 + n−1 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6653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670108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1223" y="4919186"/>
              <a:ext cx="1146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左孩子-右兄弟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199513" y="4805839"/>
              <a:ext cx="9964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FirstChild +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NextBrother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16883" y="4919186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96028" y="4805839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顺兄弟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04713" y="49191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 个指针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6492240" cy="38214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086928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904298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683442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592128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1-callout-2"/>
          <p:cNvGrpSpPr/>
          <p:nvPr/>
        </p:nvGrpSpPr>
        <p:grpSpPr>
          <a:xfrm>
            <a:off x="533400" y="5535930"/>
            <a:ext cx="6492240" cy="782955"/>
            <a:chOff x="533400" y="5535930"/>
            <a:chExt cx="6492240" cy="782955"/>
          </a:xfrm>
        </p:grpSpPr>
        <p:sp>
          <p:nvSpPr>
            <p:cNvPr id="57" name="Rectangle 57"/>
            <p:cNvSpPr/>
            <p:nvPr/>
          </p:nvSpPr>
          <p:spPr>
            <a:xfrm>
              <a:off x="533400" y="5535930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827395"/>
              <a:ext cx="200026" cy="200026"/>
              <a:chOff x="738188" y="5827395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8273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58940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59274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684520"/>
              <a:ext cx="5473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表里的“找孩子”指的是拿到全部孩子。左孩子-右兄弟拿第一个孩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子是 O(1)，拿第 k 个要沿兄弟链走 k 步。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7330440" y="1524000"/>
            <a:ext cx="4328160" cy="1887855"/>
            <a:chOff x="7330440" y="1524000"/>
            <a:chExt cx="4328160" cy="1887855"/>
          </a:xfrm>
        </p:grpSpPr>
        <p:sp>
          <p:nvSpPr>
            <p:cNvPr id="64" name="Rectangle 64"/>
            <p:cNvSpPr/>
            <p:nvPr/>
          </p:nvSpPr>
          <p:spPr>
            <a:xfrm>
              <a:off x="7330440" y="1524000"/>
              <a:ext cx="4328160" cy="1887855"/>
            </a:xfrm>
            <a:prstGeom prst="roundRect">
              <a:avLst>
                <a:gd name="adj" fmla="val 706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53999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61739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默认选哪个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32370" y="2110740"/>
              <a:ext cx="3634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没有特别要求时选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左孩子-右兄弟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。结点定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长、指针只有两个、与二叉链表完全同构，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第四、五部分的遍历和操作算法全都建立在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它上面。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7330440" y="3602355"/>
            <a:ext cx="4328160" cy="2716530"/>
            <a:chOff x="7330440" y="3602355"/>
            <a:chExt cx="4328160" cy="2716530"/>
          </a:xfrm>
        </p:grpSpPr>
        <p:sp>
          <p:nvSpPr>
            <p:cNvPr id="69" name="Rectangle 69"/>
            <p:cNvSpPr/>
            <p:nvPr/>
          </p:nvSpPr>
          <p:spPr>
            <a:xfrm>
              <a:off x="7330440" y="3602355"/>
              <a:ext cx="4328160" cy="2716530"/>
            </a:xfrm>
            <a:prstGeom prst="roundRect">
              <a:avLst>
                <a:gd name="adj" fmla="val 49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339965" y="3735705"/>
              <a:ext cx="47625" cy="24498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578090" y="381190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647597" y="38476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什么时候选别的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583805" y="425196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741920" y="4189095"/>
              <a:ext cx="3272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只做“求祖先、判是否同一棵树”这类操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作：Father 链接最省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583805" y="48729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741920" y="4810125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结点集合固定、要反复按下标随机访问：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双亲孩子表示法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583805" y="54940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0" y="5431155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要存盘或在网络上传：遍历序列 + 结点度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树和森林的遍历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先根、后根、层次三种次序，以及它们与二叉树遍历的对应关系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森林的先根遍历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森林的后根遍历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与二叉树遍历序列的对应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层次遍历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树和森林的遍历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森林的先根遍历，等于对应二叉树的先根序列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410200" cy="1720215"/>
            <a:chOff x="533400" y="1524000"/>
            <a:chExt cx="5410200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森林的先根遍历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访问森林中第一棵树的根结点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先根遍历第一棵树中根结点的诸子树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28003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先根遍历其余的诸树</a:t>
              </a:r>
            </a:p>
          </p:txBody>
        </p:sp>
      </p:grpSp>
      <p:grpSp>
        <p:nvGrpSpPr>
          <p:cNvPr id="50" name="c1-graph-2"/>
          <p:cNvGrpSpPr/>
          <p:nvPr/>
        </p:nvGrpSpPr>
        <p:grpSpPr>
          <a:xfrm>
            <a:off x="661035" y="3613785"/>
            <a:ext cx="4993005" cy="2176748"/>
            <a:chOff x="661035" y="3613785"/>
            <a:chExt cx="4993005" cy="2176748"/>
          </a:xfrm>
        </p:grpSpPr>
        <p:sp>
          <p:nvSpPr>
            <p:cNvPr id="22" name="Freeform 22"/>
            <p:cNvSpPr/>
            <p:nvPr/>
          </p:nvSpPr>
          <p:spPr>
            <a:xfrm>
              <a:off x="899160" y="3875722"/>
              <a:ext cx="512445" cy="637223"/>
            </a:xfrm>
            <a:custGeom>
              <a:avLst/>
              <a:gdLst/>
              <a:ahLst/>
              <a:cxnLst/>
              <a:rect l="l" t="t" r="r" b="b"/>
              <a:pathLst>
                <a:path w="512445" h="637223">
                  <a:moveTo>
                    <a:pt x="512445" y="0"/>
                  </a:moveTo>
                  <a:lnTo>
                    <a:pt x="0" y="6372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506855" y="3909060"/>
              <a:ext cx="9525" cy="569595"/>
            </a:xfrm>
            <a:custGeom>
              <a:avLst/>
              <a:gdLst/>
              <a:ahLst/>
              <a:cxnLst/>
              <a:rect l="l" t="t" r="r" b="b"/>
              <a:pathLst>
                <a:path w="9525" h="569595">
                  <a:moveTo>
                    <a:pt x="0" y="0"/>
                  </a:moveTo>
                  <a:lnTo>
                    <a:pt x="0" y="569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603058" y="3875722"/>
              <a:ext cx="512445" cy="637223"/>
            </a:xfrm>
            <a:custGeom>
              <a:avLst/>
              <a:gdLst/>
              <a:ahLst/>
              <a:cxnLst/>
              <a:rect l="l" t="t" r="r" b="b"/>
              <a:pathLst>
                <a:path w="512445" h="637223">
                  <a:moveTo>
                    <a:pt x="0" y="0"/>
                  </a:moveTo>
                  <a:lnTo>
                    <a:pt x="512445" y="6372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347085" y="3909060"/>
              <a:ext cx="9525" cy="569595"/>
            </a:xfrm>
            <a:custGeom>
              <a:avLst/>
              <a:gdLst/>
              <a:ahLst/>
              <a:cxnLst/>
              <a:rect l="l" t="t" r="r" b="b"/>
              <a:pathLst>
                <a:path w="9525" h="569595">
                  <a:moveTo>
                    <a:pt x="0" y="0"/>
                  </a:moveTo>
                  <a:lnTo>
                    <a:pt x="0" y="569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509135" y="3886200"/>
              <a:ext cx="380047" cy="615315"/>
            </a:xfrm>
            <a:custGeom>
              <a:avLst/>
              <a:gdLst/>
              <a:ahLst/>
              <a:cxnLst/>
              <a:rect l="l" t="t" r="r" b="b"/>
              <a:pathLst>
                <a:path w="380047" h="615315">
                  <a:moveTo>
                    <a:pt x="380047" y="0"/>
                  </a:moveTo>
                  <a:lnTo>
                    <a:pt x="0" y="6153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050155" y="3886200"/>
              <a:ext cx="380047" cy="615315"/>
            </a:xfrm>
            <a:custGeom>
              <a:avLst/>
              <a:gdLst/>
              <a:ahLst/>
              <a:cxnLst/>
              <a:rect l="l" t="t" r="r" b="b"/>
              <a:pathLst>
                <a:path w="380047" h="615315">
                  <a:moveTo>
                    <a:pt x="0" y="0"/>
                  </a:moveTo>
                  <a:lnTo>
                    <a:pt x="380047" y="6153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511165" y="478345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363980" y="361378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61035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363980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067878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204210" y="361378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3204210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827270" y="361378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4286250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368290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5368290" y="53168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458396" y="36918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5451" y="45662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58396" y="45662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62293" y="45662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98626" y="36918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98626" y="45662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21686" y="36918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80666" y="45662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82308" y="4566285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62706" y="53940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05585" y="5541169"/>
              <a:ext cx="3065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森林的先根遍历序列 A B C D E F G H I J</a:t>
              </a:r>
            </a:p>
          </p:txBody>
        </p:sp>
      </p:grpSp>
      <p:grpSp>
        <p:nvGrpSpPr>
          <p:cNvPr id="83" name="c2-graph-1"/>
          <p:cNvGrpSpPr/>
          <p:nvPr/>
        </p:nvGrpSpPr>
        <p:grpSpPr>
          <a:xfrm>
            <a:off x="6764655" y="1649730"/>
            <a:ext cx="4758316" cy="3025711"/>
            <a:chOff x="6764655" y="1649730"/>
            <a:chExt cx="4758316" cy="3025711"/>
          </a:xfrm>
        </p:grpSpPr>
        <p:sp>
          <p:nvSpPr>
            <p:cNvPr id="51" name="Freeform 51"/>
            <p:cNvSpPr/>
            <p:nvPr/>
          </p:nvSpPr>
          <p:spPr>
            <a:xfrm>
              <a:off x="7021830" y="1853565"/>
              <a:ext cx="724852" cy="409575"/>
            </a:xfrm>
            <a:custGeom>
              <a:avLst/>
              <a:gdLst/>
              <a:ahLst/>
              <a:cxnLst/>
              <a:rect l="l" t="t" r="r" b="b"/>
              <a:pathLst>
                <a:path w="724852" h="409575">
                  <a:moveTo>
                    <a:pt x="724852" y="0"/>
                  </a:moveTo>
                  <a:lnTo>
                    <a:pt x="0" y="4095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996238" y="1853565"/>
              <a:ext cx="724853" cy="409575"/>
            </a:xfrm>
            <a:custGeom>
              <a:avLst/>
              <a:gdLst/>
              <a:ahLst/>
              <a:cxnLst/>
              <a:rect l="l" t="t" r="r" b="b"/>
              <a:pathLst>
                <a:path w="724853" h="409575">
                  <a:moveTo>
                    <a:pt x="0" y="0"/>
                  </a:moveTo>
                  <a:lnTo>
                    <a:pt x="724853" y="4095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6985635" y="2446020"/>
              <a:ext cx="256222" cy="325755"/>
            </a:xfrm>
            <a:custGeom>
              <a:avLst/>
              <a:gdLst/>
              <a:ahLst/>
              <a:cxnLst/>
              <a:rect l="l" t="t" r="r" b="b"/>
              <a:pathLst>
                <a:path w="256222" h="325755">
                  <a:moveTo>
                    <a:pt x="0" y="0"/>
                  </a:moveTo>
                  <a:lnTo>
                    <a:pt x="256222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419022" y="2996565"/>
              <a:ext cx="256222" cy="325755"/>
            </a:xfrm>
            <a:custGeom>
              <a:avLst/>
              <a:gdLst/>
              <a:ahLst/>
              <a:cxnLst/>
              <a:rect l="l" t="t" r="r" b="b"/>
              <a:pathLst>
                <a:path w="256222" h="325755">
                  <a:moveTo>
                    <a:pt x="0" y="0"/>
                  </a:moveTo>
                  <a:lnTo>
                    <a:pt x="256222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404860" y="2435542"/>
              <a:ext cx="340043" cy="346710"/>
            </a:xfrm>
            <a:custGeom>
              <a:avLst/>
              <a:gdLst/>
              <a:ahLst/>
              <a:cxnLst/>
              <a:rect l="l" t="t" r="r" b="b"/>
              <a:pathLst>
                <a:path w="340043" h="346710">
                  <a:moveTo>
                    <a:pt x="340043" y="0"/>
                  </a:moveTo>
                  <a:lnTo>
                    <a:pt x="0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961120" y="2417445"/>
              <a:ext cx="525780" cy="382905"/>
            </a:xfrm>
            <a:custGeom>
              <a:avLst/>
              <a:gdLst/>
              <a:ahLst/>
              <a:cxnLst/>
              <a:rect l="l" t="t" r="r" b="b"/>
              <a:pathLst>
                <a:path w="525780" h="382905">
                  <a:moveTo>
                    <a:pt x="0" y="0"/>
                  </a:moveTo>
                  <a:lnTo>
                    <a:pt x="525780" y="3829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258300" y="2996565"/>
              <a:ext cx="256222" cy="325755"/>
            </a:xfrm>
            <a:custGeom>
              <a:avLst/>
              <a:gdLst/>
              <a:ahLst/>
              <a:cxnLst/>
              <a:rect l="l" t="t" r="r" b="b"/>
              <a:pathLst>
                <a:path w="256222" h="325755">
                  <a:moveTo>
                    <a:pt x="256222" y="0"/>
                  </a:moveTo>
                  <a:lnTo>
                    <a:pt x="0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290685" y="3510915"/>
              <a:ext cx="623888" cy="398145"/>
            </a:xfrm>
            <a:custGeom>
              <a:avLst/>
              <a:gdLst/>
              <a:ahLst/>
              <a:cxnLst/>
              <a:rect l="l" t="t" r="r" b="b"/>
              <a:pathLst>
                <a:path w="623888" h="398145">
                  <a:moveTo>
                    <a:pt x="0" y="0"/>
                  </a:moveTo>
                  <a:lnTo>
                    <a:pt x="623888" y="3981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690735" y="4097655"/>
              <a:ext cx="256222" cy="325755"/>
            </a:xfrm>
            <a:custGeom>
              <a:avLst/>
              <a:gdLst/>
              <a:ahLst/>
              <a:cxnLst/>
              <a:rect l="l" t="t" r="r" b="b"/>
              <a:pathLst>
                <a:path w="256222" h="325755">
                  <a:moveTo>
                    <a:pt x="256222" y="0"/>
                  </a:moveTo>
                  <a:lnTo>
                    <a:pt x="0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7738110" y="164973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6764655" y="220027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8711565" y="220027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7197090" y="275082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170545" y="275082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9469755" y="275082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7629525" y="330136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036368" y="330136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9902190" y="385191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469755" y="440245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823001" y="17173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49546" y="22679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796456" y="22679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281981" y="281844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55436" y="281844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554646" y="281844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14416" y="33689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121258" y="33689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006683" y="3919538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554646" y="44700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269360" y="183975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对应的二叉树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441673" y="2293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先根序列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062583" y="274653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B C D E F G H I J</a:t>
              </a:r>
            </a:p>
          </p:txBody>
        </p:sp>
      </p:grpSp>
      <p:grpSp>
        <p:nvGrpSpPr>
          <p:cNvPr id="89" name="c2-callout-2"/>
          <p:cNvGrpSpPr/>
          <p:nvPr/>
        </p:nvGrpSpPr>
        <p:grpSpPr>
          <a:xfrm>
            <a:off x="6248400" y="4953000"/>
            <a:ext cx="5410200" cy="782955"/>
            <a:chOff x="6248400" y="4953000"/>
            <a:chExt cx="5410200" cy="782955"/>
          </a:xfrm>
        </p:grpSpPr>
        <p:sp>
          <p:nvSpPr>
            <p:cNvPr id="84" name="Rectangle 84"/>
            <p:cNvSpPr/>
            <p:nvPr/>
          </p:nvSpPr>
          <p:spPr>
            <a:xfrm>
              <a:off x="6248400" y="495300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453188" y="5244465"/>
              <a:ext cx="200026" cy="200026"/>
              <a:chOff x="6453188" y="5244465"/>
              <a:chExt cx="200026" cy="200026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6453188" y="52444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519863" y="532225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755130" y="5101590"/>
              <a:ext cx="43586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两个序列逐位相同。随机生成的 2000 个森林全部验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证通过。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树和森林的遍历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森林的后根遍历，对上的是二叉树的中根序列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410200" cy="1720215"/>
            <a:chOff x="533400" y="1524000"/>
            <a:chExt cx="5410200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森林的后根遍历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后根遍历第一棵树中根结点的诸子树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访问森林中第一棵树的根结点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28003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后根遍历其余的诸树</a:t>
              </a:r>
            </a:p>
          </p:txBody>
        </p:sp>
      </p:grpSp>
      <p:grpSp>
        <p:nvGrpSpPr>
          <p:cNvPr id="50" name="c1-graph-2"/>
          <p:cNvGrpSpPr/>
          <p:nvPr/>
        </p:nvGrpSpPr>
        <p:grpSpPr>
          <a:xfrm>
            <a:off x="661035" y="3613785"/>
            <a:ext cx="4993005" cy="2176748"/>
            <a:chOff x="661035" y="3613785"/>
            <a:chExt cx="4993005" cy="2176748"/>
          </a:xfrm>
        </p:grpSpPr>
        <p:sp>
          <p:nvSpPr>
            <p:cNvPr id="22" name="Freeform 22"/>
            <p:cNvSpPr/>
            <p:nvPr/>
          </p:nvSpPr>
          <p:spPr>
            <a:xfrm>
              <a:off x="899160" y="3875722"/>
              <a:ext cx="512445" cy="637223"/>
            </a:xfrm>
            <a:custGeom>
              <a:avLst/>
              <a:gdLst/>
              <a:ahLst/>
              <a:cxnLst/>
              <a:rect l="l" t="t" r="r" b="b"/>
              <a:pathLst>
                <a:path w="512445" h="637223">
                  <a:moveTo>
                    <a:pt x="512445" y="0"/>
                  </a:moveTo>
                  <a:lnTo>
                    <a:pt x="0" y="6372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506855" y="3909060"/>
              <a:ext cx="9525" cy="569595"/>
            </a:xfrm>
            <a:custGeom>
              <a:avLst/>
              <a:gdLst/>
              <a:ahLst/>
              <a:cxnLst/>
              <a:rect l="l" t="t" r="r" b="b"/>
              <a:pathLst>
                <a:path w="9525" h="569595">
                  <a:moveTo>
                    <a:pt x="0" y="0"/>
                  </a:moveTo>
                  <a:lnTo>
                    <a:pt x="0" y="569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603058" y="3875722"/>
              <a:ext cx="512445" cy="637223"/>
            </a:xfrm>
            <a:custGeom>
              <a:avLst/>
              <a:gdLst/>
              <a:ahLst/>
              <a:cxnLst/>
              <a:rect l="l" t="t" r="r" b="b"/>
              <a:pathLst>
                <a:path w="512445" h="637223">
                  <a:moveTo>
                    <a:pt x="0" y="0"/>
                  </a:moveTo>
                  <a:lnTo>
                    <a:pt x="512445" y="6372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347085" y="3909060"/>
              <a:ext cx="9525" cy="569595"/>
            </a:xfrm>
            <a:custGeom>
              <a:avLst/>
              <a:gdLst/>
              <a:ahLst/>
              <a:cxnLst/>
              <a:rect l="l" t="t" r="r" b="b"/>
              <a:pathLst>
                <a:path w="9525" h="569595">
                  <a:moveTo>
                    <a:pt x="0" y="0"/>
                  </a:moveTo>
                  <a:lnTo>
                    <a:pt x="0" y="569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509135" y="3886200"/>
              <a:ext cx="380047" cy="615315"/>
            </a:xfrm>
            <a:custGeom>
              <a:avLst/>
              <a:gdLst/>
              <a:ahLst/>
              <a:cxnLst/>
              <a:rect l="l" t="t" r="r" b="b"/>
              <a:pathLst>
                <a:path w="380047" h="615315">
                  <a:moveTo>
                    <a:pt x="380047" y="0"/>
                  </a:moveTo>
                  <a:lnTo>
                    <a:pt x="0" y="6153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050155" y="3886200"/>
              <a:ext cx="380047" cy="615315"/>
            </a:xfrm>
            <a:custGeom>
              <a:avLst/>
              <a:gdLst/>
              <a:ahLst/>
              <a:cxnLst/>
              <a:rect l="l" t="t" r="r" b="b"/>
              <a:pathLst>
                <a:path w="380047" h="615315">
                  <a:moveTo>
                    <a:pt x="0" y="0"/>
                  </a:moveTo>
                  <a:lnTo>
                    <a:pt x="380047" y="6153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511165" y="478345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363980" y="361378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61035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363980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067878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204210" y="361378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3204210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827270" y="361378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4286250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368290" y="44881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5368290" y="53168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458396" y="36918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5451" y="45662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58396" y="45662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62293" y="45662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98626" y="36918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98626" y="45662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21686" y="36918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80666" y="45662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82308" y="4566285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62706" y="53940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05585" y="5541169"/>
              <a:ext cx="3065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森林的后根遍历序列 B C D A F E H J I G</a:t>
              </a:r>
            </a:p>
          </p:txBody>
        </p:sp>
      </p:grpSp>
      <p:grpSp>
        <p:nvGrpSpPr>
          <p:cNvPr id="83" name="c2-graph-1"/>
          <p:cNvGrpSpPr/>
          <p:nvPr/>
        </p:nvGrpSpPr>
        <p:grpSpPr>
          <a:xfrm>
            <a:off x="6764655" y="1649730"/>
            <a:ext cx="4758316" cy="3025711"/>
            <a:chOff x="6764655" y="1649730"/>
            <a:chExt cx="4758316" cy="3025711"/>
          </a:xfrm>
        </p:grpSpPr>
        <p:sp>
          <p:nvSpPr>
            <p:cNvPr id="51" name="Freeform 51"/>
            <p:cNvSpPr/>
            <p:nvPr/>
          </p:nvSpPr>
          <p:spPr>
            <a:xfrm>
              <a:off x="7021830" y="1853565"/>
              <a:ext cx="724852" cy="409575"/>
            </a:xfrm>
            <a:custGeom>
              <a:avLst/>
              <a:gdLst/>
              <a:ahLst/>
              <a:cxnLst/>
              <a:rect l="l" t="t" r="r" b="b"/>
              <a:pathLst>
                <a:path w="724852" h="409575">
                  <a:moveTo>
                    <a:pt x="724852" y="0"/>
                  </a:moveTo>
                  <a:lnTo>
                    <a:pt x="0" y="4095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996238" y="1853565"/>
              <a:ext cx="724853" cy="409575"/>
            </a:xfrm>
            <a:custGeom>
              <a:avLst/>
              <a:gdLst/>
              <a:ahLst/>
              <a:cxnLst/>
              <a:rect l="l" t="t" r="r" b="b"/>
              <a:pathLst>
                <a:path w="724853" h="409575">
                  <a:moveTo>
                    <a:pt x="0" y="0"/>
                  </a:moveTo>
                  <a:lnTo>
                    <a:pt x="724853" y="4095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6985635" y="2446020"/>
              <a:ext cx="256222" cy="325755"/>
            </a:xfrm>
            <a:custGeom>
              <a:avLst/>
              <a:gdLst/>
              <a:ahLst/>
              <a:cxnLst/>
              <a:rect l="l" t="t" r="r" b="b"/>
              <a:pathLst>
                <a:path w="256222" h="325755">
                  <a:moveTo>
                    <a:pt x="0" y="0"/>
                  </a:moveTo>
                  <a:lnTo>
                    <a:pt x="256222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419022" y="2996565"/>
              <a:ext cx="256222" cy="325755"/>
            </a:xfrm>
            <a:custGeom>
              <a:avLst/>
              <a:gdLst/>
              <a:ahLst/>
              <a:cxnLst/>
              <a:rect l="l" t="t" r="r" b="b"/>
              <a:pathLst>
                <a:path w="256222" h="325755">
                  <a:moveTo>
                    <a:pt x="0" y="0"/>
                  </a:moveTo>
                  <a:lnTo>
                    <a:pt x="256222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404860" y="2435542"/>
              <a:ext cx="340043" cy="346710"/>
            </a:xfrm>
            <a:custGeom>
              <a:avLst/>
              <a:gdLst/>
              <a:ahLst/>
              <a:cxnLst/>
              <a:rect l="l" t="t" r="r" b="b"/>
              <a:pathLst>
                <a:path w="340043" h="346710">
                  <a:moveTo>
                    <a:pt x="340043" y="0"/>
                  </a:moveTo>
                  <a:lnTo>
                    <a:pt x="0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961120" y="2417445"/>
              <a:ext cx="525780" cy="382905"/>
            </a:xfrm>
            <a:custGeom>
              <a:avLst/>
              <a:gdLst/>
              <a:ahLst/>
              <a:cxnLst/>
              <a:rect l="l" t="t" r="r" b="b"/>
              <a:pathLst>
                <a:path w="525780" h="382905">
                  <a:moveTo>
                    <a:pt x="0" y="0"/>
                  </a:moveTo>
                  <a:lnTo>
                    <a:pt x="525780" y="3829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258300" y="2996565"/>
              <a:ext cx="256222" cy="325755"/>
            </a:xfrm>
            <a:custGeom>
              <a:avLst/>
              <a:gdLst/>
              <a:ahLst/>
              <a:cxnLst/>
              <a:rect l="l" t="t" r="r" b="b"/>
              <a:pathLst>
                <a:path w="256222" h="325755">
                  <a:moveTo>
                    <a:pt x="256222" y="0"/>
                  </a:moveTo>
                  <a:lnTo>
                    <a:pt x="0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290685" y="3510915"/>
              <a:ext cx="623888" cy="398145"/>
            </a:xfrm>
            <a:custGeom>
              <a:avLst/>
              <a:gdLst/>
              <a:ahLst/>
              <a:cxnLst/>
              <a:rect l="l" t="t" r="r" b="b"/>
              <a:pathLst>
                <a:path w="623888" h="398145">
                  <a:moveTo>
                    <a:pt x="0" y="0"/>
                  </a:moveTo>
                  <a:lnTo>
                    <a:pt x="623888" y="3981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690735" y="4097655"/>
              <a:ext cx="256222" cy="325755"/>
            </a:xfrm>
            <a:custGeom>
              <a:avLst/>
              <a:gdLst/>
              <a:ahLst/>
              <a:cxnLst/>
              <a:rect l="l" t="t" r="r" b="b"/>
              <a:pathLst>
                <a:path w="256222" h="325755">
                  <a:moveTo>
                    <a:pt x="256222" y="0"/>
                  </a:moveTo>
                  <a:lnTo>
                    <a:pt x="0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7738110" y="164973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6764655" y="220027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8711565" y="220027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7197090" y="275082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170545" y="275082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9469755" y="275082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7629525" y="330136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036368" y="330136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9902190" y="385191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469755" y="440245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823001" y="17173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49546" y="22679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796456" y="22679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281981" y="281844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55436" y="281844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554646" y="281844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14416" y="33689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121258" y="33689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006683" y="3919538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554646" y="44700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269360" y="183975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对应的二叉树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441673" y="2293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中根序列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062583" y="274653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C D A F E H J I G</a:t>
              </a:r>
            </a:p>
          </p:txBody>
        </p:sp>
      </p:grpSp>
      <p:grpSp>
        <p:nvGrpSpPr>
          <p:cNvPr id="90" name="c2-callout-2"/>
          <p:cNvGrpSpPr/>
          <p:nvPr/>
        </p:nvGrpSpPr>
        <p:grpSpPr>
          <a:xfrm>
            <a:off x="6248400" y="4953000"/>
            <a:ext cx="5410200" cy="782955"/>
            <a:chOff x="6248400" y="4953000"/>
            <a:chExt cx="5410200" cy="782955"/>
          </a:xfrm>
        </p:grpSpPr>
        <p:sp>
          <p:nvSpPr>
            <p:cNvPr id="84" name="Rectangle 84"/>
            <p:cNvSpPr/>
            <p:nvPr/>
          </p:nvSpPr>
          <p:spPr>
            <a:xfrm>
              <a:off x="6248400" y="495300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6441129" y="5240773"/>
              <a:ext cx="224134" cy="192560"/>
              <a:chOff x="6441129" y="5240773"/>
              <a:chExt cx="224134" cy="19256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6553200" y="53111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441129" y="52407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6553200" y="53889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6755130" y="5101590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对上的是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中根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序列。这棵二叉树的后根序列是 D C B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 J I H G E A，和森林的后根序列完全不同。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树和森林的遍历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为什么森林的后根对上的是二叉树的中根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561076" cy="2444496"/>
            <a:chOff x="533400" y="1533525"/>
            <a:chExt cx="5561076" cy="244449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6754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17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20897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看清左右子树各装了什么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50794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设森林 F 的第一棵树根是 x。按左孩子-右兄弟的规定，x 的左子树装的是 x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的诸子树组成的森林，x 的右子树装的是 F 去掉第一棵树后剩下的森林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4045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把中根的定义写开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5098"/>
              <a:ext cx="51252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中根(B) = 中根(x 的左子树) + x + 中根(x 的右子树)。按归纳假设，前一项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是“x 的诸子树的后根序列”，后一项是“其余诸树的后根序列”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24183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和定义逐条对上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522345"/>
              <a:ext cx="5148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于是中根(B) = 后根(x 的诸子树) + x + 后根(其余诸树)，这三项正好是森林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后根遍历的三个步骤。对结点个数作归纳即得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149090"/>
            <a:ext cx="5842635" cy="2196465"/>
            <a:chOff x="533400" y="4149090"/>
            <a:chExt cx="5842635" cy="2196465"/>
          </a:xfrm>
        </p:grpSpPr>
        <p:sp>
          <p:nvSpPr>
            <p:cNvPr id="21" name="Rectangle 21"/>
            <p:cNvSpPr/>
            <p:nvPr/>
          </p:nvSpPr>
          <p:spPr>
            <a:xfrm>
              <a:off x="533400" y="4149090"/>
              <a:ext cx="5842635" cy="2196465"/>
            </a:xfrm>
            <a:prstGeom prst="roundRect">
              <a:avLst>
                <a:gd name="adj" fmla="val 60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282440"/>
              <a:ext cx="47625" cy="19297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9620" y="434721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1058" y="43815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先根的情形同理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381" y="4708684"/>
              <a:ext cx="518121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先根(B) = x + 先根(左子树) + 先根(右子树)。前一项是“x 的诸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子树的先根序列”，后一项是“其余诸树的先根序列”，三项正好是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森林先根遍历的三个步骤，所以两个先根序列相等。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3524" y="5565458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这一条和后根那一条的差别，只在根被夹在三项的哪个位置。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680835" y="1524000"/>
            <a:ext cx="4977765" cy="1910715"/>
            <a:chOff x="6680835" y="1524000"/>
            <a:chExt cx="4977765" cy="1910715"/>
          </a:xfrm>
        </p:grpSpPr>
        <p:sp>
          <p:nvSpPr>
            <p:cNvPr id="28" name="Rectangle 28"/>
            <p:cNvSpPr/>
            <p:nvPr/>
          </p:nvSpPr>
          <p:spPr>
            <a:xfrm>
              <a:off x="6680835" y="1524000"/>
              <a:ext cx="4977765" cy="6381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18566" y="1652588"/>
              <a:ext cx="621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森林的遍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13002" y="175926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森林的序列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3278" y="175926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二叉树的哪种序列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42345" y="17592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83324" y="2289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79626" y="22898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E F G H I J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72219" y="2289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63859" y="22898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80835" y="25812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80835" y="2586038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83324" y="27146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79626" y="271462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D A F E H J I 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72219" y="27146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中根序列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63859" y="271462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30060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83324" y="31394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79626" y="313944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D A F E H J I 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72219" y="31394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后根序列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63859" y="31394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80835" y="1524000"/>
              <a:ext cx="4977765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72375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264968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956608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2"/>
          <p:cNvGrpSpPr/>
          <p:nvPr/>
        </p:nvGrpSpPr>
        <p:grpSpPr>
          <a:xfrm>
            <a:off x="6680835" y="3615690"/>
            <a:ext cx="4977765" cy="1793558"/>
            <a:chOff x="6680835" y="3615690"/>
            <a:chExt cx="4977765" cy="1793558"/>
          </a:xfrm>
        </p:grpSpPr>
        <p:sp>
          <p:nvSpPr>
            <p:cNvPr id="53" name="Rectangle 53"/>
            <p:cNvSpPr/>
            <p:nvPr/>
          </p:nvSpPr>
          <p:spPr>
            <a:xfrm>
              <a:off x="6680835" y="3615690"/>
              <a:ext cx="4977765" cy="1793558"/>
            </a:xfrm>
            <a:prstGeom prst="roundRect">
              <a:avLst>
                <a:gd name="adj" fmla="val 7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90360" y="3749040"/>
              <a:ext cx="47625" cy="15268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17055" y="381381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2493" y="38481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最常考的一条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09816" y="4174331"/>
              <a:ext cx="436067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森林（或树）的后根序列 = 对应二叉树的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序列。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写成“后根对后根”是最常见的错误。记忆办法：二叉树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的后根遍历最后访问根，而森林的后根遍历在访问完第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一棵树的根之后还要接着遍历其余的树，根不在最后。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6680835" y="5589270"/>
            <a:ext cx="4977765" cy="756285"/>
            <a:chOff x="6680835" y="5589270"/>
            <a:chExt cx="4977765" cy="756285"/>
          </a:xfrm>
        </p:grpSpPr>
        <p:sp>
          <p:nvSpPr>
            <p:cNvPr id="59" name="Rectangle 59"/>
            <p:cNvSpPr/>
            <p:nvPr/>
          </p:nvSpPr>
          <p:spPr>
            <a:xfrm>
              <a:off x="6680835" y="5589270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885623" y="5867400"/>
              <a:ext cx="200026" cy="200026"/>
              <a:chOff x="6885623" y="5867400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885623" y="58674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85635" y="5934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74523" y="59674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187946" y="5736431"/>
              <a:ext cx="39999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树没有中根遍历，所以这张表里没有“森林的中根”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这一行。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树和森林的遍历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层次遍历：从第 0 层到最后一层，同层从左到右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335405"/>
            <a:chOff x="533400" y="1524000"/>
            <a:chExt cx="5193982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树和森林的层次遍历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从第 0 层到最后一层逐层访问，且同层结点按从左到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右的次序访问。森林里各棵树的根都算第 0 层。</a:t>
              </a:r>
            </a:p>
          </p:txBody>
        </p:sp>
      </p:grpSp>
      <p:grpSp>
        <p:nvGrpSpPr>
          <p:cNvPr id="42" name="c1-graph-2"/>
          <p:cNvGrpSpPr/>
          <p:nvPr/>
        </p:nvGrpSpPr>
        <p:grpSpPr>
          <a:xfrm>
            <a:off x="650558" y="3329940"/>
            <a:ext cx="4804410" cy="2796825"/>
            <a:chOff x="650558" y="3329940"/>
            <a:chExt cx="4804410" cy="2796825"/>
          </a:xfrm>
        </p:grpSpPr>
        <p:sp>
          <p:nvSpPr>
            <p:cNvPr id="14" name="Freeform 14"/>
            <p:cNvSpPr/>
            <p:nvPr/>
          </p:nvSpPr>
          <p:spPr>
            <a:xfrm>
              <a:off x="870585" y="3604260"/>
              <a:ext cx="520065" cy="885825"/>
            </a:xfrm>
            <a:custGeom>
              <a:avLst/>
              <a:gdLst/>
              <a:ahLst/>
              <a:cxnLst/>
              <a:rect l="l" t="t" r="r" b="b"/>
              <a:pathLst>
                <a:path w="520065" h="885825">
                  <a:moveTo>
                    <a:pt x="520065" y="0"/>
                  </a:moveTo>
                  <a:lnTo>
                    <a:pt x="0" y="8858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468755" y="3625215"/>
              <a:ext cx="9525" cy="843915"/>
            </a:xfrm>
            <a:custGeom>
              <a:avLst/>
              <a:gdLst/>
              <a:ahLst/>
              <a:cxnLst/>
              <a:rect l="l" t="t" r="r" b="b"/>
              <a:pathLst>
                <a:path w="9525" h="843915">
                  <a:moveTo>
                    <a:pt x="0" y="0"/>
                  </a:moveTo>
                  <a:lnTo>
                    <a:pt x="0" y="8439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45908" y="3604260"/>
              <a:ext cx="520065" cy="885825"/>
            </a:xfrm>
            <a:custGeom>
              <a:avLst/>
              <a:gdLst/>
              <a:ahLst/>
              <a:cxnLst/>
              <a:rect l="l" t="t" r="r" b="b"/>
              <a:pathLst>
                <a:path w="520065" h="885825">
                  <a:moveTo>
                    <a:pt x="0" y="0"/>
                  </a:moveTo>
                  <a:lnTo>
                    <a:pt x="520065" y="8858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233738" y="3625215"/>
              <a:ext cx="9525" cy="843915"/>
            </a:xfrm>
            <a:custGeom>
              <a:avLst/>
              <a:gdLst/>
              <a:ahLst/>
              <a:cxnLst/>
              <a:rect l="l" t="t" r="r" b="b"/>
              <a:pathLst>
                <a:path w="9525" h="843915">
                  <a:moveTo>
                    <a:pt x="0" y="0"/>
                  </a:moveTo>
                  <a:lnTo>
                    <a:pt x="0" y="8439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335780" y="3611880"/>
              <a:ext cx="393383" cy="870585"/>
            </a:xfrm>
            <a:custGeom>
              <a:avLst/>
              <a:gdLst/>
              <a:ahLst/>
              <a:cxnLst/>
              <a:rect l="l" t="t" r="r" b="b"/>
              <a:pathLst>
                <a:path w="393383" h="870585">
                  <a:moveTo>
                    <a:pt x="393383" y="0"/>
                  </a:moveTo>
                  <a:lnTo>
                    <a:pt x="0" y="8705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854892" y="3611880"/>
              <a:ext cx="394335" cy="870585"/>
            </a:xfrm>
            <a:custGeom>
              <a:avLst/>
              <a:gdLst/>
              <a:ahLst/>
              <a:cxnLst/>
              <a:rect l="l" t="t" r="r" b="b"/>
              <a:pathLst>
                <a:path w="394335" h="870585">
                  <a:moveTo>
                    <a:pt x="0" y="0"/>
                  </a:moveTo>
                  <a:lnTo>
                    <a:pt x="394335" y="8705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312092" y="4773930"/>
              <a:ext cx="9525" cy="782955"/>
            </a:xfrm>
            <a:custGeom>
              <a:avLst/>
              <a:gdLst/>
              <a:ahLst/>
              <a:cxnLst/>
              <a:rect l="l" t="t" r="r" b="b"/>
              <a:pathLst>
                <a:path w="9525" h="782955">
                  <a:moveTo>
                    <a:pt x="0" y="0"/>
                  </a:moveTo>
                  <a:lnTo>
                    <a:pt x="0" y="7829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325880" y="33299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50558" y="44786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325880" y="44786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000250" y="44786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90862" y="33299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090862" y="44786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649152" y="33299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130040" y="44786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169218" y="447865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5169218" y="556641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20296" y="340804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4973" y="45558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20296" y="45558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94666" y="45558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85278" y="340804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85278" y="45558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43568" y="340804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24456" y="45558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3236" y="4555808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63633" y="56435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97000" y="5877401"/>
              <a:ext cx="3065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森林的层次遍历序列 A E G B C D F H I J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6032182" y="1524000"/>
            <a:ext cx="5626418" cy="1795462"/>
            <a:chOff x="6032182" y="1524000"/>
            <a:chExt cx="5626418" cy="1795462"/>
          </a:xfrm>
        </p:grpSpPr>
        <p:sp>
          <p:nvSpPr>
            <p:cNvPr id="43" name="Rectangle 43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029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6530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这一层的结点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730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40006" y="2108359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40118" y="2108359"/>
              <a:ext cx="1628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E G（三棵树的根）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53916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40006" y="2556986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40118" y="2556986"/>
              <a:ext cx="8413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D F H 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753916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40006" y="300561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40118" y="3005614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53916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32182" y="1524000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2753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64133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rd-2"/>
          <p:cNvGrpSpPr/>
          <p:nvPr/>
        </p:nvGrpSpPr>
        <p:grpSpPr>
          <a:xfrm>
            <a:off x="6032182" y="3509962"/>
            <a:ext cx="5626418" cy="1602105"/>
            <a:chOff x="6032182" y="3509962"/>
            <a:chExt cx="5626418" cy="1602105"/>
          </a:xfrm>
        </p:grpSpPr>
        <p:sp>
          <p:nvSpPr>
            <p:cNvPr id="63" name="Rectangle 63"/>
            <p:cNvSpPr/>
            <p:nvPr/>
          </p:nvSpPr>
          <p:spPr>
            <a:xfrm>
              <a:off x="6032182" y="3509962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1732" y="371951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23089" y="37552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实现要点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34112" y="4096702"/>
              <a:ext cx="4882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层次遍历不能靠递归，要用一个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队列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。先把森林中各棵树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的根全部入队，然后反复“出队一个结点、访问它、把它的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全部孩子入队”，直到队列为空。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6032182" y="5302568"/>
            <a:ext cx="5626418" cy="782955"/>
            <a:chOff x="6032182" y="5302568"/>
            <a:chExt cx="5626418" cy="782955"/>
          </a:xfrm>
        </p:grpSpPr>
        <p:sp>
          <p:nvSpPr>
            <p:cNvPr id="68" name="Rectangle 68"/>
            <p:cNvSpPr/>
            <p:nvPr/>
          </p:nvSpPr>
          <p:spPr>
            <a:xfrm>
              <a:off x="6032182" y="5302568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236970" y="5594033"/>
              <a:ext cx="200026" cy="200026"/>
              <a:chOff x="6236970" y="5594033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236970" y="55940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336983" y="56607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325870" y="56940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538912" y="545115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队列里最多同时存多少个结点，取决于最宽的那一层。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本例第 1 层有 6 个结点，实测队列最长就是 6。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146159" cy="3351847"/>
            <a:chOff x="667512" y="1835468"/>
            <a:chExt cx="614615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树上的基本操作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1362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在左孩子-右兄弟结构上写出遍历、查找、找父结点和删除子树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结点结构与递归套路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先根遍历与按值查找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搜索父结点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删除子树与层次遍历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2897" cy="909257"/>
            <a:chOff x="520446" y="342900"/>
            <a:chExt cx="84628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树上的基本操作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28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在左孩子-右兄弟结构上，四类操作都是同一个递归套路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384935"/>
            <a:chOff x="533400" y="1524000"/>
            <a:chExt cx="5626418" cy="1384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本部分用的结点结构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370326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data;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数据域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*FirstChild;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第一个孩子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*NextBrother;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下一个兄弟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TreeNode;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3099435"/>
            <a:ext cx="5626418" cy="3223260"/>
            <a:chOff x="533400" y="3099435"/>
            <a:chExt cx="5626418" cy="3223260"/>
          </a:xfrm>
        </p:grpSpPr>
        <p:sp>
          <p:nvSpPr>
            <p:cNvPr id="11" name="Rectangle 11"/>
            <p:cNvSpPr/>
            <p:nvPr/>
          </p:nvSpPr>
          <p:spPr>
            <a:xfrm>
              <a:off x="533400" y="3099435"/>
              <a:ext cx="5626418" cy="3223260"/>
            </a:xfrm>
            <a:prstGeom prst="roundRect">
              <a:avLst>
                <a:gd name="adj" fmla="val 41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232785"/>
              <a:ext cx="47625" cy="29565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33089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3359" y="33447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写法说明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686175"/>
              <a:ext cx="49396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源课件用的是 C++ 味的写法：直接写 `TreeNode*` 不带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struct，申请释放用 `new` / `delete`。本讲义统一写成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 C，结构体用 `typedef struct`，释放用 `free`，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算法主体一行没有改动。</a:t>
              </a:r>
            </a:p>
          </p:txBody>
        </p:sp>
      </p:grpSp>
      <p:grpSp>
        <p:nvGrpSpPr>
          <p:cNvPr id="30" name="c2-bullets-1"/>
          <p:cNvGrpSpPr/>
          <p:nvPr/>
        </p:nvGrpSpPr>
        <p:grpSpPr>
          <a:xfrm>
            <a:off x="6456998" y="1548765"/>
            <a:ext cx="2747010" cy="1682115"/>
            <a:chOff x="6456998" y="1548765"/>
            <a:chExt cx="2747010" cy="1682115"/>
          </a:xfrm>
        </p:grpSpPr>
        <p:sp>
          <p:nvSpPr>
            <p:cNvPr id="17" name="TextBox 17"/>
            <p:cNvSpPr txBox="1"/>
            <p:nvPr/>
          </p:nvSpPr>
          <p:spPr>
            <a:xfrm>
              <a:off x="6456998" y="15487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源课件列出的四个主要操作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464617" y="188976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6467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65608" y="190309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遍历（先根、后根、层次）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464617" y="22345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26467" y="22768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65608" y="22479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搜索父结点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464617" y="257937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26467" y="26216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65608" y="25927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搜索指定数据域的结点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4617" y="292417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26467" y="29664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65608" y="293751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删除以给定结点为根的子树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464618" y="3362325"/>
            <a:ext cx="5193982" cy="1986915"/>
            <a:chOff x="6464618" y="3362325"/>
            <a:chExt cx="5193982" cy="1986915"/>
          </a:xfrm>
        </p:grpSpPr>
        <p:sp>
          <p:nvSpPr>
            <p:cNvPr id="31" name="Rectangle 31"/>
            <p:cNvSpPr/>
            <p:nvPr/>
          </p:nvSpPr>
          <p:spPr>
            <a:xfrm>
              <a:off x="6464618" y="3362325"/>
              <a:ext cx="5193982" cy="1986915"/>
            </a:xfrm>
            <a:prstGeom prst="roundRect">
              <a:avLst>
                <a:gd name="adj" fmla="val 671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74168" y="357187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6476" y="3607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递归套路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79883" y="401193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37998" y="394906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先对当前结点 t 做该做的事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79883" y="43472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37998" y="4284345"/>
              <a:ext cx="3968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再用 `for (p = t-&gt;FirstChild; p != NULL; p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p-&gt;NextBrother)` 沿兄弟链走一遍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79883" y="49682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37998" y="4905375"/>
              <a:ext cx="4306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对每个 p 递归，把“子树”这件事交给同一个函数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464618" y="5539740"/>
            <a:ext cx="5193982" cy="782955"/>
            <a:chOff x="6464618" y="5539740"/>
            <a:chExt cx="5193982" cy="782955"/>
          </a:xfrm>
        </p:grpSpPr>
        <p:sp>
          <p:nvSpPr>
            <p:cNvPr id="41" name="Rectangle 41"/>
            <p:cNvSpPr/>
            <p:nvPr/>
          </p:nvSpPr>
          <p:spPr>
            <a:xfrm>
              <a:off x="6464618" y="553974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669405" y="5831205"/>
              <a:ext cx="200026" cy="200025"/>
              <a:chOff x="6669405" y="583120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669405" y="58312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09144" y="58756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43859" y="59867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971348" y="568833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只要写成这个形状，函数就一定访问到每个结点恰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好一次，时间是 O(n)。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树上的基本操作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先根遍历：访问根，再沿兄弟链递归每棵子树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1948815"/>
            <a:chOff x="533400" y="1524000"/>
            <a:chExt cx="5842635" cy="19488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48815"/>
            </a:xfrm>
            <a:prstGeom prst="roundRect">
              <a:avLst>
                <a:gd name="adj" fmla="val 48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56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先根遍历以 t 为根的树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792601" cy="1453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PreOrder(TreeNode *t)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visit(t-&gt;data);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访问 t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t-&gt;FirstChild;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找 t 的第一个孩子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先根遍历 t 的各子树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PreOrder(p);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p-&gt;NextBrother;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令 p 指向下一个兄弟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648075"/>
            <a:ext cx="5842635" cy="828675"/>
            <a:chOff x="533400" y="3648075"/>
            <a:chExt cx="5842635" cy="828675"/>
          </a:xfrm>
        </p:grpSpPr>
        <p:sp>
          <p:nvSpPr>
            <p:cNvPr id="11" name="Rectangle 11"/>
            <p:cNvSpPr/>
            <p:nvPr/>
          </p:nvSpPr>
          <p:spPr>
            <a:xfrm>
              <a:off x="533400" y="3648075"/>
              <a:ext cx="5842635" cy="828675"/>
            </a:xfrm>
            <a:prstGeom prst="roundRect">
              <a:avLst>
                <a:gd name="adj" fmla="val 1149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799999"/>
              <a:ext cx="20218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中间那段 while 可以压成一行 for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4059269"/>
              <a:ext cx="3943477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(TreeNode *p = t-&gt;FirstChild; p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p = p-&gt;NextBrother)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PreOrder(p);</a:t>
              </a:r>
            </a:p>
          </p:txBody>
        </p:sp>
      </p:grpSp>
      <p:grpSp>
        <p:nvGrpSpPr>
          <p:cNvPr id="20" name="c1-callout-3"/>
          <p:cNvGrpSpPr/>
          <p:nvPr/>
        </p:nvGrpSpPr>
        <p:grpSpPr>
          <a:xfrm>
            <a:off x="533400" y="4651058"/>
            <a:ext cx="5842635" cy="999172"/>
            <a:chOff x="533400" y="4651058"/>
            <a:chExt cx="5842635" cy="999172"/>
          </a:xfrm>
        </p:grpSpPr>
        <p:sp>
          <p:nvSpPr>
            <p:cNvPr id="15" name="Rectangle 15"/>
            <p:cNvSpPr/>
            <p:nvPr/>
          </p:nvSpPr>
          <p:spPr>
            <a:xfrm>
              <a:off x="533400" y="4651058"/>
              <a:ext cx="5842635" cy="999172"/>
            </a:xfrm>
            <a:prstGeom prst="roundRect">
              <a:avLst>
                <a:gd name="adj" fmla="val 1143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051108"/>
              <a:ext cx="200026" cy="200026"/>
              <a:chOff x="738188" y="5051108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0511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4863" y="51288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4932045"/>
              <a:ext cx="4783455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，每个结点访问一次、每条兄弟链走一遍；空间是递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归栈 O(h)，h 是树的高度。</a:t>
              </a:r>
            </a:p>
          </p:txBody>
        </p:sp>
      </p:grpSp>
      <p:grpSp>
        <p:nvGrpSpPr>
          <p:cNvPr id="38" name="c2-graph-1"/>
          <p:cNvGrpSpPr/>
          <p:nvPr/>
        </p:nvGrpSpPr>
        <p:grpSpPr>
          <a:xfrm>
            <a:off x="7334250" y="1608772"/>
            <a:ext cx="3670935" cy="1392556"/>
            <a:chOff x="7334250" y="1608772"/>
            <a:chExt cx="3670935" cy="1392556"/>
          </a:xfrm>
        </p:grpSpPr>
        <p:sp>
          <p:nvSpPr>
            <p:cNvPr id="21" name="Freeform 21"/>
            <p:cNvSpPr/>
            <p:nvPr/>
          </p:nvSpPr>
          <p:spPr>
            <a:xfrm>
              <a:off x="7621905" y="1799272"/>
              <a:ext cx="1403032" cy="465773"/>
            </a:xfrm>
            <a:custGeom>
              <a:avLst/>
              <a:gdLst/>
              <a:ahLst/>
              <a:cxnLst/>
              <a:rect l="l" t="t" r="r" b="b"/>
              <a:pathLst>
                <a:path w="1403032" h="465773">
                  <a:moveTo>
                    <a:pt x="1403032" y="0"/>
                  </a:moveTo>
                  <a:lnTo>
                    <a:pt x="0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169718" y="1904048"/>
              <a:ext cx="9525" cy="256223"/>
            </a:xfrm>
            <a:custGeom>
              <a:avLst/>
              <a:gdLst/>
              <a:ahLst/>
              <a:cxnLst/>
              <a:rect l="l" t="t" r="r" b="b"/>
              <a:pathLst>
                <a:path w="9525" h="256223">
                  <a:moveTo>
                    <a:pt x="0" y="0"/>
                  </a:moveTo>
                  <a:lnTo>
                    <a:pt x="0" y="2562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314498" y="1799272"/>
              <a:ext cx="1403033" cy="465773"/>
            </a:xfrm>
            <a:custGeom>
              <a:avLst/>
              <a:gdLst/>
              <a:ahLst/>
              <a:cxnLst/>
              <a:rect l="l" t="t" r="r" b="b"/>
              <a:pathLst>
                <a:path w="1403033" h="465773">
                  <a:moveTo>
                    <a:pt x="0" y="0"/>
                  </a:moveTo>
                  <a:lnTo>
                    <a:pt x="1403033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499158" y="2399348"/>
              <a:ext cx="544830" cy="373380"/>
            </a:xfrm>
            <a:custGeom>
              <a:avLst/>
              <a:gdLst/>
              <a:ahLst/>
              <a:cxnLst/>
              <a:rect l="l" t="t" r="r" b="b"/>
              <a:pathLst>
                <a:path w="544830" h="373380">
                  <a:moveTo>
                    <a:pt x="544830" y="0"/>
                  </a:moveTo>
                  <a:lnTo>
                    <a:pt x="0" y="3733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295448" y="2399348"/>
              <a:ext cx="544830" cy="373380"/>
            </a:xfrm>
            <a:custGeom>
              <a:avLst/>
              <a:gdLst/>
              <a:ahLst/>
              <a:cxnLst/>
              <a:rect l="l" t="t" r="r" b="b"/>
              <a:pathLst>
                <a:path w="544830" h="373380">
                  <a:moveTo>
                    <a:pt x="0" y="0"/>
                  </a:moveTo>
                  <a:lnTo>
                    <a:pt x="544830" y="3733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026842" y="1608772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7334250" y="21697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026842" y="21697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719435" y="21697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230552" y="27155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9823132" y="27155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21258" y="168592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28666" y="224694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21258" y="224694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13851" y="224694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4968" y="2793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17548" y="27936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6680835" y="3215640"/>
            <a:ext cx="4977765" cy="2434590"/>
            <a:chOff x="6680835" y="3215640"/>
            <a:chExt cx="4977765" cy="2434590"/>
          </a:xfrm>
        </p:grpSpPr>
        <p:sp>
          <p:nvSpPr>
            <p:cNvPr id="39" name="Rectangle 39"/>
            <p:cNvSpPr/>
            <p:nvPr/>
          </p:nvSpPr>
          <p:spPr>
            <a:xfrm>
              <a:off x="6680835" y="3215640"/>
              <a:ext cx="497776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71118" y="33399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15083" y="33399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05822" y="333994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之后沿兄弟链走到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80848" y="3745706"/>
              <a:ext cx="1019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PreOrder(A)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73440" y="374570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69730" y="3745706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→ C → D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402240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0835" y="402717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80848" y="4151471"/>
              <a:ext cx="1019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PreOrder(B)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73440" y="415147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69730" y="415147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无孩子，返回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44281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0848" y="4557236"/>
              <a:ext cx="1019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PreOrder(C)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73440" y="455723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69730" y="4557236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F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80835" y="48339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80835" y="483870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80848" y="4963001"/>
              <a:ext cx="14463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PreOrder(E)、(F)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73440" y="4963001"/>
              <a:ext cx="3374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E、F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69730" y="496300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都无孩子，依次返回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80835" y="52397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80848" y="5368766"/>
              <a:ext cx="1019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PreOrder(D)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73440" y="536876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69730" y="53687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无孩子，返回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80835" y="3215640"/>
              <a:ext cx="497776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368665" y="321564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164955" y="321564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8" name="Rectangle 6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892" y="6023610"/>
              <a:ext cx="886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先根遍历序列 A B C E F D。把 visit 挪到 while 循环之后，同一段代码就变成后根遍历，序列是 B E F C D A。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55057" cy="909257"/>
            <a:chOff x="520446" y="342900"/>
            <a:chExt cx="9055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树上的基本操作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55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按值查找：在以 t 为根的树中找数据值等于 target 的结点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268855"/>
            <a:chOff x="533400" y="1524000"/>
            <a:chExt cx="6059805" cy="2268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268855"/>
            </a:xfrm>
            <a:prstGeom prst="roundRect">
              <a:avLst>
                <a:gd name="adj" fmla="val 41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453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FindTarget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4334637" cy="1773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TreeNode *FindTarget(TreeNode *t,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树空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(t-&gt;data == target)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t;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t 即为所求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t-&gt;FirstChild;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指向 t 的第一个孩子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TreeNode *ans = FindTarget(p, target);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在子树 p 中找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(ans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ans;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找到就一路返回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p-&gt;NextBrother;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否则到下棵子树里找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整棵树中未找到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968115"/>
            <a:ext cx="6059805" cy="2373630"/>
            <a:chOff x="533400" y="3968115"/>
            <a:chExt cx="6059805" cy="2373630"/>
          </a:xfrm>
        </p:grpSpPr>
        <p:sp>
          <p:nvSpPr>
            <p:cNvPr id="11" name="Rectangle 11"/>
            <p:cNvSpPr/>
            <p:nvPr/>
          </p:nvSpPr>
          <p:spPr>
            <a:xfrm>
              <a:off x="533400" y="3968115"/>
              <a:ext cx="6059805" cy="2373630"/>
            </a:xfrm>
            <a:prstGeom prst="roundRect">
              <a:avLst>
                <a:gd name="adj" fmla="val 56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101465"/>
              <a:ext cx="47625" cy="21069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41605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9343" y="41948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复杂度与前提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4516755"/>
              <a:ext cx="5446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时间最坏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。前提是树上的数据没有任何顺序，只能逐个比较。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48758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481965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目标不存在时必须看遍全部结点，这就是最坏情形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51777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5121592"/>
              <a:ext cx="4966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结点按次序排好后（第 23、24 讲的查找树）才降到 O(log n)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54806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542448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返回的是结点指针而不是下标，调用方拿到后可以直接继续操作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898005" y="1524000"/>
            <a:ext cx="4760595" cy="1483995"/>
            <a:chOff x="6898005" y="1524000"/>
            <a:chExt cx="4760595" cy="1483995"/>
          </a:xfrm>
        </p:grpSpPr>
        <p:sp>
          <p:nvSpPr>
            <p:cNvPr id="23" name="Rectangle 23"/>
            <p:cNvSpPr/>
            <p:nvPr/>
          </p:nvSpPr>
          <p:spPr>
            <a:xfrm>
              <a:off x="6898005" y="1524000"/>
              <a:ext cx="476059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07530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28510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23951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8852" y="1756410"/>
              <a:ext cx="1275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在这棵树里找 F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21652" y="2090738"/>
              <a:ext cx="4128087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依次比较的结点是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B C E F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，共 5 次。A、B 不等就进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 B 的子树（空），再回到 C；C 不等进入它的孩子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E，E 不等再走兄弟链到 F，命中返回。</a:t>
              </a:r>
            </a:p>
          </p:txBody>
        </p:sp>
      </p:grpSp>
      <p:grpSp>
        <p:nvGrpSpPr>
          <p:cNvPr id="47" name="c2-graph-2"/>
          <p:cNvGrpSpPr/>
          <p:nvPr/>
        </p:nvGrpSpPr>
        <p:grpSpPr>
          <a:xfrm>
            <a:off x="7516178" y="3268028"/>
            <a:ext cx="3523297" cy="1392554"/>
            <a:chOff x="7516178" y="3268028"/>
            <a:chExt cx="3523297" cy="1392554"/>
          </a:xfrm>
        </p:grpSpPr>
        <p:sp>
          <p:nvSpPr>
            <p:cNvPr id="30" name="Freeform 30"/>
            <p:cNvSpPr/>
            <p:nvPr/>
          </p:nvSpPr>
          <p:spPr>
            <a:xfrm>
              <a:off x="7803832" y="3460432"/>
              <a:ext cx="1330643" cy="461010"/>
            </a:xfrm>
            <a:custGeom>
              <a:avLst/>
              <a:gdLst/>
              <a:ahLst/>
              <a:cxnLst/>
              <a:rect l="l" t="t" r="r" b="b"/>
              <a:pathLst>
                <a:path w="1330643" h="461010">
                  <a:moveTo>
                    <a:pt x="1330643" y="0"/>
                  </a:moveTo>
                  <a:lnTo>
                    <a:pt x="0" y="4610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278302" y="3563302"/>
              <a:ext cx="9525" cy="256222"/>
            </a:xfrm>
            <a:custGeom>
              <a:avLst/>
              <a:gdLst/>
              <a:ahLst/>
              <a:cxnLst/>
              <a:rect l="l" t="t" r="r" b="b"/>
              <a:pathLst>
                <a:path w="9525" h="256222">
                  <a:moveTo>
                    <a:pt x="0" y="0"/>
                  </a:moveTo>
                  <a:lnTo>
                    <a:pt x="0" y="2562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422130" y="3460432"/>
              <a:ext cx="1330643" cy="461010"/>
            </a:xfrm>
            <a:custGeom>
              <a:avLst/>
              <a:gdLst/>
              <a:ahLst/>
              <a:cxnLst/>
              <a:rect l="l" t="t" r="r" b="b"/>
              <a:pathLst>
                <a:path w="1330643" h="461010">
                  <a:moveTo>
                    <a:pt x="0" y="0"/>
                  </a:moveTo>
                  <a:lnTo>
                    <a:pt x="1330643" y="4610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640128" y="4060508"/>
              <a:ext cx="514350" cy="368617"/>
            </a:xfrm>
            <a:custGeom>
              <a:avLst/>
              <a:gdLst/>
              <a:ahLst/>
              <a:cxnLst/>
              <a:rect l="l" t="t" r="r" b="b"/>
              <a:pathLst>
                <a:path w="514350" h="368617">
                  <a:moveTo>
                    <a:pt x="514350" y="0"/>
                  </a:moveTo>
                  <a:lnTo>
                    <a:pt x="0" y="3686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402128" y="4060508"/>
              <a:ext cx="514350" cy="368617"/>
            </a:xfrm>
            <a:custGeom>
              <a:avLst/>
              <a:gdLst/>
              <a:ahLst/>
              <a:cxnLst/>
              <a:rect l="l" t="t" r="r" b="b"/>
              <a:pathLst>
                <a:path w="514350" h="368617">
                  <a:moveTo>
                    <a:pt x="0" y="0"/>
                  </a:moveTo>
                  <a:lnTo>
                    <a:pt x="514350" y="3686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135428" y="326802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516178" y="38290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135428" y="38290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753725" y="3829050"/>
              <a:ext cx="285750" cy="2857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373428" y="437483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897428" y="4374832"/>
              <a:ext cx="285750" cy="2857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29843" y="334518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10593" y="39062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29843" y="39062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48141" y="39062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7843" y="445293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91843" y="445293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898005" y="4874895"/>
            <a:ext cx="4760595" cy="1466850"/>
            <a:chOff x="6898005" y="4874895"/>
            <a:chExt cx="4760595" cy="1466850"/>
          </a:xfrm>
        </p:grpSpPr>
        <p:sp>
          <p:nvSpPr>
            <p:cNvPr id="48" name="Rectangle 48"/>
            <p:cNvSpPr/>
            <p:nvPr/>
          </p:nvSpPr>
          <p:spPr>
            <a:xfrm>
              <a:off x="6898005" y="4874895"/>
              <a:ext cx="476059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07530" y="500824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28510" y="50673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11949" y="51015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紧凑写法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21652" y="5424488"/>
              <a:ext cx="41542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把中间四行压成 `for (TreeNode *p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t-&gt;FirstChild; p; p = p-&gt;NextBrother)`，函数体只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 6 行，逻辑完全一样。灰色的 D 这次没被访问到。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55699" cy="909257"/>
            <a:chOff x="520446" y="342900"/>
            <a:chExt cx="79556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树上的基本操作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556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搜索父结点：谁的孩子链上挂着 p，谁就是 p 的父亲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264092"/>
            <a:chOff x="533400" y="1524000"/>
            <a:chExt cx="6059805" cy="2264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116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在以 t 为根的树中找 p 的父结点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801616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*FindFather(TreeNode *t, TreeNode *p)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|| p ==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|| p == t)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用 chd 循环访问 t 的每棵子树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(TreeNode *chd = t-&gt;FirstChild; chd; chd = chd-&gt;NextBrother)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(chd == p)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就挂在 t 的孩子链上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TreeNode *ans = FindFather(chd, p);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到子树 chd 里去找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(ans !=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整棵树里没有 p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978592"/>
            <a:ext cx="6059805" cy="1855470"/>
            <a:chOff x="533400" y="3978592"/>
            <a:chExt cx="6059805" cy="1855470"/>
          </a:xfrm>
        </p:grpSpPr>
        <p:sp>
          <p:nvSpPr>
            <p:cNvPr id="11" name="Rectangle 11"/>
            <p:cNvSpPr/>
            <p:nvPr/>
          </p:nvSpPr>
          <p:spPr>
            <a:xfrm>
              <a:off x="533400" y="3978592"/>
              <a:ext cx="6059805" cy="1855470"/>
            </a:xfrm>
            <a:prstGeom prst="roundRect">
              <a:avLst>
                <a:gd name="adj" fmla="val 61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4803576"/>
              <a:ext cx="224134" cy="192560"/>
              <a:chOff x="726129" y="4803576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48739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48035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49517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526280"/>
              <a:ext cx="51396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时间最坏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。左孩子-右兄弟结构没有父指针，只能从根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往下把每条孩子链都走一遍。若结构里存了 Father 指针，这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个操作才是 O(1)。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898005" y="1524000"/>
            <a:ext cx="4760595" cy="2232660"/>
            <a:chOff x="6898005" y="1524000"/>
            <a:chExt cx="4760595" cy="2232660"/>
          </a:xfrm>
        </p:grpSpPr>
        <p:sp>
          <p:nvSpPr>
            <p:cNvPr id="18" name="Rectangle 18"/>
            <p:cNvSpPr/>
            <p:nvPr/>
          </p:nvSpPr>
          <p:spPr>
            <a:xfrm>
              <a:off x="6898005" y="1524000"/>
              <a:ext cx="4760595" cy="2232660"/>
            </a:xfrm>
            <a:prstGeom prst="roundRect">
              <a:avLst>
                <a:gd name="adj" fmla="val 59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07555" y="1733550"/>
              <a:ext cx="2303145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32243" y="1769269"/>
              <a:ext cx="2253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 return NULL 分别挡住什么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07555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69404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08545" y="2110740"/>
              <a:ext cx="32060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`t == NULL`：树是空的，无从找起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107555" y="24326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69404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08545" y="2446020"/>
              <a:ext cx="26002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`p == NULL`：要找谁没说清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107555" y="27679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69404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08545" y="2781300"/>
              <a:ext cx="380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`p == t`：p 是整棵树的根，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根没有父结点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01078" y="3113246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第三条最容易漏。漏掉它，递归会一路走到底再返回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NULL，结果虽然对，但语义不清楚。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898005" y="3947160"/>
            <a:ext cx="4760595" cy="1887855"/>
            <a:chOff x="6898005" y="3947160"/>
            <a:chExt cx="4760595" cy="1887855"/>
          </a:xfrm>
        </p:grpSpPr>
        <p:sp>
          <p:nvSpPr>
            <p:cNvPr id="32" name="Rectangle 32"/>
            <p:cNvSpPr/>
            <p:nvPr/>
          </p:nvSpPr>
          <p:spPr>
            <a:xfrm>
              <a:off x="6898005" y="3947160"/>
              <a:ext cx="476059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07530" y="408051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45655" y="415671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06310" y="419242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判断相等用的是指针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38035" y="4533900"/>
              <a:ext cx="40728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代码里比的是 `chd == p`，比较的是地址而不是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data。同一个数据值可能出现在多个结点上，按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值比会找错人。调用方拿到的也应该是结点指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树上的基本操作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释放子树：先记住兄弟，再递归释放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005012"/>
            <a:chOff x="533400" y="1524000"/>
            <a:chExt cx="5626418" cy="20050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05012"/>
            </a:xfrm>
            <a:prstGeom prst="roundRect">
              <a:avLst>
                <a:gd name="adj" fmla="val 475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释放以 p 为根的子树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956431" cy="15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Del(TreeNode *p)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*child = p-&gt;FirstChild;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(child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从左到右删除 p 的子树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TreeNode *next = child-&gt;NextBrother;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先存下兄弟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Del(child);     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child 这时已被释放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child = next;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free(p);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693795"/>
            <a:ext cx="5626418" cy="1107758"/>
            <a:chOff x="533400" y="3693795"/>
            <a:chExt cx="5626418" cy="1107758"/>
          </a:xfrm>
        </p:grpSpPr>
        <p:sp>
          <p:nvSpPr>
            <p:cNvPr id="11" name="Rectangle 11"/>
            <p:cNvSpPr/>
            <p:nvPr/>
          </p:nvSpPr>
          <p:spPr>
            <a:xfrm>
              <a:off x="533400" y="3693795"/>
              <a:ext cx="5626418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845719"/>
              <a:ext cx="10574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省掉 next 就错了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4104799"/>
              <a:ext cx="3175381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(child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Del(child);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child 已被释放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child = child-&gt;NextBrother;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读已释放的内存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llout-3"/>
          <p:cNvGrpSpPr/>
          <p:nvPr/>
        </p:nvGrpSpPr>
        <p:grpSpPr>
          <a:xfrm>
            <a:off x="533400" y="4966335"/>
            <a:ext cx="5626418" cy="1175385"/>
            <a:chOff x="533400" y="4966335"/>
            <a:chExt cx="5626418" cy="1175385"/>
          </a:xfrm>
        </p:grpSpPr>
        <p:sp>
          <p:nvSpPr>
            <p:cNvPr id="15" name="Rectangle 15"/>
            <p:cNvSpPr/>
            <p:nvPr/>
          </p:nvSpPr>
          <p:spPr>
            <a:xfrm>
              <a:off x="533400" y="4966335"/>
              <a:ext cx="5626418" cy="1175385"/>
            </a:xfrm>
            <a:prstGeom prst="roundRect">
              <a:avLst>
                <a:gd name="adj" fmla="val 972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6129" y="5450323"/>
              <a:ext cx="224134" cy="192560"/>
              <a:chOff x="726129" y="5450323"/>
              <a:chExt cx="224134" cy="1925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8200" y="55206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26129" y="54503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55984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1273" y="5230654"/>
              <a:ext cx="47271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`Del(child)` 返回后 child 指向的内存已经还给系统，再去读它的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NextBrother 属于未定义行为，可能读到垃圾值，也可能当场崩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溃。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524000"/>
            <a:ext cx="5193982" cy="1160145"/>
            <a:chOff x="6464618" y="1524000"/>
            <a:chExt cx="5193982" cy="1160145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83692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0416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25843" y="1744504"/>
              <a:ext cx="14977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Del(A) 的释放次序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77216" y="206168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E F C D A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，正好是这棵树的后根次序。原因是 `free(p)` 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在循环之后，每个结点都等自己的全部子树释放完才轮到自己。</a:t>
              </a:r>
            </a:p>
          </p:txBody>
        </p:sp>
      </p:grpSp>
      <p:grpSp>
        <p:nvGrpSpPr>
          <p:cNvPr id="52" name="c2-graph-2"/>
          <p:cNvGrpSpPr/>
          <p:nvPr/>
        </p:nvGrpSpPr>
        <p:grpSpPr>
          <a:xfrm>
            <a:off x="7153275" y="2932748"/>
            <a:ext cx="3817620" cy="1561623"/>
            <a:chOff x="7153275" y="2932748"/>
            <a:chExt cx="3817620" cy="1561623"/>
          </a:xfrm>
        </p:grpSpPr>
        <p:sp>
          <p:nvSpPr>
            <p:cNvPr id="29" name="Freeform 29"/>
            <p:cNvSpPr/>
            <p:nvPr/>
          </p:nvSpPr>
          <p:spPr>
            <a:xfrm>
              <a:off x="7440930" y="3121342"/>
              <a:ext cx="1475422" cy="464820"/>
            </a:xfrm>
            <a:custGeom>
              <a:avLst/>
              <a:gdLst/>
              <a:ahLst/>
              <a:cxnLst/>
              <a:rect l="l" t="t" r="r" b="b"/>
              <a:pathLst>
                <a:path w="1475422" h="464820">
                  <a:moveTo>
                    <a:pt x="1475422" y="0"/>
                  </a:moveTo>
                  <a:lnTo>
                    <a:pt x="0" y="4648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062085" y="3228022"/>
              <a:ext cx="9525" cy="252412"/>
            </a:xfrm>
            <a:custGeom>
              <a:avLst/>
              <a:gdLst/>
              <a:ahLst/>
              <a:cxnLst/>
              <a:rect l="l" t="t" r="r" b="b"/>
              <a:pathLst>
                <a:path w="9525" h="252412">
                  <a:moveTo>
                    <a:pt x="0" y="0"/>
                  </a:moveTo>
                  <a:lnTo>
                    <a:pt x="0" y="2524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206865" y="3121342"/>
              <a:ext cx="1475422" cy="464820"/>
            </a:xfrm>
            <a:custGeom>
              <a:avLst/>
              <a:gdLst/>
              <a:ahLst/>
              <a:cxnLst/>
              <a:rect l="l" t="t" r="r" b="b"/>
              <a:pathLst>
                <a:path w="1475422" h="464820">
                  <a:moveTo>
                    <a:pt x="0" y="0"/>
                  </a:moveTo>
                  <a:lnTo>
                    <a:pt x="1475422" y="4648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360092" y="3713798"/>
              <a:ext cx="572452" cy="360045"/>
            </a:xfrm>
            <a:custGeom>
              <a:avLst/>
              <a:gdLst/>
              <a:ahLst/>
              <a:cxnLst/>
              <a:rect l="l" t="t" r="r" b="b"/>
              <a:pathLst>
                <a:path w="572452" h="360045">
                  <a:moveTo>
                    <a:pt x="572452" y="0"/>
                  </a:moveTo>
                  <a:lnTo>
                    <a:pt x="0" y="3600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190672" y="3713798"/>
              <a:ext cx="573405" cy="360045"/>
            </a:xfrm>
            <a:custGeom>
              <a:avLst/>
              <a:gdLst/>
              <a:ahLst/>
              <a:cxnLst/>
              <a:rect l="l" t="t" r="r" b="b"/>
              <a:pathLst>
                <a:path w="573405" h="360045">
                  <a:moveTo>
                    <a:pt x="0" y="0"/>
                  </a:moveTo>
                  <a:lnTo>
                    <a:pt x="573405" y="3600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8919210" y="293274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153275" y="348996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919210" y="348996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685145" y="348996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087678" y="40119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9749790" y="40119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16882" y="30151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26966" y="32532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50947" y="357139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61031" y="38104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16882" y="357139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26966" y="38104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82817" y="357139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92901" y="38104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85349" y="40943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95433" y="4332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47462" y="40943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57546" y="4332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58" name="c2-card-3"/>
          <p:cNvGrpSpPr/>
          <p:nvPr/>
        </p:nvGrpSpPr>
        <p:grpSpPr>
          <a:xfrm>
            <a:off x="6464618" y="4754880"/>
            <a:ext cx="5193982" cy="1386840"/>
            <a:chOff x="6464618" y="4754880"/>
            <a:chExt cx="5193982" cy="1386840"/>
          </a:xfrm>
        </p:grpSpPr>
        <p:sp>
          <p:nvSpPr>
            <p:cNvPr id="53" name="Rectangle 53"/>
            <p:cNvSpPr/>
            <p:nvPr/>
          </p:nvSpPr>
          <p:spPr>
            <a:xfrm>
              <a:off x="6464618" y="4754880"/>
              <a:ext cx="5193982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4142" y="488823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83692" y="493585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65163" y="496871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更正与说明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77216" y="5275421"/>
              <a:ext cx="45077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源课件写的是 `delete p`，那是 C++ 的写法。与结点用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`malloc` 申请相配套，这里写 `free(p)`。两者都只释放这一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个结点，子树必须自己递归处理。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树上的基本操作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删除子树：先找父亲，再把 p 从兄弟链上摘下来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901315"/>
            <a:chOff x="533400" y="1524000"/>
            <a:chExt cx="6059805" cy="29013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901315"/>
            </a:xfrm>
            <a:prstGeom prst="roundRect">
              <a:avLst>
                <a:gd name="adj" fmla="val 32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074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在以 t 为根的树中删除以 p 为根的子树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867912" cy="2405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DelSubTree(TreeNode *t, TreeNode *p)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|| p ==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t) { Del(t);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}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无父亲，直接删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*fa = FindFather(t, p);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 ==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不在这棵树里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(fa-&gt;FirstChild == p) {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是父亲的第一个孩子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fa-&gt;FirstChild = p-&gt;NextBrother;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Del(p);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*pre = fa-&gt;FirstChild;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否则先找 p 的左兄弟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(pre-&gt;NextBrother != p)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 = pre-&gt;NextBrother;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pre-&gt;NextBrother = p-&gt;NextBrother;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Del(p);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590098"/>
            <a:ext cx="6059805" cy="1610678"/>
            <a:chOff x="533400" y="4590098"/>
            <a:chExt cx="6059805" cy="1610678"/>
          </a:xfrm>
        </p:grpSpPr>
        <p:sp>
          <p:nvSpPr>
            <p:cNvPr id="11" name="Rectangle 11"/>
            <p:cNvSpPr/>
            <p:nvPr/>
          </p:nvSpPr>
          <p:spPr>
            <a:xfrm>
              <a:off x="533400" y="4590098"/>
              <a:ext cx="6059805" cy="1610678"/>
            </a:xfrm>
            <a:prstGeom prst="roundRect">
              <a:avLst>
                <a:gd name="adj" fmla="val 827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14375" y="477107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2996" y="480393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7898" y="5111591"/>
              <a:ext cx="539694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找父亲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，摘链 O(k)（k 是 p 在兄弟链中的位置），释放子树 O(子树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结点数)，合起来仍是 </a:t>
              </a:r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，其中找父亲占大头。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9041" y="5635942"/>
              <a:ext cx="3230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若调用方本来就握着父指针，整个操作降到 O(k)。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898005" y="1524000"/>
            <a:ext cx="4760595" cy="2111692"/>
            <a:chOff x="6898005" y="1524000"/>
            <a:chExt cx="4760595" cy="2111692"/>
          </a:xfrm>
        </p:grpSpPr>
        <p:sp>
          <p:nvSpPr>
            <p:cNvPr id="17" name="Rectangle 17"/>
            <p:cNvSpPr/>
            <p:nvPr/>
          </p:nvSpPr>
          <p:spPr>
            <a:xfrm>
              <a:off x="6898005" y="1524000"/>
              <a:ext cx="4760595" cy="2111692"/>
            </a:xfrm>
            <a:prstGeom prst="roundRect">
              <a:avLst>
                <a:gd name="adj" fmla="val 631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78980" y="170497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2348" y="17378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摘链分两种情况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078980" y="203358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30887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48728" y="2045494"/>
              <a:ext cx="3792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是 `fa-&gt;FirstChild`：把 fa 的 FirstChild 改指向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`p-&gt;NextBrother`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078980" y="25622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30887" y="25968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48728" y="2573179"/>
              <a:ext cx="32316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在兄弟链中间或末尾：找到左兄弟 pre，令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`pre-&gt;NextBrother = p-&gt;NextBrother`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73646" y="3097530"/>
              <a:ext cx="410451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两种情况都只改一个指针，摘链本身是 O(1)，代价全在找父亲和释放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子树上。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898005" y="3800475"/>
            <a:ext cx="4760595" cy="2400300"/>
            <a:chOff x="6898005" y="3800475"/>
            <a:chExt cx="4760595" cy="2400300"/>
          </a:xfrm>
        </p:grpSpPr>
        <p:sp>
          <p:nvSpPr>
            <p:cNvPr id="28" name="Rectangle 28"/>
            <p:cNvSpPr/>
            <p:nvPr/>
          </p:nvSpPr>
          <p:spPr>
            <a:xfrm>
              <a:off x="6898005" y="3800475"/>
              <a:ext cx="4760595" cy="24003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07530" y="3933825"/>
              <a:ext cx="47625" cy="21336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17080" y="3981450"/>
              <a:ext cx="167640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72944" y="4014311"/>
              <a:ext cx="1564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更正：源课件第 40 页两处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117080" y="431006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68987" y="434568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6828" y="4321016"/>
              <a:ext cx="389001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原写法 `if(p==t){Del(t); t=NULL; return;}` 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`t=NULL` 只改了形参这个副本，调用者手里的指针不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会变，仍指向已释放的内存。要么把参数写成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`TreeNode **t`，要么由调用者自己置空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117080" y="53235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68987" y="53591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6828" y="5335429"/>
              <a:ext cx="38087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原写法拿到 `fa` 后直接用 `fa-&gt;FirstChild`，而 p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不在树中时 FindFather 返回 NULL，这一行会解引用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空指针。上面的代码补了一句判断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树上的基本操作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层次遍历：所有树根先入队，出队时把孩子都挂上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268855"/>
            <a:chOff x="533400" y="1524000"/>
            <a:chExt cx="5410200" cy="2268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68855"/>
            </a:xfrm>
            <a:prstGeom prst="roundRect">
              <a:avLst>
                <a:gd name="adj" fmla="val 41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704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层次遍历森林，t 指向第一棵树的根结点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4312285" cy="1773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LevelOrder(TreeNode *t)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Queue Q;  TreeNode *p, *chd;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 t; p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p = p-&gt;NextBrother)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Enqueue(&amp;Q, p);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每棵树的根都入队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(!Empty(&amp;Q))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Dequeue(&amp;Q);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出队一个结点 p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visit(p-&gt;data);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访问 p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(chd = p-&gt;FirstChild; chd !=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chd = chd-&gt;NextBrother)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Enqueue(&amp;Q, chd);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的每个孩子都入队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3968115"/>
            <a:ext cx="5410200" cy="2276475"/>
            <a:chOff x="533400" y="3968115"/>
            <a:chExt cx="5410200" cy="2276475"/>
          </a:xfrm>
        </p:grpSpPr>
        <p:sp>
          <p:nvSpPr>
            <p:cNvPr id="11" name="Rectangle 11"/>
            <p:cNvSpPr/>
            <p:nvPr/>
          </p:nvSpPr>
          <p:spPr>
            <a:xfrm>
              <a:off x="533400" y="3968115"/>
              <a:ext cx="5410200" cy="2276475"/>
            </a:xfrm>
            <a:prstGeom prst="roundRect">
              <a:avLst>
                <a:gd name="adj" fmla="val 58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101465"/>
              <a:ext cx="47625" cy="20097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41605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5345" y="41948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4516755"/>
              <a:ext cx="47628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42 页写的是 `visit(p-data)`，少了一个 `&gt;`，应为</a:t>
              </a:r>
              <a:br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p-&gt;data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。队列的入队出队本讲义按第 4 讲的写法改成了函数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调用形式。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243066" y="1524000"/>
            <a:ext cx="5415534" cy="3120009"/>
            <a:chOff x="6243066" y="1524000"/>
            <a:chExt cx="5415534" cy="3120009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1535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出队并访问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6790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入队的孩子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23399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队列里剩下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48412" y="20540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46670" y="2054066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53512" y="2054066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G B C 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8412" y="24598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46670" y="24598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53512" y="2459831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B C D F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8412" y="28655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46670" y="2865596"/>
              <a:ext cx="194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53512" y="2865596"/>
              <a:ext cx="736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D F H 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8412" y="3271361"/>
              <a:ext cx="1074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B、C、D、F、H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46670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53512" y="3271361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8412" y="3677126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46670" y="36771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53512" y="36771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412" y="40828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46670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53512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4189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94873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43066" y="4438650"/>
              <a:ext cx="40274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访问次序 A E G B C D F H I J，与第 30 页按层数出来的序列一致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4777740"/>
            <a:ext cx="5410200" cy="1466850"/>
            <a:chOff x="6248400" y="4777740"/>
            <a:chExt cx="5410200" cy="1466850"/>
          </a:xfrm>
        </p:grpSpPr>
        <p:sp>
          <p:nvSpPr>
            <p:cNvPr id="52" name="Rectangle 52"/>
            <p:cNvSpPr/>
            <p:nvPr/>
          </p:nvSpPr>
          <p:spPr>
            <a:xfrm>
              <a:off x="6248400" y="477774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40805" y="497014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28245" y="50044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33947" y="5327333"/>
              <a:ext cx="478517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，每个结点入队一次、出队一次。空间是队列的最大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长度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O(w)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，w 是最宽一层的结点数。本例 w = 6，实测队列最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长就是 6。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05711" cy="909257"/>
            <a:chOff x="520446" y="342900"/>
            <a:chExt cx="72057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 · 树上的基本操作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057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六个算法的时间都是 O(n)，差别在空间和常数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6276022" cy="3865245"/>
            <a:chOff x="533400" y="1524000"/>
            <a:chExt cx="6276022" cy="38652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632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598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89923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93932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这个结论的前提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191702"/>
              <a:ext cx="803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PreOrder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19872" y="219170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98076" y="219170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27742" y="2085022"/>
              <a:ext cx="2450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每个结点访问一次，每条兄弟链走一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927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97468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835592"/>
              <a:ext cx="912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FindTarget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19872" y="283559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98076" y="283559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27742" y="2728912"/>
              <a:ext cx="2450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最坏情形是目标不存在，要看遍全部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2365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372802"/>
              <a:ext cx="912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FindFather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19872" y="337280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98076" y="337280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27742" y="3372802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结构里没有父指针，只能从根往下找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661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70935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909060"/>
              <a:ext cx="254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19872" y="3909060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O(k)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98076" y="3909060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27742" y="3802380"/>
              <a:ext cx="24277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是被释放子树的结点数，不是整棵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 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3100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4446270"/>
              <a:ext cx="9178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DelSubTree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19872" y="4446270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98076" y="4446270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27742" y="4446270"/>
              <a:ext cx="274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找父亲 O(n) 占大头，摘链只要 O(1)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7405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745355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8746" y="4982528"/>
              <a:ext cx="9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LevelOrder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19872" y="4982528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98076" y="4982528"/>
              <a:ext cx="444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O(w)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27742" y="4875848"/>
              <a:ext cx="24582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是最宽一层的结点数，队列最长就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w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6276022" cy="38642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909762" y="1524000"/>
              <a:ext cx="9525" cy="38642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787968" y="1524000"/>
              <a:ext cx="9525" cy="38642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917632" y="1524000"/>
              <a:ext cx="9525" cy="38642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1-callout-2"/>
          <p:cNvGrpSpPr/>
          <p:nvPr/>
        </p:nvGrpSpPr>
        <p:grpSpPr>
          <a:xfrm>
            <a:off x="533400" y="5574030"/>
            <a:ext cx="6276022" cy="756285"/>
            <a:chOff x="533400" y="5574030"/>
            <a:chExt cx="6276022" cy="756285"/>
          </a:xfrm>
        </p:grpSpPr>
        <p:sp>
          <p:nvSpPr>
            <p:cNvPr id="49" name="Rectangle 49"/>
            <p:cNvSpPr/>
            <p:nvPr/>
          </p:nvSpPr>
          <p:spPr>
            <a:xfrm>
              <a:off x="533400" y="5574030"/>
              <a:ext cx="627602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852160"/>
              <a:ext cx="200026" cy="200026"/>
              <a:chOff x="738188" y="5852160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8521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59188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59521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5721191"/>
              <a:ext cx="515416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是树的高度，w 是最宽一层的结点数，都满足 h ≤ n 且 w ≤ n。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链状的树 h = n，扁平的树 w = n − 1。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7114222" y="1524000"/>
            <a:ext cx="4544378" cy="1817370"/>
            <a:chOff x="7114222" y="1524000"/>
            <a:chExt cx="4544378" cy="1817370"/>
          </a:xfrm>
        </p:grpSpPr>
        <p:sp>
          <p:nvSpPr>
            <p:cNvPr id="56" name="Rectangle 56"/>
            <p:cNvSpPr/>
            <p:nvPr/>
          </p:nvSpPr>
          <p:spPr>
            <a:xfrm>
              <a:off x="7114222" y="1524000"/>
              <a:ext cx="4544378" cy="1817370"/>
            </a:xfrm>
            <a:prstGeom prst="roundRect">
              <a:avLst>
                <a:gd name="adj" fmla="val 733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18058" y="1727835"/>
              <a:ext cx="1323975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77623" y="1763554"/>
              <a:ext cx="12048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为什么都是 O(n)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10818" y="2100739"/>
              <a:ext cx="3900805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这些算法都只沿两种指针移动：FirstChild 向下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一步，NextBrother 向右一步。整棵树一共只有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− 1 条这样的边，每条最多被走一次，所以总步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数是 O(n)。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7114222" y="3527108"/>
            <a:ext cx="4544378" cy="2803208"/>
            <a:chOff x="7114222" y="3527108"/>
            <a:chExt cx="4544378" cy="2803208"/>
          </a:xfrm>
        </p:grpSpPr>
        <p:sp>
          <p:nvSpPr>
            <p:cNvPr id="61" name="Rectangle 61"/>
            <p:cNvSpPr/>
            <p:nvPr/>
          </p:nvSpPr>
          <p:spPr>
            <a:xfrm>
              <a:off x="7114222" y="3527108"/>
              <a:ext cx="4544378" cy="2803208"/>
            </a:xfrm>
            <a:prstGeom prst="roundRect">
              <a:avLst>
                <a:gd name="adj" fmla="val 4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23748" y="3660458"/>
              <a:ext cx="47625" cy="25365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356158" y="373094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24712" y="37666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容易说错的前提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363777" y="416433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20368" y="4103846"/>
              <a:ext cx="37475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“找父亲 O(1)”只在 Father 链接或带父下标的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结构里成立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363777" y="475583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20368" y="4695349"/>
              <a:ext cx="40169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递归的空间是 O(h) 不是 O(1)，深树可能爆栈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363777" y="507587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20368" y="5015389"/>
              <a:ext cx="36483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DelSubTree 里的 O(n) 来自 FindFather；若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调用方已经知道父指针，它降到 O(子结点数)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42644" cy="909257"/>
            <a:chOff x="520446" y="342900"/>
            <a:chExt cx="1342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528094" cy="264033"/>
            <a:chOff x="526542" y="1545907"/>
            <a:chExt cx="852809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52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先自己写出答案再看解答。另外自问两题：树为什么没有中根遍历？空指针恒为 n + 1 个是怎么数出来的？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000250"/>
            <a:chOff x="533400" y="1928812"/>
            <a:chExt cx="3505200" cy="2000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953655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 A 的孩子依次是 B、C、D，C 的孩子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E、F。转成二叉树后 C 的左右孩子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各是谁？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273742"/>
              <a:ext cx="28769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左孩子 E（C 的第一个孩子），右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 D（C 的右兄弟）。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98608"/>
            <a:ext cx="3505200" cy="2257425"/>
            <a:chOff x="533400" y="4098608"/>
            <a:chExt cx="3505200" cy="2257425"/>
          </a:xfrm>
        </p:grpSpPr>
        <p:sp>
          <p:nvSpPr>
            <p:cNvPr id="15" name="Rectangle 15"/>
            <p:cNvSpPr/>
            <p:nvPr/>
          </p:nvSpPr>
          <p:spPr>
            <a:xfrm>
              <a:off x="53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630102"/>
              <a:ext cx="270162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只给出先根序列 A B C，能确定树形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吗？补上什么才能确定？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187315"/>
              <a:ext cx="28512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不能。A 带两个孩子，和 A→B→C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一条链，先根序列都是 A B C。补上度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 2 0 0 与 1 1 0 才唯一。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257425"/>
            <a:chOff x="4343400" y="1928812"/>
            <a:chExt cx="3505200" cy="22574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一棵二叉树什么时候能还原成一棵树，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什么时候还原成森林？森林里有几棵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3273742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根的右子树为空时还原成一棵树，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不为空时还原成森林。树的棵数等于根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那条右链上的结点数。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355782"/>
            <a:ext cx="3505200" cy="2000250"/>
            <a:chOff x="4343400" y="4355782"/>
            <a:chExt cx="35052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434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887278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双亲表示法和孩子表示法各自哪个操作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O(1)？前提是什么？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5444490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双亲表示法找父亲 O(1)，孩子表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示法找孩子 O(1)。前提都是已知该结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点的数组下标，元素定长可随机访问。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257425"/>
            <a:chOff x="8153400" y="1928812"/>
            <a:chExt cx="3505200" cy="22574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森林的后根序列等于对应二叉树的哪种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序列？为什么不是后根序列？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016568"/>
              <a:ext cx="291979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等于中根序列。中根 = 后根(诸子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树) + 根 + 后根(其余树)，正好是森林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后根的三步；二叉树的后根把根放最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后，对不上。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355782"/>
            <a:ext cx="3505200" cy="2000250"/>
            <a:chOff x="8153400" y="4355782"/>
            <a:chExt cx="3505200" cy="2000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887278"/>
              <a:ext cx="30089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个结点用左孩子-右兄弟存储，空指针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有多少个？怎么数出来的？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444490"/>
              <a:ext cx="29712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+ 1 个。共 2n 个指针，非空的恰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好对应二叉树的 n − 1 条边，2n − (n −</a:t>
              </a:r>
            </a:p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 = n + 1。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第10讲 树的存储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434590"/>
            <a:chOff x="533400" y="1524000"/>
            <a:chExt cx="5842635" cy="2434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795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9926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 ⇔ 二叉树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5493" y="205406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左孩子仍是左孩子，右兄弟变右孩子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 ⇔ 二叉树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35493" y="2459831"/>
              <a:ext cx="2597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一一对应；树的棵数 = 根的右链结点数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35493" y="2865596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双亲 / 孩子表示法；遍历序列 + 结点度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链接存储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5493" y="3271361"/>
              <a:ext cx="2405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Father、孩子链表、左孩子-右兄弟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遍历对应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35493" y="3677126"/>
              <a:ext cx="3222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森林先根 = 二叉树先根；森林后根 = 二叉树中根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3071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4133850"/>
            <a:ext cx="5842635" cy="1557338"/>
            <a:chOff x="533400" y="4133850"/>
            <a:chExt cx="5842635" cy="1557338"/>
          </a:xfrm>
        </p:grpSpPr>
        <p:sp>
          <p:nvSpPr>
            <p:cNvPr id="29" name="Rectangle 29"/>
            <p:cNvSpPr/>
            <p:nvPr/>
          </p:nvSpPr>
          <p:spPr>
            <a:xfrm>
              <a:off x="533400" y="4133850"/>
              <a:ext cx="5842635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26720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4326255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1339" y="436054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2478" y="47386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497" y="4682490"/>
              <a:ext cx="3356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42 页 `visit(p-data)` 应为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p-&gt;data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2478" y="504158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497" y="4985385"/>
              <a:ext cx="5430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40 页 `t = NULL` 改不到调用者，FindFather 还可能返回 NULL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2478" y="53435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8497" y="5287328"/>
              <a:ext cx="45962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8 页的“右子树”指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根结点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的；方法 1 的虚根 R 要去掉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680835" y="1534478"/>
            <a:ext cx="4474464" cy="1520380"/>
            <a:chOff x="6680835" y="1534478"/>
            <a:chExt cx="4474464" cy="1520380"/>
          </a:xfrm>
        </p:grpSpPr>
        <p:sp>
          <p:nvSpPr>
            <p:cNvPr id="40" name="Ellipse 40"/>
            <p:cNvSpPr/>
            <p:nvPr/>
          </p:nvSpPr>
          <p:spPr>
            <a:xfrm>
              <a:off x="6680835" y="153447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6513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61632" y="1545907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拿到一棵树先问要找父亲还是找孩子，再挑存储结构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0835" y="1844993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6513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61632" y="185737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转换只有两句话：左孩子仍是孩子，右孩子是兄弟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0835" y="215646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6513" y="21948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61632" y="216884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遍历序列单独给不能定树形，必须配上结点度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0835" y="246792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6513" y="25063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61632" y="247935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先根从右往左还原，后根从左往右还原，方向别记反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0835" y="277844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6513" y="28177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61632" y="2790825"/>
              <a:ext cx="3848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树上的算法都是“先处理自己，再沿兄弟链递归”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680835" y="3176588"/>
            <a:ext cx="4977765" cy="2513648"/>
            <a:chOff x="6680835" y="3176588"/>
            <a:chExt cx="4977765" cy="2513648"/>
          </a:xfrm>
        </p:grpSpPr>
        <p:sp>
          <p:nvSpPr>
            <p:cNvPr id="56" name="Rectangle 56"/>
            <p:cNvSpPr/>
            <p:nvPr/>
          </p:nvSpPr>
          <p:spPr>
            <a:xfrm>
              <a:off x="6680835" y="3176588"/>
              <a:ext cx="4977765" cy="2513648"/>
            </a:xfrm>
            <a:prstGeom prst="roundRect">
              <a:avLst>
                <a:gd name="adj" fmla="val 530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73240" y="336899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56679" y="34032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81812" y="378237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37832" y="3726180"/>
              <a:ext cx="41542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画一棵 6 结点的树，不看讲义写出它的二叉树，再写出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四种存储结构的数组或链接图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81812" y="434149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37832" y="428529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把先根、后根、层次三种序列连同结点度各写一遍，再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互相还原一次，对上就算过关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4" name="Rectangle 6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3610"/>
              <a:ext cx="8023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下一讲是树和二叉树的应用，Huffman 树与 Huffman 编码会直接用到本讲的存储结构和遍历次序。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第10讲 树的存储和操作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10">
  <a:themeElements>
    <a:clrScheme name="ds_l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1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2026-09-19T12:46:36Z</dcterms:created>
  <dcterms:modified xsi:type="dcterms:W3CDTF">2026-09-19T12:46:36Z</dcterms:modified>
  <cp:category/>
  <cp:contentStatus/>
</cp:coreProperties>
</file>