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_l17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_l17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bb16efb2be8fea4c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1caaf244647af323.png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8349d9e58793bbfb.png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632198" cy="3437763"/>
            <a:chOff x="666750" y="1619250"/>
            <a:chExt cx="4632198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61734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2921" y="1718310"/>
              <a:ext cx="13631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数据结构 · 第17讲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399592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平方阶排序算法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62229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插入、冒泡、选择与希尔排序的过程和代价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排序问题与度量指标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三种平方阶算法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稳定性怎么判断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希尔排序与增量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229995" cy="205359"/>
            <a:chOff x="680466" y="6192202"/>
            <a:chExt cx="4229995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2299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自学复习版｜据吉林大学《数据结构》第 17 讲课件整理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7161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4485" y="407194"/>
              <a:ext cx="1288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50100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文件、记录、关键词，以及比较次数、移动次数、稳定性三把尺子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直接插入排序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42800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 R[i] 插进左边已排好的有序区，移动次数等于逆序对数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冒泡排序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相邻反序就交换，记住最后交换位置可以少比很多次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直接选择排序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每趟挑出最大换到右边界，比较次数与初始排列无关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希尔排序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按下标分组做插入排序，增量由大到小逐步收敛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634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说出稳定排序的定义，并对一个具体算法举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出稳定或不稳定的例子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663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 6 个数，手算插入、冒泡、选择三种排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序每一趟的结果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663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写出四种算法的 C 代码，并解释每个循环的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边界为什么这样取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663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 n=10 时希尔排序 d=5、2、1 三趟的结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果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663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给定一趟排序后的序列，判断增量 d 可能取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哪些值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469130" cy="2997517"/>
            <a:chOff x="667512" y="1835468"/>
            <a:chExt cx="4469130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439826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排序问题与度量指标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先说清楚排什么、按什么排、拿什么衡量好坏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文件、记录、关键词三个词的确切含义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比较次数与移动次数是关键运算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稳定性决定能不能做多关键词排序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排序问题与度量指标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排序：按关键词把一个文件重新排列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4695393" cy="308039"/>
            <a:chOff x="525399" y="1550194"/>
            <a:chExt cx="4695393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469539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四个术语一次说清，后面所有算法都用这套说法。</a:t>
              </a:r>
            </a:p>
          </p:txBody>
        </p:sp>
      </p:grpSp>
      <p:grpSp>
        <p:nvGrpSpPr>
          <p:cNvPr id="23" name="c1-card-1"/>
          <p:cNvGrpSpPr/>
          <p:nvPr/>
        </p:nvGrpSpPr>
        <p:grpSpPr>
          <a:xfrm>
            <a:off x="533400" y="1967865"/>
            <a:ext cx="5951220" cy="3158490"/>
            <a:chOff x="533400" y="1967865"/>
            <a:chExt cx="5951220" cy="3158490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5951220" cy="3158490"/>
            </a:xfrm>
            <a:prstGeom prst="roundRect">
              <a:avLst>
                <a:gd name="adj" fmla="val 422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101215"/>
              <a:ext cx="47625" cy="289179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81050" y="217741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1258" y="22131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82078" y="2212658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排序问题的四个基本概念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6765" y="263652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44880" y="2573655"/>
              <a:ext cx="50272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：待排序的 n 个数据对象 R₁、R₂、…、Rₙ 的集合。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6765" y="297180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4880" y="2908935"/>
              <a:ext cx="4659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：文件中的一个数据对象，通常含多个属性域。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86765" y="330708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4880" y="3244215"/>
              <a:ext cx="51301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关键词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：选作排序依据的那个属性域，n 个记录的关键词记作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K₁、K₂、…、Kₙ。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86765" y="392811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44880" y="3865245"/>
              <a:ext cx="4968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：按规定的顺序，以关键词为依据，把文件中诸记录重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新排列的过程。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74573" y="4481989"/>
              <a:ext cx="485724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本讲一律排成递增序，且沿用源课件的下标约定：数据放在 R[1] 到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R[n]，R[0] 空着不用。</a:t>
              </a:r>
            </a:p>
          </p:txBody>
        </p:sp>
      </p:grpSp>
      <p:grpSp>
        <p:nvGrpSpPr>
          <p:cNvPr id="27" name="c2-code-1"/>
          <p:cNvGrpSpPr/>
          <p:nvPr/>
        </p:nvGrpSpPr>
        <p:grpSpPr>
          <a:xfrm>
            <a:off x="6789420" y="1967865"/>
            <a:ext cx="4869180" cy="1516380"/>
            <a:chOff x="6789420" y="1967865"/>
            <a:chExt cx="4869180" cy="1516380"/>
          </a:xfrm>
        </p:grpSpPr>
        <p:sp>
          <p:nvSpPr>
            <p:cNvPr id="24" name="Rectangle 24"/>
            <p:cNvSpPr/>
            <p:nvPr/>
          </p:nvSpPr>
          <p:spPr>
            <a:xfrm>
              <a:off x="6789420" y="1967865"/>
              <a:ext cx="4869180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917817" y="2119789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记录的典型结构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917055" y="2381726"/>
              <a:ext cx="3261614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struct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student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Name[10];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属性域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Gender;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属性域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ID;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可以选它作关键词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grpSp>
        <p:nvGrpSpPr>
          <p:cNvPr id="34" name="c2-callout-2"/>
          <p:cNvGrpSpPr/>
          <p:nvPr/>
        </p:nvGrpSpPr>
        <p:grpSpPr>
          <a:xfrm>
            <a:off x="6789420" y="3674745"/>
            <a:ext cx="4869180" cy="1451610"/>
            <a:chOff x="6789420" y="3674745"/>
            <a:chExt cx="4869180" cy="1451610"/>
          </a:xfrm>
        </p:grpSpPr>
        <p:sp>
          <p:nvSpPr>
            <p:cNvPr id="28" name="Rectangle 28"/>
            <p:cNvSpPr/>
            <p:nvPr/>
          </p:nvSpPr>
          <p:spPr>
            <a:xfrm>
              <a:off x="6789420" y="3674745"/>
              <a:ext cx="4869180" cy="1451610"/>
            </a:xfrm>
            <a:prstGeom prst="roundRect">
              <a:avLst>
                <a:gd name="adj" fmla="val 7874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6994208" y="4299585"/>
              <a:ext cx="200026" cy="200025"/>
              <a:chOff x="6994208" y="4299585"/>
              <a:chExt cx="200026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6994208" y="42995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7033946" y="43440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7068662" y="44551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7296150" y="4156710"/>
              <a:ext cx="3634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同一个文件按不同属性域排序，结果完全不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同。关键词是人选的，不是记录自带的。</a:t>
              </a:r>
            </a:p>
          </p:txBody>
        </p:sp>
      </p:grpSp>
      <p:grpSp>
        <p:nvGrpSpPr>
          <p:cNvPr id="41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35" name="Rectangle 35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040130" y="5991225"/>
              <a:ext cx="70827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关键词可以不唯一。两个记录的关键词相等时谁排前面，由算法的稳定性决定。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排序问题与度量指标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衡量排序算法的三把尺子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kv-1"/>
          <p:cNvGrpSpPr/>
          <p:nvPr/>
        </p:nvGrpSpPr>
        <p:grpSpPr>
          <a:xfrm>
            <a:off x="526923" y="1545431"/>
            <a:ext cx="5632895" cy="1476184"/>
            <a:chOff x="526923" y="1545431"/>
            <a:chExt cx="5632895" cy="1476184"/>
          </a:xfrm>
        </p:grpSpPr>
        <p:sp>
          <p:nvSpPr>
            <p:cNvPr id="7" name="TextBox 7"/>
            <p:cNvSpPr txBox="1"/>
            <p:nvPr/>
          </p:nvSpPr>
          <p:spPr>
            <a:xfrm>
              <a:off x="526923" y="154543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时间复杂度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21346" y="1545431"/>
              <a:ext cx="423951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最重要的标准。关键运算取两项：关键词的</a:t>
              </a: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比较次数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和数据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</a:t>
              </a: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移动次数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33400" y="205644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26923" y="2158841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空间复杂度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21346" y="2158841"/>
              <a:ext cx="4239514" cy="4893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9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排序过程中除原数组外还要占多少存储空间。本讲四个算法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都是 O(1)。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67081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26923" y="277225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稳定性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21346" y="2772251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关键词相等的两个记录，排序前后相对次序变不变。</a:t>
              </a:r>
            </a:p>
          </p:txBody>
        </p:sp>
      </p:grpSp>
      <p:grpSp>
        <p:nvGrpSpPr>
          <p:cNvPr id="21" name="c1-callout-2"/>
          <p:cNvGrpSpPr/>
          <p:nvPr/>
        </p:nvGrpSpPr>
        <p:grpSpPr>
          <a:xfrm>
            <a:off x="533400" y="3136582"/>
            <a:ext cx="5626418" cy="702945"/>
            <a:chOff x="533400" y="3136582"/>
            <a:chExt cx="5626418" cy="702945"/>
          </a:xfrm>
        </p:grpSpPr>
        <p:sp>
          <p:nvSpPr>
            <p:cNvPr id="16" name="Rectangle 16"/>
            <p:cNvSpPr/>
            <p:nvPr/>
          </p:nvSpPr>
          <p:spPr>
            <a:xfrm>
              <a:off x="533400" y="3136582"/>
              <a:ext cx="5626418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738188" y="3388045"/>
              <a:ext cx="200023" cy="200023"/>
              <a:chOff x="738188" y="3388045"/>
              <a:chExt cx="200023" cy="200023"/>
            </a:xfrm>
          </p:grpSpPr>
          <p:sp>
            <p:nvSpPr>
              <p:cNvPr id="17" name="Freeform 17"/>
              <p:cNvSpPr/>
              <p:nvPr/>
            </p:nvSpPr>
            <p:spPr>
              <a:xfrm>
                <a:off x="738188" y="338804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71538" y="34547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0" name="TextBox 20"/>
            <p:cNvSpPr txBox="1"/>
            <p:nvPr/>
          </p:nvSpPr>
          <p:spPr>
            <a:xfrm>
              <a:off x="1041273" y="3280886"/>
              <a:ext cx="47271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只数比较次数是不够的。链表上移动便宜、数组上移动贵，两个指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标要分开看。</a:t>
              </a:r>
            </a:p>
          </p:txBody>
        </p:sp>
      </p:grpSp>
      <p:grpSp>
        <p:nvGrpSpPr>
          <p:cNvPr id="29" name="c1-card-3"/>
          <p:cNvGrpSpPr/>
          <p:nvPr/>
        </p:nvGrpSpPr>
        <p:grpSpPr>
          <a:xfrm>
            <a:off x="533400" y="4004310"/>
            <a:ext cx="5626418" cy="1406842"/>
            <a:chOff x="533400" y="4004310"/>
            <a:chExt cx="5626418" cy="1406842"/>
          </a:xfrm>
        </p:grpSpPr>
        <p:sp>
          <p:nvSpPr>
            <p:cNvPr id="22" name="Rectangle 22"/>
            <p:cNvSpPr/>
            <p:nvPr/>
          </p:nvSpPr>
          <p:spPr>
            <a:xfrm>
              <a:off x="533400" y="4004310"/>
              <a:ext cx="5626418" cy="1406842"/>
            </a:xfrm>
            <a:prstGeom prst="roundRect">
              <a:avLst>
                <a:gd name="adj" fmla="val 947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542925" y="4137660"/>
              <a:ext cx="47625" cy="114014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52475" y="418528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8246" y="421814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94625" y="422481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比较次数相同，代价可以差很多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5998" y="4541044"/>
              <a:ext cx="500354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对例子 8 9 2 5 7 5*，初级冒泡和直接选择都恰好比较 15 次，但冒泡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 9 次（写 27 个格子），选择排序只交换 4 次（写 12 个格子）。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7141" y="5065395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记录越大，这个差距越明显。</a:t>
              </a:r>
            </a:p>
          </p:txBody>
        </p:sp>
      </p:grpSp>
      <p:grpSp>
        <p:nvGrpSpPr>
          <p:cNvPr id="36" name="c2-callout-1"/>
          <p:cNvGrpSpPr/>
          <p:nvPr/>
        </p:nvGrpSpPr>
        <p:grpSpPr>
          <a:xfrm>
            <a:off x="6464618" y="1524000"/>
            <a:ext cx="5193982" cy="702945"/>
            <a:chOff x="6464618" y="1524000"/>
            <a:chExt cx="5193982" cy="702945"/>
          </a:xfrm>
        </p:grpSpPr>
        <p:sp>
          <p:nvSpPr>
            <p:cNvPr id="30" name="Rectangle 30"/>
            <p:cNvSpPr/>
            <p:nvPr/>
          </p:nvSpPr>
          <p:spPr>
            <a:xfrm>
              <a:off x="6464618" y="1524000"/>
              <a:ext cx="5193982" cy="702945"/>
            </a:xfrm>
            <a:prstGeom prst="roundRect">
              <a:avLst>
                <a:gd name="adj" fmla="val 1626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6657347" y="1771768"/>
              <a:ext cx="224134" cy="192560"/>
              <a:chOff x="6657347" y="1771768"/>
              <a:chExt cx="224134" cy="19256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769418" y="184213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657347" y="177176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769418" y="19199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6972491" y="1669256"/>
              <a:ext cx="423951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判断不稳定只需举出一个反例；判断稳定则要证明算法永远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不会跨过相等的元素。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464618" y="2391728"/>
            <a:ext cx="5193982" cy="3018472"/>
            <a:chOff x="6464618" y="2391728"/>
            <a:chExt cx="5193982" cy="3018472"/>
          </a:xfrm>
        </p:grpSpPr>
        <p:sp>
          <p:nvSpPr>
            <p:cNvPr id="37" name="Rectangle 37"/>
            <p:cNvSpPr/>
            <p:nvPr/>
          </p:nvSpPr>
          <p:spPr>
            <a:xfrm>
              <a:off x="6464618" y="2391728"/>
              <a:ext cx="5193982" cy="3018472"/>
            </a:xfrm>
            <a:prstGeom prst="roundRect">
              <a:avLst>
                <a:gd name="adj" fmla="val 441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6474142" y="2525078"/>
              <a:ext cx="47625" cy="275177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683692" y="257270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76364" y="260556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50620" y="26122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稳定性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77216" y="2928461"/>
              <a:ext cx="453212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设记录 Rᵢ 与 Rⱼ 的关键词相同，且排序前 Rᵢ 在 Rⱼ 前面。若排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序后 Rᵢ 仍在 Rⱼ 前面，则称该排序算法是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稳定的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，否则称它是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不稳定的。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6693218" y="375189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48666" y="3699986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稳定性说的是算法，不是某一次运行的结果。只要存在一个输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入会把相对次序弄反，这个算法就是不稳定的。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6693218" y="427958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848666" y="4227671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关键词互不相同时，任何正确的排序算法给出的结果都一样，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稳定性只在有相等关键词时才有意义。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78359" y="4752022"/>
              <a:ext cx="46752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本讲四个算法里，直接插入和冒泡是稳定的，直接选择和希尔是不稳定的。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9" name="Rectangle 4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1273" y="6039326"/>
              <a:ext cx="75430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本讲给每个算法都配了一个 6 元素的例子，其中有两个相等的关键词 5 和 5*，专门用来看稳定性。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排序问题与度量指标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稳定性有什么用：多关键词排序靠它串起来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7460488" cy="308039"/>
            <a:chOff x="525399" y="1550194"/>
            <a:chExt cx="746048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746048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先按次关键词排，再用稳定算法按主关键词排，两次排序的效果就叠加在一起。</a:t>
              </a:r>
            </a:p>
          </p:txBody>
        </p:sp>
      </p:grpSp>
      <p:grpSp>
        <p:nvGrpSpPr>
          <p:cNvPr id="49" name="c1-table-1"/>
          <p:cNvGrpSpPr/>
          <p:nvPr/>
        </p:nvGrpSpPr>
        <p:grpSpPr>
          <a:xfrm>
            <a:off x="527685" y="1967865"/>
            <a:ext cx="6281737" cy="3437097"/>
            <a:chOff x="527685" y="1967865"/>
            <a:chExt cx="6281737" cy="3437097"/>
          </a:xfrm>
        </p:grpSpPr>
        <p:sp>
          <p:nvSpPr>
            <p:cNvPr id="9" name="Rectangle 9"/>
            <p:cNvSpPr/>
            <p:nvPr/>
          </p:nvSpPr>
          <p:spPr>
            <a:xfrm>
              <a:off x="533400" y="1967865"/>
              <a:ext cx="6276022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96570" y="210264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第一次排序后（按编号递增）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00959" y="210264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稳定算法按班级排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62652" y="2102644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不稳定算法可能排成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1223" y="2551271"/>
              <a:ext cx="6727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· B 班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122295" y="2426018"/>
              <a:ext cx="174783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220593" y="2551271"/>
              <a:ext cx="6495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· A 班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889182" y="2426018"/>
              <a:ext cx="191071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987480" y="2551271"/>
              <a:ext cx="6495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· A 班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" y="2860358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" y="2865120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41223" y="3000851"/>
              <a:ext cx="6727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· C 班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122295" y="2874645"/>
              <a:ext cx="174783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220593" y="3000851"/>
              <a:ext cx="6495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· A 班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4889182" y="2874645"/>
              <a:ext cx="191071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987480" y="3000851"/>
              <a:ext cx="6495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· A 班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3308985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41223" y="3449479"/>
              <a:ext cx="6727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· A 班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122295" y="3323272"/>
              <a:ext cx="1747838" cy="429578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220593" y="3449479"/>
              <a:ext cx="6495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· A 班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889182" y="3323272"/>
              <a:ext cx="191071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987480" y="3449479"/>
              <a:ext cx="6495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· A 班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375761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33400" y="3762375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41223" y="3898106"/>
              <a:ext cx="6727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· C 班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220593" y="3898106"/>
              <a:ext cx="6495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· B 班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987480" y="3898106"/>
              <a:ext cx="6495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· B 班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420719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1223" y="4346734"/>
              <a:ext cx="6727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 · A 班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220593" y="4346734"/>
              <a:ext cx="6495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· C 班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87480" y="4346734"/>
              <a:ext cx="6495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· C 班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3400" y="4655820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33400" y="4660582"/>
              <a:ext cx="6276022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41223" y="4795361"/>
              <a:ext cx="6727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 · A 班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220593" y="4795361"/>
              <a:ext cx="6495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· C 班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987480" y="4795361"/>
              <a:ext cx="6495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· C 班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1967865"/>
              <a:ext cx="6276022" cy="31413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3108008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874895" y="1967865"/>
              <a:ext cx="9525" cy="31413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7685" y="5184934"/>
              <a:ext cx="2702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 条记录先按编号排好，再按班级排一次</a:t>
              </a:r>
            </a:p>
          </p:txBody>
        </p:sp>
      </p:grpSp>
      <p:grpSp>
        <p:nvGrpSpPr>
          <p:cNvPr id="54" name="c2-bullets-1"/>
          <p:cNvGrpSpPr/>
          <p:nvPr/>
        </p:nvGrpSpPr>
        <p:grpSpPr>
          <a:xfrm>
            <a:off x="7114222" y="1992630"/>
            <a:ext cx="4266248" cy="1209675"/>
            <a:chOff x="7114222" y="1992630"/>
            <a:chExt cx="4266248" cy="1209675"/>
          </a:xfrm>
        </p:grpSpPr>
        <p:sp>
          <p:nvSpPr>
            <p:cNvPr id="50" name="Freeform 50"/>
            <p:cNvSpPr/>
            <p:nvPr/>
          </p:nvSpPr>
          <p:spPr>
            <a:xfrm>
              <a:off x="7114222" y="2024062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4293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364730" y="199263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稳定算法排完，同一个班内部的编号仍然递增，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等于一次做到了“班级为主、编号为次”。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7114222" y="2654618"/>
              <a:ext cx="143828" cy="116205"/>
            </a:xfrm>
            <a:custGeom>
              <a:avLst/>
              <a:gdLst/>
              <a:ahLst/>
              <a:cxnLst/>
              <a:rect l="l" t="t" r="r" b="b"/>
              <a:pathLst>
                <a:path w="143828" h="116205">
                  <a:moveTo>
                    <a:pt x="0" y="61912"/>
                  </a:moveTo>
                  <a:lnTo>
                    <a:pt x="54293" y="116205"/>
                  </a:lnTo>
                  <a:lnTo>
                    <a:pt x="143828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7364730" y="2623185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不稳定算法排完，班级这一列是对的，班内编号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却乱了，还得再排一次。</a:t>
              </a:r>
            </a:p>
          </p:txBody>
        </p:sp>
      </p:grpSp>
      <p:grpSp>
        <p:nvGrpSpPr>
          <p:cNvPr id="69" name="c2-card-2"/>
          <p:cNvGrpSpPr/>
          <p:nvPr/>
        </p:nvGrpSpPr>
        <p:grpSpPr>
          <a:xfrm>
            <a:off x="7114222" y="3333750"/>
            <a:ext cx="4544378" cy="2251710"/>
            <a:chOff x="7114222" y="3333750"/>
            <a:chExt cx="4544378" cy="2251710"/>
          </a:xfrm>
        </p:grpSpPr>
        <p:sp>
          <p:nvSpPr>
            <p:cNvPr id="55" name="Rectangle 55"/>
            <p:cNvSpPr/>
            <p:nvPr/>
          </p:nvSpPr>
          <p:spPr>
            <a:xfrm>
              <a:off x="7114222" y="3333750"/>
              <a:ext cx="4544378" cy="2251710"/>
            </a:xfrm>
            <a:prstGeom prst="roundRect">
              <a:avLst>
                <a:gd name="adj" fmla="val 5922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7323772" y="354330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7413981" y="357901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923848" y="357854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多关键词排序的标准做法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7323772" y="392620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385622" y="396849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624762" y="3939540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先按最次要的关键词排一遍。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323772" y="426148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385622" y="43037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624762" y="4274820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再用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稳定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算法按次要的关键词排。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323772" y="459676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385622" y="463905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624762" y="461010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最后用稳定算法按最主要的关键词排。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317296" y="4941094"/>
              <a:ext cx="39143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顺序反过来做是错的：最后一次排序的关键词才是主关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键词。</a:t>
              </a:r>
            </a:p>
          </p:txBody>
        </p:sp>
      </p:grpSp>
      <p:grpSp>
        <p:nvGrpSpPr>
          <p:cNvPr id="76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70" name="Rectangle 70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1040130" y="5991225"/>
              <a:ext cx="85467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更正与改写：源课件此处用真实姓名和学号举例，本讲义改成匿名的“编号 · 班级”，结论不变。</a:t>
              </a:r>
            </a:p>
          </p:txBody>
        </p:sp>
      </p:grpSp>
      <p:grpSp>
        <p:nvGrpSpPr>
          <p:cNvPr id="7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7" name="TextBox 77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801999" cy="909257"/>
            <a:chOff x="520446" y="342900"/>
            <a:chExt cx="380199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322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728" y="407194"/>
              <a:ext cx="28275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排序问题与度量指标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80199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排序算法按三个维度分类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tree-1"/>
          <p:cNvGrpSpPr/>
          <p:nvPr/>
        </p:nvGrpSpPr>
        <p:grpSpPr>
          <a:xfrm>
            <a:off x="533400" y="1662112"/>
            <a:ext cx="4977764" cy="3902392"/>
            <a:chOff x="533400" y="1662112"/>
            <a:chExt cx="4977764" cy="3902392"/>
          </a:xfrm>
        </p:grpSpPr>
        <p:sp>
          <p:nvSpPr>
            <p:cNvPr id="7" name="Freeform 7"/>
            <p:cNvSpPr/>
            <p:nvPr/>
          </p:nvSpPr>
          <p:spPr>
            <a:xfrm>
              <a:off x="3361372" y="1822132"/>
              <a:ext cx="419100" cy="299085"/>
            </a:xfrm>
            <a:custGeom>
              <a:avLst/>
              <a:gdLst/>
              <a:ahLst/>
              <a:cxnLst/>
              <a:rect l="l" t="t" r="r" b="b"/>
              <a:pathLst>
                <a:path w="419100" h="299085">
                  <a:moveTo>
                    <a:pt x="0" y="299085"/>
                  </a:moveTo>
                  <a:lnTo>
                    <a:pt x="209550" y="29908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3361372" y="2121218"/>
              <a:ext cx="419100" cy="298133"/>
            </a:xfrm>
            <a:custGeom>
              <a:avLst/>
              <a:gdLst/>
              <a:ahLst/>
              <a:cxnLst/>
              <a:rect l="l" t="t" r="r" b="b"/>
              <a:pathLst>
                <a:path w="419100" h="298133">
                  <a:moveTo>
                    <a:pt x="0" y="0"/>
                  </a:moveTo>
                  <a:lnTo>
                    <a:pt x="209550" y="0"/>
                  </a:lnTo>
                  <a:lnTo>
                    <a:pt x="209550" y="298133"/>
                  </a:lnTo>
                  <a:lnTo>
                    <a:pt x="419100" y="29813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361372" y="3016568"/>
              <a:ext cx="419100" cy="298133"/>
            </a:xfrm>
            <a:custGeom>
              <a:avLst/>
              <a:gdLst/>
              <a:ahLst/>
              <a:cxnLst/>
              <a:rect l="l" t="t" r="r" b="b"/>
              <a:pathLst>
                <a:path w="419100" h="298133">
                  <a:moveTo>
                    <a:pt x="0" y="298133"/>
                  </a:moveTo>
                  <a:lnTo>
                    <a:pt x="209550" y="298133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0" name="Freeform 10"/>
            <p:cNvSpPr/>
            <p:nvPr/>
          </p:nvSpPr>
          <p:spPr>
            <a:xfrm>
              <a:off x="3361372" y="3314700"/>
              <a:ext cx="419100" cy="298133"/>
            </a:xfrm>
            <a:custGeom>
              <a:avLst/>
              <a:gdLst/>
              <a:ahLst/>
              <a:cxnLst/>
              <a:rect l="l" t="t" r="r" b="b"/>
              <a:pathLst>
                <a:path w="419100" h="298133">
                  <a:moveTo>
                    <a:pt x="0" y="0"/>
                  </a:moveTo>
                  <a:lnTo>
                    <a:pt x="209550" y="0"/>
                  </a:lnTo>
                  <a:lnTo>
                    <a:pt x="209550" y="298133"/>
                  </a:lnTo>
                  <a:lnTo>
                    <a:pt x="419100" y="298133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3361372" y="4210050"/>
              <a:ext cx="419100" cy="597217"/>
            </a:xfrm>
            <a:custGeom>
              <a:avLst/>
              <a:gdLst/>
              <a:ahLst/>
              <a:cxnLst/>
              <a:rect l="l" t="t" r="r" b="b"/>
              <a:pathLst>
                <a:path w="419100" h="597217">
                  <a:moveTo>
                    <a:pt x="0" y="597217"/>
                  </a:moveTo>
                  <a:lnTo>
                    <a:pt x="209550" y="597217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2" name="Freeform 12"/>
            <p:cNvSpPr/>
            <p:nvPr/>
          </p:nvSpPr>
          <p:spPr>
            <a:xfrm>
              <a:off x="3361372" y="4807268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209550" y="0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361372" y="4807268"/>
              <a:ext cx="419100" cy="596265"/>
            </a:xfrm>
            <a:custGeom>
              <a:avLst/>
              <a:gdLst/>
              <a:ahLst/>
              <a:cxnLst/>
              <a:rect l="l" t="t" r="r" b="b"/>
              <a:pathLst>
                <a:path w="419100" h="596265">
                  <a:moveTo>
                    <a:pt x="0" y="0"/>
                  </a:moveTo>
                  <a:lnTo>
                    <a:pt x="209550" y="0"/>
                  </a:lnTo>
                  <a:lnTo>
                    <a:pt x="209550" y="596265"/>
                  </a:lnTo>
                  <a:lnTo>
                    <a:pt x="419100" y="59626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1454468" y="2121218"/>
              <a:ext cx="419100" cy="1343025"/>
            </a:xfrm>
            <a:custGeom>
              <a:avLst/>
              <a:gdLst/>
              <a:ahLst/>
              <a:cxnLst/>
              <a:rect l="l" t="t" r="r" b="b"/>
              <a:pathLst>
                <a:path w="419100" h="1343025">
                  <a:moveTo>
                    <a:pt x="0" y="1343025"/>
                  </a:moveTo>
                  <a:lnTo>
                    <a:pt x="209550" y="1343025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454468" y="3314700"/>
              <a:ext cx="419100" cy="149542"/>
            </a:xfrm>
            <a:custGeom>
              <a:avLst/>
              <a:gdLst/>
              <a:ahLst/>
              <a:cxnLst/>
              <a:rect l="l" t="t" r="r" b="b"/>
              <a:pathLst>
                <a:path w="419100" h="149542">
                  <a:moveTo>
                    <a:pt x="0" y="149542"/>
                  </a:moveTo>
                  <a:lnTo>
                    <a:pt x="209550" y="149542"/>
                  </a:lnTo>
                  <a:lnTo>
                    <a:pt x="209550" y="0"/>
                  </a:lnTo>
                  <a:lnTo>
                    <a:pt x="419100" y="0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454468" y="3464242"/>
              <a:ext cx="419100" cy="1343025"/>
            </a:xfrm>
            <a:custGeom>
              <a:avLst/>
              <a:gdLst/>
              <a:ahLst/>
              <a:cxnLst/>
              <a:rect l="l" t="t" r="r" b="b"/>
              <a:pathLst>
                <a:path w="419100" h="1343025">
                  <a:moveTo>
                    <a:pt x="0" y="0"/>
                  </a:moveTo>
                  <a:lnTo>
                    <a:pt x="209550" y="0"/>
                  </a:lnTo>
                  <a:lnTo>
                    <a:pt x="209550" y="1343025"/>
                  </a:lnTo>
                  <a:lnTo>
                    <a:pt x="419100" y="1343025"/>
                  </a:lnTo>
                </a:path>
              </a:pathLst>
            </a:custGeom>
            <a:noFill/>
            <a:ln w="17145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3780472" y="1662112"/>
              <a:ext cx="1730692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3780472" y="2259330"/>
              <a:ext cx="1730692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1873568" y="1880235"/>
              <a:ext cx="1487805" cy="481965"/>
            </a:xfrm>
            <a:prstGeom prst="roundRect">
              <a:avLst>
                <a:gd name="adj" fmla="val 19763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3780472" y="2775585"/>
              <a:ext cx="1730692" cy="481965"/>
            </a:xfrm>
            <a:prstGeom prst="roundRect">
              <a:avLst>
                <a:gd name="adj" fmla="val 1976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3780472" y="3452812"/>
              <a:ext cx="1730692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873568" y="3073718"/>
              <a:ext cx="1487805" cy="481965"/>
            </a:xfrm>
            <a:prstGeom prst="roundRect">
              <a:avLst>
                <a:gd name="adj" fmla="val 19763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3780472" y="4050030"/>
              <a:ext cx="1730692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780472" y="4566285"/>
              <a:ext cx="1730692" cy="481965"/>
            </a:xfrm>
            <a:prstGeom prst="roundRect">
              <a:avLst>
                <a:gd name="adj" fmla="val 19763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3780472" y="5243512"/>
              <a:ext cx="1730692" cy="320992"/>
            </a:xfrm>
            <a:prstGeom prst="roundRect">
              <a:avLst>
                <a:gd name="adj" fmla="val 29674"/>
              </a:avLst>
            </a:prstGeom>
            <a:solidFill>
              <a:srgbClr val="FFFFFF"/>
            </a:solidFill>
            <a:ln w="13335">
              <a:solidFill>
                <a:srgbClr val="D9DFEA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1873568" y="4566285"/>
              <a:ext cx="1487805" cy="481965"/>
            </a:xfrm>
            <a:prstGeom prst="roundRect">
              <a:avLst>
                <a:gd name="adj" fmla="val 19763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303270"/>
              <a:ext cx="921068" cy="320992"/>
            </a:xfrm>
            <a:prstGeom prst="roundRect">
              <a:avLst>
                <a:gd name="adj" fmla="val 2967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870770" y="1754029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内排序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70770" y="235124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外排序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63864" y="1972151"/>
              <a:ext cx="383286" cy="351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8"/>
                </a:lnSpc>
              </a:pPr>
              <a:r>
                <a:rPr lang="zh-CN" sz="9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按存储</a:t>
              </a:r>
              <a:br/>
              <a:r>
                <a:rPr lang="zh-CN" sz="9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设备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70770" y="2867501"/>
              <a:ext cx="507746" cy="351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8"/>
                </a:lnSpc>
              </a:pPr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基于比较</a:t>
              </a:r>
              <a:br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的排序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70770" y="354472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分布排序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963864" y="3166586"/>
              <a:ext cx="632206" cy="351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8"/>
                </a:lnSpc>
              </a:pPr>
              <a:r>
                <a:rPr lang="zh-CN" sz="9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按对关键词</a:t>
              </a:r>
              <a:br/>
              <a:r>
                <a:rPr lang="zh-CN" sz="9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的操作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870770" y="4141946"/>
              <a:ext cx="84658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平方阶 O(n²)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870770" y="4658201"/>
              <a:ext cx="632206" cy="351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8"/>
                </a:lnSpc>
              </a:pPr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线性对数阶</a:t>
              </a:r>
              <a:br/>
              <a:r>
                <a:rPr lang="en-US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 log n)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70770" y="5335429"/>
              <a:ext cx="77197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线性阶 O(n)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963864" y="4658201"/>
              <a:ext cx="632206" cy="351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68"/>
                </a:lnSpc>
              </a:pPr>
              <a:r>
                <a:rPr lang="zh-CN" sz="9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按平均时间</a:t>
              </a:r>
              <a:br/>
              <a:r>
                <a:rPr lang="zh-CN" sz="980" b="1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复杂度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3697" y="3396139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排序算法</a:t>
              </a:r>
            </a:p>
          </p:txBody>
        </p:sp>
      </p:grpSp>
      <p:grpSp>
        <p:nvGrpSpPr>
          <p:cNvPr id="74" name="c2-table-1"/>
          <p:cNvGrpSpPr/>
          <p:nvPr/>
        </p:nvGrpSpPr>
        <p:grpSpPr>
          <a:xfrm>
            <a:off x="5815965" y="1524000"/>
            <a:ext cx="5842635" cy="3240405"/>
            <a:chOff x="5815965" y="1524000"/>
            <a:chExt cx="5842635" cy="3240405"/>
          </a:xfrm>
        </p:grpSpPr>
        <p:sp>
          <p:nvSpPr>
            <p:cNvPr id="40" name="Rectangle 40"/>
            <p:cNvSpPr/>
            <p:nvPr/>
          </p:nvSpPr>
          <p:spPr>
            <a:xfrm>
              <a:off x="5815965" y="1524000"/>
              <a:ext cx="584263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36051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类别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4647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189820" y="164830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本课程对应讲次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915978" y="205406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内排序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318058" y="205406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排序全过程数据都在内存里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88855" y="2054066"/>
              <a:ext cx="976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17 到 25 讲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815965" y="233076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815965" y="2335530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915978" y="245983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外排序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318058" y="2459831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数据大到内存放不下，要借助外存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888855" y="24598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本课程不展开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815965" y="273653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915978" y="28655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基于比较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318058" y="286559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只靠关键词两两比较决定次序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888855" y="2865596"/>
              <a:ext cx="976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17 到 20 讲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5815965" y="314229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5815965" y="3147060"/>
              <a:ext cx="5842635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5915978" y="337137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分布排序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318058" y="3271361"/>
              <a:ext cx="2145030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利用元素取值的分布规律，不比较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关键词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888855" y="3371374"/>
              <a:ext cx="5692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21 讲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815965" y="374808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5915978" y="387715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平方阶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318058" y="3877151"/>
              <a:ext cx="17215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简单易实现，平均 O(n²)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798368" y="3762375"/>
              <a:ext cx="1850708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888855" y="3877151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本讲：插入、冒泡、选择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5815965" y="415385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5815965" y="4158615"/>
              <a:ext cx="5842635" cy="6057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915978" y="438292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线性对数阶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318058" y="4382929"/>
              <a:ext cx="18658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相对复杂，平均 O(n log n)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9888855" y="4282916"/>
              <a:ext cx="134848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18 到 20 讲堆、快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排、归并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5815965" y="1524000"/>
              <a:ext cx="5842635" cy="32404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7213282" y="1524000"/>
              <a:ext cx="9525" cy="32404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9784080" y="1524000"/>
              <a:ext cx="9525" cy="32404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81" name="c2-callout-2"/>
          <p:cNvGrpSpPr/>
          <p:nvPr/>
        </p:nvGrpSpPr>
        <p:grpSpPr>
          <a:xfrm>
            <a:off x="5815965" y="4939665"/>
            <a:ext cx="5842635" cy="729615"/>
            <a:chOff x="5815965" y="4939665"/>
            <a:chExt cx="5842635" cy="729615"/>
          </a:xfrm>
        </p:grpSpPr>
        <p:sp>
          <p:nvSpPr>
            <p:cNvPr id="75" name="Rectangle 75"/>
            <p:cNvSpPr/>
            <p:nvPr/>
          </p:nvSpPr>
          <p:spPr>
            <a:xfrm>
              <a:off x="5815965" y="4939665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6020753" y="5204460"/>
              <a:ext cx="200026" cy="200026"/>
              <a:chOff x="6020753" y="5204460"/>
              <a:chExt cx="200026" cy="200026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6020753" y="52044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120765" y="52711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6109653" y="530447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6323457" y="5085398"/>
              <a:ext cx="48143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希尔排序是个例外。它基于比较，但复杂度随增量序列变化，不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属于上面任何一档的固定阶。</a:t>
              </a:r>
            </a:p>
          </p:txBody>
        </p:sp>
      </p:grpSp>
      <p:grpSp>
        <p:nvGrpSpPr>
          <p:cNvPr id="87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82" name="Rectangle 82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5" name="Group 85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6" name="TextBox 86"/>
            <p:cNvSpPr txBox="1"/>
            <p:nvPr/>
          </p:nvSpPr>
          <p:spPr>
            <a:xfrm>
              <a:off x="1040892" y="6023610"/>
              <a:ext cx="82468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20 讲会证明：任何基于比较的排序，最坏情况下至少要 O(n log n) 次比较，所以平方阶不是必然。</a:t>
              </a:r>
            </a:p>
          </p:txBody>
        </p:sp>
      </p:grpSp>
      <p:grpSp>
        <p:nvGrpSpPr>
          <p:cNvPr id="9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8" name="TextBox 88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580638" cy="2997517"/>
            <a:chOff x="667512" y="1835468"/>
            <a:chExt cx="358063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直接插入排序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左边已经排好，把下一个元素插进去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每趟只处理一个元素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找位置和后移是同一个循环干的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移动次数正好等于逆序对数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直接插入排序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直接插入排序：像摸牌一样把新牌插进手里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842635" cy="1335405"/>
            <a:chOff x="533400" y="1524000"/>
            <a:chExt cx="5842635" cy="13354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335405"/>
            </a:xfrm>
            <a:prstGeom prst="roundRect">
              <a:avLst>
                <a:gd name="adj" fmla="val 998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06870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71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思想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82078" y="1768792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一次插入做什么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5158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不断把一个元素插入到它左侧已排好序的有序表中，得到一个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更长的新有序表。</a:t>
              </a:r>
            </a:p>
          </p:txBody>
        </p:sp>
      </p:grpSp>
      <p:grpSp>
        <p:nvGrpSpPr>
          <p:cNvPr id="41" name="c1-cells-2"/>
          <p:cNvGrpSpPr/>
          <p:nvPr/>
        </p:nvGrpSpPr>
        <p:grpSpPr>
          <a:xfrm>
            <a:off x="527685" y="3049905"/>
            <a:ext cx="3222307" cy="1600200"/>
            <a:chOff x="527685" y="3049905"/>
            <a:chExt cx="3222307" cy="1600200"/>
          </a:xfrm>
        </p:grpSpPr>
        <p:sp>
          <p:nvSpPr>
            <p:cNvPr id="14" name="TextBox 14"/>
            <p:cNvSpPr txBox="1"/>
            <p:nvPr/>
          </p:nvSpPr>
          <p:spPr>
            <a:xfrm>
              <a:off x="527685" y="318944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原有序表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235392" y="3049905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95691" y="31894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654492" y="3049905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771255" y="318944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073592" y="3049905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190355" y="318944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492692" y="3049905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609455" y="318944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911792" y="3049905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028555" y="318944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7685" y="377999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待插入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235392" y="3640455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352155" y="377999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7685" y="437054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找位置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235392" y="423100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395691" y="437054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654492" y="423100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771255" y="437054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073592" y="4231005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190355" y="437054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492692" y="423100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609455" y="437054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911792" y="423100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028555" y="437054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330892" y="423100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447655" y="4370546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  <p:grpSp>
        <p:nvGrpSpPr>
          <p:cNvPr id="48" name="c1-callout-3"/>
          <p:cNvGrpSpPr/>
          <p:nvPr/>
        </p:nvGrpSpPr>
        <p:grpSpPr>
          <a:xfrm>
            <a:off x="533400" y="4840605"/>
            <a:ext cx="5842635" cy="853440"/>
            <a:chOff x="533400" y="4840605"/>
            <a:chExt cx="5842635" cy="853440"/>
          </a:xfrm>
        </p:grpSpPr>
        <p:sp>
          <p:nvSpPr>
            <p:cNvPr id="42" name="Rectangle 42"/>
            <p:cNvSpPr/>
            <p:nvPr/>
          </p:nvSpPr>
          <p:spPr>
            <a:xfrm>
              <a:off x="533400" y="4840605"/>
              <a:ext cx="5842635" cy="853440"/>
            </a:xfrm>
            <a:prstGeom prst="roundRect">
              <a:avLst>
                <a:gd name="adj" fmla="val 1339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5167313"/>
              <a:ext cx="200026" cy="200025"/>
              <a:chOff x="738188" y="5167313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1673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77926" y="52117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12642" y="53228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130" y="5024438"/>
              <a:ext cx="49110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20 要插在 15 和 23 之间。找位置和把 23、28、37 右移一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格，可以在同一趟扫描里完成。</a:t>
              </a:r>
            </a:p>
          </p:txBody>
        </p:sp>
      </p:grpSp>
      <p:grpSp>
        <p:nvGrpSpPr>
          <p:cNvPr id="51" name="c2-image-1"/>
          <p:cNvGrpSpPr/>
          <p:nvPr/>
        </p:nvGrpSpPr>
        <p:grpSpPr>
          <a:xfrm>
            <a:off x="7053161" y="1524000"/>
            <a:ext cx="4233113" cy="3172302"/>
            <a:chOff x="7053161" y="1524000"/>
            <a:chExt cx="4233113" cy="3172302"/>
          </a:xfrm>
        </p:grpSpPr>
        <p:pic>
          <p:nvPicPr>
            <p:cNvPr id="49" name="Image 4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264718" y="1524000"/>
              <a:ext cx="3810000" cy="2857500"/>
            </a:xfrm>
            <a:prstGeom prst="roundRect">
              <a:avLst>
                <a:gd name="adj" fmla="val 4666"/>
              </a:avLst>
            </a:prstGeom>
          </p:spPr>
        </p:pic>
        <p:sp>
          <p:nvSpPr>
            <p:cNvPr id="50" name="TextBox 50"/>
            <p:cNvSpPr txBox="1"/>
            <p:nvPr/>
          </p:nvSpPr>
          <p:spPr>
            <a:xfrm>
              <a:off x="7053161" y="4476274"/>
              <a:ext cx="423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摸到一张新牌，从右往左找到它该待的位置，把比它大的牌挤开</a:t>
              </a:r>
            </a:p>
          </p:txBody>
        </p:sp>
      </p:grpSp>
      <p:grpSp>
        <p:nvGrpSpPr>
          <p:cNvPr id="61" name="c2-bullets-2"/>
          <p:cNvGrpSpPr/>
          <p:nvPr/>
        </p:nvGrpSpPr>
        <p:grpSpPr>
          <a:xfrm>
            <a:off x="6681788" y="4871085"/>
            <a:ext cx="4735546" cy="872775"/>
            <a:chOff x="6681788" y="4871085"/>
            <a:chExt cx="4735546" cy="872775"/>
          </a:xfrm>
        </p:grpSpPr>
        <p:sp>
          <p:nvSpPr>
            <p:cNvPr id="52" name="Ellipse 52"/>
            <p:cNvSpPr/>
            <p:nvPr/>
          </p:nvSpPr>
          <p:spPr>
            <a:xfrm>
              <a:off x="6681788" y="487108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6733694" y="490670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951536" y="4882991"/>
              <a:ext cx="44657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R[1] 自己就是一个长度为 1 的有序表，所以 i 从 2 开始。</a:t>
              </a:r>
            </a:p>
          </p:txBody>
        </p:sp>
        <p:sp>
          <p:nvSpPr>
            <p:cNvPr id="55" name="Ellipse 55"/>
            <p:cNvSpPr/>
            <p:nvPr/>
          </p:nvSpPr>
          <p:spPr>
            <a:xfrm>
              <a:off x="6681788" y="517779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733694" y="521246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951536" y="5188744"/>
              <a:ext cx="31428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趟结束后，R[1] 到 R[i] 一定有序。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6681788" y="548354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33694" y="551916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951536" y="5494496"/>
              <a:ext cx="33558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做完第 n 趟，整个文件有序，一共 n−1 趟。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46647" cy="909257"/>
            <a:chOff x="520446" y="342900"/>
            <a:chExt cx="59466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直接插入排序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466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例题：对 8 9 2 5 7 5* 做直接插入排序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494680" cy="264033"/>
            <a:chOff x="526542" y="1545907"/>
            <a:chExt cx="749468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4946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绿色是已经有序的部分，橙色是本趟正在插入的 R[i]。两个 5 中写作 5* 的那个原来在后面。</a:t>
              </a:r>
            </a:p>
          </p:txBody>
        </p:sp>
      </p:grpSp>
      <p:grpSp>
        <p:nvGrpSpPr>
          <p:cNvPr id="93" name="c1-cells-1"/>
          <p:cNvGrpSpPr/>
          <p:nvPr/>
        </p:nvGrpSpPr>
        <p:grpSpPr>
          <a:xfrm>
            <a:off x="528638" y="1928812"/>
            <a:ext cx="2881312" cy="3047048"/>
            <a:chOff x="528638" y="1928812"/>
            <a:chExt cx="2881312" cy="3047048"/>
          </a:xfrm>
        </p:grpSpPr>
        <p:sp>
          <p:nvSpPr>
            <p:cNvPr id="9" name="TextBox 9"/>
            <p:cNvSpPr txBox="1"/>
            <p:nvPr/>
          </p:nvSpPr>
          <p:spPr>
            <a:xfrm>
              <a:off x="528638" y="2050732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95350" y="1928812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5153" y="20507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31445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84253" y="20507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73355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903353" y="20507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15265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322453" y="20507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57175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741553" y="20507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99085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125669" y="205073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6978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8888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0798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2708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4618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65281" y="23388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8638" y="2733675"/>
              <a:ext cx="1876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i=2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95350" y="261175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65153" y="27336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314450" y="2611755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484253" y="27336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733550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903353" y="27336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152650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322453" y="27336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571750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741553" y="27336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990850" y="261175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125669" y="2733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8638" y="3235642"/>
              <a:ext cx="1876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i=3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95350" y="3113722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65153" y="323564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314450" y="3113722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484253" y="323564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733550" y="3113722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903353" y="323564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152650" y="311372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322453" y="323564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571750" y="311372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741553" y="323564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2990850" y="311372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125669" y="323564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28638" y="3737610"/>
              <a:ext cx="1876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i=4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95350" y="3615690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65153" y="373761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314450" y="3615690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484253" y="373761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733550" y="3615690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903353" y="373761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2152650" y="3615690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2322453" y="373761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2571750" y="361569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2741553" y="373761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2990850" y="361569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125669" y="373761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28638" y="4239578"/>
              <a:ext cx="1876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i=5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895350" y="4117658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65153" y="423957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314450" y="4117658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484253" y="423957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1733550" y="4117658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903353" y="423957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2152650" y="4117658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2322453" y="423957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2571750" y="4117658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2741553" y="423957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2990850" y="411765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3125669" y="423957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28638" y="4741545"/>
              <a:ext cx="1876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i=6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895350" y="461962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065153" y="47415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1314450" y="461962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484253" y="47415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1733550" y="4619625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868369" y="47415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2152650" y="461962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2322453" y="47415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2571750" y="461962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2741553" y="47415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2990850" y="461962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3160653" y="47415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  <p:grpSp>
        <p:nvGrpSpPr>
          <p:cNvPr id="137" name="c2-table-1"/>
          <p:cNvGrpSpPr/>
          <p:nvPr/>
        </p:nvGrpSpPr>
        <p:grpSpPr>
          <a:xfrm>
            <a:off x="6893052" y="1928812"/>
            <a:ext cx="4765548" cy="2933414"/>
            <a:chOff x="6893052" y="1928812"/>
            <a:chExt cx="4765548" cy="2933414"/>
          </a:xfrm>
        </p:grpSpPr>
        <p:sp>
          <p:nvSpPr>
            <p:cNvPr id="94" name="Rectangle 94"/>
            <p:cNvSpPr/>
            <p:nvPr/>
          </p:nvSpPr>
          <p:spPr>
            <a:xfrm>
              <a:off x="6898005" y="1928812"/>
              <a:ext cx="476059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7310628" y="20459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趟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203636" y="2045970"/>
              <a:ext cx="6367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待插 R[i]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503664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比较次数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0748582" y="204597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后移个数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992684" y="2426970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i=2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970901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926344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0508361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6898005" y="268700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6898005" y="2691765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992684" y="2808923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i=3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970901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9263444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0508361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6898005" y="306800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6992684" y="3189923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i=4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7970901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9263444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0508361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6898005" y="3449002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6898005" y="3453765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6992684" y="3571875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i=5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7970901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9263444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0508361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6898005" y="383095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6992684" y="3952875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i=6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7970901" y="3952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9263444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10508361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6898005" y="4211955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6" name="Rectangle 126"/>
            <p:cNvSpPr/>
            <p:nvPr/>
          </p:nvSpPr>
          <p:spPr>
            <a:xfrm>
              <a:off x="6898005" y="4216718"/>
              <a:ext cx="476059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6992684" y="433387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128" name="Rectangle 128"/>
            <p:cNvSpPr/>
            <p:nvPr/>
          </p:nvSpPr>
          <p:spPr>
            <a:xfrm>
              <a:off x="9178290" y="4226242"/>
              <a:ext cx="122586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9263444" y="4333875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30" name="Rectangle 130"/>
            <p:cNvSpPr/>
            <p:nvPr/>
          </p:nvSpPr>
          <p:spPr>
            <a:xfrm>
              <a:off x="10423208" y="4226242"/>
              <a:ext cx="1225868" cy="36195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10508361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32" name="Rectangle 132"/>
            <p:cNvSpPr/>
            <p:nvPr/>
          </p:nvSpPr>
          <p:spPr>
            <a:xfrm>
              <a:off x="6898005" y="1928812"/>
              <a:ext cx="4760595" cy="266985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33" name="Rectangle 133"/>
            <p:cNvSpPr/>
            <p:nvPr/>
          </p:nvSpPr>
          <p:spPr>
            <a:xfrm>
              <a:off x="7871460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4" name="Rectangle 134"/>
            <p:cNvSpPr/>
            <p:nvPr/>
          </p:nvSpPr>
          <p:spPr>
            <a:xfrm>
              <a:off x="9164002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5" name="Rectangle 135"/>
            <p:cNvSpPr/>
            <p:nvPr/>
          </p:nvSpPr>
          <p:spPr>
            <a:xfrm>
              <a:off x="10408920" y="1928812"/>
              <a:ext cx="9525" cy="266985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6" name="TextBox 136"/>
            <p:cNvSpPr txBox="1"/>
            <p:nvPr/>
          </p:nvSpPr>
          <p:spPr>
            <a:xfrm>
              <a:off x="6893052" y="4671536"/>
              <a:ext cx="13291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每趟的关键词比较次数</a:t>
              </a:r>
            </a:p>
          </p:txBody>
        </p:sp>
      </p:grpSp>
      <p:grpSp>
        <p:nvGrpSpPr>
          <p:cNvPr id="143" name="c2-callout-2"/>
          <p:cNvGrpSpPr/>
          <p:nvPr/>
        </p:nvGrpSpPr>
        <p:grpSpPr>
          <a:xfrm>
            <a:off x="6898005" y="4988242"/>
            <a:ext cx="4760595" cy="702945"/>
            <a:chOff x="6898005" y="4988242"/>
            <a:chExt cx="4760595" cy="702945"/>
          </a:xfrm>
        </p:grpSpPr>
        <p:sp>
          <p:nvSpPr>
            <p:cNvPr id="138" name="Rectangle 138"/>
            <p:cNvSpPr/>
            <p:nvPr/>
          </p:nvSpPr>
          <p:spPr>
            <a:xfrm>
              <a:off x="6898005" y="4988242"/>
              <a:ext cx="4760595" cy="702945"/>
            </a:xfrm>
            <a:prstGeom prst="roundRect">
              <a:avLst>
                <a:gd name="adj" fmla="val 16260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41" name="Group 141"/>
            <p:cNvGrpSpPr/>
            <p:nvPr/>
          </p:nvGrpSpPr>
          <p:grpSpPr>
            <a:xfrm>
              <a:off x="7102793" y="5239703"/>
              <a:ext cx="200026" cy="200026"/>
              <a:chOff x="7102793" y="5239703"/>
              <a:chExt cx="200026" cy="200026"/>
            </a:xfrm>
          </p:grpSpPr>
          <p:sp>
            <p:nvSpPr>
              <p:cNvPr id="139" name="Freeform 139"/>
              <p:cNvSpPr/>
              <p:nvPr/>
            </p:nvSpPr>
            <p:spPr>
              <a:xfrm>
                <a:off x="7102793" y="523970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40" name="Freeform 140"/>
              <p:cNvSpPr/>
              <p:nvPr/>
            </p:nvSpPr>
            <p:spPr>
              <a:xfrm>
                <a:off x="7169468" y="531749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42" name="TextBox 142"/>
            <p:cNvSpPr txBox="1"/>
            <p:nvPr/>
          </p:nvSpPr>
          <p:spPr>
            <a:xfrm>
              <a:off x="7405878" y="5133499"/>
              <a:ext cx="37762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后移总数 9 正好是本例的逆序对个数。插入排序搬一</a:t>
              </a:r>
              <a:br/>
              <a:r>
                <a:rPr lang="zh-CN" sz="128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次元素就消掉一个逆序对。</a:t>
              </a:r>
            </a:p>
          </p:txBody>
        </p:sp>
      </p:grpSp>
      <p:grpSp>
        <p:nvGrpSpPr>
          <p:cNvPr id="150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44" name="Rectangle 14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48" name="Group 148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145" name="Freeform 145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6" name="Freeform 146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7" name="Freeform 147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49" name="TextBox 149"/>
            <p:cNvSpPr txBox="1"/>
            <p:nvPr/>
          </p:nvSpPr>
          <p:spPr>
            <a:xfrm>
              <a:off x="1041273" y="6039326"/>
              <a:ext cx="75430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i=6 时 5* 遇到 5 停下来，插在 5 的后面，两个相等元素的先后没变，这就是插入排序稳定的原因。</a:t>
              </a:r>
            </a:p>
          </p:txBody>
        </p:sp>
      </p:grpSp>
      <p:grpSp>
        <p:nvGrpSpPr>
          <p:cNvPr id="1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1" name="TextBox 151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152" name="TextBox 1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861685" cy="909257"/>
            <a:chOff x="520446" y="342900"/>
            <a:chExt cx="586168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直接插入排序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86168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一趟插入的内部动作：先探路，再让位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195210" cy="264033"/>
            <a:chOff x="526542" y="1545907"/>
            <a:chExt cx="4195210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1952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以第 6 趟为例，K = 5*，指针 j 从 i−1 出发往左扫。</a:t>
              </a:r>
            </a:p>
          </p:txBody>
        </p:sp>
      </p:grpSp>
      <p:grpSp>
        <p:nvGrpSpPr>
          <p:cNvPr id="75" name="c1-cells-1"/>
          <p:cNvGrpSpPr/>
          <p:nvPr/>
        </p:nvGrpSpPr>
        <p:grpSpPr>
          <a:xfrm>
            <a:off x="528638" y="1954054"/>
            <a:ext cx="2820352" cy="2890361"/>
            <a:chOff x="528638" y="1954054"/>
            <a:chExt cx="2820352" cy="2890361"/>
          </a:xfrm>
        </p:grpSpPr>
        <p:sp>
          <p:nvSpPr>
            <p:cNvPr id="9" name="TextBox 9"/>
            <p:cNvSpPr txBox="1"/>
            <p:nvPr/>
          </p:nvSpPr>
          <p:spPr>
            <a:xfrm>
              <a:off x="528638" y="2317432"/>
              <a:ext cx="1876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j=5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34390" y="21955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04193" y="23174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253490" y="21955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423293" y="23174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672590" y="21955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842393" y="23174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091690" y="21955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61493" y="23174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510790" y="2195512"/>
              <a:ext cx="419100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680593" y="23174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929890" y="2195512"/>
              <a:ext cx="419100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099693" y="231743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08821" y="26055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27921" y="26055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47021" y="26055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66121" y="26055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85221" y="26055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04321" y="26055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98191" y="1954054"/>
              <a:ext cx="442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29" name="Freeform 29"/>
            <p:cNvSpPr/>
            <p:nvPr/>
          </p:nvSpPr>
          <p:spPr>
            <a:xfrm>
              <a:off x="2682240" y="210026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28638" y="3202305"/>
              <a:ext cx="1876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j=4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834390" y="308038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04193" y="320230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253490" y="308038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423293" y="320230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672590" y="308038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842393" y="320230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091690" y="3080385"/>
              <a:ext cx="419100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261493" y="320230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2510790" y="3080385"/>
              <a:ext cx="419100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680593" y="320230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929890" y="308038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099693" y="320230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279091" y="2838926"/>
              <a:ext cx="442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44" name="Freeform 44"/>
            <p:cNvSpPr/>
            <p:nvPr/>
          </p:nvSpPr>
          <p:spPr>
            <a:xfrm>
              <a:off x="2263140" y="298513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28638" y="3906202"/>
              <a:ext cx="1876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j=3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34390" y="378428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04193" y="390620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253490" y="378428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423293" y="390620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672590" y="3784282"/>
              <a:ext cx="419100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842393" y="390620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2091690" y="3784282"/>
              <a:ext cx="419100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261493" y="390620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2510790" y="378428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680593" y="390620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2929890" y="378428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099693" y="390620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859991" y="3542824"/>
              <a:ext cx="442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59" name="Freeform 59"/>
            <p:cNvSpPr/>
            <p:nvPr/>
          </p:nvSpPr>
          <p:spPr>
            <a:xfrm>
              <a:off x="1844040" y="368903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528638" y="4610100"/>
              <a:ext cx="18762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j=2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34390" y="44881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04193" y="46101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253490" y="4488180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423293" y="46101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672590" y="4488180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807409" y="46101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2091690" y="44881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2261493" y="46101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2510790" y="44881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2680593" y="46101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2929890" y="44881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3099693" y="46101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440891" y="4246721"/>
              <a:ext cx="4429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74" name="Freeform 74"/>
            <p:cNvSpPr/>
            <p:nvPr/>
          </p:nvSpPr>
          <p:spPr>
            <a:xfrm>
              <a:off x="1424940" y="439293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81" name="c1-callout-2"/>
          <p:cNvGrpSpPr/>
          <p:nvPr/>
        </p:nvGrpSpPr>
        <p:grpSpPr>
          <a:xfrm>
            <a:off x="533400" y="5009198"/>
            <a:ext cx="5626418" cy="702945"/>
            <a:chOff x="533400" y="5009198"/>
            <a:chExt cx="5626418" cy="702945"/>
          </a:xfrm>
        </p:grpSpPr>
        <p:sp>
          <p:nvSpPr>
            <p:cNvPr id="76" name="Rectangle 76"/>
            <p:cNvSpPr/>
            <p:nvPr/>
          </p:nvSpPr>
          <p:spPr>
            <a:xfrm>
              <a:off x="533400" y="5009198"/>
              <a:ext cx="5626418" cy="702945"/>
            </a:xfrm>
            <a:prstGeom prst="roundRect">
              <a:avLst>
                <a:gd name="adj" fmla="val 1626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38188" y="5260660"/>
              <a:ext cx="200023" cy="200023"/>
              <a:chOff x="738188" y="5260660"/>
              <a:chExt cx="200023" cy="200023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738188" y="526066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71538" y="5327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041273" y="5153501"/>
              <a:ext cx="46296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循环条件 </a:t>
              </a:r>
              <a:r>
                <a:rPr lang="en-US" sz="128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R[j] &gt; K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用的是严格大于，遇到与 K 相等的元素就停，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相等元素不会被跨过。</a:t>
              </a:r>
            </a:p>
          </p:txBody>
        </p:sp>
      </p:grpSp>
      <p:grpSp>
        <p:nvGrpSpPr>
          <p:cNvPr id="95" name="c2-steps-1"/>
          <p:cNvGrpSpPr/>
          <p:nvPr/>
        </p:nvGrpSpPr>
        <p:grpSpPr>
          <a:xfrm>
            <a:off x="6464618" y="1938338"/>
            <a:ext cx="4998339" cy="1982723"/>
            <a:chOff x="6464618" y="1938338"/>
            <a:chExt cx="4998339" cy="1982723"/>
          </a:xfrm>
        </p:grpSpPr>
        <p:sp>
          <p:nvSpPr>
            <p:cNvPr id="82" name="Rectangle 82"/>
            <p:cNvSpPr/>
            <p:nvPr/>
          </p:nvSpPr>
          <p:spPr>
            <a:xfrm>
              <a:off x="6597968" y="2081212"/>
              <a:ext cx="19050" cy="12992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6464618" y="193833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558241" y="20121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5" name="Ellipse 85"/>
            <p:cNvSpPr/>
            <p:nvPr/>
          </p:nvSpPr>
          <p:spPr>
            <a:xfrm>
              <a:off x="6464618" y="249078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558241" y="25646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7" name="Ellipse 87"/>
            <p:cNvSpPr/>
            <p:nvPr/>
          </p:nvSpPr>
          <p:spPr>
            <a:xfrm>
              <a:off x="6464618" y="323754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558241" y="33113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877241" y="196834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暂存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878384" y="2223135"/>
              <a:ext cx="41311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 R[i] 取到变量 K 里，R[i] 这个格子就空出来了，可以被覆盖。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6877241" y="252174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扫描并后移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878384" y="2776538"/>
              <a:ext cx="458457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从 i−1 往左走，只要 R[j] &gt; K 就执行 R[j+1] = R[j]，把它挪到右边的空格，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空格跟着左移一格。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877241" y="326850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落位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878384" y="3522345"/>
              <a:ext cx="4384548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循环停在第一个不大于 K 的元素上（或走出左边界），此时 R[j+1] 就是空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格，写入 K。</a:t>
              </a:r>
            </a:p>
          </p:txBody>
        </p:sp>
      </p:grpSp>
      <p:grpSp>
        <p:nvGrpSpPr>
          <p:cNvPr id="102" name="c2-callout-2"/>
          <p:cNvGrpSpPr/>
          <p:nvPr/>
        </p:nvGrpSpPr>
        <p:grpSpPr>
          <a:xfrm>
            <a:off x="6464618" y="4083368"/>
            <a:ext cx="5193982" cy="1628775"/>
            <a:chOff x="6464618" y="4083368"/>
            <a:chExt cx="5193982" cy="1628775"/>
          </a:xfrm>
        </p:grpSpPr>
        <p:sp>
          <p:nvSpPr>
            <p:cNvPr id="96" name="Rectangle 96"/>
            <p:cNvSpPr/>
            <p:nvPr/>
          </p:nvSpPr>
          <p:spPr>
            <a:xfrm>
              <a:off x="6464618" y="4083368"/>
              <a:ext cx="5193982" cy="1628775"/>
            </a:xfrm>
            <a:prstGeom prst="roundRect">
              <a:avLst>
                <a:gd name="adj" fmla="val 7018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00" name="Group 100"/>
            <p:cNvGrpSpPr/>
            <p:nvPr/>
          </p:nvGrpSpPr>
          <p:grpSpPr>
            <a:xfrm>
              <a:off x="6657347" y="4794051"/>
              <a:ext cx="224134" cy="192560"/>
              <a:chOff x="6657347" y="4794051"/>
              <a:chExt cx="224134" cy="192560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6769418" y="486441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8" name="Freeform 98"/>
              <p:cNvSpPr/>
              <p:nvPr/>
            </p:nvSpPr>
            <p:spPr>
              <a:xfrm>
                <a:off x="6657347" y="479405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6769418" y="494220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01" name="TextBox 101"/>
            <p:cNvSpPr txBox="1"/>
            <p:nvPr/>
          </p:nvSpPr>
          <p:spPr>
            <a:xfrm>
              <a:off x="6972491" y="4690586"/>
              <a:ext cx="4312666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条件里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j &gt;= 1</a:t>
              </a:r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必须写在前面。j 减到 0 时若先取 R[j] 就读到</a:t>
              </a:r>
              <a:br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了没用的 R[0]。</a:t>
              </a:r>
            </a:p>
          </p:txBody>
        </p:sp>
      </p:grpSp>
      <p:grpSp>
        <p:nvGrpSpPr>
          <p:cNvPr id="10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03" name="Rectangle 10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07" name="Group 10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5" name="Freeform 10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08" name="TextBox 108"/>
            <p:cNvSpPr txBox="1"/>
            <p:nvPr/>
          </p:nvSpPr>
          <p:spPr>
            <a:xfrm>
              <a:off x="1041273" y="6039326"/>
              <a:ext cx="623347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探路和让位共用一个循环，是插入排序比“先二分查找再整体后移”更省事的地方。</a:t>
              </a:r>
            </a:p>
          </p:txBody>
        </p:sp>
      </p:grpSp>
      <p:grpSp>
        <p:nvGrpSpPr>
          <p:cNvPr id="11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0" name="TextBox 110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553412" cy="909257"/>
            <a:chOff x="520446" y="342900"/>
            <a:chExt cx="35534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直接插入排序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5534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直接插入排序的 C 实现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ode-1"/>
          <p:cNvGrpSpPr/>
          <p:nvPr/>
        </p:nvGrpSpPr>
        <p:grpSpPr>
          <a:xfrm>
            <a:off x="533400" y="1524000"/>
            <a:ext cx="6276022" cy="2440305"/>
            <a:chOff x="533400" y="1524000"/>
            <a:chExt cx="6276022" cy="24403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2440305"/>
            </a:xfrm>
            <a:prstGeom prst="roundRect">
              <a:avLst>
                <a:gd name="adj" fmla="val 390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391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InsertionSort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602230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778442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2954655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3306128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1101" y="1935956"/>
              <a:ext cx="146812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388"/>
                </a:lnSpc>
              </a:pPr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10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2307" y="1935956"/>
              <a:ext cx="4141978" cy="19528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InsertionSort(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{                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对 R[1]...R[n] 递增排序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2; i &lt;= n; i++)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R[i], j = i - 1;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K 暂存待插入的关键词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&gt;= 1 &amp;&amp; R[j] &gt; K)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R[j + 1] = R[j];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比 K 大的一律右移一格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j--;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R[j + 1] = K;    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空格就是插入位置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6" name="c1-card-2"/>
          <p:cNvGrpSpPr/>
          <p:nvPr/>
        </p:nvGrpSpPr>
        <p:grpSpPr>
          <a:xfrm>
            <a:off x="533400" y="4129088"/>
            <a:ext cx="6276022" cy="1448752"/>
            <a:chOff x="533400" y="4129088"/>
            <a:chExt cx="6276022" cy="1448752"/>
          </a:xfrm>
        </p:grpSpPr>
        <p:sp>
          <p:nvSpPr>
            <p:cNvPr id="16" name="Rectangle 16"/>
            <p:cNvSpPr/>
            <p:nvPr/>
          </p:nvSpPr>
          <p:spPr>
            <a:xfrm>
              <a:off x="533400" y="4129088"/>
              <a:ext cx="6276022" cy="1448752"/>
            </a:xfrm>
            <a:prstGeom prst="roundRect">
              <a:avLst>
                <a:gd name="adj" fmla="val 92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542925" y="4262438"/>
              <a:ext cx="47625" cy="118205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52475" y="431006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33946" y="43429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循环不变式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691830" y="434959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每一趟开始前和结束后各成立一句话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62000" y="471868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17448" y="4666774"/>
              <a:ext cx="52664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趟开始前：R[1] 到 R[i−1] 已经有序，R[i] 到 R[n] 还是原样。</a:t>
              </a:r>
            </a:p>
          </p:txBody>
        </p:sp>
        <p:sp>
          <p:nvSpPr>
            <p:cNvPr id="23" name="Ellipse 23"/>
            <p:cNvSpPr/>
            <p:nvPr/>
          </p:nvSpPr>
          <p:spPr>
            <a:xfrm>
              <a:off x="762000" y="500348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917448" y="4951571"/>
              <a:ext cx="5693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i 趟结束后：R[1] 到 R[i] 有序，且这 i 个元素就是原来的前 i 个元素。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7141" y="5233035"/>
              <a:ext cx="52742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循环结束时 i = n+1，于是 R[1] 到 R[n] 有序。用这两句话就能说清算法为什么对。</a:t>
              </a:r>
            </a:p>
          </p:txBody>
        </p:sp>
      </p:grpSp>
      <p:grpSp>
        <p:nvGrpSpPr>
          <p:cNvPr id="35" name="c2-kv-1"/>
          <p:cNvGrpSpPr/>
          <p:nvPr/>
        </p:nvGrpSpPr>
        <p:grpSpPr>
          <a:xfrm>
            <a:off x="7107746" y="1545431"/>
            <a:ext cx="4550854" cy="997077"/>
            <a:chOff x="7107746" y="1545431"/>
            <a:chExt cx="4550854" cy="997077"/>
          </a:xfrm>
        </p:grpSpPr>
        <p:sp>
          <p:nvSpPr>
            <p:cNvPr id="27" name="TextBox 27"/>
            <p:cNvSpPr txBox="1"/>
            <p:nvPr/>
          </p:nvSpPr>
          <p:spPr>
            <a:xfrm>
              <a:off x="7107746" y="1545431"/>
              <a:ext cx="672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52551" y="1545431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本趟待插入元素的下标，取值 2 到 n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114222" y="181737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07746" y="1918811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K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52551" y="1918811"/>
              <a:ext cx="4030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待插入的关键词副本，不能直接用 R[i]，它会被覆盖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114222" y="219075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07746" y="2293144"/>
              <a:ext cx="672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52551" y="2293144"/>
              <a:ext cx="24253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在有序区里从右往左扫描的指针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7114222" y="2657475"/>
            <a:ext cx="4544378" cy="2920365"/>
            <a:chOff x="7114222" y="2657475"/>
            <a:chExt cx="4544378" cy="2920365"/>
          </a:xfrm>
        </p:grpSpPr>
        <p:sp>
          <p:nvSpPr>
            <p:cNvPr id="36" name="Rectangle 36"/>
            <p:cNvSpPr/>
            <p:nvPr/>
          </p:nvSpPr>
          <p:spPr>
            <a:xfrm>
              <a:off x="7114222" y="2657475"/>
              <a:ext cx="4544378" cy="2920365"/>
            </a:xfrm>
            <a:prstGeom prst="roundRect">
              <a:avLst>
                <a:gd name="adj" fmla="val 456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7123748" y="2790825"/>
              <a:ext cx="47625" cy="26536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333298" y="283845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425017" y="287131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899273" y="28779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三个边界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7342822" y="324707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498270" y="3194209"/>
              <a:ext cx="36731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从 2 开始，不是 1。R[1] 本身已经是有序表。</a:t>
              </a:r>
            </a:p>
          </p:txBody>
        </p:sp>
        <p:sp>
          <p:nvSpPr>
            <p:cNvPr id="43" name="Ellipse 43"/>
            <p:cNvSpPr/>
            <p:nvPr/>
          </p:nvSpPr>
          <p:spPr>
            <a:xfrm>
              <a:off x="7342822" y="353187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498270" y="3479006"/>
              <a:ext cx="30780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循环写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R[j] &gt; K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，写成 </a:t>
              </a:r>
              <a:r>
                <a:rPr lang="zh-CN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&gt;=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就不稳定了。</a:t>
              </a:r>
            </a:p>
          </p:txBody>
        </p:sp>
        <p:sp>
          <p:nvSpPr>
            <p:cNvPr id="45" name="Ellipse 45"/>
            <p:cNvSpPr/>
            <p:nvPr/>
          </p:nvSpPr>
          <p:spPr>
            <a:xfrm>
              <a:off x="7342822" y="381666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498270" y="3764756"/>
              <a:ext cx="37355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落位写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R[j+1] = K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，不是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R[j] = K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。循环退出时 j 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经多减了一次。</a:t>
              </a:r>
            </a:p>
          </p:txBody>
        </p:sp>
      </p:grpSp>
      <p:grpSp>
        <p:nvGrpSpPr>
          <p:cNvPr id="5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8" name="Rectangle 4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41273" y="6039326"/>
              <a:ext cx="63368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本页代码已用 zig cc 编译并与 qsort 对拍，n 从 0 到 60 各随机 400 轮结果一致。</a:t>
              </a:r>
            </a:p>
          </p:txBody>
        </p:sp>
      </p:grpSp>
      <p:grpSp>
        <p:nvGrpSpPr>
          <p:cNvPr id="5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5" name="TextBox 55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直接插入排序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直接插入排序的时间代价：好坏差一个数量级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9" name="c1-cells-1"/>
          <p:cNvGrpSpPr/>
          <p:nvPr/>
        </p:nvGrpSpPr>
        <p:grpSpPr>
          <a:xfrm>
            <a:off x="528447" y="1524000"/>
            <a:ext cx="2901505" cy="1099185"/>
            <a:chOff x="528447" y="1524000"/>
            <a:chExt cx="2901505" cy="1099185"/>
          </a:xfrm>
        </p:grpSpPr>
        <p:sp>
          <p:nvSpPr>
            <p:cNvPr id="7" name="TextBox 7"/>
            <p:cNvSpPr txBox="1"/>
            <p:nvPr/>
          </p:nvSpPr>
          <p:spPr>
            <a:xfrm>
              <a:off x="528447" y="165401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最好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15352" y="1524000"/>
              <a:ext cx="41910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81855" y="16540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334452" y="1524000"/>
              <a:ext cx="41910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00955" y="16540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53552" y="1524000"/>
              <a:ext cx="41910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881961" y="1654016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172652" y="1524000"/>
              <a:ext cx="41910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339155" y="16540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91752" y="1524000"/>
              <a:ext cx="41910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58255" y="16540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010852" y="1524000"/>
              <a:ext cx="41910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177355" y="1654016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89783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08883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927983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347083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766183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185283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8447" y="237220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最坏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15352" y="2242185"/>
              <a:ext cx="419100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081855" y="23722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334452" y="2242185"/>
              <a:ext cx="419100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500955" y="23722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753552" y="2242185"/>
              <a:ext cx="419100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920055" y="23722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172652" y="2242185"/>
              <a:ext cx="419100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301061" y="237220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591752" y="2242185"/>
              <a:ext cx="419100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758255" y="23722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010852" y="2242185"/>
              <a:ext cx="419100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177355" y="237220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  <p:grpSp>
        <p:nvGrpSpPr>
          <p:cNvPr id="64" name="c1-table-2"/>
          <p:cNvGrpSpPr/>
          <p:nvPr/>
        </p:nvGrpSpPr>
        <p:grpSpPr>
          <a:xfrm>
            <a:off x="533400" y="2798445"/>
            <a:ext cx="5410200" cy="1623060"/>
            <a:chOff x="533400" y="2798445"/>
            <a:chExt cx="5410200" cy="1623060"/>
          </a:xfrm>
        </p:grpSpPr>
        <p:sp>
          <p:nvSpPr>
            <p:cNvPr id="40" name="Rectangle 40"/>
            <p:cNvSpPr/>
            <p:nvPr/>
          </p:nvSpPr>
          <p:spPr>
            <a:xfrm>
              <a:off x="533400" y="2798445"/>
              <a:ext cx="5410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02716" y="292274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情况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340686" y="292274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每趟比较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653092" y="292274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总比较次数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71948" y="292274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阶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33412" y="332851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已递增有序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085975" y="3328511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次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409950" y="332851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n−1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861560" y="3328511"/>
              <a:ext cx="4021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3605212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3400" y="3609975"/>
              <a:ext cx="5410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3412" y="373427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085975" y="373427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i/2 次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3409950" y="3734276"/>
              <a:ext cx="5391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约 n²/4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861560" y="3734276"/>
              <a:ext cx="4916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401097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3412" y="414004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初始逆序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085975" y="4140041"/>
              <a:ext cx="418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i−1 次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409950" y="4140041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n(n−1)/2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861560" y="4140041"/>
              <a:ext cx="4916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533400" y="2798445"/>
              <a:ext cx="5410200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1" name="Rectangle 61"/>
            <p:cNvSpPr/>
            <p:nvPr/>
          </p:nvSpPr>
          <p:spPr>
            <a:xfrm>
              <a:off x="1981200" y="279844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3305175" y="279844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4756785" y="279844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0" name="c1-callout-3"/>
          <p:cNvGrpSpPr/>
          <p:nvPr/>
        </p:nvGrpSpPr>
        <p:grpSpPr>
          <a:xfrm>
            <a:off x="533400" y="4596765"/>
            <a:ext cx="5410200" cy="729615"/>
            <a:chOff x="533400" y="4596765"/>
            <a:chExt cx="5410200" cy="729615"/>
          </a:xfrm>
        </p:grpSpPr>
        <p:sp>
          <p:nvSpPr>
            <p:cNvPr id="65" name="Rectangle 65"/>
            <p:cNvSpPr/>
            <p:nvPr/>
          </p:nvSpPr>
          <p:spPr>
            <a:xfrm>
              <a:off x="533400" y="4596765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738188" y="4861560"/>
              <a:ext cx="200026" cy="200026"/>
              <a:chOff x="738188" y="4861560"/>
              <a:chExt cx="200026" cy="200026"/>
            </a:xfrm>
          </p:grpSpPr>
          <p:sp>
            <p:nvSpPr>
              <p:cNvPr id="66" name="Freeform 66"/>
              <p:cNvSpPr/>
              <p:nvPr/>
            </p:nvSpPr>
            <p:spPr>
              <a:xfrm>
                <a:off x="738188" y="486156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67" name="Freeform 67"/>
              <p:cNvSpPr/>
              <p:nvPr/>
            </p:nvSpPr>
            <p:spPr>
              <a:xfrm>
                <a:off x="804863" y="493934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69" name="TextBox 69"/>
            <p:cNvSpPr txBox="1"/>
            <p:nvPr/>
          </p:nvSpPr>
          <p:spPr>
            <a:xfrm>
              <a:off x="1040892" y="4743450"/>
              <a:ext cx="439426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已有序时每趟只比一次就停，因为 R[i] 不小于有序区的最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后一个元素。</a:t>
              </a:r>
            </a:p>
          </p:txBody>
        </p:sp>
      </p:grpSp>
      <p:grpSp>
        <p:nvGrpSpPr>
          <p:cNvPr id="83" name="c2-card-1"/>
          <p:cNvGrpSpPr/>
          <p:nvPr/>
        </p:nvGrpSpPr>
        <p:grpSpPr>
          <a:xfrm>
            <a:off x="6248400" y="1524000"/>
            <a:ext cx="5410200" cy="2609850"/>
            <a:chOff x="6248400" y="1524000"/>
            <a:chExt cx="5410200" cy="2609850"/>
          </a:xfrm>
        </p:grpSpPr>
        <p:sp>
          <p:nvSpPr>
            <p:cNvPr id="71" name="Rectangle 71"/>
            <p:cNvSpPr/>
            <p:nvPr/>
          </p:nvSpPr>
          <p:spPr>
            <a:xfrm>
              <a:off x="6248400" y="1524000"/>
              <a:ext cx="5410200" cy="2609850"/>
            </a:xfrm>
            <a:prstGeom prst="roundRect">
              <a:avLst>
                <a:gd name="adj" fmla="val 51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6257925" y="1657350"/>
              <a:ext cx="47625" cy="2343150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478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570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062597" y="175641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三个可以自己验算的数</a:t>
              </a:r>
            </a:p>
          </p:txBody>
        </p:sp>
        <p:sp>
          <p:nvSpPr>
            <p:cNvPr id="76" name="Ellipse 76"/>
            <p:cNvSpPr/>
            <p:nvPr/>
          </p:nvSpPr>
          <p:spPr>
            <a:xfrm>
              <a:off x="6487478" y="214693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6643497" y="2090738"/>
              <a:ext cx="45228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最好情况：比较 n−1 次，移动 2(n−1) 次（每趟只有 K 进出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暂存单元）。</a:t>
              </a:r>
            </a:p>
          </p:txBody>
        </p:sp>
        <p:sp>
          <p:nvSpPr>
            <p:cNvPr id="78" name="Ellipse 78"/>
            <p:cNvSpPr/>
            <p:nvPr/>
          </p:nvSpPr>
          <p:spPr>
            <a:xfrm>
              <a:off x="6487478" y="270605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6643497" y="2649855"/>
              <a:ext cx="432568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最坏情况：比较 n(n−1)/2 次，移动 n(n−1)/2 + 2(n−1)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次。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6487478" y="326612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643497" y="3209925"/>
              <a:ext cx="38199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平均比较次数精确值是 n²/4 + 3n/4 − H(n)，其中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H(n)=1+1/2+…+1/n，主项就是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n²/4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6473190" y="3765709"/>
              <a:ext cx="4210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 ≤ 7 的全部排列穷举验证过这个公式，n=6 时平均 11.05 次。</a:t>
              </a:r>
            </a:p>
          </p:txBody>
        </p:sp>
      </p:grpSp>
      <p:grpSp>
        <p:nvGrpSpPr>
          <p:cNvPr id="89" name="c2-callout-2"/>
          <p:cNvGrpSpPr/>
          <p:nvPr/>
        </p:nvGrpSpPr>
        <p:grpSpPr>
          <a:xfrm>
            <a:off x="6248400" y="4309110"/>
            <a:ext cx="5410200" cy="1017270"/>
            <a:chOff x="6248400" y="4309110"/>
            <a:chExt cx="5410200" cy="1017270"/>
          </a:xfrm>
        </p:grpSpPr>
        <p:sp>
          <p:nvSpPr>
            <p:cNvPr id="84" name="Rectangle 84"/>
            <p:cNvSpPr/>
            <p:nvPr/>
          </p:nvSpPr>
          <p:spPr>
            <a:xfrm>
              <a:off x="6248400" y="4309110"/>
              <a:ext cx="5410200" cy="1017270"/>
            </a:xfrm>
            <a:prstGeom prst="roundRect">
              <a:avLst>
                <a:gd name="adj" fmla="val 1123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87" name="Group 87"/>
            <p:cNvGrpSpPr/>
            <p:nvPr/>
          </p:nvGrpSpPr>
          <p:grpSpPr>
            <a:xfrm>
              <a:off x="6453188" y="4717735"/>
              <a:ext cx="200023" cy="200023"/>
              <a:chOff x="6453188" y="4717735"/>
              <a:chExt cx="200023" cy="200023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6453188" y="471773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86" name="Freeform 86"/>
              <p:cNvSpPr/>
              <p:nvPr/>
            </p:nvSpPr>
            <p:spPr>
              <a:xfrm>
                <a:off x="6586538" y="478440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8" name="TextBox 88"/>
            <p:cNvSpPr txBox="1"/>
            <p:nvPr/>
          </p:nvSpPr>
          <p:spPr>
            <a:xfrm>
              <a:off x="6755892" y="4598670"/>
              <a:ext cx="439426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元素后移的总次数恒等于输入序列的逆序对数，所以“基本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有序”时插入排序真的快。</a:t>
              </a:r>
            </a:p>
          </p:txBody>
        </p:sp>
      </p:grpSp>
      <p:grpSp>
        <p:nvGrpSpPr>
          <p:cNvPr id="96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90" name="Rectangle 90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726129" y="5894188"/>
              <a:ext cx="224134" cy="192560"/>
              <a:chOff x="726129" y="5894188"/>
              <a:chExt cx="224134" cy="192560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838200" y="596455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726129" y="589418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838200" y="60423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1040892" y="5779770"/>
              <a:ext cx="948632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O(n²) 的前提：顺序存储、元素定长、比较和移动各算一次基本操作。改用链表存储可以省下移动，但比较次数不变，阶仍是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O(n²)。</a:t>
              </a: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7" name="TextBox 97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直接插入排序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直接插入排序小结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6059805" cy="811530"/>
            <a:chOff x="533400" y="1524000"/>
            <a:chExt cx="6059805" cy="81153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17651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排序算法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0475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13439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10499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3463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82221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稳定性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205406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直接插入排序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926908" y="1939290"/>
              <a:ext cx="869632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017395" y="2054066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06077" y="2054066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76675" y="2054066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47272" y="2054066"/>
              <a:ext cx="393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645468" y="1939290"/>
              <a:ext cx="938212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735955" y="2054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1524000"/>
              <a:ext cx="6059805" cy="81153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912620" y="1524000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801302" y="1524000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771900" y="1524000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742498" y="1524000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631180" y="1524000"/>
              <a:ext cx="9525" cy="81153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5" name="c1-bullets-2"/>
          <p:cNvGrpSpPr/>
          <p:nvPr/>
        </p:nvGrpSpPr>
        <p:grpSpPr>
          <a:xfrm>
            <a:off x="533400" y="2532698"/>
            <a:ext cx="6084456" cy="1401318"/>
            <a:chOff x="533400" y="2532698"/>
            <a:chExt cx="6084456" cy="1401318"/>
          </a:xfrm>
        </p:grpSpPr>
        <p:sp>
          <p:nvSpPr>
            <p:cNvPr id="29" name="Freeform 29"/>
            <p:cNvSpPr/>
            <p:nvPr/>
          </p:nvSpPr>
          <p:spPr>
            <a:xfrm>
              <a:off x="533400" y="256127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70382" y="2532698"/>
              <a:ext cx="55258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“短文件”时快：n 小的时候 n²/4 这个常数很小，实际库函数在 n &lt; 16 左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右会直接改用插入排序。</a:t>
              </a:r>
            </a:p>
          </p:txBody>
        </p:sp>
        <p:sp>
          <p:nvSpPr>
            <p:cNvPr id="31" name="Freeform 31"/>
            <p:cNvSpPr/>
            <p:nvPr/>
          </p:nvSpPr>
          <p:spPr>
            <a:xfrm>
              <a:off x="533400" y="312991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70382" y="3101340"/>
              <a:ext cx="58474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“基本有序”时快：移动次数等于逆序对数，接近有序意味着逆序对很少。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533400" y="3440430"/>
              <a:ext cx="129540" cy="105728"/>
            </a:xfrm>
            <a:custGeom>
              <a:avLst/>
              <a:gdLst/>
              <a:ahLst/>
              <a:cxnLst/>
              <a:rect l="l" t="t" r="r" b="b"/>
              <a:pathLst>
                <a:path w="129540" h="105728">
                  <a:moveTo>
                    <a:pt x="0" y="56198"/>
                  </a:moveTo>
                  <a:lnTo>
                    <a:pt x="49530" y="105728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70382" y="3412808"/>
              <a:ext cx="53286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适合增量数据环境：已经排好一批，又来了几个新记录，直接往里插即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可。</a:t>
              </a:r>
            </a:p>
          </p:txBody>
        </p:sp>
      </p:grpSp>
      <p:grpSp>
        <p:nvGrpSpPr>
          <p:cNvPr id="44" name="c1-card-3"/>
          <p:cNvGrpSpPr/>
          <p:nvPr/>
        </p:nvGrpSpPr>
        <p:grpSpPr>
          <a:xfrm>
            <a:off x="533400" y="4055745"/>
            <a:ext cx="6059805" cy="2049780"/>
            <a:chOff x="533400" y="4055745"/>
            <a:chExt cx="6059805" cy="2049780"/>
          </a:xfrm>
        </p:grpSpPr>
        <p:sp>
          <p:nvSpPr>
            <p:cNvPr id="36" name="Rectangle 36"/>
            <p:cNvSpPr/>
            <p:nvPr/>
          </p:nvSpPr>
          <p:spPr>
            <a:xfrm>
              <a:off x="533400" y="4055745"/>
              <a:ext cx="6059805" cy="2049780"/>
            </a:xfrm>
            <a:prstGeom prst="roundRect">
              <a:avLst>
                <a:gd name="adj" fmla="val 65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542925" y="4189095"/>
              <a:ext cx="47625" cy="178308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63905" y="424815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5345" y="428244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47597" y="428815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逆序对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57047" y="4621530"/>
              <a:ext cx="53029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序列中一对下标 i &lt; j，若 R[i] &gt; R[j]，就称 (R[i], R[j]) 是一个逆序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对。注意这里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不要求相邻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57047" y="5181600"/>
              <a:ext cx="49086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例子 8 9 2 5 7 5* 共有 9 个逆序对：(8,2) (8,5) (8,7) (8,5*)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(9,2) (9,5) (9,7) (9,5*) (7,5*)。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8190" y="5737384"/>
              <a:ext cx="40144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完全有序时逆序对为 0，完全逆序时达到最大值 n(n−1)/2。</a:t>
              </a:r>
            </a:p>
          </p:txBody>
        </p:sp>
      </p:grpSp>
      <p:grpSp>
        <p:nvGrpSpPr>
          <p:cNvPr id="51" name="c2-callout-1"/>
          <p:cNvGrpSpPr/>
          <p:nvPr/>
        </p:nvGrpSpPr>
        <p:grpSpPr>
          <a:xfrm>
            <a:off x="6898005" y="1524000"/>
            <a:ext cx="4760595" cy="729615"/>
            <a:chOff x="6898005" y="1524000"/>
            <a:chExt cx="4760595" cy="729615"/>
          </a:xfrm>
        </p:grpSpPr>
        <p:sp>
          <p:nvSpPr>
            <p:cNvPr id="45" name="Rectangle 45"/>
            <p:cNvSpPr/>
            <p:nvPr/>
          </p:nvSpPr>
          <p:spPr>
            <a:xfrm>
              <a:off x="6898005" y="1524000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7102793" y="1788795"/>
              <a:ext cx="200026" cy="200026"/>
              <a:chOff x="7102793" y="1788795"/>
              <a:chExt cx="200026" cy="200026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7102793" y="17887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202805" y="18554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7191693" y="18888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7405497" y="1669732"/>
              <a:ext cx="37856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希尔排序就是把插入排序拆到若干个子序列上分别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做，本讲第五部分会用到这里的全部结论。</a:t>
              </a:r>
            </a:p>
          </p:txBody>
        </p:sp>
      </p:grpSp>
      <p:grpSp>
        <p:nvGrpSpPr>
          <p:cNvPr id="63" name="c2-card-2"/>
          <p:cNvGrpSpPr/>
          <p:nvPr/>
        </p:nvGrpSpPr>
        <p:grpSpPr>
          <a:xfrm>
            <a:off x="6898005" y="2428875"/>
            <a:ext cx="4760595" cy="3677602"/>
            <a:chOff x="6898005" y="2428875"/>
            <a:chExt cx="4760595" cy="3677602"/>
          </a:xfrm>
        </p:grpSpPr>
        <p:sp>
          <p:nvSpPr>
            <p:cNvPr id="52" name="Rectangle 52"/>
            <p:cNvSpPr/>
            <p:nvPr/>
          </p:nvSpPr>
          <p:spPr>
            <a:xfrm>
              <a:off x="6898005" y="2428875"/>
              <a:ext cx="4760595" cy="3677602"/>
            </a:xfrm>
            <a:prstGeom prst="roundRect">
              <a:avLst>
                <a:gd name="adj" fmla="val 36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907530" y="2562225"/>
              <a:ext cx="47625" cy="341090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7128510" y="262128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223951" y="265557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578852" y="266033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增量数据环境是什么意思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121652" y="2994660"/>
              <a:ext cx="39913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一张 10000 条的成绩表已按分数排好，现在补录了 5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条。</a:t>
              </a:r>
            </a:p>
          </p:txBody>
        </p:sp>
        <p:sp>
          <p:nvSpPr>
            <p:cNvPr id="58" name="Ellipse 58"/>
            <p:cNvSpPr/>
            <p:nvPr/>
          </p:nvSpPr>
          <p:spPr>
            <a:xfrm>
              <a:off x="7137082" y="361092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7293102" y="3554730"/>
              <a:ext cx="375989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重新排一遍：O(n log n)，约 10000 × log₂10000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≈ 1.3×10⁵ 次比较。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137082" y="417004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293102" y="4113848"/>
              <a:ext cx="34684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对这 5 条各做一次插入：每条最多比较和移动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10000 次，合计约 5×10⁴ 次操作。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122795" y="4670584"/>
              <a:ext cx="413639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补录的记录越少，后者的优势越明显；补录到和原表一样多时就该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整体重排了。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247007" cy="2997517"/>
            <a:chOff x="667512" y="1835468"/>
            <a:chExt cx="4247007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冒泡排序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237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相邻两个反了就换，最大的元素一趟浮到头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一趟冒泡把当前最大元素送到最终位置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记住最后一次交换的位置能省掉大量比较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交换次数恒等于逆序对数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冒泡排序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冒泡排序：把反序对一个一个换掉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2088832"/>
            <a:chOff x="533400" y="1524000"/>
            <a:chExt cx="5410200" cy="20888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088832"/>
            </a:xfrm>
            <a:prstGeom prst="roundRect">
              <a:avLst>
                <a:gd name="adj" fmla="val 638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2213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反序对与一趟冒泡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72478" y="214693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8497" y="2090738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反序对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：两个相邻元素，前面的比后面的大。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244887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2392680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一趟冒泡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：从左往右扫描数组，遇到反序对就交换这两个元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7047" y="2952750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扫描一趟之后，最大元素被换到最右边。把数组竖起来看，最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大元素像气泡一样浮到顶上，这个过程因此得名。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3788092"/>
            <a:ext cx="5410200" cy="729615"/>
            <a:chOff x="533400" y="3788092"/>
            <a:chExt cx="5410200" cy="729615"/>
          </a:xfrm>
        </p:grpSpPr>
        <p:sp>
          <p:nvSpPr>
            <p:cNvPr id="18" name="Rectangle 18"/>
            <p:cNvSpPr/>
            <p:nvPr/>
          </p:nvSpPr>
          <p:spPr>
            <a:xfrm>
              <a:off x="533400" y="3788092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4052890"/>
              <a:ext cx="200023" cy="200023"/>
              <a:chOff x="738188" y="4052890"/>
              <a:chExt cx="200023" cy="20002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405289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71538" y="41195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892" y="3933825"/>
              <a:ext cx="442855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交换只发生在 </a:t>
              </a:r>
              <a:r>
                <a:rPr lang="en-US" sz="135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R[i] &gt; R[i+1]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时。相等不交换，这是冒泡排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序稳定的唯一理由。</a:t>
              </a:r>
            </a:p>
          </p:txBody>
        </p:sp>
      </p:grpSp>
      <p:grpSp>
        <p:nvGrpSpPr>
          <p:cNvPr id="31" name="c1-card-3"/>
          <p:cNvGrpSpPr/>
          <p:nvPr/>
        </p:nvGrpSpPr>
        <p:grpSpPr>
          <a:xfrm>
            <a:off x="533400" y="4692968"/>
            <a:ext cx="5410200" cy="1490662"/>
            <a:chOff x="533400" y="4692968"/>
            <a:chExt cx="5410200" cy="1490662"/>
          </a:xfrm>
        </p:grpSpPr>
        <p:sp>
          <p:nvSpPr>
            <p:cNvPr id="24" name="Rectangle 24"/>
            <p:cNvSpPr/>
            <p:nvPr/>
          </p:nvSpPr>
          <p:spPr>
            <a:xfrm>
              <a:off x="533400" y="4692968"/>
              <a:ext cx="5410200" cy="1490662"/>
            </a:xfrm>
            <a:prstGeom prst="roundRect">
              <a:avLst>
                <a:gd name="adj" fmla="val 89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4826318"/>
              <a:ext cx="47625" cy="122396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63905" y="488537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5345" y="491966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47597" y="4924425"/>
              <a:ext cx="24421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为什么最多 n−1 趟就一定排完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7047" y="5258752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一趟结束时扫描范围内的最大元素一定停在最右端，因为它每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次比较都会把右邻居换到左边。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8190" y="5814536"/>
              <a:ext cx="4376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每趟至少固定一个元素，n−1 趟后剩下的最小元素自然落在首位。</a:t>
              </a:r>
            </a:p>
          </p:txBody>
        </p:sp>
      </p:grpSp>
      <p:grpSp>
        <p:nvGrpSpPr>
          <p:cNvPr id="52" name="c2-flow-1"/>
          <p:cNvGrpSpPr/>
          <p:nvPr/>
        </p:nvGrpSpPr>
        <p:grpSpPr>
          <a:xfrm>
            <a:off x="6648450" y="1859280"/>
            <a:ext cx="4820603" cy="2626996"/>
            <a:chOff x="6648450" y="1859280"/>
            <a:chExt cx="4820603" cy="2626996"/>
          </a:xfrm>
        </p:grpSpPr>
        <p:sp>
          <p:nvSpPr>
            <p:cNvPr id="32" name="Freeform 32"/>
            <p:cNvSpPr/>
            <p:nvPr/>
          </p:nvSpPr>
          <p:spPr>
            <a:xfrm>
              <a:off x="7600950" y="2257425"/>
              <a:ext cx="9525" cy="478155"/>
            </a:xfrm>
            <a:custGeom>
              <a:avLst/>
              <a:gdLst/>
              <a:ahLst/>
              <a:cxnLst/>
              <a:rect l="l" t="t" r="r" b="b"/>
              <a:pathLst>
                <a:path w="9525" h="478155">
                  <a:moveTo>
                    <a:pt x="0" y="0"/>
                  </a:moveTo>
                  <a:lnTo>
                    <a:pt x="0" y="478155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3" name="Freeform 33"/>
            <p:cNvSpPr/>
            <p:nvPr/>
          </p:nvSpPr>
          <p:spPr>
            <a:xfrm>
              <a:off x="7548562" y="273558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4" name="Freeform 34"/>
            <p:cNvSpPr/>
            <p:nvPr/>
          </p:nvSpPr>
          <p:spPr>
            <a:xfrm>
              <a:off x="8553450" y="3128010"/>
              <a:ext cx="484822" cy="9525"/>
            </a:xfrm>
            <a:custGeom>
              <a:avLst/>
              <a:gdLst/>
              <a:ahLst/>
              <a:cxnLst/>
              <a:rect l="l" t="t" r="r" b="b"/>
              <a:pathLst>
                <a:path w="484822" h="9525">
                  <a:moveTo>
                    <a:pt x="0" y="0"/>
                  </a:moveTo>
                  <a:lnTo>
                    <a:pt x="484822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9038272" y="307562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7600950" y="3415665"/>
              <a:ext cx="9525" cy="387667"/>
            </a:xfrm>
            <a:custGeom>
              <a:avLst/>
              <a:gdLst/>
              <a:ahLst/>
              <a:cxnLst/>
              <a:rect l="l" t="t" r="r" b="b"/>
              <a:pathLst>
                <a:path w="9525" h="387667">
                  <a:moveTo>
                    <a:pt x="0" y="0"/>
                  </a:moveTo>
                  <a:lnTo>
                    <a:pt x="0" y="387667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7" name="Freeform 37"/>
            <p:cNvSpPr/>
            <p:nvPr/>
          </p:nvSpPr>
          <p:spPr>
            <a:xfrm>
              <a:off x="7548562" y="38033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38" name="Freeform 38"/>
            <p:cNvSpPr/>
            <p:nvPr/>
          </p:nvSpPr>
          <p:spPr>
            <a:xfrm>
              <a:off x="7600950" y="3327082"/>
              <a:ext cx="2705100" cy="476250"/>
            </a:xfrm>
            <a:custGeom>
              <a:avLst/>
              <a:gdLst/>
              <a:ahLst/>
              <a:cxnLst/>
              <a:rect l="l" t="t" r="r" b="b"/>
              <a:pathLst>
                <a:path w="2705100" h="476250">
                  <a:moveTo>
                    <a:pt x="2705100" y="0"/>
                  </a:moveTo>
                  <a:lnTo>
                    <a:pt x="2705100" y="290512"/>
                  </a:lnTo>
                  <a:lnTo>
                    <a:pt x="0" y="290512"/>
                  </a:lnTo>
                  <a:lnTo>
                    <a:pt x="0" y="47625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7548562" y="3803332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648450" y="1859280"/>
              <a:ext cx="1905000" cy="399098"/>
            </a:xfrm>
            <a:prstGeom prst="roundRect">
              <a:avLst>
                <a:gd name="adj" fmla="val 23866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6648450" y="2840355"/>
              <a:ext cx="1905000" cy="575310"/>
            </a:xfrm>
            <a:custGeom>
              <a:avLst/>
              <a:gdLst/>
              <a:ahLst/>
              <a:cxnLst/>
              <a:rect l="l" t="t" r="r" b="b"/>
              <a:pathLst>
                <a:path w="1905000" h="575310">
                  <a:moveTo>
                    <a:pt x="952500" y="0"/>
                  </a:moveTo>
                  <a:lnTo>
                    <a:pt x="1905000" y="287655"/>
                  </a:lnTo>
                  <a:lnTo>
                    <a:pt x="952500" y="575310"/>
                  </a:lnTo>
                  <a:lnTo>
                    <a:pt x="0" y="28765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9143048" y="2927985"/>
              <a:ext cx="2326005" cy="399098"/>
            </a:xfrm>
            <a:prstGeom prst="roundRect">
              <a:avLst>
                <a:gd name="adj" fmla="val 23866"/>
              </a:avLst>
            </a:prstGeom>
            <a:solidFill>
              <a:srgbClr val="E6EFF9"/>
            </a:solidFill>
            <a:ln w="19050">
              <a:solidFill>
                <a:srgbClr val="1F5FA8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648450" y="3908108"/>
              <a:ext cx="1905000" cy="578168"/>
            </a:xfrm>
            <a:prstGeom prst="roundRect">
              <a:avLst>
                <a:gd name="adj" fmla="val 4991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94134" y="1979771"/>
              <a:ext cx="1413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扫描 i = 1 … bound−1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043095" y="3049429"/>
              <a:ext cx="11157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R[i] &gt; R[i+1]？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998786" y="304942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交换两者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68515" y="4021931"/>
              <a:ext cx="864870" cy="4124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15"/>
                </a:lnSpc>
              </a:pPr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本趟结束</a:t>
              </a:r>
              <a:br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最大元素就位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8738235" y="2921318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776856" y="2946559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7629525" y="3575685"/>
              <a:ext cx="220028" cy="179070"/>
            </a:xfrm>
            <a:prstGeom prst="roundRect">
              <a:avLst>
                <a:gd name="adj" fmla="val 21277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7653147" y="360092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59" name="c2-callout-2"/>
          <p:cNvGrpSpPr/>
          <p:nvPr/>
        </p:nvGrpSpPr>
        <p:grpSpPr>
          <a:xfrm>
            <a:off x="6248400" y="4906328"/>
            <a:ext cx="5410200" cy="1277302"/>
            <a:chOff x="6248400" y="4906328"/>
            <a:chExt cx="5410200" cy="1277302"/>
          </a:xfrm>
        </p:grpSpPr>
        <p:sp>
          <p:nvSpPr>
            <p:cNvPr id="53" name="Rectangle 53"/>
            <p:cNvSpPr/>
            <p:nvPr/>
          </p:nvSpPr>
          <p:spPr>
            <a:xfrm>
              <a:off x="6248400" y="4906328"/>
              <a:ext cx="5410200" cy="1277302"/>
            </a:xfrm>
            <a:prstGeom prst="roundRect">
              <a:avLst>
                <a:gd name="adj" fmla="val 894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6453188" y="5444490"/>
              <a:ext cx="200026" cy="200025"/>
              <a:chOff x="6453188" y="5444490"/>
              <a:chExt cx="200026" cy="200025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453188" y="54444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6492926" y="54889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527642" y="56000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6755892" y="5326380"/>
              <a:ext cx="444569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每交换一次，序列的逆序对数恰好减少 1，所以交换总次数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与扫描方式无关。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0" name="TextBox 60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347428" cy="909257"/>
            <a:chOff x="520446" y="342900"/>
            <a:chExt cx="63474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冒泡排序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3474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例题第 1 趟：最大的 9 一路被推到最右边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067618" cy="308039"/>
            <a:chOff x="525399" y="1550194"/>
            <a:chExt cx="5067618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067618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橙色是本次比较的一对，i 从 1 走到 5，共比较 5 次。</a:t>
              </a:r>
            </a:p>
          </p:txBody>
        </p:sp>
      </p:grpSp>
      <p:grpSp>
        <p:nvGrpSpPr>
          <p:cNvPr id="93" name="c1-cells-1"/>
          <p:cNvGrpSpPr/>
          <p:nvPr/>
        </p:nvGrpSpPr>
        <p:grpSpPr>
          <a:xfrm>
            <a:off x="528066" y="1967865"/>
            <a:ext cx="2919984" cy="3552825"/>
            <a:chOff x="528066" y="1967865"/>
            <a:chExt cx="2919984" cy="3552825"/>
          </a:xfrm>
        </p:grpSpPr>
        <p:sp>
          <p:nvSpPr>
            <p:cNvPr id="9" name="TextBox 9"/>
            <p:cNvSpPr txBox="1"/>
            <p:nvPr/>
          </p:nvSpPr>
          <p:spPr>
            <a:xfrm>
              <a:off x="528066" y="211169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33450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96851" y="21116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352550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15951" y="21116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771650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935051" y="21116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190750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354151" y="21116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609850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773251" y="21116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028950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151536" y="211169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07881" y="24407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26981" y="24407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46081" y="24407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65181" y="24407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84281" y="24407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03381" y="24407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8066" y="2883218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i=1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33450" y="2739390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96851" y="28832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352550" y="2739390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515951" y="28832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771650" y="27393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935051" y="28832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190750" y="27393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354151" y="28832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609850" y="27393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773251" y="28832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028950" y="27393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151536" y="28832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8066" y="3473768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i=2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33450" y="332994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96851" y="34737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352550" y="3329940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515951" y="34737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771650" y="3329940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935051" y="34737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190750" y="332994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354151" y="34737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609850" y="332994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773251" y="34737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028950" y="332994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151536" y="347376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28066" y="4064318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i=3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33450" y="39204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96851" y="40643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352550" y="39204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515951" y="40643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771650" y="3920490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935051" y="40643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2190750" y="3920490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2354151" y="40643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2609850" y="39204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2773251" y="40643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3028950" y="39204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151536" y="40643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28066" y="4654868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i=4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33450" y="451104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96851" y="46548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352550" y="451104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515951" y="46548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1771650" y="451104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935051" y="46548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2190750" y="4511040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2354151" y="46548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2609850" y="4511040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2773251" y="46548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3028950" y="451104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3151536" y="465486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28066" y="5245418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i=5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933450" y="51015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096851" y="52454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1352550" y="51015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515951" y="52454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1771650" y="51015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935051" y="52454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2190750" y="51015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2354151" y="52454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2609850" y="5101590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2732436" y="52454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3028950" y="510159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3192351" y="52454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  <p:grpSp>
        <p:nvGrpSpPr>
          <p:cNvPr id="107" name="c2-steps-1"/>
          <p:cNvGrpSpPr/>
          <p:nvPr/>
        </p:nvGrpSpPr>
        <p:grpSpPr>
          <a:xfrm>
            <a:off x="6898005" y="1977390"/>
            <a:ext cx="4327017" cy="2347246"/>
            <a:chOff x="6898005" y="1977390"/>
            <a:chExt cx="4327017" cy="2347246"/>
          </a:xfrm>
        </p:grpSpPr>
        <p:sp>
          <p:nvSpPr>
            <p:cNvPr id="94" name="Rectangle 94"/>
            <p:cNvSpPr/>
            <p:nvPr/>
          </p:nvSpPr>
          <p:spPr>
            <a:xfrm>
              <a:off x="7031355" y="2120265"/>
              <a:ext cx="19050" cy="153638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Ellipse 95"/>
            <p:cNvSpPr/>
            <p:nvPr/>
          </p:nvSpPr>
          <p:spPr>
            <a:xfrm>
              <a:off x="6898005" y="197739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6991629" y="205120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7" name="Ellipse 97"/>
            <p:cNvSpPr/>
            <p:nvPr/>
          </p:nvSpPr>
          <p:spPr>
            <a:xfrm>
              <a:off x="6898005" y="2627948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6991629" y="2701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9" name="Ellipse 99"/>
            <p:cNvSpPr/>
            <p:nvPr/>
          </p:nvSpPr>
          <p:spPr>
            <a:xfrm>
              <a:off x="6898005" y="3512820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6991629" y="358663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309485" y="2011680"/>
              <a:ext cx="3120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i=1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7310628" y="2304574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 8 与 9，不是反序对，不交换。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7309485" y="2662238"/>
              <a:ext cx="9380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i=2 到 i=5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7310628" y="2955131"/>
              <a:ext cx="391439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比右边每一个都大，连续交换 4 次，被一路推到下标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6。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309485" y="3547110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本趟结束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310628" y="3840956"/>
              <a:ext cx="37518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R[6] = 9 已经是最终位置，下一趟只需处理 R[1] 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R[5]。</a:t>
              </a:r>
            </a:p>
          </p:txBody>
        </p:sp>
      </p:grpSp>
      <p:grpSp>
        <p:nvGrpSpPr>
          <p:cNvPr id="113" name="c2-callout-2"/>
          <p:cNvGrpSpPr/>
          <p:nvPr/>
        </p:nvGrpSpPr>
        <p:grpSpPr>
          <a:xfrm>
            <a:off x="6898005" y="4503420"/>
            <a:ext cx="4760595" cy="1016318"/>
            <a:chOff x="6898005" y="4503420"/>
            <a:chExt cx="4760595" cy="1016318"/>
          </a:xfrm>
        </p:grpSpPr>
        <p:sp>
          <p:nvSpPr>
            <p:cNvPr id="108" name="Rectangle 108"/>
            <p:cNvSpPr/>
            <p:nvPr/>
          </p:nvSpPr>
          <p:spPr>
            <a:xfrm>
              <a:off x="6898005" y="4503420"/>
              <a:ext cx="4760595" cy="1016318"/>
            </a:xfrm>
            <a:prstGeom prst="roundRect">
              <a:avLst>
                <a:gd name="adj" fmla="val 1124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11" name="Group 111"/>
            <p:cNvGrpSpPr/>
            <p:nvPr/>
          </p:nvGrpSpPr>
          <p:grpSpPr>
            <a:xfrm>
              <a:off x="7102793" y="4912043"/>
              <a:ext cx="200026" cy="200026"/>
              <a:chOff x="7102793" y="4912043"/>
              <a:chExt cx="200026" cy="200026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7102793" y="491204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10" name="Freeform 110"/>
              <p:cNvSpPr/>
              <p:nvPr/>
            </p:nvSpPr>
            <p:spPr>
              <a:xfrm>
                <a:off x="7169468" y="498983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12" name="TextBox 112"/>
            <p:cNvSpPr txBox="1"/>
            <p:nvPr/>
          </p:nvSpPr>
          <p:spPr>
            <a:xfrm>
              <a:off x="7404735" y="4769168"/>
              <a:ext cx="38157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一趟冒泡至少让一个元素就位，所以最多 n−1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趟一定排完。</a:t>
              </a:r>
            </a:p>
          </p:txBody>
        </p:sp>
      </p:grpSp>
      <p:grpSp>
        <p:nvGrpSpPr>
          <p:cNvPr id="120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114" name="Rectangle 114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18" name="Group 118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6" name="Freeform 116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7" name="Freeform 117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19" name="TextBox 119"/>
            <p:cNvSpPr txBox="1"/>
            <p:nvPr/>
          </p:nvSpPr>
          <p:spPr>
            <a:xfrm>
              <a:off x="1040130" y="5991225"/>
              <a:ext cx="76582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之所以能一趟走到底，是因为它每次比较都赢；换个数据，本趟可能只推动一小段。</a:t>
              </a:r>
            </a:p>
          </p:txBody>
        </p:sp>
      </p:grpSp>
      <p:grpSp>
        <p:nvGrpSpPr>
          <p:cNvPr id="1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1" name="TextBox 121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145280" cy="909257"/>
            <a:chOff x="520446" y="342900"/>
            <a:chExt cx="414528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冒泡排序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14528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例题后两趟：三趟就排完了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2" name="c1-cells-1"/>
          <p:cNvGrpSpPr/>
          <p:nvPr/>
        </p:nvGrpSpPr>
        <p:grpSpPr>
          <a:xfrm>
            <a:off x="528638" y="1524000"/>
            <a:ext cx="3133724" cy="1588770"/>
            <a:chOff x="528638" y="1524000"/>
            <a:chExt cx="3133724" cy="1588770"/>
          </a:xfrm>
        </p:grpSpPr>
        <p:sp>
          <p:nvSpPr>
            <p:cNvPr id="7" name="TextBox 7"/>
            <p:cNvSpPr txBox="1"/>
            <p:nvPr/>
          </p:nvSpPr>
          <p:spPr>
            <a:xfrm>
              <a:off x="528638" y="1652588"/>
              <a:ext cx="5192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1 趟后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47762" y="152400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17566" y="16525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566862" y="152400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736666" y="16525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985962" y="152400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155766" y="16525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405062" y="152400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74866" y="16525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824162" y="152400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58981" y="165258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243262" y="1524000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413066" y="16525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322193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41293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160393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579493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998593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17693" y="194643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8638" y="2352675"/>
              <a:ext cx="5192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2 趟后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1147762" y="222504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317566" y="23526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1566862" y="222504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736666" y="23526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985962" y="222504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2155766" y="23526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405062" y="222504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539881" y="235267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824162" y="2225040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993966" y="23526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3243262" y="2225040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413066" y="235267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8638" y="2872740"/>
              <a:ext cx="51929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3 趟后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147762" y="2744152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317566" y="287274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566862" y="2744152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736666" y="287274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985962" y="2744152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120781" y="287274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2405062" y="2744152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574866" y="287274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824162" y="2744152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993966" y="287274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243262" y="2744152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413066" y="287274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  <p:grpSp>
        <p:nvGrpSpPr>
          <p:cNvPr id="89" name="c1-table-2"/>
          <p:cNvGrpSpPr/>
          <p:nvPr/>
        </p:nvGrpSpPr>
        <p:grpSpPr>
          <a:xfrm>
            <a:off x="533400" y="3283268"/>
            <a:ext cx="5842635" cy="2400300"/>
            <a:chOff x="533400" y="3283268"/>
            <a:chExt cx="5842635" cy="2400300"/>
          </a:xfrm>
        </p:grpSpPr>
        <p:sp>
          <p:nvSpPr>
            <p:cNvPr id="53" name="Rectangle 53"/>
            <p:cNvSpPr/>
            <p:nvPr/>
          </p:nvSpPr>
          <p:spPr>
            <a:xfrm>
              <a:off x="533400" y="3283268"/>
              <a:ext cx="584263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295260" y="340471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趟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2708631" y="340471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3999268" y="340471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交换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282006" y="340471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就位元素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30555" y="3804761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趟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2317432" y="38047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608070" y="38047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898708" y="38047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3400" y="407860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33400" y="4083368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30555" y="4204811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趟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317432" y="420481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608070" y="420481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898708" y="420481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533400" y="44786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30555" y="4604861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趟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317432" y="46048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3608070" y="46048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4898708" y="46048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533400" y="487870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533400" y="4883468"/>
              <a:ext cx="584263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630555" y="5004911"/>
              <a:ext cx="7328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4、5 趟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2317432" y="500491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3608070" y="500491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898708" y="500491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33400" y="52787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630555" y="54049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2229802" y="5293042"/>
              <a:ext cx="127158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2317432" y="540496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3520440" y="5293042"/>
              <a:ext cx="127158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3608070" y="54049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533400" y="3283268"/>
              <a:ext cx="5842635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6" name="Rectangle 86"/>
            <p:cNvSpPr/>
            <p:nvPr/>
          </p:nvSpPr>
          <p:spPr>
            <a:xfrm>
              <a:off x="2215515" y="3283268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3506152" y="3283268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4796790" y="3283268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6" name="c2-card-1"/>
          <p:cNvGrpSpPr/>
          <p:nvPr/>
        </p:nvGrpSpPr>
        <p:grpSpPr>
          <a:xfrm>
            <a:off x="6680835" y="1524000"/>
            <a:ext cx="4977765" cy="1760220"/>
            <a:chOff x="6680835" y="1524000"/>
            <a:chExt cx="4977765" cy="1760220"/>
          </a:xfrm>
        </p:grpSpPr>
        <p:sp>
          <p:nvSpPr>
            <p:cNvPr id="90" name="Rectangle 90"/>
            <p:cNvSpPr/>
            <p:nvPr/>
          </p:nvSpPr>
          <p:spPr>
            <a:xfrm>
              <a:off x="6680835" y="1524000"/>
              <a:ext cx="4977765" cy="1760220"/>
            </a:xfrm>
            <a:prstGeom prst="roundRect">
              <a:avLst>
                <a:gd name="adj" fmla="val 757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6867525" y="1710690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948996" y="1743551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为什么稳定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7807452" y="1745932"/>
              <a:ext cx="17724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 和 5* 始终没有互换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6860667" y="2071688"/>
              <a:ext cx="42742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 3 趟里 7 与 5* 是反序对，交换后 5* 落在 7 前面，但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它和 5 之间从没发生过比较结果为“大于”的交换。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860667" y="2628900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交换条件写的是严格大于，关键词相等时不动，所以相等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元素的先后次序被保留。</a:t>
              </a:r>
            </a:p>
          </p:txBody>
        </p:sp>
      </p:grpSp>
      <p:grpSp>
        <p:nvGrpSpPr>
          <p:cNvPr id="103" name="c2-callout-2"/>
          <p:cNvGrpSpPr/>
          <p:nvPr/>
        </p:nvGrpSpPr>
        <p:grpSpPr>
          <a:xfrm>
            <a:off x="6680835" y="3453765"/>
            <a:ext cx="4977765" cy="729615"/>
            <a:chOff x="6680835" y="3453765"/>
            <a:chExt cx="4977765" cy="729615"/>
          </a:xfrm>
        </p:grpSpPr>
        <p:sp>
          <p:nvSpPr>
            <p:cNvPr id="97" name="Rectangle 97"/>
            <p:cNvSpPr/>
            <p:nvPr/>
          </p:nvSpPr>
          <p:spPr>
            <a:xfrm>
              <a:off x="6680835" y="3453765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01" name="Group 101"/>
            <p:cNvGrpSpPr/>
            <p:nvPr/>
          </p:nvGrpSpPr>
          <p:grpSpPr>
            <a:xfrm>
              <a:off x="6873564" y="3714868"/>
              <a:ext cx="224134" cy="192560"/>
              <a:chOff x="6873564" y="3714868"/>
              <a:chExt cx="224134" cy="192560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6985635" y="378523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6873564" y="371486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6985635" y="38630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02" name="TextBox 102"/>
            <p:cNvSpPr txBox="1"/>
            <p:nvPr/>
          </p:nvSpPr>
          <p:spPr>
            <a:xfrm>
              <a:off x="7188327" y="3599498"/>
              <a:ext cx="377704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初级冒泡排序不管数据是否已经有序，一律做 n−1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趟、比较 n(n−1)/2 = 15 次，白比了 3 次。</a:t>
              </a:r>
            </a:p>
          </p:txBody>
        </p:sp>
      </p:grpSp>
      <p:grpSp>
        <p:nvGrpSpPr>
          <p:cNvPr id="110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104" name="Rectangle 104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08" name="Group 108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105" name="Freeform 105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6" name="Freeform 106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07" name="Freeform 107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09" name="TextBox 109"/>
            <p:cNvSpPr txBox="1"/>
            <p:nvPr/>
          </p:nvSpPr>
          <p:spPr>
            <a:xfrm>
              <a:off x="1040892" y="6028373"/>
              <a:ext cx="76739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3 趟之后序列已经有序，但初级版本还会再空跑两趟。下一页的改进就是为了把这两趟省掉。</a:t>
              </a:r>
            </a:p>
          </p:txBody>
        </p:sp>
      </p:grpSp>
      <p:grpSp>
        <p:nvGrpSpPr>
          <p:cNvPr id="11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1" name="TextBox 111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553412" cy="909257"/>
            <a:chOff x="520446" y="342900"/>
            <a:chExt cx="35534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冒泡排序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5534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初级冒泡排序的 C 实现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ode-1"/>
          <p:cNvGrpSpPr/>
          <p:nvPr/>
        </p:nvGrpSpPr>
        <p:grpSpPr>
          <a:xfrm>
            <a:off x="533400" y="1524000"/>
            <a:ext cx="6276022" cy="2967990"/>
            <a:chOff x="533400" y="1524000"/>
            <a:chExt cx="6276022" cy="296799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2967990"/>
            </a:xfrm>
            <a:prstGeom prst="roundRect">
              <a:avLst>
                <a:gd name="adj" fmla="val 3209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16485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SimpleBubbleSort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3481388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657600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3833812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4009072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81101" y="1935956"/>
              <a:ext cx="146812" cy="2481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388"/>
                </a:lnSpc>
              </a:pPr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10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11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12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13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2307" y="1935956"/>
              <a:ext cx="4048633" cy="24814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swap(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*a,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*b)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C 里靠指针改调用者的变量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temp = *a;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*a = *b;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*b = temp;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SimpleBubbleSort(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bound = n; bound &gt;= 2; bound--)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 bound; i++)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(R[i] &gt; R[i + 1])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swap(&amp;R[i], &amp;R[i + 1]);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36" name="c1-table-2"/>
          <p:cNvGrpSpPr/>
          <p:nvPr/>
        </p:nvGrpSpPr>
        <p:grpSpPr>
          <a:xfrm>
            <a:off x="533400" y="4661535"/>
            <a:ext cx="6276022" cy="1600200"/>
            <a:chOff x="533400" y="4661535"/>
            <a:chExt cx="6276022" cy="1600200"/>
          </a:xfrm>
        </p:grpSpPr>
        <p:sp>
          <p:nvSpPr>
            <p:cNvPr id="16" name="Rectangle 16"/>
            <p:cNvSpPr/>
            <p:nvPr/>
          </p:nvSpPr>
          <p:spPr>
            <a:xfrm>
              <a:off x="533400" y="4661535"/>
              <a:ext cx="6276022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428076" y="478297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68701" y="478297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趟数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311534" y="478297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比较次数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0555" y="51830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18410" y="518302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26280" y="518302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545687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3400" y="5461635"/>
              <a:ext cx="6276022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0555" y="5583079"/>
              <a:ext cx="185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18410" y="5583079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526280" y="558307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45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5856922"/>
              <a:ext cx="627602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30555" y="598312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518410" y="5983129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n−1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438650" y="5871210"/>
              <a:ext cx="236124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526280" y="5983129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n(n−1)/2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661535"/>
              <a:ext cx="6276022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2416492" y="466153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4424362" y="4661535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4" name="c2-card-1"/>
          <p:cNvGrpSpPr/>
          <p:nvPr/>
        </p:nvGrpSpPr>
        <p:grpSpPr>
          <a:xfrm>
            <a:off x="7114222" y="1524000"/>
            <a:ext cx="4544378" cy="2392680"/>
            <a:chOff x="7114222" y="1524000"/>
            <a:chExt cx="4544378" cy="2392680"/>
          </a:xfrm>
        </p:grpSpPr>
        <p:sp>
          <p:nvSpPr>
            <p:cNvPr id="37" name="Rectangle 37"/>
            <p:cNvSpPr/>
            <p:nvPr/>
          </p:nvSpPr>
          <p:spPr>
            <a:xfrm>
              <a:off x="7114222" y="1524000"/>
              <a:ext cx="4544378" cy="2392680"/>
            </a:xfrm>
            <a:prstGeom prst="roundRect">
              <a:avLst>
                <a:gd name="adj" fmla="val 557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7123748" y="1657350"/>
              <a:ext cx="47625" cy="212598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7339012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43073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04607" y="1745932"/>
              <a:ext cx="24664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源课件用的是 C++ 的引用参数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332154" y="2071688"/>
              <a:ext cx="3897058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源课件写作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void swap(int &amp;a, int &amp;b)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。标准 C 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有引用类型，编译不过，本讲义改成指针版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void</a:t>
              </a:r>
              <a:br/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swap(int *a, int *b)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，调用处写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swap(&amp;R[i],</a:t>
              </a:r>
              <a:br/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&amp;R[i+1])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。算法本身一行未改。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333298" y="3139916"/>
              <a:ext cx="3866134" cy="635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源课件在这一页提问“为什么是引用参数”，答案是：传值只会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交换形参的副本，函数返回后实参原封不动。必须让函数拿到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实参的地址或别名。</a:t>
              </a:r>
            </a:p>
          </p:txBody>
        </p:sp>
      </p:grpSp>
      <p:grpSp>
        <p:nvGrpSpPr>
          <p:cNvPr id="50" name="c2-kv-2"/>
          <p:cNvGrpSpPr/>
          <p:nvPr/>
        </p:nvGrpSpPr>
        <p:grpSpPr>
          <a:xfrm>
            <a:off x="7107364" y="4109085"/>
            <a:ext cx="4551236" cy="1163193"/>
            <a:chOff x="7107364" y="4109085"/>
            <a:chExt cx="4551236" cy="1163193"/>
          </a:xfrm>
        </p:grpSpPr>
        <p:sp>
          <p:nvSpPr>
            <p:cNvPr id="45" name="TextBox 45"/>
            <p:cNvSpPr txBox="1"/>
            <p:nvPr/>
          </p:nvSpPr>
          <p:spPr>
            <a:xfrm>
              <a:off x="7107364" y="4109085"/>
              <a:ext cx="5384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bound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870317" y="4109085"/>
              <a:ext cx="3562731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本趟比较的终止位置，R[bound] 之后的元素都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已就位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7114222" y="464915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107364" y="4754880"/>
              <a:ext cx="709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870317" y="4754880"/>
              <a:ext cx="3022663" cy="5173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9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本趟从左往右的扫描指针，比较 R[i] 与</a:t>
              </a:r>
              <a:br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R[i+1]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1" name="TextBox 51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冒泡排序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冒泡排序的特点，以及一个省比较次数的改进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bullets-1"/>
          <p:cNvGrpSpPr/>
          <p:nvPr/>
        </p:nvGrpSpPr>
        <p:grpSpPr>
          <a:xfrm>
            <a:off x="533400" y="1534478"/>
            <a:ext cx="5074196" cy="1208913"/>
            <a:chOff x="533400" y="1534478"/>
            <a:chExt cx="5074196" cy="1208913"/>
          </a:xfrm>
        </p:grpSpPr>
        <p:sp>
          <p:nvSpPr>
            <p:cNvPr id="7" name="Ellipse 7"/>
            <p:cNvSpPr/>
            <p:nvPr/>
          </p:nvSpPr>
          <p:spPr>
            <a:xfrm>
              <a:off x="533400" y="153447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9078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4197" y="1545907"/>
              <a:ext cx="4793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经过第 1 趟冒泡，最大元素移至最终位置，即第 n 个位置。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44993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9078" y="188433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4197" y="1857375"/>
              <a:ext cx="4111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经过第 2 趟冒泡，第 2 大元素移至第 n−1 个位置。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15646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219484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2168842"/>
              <a:ext cx="4111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经过第 3 趟冒泡，第 3 大元素移至第 n−2 个位置。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467927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078" y="250631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197" y="2479358"/>
              <a:ext cx="45796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以此类推，第 k 趟结束后 R[n−k+1] 到 R[n] 全部就位。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2866072"/>
            <a:ext cx="5193982" cy="729615"/>
            <a:chOff x="533400" y="2866072"/>
            <a:chExt cx="5193982" cy="729615"/>
          </a:xfrm>
        </p:grpSpPr>
        <p:sp>
          <p:nvSpPr>
            <p:cNvPr id="20" name="Rectangle 20"/>
            <p:cNvSpPr/>
            <p:nvPr/>
          </p:nvSpPr>
          <p:spPr>
            <a:xfrm>
              <a:off x="533400" y="2866072"/>
              <a:ext cx="5193982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3130870"/>
              <a:ext cx="200023" cy="200023"/>
              <a:chOff x="738188" y="3130870"/>
              <a:chExt cx="200023" cy="20002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313087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71538" y="319754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892" y="3011805"/>
              <a:ext cx="416280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这条性质保证了 bound 每趟至少减 1，所以初级版本用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bound 从 n 递减到 2 就够了。</a:t>
              </a:r>
            </a:p>
          </p:txBody>
        </p:sp>
      </p:grpSp>
      <p:grpSp>
        <p:nvGrpSpPr>
          <p:cNvPr id="52" name="c1-table-3"/>
          <p:cNvGrpSpPr/>
          <p:nvPr/>
        </p:nvGrpSpPr>
        <p:grpSpPr>
          <a:xfrm>
            <a:off x="528066" y="3769995"/>
            <a:ext cx="5199316" cy="1903666"/>
            <a:chOff x="528066" y="3769995"/>
            <a:chExt cx="5199316" cy="1903666"/>
          </a:xfrm>
        </p:grpSpPr>
        <p:sp>
          <p:nvSpPr>
            <p:cNvPr id="26" name="Rectangle 26"/>
            <p:cNvSpPr/>
            <p:nvPr/>
          </p:nvSpPr>
          <p:spPr>
            <a:xfrm>
              <a:off x="533400" y="3769995"/>
              <a:ext cx="5193982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7133" y="389429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趟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041649" y="3894296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bound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161741" y="38942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本趟就位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36059" y="389429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已就位区间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33412" y="4300061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趟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803082" y="430006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927985" y="4300061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大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210050" y="4300061"/>
              <a:ext cx="3525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R[n]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4576762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33400" y="4581525"/>
              <a:ext cx="5193982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3412" y="4705826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趟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803082" y="470582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n−1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927985" y="4705826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大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10050" y="4705826"/>
              <a:ext cx="7718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R[n−1..n]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982528"/>
              <a:ext cx="5193982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3412" y="5111591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03082" y="5111591"/>
              <a:ext cx="4260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n−k+1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927985" y="5111591"/>
              <a:ext cx="486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k 大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4119562" y="4996815"/>
              <a:ext cx="159829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4210050" y="5111591"/>
              <a:ext cx="9365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R[n−k+1..n]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3769995"/>
              <a:ext cx="5193982" cy="162306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1698308" y="37699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2823210" y="37699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4105275" y="3769995"/>
              <a:ext cx="9525" cy="1623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28066" y="5468302"/>
              <a:ext cx="18694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第 k 趟结束后已经就位的区间</a:t>
              </a:r>
            </a:p>
          </p:txBody>
        </p:sp>
      </p:grpSp>
      <p:grpSp>
        <p:nvGrpSpPr>
          <p:cNvPr id="68" name="c2-card-1"/>
          <p:cNvGrpSpPr/>
          <p:nvPr/>
        </p:nvGrpSpPr>
        <p:grpSpPr>
          <a:xfrm>
            <a:off x="6032182" y="1524000"/>
            <a:ext cx="5626418" cy="2906078"/>
            <a:chOff x="6032182" y="1524000"/>
            <a:chExt cx="5626418" cy="2906078"/>
          </a:xfrm>
        </p:grpSpPr>
        <p:sp>
          <p:nvSpPr>
            <p:cNvPr id="53" name="Rectangle 53"/>
            <p:cNvSpPr/>
            <p:nvPr/>
          </p:nvSpPr>
          <p:spPr>
            <a:xfrm>
              <a:off x="6032182" y="1524000"/>
              <a:ext cx="5626418" cy="2906078"/>
            </a:xfrm>
            <a:prstGeom prst="roundRect">
              <a:avLst>
                <a:gd name="adj" fmla="val 458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6041708" y="1657350"/>
              <a:ext cx="47625" cy="263937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262688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354128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改进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46380" y="1756410"/>
              <a:ext cx="25384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记住本趟最后一次交换的位置 t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55830" y="2090738"/>
              <a:ext cx="484003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在一趟冒泡中，若位置 t 是最后一次发生元素交换的位置，则从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R[t+1] 到 R[n] 已经排好序。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262688" y="263747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18366" y="267681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542532" y="2649855"/>
              <a:ext cx="456571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之后没有交换，说明 R[t+1] 到 R[n] 内部两两相邻都不反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序，这一段自身有序。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6262688" y="319754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318366" y="323592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542532" y="3209925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这一段又是本趟一路推过来的最大的那些元素，所以它们同时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也在最终位置上。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262688" y="375761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318366" y="379599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542532" y="3769042"/>
              <a:ext cx="45057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于是下一趟的 bound 直接取 t，中间跳过的那些比较全部省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掉。</a:t>
              </a:r>
            </a:p>
          </p:txBody>
        </p:sp>
      </p:grpSp>
      <p:grpSp>
        <p:nvGrpSpPr>
          <p:cNvPr id="74" name="c2-callout-2"/>
          <p:cNvGrpSpPr/>
          <p:nvPr/>
        </p:nvGrpSpPr>
        <p:grpSpPr>
          <a:xfrm>
            <a:off x="6032182" y="4605338"/>
            <a:ext cx="5626418" cy="1026795"/>
            <a:chOff x="6032182" y="4605338"/>
            <a:chExt cx="5626418" cy="1026795"/>
          </a:xfrm>
        </p:grpSpPr>
        <p:sp>
          <p:nvSpPr>
            <p:cNvPr id="69" name="Rectangle 69"/>
            <p:cNvSpPr/>
            <p:nvPr/>
          </p:nvSpPr>
          <p:spPr>
            <a:xfrm>
              <a:off x="6032182" y="4605338"/>
              <a:ext cx="5626418" cy="1026795"/>
            </a:xfrm>
            <a:prstGeom prst="roundRect">
              <a:avLst>
                <a:gd name="adj" fmla="val 1113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6236970" y="5018723"/>
              <a:ext cx="200026" cy="200026"/>
              <a:chOff x="6236970" y="5018723"/>
              <a:chExt cx="200026" cy="200026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6236970" y="501872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6303645" y="5096510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6539674" y="4899660"/>
              <a:ext cx="473716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t = 0 表示整趟一次交换也没发生，序列已经有序，循环随即结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束。</a:t>
              </a:r>
            </a:p>
          </p:txBody>
        </p:sp>
      </p:grpSp>
      <p:grpSp>
        <p:nvGrpSpPr>
          <p:cNvPr id="8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75" name="Rectangle 7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1040892" y="6023610"/>
              <a:ext cx="6192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改进只减少比较次数，交换次数一次也没少，因为交换次数恒等于逆序对数。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407696" cy="909257"/>
            <a:chOff x="520446" y="342900"/>
            <a:chExt cx="540769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冒泡排序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40769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改进后的效果：28 次比较降到 9 次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780" y="1548765"/>
            <a:ext cx="5336096" cy="293370"/>
            <a:chOff x="525780" y="1548765"/>
            <a:chExt cx="5336096" cy="293370"/>
          </a:xfrm>
        </p:grpSpPr>
        <p:sp>
          <p:nvSpPr>
            <p:cNvPr id="7" name="TextBox 7"/>
            <p:cNvSpPr txBox="1"/>
            <p:nvPr/>
          </p:nvSpPr>
          <p:spPr>
            <a:xfrm>
              <a:off x="525780" y="1548765"/>
              <a:ext cx="53360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取源课件的例子 6 3 2 5 7 8 9 10，它的右半段本来就有序。</a:t>
              </a:r>
            </a:p>
          </p:txBody>
        </p:sp>
      </p:grpSp>
      <p:grpSp>
        <p:nvGrpSpPr>
          <p:cNvPr id="72" name="c1-cells-1"/>
          <p:cNvGrpSpPr/>
          <p:nvPr/>
        </p:nvGrpSpPr>
        <p:grpSpPr>
          <a:xfrm>
            <a:off x="528447" y="1954530"/>
            <a:ext cx="3890201" cy="2286000"/>
            <a:chOff x="528447" y="1954530"/>
            <a:chExt cx="3890201" cy="2286000"/>
          </a:xfrm>
        </p:grpSpPr>
        <p:sp>
          <p:nvSpPr>
            <p:cNvPr id="9" name="TextBox 9"/>
            <p:cNvSpPr txBox="1"/>
            <p:nvPr/>
          </p:nvSpPr>
          <p:spPr>
            <a:xfrm>
              <a:off x="528447" y="209692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65848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32350" y="20969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484948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51450" y="20969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904048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070550" y="20969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323148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489650" y="20969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742248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08750" y="20969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161348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327850" y="20969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580448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746950" y="2096929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999548" y="195453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127956" y="2096929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40278" y="2415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659378" y="2415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078478" y="2415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497578" y="2415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16678" y="2415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35778" y="2415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54878" y="2415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73978" y="241506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8447" y="3127534"/>
              <a:ext cx="4330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1 趟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065848" y="298418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232350" y="3127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484948" y="2984182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651450" y="3127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904048" y="2984182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070550" y="3127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323148" y="298418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489650" y="3127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742248" y="298418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908750" y="3127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161348" y="298418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327850" y="3127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580448" y="298418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746950" y="3127534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999548" y="298418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4127956" y="3127534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013211" y="2742724"/>
              <a:ext cx="20077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t=3</a:t>
              </a:r>
            </a:p>
          </p:txBody>
        </p:sp>
        <p:sp>
          <p:nvSpPr>
            <p:cNvPr id="52" name="Freeform 52"/>
            <p:cNvSpPr/>
            <p:nvPr/>
          </p:nvSpPr>
          <p:spPr>
            <a:xfrm>
              <a:off x="2075498" y="288893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28447" y="3976211"/>
              <a:ext cx="4330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2 趟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065848" y="3833812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232350" y="3976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484948" y="383381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651450" y="3976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904048" y="383381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2070550" y="3976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2323148" y="383381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489650" y="3976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2742248" y="383381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2908750" y="3976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3161348" y="383381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327850" y="3976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3580448" y="383381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746950" y="3976211"/>
              <a:ext cx="8609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3999548" y="383381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127956" y="3976211"/>
              <a:ext cx="16228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75011" y="3592354"/>
              <a:ext cx="20077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t=1</a:t>
              </a:r>
            </a:p>
          </p:txBody>
        </p:sp>
        <p:sp>
          <p:nvSpPr>
            <p:cNvPr id="71" name="Freeform 71"/>
            <p:cNvSpPr/>
            <p:nvPr/>
          </p:nvSpPr>
          <p:spPr>
            <a:xfrm>
              <a:off x="1237298" y="373856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78" name="c1-callout-2"/>
          <p:cNvGrpSpPr/>
          <p:nvPr/>
        </p:nvGrpSpPr>
        <p:grpSpPr>
          <a:xfrm>
            <a:off x="533400" y="4425315"/>
            <a:ext cx="5842635" cy="1768792"/>
            <a:chOff x="533400" y="4425315"/>
            <a:chExt cx="5842635" cy="1768792"/>
          </a:xfrm>
        </p:grpSpPr>
        <p:sp>
          <p:nvSpPr>
            <p:cNvPr id="73" name="Rectangle 73"/>
            <p:cNvSpPr/>
            <p:nvPr/>
          </p:nvSpPr>
          <p:spPr>
            <a:xfrm>
              <a:off x="533400" y="4425315"/>
              <a:ext cx="5842635" cy="1768792"/>
            </a:xfrm>
            <a:prstGeom prst="roundRect">
              <a:avLst>
                <a:gd name="adj" fmla="val 646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76" name="Group 76"/>
            <p:cNvGrpSpPr/>
            <p:nvPr/>
          </p:nvGrpSpPr>
          <p:grpSpPr>
            <a:xfrm>
              <a:off x="738188" y="5210175"/>
              <a:ext cx="200026" cy="200026"/>
              <a:chOff x="738188" y="5210175"/>
              <a:chExt cx="200026" cy="200026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738188" y="52101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804863" y="528796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77" name="TextBox 77"/>
            <p:cNvSpPr txBox="1"/>
            <p:nvPr/>
          </p:nvSpPr>
          <p:spPr>
            <a:xfrm>
              <a:off x="1040511" y="5079206"/>
              <a:ext cx="4937760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 1 趟最后一次交换发生在位置 3（把 6 和 5 换过来），所以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第 2 趟只比到位置 3，只用 2 次比较。</a:t>
              </a:r>
            </a:p>
          </p:txBody>
        </p:sp>
      </p:grpSp>
      <p:grpSp>
        <p:nvGrpSpPr>
          <p:cNvPr id="109" name="c2-table-1"/>
          <p:cNvGrpSpPr/>
          <p:nvPr/>
        </p:nvGrpSpPr>
        <p:grpSpPr>
          <a:xfrm>
            <a:off x="6680835" y="1954530"/>
            <a:ext cx="4977765" cy="2150745"/>
            <a:chOff x="6680835" y="1954530"/>
            <a:chExt cx="4977765" cy="2150745"/>
          </a:xfrm>
        </p:grpSpPr>
        <p:sp>
          <p:nvSpPr>
            <p:cNvPr id="79" name="Rectangle 79"/>
            <p:cNvSpPr/>
            <p:nvPr/>
          </p:nvSpPr>
          <p:spPr>
            <a:xfrm>
              <a:off x="6680835" y="1954530"/>
              <a:ext cx="4977765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098792" y="208597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趟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932172" y="2085975"/>
              <a:ext cx="4786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bound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8888159" y="208597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比较次数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996026" y="2085975"/>
              <a:ext cx="14487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本趟末次交换位置 t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786182" y="2515552"/>
              <a:ext cx="5303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趟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79678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756904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9887522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6680835" y="280987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6680835" y="2814638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6786182" y="2946082"/>
              <a:ext cx="5303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趟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796784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8756904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9887522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6680835" y="324040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786182" y="3376612"/>
              <a:ext cx="5303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趟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796784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756904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9887522" y="337661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6680835" y="366998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6680835" y="3674745"/>
              <a:ext cx="4977765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6786182" y="380619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8661082" y="3684270"/>
              <a:ext cx="1111568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8756904" y="3806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9887522" y="380619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循环结束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6680835" y="1954530"/>
              <a:ext cx="4977765" cy="215074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7686675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8646795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9777412" y="1954530"/>
              <a:ext cx="9525" cy="215074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30" name="c2-compare-2"/>
          <p:cNvGrpSpPr/>
          <p:nvPr/>
        </p:nvGrpSpPr>
        <p:grpSpPr>
          <a:xfrm>
            <a:off x="6680835" y="4291012"/>
            <a:ext cx="4977765" cy="1904048"/>
            <a:chOff x="6680835" y="4291012"/>
            <a:chExt cx="4977765" cy="1904048"/>
          </a:xfrm>
        </p:grpSpPr>
        <p:sp>
          <p:nvSpPr>
            <p:cNvPr id="110" name="Rectangle 110"/>
            <p:cNvSpPr/>
            <p:nvPr/>
          </p:nvSpPr>
          <p:spPr>
            <a:xfrm>
              <a:off x="6680835" y="4291012"/>
              <a:ext cx="2279332" cy="1904048"/>
            </a:xfrm>
            <a:prstGeom prst="roundRect">
              <a:avLst>
                <a:gd name="adj" fmla="val 70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6690360" y="4424362"/>
              <a:ext cx="47625" cy="163734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6915531" y="451818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初级版本</a:t>
              </a:r>
            </a:p>
          </p:txBody>
        </p:sp>
        <p:sp>
          <p:nvSpPr>
            <p:cNvPr id="113" name="Ellipse 113"/>
            <p:cNvSpPr/>
            <p:nvPr/>
          </p:nvSpPr>
          <p:spPr>
            <a:xfrm>
              <a:off x="6930390" y="491680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7086981" y="4856321"/>
              <a:ext cx="137604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 n(n−1)/2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28 次</a:t>
              </a:r>
            </a:p>
          </p:txBody>
        </p:sp>
        <p:sp>
          <p:nvSpPr>
            <p:cNvPr id="115" name="Ellipse 115"/>
            <p:cNvSpPr/>
            <p:nvPr/>
          </p:nvSpPr>
          <p:spPr>
            <a:xfrm>
              <a:off x="6930390" y="550830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7086981" y="5447824"/>
              <a:ext cx="11901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趟数固定 7 趟</a:t>
              </a:r>
            </a:p>
          </p:txBody>
        </p:sp>
        <p:sp>
          <p:nvSpPr>
            <p:cNvPr id="117" name="Ellipse 117"/>
            <p:cNvSpPr/>
            <p:nvPr/>
          </p:nvSpPr>
          <p:spPr>
            <a:xfrm>
              <a:off x="6930390" y="582834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7086981" y="5767864"/>
              <a:ext cx="97028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与数据无关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9379268" y="4291012"/>
              <a:ext cx="2279332" cy="1904048"/>
            </a:xfrm>
            <a:prstGeom prst="roundRect">
              <a:avLst>
                <a:gd name="adj" fmla="val 70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0" name="Rectangle 120"/>
            <p:cNvSpPr/>
            <p:nvPr/>
          </p:nvSpPr>
          <p:spPr>
            <a:xfrm>
              <a:off x="9388792" y="4424362"/>
              <a:ext cx="47625" cy="163734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9613964" y="451818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改进版本</a:t>
              </a:r>
            </a:p>
          </p:txBody>
        </p:sp>
        <p:sp>
          <p:nvSpPr>
            <p:cNvPr id="122" name="Ellipse 122"/>
            <p:cNvSpPr/>
            <p:nvPr/>
          </p:nvSpPr>
          <p:spPr>
            <a:xfrm>
              <a:off x="9628822" y="491680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9785414" y="4856321"/>
              <a:ext cx="8077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 9 次</a:t>
              </a:r>
            </a:p>
          </p:txBody>
        </p:sp>
        <p:sp>
          <p:nvSpPr>
            <p:cNvPr id="124" name="Ellipse 124"/>
            <p:cNvSpPr/>
            <p:nvPr/>
          </p:nvSpPr>
          <p:spPr>
            <a:xfrm>
              <a:off x="9628822" y="523684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9785414" y="5176361"/>
              <a:ext cx="8077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只跑 3 趟</a:t>
              </a:r>
            </a:p>
          </p:txBody>
        </p:sp>
        <p:sp>
          <p:nvSpPr>
            <p:cNvPr id="126" name="Ellipse 126"/>
            <p:cNvSpPr/>
            <p:nvPr/>
          </p:nvSpPr>
          <p:spPr>
            <a:xfrm>
              <a:off x="9628822" y="555688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9785414" y="549640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右半段有序就跳过</a:t>
              </a:r>
            </a:p>
          </p:txBody>
        </p:sp>
        <p:sp>
          <p:nvSpPr>
            <p:cNvPr id="128" name="Ellipse 128"/>
            <p:cNvSpPr/>
            <p:nvPr/>
          </p:nvSpPr>
          <p:spPr>
            <a:xfrm>
              <a:off x="9007792" y="508063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9078133" y="517683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13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1" name="TextBox 131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553412" cy="909257"/>
            <a:chOff x="520446" y="342900"/>
            <a:chExt cx="35534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冒泡排序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5534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改进冒泡排序的 C 实现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ode-1"/>
          <p:cNvGrpSpPr/>
          <p:nvPr/>
        </p:nvGrpSpPr>
        <p:grpSpPr>
          <a:xfrm>
            <a:off x="533400" y="1524000"/>
            <a:ext cx="6276022" cy="2791778"/>
            <a:chOff x="533400" y="1524000"/>
            <a:chExt cx="6276022" cy="27917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2791778"/>
            </a:xfrm>
            <a:prstGeom prst="roundRect">
              <a:avLst>
                <a:gd name="adj" fmla="val 341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74539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BubbleSort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602230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306128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3657600"/>
              <a:ext cx="6237922" cy="17621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81101" y="1935956"/>
              <a:ext cx="146812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388"/>
                </a:lnSpc>
              </a:pPr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10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11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12</a:t>
              </a:r>
              <a:br/>
              <a:r>
                <a:rPr lang="zh-CN" sz="98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2307" y="1935956"/>
              <a:ext cx="3830828" cy="2305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BubbleSort(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bound = n;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本趟关键词比较的终止位置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(bound &gt; 0)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t = 0;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本趟元素交换的最后位置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1; i &lt; bound; i++)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(R[i] &gt; R[i + 1]) {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swap(&amp;R[i], &amp;R[i + 1]);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t = i;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bound = t;  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R[t+1]...R[n] 已就位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2" name="c1-card-2"/>
          <p:cNvGrpSpPr/>
          <p:nvPr/>
        </p:nvGrpSpPr>
        <p:grpSpPr>
          <a:xfrm>
            <a:off x="533400" y="4480560"/>
            <a:ext cx="6276022" cy="1202055"/>
            <a:chOff x="533400" y="4480560"/>
            <a:chExt cx="6276022" cy="1202055"/>
          </a:xfrm>
        </p:grpSpPr>
        <p:sp>
          <p:nvSpPr>
            <p:cNvPr id="15" name="Rectangle 15"/>
            <p:cNvSpPr/>
            <p:nvPr/>
          </p:nvSpPr>
          <p:spPr>
            <a:xfrm>
              <a:off x="533400" y="4480560"/>
              <a:ext cx="6276022" cy="1202055"/>
            </a:xfrm>
            <a:prstGeom prst="roundRect">
              <a:avLst>
                <a:gd name="adj" fmla="val 1109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4613910"/>
              <a:ext cx="47625" cy="93535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52475" y="466153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5147" y="469439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18450" y="470106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循环一定会终止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45998" y="5018246"/>
              <a:ext cx="567345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本趟的 t 只可能取 0 到 bound−1，所以新的 bound 严格小于旧的 bound。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45998" y="5303044"/>
              <a:ext cx="56820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bound 是非负整数且每趟至少减 1，最多 n 趟就会降到 0，外层循环结束。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7114222" y="1524000"/>
            <a:ext cx="4544378" cy="2216468"/>
            <a:chOff x="7114222" y="1524000"/>
            <a:chExt cx="4544378" cy="2216468"/>
          </a:xfrm>
        </p:grpSpPr>
        <p:sp>
          <p:nvSpPr>
            <p:cNvPr id="23" name="Rectangle 23"/>
            <p:cNvSpPr/>
            <p:nvPr/>
          </p:nvSpPr>
          <p:spPr>
            <a:xfrm>
              <a:off x="7114222" y="1524000"/>
              <a:ext cx="4544378" cy="2216468"/>
            </a:xfrm>
            <a:prstGeom prst="roundRect">
              <a:avLst>
                <a:gd name="adj" fmla="val 601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123748" y="1657350"/>
              <a:ext cx="47625" cy="194976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333298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42501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899273" y="174450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三处循环边界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342822" y="211359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98270" y="2061686"/>
              <a:ext cx="34104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外层用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while (bound &gt; 0)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，不是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bound &gt;= 2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bound 会被直接赋成 t，可能一下子掉到 0。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7342822" y="264128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498270" y="2589371"/>
              <a:ext cx="38006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每趟开头必须把 t 清零，否则上一趟的 t 会让循环停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不下来。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7342822" y="316992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498270" y="3117056"/>
              <a:ext cx="37518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内层是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 &lt; bound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，比较的是 R[i] 与 R[i+1]，所以 i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最大只能取到 bound−1。</a:t>
              </a:r>
            </a:p>
          </p:txBody>
        </p:sp>
      </p:grpSp>
      <p:grpSp>
        <p:nvGrpSpPr>
          <p:cNvPr id="41" name="c2-callout-2"/>
          <p:cNvGrpSpPr/>
          <p:nvPr/>
        </p:nvGrpSpPr>
        <p:grpSpPr>
          <a:xfrm>
            <a:off x="7114222" y="3905250"/>
            <a:ext cx="4544378" cy="1778318"/>
            <a:chOff x="7114222" y="3905250"/>
            <a:chExt cx="4544378" cy="1778318"/>
          </a:xfrm>
        </p:grpSpPr>
        <p:sp>
          <p:nvSpPr>
            <p:cNvPr id="35" name="Rectangle 35"/>
            <p:cNvSpPr/>
            <p:nvPr/>
          </p:nvSpPr>
          <p:spPr>
            <a:xfrm>
              <a:off x="7114222" y="3905250"/>
              <a:ext cx="4544378" cy="1778318"/>
            </a:xfrm>
            <a:prstGeom prst="roundRect">
              <a:avLst>
                <a:gd name="adj" fmla="val 6427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7319010" y="4693920"/>
              <a:ext cx="200026" cy="200025"/>
              <a:chOff x="7319010" y="4693920"/>
              <a:chExt cx="200026" cy="20002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19010" y="469392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358749" y="473837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393464" y="484949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7622096" y="4587716"/>
              <a:ext cx="354863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已经有序的输入只跑一趟：t 保持 0，bound 变成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0，外层立刻退出，比较次数是 n−1。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2" name="Rectangle 42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6028373"/>
              <a:ext cx="200026" cy="200026"/>
              <a:chOff x="738188" y="6028373"/>
              <a:chExt cx="200026" cy="200026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602837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38200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27088" y="612838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1273" y="6039326"/>
              <a:ext cx="71159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源课件表中冒泡排序最好情况 O(n) 指的是这个改进版本；初级版本对任何输入都是 Θ(n²)。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225612" cy="909257"/>
            <a:chOff x="520446" y="342900"/>
            <a:chExt cx="22256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冒泡排序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冒泡排序小结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6" name="c1-table-1"/>
          <p:cNvGrpSpPr/>
          <p:nvPr/>
        </p:nvGrpSpPr>
        <p:grpSpPr>
          <a:xfrm>
            <a:off x="533400" y="1524000"/>
            <a:ext cx="5951220" cy="1217295"/>
            <a:chOff x="533400" y="1524000"/>
            <a:chExt cx="5951220" cy="121729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79576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排序算法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51813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38681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25453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081308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26023" y="164830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稳定性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3412" y="205406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冒泡排序（改进版）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2250758" y="1939290"/>
              <a:ext cx="848678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341245" y="2054066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208972" y="2054066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76700" y="2054066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944428" y="2054066"/>
              <a:ext cx="393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30240" y="2054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2330768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533400" y="2335530"/>
              <a:ext cx="595122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33412" y="2459831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冒泡排序（初级版）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250758" y="2345055"/>
              <a:ext cx="848678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341245" y="2459831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208972" y="2459831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076700" y="2459831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944428" y="2459831"/>
              <a:ext cx="393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30240" y="24598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稳定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1524000"/>
              <a:ext cx="5951220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2236470" y="152400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104198" y="152400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971925" y="152400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839652" y="152400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625465" y="1524000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1-bullets-2"/>
          <p:cNvGrpSpPr/>
          <p:nvPr/>
        </p:nvGrpSpPr>
        <p:grpSpPr>
          <a:xfrm>
            <a:off x="541972" y="2938462"/>
            <a:ext cx="5319237" cy="886969"/>
            <a:chOff x="541972" y="2938462"/>
            <a:chExt cx="5319237" cy="886969"/>
          </a:xfrm>
        </p:grpSpPr>
        <p:sp>
          <p:nvSpPr>
            <p:cNvPr id="37" name="Ellipse 37"/>
            <p:cNvSpPr/>
            <p:nvPr/>
          </p:nvSpPr>
          <p:spPr>
            <a:xfrm>
              <a:off x="541972" y="299466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97992" y="2938462"/>
              <a:ext cx="4966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最好情况是输入已递增有序，改进版只做一趟、比较 n−1 次。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541972" y="330612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97992" y="3249930"/>
              <a:ext cx="51632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最坏情况是初始逆序，要跑 n−1 趟，每趟 O(n) 次比较和交换。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541972" y="361759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97992" y="356139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交换次数恒等于逆序对数，最坏是 n(n−1)/2 次。</a:t>
              </a:r>
            </a:p>
          </p:txBody>
        </p:sp>
      </p:grpSp>
      <p:grpSp>
        <p:nvGrpSpPr>
          <p:cNvPr id="50" name="c1-callout-3"/>
          <p:cNvGrpSpPr/>
          <p:nvPr/>
        </p:nvGrpSpPr>
        <p:grpSpPr>
          <a:xfrm>
            <a:off x="533400" y="3947160"/>
            <a:ext cx="5951220" cy="729615"/>
            <a:chOff x="533400" y="3947160"/>
            <a:chExt cx="5951220" cy="729615"/>
          </a:xfrm>
        </p:grpSpPr>
        <p:sp>
          <p:nvSpPr>
            <p:cNvPr id="44" name="Rectangle 44"/>
            <p:cNvSpPr/>
            <p:nvPr/>
          </p:nvSpPr>
          <p:spPr>
            <a:xfrm>
              <a:off x="533400" y="3947160"/>
              <a:ext cx="5951220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726129" y="4208263"/>
              <a:ext cx="224134" cy="192560"/>
              <a:chOff x="726129" y="4208263"/>
              <a:chExt cx="224134" cy="192560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838200" y="427863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726129" y="420826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38200" y="43564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040892" y="4092892"/>
              <a:ext cx="49857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冒泡的常数比插入排序大：插入排序一次移动只写一个格子，冒泡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一次交换要写三次。</a:t>
              </a:r>
            </a:p>
          </p:txBody>
        </p:sp>
      </p:grpSp>
      <p:grpSp>
        <p:nvGrpSpPr>
          <p:cNvPr id="69" name="c1-table-4"/>
          <p:cNvGrpSpPr/>
          <p:nvPr/>
        </p:nvGrpSpPr>
        <p:grpSpPr>
          <a:xfrm>
            <a:off x="528066" y="4851082"/>
            <a:ext cx="5956554" cy="1497902"/>
            <a:chOff x="528066" y="4851082"/>
            <a:chExt cx="5956554" cy="1497902"/>
          </a:xfrm>
        </p:grpSpPr>
        <p:sp>
          <p:nvSpPr>
            <p:cNvPr id="51" name="Rectangle 51"/>
            <p:cNvSpPr/>
            <p:nvPr/>
          </p:nvSpPr>
          <p:spPr>
            <a:xfrm>
              <a:off x="533400" y="4851082"/>
              <a:ext cx="595122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148436" y="497538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392934" y="497538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写内存次数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522584" y="497538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怎么算出来的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33412" y="538114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直接插入排序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2085022" y="5266372"/>
              <a:ext cx="138112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175510" y="538114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575685" y="5381149"/>
              <a:ext cx="2446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次后移加 5 趟各 2 次进出暂存单元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5657850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33400" y="5662612"/>
              <a:ext cx="595122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633412" y="578691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初级冒泡排序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2085022" y="5672138"/>
              <a:ext cx="1381125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2175510" y="578691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575685" y="5786914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次交换，每次交换写 3 个格子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33400" y="4851082"/>
              <a:ext cx="5951220" cy="121729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2070735" y="4851082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3470910" y="4851082"/>
              <a:ext cx="9525" cy="121729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28066" y="6143625"/>
              <a:ext cx="19825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本例 8 9 2 5 7 5* 的写内存次数</a:t>
              </a:r>
            </a:p>
          </p:txBody>
        </p:sp>
      </p:grpSp>
      <p:grpSp>
        <p:nvGrpSpPr>
          <p:cNvPr id="76" name="c2-callout-1"/>
          <p:cNvGrpSpPr/>
          <p:nvPr/>
        </p:nvGrpSpPr>
        <p:grpSpPr>
          <a:xfrm>
            <a:off x="6789420" y="1524000"/>
            <a:ext cx="4869180" cy="729615"/>
            <a:chOff x="6789420" y="1524000"/>
            <a:chExt cx="4869180" cy="729615"/>
          </a:xfrm>
        </p:grpSpPr>
        <p:sp>
          <p:nvSpPr>
            <p:cNvPr id="70" name="Rectangle 70"/>
            <p:cNvSpPr/>
            <p:nvPr/>
          </p:nvSpPr>
          <p:spPr>
            <a:xfrm>
              <a:off x="6789420" y="1524000"/>
              <a:ext cx="486918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4" name="Group 74"/>
            <p:cNvGrpSpPr/>
            <p:nvPr/>
          </p:nvGrpSpPr>
          <p:grpSpPr>
            <a:xfrm>
              <a:off x="6994208" y="1788795"/>
              <a:ext cx="200026" cy="200026"/>
              <a:chOff x="6994208" y="1788795"/>
              <a:chExt cx="200026" cy="200026"/>
            </a:xfrm>
          </p:grpSpPr>
          <p:sp>
            <p:nvSpPr>
              <p:cNvPr id="71" name="Freeform 71"/>
              <p:cNvSpPr/>
              <p:nvPr/>
            </p:nvSpPr>
            <p:spPr>
              <a:xfrm>
                <a:off x="6994208" y="17887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7094220" y="18554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7083108" y="18888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5" name="TextBox 75"/>
            <p:cNvSpPr txBox="1"/>
            <p:nvPr/>
          </p:nvSpPr>
          <p:spPr>
            <a:xfrm>
              <a:off x="7296912" y="1669732"/>
              <a:ext cx="39570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这个变形在源课件里作为慕课自学内容提到，考试按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原始冒泡排序的结论作答即可。</a:t>
              </a:r>
            </a:p>
          </p:txBody>
        </p:sp>
      </p:grpSp>
      <p:grpSp>
        <p:nvGrpSpPr>
          <p:cNvPr id="85" name="c2-card-2"/>
          <p:cNvGrpSpPr/>
          <p:nvPr/>
        </p:nvGrpSpPr>
        <p:grpSpPr>
          <a:xfrm>
            <a:off x="6789420" y="2428875"/>
            <a:ext cx="4869180" cy="3878580"/>
            <a:chOff x="6789420" y="2428875"/>
            <a:chExt cx="4869180" cy="3878580"/>
          </a:xfrm>
        </p:grpSpPr>
        <p:sp>
          <p:nvSpPr>
            <p:cNvPr id="77" name="Rectangle 77"/>
            <p:cNvSpPr/>
            <p:nvPr/>
          </p:nvSpPr>
          <p:spPr>
            <a:xfrm>
              <a:off x="6789420" y="2428875"/>
              <a:ext cx="4869180" cy="3878580"/>
            </a:xfrm>
            <a:prstGeom prst="roundRect">
              <a:avLst>
                <a:gd name="adj" fmla="val 343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6798945" y="2562225"/>
              <a:ext cx="47625" cy="361188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7019925" y="262128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111365" y="26555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延伸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603617" y="266033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上浮下沉交替的双向冒泡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013067" y="2994660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一趟从左往右把最大元素送到右端，下一趟从右往左把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最小元素送到左端，两端同时收缩。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013067" y="3554730"/>
              <a:ext cx="414566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对“大部分有序、只有少数几个小元素躺在末尾”的数据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能明显减少趟数。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014210" y="4110514"/>
              <a:ext cx="29277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时间复杂度的阶不变，仍然是最坏 O(n²)。</a:t>
              </a:r>
            </a:p>
          </p:txBody>
        </p:sp>
      </p:grpSp>
      <p:grpSp>
        <p:nvGrpSpPr>
          <p:cNvPr id="8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6" name="TextBox 86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580638" cy="2997517"/>
            <a:chOff x="667512" y="1835468"/>
            <a:chExt cx="3580638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直接选择排序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每趟挑出当前最大的，换到右边界上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比较次数与初始排列无关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8830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交换次数最多 n−1 次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不稳定，而且改挑选规则也救不回来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直接选择排序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直接选择排序：先挑最大，再一次换到位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bullets-1"/>
          <p:cNvGrpSpPr/>
          <p:nvPr/>
        </p:nvGrpSpPr>
        <p:grpSpPr>
          <a:xfrm>
            <a:off x="533400" y="1534478"/>
            <a:ext cx="5184781" cy="1723263"/>
            <a:chOff x="533400" y="1534478"/>
            <a:chExt cx="5184781" cy="1723263"/>
          </a:xfrm>
        </p:grpSpPr>
        <p:sp>
          <p:nvSpPr>
            <p:cNvPr id="7" name="Ellipse 7"/>
            <p:cNvSpPr/>
            <p:nvPr/>
          </p:nvSpPr>
          <p:spPr>
            <a:xfrm>
              <a:off x="533400" y="153447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89078" y="15728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14197" y="1545907"/>
              <a:ext cx="49039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在前 n 个元素里找最大元素，与 R[n] 交换，使 R[n] 就位。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1844993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89078" y="188433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14197" y="1857375"/>
              <a:ext cx="48228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在前 n−1 个元素里找最大元素，与 R[n−1] 交换，使 R[n−1] 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41363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89078" y="245202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4197" y="2426018"/>
              <a:ext cx="482288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在前 n−2 个元素里找最大元素，与 R[n−2] 交换，使 R[n−2] 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位。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2982277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89078" y="302066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4197" y="299370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以此类推，最后形成递增的有序序列。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3380422"/>
            <a:ext cx="5410200" cy="729615"/>
            <a:chOff x="533400" y="3380422"/>
            <a:chExt cx="5410200" cy="729615"/>
          </a:xfrm>
        </p:grpSpPr>
        <p:sp>
          <p:nvSpPr>
            <p:cNvPr id="20" name="Rectangle 20"/>
            <p:cNvSpPr/>
            <p:nvPr/>
          </p:nvSpPr>
          <p:spPr>
            <a:xfrm>
              <a:off x="533400" y="3380422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3645220"/>
              <a:ext cx="200023" cy="200023"/>
              <a:chOff x="738188" y="3645220"/>
              <a:chExt cx="200023" cy="20002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364522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71538" y="37118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892" y="3526155"/>
              <a:ext cx="4454271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用一个变量 i 表示当前子数组的右边界，从 n 递减到 1，每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趟只在 R[1] 到 R[i] 里找最大值。</a:t>
              </a:r>
            </a:p>
          </p:txBody>
        </p:sp>
      </p:grpSp>
      <p:grpSp>
        <p:nvGrpSpPr>
          <p:cNvPr id="34" name="c1-card-3"/>
          <p:cNvGrpSpPr/>
          <p:nvPr/>
        </p:nvGrpSpPr>
        <p:grpSpPr>
          <a:xfrm>
            <a:off x="533400" y="4284345"/>
            <a:ext cx="5410200" cy="2049780"/>
            <a:chOff x="533400" y="4284345"/>
            <a:chExt cx="5410200" cy="2049780"/>
          </a:xfrm>
        </p:grpSpPr>
        <p:sp>
          <p:nvSpPr>
            <p:cNvPr id="26" name="Rectangle 26"/>
            <p:cNvSpPr/>
            <p:nvPr/>
          </p:nvSpPr>
          <p:spPr>
            <a:xfrm>
              <a:off x="533400" y="4284345"/>
              <a:ext cx="5410200" cy="2049780"/>
            </a:xfrm>
            <a:prstGeom prst="roundRect">
              <a:avLst>
                <a:gd name="adj" fmla="val 65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542925" y="4417695"/>
              <a:ext cx="47625" cy="178308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3905" y="447675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43343" y="451104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另一种写法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747647" y="45167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选最小放左端也可以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7047" y="4851082"/>
              <a:ext cx="472001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很多教材写成“每趟在 R[i] 到 R[n] 里找最小元素，与 R[i] 交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换”，i 从 1 递增到 n−1。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7047" y="5411152"/>
              <a:ext cx="46428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两种写法的比较次数完全一样，结果也一样，只是就位的方向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相反。本讲义按源课件用“选最大放右端”。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8190" y="5966936"/>
              <a:ext cx="423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做题时先看清题目用的是哪一种，否则每趟的中间结果对不上。</a:t>
              </a:r>
            </a:p>
          </p:txBody>
        </p:sp>
      </p:grpSp>
      <p:grpSp>
        <p:nvGrpSpPr>
          <p:cNvPr id="41" name="c2-callout-1"/>
          <p:cNvGrpSpPr/>
          <p:nvPr/>
        </p:nvGrpSpPr>
        <p:grpSpPr>
          <a:xfrm>
            <a:off x="6248400" y="1524000"/>
            <a:ext cx="5410200" cy="729615"/>
            <a:chOff x="6248400" y="1524000"/>
            <a:chExt cx="5410200" cy="729615"/>
          </a:xfrm>
        </p:grpSpPr>
        <p:sp>
          <p:nvSpPr>
            <p:cNvPr id="35" name="Rectangle 35"/>
            <p:cNvSpPr/>
            <p:nvPr/>
          </p:nvSpPr>
          <p:spPr>
            <a:xfrm>
              <a:off x="6248400" y="1524000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453188" y="1788795"/>
              <a:ext cx="200026" cy="200025"/>
              <a:chOff x="6453188" y="1788795"/>
              <a:chExt cx="200026" cy="200025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453188" y="17887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492926" y="18332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527642" y="19443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755892" y="1669732"/>
              <a:ext cx="44714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移动一条记录很贵（比如记录很大、或者在外存上）时，选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择排序反而合适。</a:t>
              </a:r>
            </a:p>
          </p:txBody>
        </p:sp>
      </p:grpSp>
      <p:grpSp>
        <p:nvGrpSpPr>
          <p:cNvPr id="53" name="c2-card-2"/>
          <p:cNvGrpSpPr/>
          <p:nvPr/>
        </p:nvGrpSpPr>
        <p:grpSpPr>
          <a:xfrm>
            <a:off x="6248400" y="2428875"/>
            <a:ext cx="5410200" cy="3906202"/>
            <a:chOff x="6248400" y="2428875"/>
            <a:chExt cx="5410200" cy="3906202"/>
          </a:xfrm>
        </p:grpSpPr>
        <p:sp>
          <p:nvSpPr>
            <p:cNvPr id="42" name="Rectangle 42"/>
            <p:cNvSpPr/>
            <p:nvPr/>
          </p:nvSpPr>
          <p:spPr>
            <a:xfrm>
              <a:off x="6248400" y="2428875"/>
              <a:ext cx="5410200" cy="3906202"/>
            </a:xfrm>
            <a:prstGeom prst="roundRect">
              <a:avLst>
                <a:gd name="adj" fmla="val 341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57925" y="2562225"/>
              <a:ext cx="47625" cy="363950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478905" y="262128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570345" y="265557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对比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62597" y="266033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和冒泡排序差在哪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472047" y="2994660"/>
              <a:ext cx="45571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两者每趟的目标相同，都是把当前最大元素送到右边界。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487478" y="335375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643497" y="3297555"/>
              <a:ext cx="44714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冒泡靠一路相邻交换把它推过去，沿途顺手也改善了别的元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素的位置。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487478" y="391287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643497" y="3856672"/>
              <a:ext cx="43754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选择排序只记住最大元素的下标，扫描完再交换一次。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473190" y="4156234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结果是：选择排序的移动次数少得多，但比较次数一次也省不掉。</a:t>
              </a:r>
            </a:p>
          </p:txBody>
        </p:sp>
      </p:grpSp>
      <p:grpSp>
        <p:nvGrpSpPr>
          <p:cNvPr id="5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4" name="TextBox 54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946647" cy="909257"/>
            <a:chOff x="520446" y="342900"/>
            <a:chExt cx="59466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直接选择排序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9466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例题：对 8 9 2 5 7 5* 做直接选择排序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5120792" cy="308039"/>
            <a:chOff x="525399" y="1550194"/>
            <a:chExt cx="5120792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51207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绿色是已经就位的后缀，橙色是本趟找到的最大元素。</a:t>
              </a:r>
            </a:p>
          </p:txBody>
        </p:sp>
      </p:grpSp>
      <p:grpSp>
        <p:nvGrpSpPr>
          <p:cNvPr id="93" name="c1-cells-1"/>
          <p:cNvGrpSpPr/>
          <p:nvPr/>
        </p:nvGrpSpPr>
        <p:grpSpPr>
          <a:xfrm>
            <a:off x="528066" y="1967865"/>
            <a:ext cx="2919984" cy="3552825"/>
            <a:chOff x="528066" y="1967865"/>
            <a:chExt cx="2919984" cy="3552825"/>
          </a:xfrm>
        </p:grpSpPr>
        <p:sp>
          <p:nvSpPr>
            <p:cNvPr id="9" name="TextBox 9"/>
            <p:cNvSpPr txBox="1"/>
            <p:nvPr/>
          </p:nvSpPr>
          <p:spPr>
            <a:xfrm>
              <a:off x="528066" y="211169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933450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96851" y="21116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352550" y="1967865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515951" y="21116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771650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935051" y="21116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190750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354151" y="21116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609850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773251" y="211169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028950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151536" y="2111692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07881" y="24407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26981" y="24407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46081" y="24407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365181" y="24407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784281" y="24407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03381" y="244078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28066" y="2883218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i=6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933450" y="2739390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96851" y="28832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352550" y="27393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475136" y="28832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771650" y="27393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935051" y="28832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2190750" y="27393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2354151" y="28832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2609850" y="27393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773251" y="28832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028950" y="273939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192351" y="28832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8066" y="3473768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i=5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933450" y="3329940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96851" y="34737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352550" y="332994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475136" y="347376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771650" y="332994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935051" y="34737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190750" y="332994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2354151" y="34737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609850" y="332994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773251" y="34737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028950" y="332994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192351" y="34737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28066" y="4064318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i=4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933450" y="3920490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96851" y="40643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1352550" y="39204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475136" y="40643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771650" y="392049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935051" y="40643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2190750" y="392049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2354151" y="40643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2609850" y="392049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2773251" y="40643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3028950" y="392049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3192351" y="40643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528066" y="4654868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i=3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933450" y="4511040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096851" y="46548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1352550" y="4511040"/>
              <a:ext cx="41910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1475136" y="465486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1771650" y="451104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935051" y="46548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2190750" y="451104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2354151" y="46548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2609850" y="451104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2773251" y="46548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3028950" y="451104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3192351" y="46548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28066" y="5245418"/>
              <a:ext cx="2184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i=2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933450" y="510159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096851" y="52454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1352550" y="510159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475136" y="524541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1771650" y="510159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935051" y="52454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2190750" y="510159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2354151" y="52454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2609850" y="510159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2773251" y="52454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3028950" y="5101590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3192351" y="52454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  <p:grpSp>
        <p:nvGrpSpPr>
          <p:cNvPr id="130" name="c2-table-1"/>
          <p:cNvGrpSpPr/>
          <p:nvPr/>
        </p:nvGrpSpPr>
        <p:grpSpPr>
          <a:xfrm>
            <a:off x="6680835" y="1967865"/>
            <a:ext cx="4977765" cy="2692718"/>
            <a:chOff x="6680835" y="1967865"/>
            <a:chExt cx="4977765" cy="2692718"/>
          </a:xfrm>
        </p:grpSpPr>
        <p:sp>
          <p:nvSpPr>
            <p:cNvPr id="94" name="Rectangle 94"/>
            <p:cNvSpPr/>
            <p:nvPr/>
          </p:nvSpPr>
          <p:spPr>
            <a:xfrm>
              <a:off x="6680835" y="1967865"/>
              <a:ext cx="497776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933959" y="2102644"/>
              <a:ext cx="18526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趟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556208" y="210264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在哪段里找最大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9326296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最大元素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0675988" y="21026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与谁交换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6788658" y="2551271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i=6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479220" y="2551271"/>
              <a:ext cx="7139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R[1..6]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9067990" y="2551271"/>
              <a:ext cx="9434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9（下标 2）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0502455" y="2551271"/>
              <a:ext cx="8231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R[6] = 5*</a:t>
              </a:r>
            </a:p>
          </p:txBody>
        </p:sp>
        <p:sp>
          <p:nvSpPr>
            <p:cNvPr id="103" name="Rectangle 103"/>
            <p:cNvSpPr/>
            <p:nvPr/>
          </p:nvSpPr>
          <p:spPr>
            <a:xfrm>
              <a:off x="6680835" y="2860358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6680835" y="2865120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6788658" y="3000851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i=5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479220" y="3000851"/>
              <a:ext cx="7139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R[1..5]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9067990" y="3000851"/>
              <a:ext cx="9434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8（下标 1）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0502455" y="3000851"/>
              <a:ext cx="7230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R[5] = 7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6680835" y="330898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6788658" y="3449479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i=4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7479220" y="3449479"/>
              <a:ext cx="7139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R[1..4]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9067990" y="3449479"/>
              <a:ext cx="9434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7（下标 1）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0502455" y="3449479"/>
              <a:ext cx="7230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R[4] = 5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6680835" y="375761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5" name="Rectangle 115"/>
            <p:cNvSpPr/>
            <p:nvPr/>
          </p:nvSpPr>
          <p:spPr>
            <a:xfrm>
              <a:off x="6680835" y="3762375"/>
              <a:ext cx="497776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6788658" y="3898106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i=3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7479220" y="3898106"/>
              <a:ext cx="7139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R[1..3]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8969692" y="3771900"/>
              <a:ext cx="1415415" cy="429578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9067990" y="3898106"/>
              <a:ext cx="9434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5（下标 1）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10502455" y="3898106"/>
              <a:ext cx="7230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R[3] = 2</a:t>
              </a:r>
            </a:p>
          </p:txBody>
        </p:sp>
        <p:sp>
          <p:nvSpPr>
            <p:cNvPr id="121" name="Rectangle 121"/>
            <p:cNvSpPr/>
            <p:nvPr/>
          </p:nvSpPr>
          <p:spPr>
            <a:xfrm>
              <a:off x="6680835" y="420719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6788658" y="4346734"/>
              <a:ext cx="2662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i=2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7479220" y="4346734"/>
              <a:ext cx="7139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R[1..2]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9067990" y="4346734"/>
              <a:ext cx="10382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5*（下标 2）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10502455" y="4346734"/>
              <a:ext cx="8745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与自己交换</a:t>
              </a:r>
            </a:p>
          </p:txBody>
        </p:sp>
        <p:sp>
          <p:nvSpPr>
            <p:cNvPr id="126" name="Rectangle 126"/>
            <p:cNvSpPr/>
            <p:nvPr/>
          </p:nvSpPr>
          <p:spPr>
            <a:xfrm>
              <a:off x="6680835" y="1967865"/>
              <a:ext cx="4977765" cy="269271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27" name="Rectangle 127"/>
            <p:cNvSpPr/>
            <p:nvPr/>
          </p:nvSpPr>
          <p:spPr>
            <a:xfrm>
              <a:off x="7366635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8" name="Rectangle 128"/>
            <p:cNvSpPr/>
            <p:nvPr/>
          </p:nvSpPr>
          <p:spPr>
            <a:xfrm>
              <a:off x="8955405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9" name="Rectangle 129"/>
            <p:cNvSpPr/>
            <p:nvPr/>
          </p:nvSpPr>
          <p:spPr>
            <a:xfrm>
              <a:off x="10389870" y="1967865"/>
              <a:ext cx="9525" cy="269271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37" name="c2-callout-2"/>
          <p:cNvGrpSpPr/>
          <p:nvPr/>
        </p:nvGrpSpPr>
        <p:grpSpPr>
          <a:xfrm>
            <a:off x="6680835" y="4851082"/>
            <a:ext cx="4977765" cy="782955"/>
            <a:chOff x="6680835" y="4851082"/>
            <a:chExt cx="4977765" cy="782955"/>
          </a:xfrm>
        </p:grpSpPr>
        <p:sp>
          <p:nvSpPr>
            <p:cNvPr id="131" name="Rectangle 131"/>
            <p:cNvSpPr/>
            <p:nvPr/>
          </p:nvSpPr>
          <p:spPr>
            <a:xfrm>
              <a:off x="6680835" y="4851082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35" name="Group 135"/>
            <p:cNvGrpSpPr/>
            <p:nvPr/>
          </p:nvGrpSpPr>
          <p:grpSpPr>
            <a:xfrm>
              <a:off x="6873564" y="5138856"/>
              <a:ext cx="224134" cy="192560"/>
              <a:chOff x="6873564" y="5138856"/>
              <a:chExt cx="224134" cy="192560"/>
            </a:xfrm>
          </p:grpSpPr>
          <p:sp>
            <p:nvSpPr>
              <p:cNvPr id="132" name="Freeform 132"/>
              <p:cNvSpPr/>
              <p:nvPr/>
            </p:nvSpPr>
            <p:spPr>
              <a:xfrm>
                <a:off x="6985635" y="520922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33" name="Freeform 133"/>
              <p:cNvSpPr/>
              <p:nvPr/>
            </p:nvSpPr>
            <p:spPr>
              <a:xfrm>
                <a:off x="6873564" y="513885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34" name="Freeform 134"/>
              <p:cNvSpPr/>
              <p:nvPr/>
            </p:nvSpPr>
            <p:spPr>
              <a:xfrm>
                <a:off x="6985635" y="528701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36" name="TextBox 136"/>
            <p:cNvSpPr txBox="1"/>
            <p:nvPr/>
          </p:nvSpPr>
          <p:spPr>
            <a:xfrm>
              <a:off x="7187565" y="4999672"/>
              <a:ext cx="39300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i=4 那趟前两个元素都是 5，代码取第一个最大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的（下标 1），它被换到了 5* 的右边。</a:t>
              </a:r>
            </a:p>
          </p:txBody>
        </p:sp>
      </p:grpSp>
      <p:grpSp>
        <p:nvGrpSpPr>
          <p:cNvPr id="14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138" name="Rectangle 13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42" name="Group 142"/>
            <p:cNvGrpSpPr/>
            <p:nvPr/>
          </p:nvGrpSpPr>
          <p:grpSpPr>
            <a:xfrm>
              <a:off x="738188" y="5995988"/>
              <a:ext cx="200026" cy="200026"/>
              <a:chOff x="738188" y="5995988"/>
              <a:chExt cx="200026" cy="200026"/>
            </a:xfrm>
          </p:grpSpPr>
          <p:sp>
            <p:nvSpPr>
              <p:cNvPr id="139" name="Freeform 139"/>
              <p:cNvSpPr/>
              <p:nvPr/>
            </p:nvSpPr>
            <p:spPr>
              <a:xfrm>
                <a:off x="738188" y="59959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0" name="Freeform 140"/>
              <p:cNvSpPr/>
              <p:nvPr/>
            </p:nvSpPr>
            <p:spPr>
              <a:xfrm>
                <a:off x="838200" y="60626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1" name="Freeform 141"/>
              <p:cNvSpPr/>
              <p:nvPr/>
            </p:nvSpPr>
            <p:spPr>
              <a:xfrm>
                <a:off x="827088" y="60960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43" name="TextBox 143"/>
            <p:cNvSpPr txBox="1"/>
            <p:nvPr/>
          </p:nvSpPr>
          <p:spPr>
            <a:xfrm>
              <a:off x="1040130" y="5991225"/>
              <a:ext cx="73856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最终结果是 2 5* 5 7 8 9。原来在前面的 5 跑到了 5* 后面，直接选择排序不稳定。</a:t>
              </a:r>
            </a:p>
          </p:txBody>
        </p:sp>
      </p:grpSp>
      <p:grpSp>
        <p:nvGrpSpPr>
          <p:cNvPr id="1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5" name="TextBox 145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553412" cy="909257"/>
            <a:chOff x="520446" y="342900"/>
            <a:chExt cx="35534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直接选择排序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5534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直接选择排序的 C 实现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ode-1"/>
          <p:cNvGrpSpPr/>
          <p:nvPr/>
        </p:nvGrpSpPr>
        <p:grpSpPr>
          <a:xfrm>
            <a:off x="533400" y="1524000"/>
            <a:ext cx="6059805" cy="2733675"/>
            <a:chOff x="533400" y="1524000"/>
            <a:chExt cx="6059805" cy="2733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733675"/>
            </a:xfrm>
            <a:prstGeom prst="roundRect">
              <a:avLst>
                <a:gd name="adj" fmla="val 348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93911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SelectionSort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707005"/>
              <a:ext cx="602170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3112770"/>
              <a:ext cx="602170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3518535"/>
              <a:ext cx="6021705" cy="202882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79831" y="1937861"/>
              <a:ext cx="167894" cy="2248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598"/>
                </a:lnSpc>
              </a:pPr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10</a:t>
              </a:r>
              <a:br/>
              <a:r>
                <a:rPr lang="zh-CN" sz="112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50595" y="1937861"/>
              <a:ext cx="4947158" cy="2248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SelectionSort(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n; i &gt;= 1; i--)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i 是当前子数组的右边界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 = 1;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在 R[1]...R[i] 里找最大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2; j &lt;= i; j++)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(R[j] &gt; R[max])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严格大于：取第一个最大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max = j;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swap(&amp;R[max], &amp;R[i]);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42" name="c1-table-2"/>
          <p:cNvGrpSpPr/>
          <p:nvPr/>
        </p:nvGrpSpPr>
        <p:grpSpPr>
          <a:xfrm>
            <a:off x="527685" y="4448175"/>
            <a:ext cx="6065520" cy="1193007"/>
            <a:chOff x="527685" y="4448175"/>
            <a:chExt cx="6065520" cy="1193007"/>
          </a:xfrm>
        </p:grpSpPr>
        <p:sp>
          <p:nvSpPr>
            <p:cNvPr id="15" name="Rectangle 15"/>
            <p:cNvSpPr/>
            <p:nvPr/>
          </p:nvSpPr>
          <p:spPr>
            <a:xfrm>
              <a:off x="533400" y="4448175"/>
              <a:ext cx="605980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107479" y="4583906"/>
              <a:ext cx="672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022122" y="45839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81252" y="45839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40382" y="45839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98560" y="45839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657690" y="45839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316820" y="4583906"/>
              <a:ext cx="11246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68644" y="458390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1223" y="503253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比较次数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56613" y="50325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15743" y="50325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174873" y="50325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33050" y="50325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92180" y="50325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151311" y="503253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712142" y="4906328"/>
              <a:ext cx="871538" cy="42957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810441" y="503253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4448175"/>
              <a:ext cx="6059805" cy="8972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744028" y="444817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2403158" y="444817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3062288" y="444817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3720465" y="444817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4379595" y="444817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038725" y="444817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697855" y="4448175"/>
              <a:ext cx="9525" cy="8972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27685" y="5421154"/>
              <a:ext cx="21599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内层循环每趟走的步数（n = 6）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6898005" y="1524000"/>
            <a:ext cx="4760595" cy="2538412"/>
            <a:chOff x="6898005" y="1524000"/>
            <a:chExt cx="4760595" cy="2538412"/>
          </a:xfrm>
        </p:grpSpPr>
        <p:sp>
          <p:nvSpPr>
            <p:cNvPr id="43" name="Rectangle 43"/>
            <p:cNvSpPr/>
            <p:nvPr/>
          </p:nvSpPr>
          <p:spPr>
            <a:xfrm>
              <a:off x="6898005" y="1524000"/>
              <a:ext cx="4760595" cy="2538412"/>
            </a:xfrm>
            <a:prstGeom prst="roundRect">
              <a:avLst>
                <a:gd name="adj" fmla="val 52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6907530" y="1657350"/>
              <a:ext cx="47625" cy="2271712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14565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35863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745730" y="1768792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比较次数与初始排列无关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138035" y="2129790"/>
              <a:ext cx="41395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内层循环 j 从 2 走到 i，不管数据长什么样都要走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满。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38035" y="2750820"/>
              <a:ext cx="337185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总比较次数恒为 (n−1)+(n−2)+…+1 =</a:t>
              </a:r>
              <a:br/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n(n−1)/2</a:t>
              </a: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，所以最好、平均、最坏都是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39178" y="3654266"/>
              <a:ext cx="43035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对 n=6 的全部 720 个排列跑了一遍，比较次数全是 15。</a:t>
              </a:r>
            </a:p>
          </p:txBody>
        </p:sp>
      </p:grpSp>
      <p:grpSp>
        <p:nvGrpSpPr>
          <p:cNvPr id="57" name="c2-callout-2"/>
          <p:cNvGrpSpPr/>
          <p:nvPr/>
        </p:nvGrpSpPr>
        <p:grpSpPr>
          <a:xfrm>
            <a:off x="6898005" y="4252912"/>
            <a:ext cx="4760595" cy="1343978"/>
            <a:chOff x="6898005" y="4252912"/>
            <a:chExt cx="4760595" cy="1343978"/>
          </a:xfrm>
        </p:grpSpPr>
        <p:sp>
          <p:nvSpPr>
            <p:cNvPr id="52" name="Rectangle 52"/>
            <p:cNvSpPr/>
            <p:nvPr/>
          </p:nvSpPr>
          <p:spPr>
            <a:xfrm>
              <a:off x="6898005" y="4252912"/>
              <a:ext cx="4760595" cy="1343978"/>
            </a:xfrm>
            <a:prstGeom prst="roundRect">
              <a:avLst>
                <a:gd name="adj" fmla="val 8505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102793" y="4825365"/>
              <a:ext cx="200026" cy="200026"/>
              <a:chOff x="7102793" y="4825365"/>
              <a:chExt cx="200026" cy="200026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7102793" y="48253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7169468" y="490315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7404735" y="4682490"/>
              <a:ext cx="38728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交换次数最多 n−1 次，是本讲四个算法里移动</a:t>
              </a:r>
              <a:br/>
              <a:r>
                <a:rPr lang="zh-CN" sz="150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最省的。本例只交换了 4 次。</a:t>
              </a:r>
            </a:p>
          </p:txBody>
        </p:sp>
      </p:grpSp>
      <p:grpSp>
        <p:nvGrpSpPr>
          <p:cNvPr id="64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58" name="Rectangle 58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726129" y="5992296"/>
              <a:ext cx="224134" cy="192560"/>
              <a:chOff x="726129" y="5992296"/>
              <a:chExt cx="224134" cy="19256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838200" y="606266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726129" y="599229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38200" y="614045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040130" y="5991225"/>
              <a:ext cx="79437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内层写 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j &lt;= i</a:t>
              </a: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 xml:space="preserve"> 而不是 </a:t>
              </a:r>
              <a:r>
                <a:rPr lang="en-US" sz="150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j &lt; i</a:t>
              </a: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：R[i] 自己也参加比较，否则它比所有人都大时就选不出来了。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直接选择排序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为什么直接选择排序不稳定，换个挑法也不行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4" name="c1-card-1"/>
          <p:cNvGrpSpPr/>
          <p:nvPr/>
        </p:nvGrpSpPr>
        <p:grpSpPr>
          <a:xfrm>
            <a:off x="533400" y="1524000"/>
            <a:ext cx="5410200" cy="1586865"/>
            <a:chOff x="533400" y="1524000"/>
            <a:chExt cx="5410200" cy="158686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86865"/>
            </a:xfrm>
            <a:prstGeom prst="roundRect">
              <a:avLst>
                <a:gd name="adj" fmla="val 840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2016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059" y="175641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86281" y="1756886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取第一个最大元素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453199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 8 9 2 5 7 5*，第 4 趟在 R[1..4] = 5 5* 2 7 里找最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大，取到下标 1 的 5，与 R[4] 的 7 交换。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381" y="2690336"/>
              <a:ext cx="469790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这一换把 5 扔到了 5* 的右边，结果成了 2 5* 5 7 8 9。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3290888"/>
            <a:ext cx="5410200" cy="2358390"/>
            <a:chOff x="533400" y="3290888"/>
            <a:chExt cx="5410200" cy="2358390"/>
          </a:xfrm>
        </p:grpSpPr>
        <p:sp>
          <p:nvSpPr>
            <p:cNvPr id="15" name="Rectangle 15"/>
            <p:cNvSpPr/>
            <p:nvPr/>
          </p:nvSpPr>
          <p:spPr>
            <a:xfrm>
              <a:off x="533400" y="3290888"/>
              <a:ext cx="5410200" cy="2358390"/>
            </a:xfrm>
            <a:prstGeom prst="roundRect">
              <a:avLst>
                <a:gd name="adj" fmla="val 565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542925" y="3424238"/>
              <a:ext cx="47625" cy="209169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9620" y="3489008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7059" y="352329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反例二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86281" y="3523774"/>
              <a:ext cx="30730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改成取最后一个最大元素也救不回来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381" y="3867626"/>
              <a:ext cx="4730369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源课件在这里提问：有多个最大元素时，若选最后 1 个最大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元素，能否保证稳定？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381" y="4457224"/>
              <a:ext cx="457708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 5 1 1*，最大元素 5 唯一，与 R[3] = 1* 交换，得到</a:t>
              </a:r>
              <a:br/>
              <a:r>
                <a:rPr lang="zh-CN" sz="14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1* 1 5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，1* 跑到了 1 前面。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3524" y="5042535"/>
              <a:ext cx="45841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这个反例里根本没有并列的最大元素，说明不稳定的根源不在挑选规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则。</a:t>
              </a:r>
            </a:p>
          </p:txBody>
        </p:sp>
      </p:grpSp>
      <p:grpSp>
        <p:nvGrpSpPr>
          <p:cNvPr id="31" name="c2-card-1"/>
          <p:cNvGrpSpPr/>
          <p:nvPr/>
        </p:nvGrpSpPr>
        <p:grpSpPr>
          <a:xfrm>
            <a:off x="6248400" y="1524000"/>
            <a:ext cx="5410200" cy="2629852"/>
            <a:chOff x="6248400" y="1524000"/>
            <a:chExt cx="5410200" cy="2629852"/>
          </a:xfrm>
        </p:grpSpPr>
        <p:sp>
          <p:nvSpPr>
            <p:cNvPr id="24" name="Rectangle 24"/>
            <p:cNvSpPr/>
            <p:nvPr/>
          </p:nvSpPr>
          <p:spPr>
            <a:xfrm>
              <a:off x="6248400" y="1524000"/>
              <a:ext cx="5410200" cy="2629852"/>
            </a:xfrm>
            <a:prstGeom prst="roundRect">
              <a:avLst>
                <a:gd name="adj" fmla="val 5071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465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379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根源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029831" y="1756886"/>
              <a:ext cx="23380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问题出在“交换”这个动作上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9281" y="2100739"/>
              <a:ext cx="478447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交换会把右边界上的那个元素一下子甩到远处的 max 位置，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跨过了中间所有元素，其中可能就有与它关键词相同的。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439281" y="2690336"/>
              <a:ext cx="4802505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想让选择排序稳定，两处都得改：挑</a:t>
              </a:r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最后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一个最大元素，并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且把交换换成“取出最大元素、其后的元素整体左移一格、再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放到右边界”。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440424" y="3547110"/>
              <a:ext cx="42793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这样确实稳定了，但每趟要多做 O(n) 次移动，总移动次数升到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O(n²)，选择排序省移动的优点就没了。</a:t>
              </a:r>
            </a:p>
          </p:txBody>
        </p:sp>
      </p:grpSp>
      <p:grpSp>
        <p:nvGrpSpPr>
          <p:cNvPr id="38" name="c2-callout-2"/>
          <p:cNvGrpSpPr/>
          <p:nvPr/>
        </p:nvGrpSpPr>
        <p:grpSpPr>
          <a:xfrm>
            <a:off x="6248400" y="4333875"/>
            <a:ext cx="5410200" cy="1315402"/>
            <a:chOff x="6248400" y="4333875"/>
            <a:chExt cx="5410200" cy="1315402"/>
          </a:xfrm>
        </p:grpSpPr>
        <p:sp>
          <p:nvSpPr>
            <p:cNvPr id="32" name="Rectangle 32"/>
            <p:cNvSpPr/>
            <p:nvPr/>
          </p:nvSpPr>
          <p:spPr>
            <a:xfrm>
              <a:off x="6248400" y="4333875"/>
              <a:ext cx="5410200" cy="1315402"/>
            </a:xfrm>
            <a:prstGeom prst="roundRect">
              <a:avLst>
                <a:gd name="adj" fmla="val 868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453188" y="4891088"/>
              <a:ext cx="200026" cy="200026"/>
              <a:chOff x="6453188" y="4891088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453188" y="489108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553200" y="495776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542088" y="499110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755511" y="4629626"/>
              <a:ext cx="4441825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补充结论已用脚本验证：对 n ≤ 6、含重复关键词的全部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排列，修改后的版本结果与 Python 的稳定排序完全一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致。</a:t>
              </a:r>
            </a:p>
          </p:txBody>
        </p:sp>
      </p:grpSp>
      <p:grpSp>
        <p:nvGrpSpPr>
          <p:cNvPr id="44" name="takeaway"/>
          <p:cNvGrpSpPr/>
          <p:nvPr/>
        </p:nvGrpSpPr>
        <p:grpSpPr>
          <a:xfrm>
            <a:off x="533400" y="5858828"/>
            <a:ext cx="11125200" cy="503872"/>
            <a:chOff x="533400" y="5858828"/>
            <a:chExt cx="11125200" cy="503872"/>
          </a:xfrm>
        </p:grpSpPr>
        <p:sp>
          <p:nvSpPr>
            <p:cNvPr id="39" name="Rectangle 39"/>
            <p:cNvSpPr/>
            <p:nvPr/>
          </p:nvSpPr>
          <p:spPr>
            <a:xfrm>
              <a:off x="533400" y="5858828"/>
              <a:ext cx="11125200" cy="503872"/>
            </a:xfrm>
            <a:prstGeom prst="roundRect">
              <a:avLst>
                <a:gd name="adj" fmla="val 22684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38188" y="6011230"/>
              <a:ext cx="200023" cy="200023"/>
              <a:chOff x="738188" y="6011230"/>
              <a:chExt cx="200023" cy="20002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38188" y="601123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871538" y="607790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1040511" y="6011704"/>
              <a:ext cx="882697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判断一个排序算法稳不稳定，先看它有没有“跨越式移动”：一次把元素搬过一大段的算法通常都不稳定。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772156" cy="909257"/>
            <a:chOff x="520446" y="342900"/>
            <a:chExt cx="277215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9650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4530" y="407194"/>
              <a:ext cx="23751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直接选择排序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77215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直接选择排序小结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951220" cy="800100"/>
            <a:chOff x="533400" y="1524000"/>
            <a:chExt cx="5951220" cy="8001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95122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02411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排序算法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9809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137256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76421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974628" y="164544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89828" y="164544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稳定性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30555" y="204549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直接选择排序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894522" y="1933575"/>
              <a:ext cx="920115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982152" y="2045494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921318" y="2045494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860482" y="2045494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99648" y="2045494"/>
              <a:ext cx="393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569268" y="1933575"/>
              <a:ext cx="905828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656898" y="2045494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不稳定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1524000"/>
              <a:ext cx="5951220" cy="8001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880235" y="1524000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819400" y="1524000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758565" y="1524000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4697730" y="1524000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554980" y="1524000"/>
              <a:ext cx="9525" cy="8001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2" name="c1-table-2"/>
          <p:cNvGrpSpPr/>
          <p:nvPr/>
        </p:nvGrpSpPr>
        <p:grpSpPr>
          <a:xfrm>
            <a:off x="528447" y="2493645"/>
            <a:ext cx="5956173" cy="2264759"/>
            <a:chOff x="528447" y="2493645"/>
            <a:chExt cx="5956173" cy="2264759"/>
          </a:xfrm>
        </p:grpSpPr>
        <p:sp>
          <p:nvSpPr>
            <p:cNvPr id="29" name="Rectangle 29"/>
            <p:cNvSpPr/>
            <p:nvPr/>
          </p:nvSpPr>
          <p:spPr>
            <a:xfrm>
              <a:off x="533400" y="2493645"/>
              <a:ext cx="595122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316076" y="26150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59786" y="261508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比较次数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57625" y="2615089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移动或交换次数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815686" y="261508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稳定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0555" y="301513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直接插入排序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509838" y="301513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819525" y="3015139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后移 9 次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555932" y="301513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533400" y="328898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33400" y="3293745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30555" y="341518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冒泡排序（初级）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509838" y="341518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819525" y="3415189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 9 次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555932" y="341518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533400" y="368903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30555" y="3815239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冒泡排序（改进）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509838" y="381523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819525" y="3815239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 9 次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555932" y="381523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533400" y="4089082"/>
              <a:ext cx="595122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533400" y="4093845"/>
              <a:ext cx="595122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30555" y="421528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直接选择排序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509838" y="4215289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3731895" y="4103370"/>
              <a:ext cx="1717358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819525" y="4215289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 4 次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468302" y="4103370"/>
              <a:ext cx="1006792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5555932" y="4215289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533400" y="2493645"/>
              <a:ext cx="5951220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2407920" y="249364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3717608" y="249364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5454015" y="2493645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28447" y="4567714"/>
              <a:ext cx="290571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三种平方阶算法在本例 8 9 2 5 7 5* 上的实际开销</a:t>
              </a:r>
            </a:p>
          </p:txBody>
        </p:sp>
      </p:grpSp>
      <p:grpSp>
        <p:nvGrpSpPr>
          <p:cNvPr id="70" name="c1-card-3"/>
          <p:cNvGrpSpPr/>
          <p:nvPr/>
        </p:nvGrpSpPr>
        <p:grpSpPr>
          <a:xfrm>
            <a:off x="533400" y="4890135"/>
            <a:ext cx="5951220" cy="1463992"/>
            <a:chOff x="533400" y="4890135"/>
            <a:chExt cx="5951220" cy="1463992"/>
          </a:xfrm>
        </p:grpSpPr>
        <p:sp>
          <p:nvSpPr>
            <p:cNvPr id="63" name="Rectangle 63"/>
            <p:cNvSpPr/>
            <p:nvPr/>
          </p:nvSpPr>
          <p:spPr>
            <a:xfrm>
              <a:off x="533400" y="4890135"/>
              <a:ext cx="5951220" cy="1463992"/>
            </a:xfrm>
            <a:prstGeom prst="roundRect">
              <a:avLst>
                <a:gd name="adj" fmla="val 91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4" name="Rectangle 64"/>
            <p:cNvSpPr/>
            <p:nvPr/>
          </p:nvSpPr>
          <p:spPr>
            <a:xfrm>
              <a:off x="542925" y="5023485"/>
              <a:ext cx="47625" cy="11972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58190" y="507682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53961" y="510968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99960" y="5111115"/>
              <a:ext cx="2414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本例的 4 次交换发生在哪几趟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51332" y="5437823"/>
              <a:ext cx="53372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i=6、5、4、3 这四趟里最大元素都不在右边界上，各交换一次；i=2 那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趟最大元素正好就在 R[2]，与自己交换，不计入。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52475" y="5990749"/>
              <a:ext cx="53639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一般地，交换次数等于“最大元素不在右边界”的趟数，最多 n−1 次，最少 0 次。</a:t>
              </a:r>
            </a:p>
          </p:txBody>
        </p:sp>
      </p:grpSp>
      <p:grpSp>
        <p:nvGrpSpPr>
          <p:cNvPr id="79" name="c2-card-1"/>
          <p:cNvGrpSpPr/>
          <p:nvPr/>
        </p:nvGrpSpPr>
        <p:grpSpPr>
          <a:xfrm>
            <a:off x="6789420" y="1524000"/>
            <a:ext cx="4869180" cy="2228850"/>
            <a:chOff x="6789420" y="1524000"/>
            <a:chExt cx="4869180" cy="2228850"/>
          </a:xfrm>
        </p:grpSpPr>
        <p:sp>
          <p:nvSpPr>
            <p:cNvPr id="71" name="Rectangle 71"/>
            <p:cNvSpPr/>
            <p:nvPr/>
          </p:nvSpPr>
          <p:spPr>
            <a:xfrm>
              <a:off x="6789420" y="1524000"/>
              <a:ext cx="4869180" cy="2228850"/>
            </a:xfrm>
            <a:prstGeom prst="roundRect">
              <a:avLst>
                <a:gd name="adj" fmla="val 598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6798945" y="1657350"/>
              <a:ext cx="47625" cy="196215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7014210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106882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7579804" y="1745932"/>
              <a:ext cx="2287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为什么最好情况也是 O(n²)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007352" y="2071688"/>
              <a:ext cx="42913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就算输入已经递增有序，内层循环 j 从 2 走到 i 一次也不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会提前退出，比较次数照样是 15 次。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007352" y="2628900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省下来的只有交换：关键词互不相同且已有序时一次都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不用交换。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008495" y="3182779"/>
              <a:ext cx="4278630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这一点和插入排序、改进冒泡形成对比，那两个算法遇到有序输入会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立刻收敛到 O(n)。</a:t>
              </a:r>
            </a:p>
          </p:txBody>
        </p:sp>
      </p:grpSp>
      <p:grpSp>
        <p:nvGrpSpPr>
          <p:cNvPr id="91" name="c2-card-2"/>
          <p:cNvGrpSpPr/>
          <p:nvPr/>
        </p:nvGrpSpPr>
        <p:grpSpPr>
          <a:xfrm>
            <a:off x="6789420" y="3922395"/>
            <a:ext cx="4869180" cy="2431732"/>
            <a:chOff x="6789420" y="3922395"/>
            <a:chExt cx="4869180" cy="2431732"/>
          </a:xfrm>
        </p:grpSpPr>
        <p:sp>
          <p:nvSpPr>
            <p:cNvPr id="80" name="Rectangle 80"/>
            <p:cNvSpPr/>
            <p:nvPr/>
          </p:nvSpPr>
          <p:spPr>
            <a:xfrm>
              <a:off x="6789420" y="3922395"/>
              <a:ext cx="4869180" cy="2431732"/>
            </a:xfrm>
            <a:prstGeom prst="roundRect">
              <a:avLst>
                <a:gd name="adj" fmla="val 548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6976110" y="410908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064731" y="414194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怎么选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666482" y="4144327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三个算法的使用场合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6984682" y="452628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140702" y="4470082"/>
              <a:ext cx="36484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数据基本有序或者边来边排：直接插入排序。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6984682" y="4826318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140702" y="4770120"/>
              <a:ext cx="41936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需要稳定、又想尽早发现已经有序：改进冒泡排序。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6984682" y="512635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140702" y="507015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记录很大、移动代价远高于比较：直接选择排序。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970395" y="5366861"/>
              <a:ext cx="407238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数据量真的大的时候，三个都不该用，去看第 18 到 20 讲的 O(n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log n) 算法。</a:t>
              </a:r>
            </a:p>
          </p:txBody>
        </p:sp>
      </p:grpSp>
      <p:grpSp>
        <p:nvGrpSpPr>
          <p:cNvPr id="9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2" name="TextBox 92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3802761" cy="2997517"/>
            <a:chOff x="667512" y="1835468"/>
            <a:chExt cx="3802761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1975104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希尔排序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379285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按下标分组做插入排序，增量由大到小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用大增量让元素一次跨越很远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用小增量在接近有序时收尾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复杂度取决于增量序列的选取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548247" cy="909257"/>
            <a:chOff x="520446" y="342900"/>
            <a:chExt cx="654824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希尔排序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54824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希尔排序：把插入排序的两个长处同时用上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card-1"/>
          <p:cNvGrpSpPr/>
          <p:nvPr/>
        </p:nvGrpSpPr>
        <p:grpSpPr>
          <a:xfrm>
            <a:off x="533400" y="1524000"/>
            <a:ext cx="5626418" cy="2697480"/>
            <a:chOff x="533400" y="1524000"/>
            <a:chExt cx="5626418" cy="269748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2697480"/>
            </a:xfrm>
            <a:prstGeom prst="roundRect">
              <a:avLst>
                <a:gd name="adj" fmla="val 494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43078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思想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渐减增量排序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希尔排序亦称渐减增量排序，是对直接插入排序的改进。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2000" y="239839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7448" y="2346484"/>
              <a:ext cx="46468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把记录按下标分组，同组内相邻元素的下标相差一个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增量 d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62000" y="268414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17448" y="2631281"/>
              <a:ext cx="470281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每组各自做一次直接插入排序，然后减小 d，重复这个过程，直到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 减到 1。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5998" y="3158966"/>
              <a:ext cx="49222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直接插入排序在“短文件”和“待排序文件基本有序”时速度快，希尔排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序把这两个特性都利用上了。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7141" y="3683318"/>
              <a:ext cx="4797933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提出者 Donald Shell，1924 至 2015，美国辛辛那提大学博士，任职于通用电气公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司，1959 年发表该算法。</a:t>
              </a:r>
            </a:p>
          </p:txBody>
        </p:sp>
      </p:grpSp>
      <p:grpSp>
        <p:nvGrpSpPr>
          <p:cNvPr id="27" name="c1-card-2"/>
          <p:cNvGrpSpPr/>
          <p:nvPr/>
        </p:nvGrpSpPr>
        <p:grpSpPr>
          <a:xfrm>
            <a:off x="533400" y="4386262"/>
            <a:ext cx="5626418" cy="1934528"/>
            <a:chOff x="533400" y="4386262"/>
            <a:chExt cx="5626418" cy="1934528"/>
          </a:xfrm>
        </p:grpSpPr>
        <p:sp>
          <p:nvSpPr>
            <p:cNvPr id="20" name="Rectangle 20"/>
            <p:cNvSpPr/>
            <p:nvPr/>
          </p:nvSpPr>
          <p:spPr>
            <a:xfrm>
              <a:off x="533400" y="4386262"/>
              <a:ext cx="5626418" cy="1934528"/>
            </a:xfrm>
            <a:prstGeom prst="roundRect">
              <a:avLst>
                <a:gd name="adj" fmla="val 689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14375" y="456723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07047" y="460009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280350" y="4606766"/>
              <a:ext cx="17718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增量 d 到底改变了什么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7898" y="4923949"/>
              <a:ext cx="488975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直接插入排序每次只把元素往左挪一格，一次移动最多消掉一个逆序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7898" y="5451634"/>
              <a:ext cx="49141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希尔排序让元素一次跨过 d 格，一次移动可以消掉好几个逆序对，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大</a:t>
              </a:r>
              <a:br/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步子先把混乱程度压下来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9041" y="5975985"/>
              <a:ext cx="46328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d 最后必须减到 1，否则不同组的元素从未互相比较过，整体不可能有序。</a:t>
              </a:r>
            </a:p>
          </p:txBody>
        </p:sp>
      </p:grpSp>
      <p:grpSp>
        <p:nvGrpSpPr>
          <p:cNvPr id="30" name="c2-image-1"/>
          <p:cNvGrpSpPr/>
          <p:nvPr/>
        </p:nvGrpSpPr>
        <p:grpSpPr>
          <a:xfrm>
            <a:off x="6946290" y="1524000"/>
            <a:ext cx="4231589" cy="3400139"/>
            <a:chOff x="6946290" y="1524000"/>
            <a:chExt cx="4231589" cy="3400139"/>
          </a:xfrm>
        </p:grpSpPr>
        <p:pic>
          <p:nvPicPr>
            <p:cNvPr id="28" name="Image 28"/>
            <p:cNvPicPr>
              <a:picLocks noChangeAspect="1"/>
            </p:cNvPicPr>
            <p:nvPr/>
          </p:nvPicPr>
          <p:blipFill>
            <a:blip r:embed="rId2"/>
            <a:srcRect l="0" t="4" r="0" b="4"/>
            <a:stretch>
              <a:fillRect/>
            </a:stretch>
          </p:blipFill>
          <p:spPr>
            <a:xfrm>
              <a:off x="6983730" y="1524000"/>
              <a:ext cx="4155758" cy="3116580"/>
            </a:xfrm>
            <a:prstGeom prst="roundRect">
              <a:avLst>
                <a:gd name="adj" fmla="val 4278"/>
              </a:avLst>
            </a:prstGeom>
          </p:spPr>
        </p:pic>
        <p:sp>
          <p:nvSpPr>
            <p:cNvPr id="29" name="TextBox 29"/>
            <p:cNvSpPr txBox="1"/>
            <p:nvPr/>
          </p:nvSpPr>
          <p:spPr>
            <a:xfrm>
              <a:off x="6946290" y="4733449"/>
              <a:ext cx="42315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先用齿距大的耙子粗理一遍，再换齿距小的耙子，最后一遍几乎不用使劲</a:t>
              </a:r>
            </a:p>
          </p:txBody>
        </p:sp>
      </p:grpSp>
      <p:grpSp>
        <p:nvGrpSpPr>
          <p:cNvPr id="37" name="c2-callout-2"/>
          <p:cNvGrpSpPr/>
          <p:nvPr/>
        </p:nvGrpSpPr>
        <p:grpSpPr>
          <a:xfrm>
            <a:off x="6464618" y="5069205"/>
            <a:ext cx="5193982" cy="1251585"/>
            <a:chOff x="6464618" y="5069205"/>
            <a:chExt cx="5193982" cy="1251585"/>
          </a:xfrm>
        </p:grpSpPr>
        <p:sp>
          <p:nvSpPr>
            <p:cNvPr id="31" name="Rectangle 31"/>
            <p:cNvSpPr/>
            <p:nvPr/>
          </p:nvSpPr>
          <p:spPr>
            <a:xfrm>
              <a:off x="6464618" y="5069205"/>
              <a:ext cx="5193982" cy="1251585"/>
            </a:xfrm>
            <a:prstGeom prst="roundRect">
              <a:avLst>
                <a:gd name="adj" fmla="val 913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669405" y="5594985"/>
              <a:ext cx="200026" cy="200025"/>
              <a:chOff x="6669405" y="5594985"/>
              <a:chExt cx="200026" cy="200025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6669405" y="559498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6709144" y="563943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743859" y="575056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6972491" y="5488781"/>
              <a:ext cx="42070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 大时每组只有两三个元素，是“短文件”；d 小时全局已经</a:t>
              </a:r>
              <a:br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差不多有序，是“基本有序”。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38" name="TextBox 38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38220" cy="909257"/>
            <a:chOff x="520446" y="342900"/>
            <a:chExt cx="513822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希尔排序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3822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分组方法：同组元素的下标相差 d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2141220"/>
            <a:chOff x="533400" y="1524000"/>
            <a:chExt cx="5410200" cy="21412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141220"/>
            </a:xfrm>
            <a:prstGeom prst="roundRect">
              <a:avLst>
                <a:gd name="adj" fmla="val 622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7452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分组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17247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增量为 d 时的 d 个组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0729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组：R[1]、R[1+d]、R[1+2d]、R[1+3d]、…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7047" y="2392680"/>
              <a:ext cx="40729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组：R[2]、R[2+d]、R[2+2d]、R[2+3d]、…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7047" y="2695575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57047" y="2997518"/>
              <a:ext cx="35477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d 组：R[d]、R[2d]、R[3d]、R[4d]、…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8190" y="3297079"/>
              <a:ext cx="49869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组内相邻元素的下标间隔 d，一共恰好 d 组，每个元素属于且只属于一组。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3839528"/>
            <a:ext cx="5410200" cy="729615"/>
            <a:chOff x="533400" y="3839528"/>
            <a:chExt cx="5410200" cy="729615"/>
          </a:xfrm>
        </p:grpSpPr>
        <p:sp>
          <p:nvSpPr>
            <p:cNvPr id="18" name="Rectangle 18"/>
            <p:cNvSpPr/>
            <p:nvPr/>
          </p:nvSpPr>
          <p:spPr>
            <a:xfrm>
              <a:off x="533400" y="3839528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4104325"/>
              <a:ext cx="200023" cy="200023"/>
              <a:chOff x="738188" y="4104325"/>
              <a:chExt cx="200023" cy="20002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410432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71538" y="41709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892" y="3986212"/>
              <a:ext cx="449713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分组只是一种看法，不用真的新开 d 个数组。插入排序里的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j−1 改成 j−d，就是在组内走。</a:t>
              </a:r>
            </a:p>
          </p:txBody>
        </p:sp>
      </p:grpSp>
      <p:grpSp>
        <p:nvGrpSpPr>
          <p:cNvPr id="31" name="c1-card-3"/>
          <p:cNvGrpSpPr/>
          <p:nvPr/>
        </p:nvGrpSpPr>
        <p:grpSpPr>
          <a:xfrm>
            <a:off x="533400" y="4744402"/>
            <a:ext cx="5410200" cy="1490662"/>
            <a:chOff x="533400" y="4744402"/>
            <a:chExt cx="5410200" cy="1490662"/>
          </a:xfrm>
        </p:grpSpPr>
        <p:sp>
          <p:nvSpPr>
            <p:cNvPr id="24" name="Rectangle 24"/>
            <p:cNvSpPr/>
            <p:nvPr/>
          </p:nvSpPr>
          <p:spPr>
            <a:xfrm>
              <a:off x="533400" y="4744402"/>
              <a:ext cx="5410200" cy="1490662"/>
            </a:xfrm>
            <a:prstGeom prst="roundRect">
              <a:avLst>
                <a:gd name="adj" fmla="val 894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4877752"/>
              <a:ext cx="47625" cy="12239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63905" y="4936808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9346" y="4971098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14247" y="497681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每组不一定一样大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7047" y="5311140"/>
              <a:ext cx="46514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n=9、d=3 时三组各 3 个；n=10、d=3 时第 1 组是 R[1] R[4]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R[7] R[10] 共 4 个，另两组各 3 个。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8190" y="5866924"/>
              <a:ext cx="40371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代码不需要知道每组多大，第 37 页的双重循环会自动处理。</a:t>
              </a:r>
            </a:p>
          </p:txBody>
        </p:sp>
      </p:grpSp>
      <p:grpSp>
        <p:nvGrpSpPr>
          <p:cNvPr id="81" name="c2-cells-1"/>
          <p:cNvGrpSpPr/>
          <p:nvPr/>
        </p:nvGrpSpPr>
        <p:grpSpPr>
          <a:xfrm>
            <a:off x="6243638" y="1524000"/>
            <a:ext cx="4276724" cy="2174558"/>
            <a:chOff x="6243638" y="1524000"/>
            <a:chExt cx="4276724" cy="2174558"/>
          </a:xfrm>
        </p:grpSpPr>
        <p:sp>
          <p:nvSpPr>
            <p:cNvPr id="32" name="TextBox 32"/>
            <p:cNvSpPr txBox="1"/>
            <p:nvPr/>
          </p:nvSpPr>
          <p:spPr>
            <a:xfrm>
              <a:off x="6243638" y="1658303"/>
              <a:ext cx="21943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d=3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748462" y="1524000"/>
              <a:ext cx="41910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918266" y="165830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167562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337366" y="165830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586662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756466" y="165830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005762" y="1524000"/>
              <a:ext cx="41910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8175566" y="165830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8424862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594666" y="165830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843962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9013766" y="165830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263062" y="1524000"/>
              <a:ext cx="41910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9432866" y="165830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682162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851966" y="165830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0101262" y="152400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271066" y="165830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922893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341993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761093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180193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599293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018393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437493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856593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275693" y="195881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43638" y="2377440"/>
              <a:ext cx="3981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1 组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6748462" y="2242185"/>
              <a:ext cx="511492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852064" y="2377440"/>
              <a:ext cx="305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R[1]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259955" y="2242185"/>
              <a:ext cx="511492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363557" y="2377440"/>
              <a:ext cx="305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R[4]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771448" y="2242185"/>
              <a:ext cx="511492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875049" y="2377440"/>
              <a:ext cx="305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R[7]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243638" y="2914650"/>
              <a:ext cx="3981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2 组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748462" y="2779395"/>
              <a:ext cx="511492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852064" y="2914650"/>
              <a:ext cx="305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R[2]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7259955" y="2779395"/>
              <a:ext cx="511492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363557" y="2914650"/>
              <a:ext cx="305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R[5]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771448" y="2779395"/>
              <a:ext cx="511492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875049" y="2914650"/>
              <a:ext cx="305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R[8]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6243638" y="3451860"/>
              <a:ext cx="3981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3 组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748462" y="3317558"/>
              <a:ext cx="511492" cy="3810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852064" y="3451860"/>
              <a:ext cx="305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R[3]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7259955" y="3317558"/>
              <a:ext cx="511492" cy="3810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363557" y="3451860"/>
              <a:ext cx="305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R[6]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7771448" y="3317558"/>
              <a:ext cx="511492" cy="3810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875049" y="3451860"/>
              <a:ext cx="30524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R[9]</a:t>
              </a:r>
            </a:p>
          </p:txBody>
        </p:sp>
      </p:grpSp>
      <p:grpSp>
        <p:nvGrpSpPr>
          <p:cNvPr id="97" name="c2-card-2"/>
          <p:cNvGrpSpPr/>
          <p:nvPr/>
        </p:nvGrpSpPr>
        <p:grpSpPr>
          <a:xfrm>
            <a:off x="6248400" y="3873818"/>
            <a:ext cx="5410200" cy="2361248"/>
            <a:chOff x="6248400" y="3873818"/>
            <a:chExt cx="5410200" cy="2361248"/>
          </a:xfrm>
        </p:grpSpPr>
        <p:sp>
          <p:nvSpPr>
            <p:cNvPr id="82" name="Rectangle 82"/>
            <p:cNvSpPr/>
            <p:nvPr/>
          </p:nvSpPr>
          <p:spPr>
            <a:xfrm>
              <a:off x="6248400" y="3873818"/>
              <a:ext cx="5410200" cy="2361248"/>
            </a:xfrm>
            <a:prstGeom prst="roundRect">
              <a:avLst>
                <a:gd name="adj" fmla="val 56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6257925" y="4007168"/>
              <a:ext cx="47625" cy="2094548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6478905" y="406622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570345" y="410051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过程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062597" y="4106227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希尔排序的三步</a:t>
              </a:r>
            </a:p>
          </p:txBody>
        </p:sp>
        <p:sp>
          <p:nvSpPr>
            <p:cNvPr id="87" name="Ellipse 87"/>
            <p:cNvSpPr/>
            <p:nvPr/>
          </p:nvSpPr>
          <p:spPr>
            <a:xfrm>
              <a:off x="6478905" y="442817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6534583" y="446655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6759702" y="4439602"/>
              <a:ext cx="26125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按当前增量 d 把元素分成 d 组。</a:t>
              </a:r>
            </a:p>
          </p:txBody>
        </p:sp>
        <p:sp>
          <p:nvSpPr>
            <p:cNvPr id="90" name="Ellipse 90"/>
            <p:cNvSpPr/>
            <p:nvPr/>
          </p:nvSpPr>
          <p:spPr>
            <a:xfrm>
              <a:off x="6478905" y="473011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534583" y="476850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6759702" y="474249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对每组各做一次直接插入排序。</a:t>
              </a:r>
            </a:p>
          </p:txBody>
        </p:sp>
        <p:sp>
          <p:nvSpPr>
            <p:cNvPr id="93" name="Ellipse 93"/>
            <p:cNvSpPr/>
            <p:nvPr/>
          </p:nvSpPr>
          <p:spPr>
            <a:xfrm>
              <a:off x="6478905" y="5033010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534583" y="507139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759702" y="5045392"/>
              <a:ext cx="307598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减小 d，重复前两步，直到 d 减到 1。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6473190" y="5344001"/>
              <a:ext cx="48060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d 越小，组数越少，每组元素越多；d=1 时全体恰好是一组，算法终止。</a:t>
              </a:r>
            </a:p>
          </p:txBody>
        </p:sp>
      </p:grpSp>
      <p:grpSp>
        <p:nvGrpSpPr>
          <p:cNvPr id="10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8" name="TextBox 98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47944" cy="909257"/>
            <a:chOff x="520446" y="342900"/>
            <a:chExt cx="644794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希尔排序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4794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增量怎么取：Shell 最初的办法是每次折半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193982" cy="1911668"/>
            <a:chOff x="533400" y="1524000"/>
            <a:chExt cx="5193982" cy="191166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193982" cy="1911668"/>
            </a:xfrm>
            <a:prstGeom prst="roundRect">
              <a:avLst>
                <a:gd name="adj" fmla="val 697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64496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5060" y="1756410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19581" y="1756886"/>
              <a:ext cx="178366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10 时的增量序列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21459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d₁ = ⌊n/2⌋ = ⌊10/2⌋ = 5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381" y="2418874"/>
              <a:ext cx="21459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d₂ = ⌊d₁/2⌋ = ⌊5/2⌋ = 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381" y="2736056"/>
              <a:ext cx="21459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d₃ = ⌊d₂/2⌋ = ⌊2/2⌋ =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3524" y="3049905"/>
              <a:ext cx="3574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一共 3 趟。一般地，折半增量的趟数是 ⌊log₂n⌋。</a:t>
              </a:r>
            </a:p>
          </p:txBody>
        </p:sp>
      </p:grpSp>
      <p:grpSp>
        <p:nvGrpSpPr>
          <p:cNvPr id="23" name="c1-callout-2"/>
          <p:cNvGrpSpPr/>
          <p:nvPr/>
        </p:nvGrpSpPr>
        <p:grpSpPr>
          <a:xfrm>
            <a:off x="533400" y="3615690"/>
            <a:ext cx="5193982" cy="756285"/>
            <a:chOff x="533400" y="3615690"/>
            <a:chExt cx="5193982" cy="756285"/>
          </a:xfrm>
        </p:grpSpPr>
        <p:sp>
          <p:nvSpPr>
            <p:cNvPr id="17" name="Rectangle 17"/>
            <p:cNvSpPr/>
            <p:nvPr/>
          </p:nvSpPr>
          <p:spPr>
            <a:xfrm>
              <a:off x="533400" y="3615690"/>
              <a:ext cx="5193982" cy="756285"/>
            </a:xfrm>
            <a:prstGeom prst="roundRect">
              <a:avLst>
                <a:gd name="adj" fmla="val 15113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26129" y="3890128"/>
              <a:ext cx="224134" cy="192560"/>
              <a:chOff x="726129" y="3890128"/>
              <a:chExt cx="224134" cy="19256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838200" y="396049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26129" y="389012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38200" y="4038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511" y="3763804"/>
              <a:ext cx="431558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最后一个增量必须是 1，否则组与组之间从未比较过，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整体不可能有序。</a:t>
              </a:r>
            </a:p>
          </p:txBody>
        </p:sp>
      </p:grpSp>
      <p:grpSp>
        <p:nvGrpSpPr>
          <p:cNvPr id="31" name="c1-card-3"/>
          <p:cNvGrpSpPr/>
          <p:nvPr/>
        </p:nvGrpSpPr>
        <p:grpSpPr>
          <a:xfrm>
            <a:off x="533400" y="4552950"/>
            <a:ext cx="5193982" cy="1768792"/>
            <a:chOff x="533400" y="4552950"/>
            <a:chExt cx="5193982" cy="1768792"/>
          </a:xfrm>
        </p:grpSpPr>
        <p:sp>
          <p:nvSpPr>
            <p:cNvPr id="24" name="Rectangle 24"/>
            <p:cNvSpPr/>
            <p:nvPr/>
          </p:nvSpPr>
          <p:spPr>
            <a:xfrm>
              <a:off x="533400" y="4552950"/>
              <a:ext cx="5193982" cy="1768792"/>
            </a:xfrm>
            <a:prstGeom prst="roundRect">
              <a:avLst>
                <a:gd name="adj" fmla="val 75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542925" y="4686300"/>
              <a:ext cx="47625" cy="150209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69620" y="475107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1060" y="478536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52931" y="4785836"/>
              <a:ext cx="19557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趟数与“第几趟”的说法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62381" y="512968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n=10 时三趟的增量依次是 5、2、1，所以题目说“第一趟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排序结果”指的就是 d=5 那一趟做完的样子。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3524" y="5715000"/>
              <a:ext cx="451561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有的教材把增量写成 d₀ 开头，趟的编号会差 1。看题时以给出的增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量序列为准。</a:t>
              </a:r>
            </a:p>
          </p:txBody>
        </p:sp>
      </p:grpSp>
      <p:grpSp>
        <p:nvGrpSpPr>
          <p:cNvPr id="38" name="c2-callout-1"/>
          <p:cNvGrpSpPr/>
          <p:nvPr/>
        </p:nvGrpSpPr>
        <p:grpSpPr>
          <a:xfrm>
            <a:off x="6032182" y="1524000"/>
            <a:ext cx="5626418" cy="1018222"/>
            <a:chOff x="6032182" y="1524000"/>
            <a:chExt cx="5626418" cy="1018222"/>
          </a:xfrm>
        </p:grpSpPr>
        <p:sp>
          <p:nvSpPr>
            <p:cNvPr id="32" name="Rectangle 32"/>
            <p:cNvSpPr/>
            <p:nvPr/>
          </p:nvSpPr>
          <p:spPr>
            <a:xfrm>
              <a:off x="6032182" y="1524000"/>
              <a:ext cx="5626418" cy="1018222"/>
            </a:xfrm>
            <a:prstGeom prst="roundRect">
              <a:avLst>
                <a:gd name="adj" fmla="val 1122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6236970" y="1933575"/>
              <a:ext cx="200026" cy="200026"/>
              <a:chOff x="6236970" y="1933575"/>
              <a:chExt cx="200026" cy="20002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6236970" y="193357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6336983" y="20002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6325870" y="203358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6539294" y="1671161"/>
              <a:ext cx="4730369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折半增量的相邻增量互不互质（都是 2 的倍数），同一批元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素会被反复放进同一组，这正是它最坏只能到 O(n²) 的原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因。</a:t>
              </a:r>
            </a:p>
          </p:txBody>
        </p:sp>
      </p:grpSp>
      <p:grpSp>
        <p:nvGrpSpPr>
          <p:cNvPr id="51" name="c2-card-2"/>
          <p:cNvGrpSpPr/>
          <p:nvPr/>
        </p:nvGrpSpPr>
        <p:grpSpPr>
          <a:xfrm>
            <a:off x="6032182" y="2723198"/>
            <a:ext cx="5626418" cy="3598545"/>
            <a:chOff x="6032182" y="2723198"/>
            <a:chExt cx="5626418" cy="3598545"/>
          </a:xfrm>
        </p:grpSpPr>
        <p:sp>
          <p:nvSpPr>
            <p:cNvPr id="39" name="Rectangle 39"/>
            <p:cNvSpPr/>
            <p:nvPr/>
          </p:nvSpPr>
          <p:spPr>
            <a:xfrm>
              <a:off x="6032182" y="2723198"/>
              <a:ext cx="5626418" cy="3598545"/>
            </a:xfrm>
            <a:prstGeom prst="roundRect">
              <a:avLst>
                <a:gd name="adj" fmla="val 370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41708" y="2856548"/>
              <a:ext cx="47625" cy="33318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268402" y="292131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351842" y="295560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一般规定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18414" y="2956084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增量序列的要求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61164" y="3299936"/>
              <a:ext cx="47034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Shell 提出取 d₁ = ⌊n/2⌋、d₂ = ⌊d₁/2⌋，直到 dₜ = 1。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61164" y="3617119"/>
              <a:ext cx="4712335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增量也可以取满足下面条件的任意正整数序列：n &gt; d₁ &gt; d₂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… &gt; dₜ = 1。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276022" y="426624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32614" y="4206716"/>
              <a:ext cx="329287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序列递减且终止于 1 是唯一的硬要求。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276022" y="4584382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432614" y="4523899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不同的取法会让最坏时间复杂度差出一个量级，本节最后有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一张对照表。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62306" y="5110162"/>
              <a:ext cx="44317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折半增量胜在好写好记，考试默认用它；真要追求速度，后面表里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Sedgewick 那几组明显更好。</a:t>
              </a:r>
            </a:p>
          </p:txBody>
        </p:sp>
      </p:grpSp>
      <p:grpSp>
        <p:nvGrpSpPr>
          <p:cNvPr id="5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2" name="TextBox 52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128586" cy="909257"/>
            <a:chOff x="520446" y="342900"/>
            <a:chExt cx="612858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希尔排序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12858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例题第 1 趟：d = 5，分成 5 个两元素组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057364" cy="264033"/>
            <a:chOff x="526542" y="1545907"/>
            <a:chExt cx="405736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0573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待排序列 7 5 9 2 13 5* 8 10 15 6，下标 1 到 10。</a:t>
              </a:r>
            </a:p>
          </p:txBody>
        </p:sp>
      </p:grpSp>
      <p:grpSp>
        <p:nvGrpSpPr>
          <p:cNvPr id="65" name="c1-cells-1"/>
          <p:cNvGrpSpPr/>
          <p:nvPr/>
        </p:nvGrpSpPr>
        <p:grpSpPr>
          <a:xfrm>
            <a:off x="528638" y="1928812"/>
            <a:ext cx="4695824" cy="3148014"/>
            <a:chOff x="528638" y="1928812"/>
            <a:chExt cx="4695824" cy="3148014"/>
          </a:xfrm>
        </p:grpSpPr>
        <p:sp>
          <p:nvSpPr>
            <p:cNvPr id="9" name="TextBox 9"/>
            <p:cNvSpPr txBox="1"/>
            <p:nvPr/>
          </p:nvSpPr>
          <p:spPr>
            <a:xfrm>
              <a:off x="528638" y="205740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初始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33462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03266" y="20574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452562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22366" y="20574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871662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041466" y="20574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290762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460566" y="20574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709862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844681" y="20574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128962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263781" y="20574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548062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717866" y="20574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967162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101981" y="20574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386262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521081" y="205740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805362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975166" y="205740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207893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626993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46093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465193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884293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303393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722493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141593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60693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949436" y="235124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28638" y="2757488"/>
              <a:ext cx="3981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1 组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33462" y="2628900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203266" y="2757488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452562" y="2628900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587381" y="2757488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8638" y="3277552"/>
              <a:ext cx="3981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2 组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033462" y="3148965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203266" y="327755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452562" y="3148965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622366" y="327755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28638" y="3796665"/>
              <a:ext cx="3981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3 组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033462" y="3669030"/>
              <a:ext cx="419100" cy="368618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203266" y="379666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452562" y="3669030"/>
              <a:ext cx="419100" cy="368618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587381" y="379666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28638" y="4316730"/>
              <a:ext cx="3981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4 组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033462" y="4188142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203266" y="431673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452562" y="4188142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587381" y="431673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28638" y="4836795"/>
              <a:ext cx="39813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5 组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033462" y="4708208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168281" y="483679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452562" y="4708208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622366" y="483679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  <p:grpSp>
        <p:nvGrpSpPr>
          <p:cNvPr id="103" name="c2-table-1"/>
          <p:cNvGrpSpPr/>
          <p:nvPr/>
        </p:nvGrpSpPr>
        <p:grpSpPr>
          <a:xfrm>
            <a:off x="6248400" y="1928812"/>
            <a:ext cx="5410200" cy="2400300"/>
            <a:chOff x="6248400" y="1928812"/>
            <a:chExt cx="5410200" cy="2400300"/>
          </a:xfrm>
        </p:grpSpPr>
        <p:sp>
          <p:nvSpPr>
            <p:cNvPr id="66" name="Rectangle 66"/>
            <p:cNvSpPr/>
            <p:nvPr/>
          </p:nvSpPr>
          <p:spPr>
            <a:xfrm>
              <a:off x="6248400" y="1928812"/>
              <a:ext cx="5410200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725463" y="20502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7882611" y="205025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下标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177731" y="20502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组内元素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725683" y="2050256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排序后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345555" y="24503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462838" y="2450306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1, 6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810625" y="2450306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7, 5*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0266998" y="2338388"/>
              <a:ext cx="138207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0354628" y="2450306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5*, 7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248400" y="27241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248400" y="272891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345555" y="28503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462838" y="2850356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2, 7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8810625" y="2850356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5, 8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0354628" y="2850356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5, 8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6248400" y="31242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345555" y="32504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462838" y="3250406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3, 8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810625" y="3250406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9, 10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0354628" y="3250406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9, 10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6248400" y="352425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6248400" y="3529012"/>
              <a:ext cx="5410200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345555" y="365045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462838" y="3650456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4, 9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8810625" y="3650456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2, 15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0354628" y="3650456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2, 15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6248400" y="392430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345555" y="405050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7462838" y="4050506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5, 10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8810625" y="4050506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13, 6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10266998" y="3938588"/>
              <a:ext cx="1382078" cy="381000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10354628" y="4050506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6, 13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6248400" y="1928812"/>
              <a:ext cx="5410200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7360920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8708708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10252710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35" name="c2-cells-2"/>
          <p:cNvGrpSpPr/>
          <p:nvPr/>
        </p:nvGrpSpPr>
        <p:grpSpPr>
          <a:xfrm>
            <a:off x="6243638" y="4498658"/>
            <a:ext cx="4924424" cy="584358"/>
            <a:chOff x="6243638" y="4498658"/>
            <a:chExt cx="4924424" cy="584358"/>
          </a:xfrm>
        </p:grpSpPr>
        <p:sp>
          <p:nvSpPr>
            <p:cNvPr id="104" name="TextBox 104"/>
            <p:cNvSpPr txBox="1"/>
            <p:nvPr/>
          </p:nvSpPr>
          <p:spPr>
            <a:xfrm>
              <a:off x="6243638" y="4627245"/>
              <a:ext cx="6404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1 趟结果</a:t>
              </a:r>
            </a:p>
          </p:txBody>
        </p:sp>
        <p:sp>
          <p:nvSpPr>
            <p:cNvPr id="105" name="Rectangle 105"/>
            <p:cNvSpPr/>
            <p:nvPr/>
          </p:nvSpPr>
          <p:spPr>
            <a:xfrm>
              <a:off x="6977062" y="4498658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7111881" y="46272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7396162" y="449865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7565966" y="46272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9" name="Rectangle 109"/>
            <p:cNvSpPr/>
            <p:nvPr/>
          </p:nvSpPr>
          <p:spPr>
            <a:xfrm>
              <a:off x="7815262" y="449865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7985066" y="46272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8234362" y="449865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8404166" y="46272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8653462" y="449865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8823266" y="46272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9072562" y="4498658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9242366" y="46272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9491662" y="449865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9661466" y="462724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9910762" y="449865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10045581" y="46272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21" name="Rectangle 121"/>
            <p:cNvSpPr/>
            <p:nvPr/>
          </p:nvSpPr>
          <p:spPr>
            <a:xfrm>
              <a:off x="10329862" y="449865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10464681" y="46272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23" name="Rectangle 123"/>
            <p:cNvSpPr/>
            <p:nvPr/>
          </p:nvSpPr>
          <p:spPr>
            <a:xfrm>
              <a:off x="10748962" y="4498658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10883781" y="462724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7151493" y="4921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7570593" y="4921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7989693" y="4921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8408793" y="4921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8827893" y="4921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9246993" y="4921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9666093" y="4921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10085193" y="4921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10504293" y="4921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10893036" y="49210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141" name="c2-callout-3"/>
          <p:cNvGrpSpPr/>
          <p:nvPr/>
        </p:nvGrpSpPr>
        <p:grpSpPr>
          <a:xfrm>
            <a:off x="6248400" y="5218748"/>
            <a:ext cx="5410200" cy="481012"/>
            <a:chOff x="6248400" y="5218748"/>
            <a:chExt cx="5410200" cy="481012"/>
          </a:xfrm>
        </p:grpSpPr>
        <p:sp>
          <p:nvSpPr>
            <p:cNvPr id="136" name="Rectangle 136"/>
            <p:cNvSpPr/>
            <p:nvPr/>
          </p:nvSpPr>
          <p:spPr>
            <a:xfrm>
              <a:off x="6248400" y="5218748"/>
              <a:ext cx="5410200" cy="481012"/>
            </a:xfrm>
            <a:prstGeom prst="roundRect">
              <a:avLst>
                <a:gd name="adj" fmla="val 2376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39" name="Group 139"/>
            <p:cNvGrpSpPr/>
            <p:nvPr/>
          </p:nvGrpSpPr>
          <p:grpSpPr>
            <a:xfrm>
              <a:off x="6453188" y="5358765"/>
              <a:ext cx="200026" cy="200026"/>
              <a:chOff x="6453188" y="5358765"/>
              <a:chExt cx="200026" cy="200026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6453188" y="535876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38" name="Freeform 138"/>
              <p:cNvSpPr/>
              <p:nvPr/>
            </p:nvSpPr>
            <p:spPr>
              <a:xfrm>
                <a:off x="6519863" y="543655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40" name="TextBox 140"/>
            <p:cNvSpPr txBox="1"/>
            <p:nvPr/>
          </p:nvSpPr>
          <p:spPr>
            <a:xfrm>
              <a:off x="6755892" y="5364480"/>
              <a:ext cx="43481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本趟 5 次比较、2 次交换，逆序对从 16 个降到 7 个。</a:t>
              </a:r>
            </a:p>
          </p:txBody>
        </p:sp>
      </p:grpSp>
      <p:grpSp>
        <p:nvGrpSpPr>
          <p:cNvPr id="148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142" name="Rectangle 142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46" name="Group 146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143" name="Freeform 143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4" name="Freeform 144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5" name="Freeform 145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47" name="TextBox 147"/>
            <p:cNvSpPr txBox="1"/>
            <p:nvPr/>
          </p:nvSpPr>
          <p:spPr>
            <a:xfrm>
              <a:off x="1040892" y="6028373"/>
              <a:ext cx="69924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 从下标 6 一步跨到下标 1，越过了下标 2 上的 5。希尔排序不稳定就发生在这一步。</a:t>
              </a:r>
            </a:p>
          </p:txBody>
        </p:sp>
      </p:grpSp>
      <p:grpSp>
        <p:nvGrpSpPr>
          <p:cNvPr id="1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9" name="TextBox 14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79901" cy="909257"/>
            <a:chOff x="520446" y="342900"/>
            <a:chExt cx="487990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希尔排序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799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例题第 2、3 趟：d = 2 与 d = 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3" name="c1-cells-1"/>
          <p:cNvGrpSpPr/>
          <p:nvPr/>
        </p:nvGrpSpPr>
        <p:grpSpPr>
          <a:xfrm>
            <a:off x="528638" y="1524000"/>
            <a:ext cx="4924424" cy="3350895"/>
            <a:chOff x="528638" y="1524000"/>
            <a:chExt cx="4924424" cy="3350895"/>
          </a:xfrm>
        </p:grpSpPr>
        <p:sp>
          <p:nvSpPr>
            <p:cNvPr id="7" name="TextBox 7"/>
            <p:cNvSpPr txBox="1"/>
            <p:nvPr/>
          </p:nvSpPr>
          <p:spPr>
            <a:xfrm>
              <a:off x="528638" y="1664970"/>
              <a:ext cx="3787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d=2 前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262062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396881" y="166497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681162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850966" y="16649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100262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270066" y="16649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519362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689166" y="16649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938462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108266" y="16649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357562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527366" y="16649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776662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46466" y="16649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195762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330581" y="166497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614862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749681" y="166497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033962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168781" y="166497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436493" y="19721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855593" y="19721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274693" y="19721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693793" y="19721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112893" y="19721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31993" y="19721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951093" y="19721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370193" y="19721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89293" y="19721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178036" y="197215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28638" y="2401252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奇数组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262062" y="2260282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396881" y="240125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681162" y="2260282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850966" y="240125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100262" y="2260282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270066" y="240125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519362" y="2260282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689166" y="240125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938462" y="2260282"/>
              <a:ext cx="419100" cy="3943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073281" y="240125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28638" y="2956560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排序后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262062" y="2815590"/>
              <a:ext cx="419100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396881" y="29565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681162" y="2815590"/>
              <a:ext cx="419100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850966" y="295656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2100262" y="2815590"/>
              <a:ext cx="419100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270066" y="295656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2519362" y="2815590"/>
              <a:ext cx="419100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689166" y="295656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2938462" y="2815590"/>
              <a:ext cx="419100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073281" y="295656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528638" y="3510915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偶数组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1262062" y="3369945"/>
              <a:ext cx="419100" cy="394335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431866" y="351091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1681162" y="3369945"/>
              <a:ext cx="419100" cy="394335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1850966" y="351091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2100262" y="3369945"/>
              <a:ext cx="419100" cy="394335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2270066" y="3510915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2519362" y="3369945"/>
              <a:ext cx="419100" cy="394335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2654181" y="351091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2938462" y="3369945"/>
              <a:ext cx="419100" cy="394335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3073281" y="3510915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28638" y="4066223"/>
              <a:ext cx="3729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排序后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1262062" y="3925252"/>
              <a:ext cx="419100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431866" y="406622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1681162" y="3925252"/>
              <a:ext cx="419100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850966" y="406622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2100262" y="3925252"/>
              <a:ext cx="419100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2270066" y="4066223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2519362" y="3925252"/>
              <a:ext cx="419100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2654181" y="4066223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2938462" y="3925252"/>
              <a:ext cx="419100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3073281" y="4066223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528638" y="4621530"/>
              <a:ext cx="6404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2 趟结果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1262062" y="448056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1396881" y="462153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1681162" y="448056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1850966" y="462153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2100262" y="448056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2270066" y="462153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2519362" y="448056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2689166" y="462153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2938462" y="448056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3108266" y="462153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3357562" y="448056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3527366" y="462153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3776662" y="448056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3946466" y="462153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97" name="Rectangle 97"/>
            <p:cNvSpPr/>
            <p:nvPr/>
          </p:nvSpPr>
          <p:spPr>
            <a:xfrm>
              <a:off x="4195762" y="448056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4330581" y="462153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4614862" y="448056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4749681" y="462153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01" name="Rectangle 101"/>
            <p:cNvSpPr/>
            <p:nvPr/>
          </p:nvSpPr>
          <p:spPr>
            <a:xfrm>
              <a:off x="5033962" y="448056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5168781" y="462153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  <p:grpSp>
        <p:nvGrpSpPr>
          <p:cNvPr id="110" name="c1-card-2"/>
          <p:cNvGrpSpPr/>
          <p:nvPr/>
        </p:nvGrpSpPr>
        <p:grpSpPr>
          <a:xfrm>
            <a:off x="533400" y="5054918"/>
            <a:ext cx="5626418" cy="1268730"/>
            <a:chOff x="533400" y="5054918"/>
            <a:chExt cx="5626418" cy="1268730"/>
          </a:xfrm>
        </p:grpSpPr>
        <p:sp>
          <p:nvSpPr>
            <p:cNvPr id="104" name="Rectangle 104"/>
            <p:cNvSpPr/>
            <p:nvPr/>
          </p:nvSpPr>
          <p:spPr>
            <a:xfrm>
              <a:off x="533400" y="5054918"/>
              <a:ext cx="5626418" cy="1268730"/>
            </a:xfrm>
            <a:prstGeom prst="roundRect">
              <a:avLst>
                <a:gd name="adj" fmla="val 10511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542925" y="5188268"/>
              <a:ext cx="47625" cy="1002030"/>
            </a:xfrm>
            <a:prstGeom prst="roundRect">
              <a:avLst>
                <a:gd name="adj" fmla="val 50000"/>
              </a:avLst>
            </a:prstGeom>
            <a:solidFill>
              <a:srgbClr val="D97706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769620" y="5253038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FEF3C7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853059" y="528732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92400E"/>
                  </a:solidFill>
                  <a:latin typeface="+mn-lt"/>
                  <a:ea typeface="+mn-ea"/>
                  <a:cs typeface="+mn-cs"/>
                </a:rPr>
                <a:t>手算技巧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1619631" y="5287804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把每组单独抄成一行再排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762381" y="5631656"/>
              <a:ext cx="493776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按下标间隔 d 把元素抄成 d 行，各行分别做插入排序，再按原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下标交替写回去，比在原数组上跳着数格子稳妥得多。</a:t>
              </a:r>
            </a:p>
          </p:txBody>
        </p:sp>
      </p:grpSp>
      <p:grpSp>
        <p:nvGrpSpPr>
          <p:cNvPr id="163" name="c2-cells-1"/>
          <p:cNvGrpSpPr/>
          <p:nvPr/>
        </p:nvGrpSpPr>
        <p:grpSpPr>
          <a:xfrm>
            <a:off x="6459855" y="1524000"/>
            <a:ext cx="4924425" cy="1130617"/>
            <a:chOff x="6459855" y="1524000"/>
            <a:chExt cx="4924425" cy="1130617"/>
          </a:xfrm>
        </p:grpSpPr>
        <p:sp>
          <p:nvSpPr>
            <p:cNvPr id="111" name="TextBox 111"/>
            <p:cNvSpPr txBox="1"/>
            <p:nvPr/>
          </p:nvSpPr>
          <p:spPr>
            <a:xfrm>
              <a:off x="6459855" y="1664970"/>
              <a:ext cx="37875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d=1 前</a:t>
              </a:r>
            </a:p>
          </p:txBody>
        </p:sp>
        <p:sp>
          <p:nvSpPr>
            <p:cNvPr id="112" name="Rectangle 112"/>
            <p:cNvSpPr/>
            <p:nvPr/>
          </p:nvSpPr>
          <p:spPr>
            <a:xfrm>
              <a:off x="7193280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3" name="TextBox 113"/>
            <p:cNvSpPr txBox="1"/>
            <p:nvPr/>
          </p:nvSpPr>
          <p:spPr>
            <a:xfrm>
              <a:off x="7328099" y="166497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114" name="Rectangle 114"/>
            <p:cNvSpPr/>
            <p:nvPr/>
          </p:nvSpPr>
          <p:spPr>
            <a:xfrm>
              <a:off x="7612380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7782183" y="16649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6" name="Rectangle 116"/>
            <p:cNvSpPr/>
            <p:nvPr/>
          </p:nvSpPr>
          <p:spPr>
            <a:xfrm>
              <a:off x="8031480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8201283" y="16649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8450580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9" name="TextBox 119"/>
            <p:cNvSpPr txBox="1"/>
            <p:nvPr/>
          </p:nvSpPr>
          <p:spPr>
            <a:xfrm>
              <a:off x="8620383" y="16649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0" name="Rectangle 120"/>
            <p:cNvSpPr/>
            <p:nvPr/>
          </p:nvSpPr>
          <p:spPr>
            <a:xfrm>
              <a:off x="8869680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9039483" y="16649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22" name="Rectangle 122"/>
            <p:cNvSpPr/>
            <p:nvPr/>
          </p:nvSpPr>
          <p:spPr>
            <a:xfrm>
              <a:off x="9288780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9458583" y="16649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9707880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5" name="TextBox 125"/>
            <p:cNvSpPr txBox="1"/>
            <p:nvPr/>
          </p:nvSpPr>
          <p:spPr>
            <a:xfrm>
              <a:off x="9877683" y="1664970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26" name="Rectangle 126"/>
            <p:cNvSpPr/>
            <p:nvPr/>
          </p:nvSpPr>
          <p:spPr>
            <a:xfrm>
              <a:off x="10126980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7" name="TextBox 127"/>
            <p:cNvSpPr txBox="1"/>
            <p:nvPr/>
          </p:nvSpPr>
          <p:spPr>
            <a:xfrm>
              <a:off x="10261799" y="166497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28" name="Rectangle 128"/>
            <p:cNvSpPr/>
            <p:nvPr/>
          </p:nvSpPr>
          <p:spPr>
            <a:xfrm>
              <a:off x="10546080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10680899" y="166497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130" name="Rectangle 130"/>
            <p:cNvSpPr/>
            <p:nvPr/>
          </p:nvSpPr>
          <p:spPr>
            <a:xfrm>
              <a:off x="10965180" y="152400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1" name="TextBox 131"/>
            <p:cNvSpPr txBox="1"/>
            <p:nvPr/>
          </p:nvSpPr>
          <p:spPr>
            <a:xfrm>
              <a:off x="11099999" y="1664970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7367711" y="19721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7786811" y="19721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8205911" y="19721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8625011" y="19721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9044111" y="19721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9463211" y="19721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9882311" y="19721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10301411" y="19721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10720511" y="197215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41" name="TextBox 141"/>
            <p:cNvSpPr txBox="1"/>
            <p:nvPr/>
          </p:nvSpPr>
          <p:spPr>
            <a:xfrm>
              <a:off x="11109254" y="197215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6459855" y="2401252"/>
              <a:ext cx="64045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3 趟结果</a:t>
              </a:r>
            </a:p>
          </p:txBody>
        </p:sp>
        <p:sp>
          <p:nvSpPr>
            <p:cNvPr id="143" name="Rectangle 143"/>
            <p:cNvSpPr/>
            <p:nvPr/>
          </p:nvSpPr>
          <p:spPr>
            <a:xfrm>
              <a:off x="7193280" y="2260282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44" name="TextBox 144"/>
            <p:cNvSpPr txBox="1"/>
            <p:nvPr/>
          </p:nvSpPr>
          <p:spPr>
            <a:xfrm>
              <a:off x="7363083" y="240125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45" name="Rectangle 145"/>
            <p:cNvSpPr/>
            <p:nvPr/>
          </p:nvSpPr>
          <p:spPr>
            <a:xfrm>
              <a:off x="7612380" y="2260282"/>
              <a:ext cx="419100" cy="3943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46" name="TextBox 146"/>
            <p:cNvSpPr txBox="1"/>
            <p:nvPr/>
          </p:nvSpPr>
          <p:spPr>
            <a:xfrm>
              <a:off x="7747199" y="240125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5*</a:t>
              </a:r>
            </a:p>
          </p:txBody>
        </p:sp>
        <p:sp>
          <p:nvSpPr>
            <p:cNvPr id="147" name="Rectangle 147"/>
            <p:cNvSpPr/>
            <p:nvPr/>
          </p:nvSpPr>
          <p:spPr>
            <a:xfrm>
              <a:off x="8031480" y="2260282"/>
              <a:ext cx="419100" cy="3943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48" name="TextBox 148"/>
            <p:cNvSpPr txBox="1"/>
            <p:nvPr/>
          </p:nvSpPr>
          <p:spPr>
            <a:xfrm>
              <a:off x="8201283" y="240125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49" name="Rectangle 149"/>
            <p:cNvSpPr/>
            <p:nvPr/>
          </p:nvSpPr>
          <p:spPr>
            <a:xfrm>
              <a:off x="8450580" y="2260282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0" name="TextBox 150"/>
            <p:cNvSpPr txBox="1"/>
            <p:nvPr/>
          </p:nvSpPr>
          <p:spPr>
            <a:xfrm>
              <a:off x="8620383" y="240125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51" name="Rectangle 151"/>
            <p:cNvSpPr/>
            <p:nvPr/>
          </p:nvSpPr>
          <p:spPr>
            <a:xfrm>
              <a:off x="8869680" y="2260282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2" name="TextBox 152"/>
            <p:cNvSpPr txBox="1"/>
            <p:nvPr/>
          </p:nvSpPr>
          <p:spPr>
            <a:xfrm>
              <a:off x="9039483" y="240125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53" name="Rectangle 153"/>
            <p:cNvSpPr/>
            <p:nvPr/>
          </p:nvSpPr>
          <p:spPr>
            <a:xfrm>
              <a:off x="9288780" y="2260282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4" name="TextBox 154"/>
            <p:cNvSpPr txBox="1"/>
            <p:nvPr/>
          </p:nvSpPr>
          <p:spPr>
            <a:xfrm>
              <a:off x="9458583" y="240125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55" name="Rectangle 155"/>
            <p:cNvSpPr/>
            <p:nvPr/>
          </p:nvSpPr>
          <p:spPr>
            <a:xfrm>
              <a:off x="9707880" y="2260282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6" name="TextBox 156"/>
            <p:cNvSpPr txBox="1"/>
            <p:nvPr/>
          </p:nvSpPr>
          <p:spPr>
            <a:xfrm>
              <a:off x="9877683" y="2401252"/>
              <a:ext cx="79494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57" name="Rectangle 157"/>
            <p:cNvSpPr/>
            <p:nvPr/>
          </p:nvSpPr>
          <p:spPr>
            <a:xfrm>
              <a:off x="10126980" y="2260282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8" name="TextBox 158"/>
            <p:cNvSpPr txBox="1"/>
            <p:nvPr/>
          </p:nvSpPr>
          <p:spPr>
            <a:xfrm>
              <a:off x="10261799" y="240125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59" name="Rectangle 159"/>
            <p:cNvSpPr/>
            <p:nvPr/>
          </p:nvSpPr>
          <p:spPr>
            <a:xfrm>
              <a:off x="10546080" y="2260282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60" name="TextBox 160"/>
            <p:cNvSpPr txBox="1"/>
            <p:nvPr/>
          </p:nvSpPr>
          <p:spPr>
            <a:xfrm>
              <a:off x="10680899" y="240125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  <p:sp>
          <p:nvSpPr>
            <p:cNvPr id="161" name="Rectangle 161"/>
            <p:cNvSpPr/>
            <p:nvPr/>
          </p:nvSpPr>
          <p:spPr>
            <a:xfrm>
              <a:off x="10965180" y="2260282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62" name="TextBox 162"/>
            <p:cNvSpPr txBox="1"/>
            <p:nvPr/>
          </p:nvSpPr>
          <p:spPr>
            <a:xfrm>
              <a:off x="11099999" y="2401252"/>
              <a:ext cx="1494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  <p:grpSp>
        <p:nvGrpSpPr>
          <p:cNvPr id="172" name="c2-card-2"/>
          <p:cNvGrpSpPr/>
          <p:nvPr/>
        </p:nvGrpSpPr>
        <p:grpSpPr>
          <a:xfrm>
            <a:off x="6464618" y="2834640"/>
            <a:ext cx="5193982" cy="2086928"/>
            <a:chOff x="6464618" y="2834640"/>
            <a:chExt cx="5193982" cy="2086928"/>
          </a:xfrm>
        </p:grpSpPr>
        <p:sp>
          <p:nvSpPr>
            <p:cNvPr id="164" name="Rectangle 164"/>
            <p:cNvSpPr/>
            <p:nvPr/>
          </p:nvSpPr>
          <p:spPr>
            <a:xfrm>
              <a:off x="6464618" y="2834640"/>
              <a:ext cx="5193982" cy="2086928"/>
            </a:xfrm>
            <a:prstGeom prst="roundRect">
              <a:avLst>
                <a:gd name="adj" fmla="val 639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65" name="Rectangle 165"/>
            <p:cNvSpPr/>
            <p:nvPr/>
          </p:nvSpPr>
          <p:spPr>
            <a:xfrm>
              <a:off x="6474142" y="2967990"/>
              <a:ext cx="47625" cy="182022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66" name="Rectangle 166"/>
            <p:cNvSpPr/>
            <p:nvPr/>
          </p:nvSpPr>
          <p:spPr>
            <a:xfrm>
              <a:off x="6700838" y="3032760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67" name="TextBox 167"/>
            <p:cNvSpPr txBox="1"/>
            <p:nvPr/>
          </p:nvSpPr>
          <p:spPr>
            <a:xfrm>
              <a:off x="6788277" y="3067050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稳定性</a:t>
              </a:r>
            </a:p>
          </p:txBody>
        </p:sp>
        <p:sp>
          <p:nvSpPr>
            <p:cNvPr id="168" name="TextBox 168"/>
            <p:cNvSpPr txBox="1"/>
            <p:nvPr/>
          </p:nvSpPr>
          <p:spPr>
            <a:xfrm>
              <a:off x="7417498" y="3067526"/>
              <a:ext cx="19246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结果里 5* 排在 5 前面</a:t>
              </a:r>
            </a:p>
          </p:txBody>
        </p:sp>
        <p:sp>
          <p:nvSpPr>
            <p:cNvPr id="169" name="TextBox 169"/>
            <p:cNvSpPr txBox="1"/>
            <p:nvPr/>
          </p:nvSpPr>
          <p:spPr>
            <a:xfrm>
              <a:off x="6693598" y="3411379"/>
              <a:ext cx="385680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原序列中 5 在下标 2、5* 在下标 6，5 在前。</a:t>
              </a:r>
            </a:p>
          </p:txBody>
        </p:sp>
        <p:sp>
          <p:nvSpPr>
            <p:cNvPr id="170" name="TextBox 170"/>
            <p:cNvSpPr txBox="1"/>
            <p:nvPr/>
          </p:nvSpPr>
          <p:spPr>
            <a:xfrm>
              <a:off x="6693598" y="3728561"/>
              <a:ext cx="4568063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排完之后 5* 在下标 2、5 在下标 3，次序反了，所以希尔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不稳定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71" name="TextBox 171"/>
            <p:cNvSpPr txBox="1"/>
            <p:nvPr/>
          </p:nvSpPr>
          <p:spPr>
            <a:xfrm>
              <a:off x="6694742" y="4313872"/>
              <a:ext cx="458419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根源和选择排序一样：大增量让元素一次跨过很多格，跨过去的那一</a:t>
              </a:r>
              <a:br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段里可能有相等的关键词。</a:t>
              </a:r>
            </a:p>
          </p:txBody>
        </p:sp>
      </p:grpSp>
      <p:grpSp>
        <p:nvGrpSpPr>
          <p:cNvPr id="178" name="c2-callout-3"/>
          <p:cNvGrpSpPr/>
          <p:nvPr/>
        </p:nvGrpSpPr>
        <p:grpSpPr>
          <a:xfrm>
            <a:off x="6464618" y="5100638"/>
            <a:ext cx="5193982" cy="1223010"/>
            <a:chOff x="6464618" y="5100638"/>
            <a:chExt cx="5193982" cy="1223010"/>
          </a:xfrm>
        </p:grpSpPr>
        <p:sp>
          <p:nvSpPr>
            <p:cNvPr id="173" name="Rectangle 173"/>
            <p:cNvSpPr/>
            <p:nvPr/>
          </p:nvSpPr>
          <p:spPr>
            <a:xfrm>
              <a:off x="6464618" y="5100638"/>
              <a:ext cx="5193982" cy="1223010"/>
            </a:xfrm>
            <a:prstGeom prst="roundRect">
              <a:avLst>
                <a:gd name="adj" fmla="val 934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176" name="Group 176"/>
            <p:cNvGrpSpPr/>
            <p:nvPr/>
          </p:nvGrpSpPr>
          <p:grpSpPr>
            <a:xfrm>
              <a:off x="6669405" y="5612130"/>
              <a:ext cx="200026" cy="200026"/>
              <a:chOff x="6669405" y="5612130"/>
              <a:chExt cx="200026" cy="200026"/>
            </a:xfrm>
          </p:grpSpPr>
          <p:sp>
            <p:nvSpPr>
              <p:cNvPr id="174" name="Freeform 174"/>
              <p:cNvSpPr/>
              <p:nvPr/>
            </p:nvSpPr>
            <p:spPr>
              <a:xfrm>
                <a:off x="6669405" y="561213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75" name="Freeform 175"/>
              <p:cNvSpPr/>
              <p:nvPr/>
            </p:nvSpPr>
            <p:spPr>
              <a:xfrm>
                <a:off x="6736080" y="5689918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177" name="TextBox 177"/>
            <p:cNvSpPr txBox="1"/>
            <p:nvPr/>
          </p:nvSpPr>
          <p:spPr>
            <a:xfrm>
              <a:off x="6971729" y="5481161"/>
              <a:ext cx="4153281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d=1 这一趟就是普通的直接插入排序，此时序列已接</a:t>
              </a:r>
              <a:br/>
              <a:r>
                <a:rPr lang="zh-CN" sz="14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近有序，只需要很少的移动。</a:t>
              </a:r>
            </a:p>
          </p:txBody>
        </p:sp>
      </p:grpSp>
      <p:grpSp>
        <p:nvGrpSpPr>
          <p:cNvPr id="18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9" name="TextBox 17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180" name="TextBox 18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75123" cy="909257"/>
            <a:chOff x="520446" y="342900"/>
            <a:chExt cx="517512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希尔排序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7512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希尔排序为什么比直接插入排序快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9" name="c1-bullets-1"/>
          <p:cNvGrpSpPr/>
          <p:nvPr/>
        </p:nvGrpSpPr>
        <p:grpSpPr>
          <a:xfrm>
            <a:off x="533400" y="1535430"/>
            <a:ext cx="5126355" cy="2484120"/>
            <a:chOff x="533400" y="1535430"/>
            <a:chExt cx="5126355" cy="2484120"/>
          </a:xfrm>
        </p:grpSpPr>
        <p:sp>
          <p:nvSpPr>
            <p:cNvPr id="7" name="Ellipse 7"/>
            <p:cNvSpPr/>
            <p:nvPr/>
          </p:nvSpPr>
          <p:spPr>
            <a:xfrm>
              <a:off x="533400" y="153543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95249" y="157772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34390" y="154876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开始时增量大，每组只有少量元素，是插入排序最擅长的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“短文件”。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6598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95249" y="22082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4390" y="2179320"/>
              <a:ext cx="4806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大增量让一个元素一次跨过 d 个位置，一次移动能消掉很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多个逆序对，而插入排序一次只消一个。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533400" y="2796540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95249" y="2838831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34390" y="2809875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增量逐渐变小，每组元素变多，但由于前面各趟的铺垫，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此时大多数元素已经基本有序。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533400" y="342709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95249" y="346938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34390" y="3440430"/>
              <a:ext cx="48253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 d=1 那趟是完整的插入排序，面对的却是一个几乎排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好的序列，移动次数很少。</a:t>
              </a:r>
            </a:p>
          </p:txBody>
        </p:sp>
      </p:grpSp>
      <p:grpSp>
        <p:nvGrpSpPr>
          <p:cNvPr id="25" name="c1-callout-2"/>
          <p:cNvGrpSpPr/>
          <p:nvPr/>
        </p:nvGrpSpPr>
        <p:grpSpPr>
          <a:xfrm>
            <a:off x="533400" y="4150995"/>
            <a:ext cx="5410200" cy="782955"/>
            <a:chOff x="533400" y="4150995"/>
            <a:chExt cx="5410200" cy="782955"/>
          </a:xfrm>
        </p:grpSpPr>
        <p:sp>
          <p:nvSpPr>
            <p:cNvPr id="20" name="Rectangle 20"/>
            <p:cNvSpPr/>
            <p:nvPr/>
          </p:nvSpPr>
          <p:spPr>
            <a:xfrm>
              <a:off x="533400" y="4150995"/>
              <a:ext cx="5410200" cy="782955"/>
            </a:xfrm>
            <a:prstGeom prst="roundRect">
              <a:avLst>
                <a:gd name="adj" fmla="val 1459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4442462"/>
              <a:ext cx="200023" cy="200023"/>
              <a:chOff x="738188" y="4442462"/>
              <a:chExt cx="200023" cy="20002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444246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71538" y="450913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130" y="4299585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插入排序的移动次数等于逆序对数，希尔排序的全部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本事就是先用大步子把逆序对数量压下来。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248400" y="1524000"/>
            <a:ext cx="5410200" cy="2202180"/>
            <a:chOff x="6248400" y="1524000"/>
            <a:chExt cx="5410200" cy="2202180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2202180"/>
            </a:xfrm>
            <a:prstGeom prst="roundRect">
              <a:avLst>
                <a:gd name="adj" fmla="val 605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57925" y="1657350"/>
              <a:ext cx="47625" cy="19354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96050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86258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097078" y="1768792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本例的逆序对是怎么消下去的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88430" y="2129790"/>
              <a:ext cx="459905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初始序列 7 5 9 2 13 5* 8 10 15 6 有 16 个逆序对。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488430" y="2465070"/>
              <a:ext cx="46158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d=5 一趟之后只剩 7 个，d=2 之后剩 4 个，d=1 那趟只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需再消这 4 个。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489573" y="3082766"/>
              <a:ext cx="4709719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三趟合计只后移了 </a:t>
              </a:r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9 次</a:t>
              </a: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；直接对原序列做插入排序要后移 16 次，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正好是全部逆序对的个数。</a:t>
              </a:r>
            </a:p>
          </p:txBody>
        </p:sp>
      </p:grpSp>
      <p:grpSp>
        <p:nvGrpSpPr>
          <p:cNvPr id="41" name="c2-callout-2"/>
          <p:cNvGrpSpPr/>
          <p:nvPr/>
        </p:nvGrpSpPr>
        <p:grpSpPr>
          <a:xfrm>
            <a:off x="6248400" y="3916680"/>
            <a:ext cx="5410200" cy="1017270"/>
            <a:chOff x="6248400" y="3916680"/>
            <a:chExt cx="5410200" cy="1017270"/>
          </a:xfrm>
        </p:grpSpPr>
        <p:sp>
          <p:nvSpPr>
            <p:cNvPr id="35" name="Rectangle 35"/>
            <p:cNvSpPr/>
            <p:nvPr/>
          </p:nvSpPr>
          <p:spPr>
            <a:xfrm>
              <a:off x="6248400" y="3916680"/>
              <a:ext cx="5410200" cy="1017270"/>
            </a:xfrm>
            <a:prstGeom prst="roundRect">
              <a:avLst>
                <a:gd name="adj" fmla="val 1123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6441129" y="4321611"/>
              <a:ext cx="224134" cy="192560"/>
              <a:chOff x="6441129" y="4321611"/>
              <a:chExt cx="224134" cy="19256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553200" y="439197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441129" y="432161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553200" y="446976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755130" y="4182428"/>
              <a:ext cx="4396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这是定性解释，不是证明。希尔排序的精确平均复杂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度至今没有定论，见本节最后一页。</a:t>
              </a:r>
            </a:p>
          </p:txBody>
        </p:sp>
      </p:grpSp>
      <p:grpSp>
        <p:nvGrpSpPr>
          <p:cNvPr id="48" name="takeaway"/>
          <p:cNvGrpSpPr/>
          <p:nvPr/>
        </p:nvGrpSpPr>
        <p:grpSpPr>
          <a:xfrm>
            <a:off x="533400" y="5829300"/>
            <a:ext cx="11125200" cy="533400"/>
            <a:chOff x="533400" y="5829300"/>
            <a:chExt cx="11125200" cy="533400"/>
          </a:xfrm>
        </p:grpSpPr>
        <p:sp>
          <p:nvSpPr>
            <p:cNvPr id="42" name="Rectangle 42"/>
            <p:cNvSpPr/>
            <p:nvPr/>
          </p:nvSpPr>
          <p:spPr>
            <a:xfrm>
              <a:off x="533400" y="5829300"/>
              <a:ext cx="11125200" cy="533400"/>
            </a:xfrm>
            <a:prstGeom prst="roundRect">
              <a:avLst>
                <a:gd name="adj" fmla="val 21429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738188" y="5995988"/>
              <a:ext cx="200026" cy="200025"/>
              <a:chOff x="738188" y="5995988"/>
              <a:chExt cx="200026" cy="200025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8188" y="599598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77926" y="60404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12642" y="615156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1040130" y="5991225"/>
              <a:ext cx="80924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选增量时让相邻增量尽量互质，元素才不会总落在同一组里，前面各趟的工作才不会白做。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9" name="TextBox 49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77269" cy="909257"/>
            <a:chOff x="520446" y="342900"/>
            <a:chExt cx="667726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希尔排序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7726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希尔排序的 C 实现：插入排序里把 1 改成 d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ode-1"/>
          <p:cNvGrpSpPr/>
          <p:nvPr/>
        </p:nvGrpSpPr>
        <p:grpSpPr>
          <a:xfrm>
            <a:off x="533400" y="1524000"/>
            <a:ext cx="6276022" cy="2776538"/>
            <a:chOff x="533400" y="1524000"/>
            <a:chExt cx="6276022" cy="277653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276022" cy="2776538"/>
            </a:xfrm>
            <a:prstGeom prst="roundRect">
              <a:avLst>
                <a:gd name="adj" fmla="val 343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6340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ShellSort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552450" y="2276475"/>
              <a:ext cx="6237922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52450" y="2654618"/>
              <a:ext cx="6237922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52450" y="2844165"/>
              <a:ext cx="6237922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52450" y="3033712"/>
              <a:ext cx="6237922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52450" y="3223260"/>
              <a:ext cx="6237922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52450" y="3601402"/>
              <a:ext cx="6237922" cy="189548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80466" y="1937385"/>
              <a:ext cx="157353" cy="2290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>
                <a:lnSpc>
                  <a:spcPts val="1492"/>
                </a:lnSpc>
              </a:pPr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2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3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4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5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6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7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8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9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10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11</a:t>
              </a:r>
              <a:br/>
              <a:r>
                <a:rPr lang="zh-CN" sz="1050" dirty="0">
                  <a:solidFill>
                    <a:srgbClr val="9AA3B2"/>
                  </a:solidFill>
                  <a:latin typeface="Consolas"/>
                  <a:ea typeface="Consolas"/>
                  <a:cs typeface="Consolas"/>
                </a:rPr>
                <a:t>12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1451" y="1937385"/>
              <a:ext cx="4784598" cy="2290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92"/>
                </a:lnSpc>
              </a:pP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ShellSort(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R[],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n)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{                            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对 R[1]...R[n] 递增排序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d = n / 2; d &gt; 0; d /= 2)      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d 为增量值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d + 1; i &lt;= n; i++) {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R[i], j = i - d;  </a:t>
              </a:r>
              <a:r>
                <a:rPr lang="zh-CN" sz="105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j 在本组内从右往左扫 */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</a:t>
              </a:r>
              <a:r>
                <a:rPr lang="en-US" sz="105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&gt; 0 &amp;&amp; R[j] &gt; K) {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R[j + d] = R[j];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    j -= d;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}</a:t>
              </a:r>
              <a:br/>
              <a:r>
                <a:rPr lang="en-US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R[j + d] = K;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105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4475798"/>
            <a:ext cx="6276022" cy="1226820"/>
            <a:chOff x="533400" y="4475798"/>
            <a:chExt cx="6276022" cy="1226820"/>
          </a:xfrm>
        </p:grpSpPr>
        <p:sp>
          <p:nvSpPr>
            <p:cNvPr id="18" name="Rectangle 18"/>
            <p:cNvSpPr/>
            <p:nvPr/>
          </p:nvSpPr>
          <p:spPr>
            <a:xfrm>
              <a:off x="533400" y="4475798"/>
              <a:ext cx="6276022" cy="1226820"/>
            </a:xfrm>
            <a:prstGeom prst="roundRect">
              <a:avLst>
                <a:gd name="adj" fmla="val 1087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25805" y="4668202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7245" y="4702492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09497" y="4707255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为什么不用为每个组单独写循环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8947" y="5041583"/>
              <a:ext cx="548297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走到 i 时，它所在组里下标更小的元素都已处理过，正好是该组的有序前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缀。d 个组交替推进，一遍扫描就全排好。</a:t>
              </a:r>
            </a:p>
          </p:txBody>
        </p:sp>
      </p:grpSp>
      <p:grpSp>
        <p:nvGrpSpPr>
          <p:cNvPr id="48" name="c2-table-1"/>
          <p:cNvGrpSpPr/>
          <p:nvPr/>
        </p:nvGrpSpPr>
        <p:grpSpPr>
          <a:xfrm>
            <a:off x="7108888" y="1524000"/>
            <a:ext cx="4549712" cy="2714244"/>
            <a:chOff x="7108888" y="1524000"/>
            <a:chExt cx="4549712" cy="2714244"/>
          </a:xfrm>
        </p:grpSpPr>
        <p:sp>
          <p:nvSpPr>
            <p:cNvPr id="24" name="Rectangle 24"/>
            <p:cNvSpPr/>
            <p:nvPr/>
          </p:nvSpPr>
          <p:spPr>
            <a:xfrm>
              <a:off x="7114222" y="1524000"/>
              <a:ext cx="4544378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792517" y="164830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直接插入排序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215004" y="1648301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希尔排序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14235" y="2054066"/>
              <a:ext cx="7408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从 2 开始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85948" y="2054066"/>
              <a:ext cx="89346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从 d+1 开始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114222" y="233076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7114222" y="2335530"/>
              <a:ext cx="454437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214235" y="2459831"/>
              <a:ext cx="5576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= i − 1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9395460" y="2345055"/>
              <a:ext cx="225361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85948" y="2459831"/>
              <a:ext cx="5316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= i − d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114222" y="273653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14235" y="2865596"/>
              <a:ext cx="4151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&gt;= 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485948" y="286559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&gt; 0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114222" y="3142298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114222" y="3147060"/>
              <a:ext cx="454437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14235" y="3271361"/>
              <a:ext cx="10126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R[j+1] = R[j]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9395460" y="3156585"/>
              <a:ext cx="2253615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485948" y="3271361"/>
              <a:ext cx="9596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R[j+d] = R[j]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114222" y="3548062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14235" y="3677126"/>
              <a:ext cx="2330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j--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485948" y="3677126"/>
              <a:ext cx="3959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-= d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114222" y="1524000"/>
              <a:ext cx="4544378" cy="24345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381172" y="1524000"/>
              <a:ext cx="9525" cy="24345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108888" y="4032885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与直接插入排序逐行对照</a:t>
              </a:r>
            </a:p>
          </p:txBody>
        </p:sp>
      </p:grpSp>
      <p:grpSp>
        <p:nvGrpSpPr>
          <p:cNvPr id="54" name="c2-callout-2"/>
          <p:cNvGrpSpPr/>
          <p:nvPr/>
        </p:nvGrpSpPr>
        <p:grpSpPr>
          <a:xfrm>
            <a:off x="7114222" y="4371975"/>
            <a:ext cx="4544378" cy="1329690"/>
            <a:chOff x="7114222" y="4371975"/>
            <a:chExt cx="4544378" cy="1329690"/>
          </a:xfrm>
        </p:grpSpPr>
        <p:sp>
          <p:nvSpPr>
            <p:cNvPr id="49" name="Rectangle 49"/>
            <p:cNvSpPr/>
            <p:nvPr/>
          </p:nvSpPr>
          <p:spPr>
            <a:xfrm>
              <a:off x="7114222" y="4371975"/>
              <a:ext cx="4544378" cy="1329690"/>
            </a:xfrm>
            <a:prstGeom prst="roundRect">
              <a:avLst>
                <a:gd name="adj" fmla="val 8596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7319010" y="4936808"/>
              <a:ext cx="200026" cy="200026"/>
              <a:chOff x="7319010" y="4936808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19010" y="49368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385685" y="5014595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7621714" y="4818698"/>
              <a:ext cx="3537013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d = 1 时右边一列全部退化成左边，所以希尔排</a:t>
              </a:r>
              <a:br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序的最后一趟就是直接插入排序。</a:t>
              </a:r>
            </a:p>
          </p:txBody>
        </p:sp>
      </p:grpSp>
      <p:grpSp>
        <p:nvGrpSpPr>
          <p:cNvPr id="61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5" name="Rectangle 55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738188" y="6017895"/>
              <a:ext cx="200026" cy="200025"/>
              <a:chOff x="738188" y="6017895"/>
              <a:chExt cx="200026" cy="200025"/>
            </a:xfrm>
          </p:grpSpPr>
          <p:sp>
            <p:nvSpPr>
              <p:cNvPr id="56" name="Freeform 56"/>
              <p:cNvSpPr/>
              <p:nvPr/>
            </p:nvSpPr>
            <p:spPr>
              <a:xfrm>
                <a:off x="738188" y="601789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777926" y="606234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12642" y="617347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40892" y="6023610"/>
              <a:ext cx="73104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内层 i 从 d+1 一路走到 n，等于把 d 个组交替着往前推进，不用为每个组单独写一层循环。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2" name="TextBox 62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831842" cy="909257"/>
            <a:chOff x="520446" y="342900"/>
            <a:chExt cx="483184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希尔排序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8318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练习：由一趟排序结果反推增量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10519283" cy="541592"/>
            <a:chOff x="526161" y="1547336"/>
            <a:chExt cx="10519283" cy="54159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1051928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用希尔排序对一个数据序列排序时，若第一趟排序结果为 9, 1, 4, 13, 7, 8, 20, 23, 15，则该趟采用的增量可能是？（考研题全国</a:t>
              </a:r>
              <a:br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卷）</a:t>
              </a:r>
            </a:p>
          </p:txBody>
        </p:sp>
      </p:grpSp>
      <p:grpSp>
        <p:nvGrpSpPr>
          <p:cNvPr id="16" name="c1-card-1"/>
          <p:cNvGrpSpPr/>
          <p:nvPr/>
        </p:nvGrpSpPr>
        <p:grpSpPr>
          <a:xfrm>
            <a:off x="533400" y="2204085"/>
            <a:ext cx="4977765" cy="2049780"/>
            <a:chOff x="533400" y="2204085"/>
            <a:chExt cx="4977765" cy="2049780"/>
          </a:xfrm>
        </p:grpSpPr>
        <p:sp>
          <p:nvSpPr>
            <p:cNvPr id="9" name="Rectangle 9"/>
            <p:cNvSpPr/>
            <p:nvPr/>
          </p:nvSpPr>
          <p:spPr>
            <a:xfrm>
              <a:off x="533400" y="2204085"/>
              <a:ext cx="4977765" cy="2049780"/>
            </a:xfrm>
            <a:prstGeom prst="roundRect">
              <a:avLst>
                <a:gd name="adj" fmla="val 650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5805" y="239649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9244" y="243078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判断依据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76197" y="2436495"/>
              <a:ext cx="27774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一趟 d 增量排序之后必然成立的事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8947" y="2769870"/>
              <a:ext cx="42999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这一趟对每个组都做了插入排序，所以结束时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每一组内部</a:t>
              </a:r>
              <a:br/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一定递增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8947" y="3329940"/>
              <a:ext cx="435140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于是把结果按下标间隔 d 取出 d 个子序列，只要有一个子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序列不递增，这个 d 就被排除。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20090" y="3885724"/>
              <a:ext cx="42481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反过来，各组都递增只是必要条件，所以题目问的是“可能是”。</a:t>
              </a:r>
            </a:p>
          </p:txBody>
        </p:sp>
      </p:grpSp>
      <p:grpSp>
        <p:nvGrpSpPr>
          <p:cNvPr id="22" name="c1-callout-2"/>
          <p:cNvGrpSpPr/>
          <p:nvPr/>
        </p:nvGrpSpPr>
        <p:grpSpPr>
          <a:xfrm>
            <a:off x="533400" y="4429125"/>
            <a:ext cx="4977765" cy="946785"/>
            <a:chOff x="533400" y="4429125"/>
            <a:chExt cx="4977765" cy="946785"/>
          </a:xfrm>
        </p:grpSpPr>
        <p:sp>
          <p:nvSpPr>
            <p:cNvPr id="17" name="Rectangle 17"/>
            <p:cNvSpPr/>
            <p:nvPr/>
          </p:nvSpPr>
          <p:spPr>
            <a:xfrm>
              <a:off x="533400" y="4429125"/>
              <a:ext cx="4977765" cy="946785"/>
            </a:xfrm>
            <a:prstGeom prst="roundRect">
              <a:avLst>
                <a:gd name="adj" fmla="val 12072"/>
              </a:avLst>
            </a:prstGeom>
            <a:solidFill>
              <a:srgbClr val="E3F5F1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738188" y="4802505"/>
              <a:ext cx="200026" cy="200026"/>
              <a:chOff x="738188" y="4802505"/>
              <a:chExt cx="200026" cy="20002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738188" y="480250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04863" y="4880293"/>
                <a:ext cx="666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44450">
                    <a:moveTo>
                      <a:pt x="0" y="22225"/>
                    </a:moveTo>
                    <a:lnTo>
                      <a:pt x="22225" y="44450"/>
                    </a:lnTo>
                    <a:lnTo>
                      <a:pt x="66675" y="0"/>
                    </a:lnTo>
                  </a:path>
                </a:pathLst>
              </a:custGeom>
              <a:noFill/>
              <a:ln w="22225">
                <a:solidFill>
                  <a:srgbClr val="0F7A68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1040892" y="4808220"/>
              <a:ext cx="16989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 xml:space="preserve">答案是 </a:t>
              </a: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B（d = 3）</a:t>
              </a:r>
              <a:r>
                <a:rPr lang="zh-CN" sz="135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9" name="c2-table-1"/>
          <p:cNvGrpSpPr/>
          <p:nvPr/>
        </p:nvGrpSpPr>
        <p:grpSpPr>
          <a:xfrm>
            <a:off x="5810631" y="2204085"/>
            <a:ext cx="5847969" cy="2308479"/>
            <a:chOff x="5810631" y="2204085"/>
            <a:chExt cx="5847969" cy="2308479"/>
          </a:xfrm>
        </p:grpSpPr>
        <p:sp>
          <p:nvSpPr>
            <p:cNvPr id="23" name="Rectangle 23"/>
            <p:cNvSpPr/>
            <p:nvPr/>
          </p:nvSpPr>
          <p:spPr>
            <a:xfrm>
              <a:off x="5815965" y="2204085"/>
              <a:ext cx="5842635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068098" y="23283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选项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627865" y="2328386"/>
              <a:ext cx="13996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按间隔 d 取出的各组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683913" y="232838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915978" y="2734151"/>
              <a:ext cx="337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2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733222" y="2734151"/>
              <a:ext cx="24916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(9, 4, 7, 20, 15) / (1, 13, 8, 23)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122218" y="2734151"/>
              <a:ext cx="819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9 &gt; 4，排除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815965" y="301085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815965" y="3015615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915978" y="3139916"/>
              <a:ext cx="337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B. 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733222" y="3139916"/>
              <a:ext cx="2702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(9, 13, 20) / (1, 7, 23) / (4, 8, 15)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10031730" y="3025140"/>
              <a:ext cx="161734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0122218" y="313991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三组都递增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815965" y="341661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5915978" y="3545681"/>
              <a:ext cx="337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C. 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33222" y="3545681"/>
              <a:ext cx="2913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(9, 7, 15) / (1, 8) / (4, 20) / (13, 23)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122218" y="3545681"/>
              <a:ext cx="819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9 &gt; 7，排除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815965" y="382238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815965" y="3827145"/>
              <a:ext cx="5842635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15978" y="3951446"/>
              <a:ext cx="3376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D. 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733222" y="3951446"/>
              <a:ext cx="31249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(9, 8) / (1, 20) / (4, 23) / (13, 15) / (7)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122218" y="3951446"/>
              <a:ext cx="819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9 &gt; 8，排除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815965" y="2204085"/>
              <a:ext cx="5842635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28448" y="220408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10017442" y="2204085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810631" y="4307205"/>
              <a:ext cx="30991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四个选项逐一检验，序列为 9 1 4 13 7 8 20 23 15</a:t>
              </a:r>
            </a:p>
          </p:txBody>
        </p:sp>
      </p:grpSp>
      <p:grpSp>
        <p:nvGrpSpPr>
          <p:cNvPr id="56" name="c2-callout-2"/>
          <p:cNvGrpSpPr/>
          <p:nvPr/>
        </p:nvGrpSpPr>
        <p:grpSpPr>
          <a:xfrm>
            <a:off x="5815965" y="4646295"/>
            <a:ext cx="5842635" cy="729615"/>
            <a:chOff x="5815965" y="4646295"/>
            <a:chExt cx="5842635" cy="729615"/>
          </a:xfrm>
        </p:grpSpPr>
        <p:sp>
          <p:nvSpPr>
            <p:cNvPr id="50" name="Rectangle 50"/>
            <p:cNvSpPr/>
            <p:nvPr/>
          </p:nvSpPr>
          <p:spPr>
            <a:xfrm>
              <a:off x="5815965" y="4646295"/>
              <a:ext cx="5842635" cy="729615"/>
            </a:xfrm>
            <a:prstGeom prst="roundRect">
              <a:avLst>
                <a:gd name="adj" fmla="val 15666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6020753" y="4911090"/>
              <a:ext cx="200026" cy="200025"/>
              <a:chOff x="6020753" y="4911090"/>
              <a:chExt cx="200026" cy="200025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020753" y="4911090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060491" y="4955540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6095207" y="5066666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6323457" y="4792980"/>
              <a:ext cx="481431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做这类题只看各组是否递增，不用去还原原始序列，也不用管这</a:t>
              </a:r>
              <a:br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是第几趟。</a:t>
              </a:r>
            </a:p>
          </p:txBody>
        </p:sp>
      </p:grpSp>
      <p:grpSp>
        <p:nvGrpSpPr>
          <p:cNvPr id="63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57" name="Rectangle 57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6017895"/>
              <a:ext cx="200026" cy="200026"/>
              <a:chOff x="738188" y="6017895"/>
              <a:chExt cx="200026" cy="200026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38188" y="60178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838200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27088" y="61179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892" y="6023610"/>
              <a:ext cx="7464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源课件这一页只给了选项没有给解答，上表是补充的完整验算，四个选项已用脚本逐组核对。</a:t>
              </a:r>
            </a:p>
          </p:txBody>
        </p:sp>
      </p:grpSp>
      <p:grpSp>
        <p:nvGrpSpPr>
          <p:cNvPr id="6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4" name="TextBox 64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希尔排序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增量序列决定希尔排序的最坏复杂度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2" name="c1-table-1"/>
          <p:cNvGrpSpPr/>
          <p:nvPr/>
        </p:nvGrpSpPr>
        <p:grpSpPr>
          <a:xfrm>
            <a:off x="533400" y="1524000"/>
            <a:ext cx="11125200" cy="3782378"/>
            <a:chOff x="533400" y="1524000"/>
            <a:chExt cx="11125200" cy="378237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2005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518778" y="164544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增量序列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819800" y="1645444"/>
              <a:ext cx="12191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最坏时间复杂度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12353" y="1645444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提出者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700664" y="164544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年份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6935" y="2065496"/>
              <a:ext cx="19217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⌊n/2⌋, ⌊n/4⌋, …, 2, 1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215890" y="1953578"/>
              <a:ext cx="2428875" cy="401002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299901" y="2065496"/>
              <a:ext cx="5356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46873" y="2065496"/>
              <a:ext cx="40504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Shell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194798" y="206549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1959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33400" y="235934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2364105"/>
              <a:ext cx="11125200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26935" y="2485549"/>
              <a:ext cx="19040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2ᵏ − 1：…, 15, 7, 3, 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99901" y="2485549"/>
              <a:ext cx="6274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O(n√n)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746873" y="2485549"/>
              <a:ext cx="7764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Papernov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194798" y="248554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1965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78034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6935" y="2905601"/>
              <a:ext cx="21483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2ⁱ·3ʲ：…, 12, 6, 3, 2, 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299901" y="2905601"/>
              <a:ext cx="110877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O(n(log n)²)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46873" y="2905601"/>
              <a:ext cx="4921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Pratt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194798" y="290560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1971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3400" y="3200400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3205162"/>
              <a:ext cx="11125200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26935" y="3325654"/>
              <a:ext cx="280874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4ʲ⁺¹ + 3·2ʲ + 1：…, 77, 23, 8, 1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215890" y="3214688"/>
              <a:ext cx="2428875" cy="40100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299901" y="3325654"/>
              <a:ext cx="7239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O(n·∛n)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46873" y="3325654"/>
              <a:ext cx="8626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Sedgewick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194798" y="332565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1982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62045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26935" y="3746659"/>
              <a:ext cx="31555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…, 109, 41, 19, 5, 1（分奇偶的闭式）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215890" y="3634740"/>
              <a:ext cx="2428875" cy="40100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299901" y="3746659"/>
              <a:ext cx="7239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O(n·∛n)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46873" y="3746659"/>
              <a:ext cx="8626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Sedgewick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194798" y="3746659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1986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040505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045268"/>
              <a:ext cx="11125200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26935" y="4166711"/>
              <a:ext cx="44836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h′ₖ = 2.25h′ₖ₋₁ + 1 取上整：…, 103, 46, 20, 9, 4, 1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99901" y="416671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46873" y="4166711"/>
              <a:ext cx="5869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Tokuda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194798" y="4166711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1992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446055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26935" y="4586764"/>
              <a:ext cx="27113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…, 57, 23, 10, 4, 1（实验确定）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299901" y="4586764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746873" y="4586764"/>
              <a:ext cx="3026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Lee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194798" y="458676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2021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533400" y="488156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33400" y="4886325"/>
              <a:ext cx="11125200" cy="42005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26935" y="5006816"/>
              <a:ext cx="31637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…, 187, 72, 27, 10, 4, 1（实验确定）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5299901" y="500681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实验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46873" y="5006816"/>
              <a:ext cx="4921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Skean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0194798" y="5006816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2023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533400" y="1524000"/>
              <a:ext cx="11125200" cy="3782378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5201602" y="1524000"/>
              <a:ext cx="9525" cy="37823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648575" y="1524000"/>
              <a:ext cx="9525" cy="37823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096500" y="1524000"/>
              <a:ext cx="9525" cy="378237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69" name="c1-callout-2"/>
          <p:cNvGrpSpPr/>
          <p:nvPr/>
        </p:nvGrpSpPr>
        <p:grpSpPr>
          <a:xfrm>
            <a:off x="533400" y="5471160"/>
            <a:ext cx="11125200" cy="891540"/>
            <a:chOff x="533400" y="5471160"/>
            <a:chExt cx="11125200" cy="891540"/>
          </a:xfrm>
        </p:grpSpPr>
        <p:sp>
          <p:nvSpPr>
            <p:cNvPr id="63" name="Rectangle 63"/>
            <p:cNvSpPr/>
            <p:nvPr/>
          </p:nvSpPr>
          <p:spPr>
            <a:xfrm>
              <a:off x="533400" y="5471160"/>
              <a:ext cx="11125200" cy="891540"/>
            </a:xfrm>
            <a:prstGeom prst="roundRect">
              <a:avLst>
                <a:gd name="adj" fmla="val 12821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5816918"/>
              <a:ext cx="200026" cy="200026"/>
              <a:chOff x="738188" y="5816918"/>
              <a:chExt cx="200026" cy="200026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581691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838200" y="58835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27088" y="591693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1273" y="5710714"/>
              <a:ext cx="999413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表中前六行的序列都用脚本按公式重算过：Papernov 得 1 3 7 15 31，Sedgewick 1982 得 1 8 23 77，Sedgewick 1986 得 1 5 19 41 109，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Tokuda 得 1 4 9 20 46 103，与源课件一致。最后两行是实验搜索出来的经验序列，没有闭式公式。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225612" cy="909257"/>
            <a:chOff x="520446" y="342900"/>
            <a:chExt cx="22256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希尔排序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希尔排序小结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7" name="c1-table-1"/>
          <p:cNvGrpSpPr/>
          <p:nvPr/>
        </p:nvGrpSpPr>
        <p:grpSpPr>
          <a:xfrm>
            <a:off x="533400" y="1524000"/>
            <a:ext cx="5842635" cy="1123950"/>
            <a:chOff x="533400" y="1524000"/>
            <a:chExt cx="5842635" cy="11239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53808" y="165973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排序算法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7863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925407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31234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49432" y="16597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27205" y="1659731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稳定性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1223" y="2108359"/>
              <a:ext cx="98831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希尔排序（折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半增量）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985200" y="2221706"/>
              <a:ext cx="4382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744343" y="2108359"/>
              <a:ext cx="6631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介于两者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之间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79698" y="2221706"/>
              <a:ext cx="5356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55998" y="2221706"/>
              <a:ext cx="44991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217795" y="1982152"/>
              <a:ext cx="1149668" cy="656272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316093" y="2221706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不稳定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" y="1524000"/>
              <a:ext cx="5842635" cy="11239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872615" y="1524000"/>
              <a:ext cx="9525" cy="11239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631758" y="1524000"/>
              <a:ext cx="9525" cy="11239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3567112" y="1524000"/>
              <a:ext cx="9525" cy="11239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4443412" y="1524000"/>
              <a:ext cx="9525" cy="11239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203508" y="1524000"/>
              <a:ext cx="9525" cy="11239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6" name="c1-bullets-2"/>
          <p:cNvGrpSpPr/>
          <p:nvPr/>
        </p:nvGrpSpPr>
        <p:grpSpPr>
          <a:xfrm>
            <a:off x="539115" y="2863215"/>
            <a:ext cx="5507355" cy="1613535"/>
            <a:chOff x="539115" y="2863215"/>
            <a:chExt cx="5507355" cy="1613535"/>
          </a:xfrm>
        </p:grpSpPr>
        <p:sp>
          <p:nvSpPr>
            <p:cNvPr id="28" name="Ellipse 28"/>
            <p:cNvSpPr/>
            <p:nvPr/>
          </p:nvSpPr>
          <p:spPr>
            <a:xfrm>
              <a:off x="539115" y="292608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7230" y="2863215"/>
              <a:ext cx="53492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算法的时间复杂度与所选增量有很大关系，换一个增量序列结论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就变。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539115" y="3556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97230" y="3493770"/>
              <a:ext cx="531647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一般认为平均时间复杂度介于 O(n²) 和 O(n log n) 之间。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539115" y="3901440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97230" y="3838575"/>
              <a:ext cx="44982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空间复杂度 O(1)，只用到 K、d、i、j 几个变量。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539115" y="424624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7230" y="4183380"/>
              <a:ext cx="4861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不稳定，大增量会让元素跨过与它关键词相同的元素。</a:t>
              </a:r>
            </a:p>
          </p:txBody>
        </p:sp>
      </p:grpSp>
      <p:grpSp>
        <p:nvGrpSpPr>
          <p:cNvPr id="43" name="c1-callout-3"/>
          <p:cNvGrpSpPr/>
          <p:nvPr/>
        </p:nvGrpSpPr>
        <p:grpSpPr>
          <a:xfrm>
            <a:off x="533400" y="4608195"/>
            <a:ext cx="5842635" cy="782955"/>
            <a:chOff x="533400" y="4608195"/>
            <a:chExt cx="5842635" cy="782955"/>
          </a:xfrm>
        </p:grpSpPr>
        <p:sp>
          <p:nvSpPr>
            <p:cNvPr id="37" name="Rectangle 37"/>
            <p:cNvSpPr/>
            <p:nvPr/>
          </p:nvSpPr>
          <p:spPr>
            <a:xfrm>
              <a:off x="533400" y="4608195"/>
              <a:ext cx="5842635" cy="782955"/>
            </a:xfrm>
            <a:prstGeom prst="roundRect">
              <a:avLst>
                <a:gd name="adj" fmla="val 1459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26129" y="4895968"/>
              <a:ext cx="224134" cy="192560"/>
              <a:chOff x="726129" y="4895968"/>
              <a:chExt cx="224134" cy="19256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838200" y="4966335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26129" y="4895968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8200" y="50441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1040130" y="4756785"/>
              <a:ext cx="48253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OPEN PROBLEM：是否存在一个增量序列，使希尔排序的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平均或最坏时间复杂度达到 O(n log n)，至今没有答案。</a:t>
              </a:r>
            </a:p>
          </p:txBody>
        </p:sp>
      </p:grpSp>
      <p:grpSp>
        <p:nvGrpSpPr>
          <p:cNvPr id="58" name="c2-card-1"/>
          <p:cNvGrpSpPr/>
          <p:nvPr/>
        </p:nvGrpSpPr>
        <p:grpSpPr>
          <a:xfrm>
            <a:off x="6680835" y="1524000"/>
            <a:ext cx="4977765" cy="2823210"/>
            <a:chOff x="6680835" y="1524000"/>
            <a:chExt cx="4977765" cy="2823210"/>
          </a:xfrm>
        </p:grpSpPr>
        <p:sp>
          <p:nvSpPr>
            <p:cNvPr id="44" name="Rectangle 44"/>
            <p:cNvSpPr/>
            <p:nvPr/>
          </p:nvSpPr>
          <p:spPr>
            <a:xfrm>
              <a:off x="6680835" y="1524000"/>
              <a:ext cx="4977765" cy="2823210"/>
            </a:xfrm>
            <a:prstGeom prst="roundRect">
              <a:avLst>
                <a:gd name="adj" fmla="val 472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89038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981546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考点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491412" y="1768792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希尔排序最容易被问的三件事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890385" y="211645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952234" y="215874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191375" y="2129790"/>
              <a:ext cx="40443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给定 n 和折半增量，写出每一趟的增量和每一趟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的结果。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6890385" y="273748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6952234" y="277977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191375" y="2750820"/>
              <a:ext cx="4015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给一趟结果反推增量可能取值，方法见前面的练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习页。</a:t>
              </a:r>
            </a:p>
          </p:txBody>
        </p:sp>
        <p:sp>
          <p:nvSpPr>
            <p:cNvPr id="54" name="Ellipse 54"/>
            <p:cNvSpPr/>
            <p:nvPr/>
          </p:nvSpPr>
          <p:spPr>
            <a:xfrm>
              <a:off x="6890385" y="3358515"/>
              <a:ext cx="213360" cy="2133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952234" y="3400806"/>
              <a:ext cx="89661" cy="199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191375" y="3371850"/>
              <a:ext cx="42254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判断稳定性，并能举出像 5 和 5* 这样的反例。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883908" y="3703796"/>
              <a:ext cx="4076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复杂度一栏若题目没有指定增量序列，按折半增量的最坏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O(n²) 作答。</a:t>
              </a:r>
            </a:p>
          </p:txBody>
        </p:sp>
      </p:grpSp>
      <p:grpSp>
        <p:nvGrpSpPr>
          <p:cNvPr id="65" name="c2-callout-2"/>
          <p:cNvGrpSpPr/>
          <p:nvPr/>
        </p:nvGrpSpPr>
        <p:grpSpPr>
          <a:xfrm>
            <a:off x="6680835" y="4537710"/>
            <a:ext cx="4977765" cy="854392"/>
            <a:chOff x="6680835" y="4537710"/>
            <a:chExt cx="4977765" cy="854392"/>
          </a:xfrm>
        </p:grpSpPr>
        <p:sp>
          <p:nvSpPr>
            <p:cNvPr id="59" name="Rectangle 59"/>
            <p:cNvSpPr/>
            <p:nvPr/>
          </p:nvSpPr>
          <p:spPr>
            <a:xfrm>
              <a:off x="6680835" y="4537710"/>
              <a:ext cx="4977765" cy="854392"/>
            </a:xfrm>
            <a:prstGeom prst="roundRect">
              <a:avLst>
                <a:gd name="adj" fmla="val 13378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6885623" y="4864418"/>
              <a:ext cx="200026" cy="200025"/>
              <a:chOff x="6885623" y="4864418"/>
              <a:chExt cx="200026" cy="200025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885623" y="486441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925361" y="490886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6960077" y="501999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7187565" y="4721542"/>
              <a:ext cx="40157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手算时按组把元素抄成几行再排，比在原数组上</a:t>
              </a:r>
              <a:br/>
              <a:r>
                <a:rPr lang="zh-CN" sz="150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跳着数下标不容易出错。</a:t>
              </a:r>
            </a:p>
          </p:txBody>
        </p:sp>
      </p:grpSp>
      <p:grpSp>
        <p:nvGrpSpPr>
          <p:cNvPr id="6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6" name="TextBox 66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3115437" cy="909257"/>
            <a:chOff x="520446" y="342900"/>
            <a:chExt cx="311543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21265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2429" y="407194"/>
              <a:ext cx="2073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 · 希尔排序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311543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四个算法放在一起比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67" name="c1-table-1"/>
          <p:cNvGrpSpPr/>
          <p:nvPr/>
        </p:nvGrpSpPr>
        <p:grpSpPr>
          <a:xfrm>
            <a:off x="533400" y="1524000"/>
            <a:ext cx="11125200" cy="2028825"/>
            <a:chOff x="533400" y="1524000"/>
            <a:chExt cx="11125200" cy="202882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11125200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6654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5719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最好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76971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平均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938433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939511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空间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829146" y="164830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稳定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33564" y="1648301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比较次数是否依赖初始序列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274872" y="1648301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移动的特点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33412" y="205406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直接插入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13635" y="2054066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414712" y="2054066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38675" y="2054066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51195" y="2054066"/>
              <a:ext cx="393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50342" y="1939290"/>
              <a:ext cx="87058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40830" y="205406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31417" y="205406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756458" y="2054066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后移次数 = 逆序对数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233076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233553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412" y="245983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冒泡（改进）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13635" y="2459831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14712" y="2459831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38675" y="2459831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51195" y="2459831"/>
              <a:ext cx="393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550342" y="2345055"/>
              <a:ext cx="87058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640830" y="245983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31417" y="245983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756458" y="2459831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交换次数 = 逆序对数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2736532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3412" y="286559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直接选择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413635" y="2865596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414712" y="2865596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38675" y="2865596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751195" y="2865596"/>
              <a:ext cx="393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550342" y="2750820"/>
              <a:ext cx="870585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640830" y="286559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440930" y="2750820"/>
              <a:ext cx="2205990" cy="386715"/>
            </a:xfrm>
            <a:prstGeom prst="rect">
              <a:avLst/>
            </a:prstGeom>
            <a:solidFill>
              <a:srgbClr val="FDEEE7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531417" y="2865596"/>
              <a:ext cx="16247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不依赖，恒为 n(n−1)/2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665970" y="2750820"/>
              <a:ext cx="1983105" cy="38671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756458" y="2865596"/>
              <a:ext cx="11045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交换最多 n−1 次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533400" y="3142298"/>
              <a:ext cx="11125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33400" y="3147060"/>
              <a:ext cx="11125200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33412" y="327136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希尔（折半）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413635" y="3271361"/>
              <a:ext cx="3835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414712" y="3271361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介于两者之间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638675" y="3271361"/>
              <a:ext cx="4688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O(n²)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5751195" y="3271361"/>
              <a:ext cx="3937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O(1)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6550342" y="3156585"/>
              <a:ext cx="870585" cy="386715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640830" y="3271361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531417" y="327136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依赖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756458" y="3271361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一次可跨 d 格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533400" y="1524000"/>
              <a:ext cx="11125200" cy="202882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2308860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3309938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4533900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5646420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536055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7426642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9651682" y="1524000"/>
              <a:ext cx="9525" cy="20288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0" name="c1-compare-2"/>
          <p:cNvGrpSpPr/>
          <p:nvPr/>
        </p:nvGrpSpPr>
        <p:grpSpPr>
          <a:xfrm>
            <a:off x="533400" y="3728085"/>
            <a:ext cx="11125200" cy="1974532"/>
            <a:chOff x="533400" y="3728085"/>
            <a:chExt cx="11125200" cy="1974532"/>
          </a:xfrm>
        </p:grpSpPr>
        <p:sp>
          <p:nvSpPr>
            <p:cNvPr id="68" name="Rectangle 68"/>
            <p:cNvSpPr/>
            <p:nvPr/>
          </p:nvSpPr>
          <p:spPr>
            <a:xfrm>
              <a:off x="533400" y="3728085"/>
              <a:ext cx="5353050" cy="1974532"/>
            </a:xfrm>
            <a:prstGeom prst="roundRect">
              <a:avLst>
                <a:gd name="adj" fmla="val 67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542925" y="3861435"/>
              <a:ext cx="47625" cy="170783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57047" y="394239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什么时候还值得用平方阶算法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772478" y="431863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28497" y="4262438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很小（几十以内）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772478" y="462153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28497" y="456533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数据基本有序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772478" y="492347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28497" y="486727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记录很大、移动昂贵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772478" y="5226367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28497" y="517017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要求实现简单、代码短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6305550" y="3728085"/>
              <a:ext cx="5353050" cy="1974532"/>
            </a:xfrm>
            <a:prstGeom prst="roundRect">
              <a:avLst>
                <a:gd name="adj" fmla="val 675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6315075" y="3861435"/>
              <a:ext cx="47625" cy="170783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529197" y="394239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什么时候必须换掉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6544628" y="431863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700647" y="4262438"/>
              <a:ext cx="35666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上万：n²/4 次比较约是 n log₂n 的 188 倍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6544628" y="462153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700647" y="456533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数据完全随机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6544628" y="492347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700647" y="4867275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对最坏情况有硬性时限要求</a:t>
              </a:r>
            </a:p>
          </p:txBody>
        </p:sp>
        <p:sp>
          <p:nvSpPr>
            <p:cNvPr id="88" name="Ellipse 88"/>
            <p:cNvSpPr/>
            <p:nvPr/>
          </p:nvSpPr>
          <p:spPr>
            <a:xfrm>
              <a:off x="5934075" y="455295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010546" y="4654391"/>
              <a:ext cx="17090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96" name="takeaway"/>
          <p:cNvGrpSpPr/>
          <p:nvPr/>
        </p:nvGrpSpPr>
        <p:grpSpPr>
          <a:xfrm>
            <a:off x="533400" y="5874068"/>
            <a:ext cx="11125200" cy="488632"/>
            <a:chOff x="533400" y="5874068"/>
            <a:chExt cx="11125200" cy="488632"/>
          </a:xfrm>
        </p:grpSpPr>
        <p:sp>
          <p:nvSpPr>
            <p:cNvPr id="91" name="Rectangle 91"/>
            <p:cNvSpPr/>
            <p:nvPr/>
          </p:nvSpPr>
          <p:spPr>
            <a:xfrm>
              <a:off x="533400" y="5874068"/>
              <a:ext cx="11125200" cy="488632"/>
            </a:xfrm>
            <a:prstGeom prst="roundRect">
              <a:avLst>
                <a:gd name="adj" fmla="val 233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738188" y="6017897"/>
              <a:ext cx="200023" cy="200023"/>
              <a:chOff x="738188" y="6017897"/>
              <a:chExt cx="200023" cy="200023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738188" y="601789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871538" y="60845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1040892" y="6023610"/>
              <a:ext cx="61927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比较次数不依赖初始序列的只有直接选择排序，这一条是选择题的高频考点。</a:t>
              </a: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7" name="TextBox 97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484566" cy="909257"/>
            <a:chOff x="520446" y="342900"/>
            <a:chExt cx="14845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7161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4485" y="407194"/>
              <a:ext cx="1288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2558034" cy="264033"/>
            <a:chOff x="526542" y="1545907"/>
            <a:chExt cx="255803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先把答案写在纸上，再看解答。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1914525"/>
            <a:chOff x="533400" y="1928812"/>
            <a:chExt cx="3505200" cy="1914525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1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07898" y="2449354"/>
              <a:ext cx="278419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直接插入排序在什么输入下只比较 n−1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07898" y="2977991"/>
              <a:ext cx="286588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输入已经递增有序。每趟 R[i] 与有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序区最后一个元素比一次就停，共 n−1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次，移动 2(n−1) 次。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008120"/>
            <a:ext cx="3505200" cy="2157412"/>
            <a:chOff x="533400" y="4008120"/>
            <a:chExt cx="3505200" cy="2157412"/>
          </a:xfrm>
        </p:grpSpPr>
        <p:sp>
          <p:nvSpPr>
            <p:cNvPr id="15" name="Rectangle 15"/>
            <p:cNvSpPr/>
            <p:nvPr/>
          </p:nvSpPr>
          <p:spPr>
            <a:xfrm>
              <a:off x="533400" y="40081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1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7898" y="4529614"/>
              <a:ext cx="2972765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改进冒泡排序里的 t 记录什么？下一趟的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bound 为什么取 t？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07898" y="5057299"/>
              <a:ext cx="291465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是本趟最后一次发生交换的位置。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之后没有交换说明 R[t+1] 到 R[n] 已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有序且就位，下一趟只需比到 t。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1914525"/>
            <a:chOff x="4343400" y="1928812"/>
            <a:chExt cx="3505200" cy="1914525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2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17898" y="2449354"/>
              <a:ext cx="27764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初级冒泡排序对任何输入都要比较多少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17898" y="2977991"/>
              <a:ext cx="2987802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恒为 n(n−1)/2 次。bound 从 n 递减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到 2，每趟固定比较 bound−1 次，与数据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无关。改进版才有 O(n) 的最好情况。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4008120"/>
            <a:ext cx="3505200" cy="2157412"/>
            <a:chOff x="4343400" y="4008120"/>
            <a:chExt cx="3505200" cy="2157412"/>
          </a:xfrm>
        </p:grpSpPr>
        <p:sp>
          <p:nvSpPr>
            <p:cNvPr id="27" name="Rectangle 27"/>
            <p:cNvSpPr/>
            <p:nvPr/>
          </p:nvSpPr>
          <p:spPr>
            <a:xfrm>
              <a:off x="4343400" y="40081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2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17898" y="4529614"/>
              <a:ext cx="27033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 7 5 9 2 13 5* 8 10 15 6 做希尔排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序，d=2 那趟处理哪两组？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7898" y="5057299"/>
              <a:ext cx="2979674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奇数下标组 R[1] R[3] R[5] R[7]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R[9] 与偶数下标组 R[2] R[4] R[6]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R[8] R[10]，各组内部单独做直接插入排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序。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1914525"/>
            <a:chOff x="8153400" y="1928812"/>
            <a:chExt cx="3505200" cy="1914525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1914525"/>
            </a:xfrm>
            <a:prstGeom prst="roundRect">
              <a:avLst>
                <a:gd name="adj" fmla="val 6965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34375" y="210978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3832" y="214264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27898" y="2449354"/>
              <a:ext cx="2972765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直接选择排序为什么不稳定？举一个 6 元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素的例子。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27898" y="2977991"/>
              <a:ext cx="2882138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 8 9 2 5 7 5*，第 4 趟把 R[1]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 5 与 R[4] 的 7 交换，5 被甩到 5* 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面，结果为 2 5* 5 7 8 9。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008120"/>
            <a:ext cx="3505200" cy="2157412"/>
            <a:chOff x="8153400" y="4008120"/>
            <a:chExt cx="3505200" cy="2157412"/>
          </a:xfrm>
        </p:grpSpPr>
        <p:sp>
          <p:nvSpPr>
            <p:cNvPr id="39" name="Rectangle 39"/>
            <p:cNvSpPr/>
            <p:nvPr/>
          </p:nvSpPr>
          <p:spPr>
            <a:xfrm>
              <a:off x="8153400" y="4008120"/>
              <a:ext cx="3505200" cy="2157412"/>
            </a:xfrm>
            <a:prstGeom prst="roundRect">
              <a:avLst>
                <a:gd name="adj" fmla="val 6181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34375" y="4189095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3832" y="4221956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27898" y="4529614"/>
              <a:ext cx="276468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某趟希尔排序后得到 9, 1, 4, 13, 7,</a:t>
              </a:r>
              <a:br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8, 20, 23, 15，增量 d 可能是几？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27898" y="5057299"/>
              <a:ext cx="2987802" cy="9780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d=3。三组 (9,13,20)、(1,7,23)、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(4,8,15) 都递增。d=2 和 4 的第一组里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 在 4 或 7 前面，d=5 的第一组是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(9,8)，都不合法。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484566" cy="909257"/>
            <a:chOff x="520446" y="342900"/>
            <a:chExt cx="14845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471612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24485" y="407194"/>
              <a:ext cx="12884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第17讲 平方阶排序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842635" cy="2287905"/>
            <a:chOff x="533400" y="1524000"/>
            <a:chExt cx="5842635" cy="2287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37310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5862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排序三要素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29268" y="2023110"/>
              <a:ext cx="2576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文件、记录、关键词；四项指标见第 5 页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0411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直接插入排序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29268" y="2404110"/>
              <a:ext cx="28588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插入左侧有序区；移动次数 = 逆序对数；稳定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785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冒泡排序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29268" y="2785110"/>
              <a:ext cx="3000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相邻反序就换；末次交换位置 t 能省比较；稳定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167062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直接选择排序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529268" y="3167062"/>
              <a:ext cx="28094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比较恒为 n(n−1)/2；交换 ≤ n−1 次；不稳定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26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54806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希尔排序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529268" y="3548062"/>
              <a:ext cx="30061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分组插入，增量递减至 1；折半增量最坏 O(n²)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84263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2429828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3" name="c1-card-2"/>
          <p:cNvGrpSpPr/>
          <p:nvPr/>
        </p:nvGrpSpPr>
        <p:grpSpPr>
          <a:xfrm>
            <a:off x="533400" y="3976688"/>
            <a:ext cx="5842635" cy="1487805"/>
            <a:chOff x="533400" y="3976688"/>
            <a:chExt cx="5842635" cy="1487805"/>
          </a:xfrm>
        </p:grpSpPr>
        <p:sp>
          <p:nvSpPr>
            <p:cNvPr id="29" name="Rectangle 29"/>
            <p:cNvSpPr/>
            <p:nvPr/>
          </p:nvSpPr>
          <p:spPr>
            <a:xfrm>
              <a:off x="533400" y="3976688"/>
              <a:ext cx="5842635" cy="1487805"/>
            </a:xfrm>
            <a:prstGeom prst="roundRect">
              <a:avLst>
                <a:gd name="adj" fmla="val 89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110038"/>
              <a:ext cx="47625" cy="122110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15766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33946" y="419052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更正与补充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691830" y="4198144"/>
              <a:ext cx="22530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本讲义对源课件的更正与补充</a:t>
              </a:r>
            </a:p>
          </p:txBody>
        </p:sp>
        <p:sp>
          <p:nvSpPr>
            <p:cNvPr id="34" name="Ellipse 34"/>
            <p:cNvSpPr/>
            <p:nvPr/>
          </p:nvSpPr>
          <p:spPr>
            <a:xfrm>
              <a:off x="752475" y="4503420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4382" y="4539044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22223" y="4514374"/>
              <a:ext cx="51181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 46 页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swap(int &amp;a, int &amp;b)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是 C++ 引用写法，已改成指针版。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52475" y="478821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4382" y="482384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22223" y="4799171"/>
              <a:ext cx="48032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54 页误用了“直接插入排序”的标题，该页讲的是冒泡排序。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52475" y="507301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04382" y="510863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22223" y="5083969"/>
              <a:ext cx="45077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冒泡表的最好情况 O(n) 只对改进版成立，已分两行列出。</a:t>
              </a:r>
            </a:p>
          </p:txBody>
        </p:sp>
      </p:grpSp>
      <p:grpSp>
        <p:nvGrpSpPr>
          <p:cNvPr id="59" name="c2-bullets-1"/>
          <p:cNvGrpSpPr/>
          <p:nvPr/>
        </p:nvGrpSpPr>
        <p:grpSpPr>
          <a:xfrm>
            <a:off x="6681788" y="1533525"/>
            <a:ext cx="4245915" cy="1432845"/>
            <a:chOff x="6681788" y="1533525"/>
            <a:chExt cx="4245915" cy="1432845"/>
          </a:xfrm>
        </p:grpSpPr>
        <p:sp>
          <p:nvSpPr>
            <p:cNvPr id="44" name="Ellipse 44"/>
            <p:cNvSpPr/>
            <p:nvPr/>
          </p:nvSpPr>
          <p:spPr>
            <a:xfrm>
              <a:off x="6681788" y="153352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33694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51536" y="1545431"/>
              <a:ext cx="38210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三个平方阶算法只在“怎么把元素放到位”上不同。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681788" y="182689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33694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51536" y="1837849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逐格挪动的算法稳定，跨格搬运的算法不稳定。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681788" y="212026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33694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51536" y="2131219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插入的移动次数与冒泡的交换次数都等于逆序对数。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6681788" y="241363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33694" y="244830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951536" y="2424589"/>
              <a:ext cx="36315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只有直接选择排序的比较次数与初始排列无关。</a:t>
              </a:r>
            </a:p>
          </p:txBody>
        </p:sp>
        <p:sp>
          <p:nvSpPr>
            <p:cNvPr id="56" name="Ellipse 56"/>
            <p:cNvSpPr/>
            <p:nvPr/>
          </p:nvSpPr>
          <p:spPr>
            <a:xfrm>
              <a:off x="6681788" y="270605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733694" y="27416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951536" y="2717006"/>
              <a:ext cx="27699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希尔排序的复杂度跟着增量序列走。</a:t>
              </a:r>
            </a:p>
          </p:txBody>
        </p:sp>
      </p:grpSp>
      <p:grpSp>
        <p:nvGrpSpPr>
          <p:cNvPr id="73" name="c2-card-2"/>
          <p:cNvGrpSpPr/>
          <p:nvPr/>
        </p:nvGrpSpPr>
        <p:grpSpPr>
          <a:xfrm>
            <a:off x="6680835" y="3081338"/>
            <a:ext cx="4977765" cy="2383155"/>
            <a:chOff x="6680835" y="3081338"/>
            <a:chExt cx="4977765" cy="2383155"/>
          </a:xfrm>
        </p:grpSpPr>
        <p:sp>
          <p:nvSpPr>
            <p:cNvPr id="60" name="Rectangle 60"/>
            <p:cNvSpPr/>
            <p:nvPr/>
          </p:nvSpPr>
          <p:spPr>
            <a:xfrm>
              <a:off x="6680835" y="3081338"/>
              <a:ext cx="4977765" cy="2383155"/>
            </a:xfrm>
            <a:prstGeom prst="roundRect">
              <a:avLst>
                <a:gd name="adj" fmla="val 559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861810" y="326231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947332" y="329517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复习方法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677341" y="3301841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三步自查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6862762" y="360711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914669" y="364274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132511" y="3619024"/>
              <a:ext cx="42949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手算 8 9 2 5 7 5* 的每一趟，与第 10、17、26 页对照。</a:t>
              </a:r>
            </a:p>
          </p:txBody>
        </p:sp>
        <p:sp>
          <p:nvSpPr>
            <p:cNvPr id="67" name="Ellipse 67"/>
            <p:cNvSpPr/>
            <p:nvPr/>
          </p:nvSpPr>
          <p:spPr>
            <a:xfrm>
              <a:off x="6862762" y="389286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914669" y="392753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132511" y="3903821"/>
              <a:ext cx="402005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默写四段 C 代码，检查 i、j、bound、d 的初值与循环条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件。</a:t>
              </a:r>
            </a:p>
          </p:txBody>
        </p:sp>
        <p:sp>
          <p:nvSpPr>
            <p:cNvPr id="70" name="Ellipse 70"/>
            <p:cNvSpPr/>
            <p:nvPr/>
          </p:nvSpPr>
          <p:spPr>
            <a:xfrm>
              <a:off x="6862762" y="442055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914669" y="4456176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132511" y="4431506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对每个算法说出稳定或不稳定的具体理由。</a:t>
              </a:r>
            </a:p>
          </p:txBody>
        </p:sp>
      </p:grpSp>
      <p:grpSp>
        <p:nvGrpSpPr>
          <p:cNvPr id="7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74" name="Rectangle 74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738188" y="6028375"/>
              <a:ext cx="200023" cy="200023"/>
              <a:chOff x="738188" y="6028375"/>
              <a:chExt cx="200023" cy="200023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738188" y="60283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871538" y="60950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1041273" y="6039326"/>
              <a:ext cx="74284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下一讲：第18讲 堆排序。用完全二叉树组织待排序列，把每趟“找最大”从 O(n) 降到 O(log n)。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20613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第17讲 平方阶排序算法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_l17">
  <a:themeElements>
    <a:clrScheme name="ds_l1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_l17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_l17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2026-09-19T13:59:17Z</dcterms:created>
  <dcterms:modified xsi:type="dcterms:W3CDTF">2026-09-19T13:59:17Z</dcterms:modified>
  <cp:category/>
  <cp:contentStatus/>
</cp:coreProperties>
</file>