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8c9829fcc3b696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a9b1b1adaf6c172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1137c9cb9db65ae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第3讲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线性表的链接存储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单链表、循环链表、双向链表与双指针技巧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哨位结点消掉边界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三种链表的写法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静态与侵入式链表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六道双指针经典题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3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结点结构、哨位结点，查找、插入、删除四个算法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循环链表与双向链表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把尾指回头，每个结点再记一个前驱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两种存储的取舍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空间与时间的对比、边界条件、应用场景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静态链表与侵入式链表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用下标当指针，把链接域从数据里抽出来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链表的双指针技巧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倒数第 k、中间结点、相交、判环、回文、重排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一元多项式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链表表示与两个多项式相加的完整过程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写出三种链表的结点定义，并说出各自的判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空条件和判表尾条件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说出哨位结点消掉了哪几种边界情况，指出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没有它时代码会在哪一行出错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给定一组 data / next 数组，手算出静态链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表的逻辑顺序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拿到一道链表题，判断该用快慢指针、对齐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双指针还是先反转后半段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手推一遍两个多项式相加时 pa、pb、pc 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个指针的移动过程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用指针把散落在各处的结点串起来，再用一个哨位结点消掉边界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链接存储的定义与结点结构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哨位结点的作用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查找、插入、删除三个算法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四个操作的复杂度与前提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链接存储：每个结点自己记住“下一个在哪”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06905"/>
            <a:chOff x="533400" y="1524000"/>
            <a:chExt cx="4760595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728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用任意一组存储单元存储线性表。一个存储单元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除包含结点数据字段的值，还必须存放其逻辑相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邻结点（前驱或后继结点）的地址信息，即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指针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字段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7" name="c1-tree-2"/>
          <p:cNvGrpSpPr/>
          <p:nvPr/>
        </p:nvGrpSpPr>
        <p:grpSpPr>
          <a:xfrm>
            <a:off x="533400" y="3571875"/>
            <a:ext cx="4761548" cy="2135505"/>
            <a:chOff x="533400" y="3571875"/>
            <a:chExt cx="4761548" cy="2135505"/>
          </a:xfrm>
        </p:grpSpPr>
        <p:sp>
          <p:nvSpPr>
            <p:cNvPr id="14" name="Freeform 14"/>
            <p:cNvSpPr/>
            <p:nvPr/>
          </p:nvSpPr>
          <p:spPr>
            <a:xfrm>
              <a:off x="3188970" y="382524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88970" y="4231958"/>
              <a:ext cx="419100" cy="611505"/>
            </a:xfrm>
            <a:custGeom>
              <a:avLst/>
              <a:gdLst/>
              <a:ahLst/>
              <a:cxnLst/>
              <a:rect l="l" t="t" r="r" b="b"/>
              <a:pathLst>
                <a:path w="419100" h="611505">
                  <a:moveTo>
                    <a:pt x="0" y="611505"/>
                  </a:moveTo>
                  <a:lnTo>
                    <a:pt x="209550" y="6115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88970" y="4639628"/>
              <a:ext cx="419100" cy="203835"/>
            </a:xfrm>
            <a:custGeom>
              <a:avLst/>
              <a:gdLst/>
              <a:ahLst/>
              <a:cxnLst/>
              <a:rect l="l" t="t" r="r" b="b"/>
              <a:pathLst>
                <a:path w="419100" h="203835">
                  <a:moveTo>
                    <a:pt x="0" y="203835"/>
                  </a:moveTo>
                  <a:lnTo>
                    <a:pt x="209550" y="2038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88970" y="4843462"/>
              <a:ext cx="419100" cy="203835"/>
            </a:xfrm>
            <a:custGeom>
              <a:avLst/>
              <a:gdLst/>
              <a:ahLst/>
              <a:cxnLst/>
              <a:rect l="l" t="t" r="r" b="b"/>
              <a:pathLst>
                <a:path w="419100" h="203835">
                  <a:moveTo>
                    <a:pt x="0" y="0"/>
                  </a:moveTo>
                  <a:lnTo>
                    <a:pt x="209550" y="0"/>
                  </a:lnTo>
                  <a:lnTo>
                    <a:pt x="209550" y="203835"/>
                  </a:lnTo>
                  <a:lnTo>
                    <a:pt x="419100" y="2038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88970" y="4843462"/>
              <a:ext cx="419100" cy="610553"/>
            </a:xfrm>
            <a:custGeom>
              <a:avLst/>
              <a:gdLst/>
              <a:ahLst/>
              <a:cxnLst/>
              <a:rect l="l" t="t" r="r" b="b"/>
              <a:pathLst>
                <a:path w="419100" h="610553">
                  <a:moveTo>
                    <a:pt x="0" y="0"/>
                  </a:moveTo>
                  <a:lnTo>
                    <a:pt x="209550" y="0"/>
                  </a:lnTo>
                  <a:lnTo>
                    <a:pt x="209550" y="610553"/>
                  </a:lnTo>
                  <a:lnTo>
                    <a:pt x="419100" y="61055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956435" y="3825240"/>
              <a:ext cx="419100" cy="508635"/>
            </a:xfrm>
            <a:custGeom>
              <a:avLst/>
              <a:gdLst/>
              <a:ahLst/>
              <a:cxnLst/>
              <a:rect l="l" t="t" r="r" b="b"/>
              <a:pathLst>
                <a:path w="419100" h="508635">
                  <a:moveTo>
                    <a:pt x="0" y="508635"/>
                  </a:moveTo>
                  <a:lnTo>
                    <a:pt x="209550" y="5086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56435" y="4333875"/>
              <a:ext cx="419100" cy="509588"/>
            </a:xfrm>
            <a:custGeom>
              <a:avLst/>
              <a:gdLst/>
              <a:ahLst/>
              <a:cxnLst/>
              <a:rect l="l" t="t" r="r" b="b"/>
              <a:pathLst>
                <a:path w="419100" h="509588">
                  <a:moveTo>
                    <a:pt x="0" y="0"/>
                  </a:moveTo>
                  <a:lnTo>
                    <a:pt x="209550" y="0"/>
                  </a:lnTo>
                  <a:lnTo>
                    <a:pt x="209550" y="509588"/>
                  </a:lnTo>
                  <a:lnTo>
                    <a:pt x="419100" y="5095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08070" y="3571875"/>
              <a:ext cx="1686878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75535" y="3658552"/>
              <a:ext cx="813435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08070" y="4065270"/>
              <a:ext cx="168687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08070" y="4472940"/>
              <a:ext cx="168687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08070" y="4879658"/>
              <a:ext cx="168687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08070" y="5200650"/>
              <a:ext cx="1686878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75535" y="4676775"/>
              <a:ext cx="813435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080510"/>
              <a:ext cx="1423035" cy="506730"/>
            </a:xfrm>
            <a:prstGeom prst="roundRect">
              <a:avLst>
                <a:gd name="adj" fmla="val 187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97986" y="3665220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（数组）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5451" y="37518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97986" y="41586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97986" y="45662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97986" y="49739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97986" y="5293995"/>
              <a:ext cx="8107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（第四部分）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5451" y="47701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16" y="4173855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线性表的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</p:grpSp>
      <p:grpSp>
        <p:nvGrpSpPr>
          <p:cNvPr id="71" name="c2-cells-1"/>
          <p:cNvGrpSpPr/>
          <p:nvPr/>
        </p:nvGrpSpPr>
        <p:grpSpPr>
          <a:xfrm>
            <a:off x="5593080" y="1524000"/>
            <a:ext cx="3348990" cy="1895475"/>
            <a:chOff x="5593080" y="1524000"/>
            <a:chExt cx="3348990" cy="1895475"/>
          </a:xfrm>
        </p:grpSpPr>
        <p:sp>
          <p:nvSpPr>
            <p:cNvPr id="38" name="TextBox 38"/>
            <p:cNvSpPr txBox="1"/>
            <p:nvPr/>
          </p:nvSpPr>
          <p:spPr>
            <a:xfrm>
              <a:off x="5593080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60758" y="1524000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69506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37020" y="1524000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45768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13282" y="1524000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22031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789545" y="1524000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98293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365808" y="1524000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74556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93080" y="25493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60758" y="240982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77520" y="25493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9858" y="240982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98958" y="240982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15720" y="25493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18058" y="240982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34820" y="25493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737158" y="240982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53920" y="25493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63808" y="216027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7070408" y="23145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593080" y="313991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60758" y="300037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69506" y="313991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37020" y="3000375"/>
              <a:ext cx="57626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13282" y="300037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22031" y="313991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1048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789545" y="300037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88436" y="313991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65808" y="300037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474556" y="313991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</p:grpSp>
      <p:grpSp>
        <p:nvGrpSpPr>
          <p:cNvPr id="73" name="c2-text-2"/>
          <p:cNvGrpSpPr/>
          <p:nvPr/>
        </p:nvGrpSpPr>
        <p:grpSpPr>
          <a:xfrm>
            <a:off x="5592318" y="3631406"/>
            <a:ext cx="5661914" cy="500824"/>
            <a:chOff x="5592318" y="3631406"/>
            <a:chExt cx="5661914" cy="500824"/>
          </a:xfrm>
        </p:grpSpPr>
        <p:sp>
          <p:nvSpPr>
            <p:cNvPr id="72" name="TextBox 72"/>
            <p:cNvSpPr txBox="1"/>
            <p:nvPr/>
          </p:nvSpPr>
          <p:spPr>
            <a:xfrm>
              <a:off x="5592318" y="3631406"/>
              <a:ext cx="56619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四个结点在内存里的顺序是 a₂ a₀ a₃ a₁，逻辑顺序却是 a₀ → a₁ → a₂ → a₃。物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理位置被打乱，逻辑顺序完全由 next 字段维持。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5598795" y="4271962"/>
            <a:ext cx="6059805" cy="782955"/>
            <a:chOff x="5598795" y="4271962"/>
            <a:chExt cx="6059805" cy="782955"/>
          </a:xfrm>
        </p:grpSpPr>
        <p:sp>
          <p:nvSpPr>
            <p:cNvPr id="74" name="Rectangle 74"/>
            <p:cNvSpPr/>
            <p:nvPr/>
          </p:nvSpPr>
          <p:spPr>
            <a:xfrm>
              <a:off x="5598795" y="4271962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5803583" y="4563430"/>
              <a:ext cx="200023" cy="200023"/>
              <a:chOff x="5803583" y="4563430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803583" y="45634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936933" y="4630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105525" y="4420552"/>
              <a:ext cx="5092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顺序存储靠“地址挨着”表示前驱后继，链接存储靠“结点里存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着对方的地址”。代价是每个结点要多花一个指针的空间。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0" name="Rectangle 8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130" y="5991225"/>
              <a:ext cx="9717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顺着 next 走一遍就能复原逻辑顺序，但想直接跳到第 100 个结点做不到，没有公式能由下标算出它的地址。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单链表：一个数据域加一个指针域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917258"/>
            <a:chOff x="533400" y="1524000"/>
            <a:chExt cx="5626418" cy="917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410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单链表（Singly Linked List）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每个结点只含一个链接域的链表叫单链表。</a:t>
              </a:r>
            </a:p>
          </p:txBody>
        </p:sp>
      </p:grpSp>
      <p:grpSp>
        <p:nvGrpSpPr>
          <p:cNvPr id="19" name="c1-cells-2"/>
          <p:cNvGrpSpPr/>
          <p:nvPr/>
        </p:nvGrpSpPr>
        <p:grpSpPr>
          <a:xfrm>
            <a:off x="528066" y="2606040"/>
            <a:ext cx="1516000" cy="356235"/>
            <a:chOff x="528066" y="2606040"/>
            <a:chExt cx="1516000" cy="356235"/>
          </a:xfrm>
        </p:grpSpPr>
        <p:sp>
          <p:nvSpPr>
            <p:cNvPr id="14" name="TextBox 14"/>
            <p:cNvSpPr txBox="1"/>
            <p:nvPr/>
          </p:nvSpPr>
          <p:spPr>
            <a:xfrm>
              <a:off x="528066" y="27193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33450" y="2606040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2986" y="271938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88758" y="2606040"/>
              <a:ext cx="5553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98293" y="271938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</p:grpSp>
      <p:grpSp>
        <p:nvGrpSpPr>
          <p:cNvPr id="45" name="c1-cells-3"/>
          <p:cNvGrpSpPr/>
          <p:nvPr/>
        </p:nvGrpSpPr>
        <p:grpSpPr>
          <a:xfrm>
            <a:off x="528066" y="3171349"/>
            <a:ext cx="3932492" cy="597694"/>
            <a:chOff x="528066" y="3171349"/>
            <a:chExt cx="3932492" cy="597694"/>
          </a:xfrm>
        </p:grpSpPr>
        <p:sp>
          <p:nvSpPr>
            <p:cNvPr id="20" name="TextBox 20"/>
            <p:cNvSpPr txBox="1"/>
            <p:nvPr/>
          </p:nvSpPr>
          <p:spPr>
            <a:xfrm>
              <a:off x="528066" y="352615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4408" y="34128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6993" y="35261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93508" y="341280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469708" y="35623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498282" y="35909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841182" y="35480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26908" y="34128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49493" y="35261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46008" y="341280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422208" y="35623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450782" y="35909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793682" y="35480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879408" y="34128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01993" y="35261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98508" y="341280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374708" y="35623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403282" y="35909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746182" y="35480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831908" y="34128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54493" y="35261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251008" y="341280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317702" y="353377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38173" y="3171349"/>
              <a:ext cx="206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tail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4003358" y="33175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9" name="c1-code-4"/>
          <p:cNvGrpSpPr/>
          <p:nvPr/>
        </p:nvGrpSpPr>
        <p:grpSpPr>
          <a:xfrm>
            <a:off x="533400" y="3933825"/>
            <a:ext cx="5626418" cy="1107758"/>
            <a:chOff x="533400" y="3933825"/>
            <a:chExt cx="5626418" cy="1107758"/>
          </a:xfrm>
        </p:grpSpPr>
        <p:sp>
          <p:nvSpPr>
            <p:cNvPr id="46" name="Rectangle 46"/>
            <p:cNvSpPr/>
            <p:nvPr/>
          </p:nvSpPr>
          <p:spPr>
            <a:xfrm>
              <a:off x="533400" y="3933825"/>
              <a:ext cx="5626418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1797" y="4085749"/>
              <a:ext cx="14975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结点定义（标准 C 写法）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988" y="4344829"/>
              <a:ext cx="2097532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指针域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Node;</a:t>
              </a:r>
            </a:p>
          </p:txBody>
        </p:sp>
      </p:grpSp>
      <p:grpSp>
        <p:nvGrpSpPr>
          <p:cNvPr id="56" name="c1-callout-5"/>
          <p:cNvGrpSpPr/>
          <p:nvPr/>
        </p:nvGrpSpPr>
        <p:grpSpPr>
          <a:xfrm>
            <a:off x="533400" y="5207318"/>
            <a:ext cx="5626418" cy="702945"/>
            <a:chOff x="533400" y="5207318"/>
            <a:chExt cx="5626418" cy="702945"/>
          </a:xfrm>
        </p:grpSpPr>
        <p:sp>
          <p:nvSpPr>
            <p:cNvPr id="50" name="Rectangle 50"/>
            <p:cNvSpPr/>
            <p:nvPr/>
          </p:nvSpPr>
          <p:spPr>
            <a:xfrm>
              <a:off x="533400" y="520731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454133"/>
              <a:ext cx="224134" cy="192560"/>
              <a:chOff x="726129" y="5454133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55245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4541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602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351621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单链表只能沿 next 单向前进。要找某个结点的前驱，必须从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head 重新走一遍，这一点是本讲后面很多题目要绕开的地方。</a:t>
              </a:r>
            </a:p>
          </p:txBody>
        </p:sp>
      </p:grpSp>
      <p:grpSp>
        <p:nvGrpSpPr>
          <p:cNvPr id="65" name="c2-kv-1"/>
          <p:cNvGrpSpPr/>
          <p:nvPr/>
        </p:nvGrpSpPr>
        <p:grpSpPr>
          <a:xfrm>
            <a:off x="6458141" y="1545431"/>
            <a:ext cx="5200459" cy="997077"/>
            <a:chOff x="6458141" y="1545431"/>
            <a:chExt cx="5200459" cy="997077"/>
          </a:xfrm>
        </p:grpSpPr>
        <p:sp>
          <p:nvSpPr>
            <p:cNvPr id="57" name="TextBox 57"/>
            <p:cNvSpPr txBox="1"/>
            <p:nvPr/>
          </p:nvSpPr>
          <p:spPr>
            <a:xfrm>
              <a:off x="6458141" y="1545431"/>
              <a:ext cx="982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头指针 head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58291" y="154543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指向链表第一个结点的指针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18173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58141" y="1918811"/>
              <a:ext cx="891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尾结点 tail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58291" y="1918811"/>
              <a:ext cx="3190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链表的最后一个结点，它的 next 为 NULL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21907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58141" y="2293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表长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58291" y="229314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表中实际数据结点的个数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464618" y="2657475"/>
            <a:ext cx="5193982" cy="1691640"/>
            <a:chOff x="6464618" y="2657475"/>
            <a:chExt cx="5193982" cy="1691640"/>
          </a:xfrm>
        </p:grpSpPr>
        <p:sp>
          <p:nvSpPr>
            <p:cNvPr id="66" name="Rectangle 66"/>
            <p:cNvSpPr/>
            <p:nvPr/>
          </p:nvSpPr>
          <p:spPr>
            <a:xfrm>
              <a:off x="6464618" y="2657475"/>
              <a:ext cx="5193982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4142" y="2790825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3692" y="28384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69214" y="28713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术语提醒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99223" y="2877979"/>
              <a:ext cx="27966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“头结点”在两处指的不是同一个东西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93218" y="32470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48666" y="3194209"/>
              <a:ext cx="4622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5 页把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链表的第一个实际结点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称为头结点（表头）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693218" y="35318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48666" y="3479006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63 页引用的考研全国卷里，“带头结点的单链表”中的头结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点指的是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表前那个不存数据的哨位结点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78359" y="4003358"/>
              <a:ext cx="4866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本讲义只用“哨位结点”指后者，用“第 1 个结点”指前者，避免这个词的歧义。</a:t>
              </a:r>
            </a:p>
          </p:txBody>
        </p:sp>
      </p:grpSp>
      <p:grpSp>
        <p:nvGrpSpPr>
          <p:cNvPr id="82" name="c2-card-3"/>
          <p:cNvGrpSpPr/>
          <p:nvPr/>
        </p:nvGrpSpPr>
        <p:grpSpPr>
          <a:xfrm>
            <a:off x="6464618" y="4512945"/>
            <a:ext cx="5193982" cy="1396365"/>
            <a:chOff x="6464618" y="4512945"/>
            <a:chExt cx="5193982" cy="1396365"/>
          </a:xfrm>
        </p:grpSpPr>
        <p:sp>
          <p:nvSpPr>
            <p:cNvPr id="77" name="Rectangle 77"/>
            <p:cNvSpPr/>
            <p:nvPr/>
          </p:nvSpPr>
          <p:spPr>
            <a:xfrm>
              <a:off x="6464618" y="4512945"/>
              <a:ext cx="5193982" cy="1396365"/>
            </a:xfrm>
            <a:prstGeom prst="roundRect">
              <a:avLst>
                <a:gd name="adj" fmla="val 95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74142" y="4646295"/>
              <a:ext cx="47625" cy="11296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683692" y="469392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69214" y="472678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关于代码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77216" y="5034439"/>
              <a:ext cx="45727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源课件用了 C++ 的 `new` 与 `delete`，并直接写 `Node*`。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本讲义按标准 C 写：加 typedef 后 `Node*` 才合法，申请与释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放写成 `malloc` 与 `free`，算法本身一行没改。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42300" cy="909257"/>
            <a:chOff x="520446" y="342900"/>
            <a:chExt cx="84423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42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哨位结点：让“删第 1 个”和“删中间那个”走同一段代码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ells-1"/>
          <p:cNvGrpSpPr/>
          <p:nvPr/>
        </p:nvGrpSpPr>
        <p:grpSpPr>
          <a:xfrm>
            <a:off x="527304" y="1571149"/>
            <a:ext cx="4100894" cy="651986"/>
            <a:chOff x="527304" y="1571149"/>
            <a:chExt cx="4100894" cy="65198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9507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无哨位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3950" y="1828800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36017" y="19507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47812" y="182880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624012" y="199739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52588" y="202596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95488" y="198310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81212" y="1828800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93280" y="19507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05075" y="182880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581275" y="199739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609850" y="202596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52750" y="198310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38475" y="1828800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0542" y="19507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61385" y="182880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537585" y="199739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566160" y="202596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909060" y="198310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94785" y="1828800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07805" y="19507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18648" y="182880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79217" y="195834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6475" y="1571149"/>
              <a:ext cx="10778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 直接指向 a₁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7305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64" name="c1-cells-2"/>
          <p:cNvGrpSpPr/>
          <p:nvPr/>
        </p:nvGrpSpPr>
        <p:grpSpPr>
          <a:xfrm>
            <a:off x="527304" y="2450306"/>
            <a:ext cx="5524881" cy="651987"/>
            <a:chOff x="527304" y="2450306"/>
            <a:chExt cx="5524881" cy="651987"/>
          </a:xfrm>
        </p:grpSpPr>
        <p:sp>
          <p:nvSpPr>
            <p:cNvPr id="33" name="TextBox 33"/>
            <p:cNvSpPr txBox="1"/>
            <p:nvPr/>
          </p:nvSpPr>
          <p:spPr>
            <a:xfrm>
              <a:off x="527304" y="28298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有哨位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23950" y="2707958"/>
              <a:ext cx="51720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14437" y="282987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641158" y="270795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717358" y="28765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745932" y="29051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2088832" y="28622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174558" y="2707958"/>
              <a:ext cx="51720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33297" y="28298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691765" y="270795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2767965" y="28765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796540" y="29051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139440" y="28622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225165" y="2707958"/>
              <a:ext cx="51720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383905" y="28298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742372" y="270795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818572" y="28765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47148" y="29051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4190048" y="28622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75772" y="2707958"/>
              <a:ext cx="51720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34512" y="28298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92980" y="270795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869180" y="28765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4897755" y="29051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5240655" y="28622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26380" y="2707958"/>
              <a:ext cx="51720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85120" y="282987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42635" y="270795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03204" y="28374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8187" y="2450306"/>
              <a:ext cx="11477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 指向哨位结点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1343978" y="261270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4" name="c1-card-3"/>
          <p:cNvGrpSpPr/>
          <p:nvPr/>
        </p:nvGrpSpPr>
        <p:grpSpPr>
          <a:xfrm>
            <a:off x="533400" y="3282315"/>
            <a:ext cx="5842635" cy="3079432"/>
            <a:chOff x="533400" y="3282315"/>
            <a:chExt cx="5842635" cy="3079432"/>
          </a:xfrm>
        </p:grpSpPr>
        <p:sp>
          <p:nvSpPr>
            <p:cNvPr id="65" name="Rectangle 65"/>
            <p:cNvSpPr/>
            <p:nvPr/>
          </p:nvSpPr>
          <p:spPr>
            <a:xfrm>
              <a:off x="533400" y="3282315"/>
              <a:ext cx="5842635" cy="3079432"/>
            </a:xfrm>
            <a:prstGeom prst="roundRect">
              <a:avLst>
                <a:gd name="adj" fmla="val 4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2925" y="3415665"/>
              <a:ext cx="47625" cy="28127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69620" y="348043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65060" y="35147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19581" y="3515201"/>
              <a:ext cx="2156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删除第 1 个结点时的差别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77240" y="39185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3831" y="3859054"/>
              <a:ext cx="42164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没有哨位：a₁ 没有前驱结点，只能另写一段 `head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head-&gt;next;`，和删中间结点的代码不一样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77240" y="45081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33831" y="4447699"/>
              <a:ext cx="49557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有了哨位：a₁ 的前驱就是哨位结点，和别的结点一模一样，一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段代码全部覆盖</a:t>
              </a:r>
            </a:p>
          </p:txBody>
        </p:sp>
      </p:grpSp>
      <p:grpSp>
        <p:nvGrpSpPr>
          <p:cNvPr id="85" name="c2-card-1"/>
          <p:cNvGrpSpPr/>
          <p:nvPr/>
        </p:nvGrpSpPr>
        <p:grpSpPr>
          <a:xfrm>
            <a:off x="6680835" y="1524000"/>
            <a:ext cx="4977765" cy="2446972"/>
            <a:chOff x="6680835" y="1524000"/>
            <a:chExt cx="4977765" cy="2446972"/>
          </a:xfrm>
        </p:grpSpPr>
        <p:sp>
          <p:nvSpPr>
            <p:cNvPr id="75" name="Rectangle 75"/>
            <p:cNvSpPr/>
            <p:nvPr/>
          </p:nvSpPr>
          <p:spPr>
            <a:xfrm>
              <a:off x="6680835" y="1524000"/>
              <a:ext cx="4977765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690360" y="165735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91705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0849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00366" y="17568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哨位结点（哨兵结点）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09816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为了对表头结点插入、删除等操作的方便，通常在表的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前端增加一个特殊的表头结点，称其为哨位结点。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924675" y="27498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081266" y="2690336"/>
              <a:ext cx="40901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不被看作表中的实际结点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k 个结点指第 k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实际的表结点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924675" y="33394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081266" y="327898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表长指非哨位结点的个数；只剩哨位时即空链表，表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长为 0</a:t>
              </a:r>
            </a:p>
          </p:txBody>
        </p:sp>
      </p:grpSp>
      <p:grpSp>
        <p:nvGrpSpPr>
          <p:cNvPr id="97" name="c2-table-2"/>
          <p:cNvGrpSpPr/>
          <p:nvPr/>
        </p:nvGrpSpPr>
        <p:grpSpPr>
          <a:xfrm>
            <a:off x="6680835" y="4151948"/>
            <a:ext cx="4977765" cy="1273492"/>
            <a:chOff x="6680835" y="4151948"/>
            <a:chExt cx="4977765" cy="1273492"/>
          </a:xfrm>
        </p:grpSpPr>
        <p:sp>
          <p:nvSpPr>
            <p:cNvPr id="86" name="Rectangle 86"/>
            <p:cNvSpPr/>
            <p:nvPr/>
          </p:nvSpPr>
          <p:spPr>
            <a:xfrm>
              <a:off x="6680835" y="4151948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247954" y="42795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判断什么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494520" y="42795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带哨位的单链表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783324" y="47043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表是否为空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75929" y="4704398"/>
              <a:ext cx="1740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`head-&gt;next == NULL`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680835" y="49958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680835" y="500062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83324" y="5129212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个结点的前驱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75929" y="5129212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k−1 个，k = 1 时就是哨位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680835" y="4151948"/>
              <a:ext cx="497776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8468678" y="415194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3" name="c2-callout-3"/>
          <p:cNvGrpSpPr/>
          <p:nvPr/>
        </p:nvGrpSpPr>
        <p:grpSpPr>
          <a:xfrm>
            <a:off x="6680835" y="5605462"/>
            <a:ext cx="4977765" cy="756285"/>
            <a:chOff x="6680835" y="5605462"/>
            <a:chExt cx="4977765" cy="756285"/>
          </a:xfrm>
        </p:grpSpPr>
        <p:sp>
          <p:nvSpPr>
            <p:cNvPr id="98" name="Rectangle 98"/>
            <p:cNvSpPr/>
            <p:nvPr/>
          </p:nvSpPr>
          <p:spPr>
            <a:xfrm>
              <a:off x="6680835" y="560546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885623" y="5883595"/>
              <a:ext cx="200023" cy="200023"/>
              <a:chOff x="6885623" y="5883595"/>
              <a:chExt cx="200023" cy="200023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6885623" y="58835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018973" y="59502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7187946" y="5752624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哨位结点花掉一个结点的空间，换回来的是代码里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少掉一整组 if 分支。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29325" cy="909257"/>
            <a:chOff x="520446" y="342900"/>
            <a:chExt cx="49293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293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Find：从哨位出发，向后走 k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391827" cy="278702"/>
            <a:chOff x="526161" y="1547336"/>
            <a:chExt cx="73918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3918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源课件先用 ADL 伪代码描述，再给 C 代码。两者一一对应，考试答题写哪一种都可以。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1468755"/>
            <a:chOff x="533400" y="1941195"/>
            <a:chExt cx="5410200" cy="14687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773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ADL 伪代码（源课件第 8 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1976501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算法 Find(head, k, p)</a:t>
              </a:r>
              <a:br/>
              <a:r>
                <a:rPr lang="el-GR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k &lt; 0 THEN RETURN Λ.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 ← head.  i ← 0.</a:t>
              </a:r>
              <a:br/>
              <a:r>
                <a:rPr lang="el-GR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p ≠ Λ AND i &lt; k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 p ← next(p).  i ← i + 1. 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p. ▐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585210"/>
            <a:ext cx="5410200" cy="2690812"/>
            <a:chOff x="533400" y="3585210"/>
            <a:chExt cx="5410200" cy="2690812"/>
          </a:xfrm>
        </p:grpSpPr>
        <p:sp>
          <p:nvSpPr>
            <p:cNvPr id="13" name="Rectangle 13"/>
            <p:cNvSpPr/>
            <p:nvPr/>
          </p:nvSpPr>
          <p:spPr>
            <a:xfrm>
              <a:off x="533400" y="3585210"/>
              <a:ext cx="5410200" cy="2690812"/>
            </a:xfrm>
            <a:prstGeom prst="roundRect">
              <a:avLst>
                <a:gd name="adj" fmla="val 495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77761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1243" y="38119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三种返回情况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4378" y="41900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0397" y="4133850"/>
              <a:ext cx="2738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`k &lt; 0`：位置不合法，返回 NULL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4378" y="44929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0397" y="4436745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循环因 `i == k` 结束：p 就是第 k 个结点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34378" y="4795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0397" y="4739640"/>
              <a:ext cx="4542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循环因 `p == NULL` 结束：链表长度不足 k，返回 NULL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6248400" y="1941195"/>
            <a:ext cx="5410200" cy="1788795"/>
            <a:chOff x="6248400" y="1941195"/>
            <a:chExt cx="5410200" cy="1788795"/>
          </a:xfrm>
        </p:grpSpPr>
        <p:sp>
          <p:nvSpPr>
            <p:cNvPr id="23" name="Rectangle 23"/>
            <p:cNvSpPr/>
            <p:nvPr/>
          </p:nvSpPr>
          <p:spPr>
            <a:xfrm>
              <a:off x="6248400" y="1941195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797" y="2093119"/>
              <a:ext cx="1620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返回链表第 k 个结点的地址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6988" y="2353342"/>
              <a:ext cx="279234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Node *Find(Node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0)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位置不合法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*p = head;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指向哨位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p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i &lt; k; i++)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p-&gt;next;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905250"/>
            <a:ext cx="5410200" cy="1466850"/>
            <a:chOff x="6248400" y="3905250"/>
            <a:chExt cx="5410200" cy="1466850"/>
          </a:xfrm>
        </p:grpSpPr>
        <p:sp>
          <p:nvSpPr>
            <p:cNvPr id="27" name="Rectangle 27"/>
            <p:cNvSpPr/>
            <p:nvPr/>
          </p:nvSpPr>
          <p:spPr>
            <a:xfrm>
              <a:off x="6248400" y="390525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40386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8905" y="4097655"/>
              <a:ext cx="128968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5942" y="4131945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k 可以取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047" y="4453890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`Find(head, 0)` 返回的正是哨位结点。插入和删除都要先拿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到“第 k−1 个结点”，k = 1 时这个前驱就是哨位，靠的就是这条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248400" y="5547360"/>
            <a:ext cx="5410200" cy="729615"/>
            <a:chOff x="6248400" y="5547360"/>
            <a:chExt cx="5410200" cy="729615"/>
          </a:xfrm>
        </p:grpSpPr>
        <p:sp>
          <p:nvSpPr>
            <p:cNvPr id="33" name="Rectangle 33"/>
            <p:cNvSpPr/>
            <p:nvPr/>
          </p:nvSpPr>
          <p:spPr>
            <a:xfrm>
              <a:off x="6248400" y="554736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41129" y="5808463"/>
              <a:ext cx="224134" cy="192560"/>
              <a:chOff x="6441129" y="5808463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53200" y="58788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41129" y="58084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53200" y="59566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55892" y="5693092"/>
              <a:ext cx="44028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循环条件里 `p != NULL` 必须写在 `i &lt; k` 前面。先判空再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取 next，顺序反了就会在表长不足时解引用空指针。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91476" cy="909257"/>
            <a:chOff x="520446" y="342900"/>
            <a:chExt cx="74914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91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Search：按值查找，while 与 for 两种写法等价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592580"/>
            <a:chOff x="533400" y="1524000"/>
            <a:chExt cx="5410200" cy="15925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92580"/>
            </a:xfrm>
            <a:prstGeom prst="roundRect">
              <a:avLst>
                <a:gd name="adj" fmla="val 59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写法一，先走后判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2887472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Node *Search(Node *head,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*p = head-&gt;next;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指向第 1 个结点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p-&gt;data != item)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p-&gt;next;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扫描下一个结点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286125"/>
            <a:ext cx="5410200" cy="1592580"/>
            <a:chOff x="533400" y="3286125"/>
            <a:chExt cx="5410200" cy="1592580"/>
          </a:xfrm>
        </p:grpSpPr>
        <p:sp>
          <p:nvSpPr>
            <p:cNvPr id="11" name="Rectangle 11"/>
            <p:cNvSpPr/>
            <p:nvPr/>
          </p:nvSpPr>
          <p:spPr>
            <a:xfrm>
              <a:off x="533400" y="3286125"/>
              <a:ext cx="5410200" cy="1592580"/>
            </a:xfrm>
            <a:prstGeom prst="roundRect">
              <a:avLst>
                <a:gd name="adj" fmla="val 59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438049"/>
              <a:ext cx="124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写法二，用 for 遍历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697700"/>
              <a:ext cx="2472436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Node *Search(Node *head,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(Node *p = head-&gt;next; p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p = p-&gt;next)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(p-&gt;data == item)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6" name="c1-cells-3"/>
          <p:cNvGrpSpPr/>
          <p:nvPr/>
        </p:nvGrpSpPr>
        <p:grpSpPr>
          <a:xfrm>
            <a:off x="528447" y="5083969"/>
            <a:ext cx="5091303" cy="610077"/>
            <a:chOff x="528447" y="5083969"/>
            <a:chExt cx="5091303" cy="610077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5448776"/>
              <a:ext cx="792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查 item = a₃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405890" y="5325428"/>
              <a:ext cx="37433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55699" y="54487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779270" y="532542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855470" y="54806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884045" y="55092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226945" y="54663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12670" y="5325428"/>
              <a:ext cx="37433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19171" y="544877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687002" y="532542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763202" y="54806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791778" y="55092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134678" y="54663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20402" y="5325428"/>
              <a:ext cx="37433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26904" y="544877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594735" y="532542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670935" y="54806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699510" y="55092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042410" y="54663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28135" y="5325428"/>
              <a:ext cx="37433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34636" y="544877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02468" y="532542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578668" y="54806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607242" y="55092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950142" y="54663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035868" y="5325428"/>
              <a:ext cx="37433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42369" y="544877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410200" y="5325428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79856" y="54573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20201" y="5083969"/>
              <a:ext cx="9911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在这里停下并返回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4277678" y="52301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8" name="c1-text-4"/>
          <p:cNvGrpSpPr/>
          <p:nvPr/>
        </p:nvGrpSpPr>
        <p:grpSpPr>
          <a:xfrm>
            <a:off x="527685" y="5882164"/>
            <a:ext cx="5132070" cy="441008"/>
            <a:chOff x="527685" y="5882164"/>
            <a:chExt cx="5132070" cy="441008"/>
          </a:xfrm>
        </p:grpSpPr>
        <p:sp>
          <p:nvSpPr>
            <p:cNvPr id="47" name="TextBox 47"/>
            <p:cNvSpPr txBox="1"/>
            <p:nvPr/>
          </p:nvSpPr>
          <p:spPr>
            <a:xfrm>
              <a:off x="527685" y="5882164"/>
              <a:ext cx="513207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从哨位的下一个结点开始，逐个比较数据域，命中就停。表中没有这个值时 p 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一直走到 NULL。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248400" y="1524000"/>
            <a:ext cx="5410200" cy="1746885"/>
            <a:chOff x="6248400" y="1524000"/>
            <a:chExt cx="5410200" cy="1746885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1746885"/>
            </a:xfrm>
            <a:prstGeom prst="roundRect">
              <a:avLst>
                <a:gd name="adj" fmla="val 76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3509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0845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两种写法的读法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43662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9682" y="2054542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写法一：循环结束后 p 要么指向命中的结点，要么是 NULL，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返回值兼作找没找到的标志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43662" y="26689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99682" y="2612708"/>
              <a:ext cx="4237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写法二：命中时当场 return，走完全表才返回 NULL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29375" y="2908459"/>
              <a:ext cx="4677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写法二的循环体更短，写法一在“循环结束后还要用 p”的场合更方便。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248400" y="3441382"/>
            <a:ext cx="5410200" cy="1459230"/>
            <a:chOff x="6248400" y="3441382"/>
            <a:chExt cx="5410200" cy="1459230"/>
          </a:xfrm>
        </p:grpSpPr>
        <p:sp>
          <p:nvSpPr>
            <p:cNvPr id="58" name="Rectangle 58"/>
            <p:cNvSpPr/>
            <p:nvPr/>
          </p:nvSpPr>
          <p:spPr>
            <a:xfrm>
              <a:off x="6248400" y="344138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357473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3190" y="362807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7759" y="36609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前置条件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88339" y="3663315"/>
              <a:ext cx="2392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两段代码都写了 head-&gt;next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6332" y="3989070"/>
              <a:ext cx="44782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它们默认链表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带哨位结点且 head 非空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。如果 head 可能为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NULL，要在函数开头补一句 `if (head == NULL) return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NULL;`。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248400" y="5071110"/>
            <a:ext cx="5410200" cy="1208722"/>
            <a:chOff x="6248400" y="5071110"/>
            <a:chExt cx="5410200" cy="1208722"/>
          </a:xfrm>
        </p:grpSpPr>
        <p:sp>
          <p:nvSpPr>
            <p:cNvPr id="65" name="Rectangle 65"/>
            <p:cNvSpPr/>
            <p:nvPr/>
          </p:nvSpPr>
          <p:spPr>
            <a:xfrm>
              <a:off x="6248400" y="5071110"/>
              <a:ext cx="5410200" cy="1208722"/>
            </a:xfrm>
            <a:prstGeom prst="roundRect">
              <a:avLst>
                <a:gd name="adj" fmla="val 945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53188" y="5574983"/>
              <a:ext cx="200026" cy="200026"/>
              <a:chOff x="6453188" y="5574983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453188" y="55749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53200" y="56416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42088" y="56749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755892" y="5456873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按值查找无论怎么写都要从头扫，最坏和平均都是 O(n)，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前提是表中元素无序。有序也帮不上忙，链表不能做二分。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0636" cy="909257"/>
            <a:chOff x="520446" y="342900"/>
            <a:chExt cx="64006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06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删除第 k 个结点：真正要找的是第 k−1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cells-1"/>
          <p:cNvGrpSpPr/>
          <p:nvPr/>
        </p:nvGrpSpPr>
        <p:grpSpPr>
          <a:xfrm>
            <a:off x="527685" y="1569720"/>
            <a:ext cx="5308283" cy="630555"/>
            <a:chOff x="527685" y="1569720"/>
            <a:chExt cx="5308283" cy="630555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删除前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3470" y="1819275"/>
              <a:ext cx="48006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424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73530" y="181927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649730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8305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21205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06930" y="1819275"/>
              <a:ext cx="48006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67101" y="19397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aₖ₋₁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86990" y="181927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663190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691765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034665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120390" y="1819275"/>
              <a:ext cx="48006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67633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00450" y="181927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676650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705225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048125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33850" y="1819275"/>
              <a:ext cx="48006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93068" y="19397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aₖ₊₁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12958" y="181927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689158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717732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060632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46358" y="1819275"/>
              <a:ext cx="48006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37136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626418" y="181927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89959" y="19473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07213" y="15697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30886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20673" y="15697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32232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4" name="c1-code-2"/>
          <p:cNvGrpSpPr/>
          <p:nvPr/>
        </p:nvGrpSpPr>
        <p:grpSpPr>
          <a:xfrm>
            <a:off x="533400" y="2375535"/>
            <a:ext cx="5626418" cy="2108835"/>
            <a:chOff x="533400" y="2375535"/>
            <a:chExt cx="5626418" cy="2108835"/>
          </a:xfrm>
        </p:grpSpPr>
        <p:sp>
          <p:nvSpPr>
            <p:cNvPr id="41" name="Rectangle 41"/>
            <p:cNvSpPr/>
            <p:nvPr/>
          </p:nvSpPr>
          <p:spPr>
            <a:xfrm>
              <a:off x="533400" y="2375535"/>
              <a:ext cx="5626418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797" y="2527459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删除链表中第 k 个结点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988" y="2787682"/>
              <a:ext cx="2926461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Delete(Node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1)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不能删哨位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*p = Find(head, k - 1);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p-&gt;next ==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k 个不存在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*q = p-&gt;next;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p-&gt;next = q-&gt;next;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修改 p 的 next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free(q);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释放 q 的空间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0" name="c1-cells-3"/>
          <p:cNvGrpSpPr/>
          <p:nvPr/>
        </p:nvGrpSpPr>
        <p:grpSpPr>
          <a:xfrm>
            <a:off x="527685" y="4705350"/>
            <a:ext cx="4680585" cy="630555"/>
            <a:chOff x="527685" y="4705350"/>
            <a:chExt cx="4680585" cy="630555"/>
          </a:xfrm>
        </p:grpSpPr>
        <p:sp>
          <p:nvSpPr>
            <p:cNvPr id="45" name="TextBox 45"/>
            <p:cNvSpPr txBox="1"/>
            <p:nvPr/>
          </p:nvSpPr>
          <p:spPr>
            <a:xfrm>
              <a:off x="527685" y="50753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删除后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93470" y="4954905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31874" y="5075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669732" y="495490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745932" y="511683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774508" y="514540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117408" y="510254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203132" y="4954905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310928" y="50753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aₖ₋₁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779395" y="495490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2855595" y="511683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2884170" y="514540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3227070" y="510254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312795" y="4954905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20591" y="50753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aₖ₊₁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889058" y="495490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3965258" y="511683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993832" y="514540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4336732" y="510254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422458" y="4954905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60861" y="5075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998720" y="495490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062262" y="508301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56199" y="4705350"/>
              <a:ext cx="14691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p，aₖ 之外一个结点都没动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2452688" y="48596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4" name="c2-steps-1"/>
          <p:cNvGrpSpPr/>
          <p:nvPr/>
        </p:nvGrpSpPr>
        <p:grpSpPr>
          <a:xfrm>
            <a:off x="6464618" y="1533525"/>
            <a:ext cx="4246945" cy="1693069"/>
            <a:chOff x="6464618" y="1533525"/>
            <a:chExt cx="4246945" cy="1693069"/>
          </a:xfrm>
        </p:grpSpPr>
        <p:sp>
          <p:nvSpPr>
            <p:cNvPr id="71" name="Rectangle 71"/>
            <p:cNvSpPr/>
            <p:nvPr/>
          </p:nvSpPr>
          <p:spPr>
            <a:xfrm>
              <a:off x="6597968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64618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58241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64618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58241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76860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878002" y="1833086"/>
              <a:ext cx="3443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 = Find(head, k-1)`，让 p 指向待删结点的前驱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876860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摘链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78002" y="2419826"/>
              <a:ext cx="3833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`q = p-&gt;next; p-&gt;next = q-&gt;next;` 把 q 从链上摘下来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876860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归还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78002" y="3006566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`free(q)` 把这块空间还给系统</a:t>
              </a:r>
            </a:p>
          </p:txBody>
        </p:sp>
      </p:grpSp>
      <p:grpSp>
        <p:nvGrpSpPr>
          <p:cNvPr id="94" name="c2-card-2"/>
          <p:cNvGrpSpPr/>
          <p:nvPr/>
        </p:nvGrpSpPr>
        <p:grpSpPr>
          <a:xfrm>
            <a:off x="6464618" y="3395662"/>
            <a:ext cx="5193982" cy="2240280"/>
            <a:chOff x="6464618" y="3395662"/>
            <a:chExt cx="5193982" cy="2240280"/>
          </a:xfrm>
        </p:grpSpPr>
        <p:sp>
          <p:nvSpPr>
            <p:cNvPr id="85" name="Rectangle 85"/>
            <p:cNvSpPr/>
            <p:nvPr/>
          </p:nvSpPr>
          <p:spPr>
            <a:xfrm>
              <a:off x="6464618" y="3395662"/>
              <a:ext cx="5193982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74142" y="3529012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695122" y="358806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70561" y="362235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两个顺序问题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6703695" y="40005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59714" y="3944302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 q 记住待删结点。直接写 `p-&gt;next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p-&gt;next-&gt;next` 会丢掉它的地址，造成内存泄漏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703695" y="45605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859714" y="4504372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先读完 `q-&gt;next` 再 `free(q)`。反过来是对已释放内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存的解引用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89408" y="5060156"/>
              <a:ext cx="45062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源课件用 ADL 的 `AVAIL ⇐ q` 表示释放、`q ⇐ AVAIL` 表示申请，对应 C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 free 与 malloc。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5" name="Rectangle 9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在链表中插入或删除一个结点，只需改变一个或两个相关结点的指针，不对其它结点产生影响。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1571" cy="909257"/>
            <a:chOff x="520446" y="342900"/>
            <a:chExt cx="59415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15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Insert：两行赋值，顺序反了链表就断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cells-1"/>
          <p:cNvGrpSpPr/>
          <p:nvPr/>
        </p:nvGrpSpPr>
        <p:grpSpPr>
          <a:xfrm>
            <a:off x="527685" y="1569720"/>
            <a:ext cx="5308283" cy="1433513"/>
            <a:chOff x="527685" y="1569720"/>
            <a:chExt cx="5308283" cy="1433513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340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3470" y="1819275"/>
              <a:ext cx="5762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31874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69732" y="181927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745932" y="19754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4508" y="20040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117408" y="19611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203132" y="1819275"/>
              <a:ext cx="5762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98000" y="193405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79395" y="181927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855595" y="19754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884170" y="20040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227070" y="19611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12795" y="1819275"/>
              <a:ext cx="5762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0591" y="193405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aₖ₊₁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89058" y="181927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965258" y="197548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993832" y="200406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336732" y="19611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22458" y="1819275"/>
              <a:ext cx="5762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60861" y="1934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98720" y="181927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62262" y="194167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51041" y="15697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45268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27484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插入后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93470" y="2634615"/>
              <a:ext cx="48006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84249" y="2748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573530" y="263461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649730" y="278987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678305" y="281844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021205" y="27755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06930" y="2634615"/>
              <a:ext cx="48006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254173" y="27484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86990" y="263461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2663190" y="278987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2691765" y="281844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3034665" y="27755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120390" y="2634615"/>
              <a:ext cx="48006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11169" y="2748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600450" y="263461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676650" y="278987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3705225" y="281844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4048125" y="27755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133850" y="2634615"/>
              <a:ext cx="48006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93068" y="274843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aₖ₊₁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12958" y="263461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4689158" y="278987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4717732" y="281844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060632" y="277558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146358" y="2634615"/>
              <a:ext cx="48006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7136" y="2748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626418" y="263461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89959" y="275605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07213" y="23850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2308860" y="25393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67" name="c1-code-2"/>
          <p:cNvGrpSpPr/>
          <p:nvPr/>
        </p:nvGrpSpPr>
        <p:grpSpPr>
          <a:xfrm>
            <a:off x="533400" y="3172778"/>
            <a:ext cx="5626418" cy="2056448"/>
            <a:chOff x="533400" y="3172778"/>
            <a:chExt cx="5626418" cy="2056448"/>
          </a:xfrm>
        </p:grpSpPr>
        <p:sp>
          <p:nvSpPr>
            <p:cNvPr id="64" name="Rectangle 64"/>
            <p:cNvSpPr/>
            <p:nvPr/>
          </p:nvSpPr>
          <p:spPr>
            <a:xfrm>
              <a:off x="533400" y="3172778"/>
              <a:ext cx="5626418" cy="2056448"/>
            </a:xfrm>
            <a:prstGeom prst="roundRect">
              <a:avLst>
                <a:gd name="adj" fmla="val 463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97" y="3324701"/>
              <a:ext cx="1695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在第 k 个结点之后插入 item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988" y="3584353"/>
              <a:ext cx="2778252" cy="15563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Insert(Node *head,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0)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位置不合法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*p = Find(head, k);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无第 k 个结点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*s = (Node *)malloc(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(Node));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s-&gt;data = item;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s-&gt;next = p-&gt;next;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先接后继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p-&gt;next = s;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再改前驱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8" name="c2-compare-1"/>
          <p:cNvGrpSpPr/>
          <p:nvPr/>
        </p:nvGrpSpPr>
        <p:grpSpPr>
          <a:xfrm>
            <a:off x="6464618" y="1524000"/>
            <a:ext cx="5193982" cy="2038350"/>
            <a:chOff x="6464618" y="1524000"/>
            <a:chExt cx="5193982" cy="2038350"/>
          </a:xfrm>
        </p:grpSpPr>
        <p:sp>
          <p:nvSpPr>
            <p:cNvPr id="68" name="Rectangle 68"/>
            <p:cNvSpPr/>
            <p:nvPr/>
          </p:nvSpPr>
          <p:spPr>
            <a:xfrm>
              <a:off x="6464618" y="1524000"/>
              <a:ext cx="2367915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74142" y="1657350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82549" y="173259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97980" y="21059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53999" y="2049780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s-&gt;next = p-&gt;next;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697980" y="24060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53999" y="23498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p-&gt;next = s;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697980" y="27070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53999" y="2650808"/>
              <a:ext cx="16082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先让 s 记住 p 原来的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后继，再让 p 指向 s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290685" y="1524000"/>
              <a:ext cx="2367915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9300210" y="1657350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508617" y="173259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524048" y="21059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680067" y="2049780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p-&gt;next = s;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9524048" y="24060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680067" y="234981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s-&gt;next = p-&gt;next;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524048" y="27070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680067" y="2650808"/>
              <a:ext cx="17024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原来的后继地址已被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覆盖，第二行等于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s-&gt;next = s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8881110" y="2362200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936164" y="248697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</p:grpSp>
      <p:grpSp>
        <p:nvGrpSpPr>
          <p:cNvPr id="93" name="c2-card-2"/>
          <p:cNvGrpSpPr/>
          <p:nvPr/>
        </p:nvGrpSpPr>
        <p:grpSpPr>
          <a:xfrm>
            <a:off x="6464618" y="3731895"/>
            <a:ext cx="5193982" cy="1443038"/>
            <a:chOff x="6464618" y="3731895"/>
            <a:chExt cx="5193982" cy="1443038"/>
          </a:xfrm>
        </p:grpSpPr>
        <p:sp>
          <p:nvSpPr>
            <p:cNvPr id="89" name="Rectangle 89"/>
            <p:cNvSpPr/>
            <p:nvPr/>
          </p:nvSpPr>
          <p:spPr>
            <a:xfrm>
              <a:off x="6464618" y="3731895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651308" y="3918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743979" y="3951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644449" y="426339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先连新结点的出边，再改旧结点的出边。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任何链表插入都遵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守这一条：先把要断开的那个地址存下来或接到新结点上，再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去覆盖它。</a:t>
              </a:r>
            </a:p>
          </p:txBody>
        </p:sp>
      </p:grpSp>
      <p:grpSp>
        <p:nvGrpSpPr>
          <p:cNvPr id="100" name="c2-callout-3"/>
          <p:cNvGrpSpPr/>
          <p:nvPr/>
        </p:nvGrpSpPr>
        <p:grpSpPr>
          <a:xfrm>
            <a:off x="6464618" y="5345430"/>
            <a:ext cx="5193982" cy="978218"/>
            <a:chOff x="6464618" y="5345430"/>
            <a:chExt cx="5193982" cy="978218"/>
          </a:xfrm>
        </p:grpSpPr>
        <p:sp>
          <p:nvSpPr>
            <p:cNvPr id="94" name="Rectangle 94"/>
            <p:cNvSpPr/>
            <p:nvPr/>
          </p:nvSpPr>
          <p:spPr>
            <a:xfrm>
              <a:off x="6464618" y="5345430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669405" y="5734050"/>
              <a:ext cx="200026" cy="200025"/>
              <a:chOff x="6669405" y="5734050"/>
              <a:chExt cx="200026" cy="200025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6669405" y="57340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709144" y="57785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743859" y="58896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972110" y="5491162"/>
              <a:ext cx="43256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`Insert(head, 0, item)` 就是头插：Find 返回哨位，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新结点被插在哨位和原第 1 个结点之间。不需要为头插单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写一个函数。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单链表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单链表四个操作的复杂度，以及每一条的前提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2800350"/>
            <a:chOff x="533400" y="1524000"/>
            <a:chExt cx="6276022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320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3512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04995" y="16454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这个结论成立的前提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1070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Find(head, k)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62188" y="2145506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66122" y="2045494"/>
              <a:ext cx="32758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只能沿 next 逐个走，最坏走 n 步；没有公式能直接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算地址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99715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Search(head,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2188" y="2745581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6122" y="274558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表中元素无序，最坏扫完全表；有序也不能二分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24564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已知前驱 p 时插入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62188" y="3245644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66122" y="3245644"/>
              <a:ext cx="268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 2 次赋值和 1 次 malloc，与 n 无关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6456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已知前驱 p 时删除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2188" y="3645694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66122" y="3645694"/>
              <a:ext cx="2567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 1 次赋值和 1 次 free，与 n 无关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04574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k 插入或删除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62188" y="4045744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66122" y="4045744"/>
              <a:ext cx="2930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前驱还要先 Find 一次，找的过程就是 O(n)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6027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16420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493895"/>
            <a:ext cx="6276022" cy="1854518"/>
            <a:chOff x="533400" y="4493895"/>
            <a:chExt cx="6276022" cy="1854518"/>
          </a:xfrm>
        </p:grpSpPr>
        <p:sp>
          <p:nvSpPr>
            <p:cNvPr id="36" name="Rectangle 36"/>
            <p:cNvSpPr/>
            <p:nvPr/>
          </p:nvSpPr>
          <p:spPr>
            <a:xfrm>
              <a:off x="533400" y="4493895"/>
              <a:ext cx="6276022" cy="1854518"/>
            </a:xfrm>
            <a:prstGeom prst="roundRect">
              <a:avLst>
                <a:gd name="adj" fmla="val 616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317926"/>
              <a:ext cx="224134" cy="192560"/>
              <a:chOff x="726129" y="531792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3882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3179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4660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202555"/>
              <a:ext cx="52943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教材里“链表插入删除是 O(1)”是省略了前提的说法。完整的说法是：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在已经拿到前驱指针的前提下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 O(1)，从 k 开始算则是 O(n)。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2021205"/>
            <a:chOff x="7114222" y="1524000"/>
            <a:chExt cx="4544378" cy="2021205"/>
          </a:xfrm>
        </p:grpSpPr>
        <p:sp>
          <p:nvSpPr>
            <p:cNvPr id="43" name="Rectangle 43"/>
            <p:cNvSpPr/>
            <p:nvPr/>
          </p:nvSpPr>
          <p:spPr>
            <a:xfrm>
              <a:off x="7114222" y="1524000"/>
              <a:ext cx="4544378" cy="2021205"/>
            </a:xfrm>
            <a:prstGeom prst="roundRect">
              <a:avLst>
                <a:gd name="adj" fmla="val 6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23748" y="1657350"/>
              <a:ext cx="47625" cy="17545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3901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3073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04607" y="17459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为什么顺序表正好反过来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47585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3604" y="2071688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顺序表取第 i 个：`Loc(a₀) + i × L` 一步算出，</a:t>
              </a:r>
              <a:br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47585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03604" y="2628900"/>
              <a:ext cx="34855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顺序表在中间插入：平均要后移 n/2 个元素，</a:t>
              </a:r>
              <a:br/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33298" y="3182779"/>
              <a:ext cx="3207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链表把代价花在“找”，顺序表把代价花在“搬”。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7114222" y="3714750"/>
            <a:ext cx="4544378" cy="1485900"/>
            <a:chOff x="7114222" y="3714750"/>
            <a:chExt cx="4544378" cy="1485900"/>
          </a:xfrm>
        </p:grpSpPr>
        <p:sp>
          <p:nvSpPr>
            <p:cNvPr id="54" name="Rectangle 54"/>
            <p:cNvSpPr/>
            <p:nvPr/>
          </p:nvSpPr>
          <p:spPr>
            <a:xfrm>
              <a:off x="7114222" y="3714750"/>
              <a:ext cx="4544378" cy="1485900"/>
            </a:xfrm>
            <a:prstGeom prst="roundRect">
              <a:avLst>
                <a:gd name="adj" fmla="val 89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00912" y="39014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85482" y="39343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选择依据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09485" y="43024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65504" y="4246245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建好之后主要按下标读、很少改动，选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09485" y="46024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65504" y="4546282"/>
              <a:ext cx="38370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频繁在中间插入删除、总量事先不知道，选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链接存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储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7114222" y="5371148"/>
            <a:ext cx="4544378" cy="978218"/>
            <a:chOff x="7114222" y="5371148"/>
            <a:chExt cx="4544378" cy="978218"/>
          </a:xfrm>
        </p:grpSpPr>
        <p:sp>
          <p:nvSpPr>
            <p:cNvPr id="62" name="Rectangle 62"/>
            <p:cNvSpPr/>
            <p:nvPr/>
          </p:nvSpPr>
          <p:spPr>
            <a:xfrm>
              <a:off x="7114222" y="5371148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19010" y="5759768"/>
              <a:ext cx="200026" cy="200026"/>
              <a:chOff x="7319010" y="575976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19010" y="5759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419023" y="5826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407910" y="58597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621714" y="5516880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第三部分会把这两种存储的空间开销和时间开销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并排列出来，本页只需要先记住链表的“慢在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找、快在改”。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循环链表与双向链表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把尾指回头，再给每个结点补一个前驱指针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循环链表的判空与判表尾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双向链表的结点结构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删除结点的三种边界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双向循环链表的删除与插入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41088" cy="909257"/>
            <a:chOff x="520446" y="342900"/>
            <a:chExt cx="58410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循环链表与双向链表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410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循环链表：把尾结点的 next 指回哨位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160145"/>
            <a:chOff x="533400" y="1524000"/>
            <a:chExt cx="5842635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781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循环链表（Circular Linked List）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036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把链接结构“循环化”，即把表尾结点的 next 域存放指向哨位结点的指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针，而不是存放空指针 NULL，这样的单链表被称为循环链表。</a:t>
              </a:r>
            </a:p>
          </p:txBody>
        </p:sp>
      </p:grpSp>
      <p:grpSp>
        <p:nvGrpSpPr>
          <p:cNvPr id="30" name="c1-graph-2"/>
          <p:cNvGrpSpPr/>
          <p:nvPr/>
        </p:nvGrpSpPr>
        <p:grpSpPr>
          <a:xfrm>
            <a:off x="920115" y="2874169"/>
            <a:ext cx="4829175" cy="2165222"/>
            <a:chOff x="920115" y="2874169"/>
            <a:chExt cx="4829175" cy="2165222"/>
          </a:xfrm>
        </p:grpSpPr>
        <p:sp>
          <p:nvSpPr>
            <p:cNvPr id="14" name="Freeform 14"/>
            <p:cNvSpPr/>
            <p:nvPr/>
          </p:nvSpPr>
          <p:spPr>
            <a:xfrm>
              <a:off x="1664970" y="3550920"/>
              <a:ext cx="802958" cy="9525"/>
            </a:xfrm>
            <a:custGeom>
              <a:avLst/>
              <a:gdLst/>
              <a:ahLst/>
              <a:cxnLst/>
              <a:rect l="l" t="t" r="r" b="b"/>
              <a:pathLst>
                <a:path w="802958" h="9525">
                  <a:moveTo>
                    <a:pt x="0" y="0"/>
                  </a:moveTo>
                  <a:lnTo>
                    <a:pt x="8029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467928" y="3503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178492" y="3550920"/>
              <a:ext cx="843915" cy="9525"/>
            </a:xfrm>
            <a:custGeom>
              <a:avLst/>
              <a:gdLst/>
              <a:ahLst/>
              <a:cxnLst/>
              <a:rect l="l" t="t" r="r" b="b"/>
              <a:pathLst>
                <a:path w="843915" h="9525">
                  <a:moveTo>
                    <a:pt x="0" y="0"/>
                  </a:moveTo>
                  <a:lnTo>
                    <a:pt x="8439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71950" y="3550920"/>
              <a:ext cx="866775" cy="9525"/>
            </a:xfrm>
            <a:custGeom>
              <a:avLst/>
              <a:gdLst/>
              <a:ahLst/>
              <a:cxnLst/>
              <a:rect l="l" t="t" r="r" b="b"/>
              <a:pathLst>
                <a:path w="866775" h="952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38725" y="3503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292542" y="3729990"/>
              <a:ext cx="4149090" cy="942975"/>
            </a:xfrm>
            <a:custGeom>
              <a:avLst/>
              <a:gdLst/>
              <a:ahLst/>
              <a:cxnLst/>
              <a:rect l="l" t="t" r="r" b="b"/>
              <a:pathLst>
                <a:path w="4149090" h="942975">
                  <a:moveTo>
                    <a:pt x="4149090" y="0"/>
                  </a:moveTo>
                  <a:lnTo>
                    <a:pt x="4149090" y="942975"/>
                  </a:lnTo>
                  <a:lnTo>
                    <a:pt x="0" y="942975"/>
                  </a:lnTo>
                  <a:lnTo>
                    <a:pt x="0" y="952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44918" y="3729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20115" y="3380422"/>
              <a:ext cx="744855" cy="340042"/>
            </a:xfrm>
            <a:prstGeom prst="roundRect">
              <a:avLst>
                <a:gd name="adj" fmla="val 280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63178" y="3380422"/>
              <a:ext cx="61531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33975" y="3380422"/>
              <a:ext cx="61531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45857" y="34851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3871" y="34851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51506" y="34851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54668" y="34851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5213" y="287416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54513" y="4848701"/>
              <a:ext cx="1434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尾结点的 next 指回哨位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680835" y="1524000"/>
            <a:ext cx="4977765" cy="1487805"/>
            <a:chOff x="6680835" y="1524000"/>
            <a:chExt cx="4977765" cy="1487805"/>
          </a:xfrm>
        </p:grpSpPr>
        <p:sp>
          <p:nvSpPr>
            <p:cNvPr id="31" name="Rectangle 31"/>
            <p:cNvSpPr/>
            <p:nvPr/>
          </p:nvSpPr>
          <p:spPr>
            <a:xfrm>
              <a:off x="6680835" y="1524000"/>
              <a:ext cx="497776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6491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80945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单链表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36911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循环链表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4370" y="21788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表是否为空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7891" y="2065496"/>
              <a:ext cx="12240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`head-&gt;next ==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NULL`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10013" y="2065496"/>
              <a:ext cx="12240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`head-&gt;next ==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head`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25860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0835" y="2590800"/>
              <a:ext cx="497776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4370" y="2712244"/>
              <a:ext cx="120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是否为尾结点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7891" y="2712244"/>
              <a:ext cx="1576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`p-&gt;next == NULL`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10013" y="2712244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`p-&gt;next == head`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1524000"/>
              <a:ext cx="4977765" cy="14878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69592" y="1524000"/>
              <a:ext cx="9525" cy="14878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11715" y="1524000"/>
              <a:ext cx="9525" cy="14878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6680835" y="3176588"/>
            <a:ext cx="4977765" cy="1143952"/>
            <a:chOff x="6680835" y="3176588"/>
            <a:chExt cx="4977765" cy="1143952"/>
          </a:xfrm>
        </p:grpSpPr>
        <p:sp>
          <p:nvSpPr>
            <p:cNvPr id="47" name="Rectangle 47"/>
            <p:cNvSpPr/>
            <p:nvPr/>
          </p:nvSpPr>
          <p:spPr>
            <a:xfrm>
              <a:off x="6680835" y="3176588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61810" y="33575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43280" y="33904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带来的好处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55333" y="3697129"/>
              <a:ext cx="43370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循环链表使我们可从链表的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任何位置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开始，访问链表中的任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一结点，不必先回到表头。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680835" y="4485322"/>
            <a:ext cx="4977765" cy="702945"/>
            <a:chOff x="6680835" y="4485322"/>
            <a:chExt cx="4977765" cy="702945"/>
          </a:xfrm>
        </p:grpSpPr>
        <p:sp>
          <p:nvSpPr>
            <p:cNvPr id="52" name="Rectangle 52"/>
            <p:cNvSpPr/>
            <p:nvPr/>
          </p:nvSpPr>
          <p:spPr>
            <a:xfrm>
              <a:off x="6680835" y="4485322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885623" y="4736783"/>
              <a:ext cx="200026" cy="200025"/>
              <a:chOff x="6885623" y="473678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885623" y="47367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925361" y="47812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960077" y="48923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188708" y="462962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若待解决的问题所涉及的线性结构本身是环形的（约瑟夫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环、轮转调度、环形缓冲区），就可以考虑循环链表。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8243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改成循环链表后，所有以 `p != NULL` 作为结束条件的遍历都要改成 `p != head`，否则会绕着环无限循环。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8018" cy="909257"/>
            <a:chOff x="520446" y="342900"/>
            <a:chExt cx="72880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循环链表与双向链表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8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双向链表：多存一个前驱，换来“往回走”的能力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786890"/>
            <a:chOff x="533400" y="1524000"/>
            <a:chExt cx="5410200" cy="1786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772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双向链表（Doubly Linked List）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每个结点有两个指针域：prev 指向其前驱，next 指向其后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4985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方便找结点的前驱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。单链表里找前驱要从头再走一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遍，是 O(n)</a:t>
              </a:r>
            </a:p>
          </p:txBody>
        </p:sp>
      </p:grpSp>
      <p:grpSp>
        <p:nvGrpSpPr>
          <p:cNvPr id="24" name="c1-cells-2"/>
          <p:cNvGrpSpPr/>
          <p:nvPr/>
        </p:nvGrpSpPr>
        <p:grpSpPr>
          <a:xfrm>
            <a:off x="527685" y="3485198"/>
            <a:ext cx="2152649" cy="381000"/>
            <a:chOff x="527685" y="3485198"/>
            <a:chExt cx="2152649" cy="381000"/>
          </a:xfrm>
        </p:grpSpPr>
        <p:sp>
          <p:nvSpPr>
            <p:cNvPr id="17" name="TextBox 17"/>
            <p:cNvSpPr txBox="1"/>
            <p:nvPr/>
          </p:nvSpPr>
          <p:spPr>
            <a:xfrm>
              <a:off x="527685" y="36066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1548" y="3485198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9343" y="36066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27810" y="3485198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35606" y="36066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104072" y="3485198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1868" y="36066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</p:grpSp>
      <p:grpSp>
        <p:nvGrpSpPr>
          <p:cNvPr id="28" name="c1-code-3"/>
          <p:cNvGrpSpPr/>
          <p:nvPr/>
        </p:nvGrpSpPr>
        <p:grpSpPr>
          <a:xfrm>
            <a:off x="533400" y="4042410"/>
            <a:ext cx="5410200" cy="1308735"/>
            <a:chOff x="533400" y="4042410"/>
            <a:chExt cx="5410200" cy="1308735"/>
          </a:xfrm>
        </p:grpSpPr>
        <p:sp>
          <p:nvSpPr>
            <p:cNvPr id="25" name="Rectangle 25"/>
            <p:cNvSpPr/>
            <p:nvPr/>
          </p:nvSpPr>
          <p:spPr>
            <a:xfrm>
              <a:off x="533400" y="4042410"/>
              <a:ext cx="5410200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419433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双向链表结点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988" y="4453604"/>
              <a:ext cx="2138553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*prev;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前驱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后继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Node;</a:t>
              </a:r>
            </a:p>
          </p:txBody>
        </p:sp>
      </p:grpSp>
      <p:grpSp>
        <p:nvGrpSpPr>
          <p:cNvPr id="64" name="c2-cells-1"/>
          <p:cNvGrpSpPr/>
          <p:nvPr/>
        </p:nvGrpSpPr>
        <p:grpSpPr>
          <a:xfrm>
            <a:off x="6242685" y="1524000"/>
            <a:ext cx="5092065" cy="381000"/>
            <a:chOff x="6242685" y="1524000"/>
            <a:chExt cx="5092065" cy="381000"/>
          </a:xfrm>
        </p:grpSpPr>
        <p:sp>
          <p:nvSpPr>
            <p:cNvPr id="29" name="TextBox 29"/>
            <p:cNvSpPr txBox="1"/>
            <p:nvPr/>
          </p:nvSpPr>
          <p:spPr>
            <a:xfrm>
              <a:off x="6242685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66548" y="1524000"/>
              <a:ext cx="29908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3422" y="16444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64680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040880" y="16859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069455" y="1714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412355" y="16716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98080" y="1524000"/>
              <a:ext cx="2990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4835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797165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873365" y="16859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901940" y="1714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244840" y="16716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30565" y="1524000"/>
              <a:ext cx="2990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87320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628698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704898" y="16859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733472" y="1714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076372" y="16716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62098" y="1524000"/>
              <a:ext cx="2990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6238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461182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537382" y="16859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565958" y="1714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908858" y="16716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994582" y="1524000"/>
              <a:ext cx="2990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5133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292715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368915" y="168592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397490" y="1714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40390" y="16716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826115" y="1524000"/>
              <a:ext cx="29908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23942" y="16444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125200" y="152400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188742" y="165211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68" name="c2-code-2"/>
          <p:cNvGrpSpPr/>
          <p:nvPr/>
        </p:nvGrpSpPr>
        <p:grpSpPr>
          <a:xfrm>
            <a:off x="6248400" y="2080260"/>
            <a:ext cx="5410200" cy="1308735"/>
            <a:chOff x="6248400" y="2080260"/>
            <a:chExt cx="5410200" cy="1308735"/>
          </a:xfrm>
        </p:grpSpPr>
        <p:sp>
          <p:nvSpPr>
            <p:cNvPr id="65" name="Rectangle 65"/>
            <p:cNvSpPr/>
            <p:nvPr/>
          </p:nvSpPr>
          <p:spPr>
            <a:xfrm>
              <a:off x="6248400" y="2080260"/>
              <a:ext cx="5410200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76797" y="2232184"/>
              <a:ext cx="18427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删除非哨位结点 s（常规情况）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76988" y="2492407"/>
              <a:ext cx="2015617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Node *prev = s-&gt;prev;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Node *next = s-&gt;next;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prev-&gt;next = next;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步骤 ①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next-&gt;prev = prev;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步骤 ②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free(s);</a:t>
              </a:r>
            </a:p>
          </p:txBody>
        </p:sp>
      </p:grpSp>
      <p:grpSp>
        <p:nvGrpSpPr>
          <p:cNvPr id="73" name="c2-card-3"/>
          <p:cNvGrpSpPr/>
          <p:nvPr/>
        </p:nvGrpSpPr>
        <p:grpSpPr>
          <a:xfrm>
            <a:off x="6248400" y="3564255"/>
            <a:ext cx="5410200" cy="1786890"/>
            <a:chOff x="6248400" y="3564255"/>
            <a:chExt cx="5410200" cy="1786890"/>
          </a:xfrm>
        </p:grpSpPr>
        <p:sp>
          <p:nvSpPr>
            <p:cNvPr id="69" name="Rectangle 69"/>
            <p:cNvSpPr/>
            <p:nvPr/>
          </p:nvSpPr>
          <p:spPr>
            <a:xfrm>
              <a:off x="6248400" y="3564255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40805" y="375666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04242" y="37909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为什么删除只要五行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33947" y="4112895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双向链表里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待删结点自己就知道前驱是谁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，不必再传入或再查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找一次。单链表删除 s 时必须另外给出 s 的前驱。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74" name="Rectangle 7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5779770"/>
              <a:ext cx="98635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上面这五行有两个隐含假设：s-&gt;prev 非空、s-&gt;next 非空。s 是第 1 个或最后 1 个结点时，这两个假设各会破掉一个。下一页处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理。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54880" cy="909257"/>
            <a:chOff x="520446" y="342900"/>
            <a:chExt cx="77548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循环链表与双向链表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54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两个边界：s 是第 1 个结点，或 s 是最后 1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同一段代码，在这两种情况下会分别在哪一行崩溃，以及标准的修补办法。</a:t>
              </a:r>
            </a:p>
          </p:txBody>
        </p:sp>
      </p:grpSp>
      <p:grpSp>
        <p:nvGrpSpPr>
          <p:cNvPr id="34" name="c1-cells-1"/>
          <p:cNvGrpSpPr/>
          <p:nvPr/>
        </p:nvGrpSpPr>
        <p:grpSpPr>
          <a:xfrm>
            <a:off x="527685" y="1986915"/>
            <a:ext cx="4051935" cy="630555"/>
            <a:chOff x="527685" y="1986915"/>
            <a:chExt cx="4051935" cy="630555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357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无哨位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93470" y="223647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0233" y="235791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12570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588770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7345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60245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45970" y="22364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62733" y="235791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65070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541270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569845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912745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98470" y="22364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58769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17570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493770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522345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865245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50970" y="22364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67733" y="235791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370070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33612" y="236553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808" y="1986915"/>
              <a:ext cx="7104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s（第 1 个）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264920" y="21412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2793682"/>
            <a:ext cx="5410200" cy="1786890"/>
            <a:chOff x="533400" y="2793682"/>
            <a:chExt cx="5410200" cy="1786890"/>
          </a:xfrm>
        </p:grpSpPr>
        <p:sp>
          <p:nvSpPr>
            <p:cNvPr id="35" name="Rectangle 35"/>
            <p:cNvSpPr/>
            <p:nvPr/>
          </p:nvSpPr>
          <p:spPr>
            <a:xfrm>
              <a:off x="533400" y="2793682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2927032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3905" y="298608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1344" y="3020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情况一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80947" y="302514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是第 1 个结点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3359468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`s-&gt;prev` 是 NULL，执行 `prev-&gt;next = next;` 就是对空指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针赋值，程序当场崩溃。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2478" y="39757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497" y="3919538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补救办法：在表头引入一个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哨位结点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，让第 1 个实际结点也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有前驱</a:t>
              </a:r>
            </a:p>
          </p:txBody>
        </p:sp>
      </p:grpSp>
      <p:grpSp>
        <p:nvGrpSpPr>
          <p:cNvPr id="77" name="c1-cells-3"/>
          <p:cNvGrpSpPr/>
          <p:nvPr/>
        </p:nvGrpSpPr>
        <p:grpSpPr>
          <a:xfrm>
            <a:off x="527685" y="4800600"/>
            <a:ext cx="5092065" cy="630555"/>
            <a:chOff x="527685" y="4800600"/>
            <a:chExt cx="5092065" cy="630555"/>
          </a:xfrm>
        </p:grpSpPr>
        <p:sp>
          <p:nvSpPr>
            <p:cNvPr id="44" name="TextBox 44"/>
            <p:cNvSpPr txBox="1"/>
            <p:nvPr/>
          </p:nvSpPr>
          <p:spPr>
            <a:xfrm>
              <a:off x="527685" y="51706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双哨位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93470" y="5050155"/>
              <a:ext cx="43624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55103" y="51706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529715" y="505015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605915" y="52120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634490" y="52406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977390" y="51977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063115" y="5050155"/>
              <a:ext cx="4362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189403" y="51706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500312" y="505015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2576512" y="52120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2605088" y="52406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947988" y="51977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033712" y="5050155"/>
              <a:ext cx="4362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02584" y="51706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69958" y="505015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3546158" y="52120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3574732" y="52406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3917632" y="51977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003358" y="5050155"/>
              <a:ext cx="4362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28693" y="51706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440555" y="505015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4516755" y="52120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4545330" y="52406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4888230" y="51977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973955" y="5050155"/>
              <a:ext cx="43624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035588" y="51706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410200" y="5050155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473742" y="51782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66893" y="48006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1273492" y="4954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079181" y="4800600"/>
              <a:ext cx="2257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tail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5153978" y="4954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03" name="c2-cells-1"/>
          <p:cNvGrpSpPr/>
          <p:nvPr/>
        </p:nvGrpSpPr>
        <p:grpSpPr>
          <a:xfrm>
            <a:off x="6242685" y="1986915"/>
            <a:ext cx="4680585" cy="630555"/>
            <a:chOff x="6242685" y="1986915"/>
            <a:chExt cx="4680585" cy="630555"/>
          </a:xfrm>
        </p:grpSpPr>
        <p:sp>
          <p:nvSpPr>
            <p:cNvPr id="78" name="TextBox 78"/>
            <p:cNvSpPr txBox="1"/>
            <p:nvPr/>
          </p:nvSpPr>
          <p:spPr>
            <a:xfrm>
              <a:off x="6242685" y="2357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无哨位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808470" y="2236470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03338" y="235791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384732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7460932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7489508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7832408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918132" y="2236470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156536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494395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8570595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8599170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942070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9027795" y="2236470"/>
              <a:ext cx="57626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135591" y="235791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aₙ₋₁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604058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9680258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95" name="Freeform 95"/>
            <p:cNvSpPr/>
            <p:nvPr/>
          </p:nvSpPr>
          <p:spPr>
            <a:xfrm>
              <a:off x="9708832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10051732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137458" y="2236470"/>
              <a:ext cx="57626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332325" y="235791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713720" y="2236470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777262" y="236553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009321" y="1986915"/>
              <a:ext cx="8315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s（最后 1 个）</a:t>
              </a:r>
            </a:p>
          </p:txBody>
        </p:sp>
        <p:sp>
          <p:nvSpPr>
            <p:cNvPr id="102" name="Freeform 102"/>
            <p:cNvSpPr/>
            <p:nvPr/>
          </p:nvSpPr>
          <p:spPr>
            <a:xfrm>
              <a:off x="10387012" y="21412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12" name="c2-card-2"/>
          <p:cNvGrpSpPr/>
          <p:nvPr/>
        </p:nvGrpSpPr>
        <p:grpSpPr>
          <a:xfrm>
            <a:off x="6248400" y="2793682"/>
            <a:ext cx="5410200" cy="1529715"/>
            <a:chOff x="6248400" y="2793682"/>
            <a:chExt cx="5410200" cy="1529715"/>
          </a:xfrm>
        </p:grpSpPr>
        <p:sp>
          <p:nvSpPr>
            <p:cNvPr id="104" name="Rectangle 104"/>
            <p:cNvSpPr/>
            <p:nvPr/>
          </p:nvSpPr>
          <p:spPr>
            <a:xfrm>
              <a:off x="6248400" y="2793682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257925" y="2927032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78905" y="298608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66345" y="3020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情况二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195947" y="3025140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是最后 1 个结点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472047" y="3359468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`s-&gt;next` 是 NULL，执行 `next-&gt;prev = prev;` 同样是对空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指针赋值。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6487478" y="39757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643497" y="39195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补救办法：在表尾也引入一个哨位结点</a:t>
              </a:r>
            </a:p>
          </p:txBody>
        </p:sp>
      </p:grpSp>
      <p:grpSp>
        <p:nvGrpSpPr>
          <p:cNvPr id="117" name="c2-card-3"/>
          <p:cNvGrpSpPr/>
          <p:nvPr/>
        </p:nvGrpSpPr>
        <p:grpSpPr>
          <a:xfrm>
            <a:off x="6248400" y="4497705"/>
            <a:ext cx="5410200" cy="1195388"/>
            <a:chOff x="6248400" y="4497705"/>
            <a:chExt cx="5410200" cy="1195388"/>
          </a:xfrm>
        </p:grpSpPr>
        <p:sp>
          <p:nvSpPr>
            <p:cNvPr id="113" name="Rectangle 113"/>
            <p:cNvSpPr/>
            <p:nvPr/>
          </p:nvSpPr>
          <p:spPr>
            <a:xfrm>
              <a:off x="6248400" y="4497705"/>
              <a:ext cx="5410200" cy="1195388"/>
            </a:xfrm>
            <a:prstGeom prst="roundRect">
              <a:avLst>
                <a:gd name="adj" fmla="val 11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257925" y="4631055"/>
              <a:ext cx="47625" cy="928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472047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两端各加一个哨位之后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472047" y="5032058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任何一个实际结点的 prev 和 next 都非空，五行删除代码对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部实际结点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一律适用，一个 if 都不用写。</a:t>
              </a:r>
            </a:p>
          </p:txBody>
        </p:sp>
      </p:grpSp>
      <p:grpSp>
        <p:nvGrpSpPr>
          <p:cNvPr id="12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8" name="Rectangle 11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21" name="Group 12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2" name="TextBox 122"/>
            <p:cNvSpPr txBox="1"/>
            <p:nvPr/>
          </p:nvSpPr>
          <p:spPr>
            <a:xfrm>
              <a:off x="1040892" y="6023610"/>
              <a:ext cx="10091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处理边界有两条路：在代码里加 if 分支，或者在数据结构上加哨位结点。链表题里后者几乎总是更省事，也更不容易漏情况。</a:t>
              </a:r>
            </a:p>
          </p:txBody>
        </p:sp>
      </p:grpSp>
      <p:grpSp>
        <p:nvGrpSpPr>
          <p:cNvPr id="1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4" name="TextBox 12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循环链表与双向链表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双向循环链表：一个哨位就顶两个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819788" cy="278702"/>
            <a:chOff x="526161" y="1547336"/>
            <a:chExt cx="681978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8197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把尾结点的 next 指回哨位、哨位的 prev 指向尾结点，表尾那个哨位就省掉了。</a:t>
              </a:r>
            </a:p>
          </p:txBody>
        </p:sp>
      </p:grpSp>
      <p:grpSp>
        <p:nvGrpSpPr>
          <p:cNvPr id="27" name="c1-graph-1"/>
          <p:cNvGrpSpPr/>
          <p:nvPr/>
        </p:nvGrpSpPr>
        <p:grpSpPr>
          <a:xfrm>
            <a:off x="879158" y="1984057"/>
            <a:ext cx="4329112" cy="2037397"/>
            <a:chOff x="879158" y="1984057"/>
            <a:chExt cx="4329112" cy="2037397"/>
          </a:xfrm>
        </p:grpSpPr>
        <p:sp>
          <p:nvSpPr>
            <p:cNvPr id="9" name="Freeform 9"/>
            <p:cNvSpPr/>
            <p:nvPr/>
          </p:nvSpPr>
          <p:spPr>
            <a:xfrm>
              <a:off x="1737360" y="2773680"/>
              <a:ext cx="570548" cy="9525"/>
            </a:xfrm>
            <a:custGeom>
              <a:avLst/>
              <a:gdLst/>
              <a:ahLst/>
              <a:cxnLst/>
              <a:rect l="l" t="t" r="r" b="b"/>
              <a:pathLst>
                <a:path w="570548" h="9525">
                  <a:moveTo>
                    <a:pt x="0" y="0"/>
                  </a:moveTo>
                  <a:lnTo>
                    <a:pt x="5705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07908" y="2726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42110" y="2726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027045" y="2773680"/>
              <a:ext cx="649605" cy="9525"/>
            </a:xfrm>
            <a:custGeom>
              <a:avLst/>
              <a:gdLst/>
              <a:ahLst/>
              <a:cxnLst/>
              <a:rect l="l" t="t" r="r" b="b"/>
              <a:pathLst>
                <a:path w="649605" h="9525">
                  <a:moveTo>
                    <a:pt x="0" y="0"/>
                  </a:moveTo>
                  <a:lnTo>
                    <a:pt x="6496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926205" y="2773680"/>
              <a:ext cx="562928" cy="9525"/>
            </a:xfrm>
            <a:custGeom>
              <a:avLst/>
              <a:gdLst/>
              <a:ahLst/>
              <a:cxnLst/>
              <a:rect l="l" t="t" r="r" b="b"/>
              <a:pathLst>
                <a:path w="562928" h="9525">
                  <a:moveTo>
                    <a:pt x="0" y="0"/>
                  </a:moveTo>
                  <a:lnTo>
                    <a:pt x="5629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89132" y="2726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830955" y="2726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60158" y="3060382"/>
              <a:ext cx="3635692" cy="961072"/>
            </a:xfrm>
            <a:custGeom>
              <a:avLst/>
              <a:gdLst/>
              <a:ahLst/>
              <a:cxnLst/>
              <a:rect l="l" t="t" r="r" b="b"/>
              <a:pathLst>
                <a:path w="3635692" h="961072">
                  <a:moveTo>
                    <a:pt x="3635692" y="0"/>
                  </a:moveTo>
                  <a:lnTo>
                    <a:pt x="3635692" y="961072"/>
                  </a:lnTo>
                  <a:lnTo>
                    <a:pt x="0" y="961072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12532" y="29651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848225" y="29651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79158" y="2591752"/>
              <a:ext cx="762952" cy="363855"/>
            </a:xfrm>
            <a:prstGeom prst="roundRect">
              <a:avLst>
                <a:gd name="adj" fmla="val 2617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03158" y="2591752"/>
              <a:ext cx="623888" cy="363855"/>
            </a:xfrm>
            <a:prstGeom prst="roundRect">
              <a:avLst>
                <a:gd name="adj" fmla="val 261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84382" y="2591752"/>
              <a:ext cx="623888" cy="363855"/>
            </a:xfrm>
            <a:prstGeom prst="roundRect">
              <a:avLst>
                <a:gd name="adj" fmla="val 261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03668" y="27036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21838" y="27036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4551" y="27036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3063" y="27036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1563" y="1984057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</p:grpSp>
      <p:grpSp>
        <p:nvGrpSpPr>
          <p:cNvPr id="31" name="c1-code-2"/>
          <p:cNvGrpSpPr/>
          <p:nvPr/>
        </p:nvGrpSpPr>
        <p:grpSpPr>
          <a:xfrm>
            <a:off x="533400" y="4716780"/>
            <a:ext cx="5193982" cy="1468755"/>
            <a:chOff x="533400" y="4716780"/>
            <a:chExt cx="5193982" cy="1468755"/>
          </a:xfrm>
        </p:grpSpPr>
        <p:sp>
          <p:nvSpPr>
            <p:cNvPr id="28" name="Rectangle 28"/>
            <p:cNvSpPr/>
            <p:nvPr/>
          </p:nvSpPr>
          <p:spPr>
            <a:xfrm>
              <a:off x="533400" y="4716780"/>
              <a:ext cx="5193982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797" y="4868704"/>
              <a:ext cx="20020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删除非哨位结点 s，不需要任何 if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988" y="5128927"/>
              <a:ext cx="2222373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DeleteNode(Node *head, Node *s)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s-&gt;prev-&gt;next = s-&gt;next;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s-&gt;next-&gt;prev = s-&gt;prev;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free(s);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6032182" y="1941195"/>
            <a:ext cx="5626418" cy="1788795"/>
            <a:chOff x="6032182" y="1941195"/>
            <a:chExt cx="5626418" cy="1788795"/>
          </a:xfrm>
        </p:grpSpPr>
        <p:sp>
          <p:nvSpPr>
            <p:cNvPr id="32" name="Rectangle 32"/>
            <p:cNvSpPr/>
            <p:nvPr/>
          </p:nvSpPr>
          <p:spPr>
            <a:xfrm>
              <a:off x="6032182" y="1941195"/>
              <a:ext cx="5626418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60580" y="2093119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在结点 s 之后插入结点 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0770" y="2353342"/>
              <a:ext cx="2775585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InsertNode(Node *head, Node *s, Node *p)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*next = s-&gt;next;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next-&gt;prev = p;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①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p-&gt;next = next;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②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p-&gt;prev = s;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③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s-&gt;next = p;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④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032182" y="3905250"/>
            <a:ext cx="5626418" cy="1254442"/>
            <a:chOff x="6032182" y="3905250"/>
            <a:chExt cx="5626418" cy="1254442"/>
          </a:xfrm>
        </p:grpSpPr>
        <p:sp>
          <p:nvSpPr>
            <p:cNvPr id="36" name="Rectangle 36"/>
            <p:cNvSpPr/>
            <p:nvPr/>
          </p:nvSpPr>
          <p:spPr>
            <a:xfrm>
              <a:off x="6032182" y="3905250"/>
              <a:ext cx="5626418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403860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62688" y="409765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126" y="41319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四步的顺序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71260" y="45100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27280" y="4453890"/>
              <a:ext cx="4929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第一行先把 `s-&gt;next` 存进局部变量 next，后面才敢覆盖它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71260" y="481298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27280" y="4756785"/>
              <a:ext cx="4966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必须放最后。先写 `s-&gt;next = p` 就拿不到 s 原来的后继了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032182" y="5334952"/>
            <a:ext cx="5626418" cy="850582"/>
            <a:chOff x="6032182" y="5334952"/>
            <a:chExt cx="5626418" cy="850582"/>
          </a:xfrm>
        </p:grpSpPr>
        <p:sp>
          <p:nvSpPr>
            <p:cNvPr id="45" name="Rectangle 45"/>
            <p:cNvSpPr/>
            <p:nvPr/>
          </p:nvSpPr>
          <p:spPr>
            <a:xfrm>
              <a:off x="6032182" y="5334952"/>
              <a:ext cx="5626418" cy="850582"/>
            </a:xfrm>
            <a:prstGeom prst="roundRect">
              <a:avLst>
                <a:gd name="adj" fmla="val 1343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36970" y="5660710"/>
              <a:ext cx="200023" cy="200023"/>
              <a:chOff x="6236970" y="566071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236970" y="56607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70320" y="5727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539674" y="5541645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三种链表的删除对比：单链表要传入前驱，双向链表不用传前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驱但要判两端，双向循环链表两样都不用。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顺序存储与链接存储的比较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空间上各让一步，时间上一个快在读、一个快在改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空间效率的比较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时间效率的比较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链表编程的边界条件清单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一个真实的应用场景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顺序存储与链接存储的比较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空间：数组浪费在预留，链表浪费在指针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842636" cy="2182178"/>
            <a:chOff x="533400" y="1524000"/>
            <a:chExt cx="5842636" cy="21821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692718" cy="2182178"/>
            </a:xfrm>
            <a:prstGeom prst="roundRect">
              <a:avLst>
                <a:gd name="adj" fmla="val 6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54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998" y="17264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20793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7448" y="2027396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空间来自申请的数组，大小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事先确定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079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55081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表中元素较少时，很多空间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处于闲置状态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1356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082766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元素本身不额外占空间存逻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辑关系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83318" y="1524000"/>
              <a:ext cx="2692718" cy="2182178"/>
            </a:xfrm>
            <a:prstGeom prst="roundRect">
              <a:avLst>
                <a:gd name="adj" fmla="val 6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692842" y="1657350"/>
              <a:ext cx="47625" cy="19154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95916" y="17264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11918" y="20793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67366" y="2027396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空间按需要动态申请，不存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在预留浪费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11918" y="26079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67366" y="2555081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每个结点要附加一个指针，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产生额外开销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11918" y="31356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67366" y="308276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空间总量随表长增减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273742" y="243363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28797" y="255936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870960"/>
            <a:ext cx="5842635" cy="2098358"/>
            <a:chOff x="533400" y="3870960"/>
            <a:chExt cx="5842635" cy="2098358"/>
          </a:xfrm>
        </p:grpSpPr>
        <p:sp>
          <p:nvSpPr>
            <p:cNvPr id="28" name="Rectangle 28"/>
            <p:cNvSpPr/>
            <p:nvPr/>
          </p:nvSpPr>
          <p:spPr>
            <a:xfrm>
              <a:off x="533400" y="3870960"/>
              <a:ext cx="5842635" cy="2098358"/>
            </a:xfrm>
            <a:prstGeom prst="roundRect">
              <a:avLst>
                <a:gd name="adj" fmla="val 63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004310"/>
              <a:ext cx="47625" cy="18316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2475" y="40519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7044" y="40847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算一笔账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68006" y="40914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什么时候指针比数据还贵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4605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07694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结点只存一个 `int`（4 字节），64 位机上一个指针 8 字节，链表的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额外开销是数据的 2 倍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9882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936331"/>
              <a:ext cx="4682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结点存一条 120 字节的记录时，同样 8 字节的指针只占 6.7%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7141" y="5216842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元素越小，链表的指针开销占比越高；元素越大，这点开销越可以忽略。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680835" y="1524000"/>
            <a:ext cx="4977765" cy="2474595"/>
            <a:chOff x="6680835" y="1524000"/>
            <a:chExt cx="4977765" cy="2474595"/>
          </a:xfrm>
        </p:grpSpPr>
        <p:sp>
          <p:nvSpPr>
            <p:cNvPr id="39" name="Rectangle 39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1024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7712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908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75514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8106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事先定好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1116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随用随申请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2286952"/>
              <a:ext cx="497776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75514" y="2497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装不下时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68106" y="2404110"/>
              <a:ext cx="13441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要重新申请更大数组并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整体搬移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11168" y="2404110"/>
              <a:ext cx="129082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直接再 malloc 一个结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28498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5514" y="2971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元素之外的开销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8106" y="29718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11168" y="2971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每结点一个指针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32318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80835" y="323659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75514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空间是否连续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68106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必须连续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11168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可以任意散落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0835" y="36128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75514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内存碎片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68106" y="3734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要一整块大空间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11168" y="3734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小块空间也能利用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1524000"/>
              <a:ext cx="4977765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368665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011728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2"/>
          <p:cNvGrpSpPr/>
          <p:nvPr/>
        </p:nvGrpSpPr>
        <p:grpSpPr>
          <a:xfrm>
            <a:off x="6680835" y="4163378"/>
            <a:ext cx="4977765" cy="702945"/>
            <a:chOff x="6680835" y="4163378"/>
            <a:chExt cx="4977765" cy="702945"/>
          </a:xfrm>
        </p:grpSpPr>
        <p:sp>
          <p:nvSpPr>
            <p:cNvPr id="68" name="Rectangle 68"/>
            <p:cNvSpPr/>
            <p:nvPr/>
          </p:nvSpPr>
          <p:spPr>
            <a:xfrm>
              <a:off x="6680835" y="4163378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885623" y="4414840"/>
              <a:ext cx="200023" cy="200023"/>
              <a:chOff x="6885623" y="441484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885623" y="44148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018973" y="4481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188708" y="4308634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两者都会“浪费”空间，浪费的位置不同：顺序表浪费在没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用上的预留格子，链表浪费在每个结点都要带的指针上。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680835" y="5031105"/>
            <a:ext cx="4977765" cy="937260"/>
            <a:chOff x="6680835" y="5031105"/>
            <a:chExt cx="4977765" cy="937260"/>
          </a:xfrm>
        </p:grpSpPr>
        <p:sp>
          <p:nvSpPr>
            <p:cNvPr id="74" name="Rectangle 74"/>
            <p:cNvSpPr/>
            <p:nvPr/>
          </p:nvSpPr>
          <p:spPr>
            <a:xfrm>
              <a:off x="6680835" y="5031105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885623" y="5399723"/>
              <a:ext cx="200026" cy="200026"/>
              <a:chOff x="6885623" y="5399723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885623" y="53997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985635" y="5466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974523" y="54997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188708" y="5176361"/>
              <a:ext cx="407695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顺序表要求一整块连续空间，内存碎片化严重时可能申请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不到；链表每次只要一个结点大小，这一点上更容易满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顺序存储与链接存储的比较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时间：查找看顺序表，改动看链表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1899285"/>
            <a:chOff x="533400" y="1524000"/>
            <a:chExt cx="6059805" cy="1899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212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8581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8613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7398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1164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基于下标的查找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2546" y="2116455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12198" y="2116455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42804" y="2023110"/>
              <a:ext cx="21442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顺序表按下标直接算地址；链表要从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表头开始遍历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688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7364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5908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基于关键字的查找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2546" y="2590800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12198" y="2590800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42804" y="25908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元素无序时两者都要逐个比较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498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06514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/ 删除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82546" y="3065145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2198" y="3065145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42804" y="2971800"/>
              <a:ext cx="21442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顺序表需要移动若干元素；链表只需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修改几个指针值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83105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12758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4336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3588068"/>
            <a:ext cx="6059805" cy="1487805"/>
            <a:chOff x="533400" y="3588068"/>
            <a:chExt cx="6059805" cy="1487805"/>
          </a:xfrm>
        </p:grpSpPr>
        <p:sp>
          <p:nvSpPr>
            <p:cNvPr id="32" name="Rectangle 32"/>
            <p:cNvSpPr/>
            <p:nvPr/>
          </p:nvSpPr>
          <p:spPr>
            <a:xfrm>
              <a:off x="533400" y="3588068"/>
              <a:ext cx="605980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721418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2475" y="37690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5147" y="38019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18450" y="380857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这几个结论各自成立的条件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417766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4124801"/>
              <a:ext cx="4538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顺序表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取元素：元素等长、空间连续、内存随机访问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44624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4409599"/>
              <a:ext cx="5381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链表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插入删除：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已经拿到前驱指针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；只给位置时整体仍是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62000" y="47472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7448" y="4695349"/>
              <a:ext cx="3537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顺序表在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表尾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插入不用移动元素，也是 O(1)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1671638"/>
            <a:chOff x="6898005" y="1524000"/>
            <a:chExt cx="4760595" cy="1671638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78980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63549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选择依据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88505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43953" y="2045494"/>
              <a:ext cx="3963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当线性表经常需要进行插入、删除操作时，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链表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的时间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复杂性较低，效率较高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88505" y="2625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43953" y="2573179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当线性表经常需要基于下标的查找，且查找比插入删除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频繁时，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顺序表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的效率较高</a:t>
              </a:r>
            </a:p>
          </p:txBody>
        </p:sp>
      </p:grpSp>
      <p:grpSp>
        <p:nvGrpSpPr>
          <p:cNvPr id="62" name="c2-bullets-2"/>
          <p:cNvGrpSpPr/>
          <p:nvPr/>
        </p:nvGrpSpPr>
        <p:grpSpPr>
          <a:xfrm>
            <a:off x="6891528" y="3381851"/>
            <a:ext cx="4769333" cy="1622869"/>
            <a:chOff x="6891528" y="3381851"/>
            <a:chExt cx="4769333" cy="1622869"/>
          </a:xfrm>
        </p:grpSpPr>
        <p:sp>
          <p:nvSpPr>
            <p:cNvPr id="52" name="TextBox 52"/>
            <p:cNvSpPr txBox="1"/>
            <p:nvPr/>
          </p:nvSpPr>
          <p:spPr>
            <a:xfrm>
              <a:off x="6891528" y="3381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三个常见的误判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8005" y="36718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49912" y="37075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67753" y="368284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以为链表查找也快。链表只是改得快，按下标或按值找都要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从头走。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98005" y="420814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9912" y="42437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67753" y="4219099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以为链表插入一定是 O(1)。若题目只给下标，找前驱那一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步就是 O(n)。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98005" y="474345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49912" y="47790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67753" y="475535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以为链表一定省空间。元素很小时，指针比数据本身还大。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3" name="Rectangle 63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5805011"/>
              <a:ext cx="992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写复杂度结论时把前提一起写上。同一个“插入”，在“已知前驱”和“只给下标”两种说法下答案分别是 O(1) 和 O(n)，考试按题干给的条件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顺序存储与链接存储的比较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链表编程时，这三种情况一定要单独试一遍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977765" cy="1662112"/>
            <a:chOff x="533400" y="1524000"/>
            <a:chExt cx="4977765" cy="1662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62112"/>
            </a:xfrm>
            <a:prstGeom prst="roundRect">
              <a:avLst>
                <a:gd name="adj" fmla="val 80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5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检查清单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2488" y="176736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以下情况代码是否能正常工作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7235" y="21069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5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8128" y="211978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链表为空时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" y="242697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5580" y="24673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8128" y="243982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链表只包含一个结点时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7235" y="274701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5580" y="2787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8128" y="275986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在处理头结点和尾结点时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370898"/>
            <a:ext cx="4977765" cy="1018222"/>
            <a:chOff x="533400" y="3370898"/>
            <a:chExt cx="4977765" cy="1018222"/>
          </a:xfrm>
        </p:grpSpPr>
        <p:sp>
          <p:nvSpPr>
            <p:cNvPr id="21" name="Rectangle 21"/>
            <p:cNvSpPr/>
            <p:nvPr/>
          </p:nvSpPr>
          <p:spPr>
            <a:xfrm>
              <a:off x="533400" y="3370898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3780473"/>
              <a:ext cx="200026" cy="200025"/>
              <a:chOff x="738188" y="3780473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37804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38249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39360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3519011"/>
              <a:ext cx="408114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写完一段链表代码，拿长度为 0、1、2 的三条链各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走一遍。绝大多数链表 bug 在长度 0 或 1 时就会暴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露，不必等到长表。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815965" y="1524000"/>
            <a:ext cx="5842635" cy="3007995"/>
            <a:chOff x="5815965" y="1524000"/>
            <a:chExt cx="5842635" cy="3007995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031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0538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容易出的错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6548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典型症状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21312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6234" y="2085022"/>
              <a:ext cx="2023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直接写 `head-&gt;next` 而没判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6086" y="219170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解引用空指针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5927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2597468"/>
              <a:ext cx="584263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1312" y="2835592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1 个结点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6234" y="2728912"/>
              <a:ext cx="2298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反转、找中间结点时循环一次都不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36086" y="28355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返回值是初值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2365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21312" y="3372802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删第 1 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06234" y="3372802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无哨位时 a₁ 没有前驱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36086" y="337280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表头指针没更新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36661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15965" y="367093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1312" y="380238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删最后 1 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6234" y="3802380"/>
              <a:ext cx="2039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双向链表里 `s-&gt;next` 为空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36086" y="38023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对空指针赋值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40967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21312" y="423291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走到表尾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06234" y="4232910"/>
              <a:ext cx="2039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`p-&gt;next-&gt;next` 少判一层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36086" y="4232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越过表尾读到垃圾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1524000"/>
              <a:ext cx="5842635" cy="30079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96125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25978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5815965" y="4716780"/>
            <a:ext cx="5842635" cy="1564958"/>
            <a:chOff x="5815965" y="4716780"/>
            <a:chExt cx="5842635" cy="1564958"/>
          </a:xfrm>
        </p:grpSpPr>
        <p:sp>
          <p:nvSpPr>
            <p:cNvPr id="57" name="Rectangle 57"/>
            <p:cNvSpPr/>
            <p:nvPr/>
          </p:nvSpPr>
          <p:spPr>
            <a:xfrm>
              <a:off x="5815965" y="4716780"/>
              <a:ext cx="584263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825490" y="485013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57900" y="49206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52058" y="49563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16434" y="496109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快慢指针里最常漏的一层判断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50661" y="5312569"/>
              <a:ext cx="51631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`while (fast != NULL &amp;&amp; fast-&gt;next != NULL)` 两个条件缺一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不可。只写 `fast != NULL` 时，偶数长度的链表走到最后会执行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`fast-&gt;next-&gt;next`，对 NULL 取 next。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顺序存储与链接存储的比较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一个真实场景：飞机大战里的子弹链表与敌机链表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193982" cy="2055495"/>
            <a:chOff x="533400" y="1524000"/>
            <a:chExt cx="5193982" cy="2055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05549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88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两条链表，四种操作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本方发射子弹：子弹链表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插入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新结点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子弹飞出边界或打中敌机：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删除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子弹结点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敌机飞出边界或被击中：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删除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敌机结点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1984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135630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随机生成敌机：敌机链表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插入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新结点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769995"/>
            <a:ext cx="5193982" cy="1737360"/>
            <a:chOff x="533400" y="3769995"/>
            <a:chExt cx="5193982" cy="1737360"/>
          </a:xfrm>
        </p:grpSpPr>
        <p:sp>
          <p:nvSpPr>
            <p:cNvPr id="21" name="Rectangle 21"/>
            <p:cNvSpPr/>
            <p:nvPr/>
          </p:nvSpPr>
          <p:spPr>
            <a:xfrm>
              <a:off x="533400" y="3769995"/>
              <a:ext cx="5193982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92191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结点结构与两个表头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797" y="4182904"/>
              <a:ext cx="2629789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屏幕坐标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…… 贴图、速度等其它字段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Node;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Node *pBullet, *pEnemy;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6032182" y="1524000"/>
            <a:ext cx="5626418" cy="1912620"/>
            <a:chOff x="6032182" y="1524000"/>
            <a:chExt cx="5626418" cy="1912620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60580" y="1675924"/>
              <a:ext cx="2224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每一帧的核心逻辑（源课件第 37 页）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60580" y="1935956"/>
              <a:ext cx="2573782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l-GR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pBullet ≠ Λ DO</a:t>
              </a:r>
              <a:br/>
              <a:r>
                <a:rPr lang="el-GR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   WHILE pEnemy ≠ Λ DO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(   IF pBullet 和 pEnemy 相遇 THEN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(   删除 pBullet 所指结点.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删除 pEnemy 所指结点.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BREAK.  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pEnemy ← next(pEnemy).  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pBullet ← next(pBullet).  )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032182" y="3627120"/>
            <a:ext cx="5626418" cy="1316355"/>
            <a:chOff x="6032182" y="3627120"/>
            <a:chExt cx="5626418" cy="1316355"/>
          </a:xfrm>
        </p:grpSpPr>
        <p:sp>
          <p:nvSpPr>
            <p:cNvPr id="29" name="Rectangle 29"/>
            <p:cNvSpPr/>
            <p:nvPr/>
          </p:nvSpPr>
          <p:spPr>
            <a:xfrm>
              <a:off x="6032182" y="362712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1732" y="383667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6337" y="387238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为什么这里用链表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4112" y="421386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子弹和敌机的数量每一帧都在变，且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删除发生在任意位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置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。用数组就要不停地搬移后面的元素，用链表只改指针。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032182" y="5133975"/>
            <a:ext cx="5626418" cy="1059180"/>
            <a:chOff x="6032182" y="5133975"/>
            <a:chExt cx="5626418" cy="1059180"/>
          </a:xfrm>
        </p:grpSpPr>
        <p:sp>
          <p:nvSpPr>
            <p:cNvPr id="34" name="Rectangle 34"/>
            <p:cNvSpPr/>
            <p:nvPr/>
          </p:nvSpPr>
          <p:spPr>
            <a:xfrm>
              <a:off x="6032182" y="513397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224912" y="5559861"/>
              <a:ext cx="224134" cy="192560"/>
              <a:chOff x="6224912" y="5559861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336983" y="56302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24912" y="55598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36983" y="57080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38912" y="5282565"/>
              <a:ext cx="4653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这段双重循环里删除的正是当前遍历到的结点。实现时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要先把 `next(pBullet)` 存下来再删，否则删完就找不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到下一个了。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静态链表与侵入式链表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没有指针类型怎么办，链表结构又怎么和数据解耦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用数组下标模拟指针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盒子移动例题的完整过程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静态双向循环链表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侵入式链表与内核链表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静态链表：用数组下标当指针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226820"/>
            <a:chOff x="533400" y="1524000"/>
            <a:chExt cx="6059805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有些语言没有指针类型，怎么实现链表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3115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链表的元素用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数组存储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数组的下标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模拟指针。原来存地址的地方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改成存下标，NULL 约定写成 −1。</a:t>
              </a:r>
            </a:p>
          </p:txBody>
        </p:sp>
      </p:grpSp>
      <p:grpSp>
        <p:nvGrpSpPr>
          <p:cNvPr id="73" name="c1-cells-2"/>
          <p:cNvGrpSpPr/>
          <p:nvPr/>
        </p:nvGrpSpPr>
        <p:grpSpPr>
          <a:xfrm>
            <a:off x="528447" y="2926080"/>
            <a:ext cx="5455158" cy="1455420"/>
            <a:chOff x="528447" y="2926080"/>
            <a:chExt cx="5455158" cy="1455420"/>
          </a:xfrm>
        </p:grpSpPr>
        <p:sp>
          <p:nvSpPr>
            <p:cNvPr id="14" name="TextBox 14"/>
            <p:cNvSpPr txBox="1"/>
            <p:nvPr/>
          </p:nvSpPr>
          <p:spPr>
            <a:xfrm>
              <a:off x="528447" y="30560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44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209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735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400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7926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591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117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782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308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973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499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164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690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355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881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546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072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737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263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92808" y="30560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454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73814" y="30560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6450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914" y="30560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447" y="359330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44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373505" y="346329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01914" y="359330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7926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11705" y="346329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340114" y="359330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308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0499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469005" y="346329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97414" y="359330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8881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3072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7263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45405" y="346329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73814" y="359330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64505" y="346329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447" y="413051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544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373505" y="40005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40008" y="41305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7926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2211705" y="40005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340114" y="41305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6308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0499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3469005" y="40005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635508" y="41305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8881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3072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47263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145405" y="40005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73814" y="41305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564505" y="400050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97" name="c1-steps-3"/>
          <p:cNvGrpSpPr/>
          <p:nvPr/>
        </p:nvGrpSpPr>
        <p:grpSpPr>
          <a:xfrm>
            <a:off x="533400" y="4556760"/>
            <a:ext cx="6058852" cy="1788795"/>
            <a:chOff x="533400" y="4556760"/>
            <a:chExt cx="6058852" cy="1788795"/>
          </a:xfrm>
        </p:grpSpPr>
        <p:sp>
          <p:nvSpPr>
            <p:cNvPr id="74" name="Rectangle 74"/>
            <p:cNvSpPr/>
            <p:nvPr/>
          </p:nvSpPr>
          <p:spPr>
            <a:xfrm>
              <a:off x="533400" y="4556760"/>
              <a:ext cx="1300162" cy="1788795"/>
            </a:xfrm>
            <a:prstGeom prst="roundRect">
              <a:avLst>
                <a:gd name="adj" fmla="val 879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666750" y="4690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6883" y="47605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9892" y="5093970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 = 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1035" y="538019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data[1] = a₀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1909762" y="536543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2119312" y="4556760"/>
              <a:ext cx="1300162" cy="1788795"/>
            </a:xfrm>
            <a:prstGeom prst="roundRect">
              <a:avLst>
                <a:gd name="adj" fmla="val 879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252662" y="4690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342796" y="47605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245804" y="5093970"/>
              <a:ext cx="859822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next[1]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246948" y="560308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data[6] = a₁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3496628" y="536543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3706178" y="4556760"/>
              <a:ext cx="1300162" cy="1788795"/>
            </a:xfrm>
            <a:prstGeom prst="roundRect">
              <a:avLst>
                <a:gd name="adj" fmla="val 879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3839528" y="4690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929661" y="47605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832670" y="5093970"/>
              <a:ext cx="859822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next[6]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833812" y="560308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data[3] = a₂</a:t>
              </a:r>
            </a:p>
          </p:txBody>
        </p:sp>
        <p:sp>
          <p:nvSpPr>
            <p:cNvPr id="91" name="Freeform 91"/>
            <p:cNvSpPr/>
            <p:nvPr/>
          </p:nvSpPr>
          <p:spPr>
            <a:xfrm>
              <a:off x="5082540" y="536543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292090" y="4556760"/>
              <a:ext cx="1300162" cy="1788795"/>
            </a:xfrm>
            <a:prstGeom prst="roundRect">
              <a:avLst>
                <a:gd name="adj" fmla="val 879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5425440" y="4690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15573" y="47605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418582" y="5093970"/>
              <a:ext cx="859822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next[3]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419725" y="5603081"/>
              <a:ext cx="935990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data[10]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a₃，next[10]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−1 结束</a:t>
              </a:r>
            </a:p>
          </p:txBody>
        </p:sp>
      </p:grpSp>
      <p:grpSp>
        <p:nvGrpSpPr>
          <p:cNvPr id="100" name="c2-image-1"/>
          <p:cNvGrpSpPr/>
          <p:nvPr/>
        </p:nvGrpSpPr>
        <p:grpSpPr>
          <a:xfrm>
            <a:off x="6898005" y="1524000"/>
            <a:ext cx="4760595" cy="2455164"/>
            <a:chOff x="6898005" y="1524000"/>
            <a:chExt cx="4760595" cy="2455164"/>
          </a:xfrm>
        </p:grpSpPr>
        <p:pic>
          <p:nvPicPr>
            <p:cNvPr id="98" name="Image 98"/>
            <p:cNvPicPr>
              <a:picLocks noChangeAspect="1"/>
            </p:cNvPicPr>
            <p:nvPr/>
          </p:nvPicPr>
          <p:blipFill>
            <a:blip r:embed="rId2"/>
            <a:srcRect l="0" t="19802" r="0" b="19801"/>
            <a:stretch>
              <a:fillRect/>
            </a:stretch>
          </p:blipFill>
          <p:spPr>
            <a:xfrm>
              <a:off x="6898005" y="1524000"/>
              <a:ext cx="4760595" cy="2156460"/>
            </a:xfrm>
            <a:prstGeom prst="roundRect">
              <a:avLst>
                <a:gd name="adj" fmla="val 6183"/>
              </a:avLst>
            </a:prstGeom>
          </p:spPr>
        </p:pic>
        <p:sp>
          <p:nvSpPr>
            <p:cNvPr id="99" name="TextBox 99"/>
            <p:cNvSpPr txBox="1"/>
            <p:nvPr/>
          </p:nvSpPr>
          <p:spPr>
            <a:xfrm>
              <a:off x="7435406" y="3773805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格子的编号固定不动，红绳规定的先后顺序和编号顺序无关</a:t>
              </a:r>
            </a:p>
          </p:txBody>
        </p:sp>
      </p:grpSp>
      <p:grpSp>
        <p:nvGrpSpPr>
          <p:cNvPr id="104" name="c2-code-2"/>
          <p:cNvGrpSpPr/>
          <p:nvPr/>
        </p:nvGrpSpPr>
        <p:grpSpPr>
          <a:xfrm>
            <a:off x="6898005" y="4131945"/>
            <a:ext cx="4760595" cy="828675"/>
            <a:chOff x="6898005" y="4131945"/>
            <a:chExt cx="4760595" cy="828675"/>
          </a:xfrm>
        </p:grpSpPr>
        <p:sp>
          <p:nvSpPr>
            <p:cNvPr id="101" name="Rectangle 101"/>
            <p:cNvSpPr/>
            <p:nvPr/>
          </p:nvSpPr>
          <p:spPr>
            <a:xfrm>
              <a:off x="6898005" y="4131945"/>
              <a:ext cx="4760595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026402" y="428386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两个平行数组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026592" y="4544092"/>
              <a:ext cx="244030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data[12];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next[12];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存下标，−1 表示表尾 */</a:t>
              </a:r>
            </a:p>
          </p:txBody>
        </p:sp>
      </p:grpSp>
      <p:grpSp>
        <p:nvGrpSpPr>
          <p:cNvPr id="110" name="c2-callout-3"/>
          <p:cNvGrpSpPr/>
          <p:nvPr/>
        </p:nvGrpSpPr>
        <p:grpSpPr>
          <a:xfrm>
            <a:off x="6898005" y="5135880"/>
            <a:ext cx="4760595" cy="1226820"/>
            <a:chOff x="6898005" y="5135880"/>
            <a:chExt cx="4760595" cy="1226820"/>
          </a:xfrm>
        </p:grpSpPr>
        <p:sp>
          <p:nvSpPr>
            <p:cNvPr id="105" name="Rectangle 105"/>
            <p:cNvSpPr/>
            <p:nvPr/>
          </p:nvSpPr>
          <p:spPr>
            <a:xfrm>
              <a:off x="6898005" y="5135880"/>
              <a:ext cx="4760595" cy="1226820"/>
            </a:xfrm>
            <a:prstGeom prst="roundRect">
              <a:avLst>
                <a:gd name="adj" fmla="val 931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7102793" y="5649280"/>
              <a:ext cx="200023" cy="200023"/>
              <a:chOff x="7102793" y="5649280"/>
              <a:chExt cx="200023" cy="200023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7102793" y="56492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236143" y="57159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7405497" y="5282565"/>
              <a:ext cx="378561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静态链表作为一种编程技巧，在有指针的编程语言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里也有广泛应用：结点位置固定，可以按编号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 直接定位，同时又保留了改链只动“指针”的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好处。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例题：n 个盒子，反复左右搬动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446972"/>
            <a:chOff x="533400" y="1524000"/>
            <a:chExt cx="5626418" cy="24469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盒子移动指令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有若干个盒子，从左至右依次编号为 1, 2, 3, …, n。可执行以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下指令（保证 X 不等于 Y）：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`L X Y`：把盒子 X 移动到盒子 Y 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（X 已在 Y 左边则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忽略该指令）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3394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278981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`R X Y`：把盒子 X 移动到盒子 Y 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（X 已在 Y 右边则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忽略该指令）</a:t>
              </a:r>
            </a:p>
          </p:txBody>
        </p:sp>
      </p:grpSp>
      <p:grpSp>
        <p:nvGrpSpPr>
          <p:cNvPr id="57" name="c1-cells-2"/>
          <p:cNvGrpSpPr/>
          <p:nvPr/>
        </p:nvGrpSpPr>
        <p:grpSpPr>
          <a:xfrm>
            <a:off x="527685" y="4151948"/>
            <a:ext cx="2989897" cy="1503997"/>
            <a:chOff x="527685" y="4151948"/>
            <a:chExt cx="2989897" cy="1503997"/>
          </a:xfrm>
        </p:grpSpPr>
        <p:sp>
          <p:nvSpPr>
            <p:cNvPr id="18" name="TextBox 18"/>
            <p:cNvSpPr txBox="1"/>
            <p:nvPr/>
          </p:nvSpPr>
          <p:spPr>
            <a:xfrm>
              <a:off x="527685" y="4278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02982" y="41519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3281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422082" y="41519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82381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41182" y="41519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001481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260282" y="41519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420581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79382" y="41519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39681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98482" y="415194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58781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685" y="4833461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 1 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02982" y="470630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63281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22082" y="470630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582381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41182" y="470630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001481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260282" y="470630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420581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79382" y="470630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839681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098482" y="470630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58781" y="4833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685" y="5388769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 3 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02982" y="526161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63281" y="5388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422082" y="526161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82381" y="5388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841182" y="526161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01481" y="5388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60282" y="526161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20581" y="5388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79382" y="526161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39681" y="5388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098482" y="526161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258781" y="5388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59" name="c1-text-3"/>
          <p:cNvGrpSpPr/>
          <p:nvPr/>
        </p:nvGrpSpPr>
        <p:grpSpPr>
          <a:xfrm>
            <a:off x="527304" y="5855970"/>
            <a:ext cx="5361432" cy="470916"/>
            <a:chOff x="527304" y="5855970"/>
            <a:chExt cx="5361432" cy="470916"/>
          </a:xfrm>
        </p:grpSpPr>
        <p:sp>
          <p:nvSpPr>
            <p:cNvPr id="58" name="TextBox 58"/>
            <p:cNvSpPr txBox="1"/>
            <p:nvPr/>
          </p:nvSpPr>
          <p:spPr>
            <a:xfrm>
              <a:off x="527304" y="5855970"/>
              <a:ext cx="53614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 时的两条指令：L 1 4 把 1 抽出来插到 4 的左边；R 3 5 在此基础上把 3 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出来插到 5 的右边。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464618" y="1524000"/>
            <a:ext cx="5193982" cy="1250632"/>
            <a:chOff x="6464618" y="1524000"/>
            <a:chExt cx="5193982" cy="1250632"/>
          </a:xfrm>
        </p:grpSpPr>
        <p:sp>
          <p:nvSpPr>
            <p:cNvPr id="60" name="Rectangle 60"/>
            <p:cNvSpPr/>
            <p:nvPr/>
          </p:nvSpPr>
          <p:spPr>
            <a:xfrm>
              <a:off x="6464618" y="1524000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4142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00838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274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为什么不能直接用数组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93598" y="2082641"/>
              <a:ext cx="45806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用数组按位置存盒子，每执行一条指令都要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成批搬移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间的所有元素，单条指令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，m 条指令就是 O(mn)。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464618" y="2955608"/>
            <a:ext cx="5193982" cy="2129790"/>
            <a:chOff x="6464618" y="2955608"/>
            <a:chExt cx="5193982" cy="2129790"/>
          </a:xfrm>
        </p:grpSpPr>
        <p:sp>
          <p:nvSpPr>
            <p:cNvPr id="66" name="Rectangle 66"/>
            <p:cNvSpPr/>
            <p:nvPr/>
          </p:nvSpPr>
          <p:spPr>
            <a:xfrm>
              <a:off x="6464618" y="2955608"/>
              <a:ext cx="5193982" cy="2129790"/>
            </a:xfrm>
            <a:prstGeom prst="roundRect">
              <a:avLst>
                <a:gd name="adj" fmla="val 626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62738" y="31537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6177" y="31880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换个角度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12748" y="3188494"/>
              <a:ext cx="2146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盒子不动，动的是“指针”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5498" y="3532346"/>
              <a:ext cx="450494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移动过程中盒子在数组中的位置始终不变，第 i 个盒子始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终在数组第 i 位，所以可以在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O(1) 时间内找到任意盒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子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55498" y="439245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在盒子移动过程中仅 prev 和 next 这两组“指针”发生变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化。</a:t>
              </a:r>
            </a:p>
          </p:txBody>
        </p:sp>
      </p:grpSp>
      <p:grpSp>
        <p:nvGrpSpPr>
          <p:cNvPr id="78" name="c2-callout-3"/>
          <p:cNvGrpSpPr/>
          <p:nvPr/>
        </p:nvGrpSpPr>
        <p:grpSpPr>
          <a:xfrm>
            <a:off x="6464618" y="5265420"/>
            <a:ext cx="5193982" cy="1018222"/>
            <a:chOff x="6464618" y="5265420"/>
            <a:chExt cx="5193982" cy="1018222"/>
          </a:xfrm>
        </p:grpSpPr>
        <p:sp>
          <p:nvSpPr>
            <p:cNvPr id="73" name="Rectangle 73"/>
            <p:cNvSpPr/>
            <p:nvPr/>
          </p:nvSpPr>
          <p:spPr>
            <a:xfrm>
              <a:off x="6464618" y="526542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669405" y="5674043"/>
              <a:ext cx="200026" cy="200026"/>
              <a:chOff x="6669405" y="5674043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669405" y="56740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736080" y="57518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971729" y="5412581"/>
              <a:ext cx="431017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这样每条指令只改常数个数组元素，单条指令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 条指令总共 O(n + m)。前提是指令直接给出盒子编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号，可以按编号直接下标定位。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静态双向循环链表：三个数组加一个哨位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003935"/>
            <a:chOff x="533400" y="1524000"/>
            <a:chExt cx="5842635" cy="1003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003935"/>
            </a:xfrm>
            <a:prstGeom prst="roundRect">
              <a:avLst>
                <a:gd name="adj" fmla="val 94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54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6 时的三个数组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766"/>
              <a:ext cx="2766949" cy="51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data[7];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data[i] 恒为第 i 个盒子 */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prev[7];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前驱的下标 */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next[7];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后继的下标 */</a:t>
              </a:r>
            </a:p>
          </p:txBody>
        </p:sp>
      </p:grpSp>
      <p:grpSp>
        <p:nvGrpSpPr>
          <p:cNvPr id="71" name="c1-cells-2"/>
          <p:cNvGrpSpPr/>
          <p:nvPr/>
        </p:nvGrpSpPr>
        <p:grpSpPr>
          <a:xfrm>
            <a:off x="527685" y="2707958"/>
            <a:ext cx="4192905" cy="2059305"/>
            <a:chOff x="527685" y="2707958"/>
            <a:chExt cx="4192905" cy="2059305"/>
          </a:xfrm>
        </p:grpSpPr>
        <p:sp>
          <p:nvSpPr>
            <p:cNvPr id="11" name="TextBox 11"/>
            <p:cNvSpPr txBox="1"/>
            <p:nvPr/>
          </p:nvSpPr>
          <p:spPr>
            <a:xfrm>
              <a:off x="527685" y="2835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953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56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144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747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335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938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2526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129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717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320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908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511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509962" y="270795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70261" y="2835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685" y="33894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953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556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4144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747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8335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938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526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129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717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320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908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511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509962" y="326326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70261" y="3389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685" y="394477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95362" y="3817620"/>
              <a:ext cx="53244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04621" y="39447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527810" y="3817620"/>
              <a:ext cx="53244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44306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059305" y="3817620"/>
              <a:ext cx="53244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276754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591752" y="3817620"/>
              <a:ext cx="53244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08249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124200" y="3817620"/>
              <a:ext cx="53244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340696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655695" y="3817620"/>
              <a:ext cx="53244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873144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188142" y="3817620"/>
              <a:ext cx="53244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04639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7685" y="450008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953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56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4144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5747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8335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9938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2526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4129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6717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8320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0908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2511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509962" y="437292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670261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73" name="c1-text-3"/>
          <p:cNvGrpSpPr/>
          <p:nvPr/>
        </p:nvGrpSpPr>
        <p:grpSpPr>
          <a:xfrm>
            <a:off x="527304" y="4967288"/>
            <a:ext cx="5536692" cy="470916"/>
            <a:chOff x="527304" y="4967288"/>
            <a:chExt cx="5536692" cy="470916"/>
          </a:xfrm>
        </p:grpSpPr>
        <p:sp>
          <p:nvSpPr>
            <p:cNvPr id="72" name="TextBox 72"/>
            <p:cNvSpPr txBox="1"/>
            <p:nvPr/>
          </p:nvSpPr>
          <p:spPr>
            <a:xfrm>
              <a:off x="527304" y="4967288"/>
              <a:ext cx="55366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0 留给哨位结点。prev[0] = 6、next[6] = 0，首尾相接成一个环，于是既没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有表头特例也没有表尾特例。</a:t>
              </a:r>
            </a:p>
          </p:txBody>
        </p:sp>
      </p:grpSp>
      <p:grpSp>
        <p:nvGrpSpPr>
          <p:cNvPr id="86" name="c2-card-1"/>
          <p:cNvGrpSpPr/>
          <p:nvPr/>
        </p:nvGrpSpPr>
        <p:grpSpPr>
          <a:xfrm>
            <a:off x="6680835" y="1524000"/>
            <a:ext cx="4977765" cy="1886902"/>
            <a:chOff x="6680835" y="1524000"/>
            <a:chExt cx="4977765" cy="1886902"/>
          </a:xfrm>
        </p:grpSpPr>
        <p:sp>
          <p:nvSpPr>
            <p:cNvPr id="74" name="Rectangle 74"/>
            <p:cNvSpPr/>
            <p:nvPr/>
          </p:nvSpPr>
          <p:spPr>
            <a:xfrm>
              <a:off x="6680835" y="1524000"/>
              <a:ext cx="4977765" cy="1886902"/>
            </a:xfrm>
            <a:prstGeom prst="roundRect">
              <a:avLst>
                <a:gd name="adj" fmla="val 706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87895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6239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三条约定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879908" y="207073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38252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69848" y="2082641"/>
              <a:ext cx="41262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 个盒子永远放在数组第 i 位，`data[i]` 一次都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不用改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879908" y="265938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938252" y="26997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69848" y="2672239"/>
              <a:ext cx="40575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 0 是哨位，表示环的起点，不对应任何盒子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879908" y="297751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38252" y="30178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169848" y="2989421"/>
              <a:ext cx="3503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空指针写成 0（回到哨位），不再需要 −1</a:t>
              </a:r>
            </a:p>
          </p:txBody>
        </p:sp>
      </p:grpSp>
      <p:grpSp>
        <p:nvGrpSpPr>
          <p:cNvPr id="94" name="c2-card-2"/>
          <p:cNvGrpSpPr/>
          <p:nvPr/>
        </p:nvGrpSpPr>
        <p:grpSpPr>
          <a:xfrm>
            <a:off x="6680835" y="3590925"/>
            <a:ext cx="4977765" cy="1547812"/>
            <a:chOff x="6680835" y="3590925"/>
            <a:chExt cx="4977765" cy="1547812"/>
          </a:xfrm>
        </p:grpSpPr>
        <p:sp>
          <p:nvSpPr>
            <p:cNvPr id="87" name="Rectangle 87"/>
            <p:cNvSpPr/>
            <p:nvPr/>
          </p:nvSpPr>
          <p:spPr>
            <a:xfrm>
              <a:off x="6680835" y="3590925"/>
              <a:ext cx="4977765" cy="1547812"/>
            </a:xfrm>
            <a:prstGeom prst="roundRect">
              <a:avLst>
                <a:gd name="adj" fmla="val 8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690360" y="3724275"/>
              <a:ext cx="47625" cy="1281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917055" y="37890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08495" y="38233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00366" y="382381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从哨位出发读出当前顺序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909816" y="4167664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`next[0] = 1`，`next[1] = 2`，…，`next[6] = 0`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回到哨位，读出的顺序就是 1 2 3 4 5 6。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10959" y="4752975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反方向沿 prev 走一遍，读出的是 6 5 4 3 2 1。</a:t>
              </a:r>
            </a:p>
          </p:txBody>
        </p:sp>
      </p:grpSp>
      <p:grpSp>
        <p:nvGrpSpPr>
          <p:cNvPr id="101" name="c2-callout-3"/>
          <p:cNvGrpSpPr/>
          <p:nvPr/>
        </p:nvGrpSpPr>
        <p:grpSpPr>
          <a:xfrm>
            <a:off x="6680835" y="5318760"/>
            <a:ext cx="4977765" cy="1018222"/>
            <a:chOff x="6680835" y="5318760"/>
            <a:chExt cx="4977765" cy="1018222"/>
          </a:xfrm>
        </p:grpSpPr>
        <p:sp>
          <p:nvSpPr>
            <p:cNvPr id="95" name="Rectangle 95"/>
            <p:cNvSpPr/>
            <p:nvPr/>
          </p:nvSpPr>
          <p:spPr>
            <a:xfrm>
              <a:off x="6680835" y="5318760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6885623" y="5728335"/>
              <a:ext cx="200026" cy="200026"/>
              <a:chOff x="6885623" y="5728335"/>
              <a:chExt cx="200026" cy="20002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885623" y="57283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985635" y="5795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6974523" y="58283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7187946" y="5465921"/>
              <a:ext cx="409016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这里的哨位起了双重作用：既是遍历的起点和终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点，又让每个实际结点的 prev 和 next 都落在合法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下标上。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盒子不动，动的是“指针”：三组赋值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838200"/>
            <a:chOff x="533400" y="1524000"/>
            <a:chExt cx="5410200" cy="8382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838200"/>
            </a:xfrm>
            <a:prstGeom prst="roundRect">
              <a:avLst>
                <a:gd name="adj" fmla="val 11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删除盒子 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766"/>
              <a:ext cx="1551813" cy="344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next[prev[x]] = next[x];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prev[next[x]] = prev[x];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542222"/>
            <a:ext cx="5410200" cy="1168718"/>
            <a:chOff x="533400" y="2542222"/>
            <a:chExt cx="5410200" cy="1168718"/>
          </a:xfrm>
        </p:grpSpPr>
        <p:sp>
          <p:nvSpPr>
            <p:cNvPr id="11" name="Rectangle 11"/>
            <p:cNvSpPr/>
            <p:nvPr/>
          </p:nvSpPr>
          <p:spPr>
            <a:xfrm>
              <a:off x="533400" y="2542222"/>
              <a:ext cx="5410200" cy="1168718"/>
            </a:xfrm>
            <a:prstGeom prst="roundRect">
              <a:avLst>
                <a:gd name="adj" fmla="val 81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694146"/>
              <a:ext cx="1383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把盒子 x 插到 y 的右边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2953988"/>
              <a:ext cx="1166241" cy="676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prev[next[y]] = x;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next[x] = next[y];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prev[x] = y;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next[y] = x;</a:t>
              </a:r>
            </a:p>
          </p:txBody>
        </p:sp>
      </p:grpSp>
      <p:grpSp>
        <p:nvGrpSpPr>
          <p:cNvPr id="18" name="c1-code-3"/>
          <p:cNvGrpSpPr/>
          <p:nvPr/>
        </p:nvGrpSpPr>
        <p:grpSpPr>
          <a:xfrm>
            <a:off x="533400" y="3891915"/>
            <a:ext cx="5410200" cy="1168718"/>
            <a:chOff x="533400" y="3891915"/>
            <a:chExt cx="5410200" cy="1168718"/>
          </a:xfrm>
        </p:grpSpPr>
        <p:sp>
          <p:nvSpPr>
            <p:cNvPr id="15" name="Rectangle 15"/>
            <p:cNvSpPr/>
            <p:nvPr/>
          </p:nvSpPr>
          <p:spPr>
            <a:xfrm>
              <a:off x="533400" y="3891915"/>
              <a:ext cx="5410200" cy="1168718"/>
            </a:xfrm>
            <a:prstGeom prst="roundRect">
              <a:avLst>
                <a:gd name="adj" fmla="val 81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043839"/>
              <a:ext cx="1383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把盒子 x 插到 y 的左边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4303681"/>
              <a:ext cx="1166241" cy="676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next[prev[y]] = x;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prev[x] = prev[y];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next[x] = y;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prev[y] = x;</a:t>
              </a:r>
            </a:p>
          </p:txBody>
        </p:sp>
      </p:grpSp>
      <p:grpSp>
        <p:nvGrpSpPr>
          <p:cNvPr id="25" name="c1-callout-4"/>
          <p:cNvGrpSpPr/>
          <p:nvPr/>
        </p:nvGrpSpPr>
        <p:grpSpPr>
          <a:xfrm>
            <a:off x="533400" y="5240655"/>
            <a:ext cx="5410200" cy="1047750"/>
            <a:chOff x="533400" y="5240655"/>
            <a:chExt cx="5410200" cy="1047750"/>
          </a:xfrm>
        </p:grpSpPr>
        <p:sp>
          <p:nvSpPr>
            <p:cNvPr id="19" name="Rectangle 19"/>
            <p:cNvSpPr/>
            <p:nvPr/>
          </p:nvSpPr>
          <p:spPr>
            <a:xfrm>
              <a:off x="533400" y="5240655"/>
              <a:ext cx="5410200" cy="1047750"/>
            </a:xfrm>
            <a:prstGeom prst="roundRect">
              <a:avLst>
                <a:gd name="adj" fmla="val 1090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660826"/>
              <a:ext cx="224134" cy="192560"/>
              <a:chOff x="726129" y="566082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7311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6608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8089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403056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每组的前两行都在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还没改 next[y] / prev[y] 之前</a:t>
              </a: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把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它读出来用掉。四行的次序不能随便调换，道理和指针版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链表插入完全一样。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797368"/>
            <a:chOff x="6248400" y="1524000"/>
            <a:chExt cx="5410200" cy="1797368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797368"/>
            </a:xfrm>
            <a:prstGeom prst="roundRect">
              <a:avLst>
                <a:gd name="adj" fmla="val 741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46520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17958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两条指令的拆解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54140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0731" y="2082641"/>
              <a:ext cx="3853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`L X Y` = 删除盒子 X，再把 X 插到 Y 的左边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54140" y="24603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10731" y="2400776"/>
              <a:ext cx="3853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`R X Y` = 删除盒子 X，再把 X 插到 Y 的右边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0424" y="2714625"/>
              <a:ext cx="47137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执行前先判一次：`next[X] == Y` 说明已在 Y 左边，`prev[X] == Y`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说明已在 Y 右边，按题意忽略。</a:t>
              </a:r>
            </a:p>
          </p:txBody>
        </p:sp>
      </p:grpSp>
      <p:grpSp>
        <p:nvGrpSpPr>
          <p:cNvPr id="90" name="c2-table-2"/>
          <p:cNvGrpSpPr/>
          <p:nvPr/>
        </p:nvGrpSpPr>
        <p:grpSpPr>
          <a:xfrm>
            <a:off x="6243066" y="3501390"/>
            <a:ext cx="5415534" cy="2828544"/>
            <a:chOff x="6243066" y="3501390"/>
            <a:chExt cx="5415534" cy="2828544"/>
          </a:xfrm>
        </p:grpSpPr>
        <p:sp>
          <p:nvSpPr>
            <p:cNvPr id="35" name="Rectangle 35"/>
            <p:cNvSpPr/>
            <p:nvPr/>
          </p:nvSpPr>
          <p:spPr>
            <a:xfrm>
              <a:off x="6248400" y="350139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46582" y="362997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9241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14068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8896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63723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88551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13378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41063" y="362997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0889" y="4053840"/>
              <a:ext cx="143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 执行 L 1 4 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91462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16289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41117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65944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90772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15599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43284" y="40538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3453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435006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0889" y="4478655"/>
              <a:ext cx="143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执行 L 1 4 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91462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16289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41117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65944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90772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15599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43284" y="44786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47701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50889" y="4903470"/>
              <a:ext cx="127749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 再执行 R 3 5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91462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16289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41117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5944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90772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15599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343284" y="5010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5407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48400" y="5412105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50889" y="5540692"/>
              <a:ext cx="127749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再执行 R 3 5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191462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716289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41117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65944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90772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815599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343284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501390"/>
              <a:ext cx="5410200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975282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500110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024938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548812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073640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598468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1123295" y="350139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43066" y="6124575"/>
              <a:ext cx="4738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 next 从下标 0 出发读出 2 3 1 4 5 6 与 2 1 4 5 3 6，与题目给的结果一致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普通链表的问题：数据和结构粘在一起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065145"/>
            <a:chOff x="533400" y="1524000"/>
            <a:chExt cx="5626418" cy="3065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065145"/>
            </a:xfrm>
            <a:prstGeom prst="roundRect">
              <a:avLst>
                <a:gd name="adj" fmla="val 31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三种业务，三套结点和三套操作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1651076" cy="2571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name[20];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GPA;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*next;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Teacher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name[20];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title[50];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Teacher *next;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ID;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owner[20];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*next;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774882"/>
            <a:ext cx="5626418" cy="1307782"/>
            <a:chOff x="533400" y="4774882"/>
            <a:chExt cx="5626418" cy="1307782"/>
          </a:xfrm>
        </p:grpSpPr>
        <p:sp>
          <p:nvSpPr>
            <p:cNvPr id="11" name="Rectangle 11"/>
            <p:cNvSpPr/>
            <p:nvPr/>
          </p:nvSpPr>
          <p:spPr>
            <a:xfrm>
              <a:off x="533400" y="4774882"/>
              <a:ext cx="5626418" cy="1307782"/>
            </a:xfrm>
            <a:prstGeom prst="roundRect">
              <a:avLst>
                <a:gd name="adj" fmla="val 101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908232"/>
              <a:ext cx="47625" cy="10410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5335" y="49787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5543" y="5014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5351621"/>
              <a:ext cx="47407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47、48 页的 `Car` 里写作 `ower[20]`，应为</a:t>
              </a:r>
              <a:br/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owner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；第 48 页还把它的类型写成了 `int`，应为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char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464618" y="1524000"/>
            <a:ext cx="5193982" cy="1293495"/>
            <a:chOff x="6464618" y="1524000"/>
            <a:chExt cx="5193982" cy="1293495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4142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7961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数据与结构深度耦合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9314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一种类型的链表只能应对一种业务场景。业务场景改变之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后，需要重新定义链表结构，重新实现链表的各种操作。</a:t>
              </a:r>
            </a:p>
          </p:txBody>
        </p:sp>
      </p:grpSp>
      <p:grpSp>
        <p:nvGrpSpPr>
          <p:cNvPr id="43" name="c2-table-2"/>
          <p:cNvGrpSpPr/>
          <p:nvPr/>
        </p:nvGrpSpPr>
        <p:grpSpPr>
          <a:xfrm>
            <a:off x="6464618" y="3002280"/>
            <a:ext cx="5193982" cy="1876425"/>
            <a:chOff x="6464618" y="3002280"/>
            <a:chExt cx="5193982" cy="1876425"/>
          </a:xfrm>
        </p:grpSpPr>
        <p:sp>
          <p:nvSpPr>
            <p:cNvPr id="24" name="Rectangle 24"/>
            <p:cNvSpPr/>
            <p:nvPr/>
          </p:nvSpPr>
          <p:spPr>
            <a:xfrm>
              <a:off x="6464618" y="3002280"/>
              <a:ext cx="5193982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3928" y="313801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5088" y="313801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24846" y="313801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8821" y="3606641"/>
              <a:ext cx="79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23288" y="3606641"/>
              <a:ext cx="1663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InsertStudent(…)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93046" y="3606641"/>
              <a:ext cx="1663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DeleteStudent(…)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3935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3940492"/>
              <a:ext cx="519398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8821" y="4075271"/>
              <a:ext cx="79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Teacher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23288" y="4075271"/>
              <a:ext cx="1663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InsertTeacher(…)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93046" y="4075271"/>
              <a:ext cx="1663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DeleteTeacher(…)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44053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8821" y="4544854"/>
              <a:ext cx="3519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23288" y="4544854"/>
              <a:ext cx="1243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InsertCar(…)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93046" y="4544854"/>
              <a:ext cx="1243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DeleteCar(…)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002280"/>
              <a:ext cx="5193982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14322" y="300228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784080" y="300228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3"/>
          <p:cNvGrpSpPr/>
          <p:nvPr/>
        </p:nvGrpSpPr>
        <p:grpSpPr>
          <a:xfrm>
            <a:off x="6464618" y="5064442"/>
            <a:ext cx="5193982" cy="1018222"/>
            <a:chOff x="6464618" y="5064442"/>
            <a:chExt cx="5193982" cy="1018222"/>
          </a:xfrm>
        </p:grpSpPr>
        <p:sp>
          <p:nvSpPr>
            <p:cNvPr id="44" name="Rectangle 44"/>
            <p:cNvSpPr/>
            <p:nvPr/>
          </p:nvSpPr>
          <p:spPr>
            <a:xfrm>
              <a:off x="6464618" y="506444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5473067"/>
              <a:ext cx="200023" cy="200023"/>
              <a:chOff x="6669405" y="547306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54730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02755" y="5539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729" y="5211604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三套函数的代码几乎一模一样，区别只在结点类型的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名字。每加一种业务就复制粘贴一遍，是典型的重复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侵入式链表：把链接域从数据里抽出来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602230"/>
            <a:chOff x="533400" y="1524000"/>
            <a:chExt cx="5410200" cy="2602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02230"/>
            </a:xfrm>
            <a:prstGeom prst="roundRect">
              <a:avLst>
                <a:gd name="adj" fmla="val 36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一套不含数据、只含指针的链表结构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420366" cy="2105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ListPtr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ListPtr *next;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name[20];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GPA;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ListPtr list;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嵌在数据里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number;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owner[20];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ListPtr list;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28" name="c1-cells-2"/>
          <p:cNvGrpSpPr/>
          <p:nvPr/>
        </p:nvGrpSpPr>
        <p:grpSpPr>
          <a:xfrm>
            <a:off x="528066" y="4291012"/>
            <a:ext cx="3405759" cy="356235"/>
            <a:chOff x="528066" y="4291012"/>
            <a:chExt cx="3405759" cy="356235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44043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串起来的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00150" y="4291012"/>
              <a:ext cx="4857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11548" y="4404360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85925" y="42910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762125" y="44405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790700" y="44691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133600" y="44262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19325" y="4291012"/>
              <a:ext cx="4857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30723" y="4404360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705100" y="42910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781300" y="44405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809875" y="44691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152775" y="44262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38500" y="4291012"/>
              <a:ext cx="4857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49898" y="4404360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724275" y="42910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90969" y="44119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30" name="c1-text-3"/>
          <p:cNvGrpSpPr/>
          <p:nvPr/>
        </p:nvGrpSpPr>
        <p:grpSpPr>
          <a:xfrm>
            <a:off x="528066" y="4830128"/>
            <a:ext cx="5141709" cy="205359"/>
            <a:chOff x="528066" y="4830128"/>
            <a:chExt cx="5141709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28066" y="4830128"/>
              <a:ext cx="5141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链表串的是各结构体里那个 list 字段，宿主结构体是什么类型并不影响链表操作。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125855"/>
            <a:chOff x="6248400" y="1524000"/>
            <a:chExt cx="5410200" cy="112585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125855"/>
            </a:xfrm>
            <a:prstGeom prst="roundRect">
              <a:avLst>
                <a:gd name="adj" fmla="val 11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859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60998" y="17264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只需要一套操作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998" y="202739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只需要定义一种链表结构 `ListPtr`，完成一套链表操作，即可实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现对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所有类型链表的统一管理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c2-code-2"/>
          <p:cNvGrpSpPr/>
          <p:nvPr/>
        </p:nvGrpSpPr>
        <p:grpSpPr>
          <a:xfrm>
            <a:off x="6248400" y="2814638"/>
            <a:ext cx="5410200" cy="1556385"/>
            <a:chOff x="6248400" y="2814638"/>
            <a:chExt cx="5410200" cy="1556385"/>
          </a:xfrm>
        </p:grpSpPr>
        <p:sp>
          <p:nvSpPr>
            <p:cNvPr id="36" name="Rectangle 36"/>
            <p:cNvSpPr/>
            <p:nvPr/>
          </p:nvSpPr>
          <p:spPr>
            <a:xfrm>
              <a:off x="6248400" y="2814638"/>
              <a:ext cx="5410200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6797" y="296656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同一组函数，混着挂两种对象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988" y="3225641"/>
              <a:ext cx="2415159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ListPtr head;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Student *s1 = malloc(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(Student));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InsertList(&amp;head, &amp;s1-&gt;list);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Teacher *t1 = malloc(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(Teacher));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InsertList(&amp;head, &amp;t1-&gt;list);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535805"/>
            <a:ext cx="5410200" cy="1143952"/>
            <a:chOff x="6248400" y="4535805"/>
            <a:chExt cx="5410200" cy="1143952"/>
          </a:xfrm>
        </p:grpSpPr>
        <p:sp>
          <p:nvSpPr>
            <p:cNvPr id="40" name="Rectangle 40"/>
            <p:cNvSpPr/>
            <p:nvPr/>
          </p:nvSpPr>
          <p:spPr>
            <a:xfrm>
              <a:off x="6248400" y="453580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29375" y="471678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10846" y="474964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名字的由来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2898" y="5057299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链表的指针域“侵入”到了业务结构体内部，所以叫侵入式链表。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结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点不再为数据而生，数据自己带着结点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10478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换来的问题是：拿到一个 list 字段的地址，怎么反过来求出它所在的那个 Student 的地址？下一页的 container_of 宏就是干这件事的。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静态链表与侵入式链表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侵入式链表的应用：三个操作系统内核都在用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588895"/>
            <a:chOff x="533400" y="1524000"/>
            <a:chExt cx="5410200" cy="2588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88895"/>
            </a:xfrm>
            <a:prstGeom prst="roundRect">
              <a:avLst>
                <a:gd name="adj" fmla="val 36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29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 内核链表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2529713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list_head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list_head *next, *prev;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offsetof(TYPE, MEMBER) \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((size_t) &amp;((TYPE *)0)-&gt;MEMBER)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container_of(ptr, type, member) \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((type *)((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*)(ptr) -           \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offsetof(type, member)))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list_entry(ptr, type, member) \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container_of(ptr, type, member)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288155"/>
            <a:ext cx="5410200" cy="2050732"/>
            <a:chOff x="533400" y="4288155"/>
            <a:chExt cx="5410200" cy="2050732"/>
          </a:xfrm>
        </p:grpSpPr>
        <p:sp>
          <p:nvSpPr>
            <p:cNvPr id="11" name="Rectangle 11"/>
            <p:cNvSpPr/>
            <p:nvPr/>
          </p:nvSpPr>
          <p:spPr>
            <a:xfrm>
              <a:off x="533400" y="4288155"/>
              <a:ext cx="5410200" cy="2050732"/>
            </a:xfrm>
            <a:prstGeom prst="roundRect">
              <a:avLst>
                <a:gd name="adj" fmla="val 557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213035"/>
              <a:ext cx="200023" cy="200023"/>
              <a:chOff x="738188" y="521303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130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279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4846320"/>
              <a:ext cx="447141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`offsetof` 求出成员在结构体内的字节偏移，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`container_of` 用成员地址减掉这个偏移，就得到宿主结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构体的首地址。整个过程在编译期算好，运行时只有一次减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2268855"/>
            <a:chOff x="6248400" y="1524000"/>
            <a:chExt cx="5410200" cy="226885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15757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鸿蒙内核与 Windows 内核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988" y="1935194"/>
              <a:ext cx="2792349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HarmonyOS：双向循环链表 */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LOS_DL_LIST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LOS_DL_LIST *pstPrev;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前驱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LOS_DL_LIST *pstNext;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后继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LOS_DL_LIST;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Windows：LIST_ENTRY */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_LIST_ENTRY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_LIST_ENTRY *Flink;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指向后继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_LIST_ENTRY *Blink;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指向前驱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LIST_ENTRY;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248400" y="3968115"/>
            <a:ext cx="5410200" cy="1466850"/>
            <a:chOff x="6248400" y="3968115"/>
            <a:chExt cx="5410200" cy="1466850"/>
          </a:xfrm>
        </p:grpSpPr>
        <p:sp>
          <p:nvSpPr>
            <p:cNvPr id="21" name="Rectangle 21"/>
            <p:cNvSpPr/>
            <p:nvPr/>
          </p:nvSpPr>
          <p:spPr>
            <a:xfrm>
              <a:off x="6248400" y="3968115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410146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8905" y="41605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0345" y="4194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4516755"/>
              <a:ext cx="48048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 `Flink` 注成“前向指针”、`Blink` 注成“后向指针”，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容易读反。按 Windows 的定义，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Flink 是 forward link，指向</a:t>
              </a:r>
              <a:br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后继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Blink 是 backward link，指向前驱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3" name="c2-callout-3"/>
          <p:cNvGrpSpPr/>
          <p:nvPr/>
        </p:nvGrpSpPr>
        <p:grpSpPr>
          <a:xfrm>
            <a:off x="6248400" y="5609272"/>
            <a:ext cx="5410200" cy="729615"/>
            <a:chOff x="6248400" y="5609272"/>
            <a:chExt cx="5410200" cy="729615"/>
          </a:xfrm>
        </p:grpSpPr>
        <p:sp>
          <p:nvSpPr>
            <p:cNvPr id="27" name="Rectangle 27"/>
            <p:cNvSpPr/>
            <p:nvPr/>
          </p:nvSpPr>
          <p:spPr>
            <a:xfrm>
              <a:off x="6248400" y="560927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53188" y="5874068"/>
              <a:ext cx="200026" cy="200025"/>
              <a:chOff x="6453188" y="5874068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453188" y="58740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492926" y="59185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27642" y="60296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755892" y="575595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三个内核的链表结点里都没有业务数据，挂进去的是任务、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文件、内存块等各种结构体自己带的链接域。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链表的双指针技巧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六道反复出现在考研题和大厂面试题里的链表题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倒数第 k 个结点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中间结点与链表相交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判环与找环入口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回文判断与结点重排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9635" cy="909257"/>
            <a:chOff x="520446" y="342900"/>
            <a:chExt cx="5589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9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找单链表倒数第 k 个结点：三种解法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734984" cy="278702"/>
            <a:chOff x="526161" y="1547336"/>
            <a:chExt cx="97349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7349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给定一个不含哨位结点的单链表，查找倒数第 k 个结点（k 为正整数），查找成功返回其数据域之值，否则返回 0。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41195"/>
            <a:ext cx="6059805" cy="2023110"/>
            <a:chOff x="533400" y="1941195"/>
            <a:chExt cx="6059805" cy="202311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077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102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1050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遍历次数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9093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2090" y="2471261"/>
              <a:ext cx="2913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先找到最后一个结点，再往前找 k−1 次前驱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32960" y="247126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02605" y="2471261"/>
              <a:ext cx="487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O(nk)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9770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2090" y="2877026"/>
              <a:ext cx="26926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先遍历一遍求出表长 n，再遍历一遍找正数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n−k+1 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2960" y="297703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02605" y="2977039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537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58282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82090" y="3482816"/>
              <a:ext cx="2749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快慢两个指针拉开 k−1 的固定间隔，一起走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到表尾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2960" y="358282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02605" y="3582829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41195"/>
              <a:ext cx="605980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77315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28185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97830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139565"/>
            <a:ext cx="6059805" cy="2119312"/>
            <a:chOff x="533400" y="4139565"/>
            <a:chExt cx="6059805" cy="2119312"/>
          </a:xfrm>
        </p:grpSpPr>
        <p:sp>
          <p:nvSpPr>
            <p:cNvPr id="34" name="Rectangle 34"/>
            <p:cNvSpPr/>
            <p:nvPr/>
          </p:nvSpPr>
          <p:spPr>
            <a:xfrm>
              <a:off x="533400" y="4139565"/>
              <a:ext cx="6059805" cy="2119312"/>
            </a:xfrm>
            <a:prstGeom prst="roundRect">
              <a:avLst>
                <a:gd name="adj" fmla="val 6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72915"/>
              <a:ext cx="47625" cy="18526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33197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7344" y="43662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两点说明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47453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4689158"/>
              <a:ext cx="516536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解法 2 的依据：倒数第 k 个就是正数第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− k + 1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个，第一遍遍历只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用来数出 n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2478" y="53044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8497" y="5248275"/>
              <a:ext cx="524251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单链表找前驱要从表头重走一遍，是 O(n)，共找 k−1 次，所以解法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 是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O(nk)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。源课件第 52 页写作 O(n²)，那是 k 取到 n 的最坏情形</a:t>
              </a:r>
            </a:p>
          </p:txBody>
        </p:sp>
      </p:grpSp>
      <p:grpSp>
        <p:nvGrpSpPr>
          <p:cNvPr id="46" name="c2-code-1"/>
          <p:cNvGrpSpPr/>
          <p:nvPr/>
        </p:nvGrpSpPr>
        <p:grpSpPr>
          <a:xfrm>
            <a:off x="6898005" y="1941195"/>
            <a:ext cx="4760595" cy="1148715"/>
            <a:chOff x="6898005" y="1941195"/>
            <a:chExt cx="4760595" cy="1148715"/>
          </a:xfrm>
        </p:grpSpPr>
        <p:sp>
          <p:nvSpPr>
            <p:cNvPr id="43" name="Rectangle 43"/>
            <p:cNvSpPr/>
            <p:nvPr/>
          </p:nvSpPr>
          <p:spPr>
            <a:xfrm>
              <a:off x="6898005" y="1941195"/>
              <a:ext cx="4760595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26402" y="2093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26592" y="2353342"/>
              <a:ext cx="1607693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ListNode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ListNode *next;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ListNode;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898005" y="3265170"/>
            <a:ext cx="4760595" cy="2088832"/>
            <a:chOff x="6898005" y="3265170"/>
            <a:chExt cx="4760595" cy="2088832"/>
          </a:xfrm>
        </p:grpSpPr>
        <p:sp>
          <p:nvSpPr>
            <p:cNvPr id="47" name="Rectangle 47"/>
            <p:cNvSpPr/>
            <p:nvPr/>
          </p:nvSpPr>
          <p:spPr>
            <a:xfrm>
              <a:off x="6898005" y="3265170"/>
              <a:ext cx="4760595" cy="2088832"/>
            </a:xfrm>
            <a:prstGeom prst="roundRect">
              <a:avLst>
                <a:gd name="adj" fmla="val 638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90410" y="3457575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64518" y="3491865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 3 的道理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35124" y="349758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两个指针之间的距离是不变量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098982" y="38881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55002" y="3831908"/>
              <a:ext cx="39313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先把 fast 移到正数第 k 个，此时 slow 在第 1 个，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两者相距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k − 1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步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098982" y="44472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55002" y="43910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两个指针同步前进，这个距离一直不变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98982" y="475011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55002" y="4693920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fast 停在第 n 个（尾结点）时，slow 正好在第 n 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+ 1 个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898005" y="5529262"/>
            <a:ext cx="4760595" cy="729615"/>
            <a:chOff x="6898005" y="5529262"/>
            <a:chExt cx="4760595" cy="729615"/>
          </a:xfrm>
        </p:grpSpPr>
        <p:sp>
          <p:nvSpPr>
            <p:cNvPr id="58" name="Rectangle 58"/>
            <p:cNvSpPr/>
            <p:nvPr/>
          </p:nvSpPr>
          <p:spPr>
            <a:xfrm>
              <a:off x="6898005" y="5529262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102793" y="5794058"/>
              <a:ext cx="200026" cy="200025"/>
              <a:chOff x="7102793" y="579405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102793" y="57940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42531" y="58385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177247" y="59496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405497" y="5675948"/>
              <a:ext cx="38027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这类“倒着数”的题几乎都能这样做：用固定间隔把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“倒数”换算成“正数”，就不必先知道表长。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快慢指针的代码与一次手工执行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304098"/>
            <a:chOff x="533400" y="1524000"/>
            <a:chExt cx="5410200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返回倒数第 k 个结点的值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784856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kthToLast(ListNode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*slow = head, *fast = head;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fast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i &lt; k; i++)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fast 到第 k 个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==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长度不足 k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(fast-&gt;next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slow-&gt;val;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992880"/>
            <a:ext cx="5410200" cy="702945"/>
            <a:chOff x="533400" y="3992880"/>
            <a:chExt cx="5410200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399288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239696"/>
              <a:ext cx="224134" cy="192560"/>
              <a:chOff x="726129" y="423969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43100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2396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4387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4137184"/>
              <a:ext cx="4361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`if (fast == NULL) return 0;` 同时挡住两件事：长度不足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k，以及 head 为空。少了它下一行就会崩。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59655"/>
            <a:ext cx="5410200" cy="1403032"/>
            <a:chOff x="533400" y="4859655"/>
            <a:chExt cx="5410200" cy="1403032"/>
          </a:xfrm>
        </p:grpSpPr>
        <p:sp>
          <p:nvSpPr>
            <p:cNvPr id="18" name="Rectangle 18"/>
            <p:cNvSpPr/>
            <p:nvPr/>
          </p:nvSpPr>
          <p:spPr>
            <a:xfrm>
              <a:off x="533400" y="4859655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99300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50406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147" y="50734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450" y="5081111"/>
              <a:ext cx="1680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如果调用者传进 k =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5397341"/>
              <a:ext cx="48247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循环一次都不进，fast 留在第 1 个，函数会返回最后一个结点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的值，和 k = 1 一样。稳妥的写法是开头补 `if (k &lt; 1) return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0;`。</a:t>
              </a:r>
            </a:p>
          </p:txBody>
        </p:sp>
      </p:grpSp>
      <p:grpSp>
        <p:nvGrpSpPr>
          <p:cNvPr id="40" name="c2-cells-1"/>
          <p:cNvGrpSpPr/>
          <p:nvPr/>
        </p:nvGrpSpPr>
        <p:grpSpPr>
          <a:xfrm>
            <a:off x="6243447" y="1524000"/>
            <a:ext cx="3320605" cy="356235"/>
            <a:chOff x="6243447" y="1524000"/>
            <a:chExt cx="3320605" cy="356235"/>
          </a:xfrm>
        </p:grpSpPr>
        <p:sp>
          <p:nvSpPr>
            <p:cNvPr id="25" name="TextBox 25"/>
            <p:cNvSpPr txBox="1"/>
            <p:nvPr/>
          </p:nvSpPr>
          <p:spPr>
            <a:xfrm>
              <a:off x="6243447" y="16416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3035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68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4945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159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6855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350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8765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541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306752" y="152400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32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2585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923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144952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11455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78" name="c2-table-2"/>
          <p:cNvGrpSpPr/>
          <p:nvPr/>
        </p:nvGrpSpPr>
        <p:grpSpPr>
          <a:xfrm>
            <a:off x="6243447" y="2045018"/>
            <a:ext cx="5415153" cy="2739103"/>
            <a:chOff x="6243447" y="2045018"/>
            <a:chExt cx="5415153" cy="2739103"/>
          </a:xfrm>
        </p:grpSpPr>
        <p:sp>
          <p:nvSpPr>
            <p:cNvPr id="41" name="Rectangle 41"/>
            <p:cNvSpPr/>
            <p:nvPr/>
          </p:nvSpPr>
          <p:spPr>
            <a:xfrm>
              <a:off x="6248400" y="204501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97028" y="21621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51547" y="2162175"/>
              <a:ext cx="656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slow 指向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29877" y="2162175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fast 指向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84168" y="21621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3079" y="2544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3704" y="2544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5744" y="2544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97784" y="2544128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间隔 k−1 = 2 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803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28079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2925128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次循环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3704" y="2925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5744" y="2925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97784" y="2925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同步前进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184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3079" y="3306128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次循环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33704" y="3306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15744" y="3306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97784" y="3306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同步前进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5661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57092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3079" y="368808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次循环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33704" y="36880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15744" y="36880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97784" y="36880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同步前进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9471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3079" y="416242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次循环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448550" y="3961448"/>
              <a:ext cx="1062990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33704" y="41624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15744" y="41624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97784" y="4069080"/>
              <a:ext cx="167754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`fast-&gt;next == NULL`，退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2045018"/>
              <a:ext cx="5410200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434262" y="2045018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516302" y="2045018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598342" y="2045018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43447" y="4593431"/>
              <a:ext cx="3083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7、k = 3，返回 slow-&gt;val = 5，正是倒数第 3 个</a:t>
              </a:r>
            </a:p>
          </p:txBody>
        </p:sp>
      </p:grpSp>
      <p:grpSp>
        <p:nvGrpSpPr>
          <p:cNvPr id="83" name="c2-card-3"/>
          <p:cNvGrpSpPr/>
          <p:nvPr/>
        </p:nvGrpSpPr>
        <p:grpSpPr>
          <a:xfrm>
            <a:off x="6248400" y="4910138"/>
            <a:ext cx="5410200" cy="1352550"/>
            <a:chOff x="6248400" y="4910138"/>
            <a:chExt cx="5410200" cy="1352550"/>
          </a:xfrm>
        </p:grpSpPr>
        <p:sp>
          <p:nvSpPr>
            <p:cNvPr id="79" name="Rectangle 79"/>
            <p:cNvSpPr/>
            <p:nvPr/>
          </p:nvSpPr>
          <p:spPr>
            <a:xfrm>
              <a:off x="6248400" y="4910138"/>
              <a:ext cx="5410200" cy="1352550"/>
            </a:xfrm>
            <a:prstGeom prst="roundRect">
              <a:avLst>
                <a:gd name="adj" fmla="val 985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429375" y="509111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17996" y="51239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22898" y="5431631"/>
              <a:ext cx="472556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：fast 一共只走了 n − 1 步。空间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：只用了两个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指针，与表长无关。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5226" cy="909257"/>
            <a:chOff x="520446" y="342900"/>
            <a:chExt cx="64152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52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找中间结点：slow 走 1 步，fast 走 2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29300" cy="264033"/>
            <a:chOff x="526542" y="1545907"/>
            <a:chExt cx="58293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只遍历一次链表。若链表长度为偶数，返回两个中间结点中靠右的那个。</a:t>
              </a:r>
            </a:p>
          </p:txBody>
        </p:sp>
      </p:grpSp>
      <p:grpSp>
        <p:nvGrpSpPr>
          <p:cNvPr id="24" name="c1-cells-1"/>
          <p:cNvGrpSpPr/>
          <p:nvPr/>
        </p:nvGrpSpPr>
        <p:grpSpPr>
          <a:xfrm>
            <a:off x="528447" y="1963579"/>
            <a:ext cx="2737675" cy="610077"/>
            <a:chOff x="528447" y="1963579"/>
            <a:chExt cx="2737675" cy="610077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32838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奇数 n=5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70622" y="22050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7125" y="23283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89722" y="22050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56225" y="23283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08822" y="220503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75325" y="23283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27922" y="22050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94425" y="23283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47022" y="22050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13525" y="23283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9009" y="1963579"/>
              <a:ext cx="2587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slow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180272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24311" y="1963579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fast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018472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26" name="c1-text-2"/>
          <p:cNvGrpSpPr/>
          <p:nvPr/>
        </p:nvGrpSpPr>
        <p:grpSpPr>
          <a:xfrm>
            <a:off x="527685" y="2761774"/>
            <a:ext cx="5733887" cy="220028"/>
            <a:chOff x="527685" y="2761774"/>
            <a:chExt cx="5733887" cy="220028"/>
          </a:xfrm>
        </p:grpSpPr>
        <p:sp>
          <p:nvSpPr>
            <p:cNvPr id="25" name="TextBox 25"/>
            <p:cNvSpPr txBox="1"/>
            <p:nvPr/>
          </p:nvSpPr>
          <p:spPr>
            <a:xfrm>
              <a:off x="527685" y="2761774"/>
              <a:ext cx="5733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fast 停在最后一个结点上，`fast-&gt;next == NULL` 让循环退出，slow 停在正中间。</a:t>
              </a:r>
            </a:p>
          </p:txBody>
        </p:sp>
      </p:grpSp>
      <p:grpSp>
        <p:nvGrpSpPr>
          <p:cNvPr id="42" name="c1-cells-3"/>
          <p:cNvGrpSpPr/>
          <p:nvPr/>
        </p:nvGrpSpPr>
        <p:grpSpPr>
          <a:xfrm>
            <a:off x="528447" y="3142774"/>
            <a:ext cx="2737675" cy="610076"/>
            <a:chOff x="528447" y="3142774"/>
            <a:chExt cx="2737675" cy="610076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350758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偶数 n=4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70622" y="338423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37125" y="35075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89722" y="338423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56225" y="35075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08822" y="338423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175325" y="35075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27922" y="338423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94425" y="35075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47022" y="338423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11369" y="350758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89009" y="3142774"/>
              <a:ext cx="2587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slow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2180272" y="32889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24311" y="3142774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fast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018472" y="32889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4" name="c1-text-4"/>
          <p:cNvGrpSpPr/>
          <p:nvPr/>
        </p:nvGrpSpPr>
        <p:grpSpPr>
          <a:xfrm>
            <a:off x="527685" y="3940969"/>
            <a:ext cx="5373878" cy="441008"/>
            <a:chOff x="527685" y="3940969"/>
            <a:chExt cx="5373878" cy="441008"/>
          </a:xfrm>
        </p:grpSpPr>
        <p:sp>
          <p:nvSpPr>
            <p:cNvPr id="43" name="TextBox 43"/>
            <p:cNvSpPr txBox="1"/>
            <p:nvPr/>
          </p:nvSpPr>
          <p:spPr>
            <a:xfrm>
              <a:off x="527685" y="3940969"/>
              <a:ext cx="5373878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fast 越过表尾变成 NULL，`fast != NULL` 让循环退出，slow 停在靠右的那个中间结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点（第 3 个）。</a:t>
              </a:r>
            </a:p>
          </p:txBody>
        </p:sp>
      </p:grpSp>
      <p:grpSp>
        <p:nvGrpSpPr>
          <p:cNvPr id="54" name="c1-card-5"/>
          <p:cNvGrpSpPr/>
          <p:nvPr/>
        </p:nvGrpSpPr>
        <p:grpSpPr>
          <a:xfrm>
            <a:off x="533400" y="4508182"/>
            <a:ext cx="5626418" cy="1760220"/>
            <a:chOff x="533400" y="4508182"/>
            <a:chExt cx="5626418" cy="1760220"/>
          </a:xfrm>
        </p:grpSpPr>
        <p:sp>
          <p:nvSpPr>
            <p:cNvPr id="45" name="Rectangle 45"/>
            <p:cNvSpPr/>
            <p:nvPr/>
          </p:nvSpPr>
          <p:spPr>
            <a:xfrm>
              <a:off x="533400" y="4508182"/>
              <a:ext cx="5626418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64153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8190" y="46948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0862" y="47277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3784" y="4730115"/>
              <a:ext cx="1361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长度为 1 和 2 时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66762" y="511206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2782" y="505587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1：`fast-&gt;next == NULL` 当场成立，循环一次都不进，返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head 本身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6762" y="56702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2782" y="5613083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2：循环进一次后 fast 变成 NULL，slow 停在第 2 个，即靠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右的中间结点</a:t>
              </a:r>
            </a:p>
          </p:txBody>
        </p:sp>
      </p:grpSp>
      <p:grpSp>
        <p:nvGrpSpPr>
          <p:cNvPr id="58" name="c2-code-1"/>
          <p:cNvGrpSpPr/>
          <p:nvPr/>
        </p:nvGrpSpPr>
        <p:grpSpPr>
          <a:xfrm>
            <a:off x="6464618" y="1928812"/>
            <a:ext cx="5193982" cy="1902142"/>
            <a:chOff x="6464618" y="1928812"/>
            <a:chExt cx="5193982" cy="1902142"/>
          </a:xfrm>
        </p:grpSpPr>
        <p:sp>
          <p:nvSpPr>
            <p:cNvPr id="55" name="Rectangle 55"/>
            <p:cNvSpPr/>
            <p:nvPr/>
          </p:nvSpPr>
          <p:spPr>
            <a:xfrm>
              <a:off x="6464618" y="1928812"/>
              <a:ext cx="5193982" cy="1902142"/>
            </a:xfrm>
            <a:prstGeom prst="roundRect">
              <a:avLst>
                <a:gd name="adj" fmla="val 50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3015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返回中间结点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3205" y="2339435"/>
              <a:ext cx="2892933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ListNode *middleNode(ListNode *head)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*fast = head, *slow = head;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fast-&gt;next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slow;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4000500"/>
            <a:ext cx="5193982" cy="1185862"/>
            <a:chOff x="6464618" y="4000500"/>
            <a:chExt cx="5193982" cy="1185862"/>
          </a:xfrm>
        </p:grpSpPr>
        <p:sp>
          <p:nvSpPr>
            <p:cNvPr id="59" name="Rectangle 59"/>
            <p:cNvSpPr/>
            <p:nvPr/>
          </p:nvSpPr>
          <p:spPr>
            <a:xfrm>
              <a:off x="6464618" y="400050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51308" y="4187190"/>
              <a:ext cx="156495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11129" y="4220051"/>
              <a:ext cx="14462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slow 一定在中点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44449" y="4531042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fast 的步数始终是 slow 的 2 倍，fast 走到表尾（约 n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步）时 slow 恰好走了约 n/2 步。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464618" y="5355908"/>
            <a:ext cx="5193982" cy="912495"/>
            <a:chOff x="6464618" y="5355908"/>
            <a:chExt cx="5193982" cy="912495"/>
          </a:xfrm>
        </p:grpSpPr>
        <p:sp>
          <p:nvSpPr>
            <p:cNvPr id="64" name="Rectangle 64"/>
            <p:cNvSpPr/>
            <p:nvPr/>
          </p:nvSpPr>
          <p:spPr>
            <a:xfrm>
              <a:off x="6464618" y="5355908"/>
              <a:ext cx="5193982" cy="912495"/>
            </a:xfrm>
            <a:prstGeom prst="roundRect">
              <a:avLst>
                <a:gd name="adj" fmla="val 125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657347" y="5708451"/>
              <a:ext cx="224134" cy="192560"/>
              <a:chOff x="6657347" y="5708451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769418" y="57788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57347" y="57084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769418" y="58566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72110" y="5594033"/>
              <a:ext cx="39999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两个条件的先后不能换。`fast != NULL` 必须写在前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面，否则偶数长度时会对 NULL 执行 `-&gt;next`。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课下思考题：怎么改才返回靠左的中间结点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对于长度为偶数的链表，若要返回第 1 个中间结点（即两个中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间结点中靠左的那个），该如何修改上一页的代码？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908935"/>
            <a:ext cx="5410200" cy="2108835"/>
            <a:chOff x="533400" y="2908935"/>
            <a:chExt cx="5410200" cy="2108835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5410200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06085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只改循环条件的两个下标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3320129"/>
              <a:ext cx="2468245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ListNode *middleLeft(ListNode *head)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*fast = head, *slow = head;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(fast-&gt;next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fast-&gt;next-&gt;next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slow;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5192078"/>
            <a:ext cx="5410200" cy="1144905"/>
            <a:chOff x="533400" y="5192078"/>
            <a:chExt cx="5410200" cy="1144905"/>
          </a:xfrm>
        </p:grpSpPr>
        <p:sp>
          <p:nvSpPr>
            <p:cNvPr id="17" name="Rectangle 17"/>
            <p:cNvSpPr/>
            <p:nvPr/>
          </p:nvSpPr>
          <p:spPr>
            <a:xfrm>
              <a:off x="533400" y="5192078"/>
              <a:ext cx="5410200" cy="1144905"/>
            </a:xfrm>
            <a:prstGeom prst="roundRect">
              <a:avLst>
                <a:gd name="adj" fmla="val 998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664518"/>
              <a:ext cx="200026" cy="200026"/>
              <a:chOff x="738188" y="566451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6645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731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7645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421630"/>
              <a:ext cx="443712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改法是让 fast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提前一步停住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：原来判断 fast 自己走没走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到头，现在判断 fast 再走两步会不会出界。这样偶数长度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fast 停在倒数第 2 个，slow 少走一步。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243066" y="1524000"/>
            <a:ext cx="5415534" cy="2308479"/>
            <a:chOff x="6243066" y="1524000"/>
            <a:chExt cx="5415534" cy="2308479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120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61242" y="1648301"/>
              <a:ext cx="1037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 middleNode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71793" y="1648301"/>
              <a:ext cx="1188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改后 middleLeft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8412" y="2054066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1 2 3 4 5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3299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1893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2459831"/>
              <a:ext cx="502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1 2 3 4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31443" y="2459831"/>
              <a:ext cx="697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3（靠右）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883140" y="2345055"/>
              <a:ext cx="176593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17381" y="2459831"/>
              <a:ext cx="697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2（靠左）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8412" y="286559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3299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883140" y="2750820"/>
              <a:ext cx="176593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71893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3299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1893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8291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86885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43066" y="362712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四组用例的实际运行结果，已用脚本逐一验证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3966210"/>
            <a:ext cx="5410200" cy="1466850"/>
            <a:chOff x="6248400" y="3966210"/>
            <a:chExt cx="5410200" cy="1466850"/>
          </a:xfrm>
        </p:grpSpPr>
        <p:sp>
          <p:nvSpPr>
            <p:cNvPr id="52" name="Rectangle 52"/>
            <p:cNvSpPr/>
            <p:nvPr/>
          </p:nvSpPr>
          <p:spPr>
            <a:xfrm>
              <a:off x="6248400" y="396621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409956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8905" y="415861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46342" y="419290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新代码的前置条件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2047" y="4515802"/>
              <a:ext cx="4612862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改后的版本第一行就写了 `fast-&gt;next`，所以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 不能为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。调用前要么保证链表非空，要么在函数开头补 `if (head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== NULL) return NULL;`。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5608320"/>
            <a:ext cx="5410200" cy="729615"/>
            <a:chOff x="6248400" y="5608320"/>
            <a:chExt cx="5410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6248400" y="560832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873117"/>
              <a:ext cx="200023" cy="200023"/>
              <a:chOff x="6453188" y="587311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8731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86538" y="59397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5754052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下面的回文判断和结点重排都要把链表从中间切成两半，用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的正是这个“靠左”版本：切完以后左半段不会比右半段短。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链表相交：先判有没有交点，再对齐着走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114178" cy="264033"/>
            <a:chOff x="526542" y="1545907"/>
            <a:chExt cx="101141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114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给定两个单链表的头指针 head1 和 head2，判断是否相交，相交则返回第一个交点，要求时间 O(L₁+L₂)，两链表均不含环。</a:t>
              </a:r>
            </a:p>
          </p:txBody>
        </p:sp>
      </p:grpSp>
      <p:grpSp>
        <p:nvGrpSpPr>
          <p:cNvPr id="32" name="c1-graph-1"/>
          <p:cNvGrpSpPr/>
          <p:nvPr/>
        </p:nvGrpSpPr>
        <p:grpSpPr>
          <a:xfrm>
            <a:off x="718325" y="2139315"/>
            <a:ext cx="5121453" cy="1321689"/>
            <a:chOff x="718325" y="2139315"/>
            <a:chExt cx="5121453" cy="1321689"/>
          </a:xfrm>
        </p:grpSpPr>
        <p:sp>
          <p:nvSpPr>
            <p:cNvPr id="9" name="Freeform 9"/>
            <p:cNvSpPr/>
            <p:nvPr/>
          </p:nvSpPr>
          <p:spPr>
            <a:xfrm>
              <a:off x="1957388" y="22764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65032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32710" y="22764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40355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08032" y="2372678"/>
              <a:ext cx="490538" cy="253365"/>
            </a:xfrm>
            <a:custGeom>
              <a:avLst/>
              <a:gdLst/>
              <a:ahLst/>
              <a:cxnLst/>
              <a:rect l="l" t="t" r="r" b="b"/>
              <a:pathLst>
                <a:path w="490538" h="253365">
                  <a:moveTo>
                    <a:pt x="0" y="0"/>
                  </a:moveTo>
                  <a:lnTo>
                    <a:pt x="490538" y="2533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76662" y="2583180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6678"/>
                  </a:moveTo>
                  <a:lnTo>
                    <a:pt x="0" y="847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57388" y="2874645"/>
              <a:ext cx="1832610" cy="405765"/>
            </a:xfrm>
            <a:custGeom>
              <a:avLst/>
              <a:gdLst/>
              <a:ahLst/>
              <a:cxnLst/>
              <a:rect l="l" t="t" r="r" b="b"/>
              <a:pathLst>
                <a:path w="1832610" h="405765">
                  <a:moveTo>
                    <a:pt x="0" y="405765"/>
                  </a:moveTo>
                  <a:lnTo>
                    <a:pt x="18326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80472" y="2828925"/>
              <a:ext cx="102870" cy="92392"/>
            </a:xfrm>
            <a:custGeom>
              <a:avLst/>
              <a:gdLst/>
              <a:ahLst/>
              <a:cxnLst/>
              <a:rect l="l" t="t" r="r" b="b"/>
              <a:pathLst>
                <a:path w="102870" h="92392">
                  <a:moveTo>
                    <a:pt x="102870" y="25717"/>
                  </a:moveTo>
                  <a:lnTo>
                    <a:pt x="20003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385310" y="2799398"/>
              <a:ext cx="311468" cy="9525"/>
            </a:xfrm>
            <a:custGeom>
              <a:avLst/>
              <a:gdLst/>
              <a:ahLst/>
              <a:cxnLst/>
              <a:rect l="l" t="t" r="r" b="b"/>
              <a:pathLst>
                <a:path w="311468" h="9525">
                  <a:moveTo>
                    <a:pt x="0" y="0"/>
                  </a:moveTo>
                  <a:lnTo>
                    <a:pt x="3114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96778" y="2751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164455" y="279939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72100" y="2751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84960" y="2139315"/>
              <a:ext cx="372428" cy="275272"/>
            </a:xfrm>
            <a:prstGeom prst="roundRect">
              <a:avLst>
                <a:gd name="adj" fmla="val 3460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60282" y="2139315"/>
              <a:ext cx="372428" cy="275272"/>
            </a:xfrm>
            <a:prstGeom prst="roundRect">
              <a:avLst>
                <a:gd name="adj" fmla="val 3460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35605" y="2139315"/>
              <a:ext cx="372428" cy="275272"/>
            </a:xfrm>
            <a:prstGeom prst="roundRect">
              <a:avLst>
                <a:gd name="adj" fmla="val 3460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84960" y="3183255"/>
              <a:ext cx="372428" cy="275272"/>
            </a:xfrm>
            <a:prstGeom prst="roundRect">
              <a:avLst>
                <a:gd name="adj" fmla="val 3460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83342" y="2661285"/>
              <a:ext cx="501968" cy="275272"/>
            </a:xfrm>
            <a:prstGeom prst="roundRect">
              <a:avLst>
                <a:gd name="adj" fmla="val 3460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92028" y="2661285"/>
              <a:ext cx="372428" cy="275272"/>
            </a:xfrm>
            <a:prstGeom prst="roundRect">
              <a:avLst>
                <a:gd name="adj" fmla="val 3460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67350" y="2661285"/>
              <a:ext cx="372428" cy="275272"/>
            </a:xfrm>
            <a:prstGeom prst="roundRect">
              <a:avLst>
                <a:gd name="adj" fmla="val 3460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8325" y="221170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8325" y="325564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88118" y="27336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05581" y="27336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833812"/>
            <a:ext cx="5626418" cy="2453640"/>
            <a:chOff x="533400" y="3833812"/>
            <a:chExt cx="5626418" cy="2453640"/>
          </a:xfrm>
        </p:grpSpPr>
        <p:sp>
          <p:nvSpPr>
            <p:cNvPr id="33" name="Rectangle 33"/>
            <p:cNvSpPr/>
            <p:nvPr/>
          </p:nvSpPr>
          <p:spPr>
            <a:xfrm>
              <a:off x="533400" y="3833812"/>
              <a:ext cx="5626418" cy="2453640"/>
            </a:xfrm>
            <a:prstGeom prst="roundRect">
              <a:avLst>
                <a:gd name="adj" fmla="val 543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4375" y="4014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8944" y="4047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关键观察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29906" y="405526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相交之后就再也分不开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7898" y="4371499"/>
              <a:ext cx="5019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单链表每个结点只有一个 next，两条链一旦合在一起就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共用后面的全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部结点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，形状是 Y 形而不是 X 形。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6464618" y="1938338"/>
            <a:ext cx="5005006" cy="2176080"/>
            <a:chOff x="6464618" y="1938338"/>
            <a:chExt cx="5005006" cy="2176080"/>
          </a:xfrm>
        </p:grpSpPr>
        <p:sp>
          <p:nvSpPr>
            <p:cNvPr id="39" name="Rectangle 39"/>
            <p:cNvSpPr/>
            <p:nvPr/>
          </p:nvSpPr>
          <p:spPr>
            <a:xfrm>
              <a:off x="6597968" y="2081212"/>
              <a:ext cx="19050" cy="1492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26841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27579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34309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3504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7241" y="19683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判是否相交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8384" y="2223135"/>
              <a:ext cx="447789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分别遍历两条链，记下各自的尾结点和长度 L₁、L₂。尾结点相同则相交，否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则不相交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7241" y="27151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8384" y="2969895"/>
              <a:ext cx="459124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指向较长的那条链，先向后移动 |L₁ − L₂| 步，使 p1 和 p2 到表尾的距离相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7241" y="34618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并行找交点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8384" y="3715702"/>
              <a:ext cx="45579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和 p2 同时向后移动，每移动一步比较一次，二者相等时指向的结点即为交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4276725"/>
            <a:ext cx="5193982" cy="1143952"/>
            <a:chOff x="6464618" y="4276725"/>
            <a:chExt cx="5193982" cy="1143952"/>
          </a:xfrm>
        </p:grpSpPr>
        <p:sp>
          <p:nvSpPr>
            <p:cNvPr id="53" name="Rectangle 53"/>
            <p:cNvSpPr/>
            <p:nvPr/>
          </p:nvSpPr>
          <p:spPr>
            <a:xfrm>
              <a:off x="6464618" y="4276725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441007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3692" y="445770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53962" y="449056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为什么先比尾结点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77216" y="4797266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比较的是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结点地址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而不是数据域的值。两条链的最后一个结点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地址相同，就说明它们在某处合并了。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464618" y="5585460"/>
            <a:ext cx="5193982" cy="702945"/>
            <a:chOff x="6464618" y="5585460"/>
            <a:chExt cx="5193982" cy="702945"/>
          </a:xfrm>
        </p:grpSpPr>
        <p:sp>
          <p:nvSpPr>
            <p:cNvPr id="59" name="Rectangle 59"/>
            <p:cNvSpPr/>
            <p:nvPr/>
          </p:nvSpPr>
          <p:spPr>
            <a:xfrm>
              <a:off x="6464618" y="558546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5836920"/>
              <a:ext cx="200026" cy="200026"/>
              <a:chOff x="6669405" y="5836920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58369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69418" y="5903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58305" y="59369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2491" y="5729764"/>
              <a:ext cx="41501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直接对每个结点 i ∈ 链表1 去链表2 里查一遍也能做，但那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O(L₁ × L₂)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，达不到题目要求。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相交问题的完整代码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985135"/>
            <a:chOff x="533400" y="1524000"/>
            <a:chExt cx="5842635" cy="2985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985135"/>
            </a:xfrm>
            <a:prstGeom prst="roundRect">
              <a:avLst>
                <a:gd name="adj" fmla="val 31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27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相交返回交点，否则返回 NULL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253359" cy="2482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ListNode *cross(ListNode *h1, ListNode *h2)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(h1 ==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h2 ==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(h1 == h2)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h1;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*p1 = h1, *p2 = h2;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L1 = 1, L2 = 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(p1-&gt;next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L1++; p1 = p1-&gt;next;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(p2-&gt;next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L2++; p2 = p2-&gt;next;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(p1 != p2)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不相交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(L1 &gt;= L2) { p1 = h1; p2 = h2;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{ p1 = h2; p2 = h1;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abs(L1 - L2); i++)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p1 = p1-&gt;next;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对齐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(p1 != p2) { p1 = p1-&gt;next; p2 = p2-&gt;next;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678680"/>
            <a:ext cx="5842635" cy="729615"/>
            <a:chOff x="533400" y="4678680"/>
            <a:chExt cx="5842635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467868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943475"/>
              <a:ext cx="200026" cy="200025"/>
              <a:chOff x="738188" y="494347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9434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9879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0990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825365"/>
              <a:ext cx="48400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对齐后并行前进的写法，本质上和倒数第 k 个结点一样，都是先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把两个指针调到“到终点的距离相同”，再一起走。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578792"/>
            <a:ext cx="5842635" cy="729615"/>
            <a:chOff x="533400" y="5578792"/>
            <a:chExt cx="5842635" cy="729615"/>
          </a:xfrm>
        </p:grpSpPr>
        <p:sp>
          <p:nvSpPr>
            <p:cNvPr id="18" name="Rectangle 18"/>
            <p:cNvSpPr/>
            <p:nvPr/>
          </p:nvSpPr>
          <p:spPr>
            <a:xfrm>
              <a:off x="533400" y="557879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838943"/>
              <a:ext cx="224134" cy="192560"/>
              <a:chOff x="726129" y="583894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9093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8389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9870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724525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题目假设两条链都不含环。若可能含环，要先用后面的判环算法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各自处理，再谈相交。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524000"/>
            <a:ext cx="4977765" cy="1528762"/>
            <a:chOff x="6680835" y="1524000"/>
            <a:chExt cx="4977765" cy="1528762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1528762"/>
            </a:xfrm>
            <a:prstGeom prst="roundRect">
              <a:avLst>
                <a:gd name="adj" fmla="val 87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67525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56146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76098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32117" y="2054542"/>
              <a:ext cx="1986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两次求长度：L₁ + L₂ 步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76098" y="24117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32117" y="2355532"/>
              <a:ext cx="4554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对齐：|L₁ − L₂| 步；并行前进：不超过 min(L₁, L₂) 步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76098" y="271176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32117" y="2655570"/>
              <a:ext cx="3835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合计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O(L₁ + L₂)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，空间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，符合题目要求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680835" y="3223260"/>
            <a:ext cx="4977765" cy="3085148"/>
            <a:chOff x="6680835" y="3223260"/>
            <a:chExt cx="4977765" cy="3085148"/>
          </a:xfrm>
        </p:grpSpPr>
        <p:sp>
          <p:nvSpPr>
            <p:cNvPr id="35" name="Rectangle 35"/>
            <p:cNvSpPr/>
            <p:nvPr/>
          </p:nvSpPr>
          <p:spPr>
            <a:xfrm>
              <a:off x="6680835" y="3223260"/>
              <a:ext cx="4977765" cy="3085148"/>
            </a:xfrm>
            <a:prstGeom prst="roundRect">
              <a:avLst>
                <a:gd name="adj" fmla="val 43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3356610"/>
              <a:ext cx="47625" cy="28184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5625" y="340995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1843" y="344281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三个容易写错的地方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14198" y="38100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0217" y="3753802"/>
              <a:ext cx="3618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长度从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开始数，因为循环条件是 `p-&gt;next !=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NULL`，走到尾结点就停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14198" y="43672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70217" y="4311015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对齐前要先判断哪条链更长，别默认 h1 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14198" y="46672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70217" y="461105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判相交用 `p1 != p2` 比地址，写成比 `p1-&gt;val` 会把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值相同的不同结点当成交点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考研题：两个单词共同后缀的起始位置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654538" cy="541592"/>
            <a:chOff x="526161" y="1547336"/>
            <a:chExt cx="1065453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6545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用带哨位结点的单链表保存单词，两个单词有相同的后缀时共享这段存储空间。设计时间上尽可能高效的算法，找出共同后缀的起始位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置。（13 分，全国卷）</a:t>
              </a:r>
            </a:p>
          </p:txBody>
        </p:sp>
      </p:grpSp>
      <p:grpSp>
        <p:nvGrpSpPr>
          <p:cNvPr id="46" name="c1-graph-1"/>
          <p:cNvGrpSpPr/>
          <p:nvPr/>
        </p:nvGrpSpPr>
        <p:grpSpPr>
          <a:xfrm>
            <a:off x="717396" y="2707005"/>
            <a:ext cx="5702454" cy="2312194"/>
            <a:chOff x="717396" y="2707005"/>
            <a:chExt cx="5702454" cy="2312194"/>
          </a:xfrm>
        </p:grpSpPr>
        <p:sp>
          <p:nvSpPr>
            <p:cNvPr id="9" name="Freeform 9"/>
            <p:cNvSpPr/>
            <p:nvPr/>
          </p:nvSpPr>
          <p:spPr>
            <a:xfrm>
              <a:off x="1875472" y="2853690"/>
              <a:ext cx="250507" cy="9525"/>
            </a:xfrm>
            <a:custGeom>
              <a:avLst/>
              <a:gdLst/>
              <a:ahLst/>
              <a:cxnLst/>
              <a:rect l="l" t="t" r="r" b="b"/>
              <a:pathLst>
                <a:path w="250507" h="9525">
                  <a:moveTo>
                    <a:pt x="0" y="0"/>
                  </a:moveTo>
                  <a:lnTo>
                    <a:pt x="2505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25980" y="2806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02230" y="2853690"/>
              <a:ext cx="250508" cy="9525"/>
            </a:xfrm>
            <a:custGeom>
              <a:avLst/>
              <a:gdLst/>
              <a:ahLst/>
              <a:cxnLst/>
              <a:rect l="l" t="t" r="r" b="b"/>
              <a:pathLst>
                <a:path w="250508" h="9525">
                  <a:moveTo>
                    <a:pt x="0" y="0"/>
                  </a:moveTo>
                  <a:lnTo>
                    <a:pt x="2505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52738" y="2806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29940" y="2853690"/>
              <a:ext cx="250507" cy="9525"/>
            </a:xfrm>
            <a:custGeom>
              <a:avLst/>
              <a:gdLst/>
              <a:ahLst/>
              <a:cxnLst/>
              <a:rect l="l" t="t" r="r" b="b"/>
              <a:pathLst>
                <a:path w="250507" h="9525">
                  <a:moveTo>
                    <a:pt x="0" y="0"/>
                  </a:moveTo>
                  <a:lnTo>
                    <a:pt x="2505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80448" y="2806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03358" y="3001328"/>
              <a:ext cx="569595" cy="610552"/>
            </a:xfrm>
            <a:custGeom>
              <a:avLst/>
              <a:gdLst/>
              <a:ahLst/>
              <a:cxnLst/>
              <a:rect l="l" t="t" r="r" b="b"/>
              <a:pathLst>
                <a:path w="569595" h="610552">
                  <a:moveTo>
                    <a:pt x="0" y="0"/>
                  </a:moveTo>
                  <a:lnTo>
                    <a:pt x="569595" y="6105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37710" y="3579495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4770"/>
                  </a:lnTo>
                  <a:lnTo>
                    <a:pt x="6953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75472" y="4869180"/>
              <a:ext cx="250507" cy="9525"/>
            </a:xfrm>
            <a:custGeom>
              <a:avLst/>
              <a:gdLst/>
              <a:ahLst/>
              <a:cxnLst/>
              <a:rect l="l" t="t" r="r" b="b"/>
              <a:pathLst>
                <a:path w="250507" h="9525">
                  <a:moveTo>
                    <a:pt x="0" y="0"/>
                  </a:moveTo>
                  <a:lnTo>
                    <a:pt x="2505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125980" y="48215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602230" y="3951922"/>
              <a:ext cx="1894523" cy="833438"/>
            </a:xfrm>
            <a:custGeom>
              <a:avLst/>
              <a:gdLst/>
              <a:ahLst/>
              <a:cxnLst/>
              <a:rect l="l" t="t" r="r" b="b"/>
              <a:pathLst>
                <a:path w="1894523" h="833438">
                  <a:moveTo>
                    <a:pt x="0" y="833438"/>
                  </a:moveTo>
                  <a:lnTo>
                    <a:pt x="18945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77702" y="390810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4762"/>
                  </a:moveTo>
                  <a:lnTo>
                    <a:pt x="39052" y="8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965382" y="3829050"/>
              <a:ext cx="250508" cy="9525"/>
            </a:xfrm>
            <a:custGeom>
              <a:avLst/>
              <a:gdLst/>
              <a:ahLst/>
              <a:cxnLst/>
              <a:rect l="l" t="t" r="r" b="b"/>
              <a:pathLst>
                <a:path w="250508" h="9525">
                  <a:moveTo>
                    <a:pt x="0" y="0"/>
                  </a:moveTo>
                  <a:lnTo>
                    <a:pt x="2505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215890" y="3781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693092" y="3829050"/>
              <a:ext cx="250507" cy="9525"/>
            </a:xfrm>
            <a:custGeom>
              <a:avLst/>
              <a:gdLst/>
              <a:ahLst/>
              <a:cxnLst/>
              <a:rect l="l" t="t" r="r" b="b"/>
              <a:pathLst>
                <a:path w="250507" h="9525">
                  <a:moveTo>
                    <a:pt x="0" y="0"/>
                  </a:moveTo>
                  <a:lnTo>
                    <a:pt x="2505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943600" y="3781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494472" y="2707005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21230" y="2707005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47988" y="2707005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75698" y="2707005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494472" y="4721542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21230" y="4721542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84382" y="3681412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11140" y="3681412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38850" y="3681412"/>
              <a:ext cx="381000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7396" y="27836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55511" y="278368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62479" y="2783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89236" y="2783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16946" y="2783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396" y="47991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35721" y="4799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62479" y="4799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45421" y="375904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53341" y="3759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80099" y="3759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28733" y="46262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</p:grpSp>
      <p:grpSp>
        <p:nvGrpSpPr>
          <p:cNvPr id="48" name="c1-text-2"/>
          <p:cNvGrpSpPr/>
          <p:nvPr/>
        </p:nvGrpSpPr>
        <p:grpSpPr>
          <a:xfrm>
            <a:off x="971807" y="5647849"/>
            <a:ext cx="5182992" cy="220028"/>
            <a:chOff x="971807" y="5647849"/>
            <a:chExt cx="5182992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971807" y="5647849"/>
              <a:ext cx="5182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“loading”与“being”共享后缀“ing”，要求返回的就是字符 i 所在结点的位置 p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2204085"/>
            <a:ext cx="4760595" cy="1226820"/>
            <a:chOff x="6898005" y="2204085"/>
            <a:chExt cx="4760595" cy="1226820"/>
          </a:xfrm>
        </p:grpSpPr>
        <p:sp>
          <p:nvSpPr>
            <p:cNvPr id="49" name="Rectangle 49"/>
            <p:cNvSpPr/>
            <p:nvPr/>
          </p:nvSpPr>
          <p:spPr>
            <a:xfrm>
              <a:off x="6898005" y="2204085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90410" y="2396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81850" y="2430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74102" y="24364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这就是上一页的相交问题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83552" y="276987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共享后缀等于两条链在某处合并，共同后缀的起始位置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就是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第一个交点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。直接套用 cross 即可。</a:t>
              </a:r>
            </a:p>
          </p:txBody>
        </p:sp>
      </p:grpSp>
      <p:grpSp>
        <p:nvGrpSpPr>
          <p:cNvPr id="68" name="c2-steps-2"/>
          <p:cNvGrpSpPr/>
          <p:nvPr/>
        </p:nvGrpSpPr>
        <p:grpSpPr>
          <a:xfrm>
            <a:off x="6898005" y="3615690"/>
            <a:ext cx="4435414" cy="1693069"/>
            <a:chOff x="6898005" y="3615690"/>
            <a:chExt cx="4435414" cy="1693069"/>
          </a:xfrm>
        </p:grpSpPr>
        <p:sp>
          <p:nvSpPr>
            <p:cNvPr id="55" name="Rectangle 55"/>
            <p:cNvSpPr/>
            <p:nvPr/>
          </p:nvSpPr>
          <p:spPr>
            <a:xfrm>
              <a:off x="7031355" y="375856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898005" y="36156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1629" y="36895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898005" y="42024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1629" y="4276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898005" y="47891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91629" y="4862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10247" y="364712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数长度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11390" y="3915251"/>
              <a:ext cx="2991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= 7（l o a d i n g），L₂ = 5（b e i n g）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10247" y="42338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11390" y="4501991"/>
              <a:ext cx="3532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从 str1 的第 1 个结点先走 |7 − 5| = 2 步，停在 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10247" y="48215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11390" y="5088731"/>
              <a:ext cx="4022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同步前进：a 对 b，d 对 e，再走一步两者同时到达 i，返回 i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898005" y="5477828"/>
            <a:ext cx="4760595" cy="729615"/>
            <a:chOff x="6898005" y="5477828"/>
            <a:chExt cx="4760595" cy="729615"/>
          </a:xfrm>
        </p:grpSpPr>
        <p:sp>
          <p:nvSpPr>
            <p:cNvPr id="69" name="Rectangle 69"/>
            <p:cNvSpPr/>
            <p:nvPr/>
          </p:nvSpPr>
          <p:spPr>
            <a:xfrm>
              <a:off x="6898005" y="547782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102793" y="5742623"/>
              <a:ext cx="200026" cy="200026"/>
              <a:chOff x="7102793" y="5742623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102793" y="57426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202805" y="5809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191693" y="58426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405497" y="5623560"/>
              <a:ext cx="38027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题干里的“带头结点”指的正是哨位结点，数长度时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不要把它算进去。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判环：快指针总能从后面追上慢指针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5410200" cy="1945577"/>
            <a:chOff x="533400" y="1524000"/>
            <a:chExt cx="5410200" cy="194557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9706" r="0" b="29707"/>
            <a:stretch>
              <a:fillRect/>
            </a:stretch>
          </p:blipFill>
          <p:spPr>
            <a:xfrm>
              <a:off x="533400" y="1524000"/>
              <a:ext cx="5410200" cy="1646872"/>
            </a:xfrm>
            <a:prstGeom prst="roundRect">
              <a:avLst>
                <a:gd name="adj" fmla="val 8097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466278" y="326421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环形跑道上跑得快的那个人终究会从后面追上跑得慢的人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22358"/>
            <a:ext cx="5410200" cy="1814512"/>
            <a:chOff x="533400" y="3622358"/>
            <a:chExt cx="5410200" cy="1814512"/>
          </a:xfrm>
        </p:grpSpPr>
        <p:sp>
          <p:nvSpPr>
            <p:cNvPr id="10" name="Rectangle 10"/>
            <p:cNvSpPr/>
            <p:nvPr/>
          </p:nvSpPr>
          <p:spPr>
            <a:xfrm>
              <a:off x="533400" y="3622358"/>
              <a:ext cx="5410200" cy="1814512"/>
            </a:xfrm>
            <a:prstGeom prst="roundRect">
              <a:avLst>
                <a:gd name="adj" fmla="val 734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5805" y="381476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3242" y="3849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为什么一定会相遇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4378" y="42281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397" y="4171950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两个指针都进环后，fast 每轮比 slow 多走 1 步，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间隔每轮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缩小 1 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4378" y="478726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0397" y="4731068"/>
              <a:ext cx="3487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间隔最多是环长 L，所以 L 轮之内必然追上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4378" y="50901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0397" y="5033962"/>
              <a:ext cx="3001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fast 中途达到 NULL，则说明无环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612130"/>
            <a:ext cx="5410200" cy="729615"/>
            <a:chOff x="533400" y="5612130"/>
            <a:chExt cx="5410200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561213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873233"/>
              <a:ext cx="224134" cy="192560"/>
              <a:chOff x="726129" y="5873233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9436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8732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6021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5757862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 fast 一次走 3 步，间隔每轮减 2，环长为奇数时可能一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直跨过对方。差 1 步最稳妥。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2108835"/>
            <a:chOff x="6248400" y="1524000"/>
            <a:chExt cx="5410200" cy="210883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判断单链表中是否含有环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988" y="1935194"/>
              <a:ext cx="2959989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hasCycle(ListNode *head)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*slow = head, *fast = head;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fast-&gt;next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== slow)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808095"/>
            <a:ext cx="5410200" cy="1511618"/>
            <a:chOff x="6248400" y="3808095"/>
            <a:chExt cx="5410200" cy="1511618"/>
          </a:xfrm>
        </p:grpSpPr>
        <p:sp>
          <p:nvSpPr>
            <p:cNvPr id="31" name="Rectangle 31"/>
            <p:cNvSpPr/>
            <p:nvPr/>
          </p:nvSpPr>
          <p:spPr>
            <a:xfrm>
              <a:off x="6248400" y="38080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941445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40005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2344" y="40347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写法细节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87478" y="44129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3497" y="4356735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判断必须放在两个指针都移动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之后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。放在循环开头时，初始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slow == fast == head 会立刻误判为有环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87478" y="49730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3497" y="491680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循环条件仍是那两个，少判一个就会在无环链表的尾部越界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248400" y="5494972"/>
            <a:ext cx="5410200" cy="846772"/>
            <a:chOff x="6248400" y="5494972"/>
            <a:chExt cx="5410200" cy="846772"/>
          </a:xfrm>
        </p:grpSpPr>
        <p:sp>
          <p:nvSpPr>
            <p:cNvPr id="40" name="Rectangle 40"/>
            <p:cNvSpPr/>
            <p:nvPr/>
          </p:nvSpPr>
          <p:spPr>
            <a:xfrm>
              <a:off x="6248400" y="5494972"/>
              <a:ext cx="5410200" cy="846772"/>
            </a:xfrm>
            <a:prstGeom prst="roundRect">
              <a:avLst>
                <a:gd name="adj" fmla="val 1349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5817872"/>
              <a:ext cx="200023" cy="200023"/>
              <a:chOff x="6453188" y="5817872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58178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86538" y="58845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892" y="5699760"/>
              <a:ext cx="44491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：无环时 fast 走 n/2 轮结束，有环时最多再走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L 轮。空间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，只用两个指针，不需要额外的哈希表。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22889" cy="909257"/>
            <a:chOff x="520446" y="342900"/>
            <a:chExt cx="45228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228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找环的入口：为什么 a 等于 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624838" y="1994535"/>
            <a:ext cx="4632010" cy="2426970"/>
            <a:chOff x="624838" y="1994535"/>
            <a:chExt cx="4632010" cy="2426970"/>
          </a:xfrm>
        </p:grpSpPr>
        <p:sp>
          <p:nvSpPr>
            <p:cNvPr id="7" name="Freeform 7"/>
            <p:cNvSpPr/>
            <p:nvPr/>
          </p:nvSpPr>
          <p:spPr>
            <a:xfrm>
              <a:off x="1317308" y="3013710"/>
              <a:ext cx="931545" cy="9525"/>
            </a:xfrm>
            <a:custGeom>
              <a:avLst/>
              <a:gdLst/>
              <a:ahLst/>
              <a:cxnLst/>
              <a:rect l="l" t="t" r="r" b="b"/>
              <a:pathLst>
                <a:path w="931545" h="9525">
                  <a:moveTo>
                    <a:pt x="0" y="0"/>
                  </a:moveTo>
                  <a:lnTo>
                    <a:pt x="9315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48852" y="29660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32735" y="2073592"/>
              <a:ext cx="1184910" cy="791528"/>
            </a:xfrm>
            <a:custGeom>
              <a:avLst/>
              <a:gdLst/>
              <a:ahLst/>
              <a:cxnLst/>
              <a:rect l="l" t="t" r="r" b="b"/>
              <a:pathLst>
                <a:path w="1184910" h="791528">
                  <a:moveTo>
                    <a:pt x="0" y="791528"/>
                  </a:moveTo>
                  <a:lnTo>
                    <a:pt x="11849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98608" y="2088832"/>
              <a:ext cx="689610" cy="955358"/>
            </a:xfrm>
            <a:custGeom>
              <a:avLst/>
              <a:gdLst/>
              <a:ahLst/>
              <a:cxnLst/>
              <a:rect l="l" t="t" r="r" b="b"/>
              <a:pathLst>
                <a:path w="689610" h="955358">
                  <a:moveTo>
                    <a:pt x="0" y="0"/>
                  </a:moveTo>
                  <a:lnTo>
                    <a:pt x="689610" y="9553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49165" y="3016568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5245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591878" y="3491865"/>
              <a:ext cx="1190625" cy="848677"/>
            </a:xfrm>
            <a:custGeom>
              <a:avLst/>
              <a:gdLst/>
              <a:ahLst/>
              <a:cxnLst/>
              <a:rect l="l" t="t" r="r" b="b"/>
              <a:pathLst>
                <a:path w="1190625" h="848677">
                  <a:moveTo>
                    <a:pt x="1190625" y="0"/>
                  </a:moveTo>
                  <a:lnTo>
                    <a:pt x="0" y="8486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815590" y="3311842"/>
              <a:ext cx="698182" cy="1015365"/>
            </a:xfrm>
            <a:custGeom>
              <a:avLst/>
              <a:gdLst/>
              <a:ahLst/>
              <a:cxnLst/>
              <a:rect l="l" t="t" r="r" b="b"/>
              <a:pathLst>
                <a:path w="698182" h="1015365">
                  <a:moveTo>
                    <a:pt x="698182" y="10153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62250" y="3233738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0" y="0"/>
                  </a:moveTo>
                  <a:lnTo>
                    <a:pt x="93345" y="51435"/>
                  </a:lnTo>
                  <a:lnTo>
                    <a:pt x="14288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212532" y="296608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353628" y="2756535"/>
              <a:ext cx="514350" cy="5143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017645" y="199453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742498" y="3080385"/>
              <a:ext cx="514350" cy="5143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498532" y="432625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838" y="294798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64118" y="29479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52988" y="3271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相遇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64030" y="29346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95586" y="2964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58515" y="23907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90071" y="24207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20515" y="3837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52071" y="38676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31" name="c1-text-2"/>
          <p:cNvGrpSpPr/>
          <p:nvPr/>
        </p:nvGrpSpPr>
        <p:grpSpPr>
          <a:xfrm>
            <a:off x="528066" y="4944428"/>
            <a:ext cx="4991290" cy="412052"/>
            <a:chOff x="528066" y="4944428"/>
            <a:chExt cx="4991290" cy="412052"/>
          </a:xfrm>
        </p:grpSpPr>
        <p:sp>
          <p:nvSpPr>
            <p:cNvPr id="30" name="TextBox 30"/>
            <p:cNvSpPr txBox="1"/>
            <p:nvPr/>
          </p:nvSpPr>
          <p:spPr>
            <a:xfrm>
              <a:off x="528066" y="4944428"/>
              <a:ext cx="4991290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是 head 到入口的距离，b 是入口到相遇点的距离，c 是相遇点绕回入口的距离。环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L = b + c。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032182" y="1524000"/>
            <a:ext cx="5626418" cy="2412682"/>
            <a:chOff x="6032182" y="1524000"/>
            <a:chExt cx="5626418" cy="2412682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2412682"/>
            </a:xfrm>
            <a:prstGeom prst="roundRect">
              <a:avLst>
                <a:gd name="adj" fmla="val 5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1657350"/>
              <a:ext cx="47625" cy="21459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125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97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7233" y="1744504"/>
              <a:ext cx="2776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相遇时 fast 的步数是 slow 的 2 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60782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6230" y="20616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slow 走过的步数是 a + b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60782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6230" y="2346484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fast 走过的步数是 a + b + nL（n ≥ 1，表示 fast 在环里多绕的圈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60782" y="29270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6230" y="2874169"/>
              <a:ext cx="4771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由 2(a + b) = a + b + nL 得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+ b = nL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 a = nL − b = (n−1)L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45924" y="3398520"/>
              <a:ext cx="49112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 从 head 走 a 步到入口；p2 从相遇点走 (n−1)L + c 步，即绕 n−1 圈再走 c 步，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也停在入口。两个指针同速前进，相等处就是入口。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032182" y="4101465"/>
            <a:ext cx="5626418" cy="1386840"/>
            <a:chOff x="6032182" y="4101465"/>
            <a:chExt cx="5626418" cy="1386840"/>
          </a:xfrm>
        </p:grpSpPr>
        <p:sp>
          <p:nvSpPr>
            <p:cNvPr id="45" name="Rectangle 45"/>
            <p:cNvSpPr/>
            <p:nvPr/>
          </p:nvSpPr>
          <p:spPr>
            <a:xfrm>
              <a:off x="6032182" y="4101465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41708" y="423481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1258" y="42824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977" y="43153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44780" y="4622959"/>
              <a:ext cx="50198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68 页按“fast 进环 1 圈后即与 slow 相遇”推出 a = c，把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“绕很多圈是否还可行”留作思考。取一般的 n 结论仍成立，n = 1 时退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 a = c。已用脚本对 n = 2…39 的所有入口位置逐一验证。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1" name="Rectangle 51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5805011"/>
              <a:ext cx="989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换个说法：从相遇结点处把环断开，原链表就成了从 head 和从相遇点出发的两条单链表，找环入口即上一页的链表相交问题，而且这两条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链不需要先对齐。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找环入口的代码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050858"/>
            <a:chOff x="533400" y="1524000"/>
            <a:chExt cx="5842635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908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有环返回入口结点，无环返回 NULL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758821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ListNode *detectCycleEntrance(ListNode *head)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*slow = head, *fast = head;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fast-&gt;next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== slow) {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有环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ListNode *p1 = head, *p2 = fast;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(p1 != p2)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p1 = p1-&gt;next;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p2 = p2-&gt;next;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p1;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环的入口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无环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739640"/>
            <a:ext cx="5842635" cy="702945"/>
            <a:chOff x="533400" y="4739640"/>
            <a:chExt cx="5842635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473964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987408"/>
              <a:ext cx="224134" cy="192560"/>
              <a:chOff x="726129" y="4987408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0577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9874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1355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488489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两行移动的先后可以调换，但 `if (fast == slow)` 必须放在两者都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移动之后，否则第一轮就会因初值相同而误判。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607368"/>
            <a:ext cx="5842635" cy="702945"/>
            <a:chOff x="533400" y="5607368"/>
            <a:chExt cx="5842635" cy="702945"/>
          </a:xfrm>
        </p:grpSpPr>
        <p:sp>
          <p:nvSpPr>
            <p:cNvPr id="18" name="Rectangle 18"/>
            <p:cNvSpPr/>
            <p:nvPr/>
          </p:nvSpPr>
          <p:spPr>
            <a:xfrm>
              <a:off x="533400" y="5607368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858828"/>
              <a:ext cx="200026" cy="200026"/>
              <a:chOff x="738188" y="5858828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8588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925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9588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5751671"/>
              <a:ext cx="483123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，空间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。另一种写法用哈希表记住访问过的结点，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第一个重复的就是入口，但空间要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680835" y="1524000"/>
            <a:ext cx="4977765" cy="1428750"/>
            <a:chOff x="6680835" y="1524000"/>
            <a:chExt cx="4977765" cy="1428750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1428750"/>
            </a:xfrm>
            <a:prstGeom prst="roundRect">
              <a:avLst>
                <a:gd name="adj" fmla="val 93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61810" y="1704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36130" y="1737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两段循环的分工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71335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26783" y="2045494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外层循环：快慢指针跑到相遇，确定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有没有环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71335" y="23822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26783" y="2330291"/>
              <a:ext cx="4255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内层循环：p1 从表头、p2 从相遇点同速前进，确定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环在哪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儿开始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680835" y="3117532"/>
            <a:ext cx="4977765" cy="3191828"/>
            <a:chOff x="6680835" y="3117532"/>
            <a:chExt cx="4977765" cy="3191828"/>
          </a:xfrm>
        </p:grpSpPr>
        <p:sp>
          <p:nvSpPr>
            <p:cNvPr id="33" name="Rectangle 33"/>
            <p:cNvSpPr/>
            <p:nvPr/>
          </p:nvSpPr>
          <p:spPr>
            <a:xfrm>
              <a:off x="6680835" y="3117532"/>
              <a:ext cx="4977765" cy="3191828"/>
            </a:xfrm>
            <a:prstGeom prst="roundRect">
              <a:avLst>
                <a:gd name="adj" fmla="val 4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0360" y="3250882"/>
              <a:ext cx="47625" cy="29251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9910" y="32985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2582" y="33313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66838" y="3338989"/>
              <a:ext cx="2116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环的入口就是第 1 个结点时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3433" y="3655219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此时 a = 0，p1 一步都不用走。内层循环的条件 `p1 != p2`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第一次判断就为假，直接返回 head，结论仍然正确。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判断单链表是否回文：找中间、反转后半、并行比较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60670" cy="264033"/>
            <a:chOff x="526542" y="1545907"/>
            <a:chExt cx="85606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60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要求时间 O(n)、空间 O(1)。回文即正着读和倒着读一样，例如 level、refer、“上海自来水来自海上”。</a:t>
              </a:r>
            </a:p>
          </p:txBody>
        </p:sp>
      </p:grpSp>
      <p:grpSp>
        <p:nvGrpSpPr>
          <p:cNvPr id="40" name="c1-cells-1"/>
          <p:cNvGrpSpPr/>
          <p:nvPr/>
        </p:nvGrpSpPr>
        <p:grpSpPr>
          <a:xfrm>
            <a:off x="528447" y="1963579"/>
            <a:ext cx="4441698" cy="597694"/>
            <a:chOff x="528447" y="1963579"/>
            <a:chExt cx="4441698" cy="597694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3226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原链表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0130" y="2205038"/>
              <a:ext cx="3171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56150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57312" y="220503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33512" y="23545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462088" y="23831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04988" y="23402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90712" y="2205038"/>
              <a:ext cx="3171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06733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208848" y="220503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285048" y="23545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313622" y="23831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656522" y="23402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42248" y="2205038"/>
              <a:ext cx="31718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57315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59430" y="220503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135630" y="23545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164205" y="23831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507105" y="23402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92830" y="2205038"/>
              <a:ext cx="31718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07898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910012" y="220503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986212" y="235458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014788" y="238315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357688" y="23402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43412" y="2205038"/>
              <a:ext cx="31718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59433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60595" y="220503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30251" y="23312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8464" y="1963579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中间结点，从它之后断开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2862262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4" name="c1-code-2"/>
          <p:cNvGrpSpPr/>
          <p:nvPr/>
        </p:nvGrpSpPr>
        <p:grpSpPr>
          <a:xfrm>
            <a:off x="533400" y="2726055"/>
            <a:ext cx="4760595" cy="1855470"/>
            <a:chOff x="533400" y="2726055"/>
            <a:chExt cx="4760595" cy="1855470"/>
          </a:xfrm>
        </p:grpSpPr>
        <p:sp>
          <p:nvSpPr>
            <p:cNvPr id="41" name="Rectangle 41"/>
            <p:cNvSpPr/>
            <p:nvPr/>
          </p:nvSpPr>
          <p:spPr>
            <a:xfrm>
              <a:off x="533400" y="2726055"/>
              <a:ext cx="4760595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797" y="287797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原地反转一条链，下一页还要再用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988" y="3137059"/>
              <a:ext cx="2186051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ListNode *reverse(ListNode *p)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*prev 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*nx;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nx = p-&gt;next;  p-&gt;next = prev;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prev = p;      p = nx;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prev;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0" name="c1-card-3"/>
          <p:cNvGrpSpPr/>
          <p:nvPr/>
        </p:nvGrpSpPr>
        <p:grpSpPr>
          <a:xfrm>
            <a:off x="533400" y="4746308"/>
            <a:ext cx="4760595" cy="1596390"/>
            <a:chOff x="533400" y="4746308"/>
            <a:chExt cx="4760595" cy="1596390"/>
          </a:xfrm>
        </p:grpSpPr>
        <p:sp>
          <p:nvSpPr>
            <p:cNvPr id="45" name="Rectangle 45"/>
            <p:cNvSpPr/>
            <p:nvPr/>
          </p:nvSpPr>
          <p:spPr>
            <a:xfrm>
              <a:off x="533400" y="4746308"/>
              <a:ext cx="4760595" cy="1596390"/>
            </a:xfrm>
            <a:prstGeom prst="roundRect">
              <a:avLst>
                <a:gd name="adj" fmla="val 83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879658"/>
              <a:ext cx="47625" cy="13296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" y="49272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5147" y="49601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5998" y="5266849"/>
              <a:ext cx="4044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71、72 页只给了示意图没有代码，这里补上，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已用 level、abba、ab 验证。</a:t>
              </a:r>
            </a:p>
          </p:txBody>
        </p:sp>
      </p:grpSp>
      <p:grpSp>
        <p:nvGrpSpPr>
          <p:cNvPr id="64" name="c2-steps-1"/>
          <p:cNvGrpSpPr/>
          <p:nvPr/>
        </p:nvGrpSpPr>
        <p:grpSpPr>
          <a:xfrm>
            <a:off x="5598795" y="1938338"/>
            <a:ext cx="5838444" cy="1789366"/>
            <a:chOff x="5598795" y="1938338"/>
            <a:chExt cx="5838444" cy="1789366"/>
          </a:xfrm>
        </p:grpSpPr>
        <p:sp>
          <p:nvSpPr>
            <p:cNvPr id="51" name="Rectangle 51"/>
            <p:cNvSpPr/>
            <p:nvPr/>
          </p:nvSpPr>
          <p:spPr>
            <a:xfrm>
              <a:off x="5732145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598795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241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598795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9241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598795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92419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1418" y="19683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找中间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2561" y="2223135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快慢指针找到靠左的中间结点，把链表断成前后两段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1418" y="2521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反转后半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2561" y="277653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原地反转后半段，只改指针不新建结点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1418" y="3075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并行比较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2561" y="3328988"/>
              <a:ext cx="542467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两段各出一个指针逐个比较数据域，以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后半段走完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为结束条件；奇数长时中间那个结点留在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前半段，本就不参与比较</a:t>
              </a:r>
            </a:p>
          </p:txBody>
        </p:sp>
      </p:grpSp>
      <p:grpSp>
        <p:nvGrpSpPr>
          <p:cNvPr id="68" name="c2-code-2"/>
          <p:cNvGrpSpPr/>
          <p:nvPr/>
        </p:nvGrpSpPr>
        <p:grpSpPr>
          <a:xfrm>
            <a:off x="5598795" y="3890010"/>
            <a:ext cx="6059805" cy="2453640"/>
            <a:chOff x="5598795" y="3890010"/>
            <a:chExt cx="6059805" cy="2453640"/>
          </a:xfrm>
        </p:grpSpPr>
        <p:sp>
          <p:nvSpPr>
            <p:cNvPr id="65" name="Rectangle 65"/>
            <p:cNvSpPr/>
            <p:nvPr/>
          </p:nvSpPr>
          <p:spPr>
            <a:xfrm>
              <a:off x="5598795" y="3890010"/>
              <a:ext cx="605980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727192" y="40419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回文判断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727382" y="4301014"/>
              <a:ext cx="2816098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isPalindrome(ListNode *head)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(!head || !head-&gt;next)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*slow = head, *fast = head;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(fast-&gt;next &amp;&amp; fast-&gt;next-&gt;next)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*p = head, *q = reverse(slow-&gt;next);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(; q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p-&gt;next, q = q-&gt;next)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(p-&gt;val != q-&gt;val)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59149" cy="909257"/>
            <a:chOff x="520446" y="342900"/>
            <a:chExt cx="5659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链表的双指针技巧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59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重排链表：2019 年考研全国卷 13 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689035" cy="264033"/>
            <a:chOff x="526542" y="1545907"/>
            <a:chExt cx="86890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689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(a₁, a₂, …, aₙ) 用带哨位结点的单链表保存，要求空间 O(1)，重排成 L′ = (a₁, aₙ, a₂, aₙ₋₁, …)。</a:t>
              </a:r>
            </a:p>
          </p:txBody>
        </p:sp>
      </p:grpSp>
      <p:grpSp>
        <p:nvGrpSpPr>
          <p:cNvPr id="79" name="c1-cells-1"/>
          <p:cNvGrpSpPr/>
          <p:nvPr/>
        </p:nvGrpSpPr>
        <p:grpSpPr>
          <a:xfrm>
            <a:off x="528447" y="1928812"/>
            <a:ext cx="4658868" cy="858203"/>
            <a:chOff x="528447" y="1928812"/>
            <a:chExt cx="4658868" cy="858203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46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重排前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0130" y="1928812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2788" y="206025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51585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327785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356360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99260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84985" y="1928812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27643" y="206025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97392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073592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102168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445068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30792" y="1928812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73450" y="206025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742248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818448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847022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189922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75648" y="1928812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18305" y="206025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87102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563302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591878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934778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20502" y="1928812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63160" y="206025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231958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308158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336732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679632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765358" y="1928812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8015" y="206025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977765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047421" y="20550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447" y="25484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重排后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0130" y="2430780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2788" y="2562225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251585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327785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356360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699260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784985" y="2430780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27643" y="2562225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a₆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997392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2073592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2102168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445068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530792" y="2430780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573450" y="2562225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742248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2818448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2847022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3189922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275648" y="2430780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318305" y="2562225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a₅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487102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3563302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3591878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3934778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020502" y="2430780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063160" y="2562225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231958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4308158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4336732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4679632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765358" y="2430780"/>
              <a:ext cx="2114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808015" y="2562225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977765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047421" y="25569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93" name="c1-steps-2"/>
          <p:cNvGrpSpPr/>
          <p:nvPr/>
        </p:nvGrpSpPr>
        <p:grpSpPr>
          <a:xfrm>
            <a:off x="533400" y="2961322"/>
            <a:ext cx="3456413" cy="1596009"/>
            <a:chOff x="533400" y="2961322"/>
            <a:chExt cx="3456413" cy="1596009"/>
          </a:xfrm>
        </p:grpSpPr>
        <p:sp>
          <p:nvSpPr>
            <p:cNvPr id="80" name="Rectangle 80"/>
            <p:cNvSpPr/>
            <p:nvPr/>
          </p:nvSpPr>
          <p:spPr>
            <a:xfrm>
              <a:off x="666750" y="310419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33400" y="29613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7024" y="30351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33400" y="35137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27024" y="35875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533400" y="40671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27024" y="41409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46023" y="299132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一、找中间结点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47166" y="3246120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快慢指针取靠左的中间结点 slow，从它之后断开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46023" y="35447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二、反转后半段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47166" y="3799523"/>
              <a:ext cx="261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对后半段做原地反转，得到 aₙ → aₙ₋₁ → …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46023" y="40981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三、交替合并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47166" y="435197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两段各取一个结点轮流接上，后半段走完即停</a:t>
              </a:r>
            </a:p>
          </p:txBody>
        </p:sp>
      </p:grpSp>
      <p:grpSp>
        <p:nvGrpSpPr>
          <p:cNvPr id="99" name="c1-callout-3"/>
          <p:cNvGrpSpPr/>
          <p:nvPr/>
        </p:nvGrpSpPr>
        <p:grpSpPr>
          <a:xfrm>
            <a:off x="533400" y="4719638"/>
            <a:ext cx="4977765" cy="1569720"/>
            <a:chOff x="533400" y="4719638"/>
            <a:chExt cx="4977765" cy="1569720"/>
          </a:xfrm>
        </p:grpSpPr>
        <p:sp>
          <p:nvSpPr>
            <p:cNvPr id="94" name="Rectangle 94"/>
            <p:cNvSpPr/>
            <p:nvPr/>
          </p:nvSpPr>
          <p:spPr>
            <a:xfrm>
              <a:off x="533400" y="4719638"/>
              <a:ext cx="4977765" cy="1569720"/>
            </a:xfrm>
            <a:prstGeom prst="roundRect">
              <a:avLst>
                <a:gd name="adj" fmla="val 728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5403535"/>
              <a:ext cx="200023" cy="200023"/>
              <a:chOff x="738188" y="5403535"/>
              <a:chExt cx="200023" cy="20002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54035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71538" y="5470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1273" y="5297329"/>
              <a:ext cx="4047693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三步各扫一遍，时间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；只用常数个指针、不新建结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点，空间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3" name="c2-code-1"/>
          <p:cNvGrpSpPr/>
          <p:nvPr/>
        </p:nvGrpSpPr>
        <p:grpSpPr>
          <a:xfrm>
            <a:off x="5815965" y="1928812"/>
            <a:ext cx="5842635" cy="3050858"/>
            <a:chOff x="5815965" y="1928812"/>
            <a:chExt cx="5842635" cy="3050858"/>
          </a:xfrm>
        </p:grpSpPr>
        <p:sp>
          <p:nvSpPr>
            <p:cNvPr id="100" name="Rectangle 100"/>
            <p:cNvSpPr/>
            <p:nvPr/>
          </p:nvSpPr>
          <p:spPr>
            <a:xfrm>
              <a:off x="5815965" y="1928812"/>
              <a:ext cx="5842635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944362" y="20807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重排带哨位结点的单链表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944552" y="2339816"/>
              <a:ext cx="2644267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reorderList(ListNode *head)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*p = head-&gt;next;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(!p || !p-&gt;next)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*slow = p, *fast = p;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(fast-&gt;next &amp;&amp; fast-&gt;next-&gt;next)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ListNode *q = reverse(slow-&gt;next);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slow-&gt;next 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断成两段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交替合并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ListNode *pn = p-&gt;next, *qn = q-&gt;next;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p-&gt;next = q;  q-&gt;next = pn;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pn;       q = qn;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09" name="c2-card-2"/>
          <p:cNvGrpSpPr/>
          <p:nvPr/>
        </p:nvGrpSpPr>
        <p:grpSpPr>
          <a:xfrm>
            <a:off x="5815965" y="5144452"/>
            <a:ext cx="5842635" cy="1143952"/>
            <a:chOff x="5815965" y="5144452"/>
            <a:chExt cx="5842635" cy="1143952"/>
          </a:xfrm>
        </p:grpSpPr>
        <p:sp>
          <p:nvSpPr>
            <p:cNvPr id="104" name="Rectangle 104"/>
            <p:cNvSpPr/>
            <p:nvPr/>
          </p:nvSpPr>
          <p:spPr>
            <a:xfrm>
              <a:off x="5815965" y="5144452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5825490" y="527780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035040" y="53254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126759" y="5358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028563" y="5665946"/>
              <a:ext cx="5133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73、74 页只给了题目和示意图，这里补上完整实现，已对 n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1…11 逐一验证。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一元多项式及其操作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链表的一个经典应用：项数动态增长，相加只需穿针引线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多项式的链表结点结构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三个指针扫描两条链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相加的完整过程与代码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一元多项式及其操作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一元多项式用链表表示：一项一个结点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s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5" name="c1-cells-2"/>
          <p:cNvGrpSpPr/>
          <p:nvPr/>
        </p:nvGrpSpPr>
        <p:grpSpPr>
          <a:xfrm>
            <a:off x="527304" y="2185988"/>
            <a:ext cx="2243519" cy="406718"/>
            <a:chOff x="527304" y="2185988"/>
            <a:chExt cx="2243519" cy="406718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23145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71550" y="2185988"/>
              <a:ext cx="6000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78908" y="231457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coef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71625" y="2185988"/>
              <a:ext cx="6000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4677" y="23145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170748" y="2185988"/>
              <a:ext cx="6000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78106" y="231457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</p:grpSp>
      <p:grpSp>
        <p:nvGrpSpPr>
          <p:cNvPr id="17" name="c1-text-3"/>
          <p:cNvGrpSpPr/>
          <p:nvPr/>
        </p:nvGrpSpPr>
        <p:grpSpPr>
          <a:xfrm>
            <a:off x="527304" y="2797492"/>
            <a:ext cx="5384292" cy="470916"/>
            <a:chOff x="527304" y="2797492"/>
            <a:chExt cx="5384292" cy="47091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2797492"/>
              <a:ext cx="53842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每个结点包含两个数据域（系数 coef 和指数 exp）和一个链接域 next。结点按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指数升序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串起来，系数为 0 的项不建结点。</a:t>
              </a:r>
            </a:p>
          </p:txBody>
        </p:sp>
      </p:grpSp>
      <p:grpSp>
        <p:nvGrpSpPr>
          <p:cNvPr id="21" name="c1-code-4"/>
          <p:cNvGrpSpPr/>
          <p:nvPr/>
        </p:nvGrpSpPr>
        <p:grpSpPr>
          <a:xfrm>
            <a:off x="533400" y="3406140"/>
            <a:ext cx="5626418" cy="1360170"/>
            <a:chOff x="533400" y="3406140"/>
            <a:chExt cx="5626418" cy="1360170"/>
          </a:xfrm>
        </p:grpSpPr>
        <p:sp>
          <p:nvSpPr>
            <p:cNvPr id="18" name="Rectangle 18"/>
            <p:cNvSpPr/>
            <p:nvPr/>
          </p:nvSpPr>
          <p:spPr>
            <a:xfrm>
              <a:off x="533400" y="3406140"/>
              <a:ext cx="5626418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5580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多项式结点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949" y="3818477"/>
              <a:ext cx="2415108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PolyNode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coef;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系数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exp;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指数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PolyNode *next;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PolyNode;</a:t>
              </a:r>
            </a:p>
          </p:txBody>
        </p:sp>
      </p:grpSp>
      <p:grpSp>
        <p:nvGrpSpPr>
          <p:cNvPr id="39" name="c1-cells-5"/>
          <p:cNvGrpSpPr/>
          <p:nvPr/>
        </p:nvGrpSpPr>
        <p:grpSpPr>
          <a:xfrm>
            <a:off x="527685" y="4951095"/>
            <a:ext cx="3675697" cy="406718"/>
            <a:chOff x="527685" y="4951095"/>
            <a:chExt cx="3675697" cy="406718"/>
          </a:xfrm>
        </p:grpSpPr>
        <p:sp>
          <p:nvSpPr>
            <p:cNvPr id="22" name="TextBox 22"/>
            <p:cNvSpPr txBox="1"/>
            <p:nvPr/>
          </p:nvSpPr>
          <p:spPr>
            <a:xfrm>
              <a:off x="527685" y="508492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5362" y="4951095"/>
              <a:ext cx="64389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01639" y="508492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｜ 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639252" y="4951095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715452" y="5126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744028" y="5154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086928" y="5112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72652" y="4951095"/>
              <a:ext cx="64389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78929" y="508492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｜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16542" y="4951095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892742" y="5126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921318" y="5154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264218" y="5112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49942" y="4951095"/>
              <a:ext cx="64389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56219" y="508492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｜ 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93832" y="4951095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57374" y="50925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41" name="c1-text-6"/>
          <p:cNvGrpSpPr/>
          <p:nvPr/>
        </p:nvGrpSpPr>
        <p:grpSpPr>
          <a:xfrm>
            <a:off x="527304" y="5563552"/>
            <a:ext cx="5369052" cy="470916"/>
            <a:chOff x="527304" y="5563552"/>
            <a:chExt cx="5369052" cy="470916"/>
          </a:xfrm>
        </p:grpSpPr>
        <p:sp>
          <p:nvSpPr>
            <p:cNvPr id="40" name="TextBox 40"/>
            <p:cNvSpPr txBox="1"/>
            <p:nvPr/>
          </p:nvSpPr>
          <p:spPr>
            <a:xfrm>
              <a:off x="527304" y="5563552"/>
              <a:ext cx="53690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+ 2x + 3x⁵ 串成三个结点，格子里左边是系数右边是指数。指数 2、3、4 的项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不存在，就不建结点。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464618" y="1524000"/>
            <a:ext cx="5193982" cy="1323022"/>
            <a:chOff x="6464618" y="1524000"/>
            <a:chExt cx="5193982" cy="1323022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1323022"/>
            </a:xfrm>
            <a:prstGeom prst="roundRect">
              <a:avLst>
                <a:gd name="adj" fmla="val 100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68452" y="17278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4010" y="17635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用链表的两个好处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76072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32664" y="2100739"/>
              <a:ext cx="4659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多项式的项数可以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动态地增长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，不会出现存储溢出问题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76072" y="24812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32664" y="2420779"/>
              <a:ext cx="40479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插入、删除方便，不移动元素，只需“穿针引线”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3032760"/>
            <a:ext cx="5193982" cy="1894522"/>
            <a:chOff x="6464618" y="3032760"/>
            <a:chExt cx="5193982" cy="1894522"/>
          </a:xfrm>
        </p:grpSpPr>
        <p:sp>
          <p:nvSpPr>
            <p:cNvPr id="50" name="Rectangle 50"/>
            <p:cNvSpPr/>
            <p:nvPr/>
          </p:nvSpPr>
          <p:spPr>
            <a:xfrm>
              <a:off x="6464618" y="3032760"/>
              <a:ext cx="5193982" cy="1894522"/>
            </a:xfrm>
            <a:prstGeom prst="roundRect">
              <a:avLst>
                <a:gd name="adj" fmla="val 70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3166110"/>
              <a:ext cx="47625" cy="16278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06552" y="32365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97713" y="3272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07961" y="327612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换成数组会怎样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99314" y="3628549"/>
              <a:ext cx="441477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`int a[n+1]` 按下标存系数，取任意一项是 O(1)，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但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稀疏多项式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会浪费掉几乎全部空间。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14172" y="42795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70764" y="4220051"/>
              <a:ext cx="3780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x¹⁰⁰⁰ + 1 只有 2 项，数组要开 1001 个格子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0456" y="453580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项数远小于最高次数时用链表，项数接近最高次数时用数组。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464618" y="5113020"/>
            <a:ext cx="5193982" cy="1018222"/>
            <a:chOff x="6464618" y="5113020"/>
            <a:chExt cx="5193982" cy="1018222"/>
          </a:xfrm>
        </p:grpSpPr>
        <p:sp>
          <p:nvSpPr>
            <p:cNvPr id="60" name="Rectangle 60"/>
            <p:cNvSpPr/>
            <p:nvPr/>
          </p:nvSpPr>
          <p:spPr>
            <a:xfrm>
              <a:off x="6464618" y="511302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5521643"/>
              <a:ext cx="200026" cy="200026"/>
              <a:chOff x="6669405" y="5521643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5216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69418" y="5588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58305" y="56216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729" y="5260181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指数升序是一条约定，不是天然如此。约定好之后两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个多项式相加就能像归并两条有序表一样一趟扫完，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否则每一项都要到另一条链上查一遍。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7421" cy="909257"/>
            <a:chOff x="520446" y="342900"/>
            <a:chExt cx="7267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一元多项式及其操作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7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多项式相加：pa、pb 各扫一条链，pc 接住结果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109241" cy="264033"/>
            <a:chOff x="526542" y="1545907"/>
            <a:chExt cx="101092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109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1 − 3x⁶ + 7x¹²，B = −x⁴ + 3x⁶ − 9x¹⁰ + 8x¹⁴。pa 扫描链表 A，pb 扫描链表 B，pc 指向当前计算结果的最后一个结点。</a:t>
              </a:r>
            </a:p>
          </p:txBody>
        </p:sp>
      </p:grpSp>
      <p:grpSp>
        <p:nvGrpSpPr>
          <p:cNvPr id="49" name="c1-cells-1"/>
          <p:cNvGrpSpPr/>
          <p:nvPr/>
        </p:nvGrpSpPr>
        <p:grpSpPr>
          <a:xfrm>
            <a:off x="528447" y="1928812"/>
            <a:ext cx="4658868" cy="858203"/>
            <a:chOff x="528447" y="1928812"/>
            <a:chExt cx="4658868" cy="858203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46446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5842" y="1928812"/>
              <a:ext cx="53530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0448" y="2046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61148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637348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665922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8822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94548" y="1928812"/>
              <a:ext cx="53530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4871" y="204644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−3x⁶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29852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706052" y="20783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734628" y="21069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077528" y="20640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63252" y="1928812"/>
              <a:ext cx="53530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3576" y="204644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7x¹²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98558" y="1928812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8213" y="20550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254841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25842" y="2430780"/>
              <a:ext cx="58769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00930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−x⁴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613535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689735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718310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061210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46935" y="2430780"/>
              <a:ext cx="58769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2202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34628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810828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839402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182302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268028" y="2430780"/>
              <a:ext cx="58769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66927" y="254841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−9x¹⁰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56672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3932872" y="258032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3961448" y="260889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304348" y="25660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390072" y="2430780"/>
              <a:ext cx="58769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26113" y="254841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8x¹⁴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977765" y="2430780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047421" y="25569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79" name="c1-cells-2"/>
          <p:cNvGrpSpPr/>
          <p:nvPr/>
        </p:nvGrpSpPr>
        <p:grpSpPr>
          <a:xfrm>
            <a:off x="528447" y="2951798"/>
            <a:ext cx="4658868" cy="356235"/>
            <a:chOff x="528447" y="2951798"/>
            <a:chExt cx="4658868" cy="356235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30694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15352" y="2951798"/>
              <a:ext cx="38576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65663" y="30694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301115" y="295179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377315" y="310134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405890" y="312991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748790" y="308705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834515" y="2951798"/>
              <a:ext cx="385762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908637" y="306943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−x⁴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220278" y="295179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2296478" y="310134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2325052" y="312991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2667952" y="308705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753678" y="2951798"/>
              <a:ext cx="38576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795552" y="3083242"/>
              <a:ext cx="30106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−9x¹⁰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139440" y="295179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3215640" y="310134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3244215" y="312991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3587115" y="308705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672840" y="2951798"/>
              <a:ext cx="38576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707916" y="306943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7x¹²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058602" y="295179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4134802" y="310134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4163378" y="312991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4506278" y="308705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592002" y="2951798"/>
              <a:ext cx="38576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627078" y="306943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8x¹⁴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977765" y="2951798"/>
              <a:ext cx="209550" cy="3562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047421" y="30780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81" name="c1-text-3"/>
          <p:cNvGrpSpPr/>
          <p:nvPr/>
        </p:nvGrpSpPr>
        <p:grpSpPr>
          <a:xfrm>
            <a:off x="1976979" y="3489960"/>
            <a:ext cx="2090608" cy="205359"/>
            <a:chOff x="1976979" y="3489960"/>
            <a:chExt cx="2090608" cy="205359"/>
          </a:xfrm>
        </p:grpSpPr>
        <p:sp>
          <p:nvSpPr>
            <p:cNvPr id="80" name="TextBox 80"/>
            <p:cNvSpPr txBox="1"/>
            <p:nvPr/>
          </p:nvSpPr>
          <p:spPr>
            <a:xfrm>
              <a:off x="1976979" y="3489960"/>
              <a:ext cx="209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1 − x⁴ − 9x¹⁰ + 7x¹² + 8x¹⁴</a:t>
              </a:r>
            </a:p>
          </p:txBody>
        </p:sp>
      </p:grpSp>
      <p:grpSp>
        <p:nvGrpSpPr>
          <p:cNvPr id="87" name="c1-callout-4"/>
          <p:cNvGrpSpPr/>
          <p:nvPr/>
        </p:nvGrpSpPr>
        <p:grpSpPr>
          <a:xfrm>
            <a:off x="533400" y="3818572"/>
            <a:ext cx="4977765" cy="1833562"/>
            <a:chOff x="533400" y="3818572"/>
            <a:chExt cx="4977765" cy="1833562"/>
          </a:xfrm>
        </p:grpSpPr>
        <p:sp>
          <p:nvSpPr>
            <p:cNvPr id="82" name="Rectangle 82"/>
            <p:cNvSpPr/>
            <p:nvPr/>
          </p:nvSpPr>
          <p:spPr>
            <a:xfrm>
              <a:off x="533400" y="3818572"/>
              <a:ext cx="4977765" cy="1833562"/>
            </a:xfrm>
            <a:prstGeom prst="roundRect">
              <a:avLst>
                <a:gd name="adj" fmla="val 623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4635820"/>
              <a:ext cx="200023" cy="200023"/>
              <a:chOff x="738188" y="463582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46358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47024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4528661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结果直接建在链表 A 上，B 的结点被摘过来接进 A，用完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的结点当场释放，全程不新建结点。</a:t>
              </a:r>
            </a:p>
          </p:txBody>
        </p:sp>
      </p:grpSp>
      <p:grpSp>
        <p:nvGrpSpPr>
          <p:cNvPr id="138" name="c2-table-1"/>
          <p:cNvGrpSpPr/>
          <p:nvPr/>
        </p:nvGrpSpPr>
        <p:grpSpPr>
          <a:xfrm>
            <a:off x="5815965" y="1928812"/>
            <a:ext cx="5842635" cy="2856548"/>
            <a:chOff x="5815965" y="1928812"/>
            <a:chExt cx="5842635" cy="2856548"/>
          </a:xfrm>
        </p:grpSpPr>
        <p:sp>
          <p:nvSpPr>
            <p:cNvPr id="88" name="Rectangle 88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97331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529317" y="204597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 指向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22775" y="204597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pb 指向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62450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比较指数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46035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0031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559001" y="242697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513587" y="242697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4)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748189" y="242697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50159" y="2426970"/>
              <a:ext cx="1466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的结点留下，pa 后移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00317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520129" y="2808923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(−3, 6)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513587" y="2808923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4)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48189" y="2808923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&gt; 4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650159" y="2808923"/>
              <a:ext cx="1935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 B 的结点接到结果，pb 后移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5815965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003178" y="3283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520129" y="3283268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(−3, 6)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552458" y="328326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(3, 6)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748189" y="3283268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= 6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565005" y="3082290"/>
              <a:ext cx="2084070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9650159" y="3189923"/>
              <a:ext cx="17175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系数相加 −3 + 3 = 0，两个结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点都删除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815965" y="3635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5815965" y="364045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003178" y="3758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520129" y="3758565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(7, 12)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474715" y="3758565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(−9, 10)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670446" y="375856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&gt; 10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650159" y="3758565"/>
              <a:ext cx="1935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 B 的结点接到结果，pb 后移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5815965" y="40176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003178" y="4139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520129" y="4139565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(7, 12)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513587" y="4139565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(8, 14)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670446" y="413956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&lt; 14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650159" y="4139565"/>
              <a:ext cx="1466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的结点留下，pa 后移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5815965" y="43986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5815965" y="440340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003178" y="4520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733489" y="452056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513587" y="4520565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(8, 14)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702383" y="4520565"/>
              <a:ext cx="420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已空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650159" y="4520565"/>
              <a:ext cx="1878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剩下的整段接到结果末尾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5815965" y="1928812"/>
              <a:ext cx="5842635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277928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271385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8264842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9550718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5" name="c2-callout-2"/>
          <p:cNvGrpSpPr/>
          <p:nvPr/>
        </p:nvGrpSpPr>
        <p:grpSpPr>
          <a:xfrm>
            <a:off x="5815965" y="4950142"/>
            <a:ext cx="5842635" cy="702945"/>
            <a:chOff x="5815965" y="4950142"/>
            <a:chExt cx="5842635" cy="702945"/>
          </a:xfrm>
        </p:grpSpPr>
        <p:sp>
          <p:nvSpPr>
            <p:cNvPr id="139" name="Rectangle 139"/>
            <p:cNvSpPr/>
            <p:nvPr/>
          </p:nvSpPr>
          <p:spPr>
            <a:xfrm>
              <a:off x="5815965" y="4950142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3" name="Group 143"/>
            <p:cNvGrpSpPr/>
            <p:nvPr/>
          </p:nvGrpSpPr>
          <p:grpSpPr>
            <a:xfrm>
              <a:off x="6008694" y="5196958"/>
              <a:ext cx="224134" cy="192560"/>
              <a:chOff x="6008694" y="5196958"/>
              <a:chExt cx="224134" cy="19256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6120765" y="52673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6008694" y="51969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6120765" y="5345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4" name="TextBox 144"/>
            <p:cNvSpPr txBox="1"/>
            <p:nvPr/>
          </p:nvSpPr>
          <p:spPr>
            <a:xfrm>
              <a:off x="6323838" y="5094446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第 3 步是唯一会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减少项数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的情况。系数相加为 0 时这一项不能留在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结果里，写成 0x⁶ 是错的。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 · 一元多项式及其操作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多项式相加的代码与复杂度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913822"/>
            <a:chOff x="533400" y="1524000"/>
            <a:chExt cx="6059805" cy="39138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913822"/>
            </a:xfrm>
            <a:prstGeom prst="roundRect">
              <a:avLst>
                <a:gd name="adj" fmla="val 24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93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B 加到 A 上，两条链都带哨位结点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313430" cy="3408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PolyAdd(PolyNode *ha, PolyNode *hb)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PolyNode *pa = ha-&gt;next, *pb = hb-&gt;next;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PolyNode *pc = ha;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结果的尾结点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(pa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pb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(pa-&gt;exp &lt; pb-&gt;exp)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pc-&gt;next = pa;  pc = pa;  pa = pa-&gt;next;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(pa-&gt;exp &gt; pb-&gt;exp)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PolyNode *t = pb-&gt;next;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pc-&gt;next = pb;  pc = pb;  pb = 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 = pa-&gt;coef + pb-&gt;coef;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PolyNode *ta = pa-&gt;next, *tb = pb-&gt;next;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 != 0)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pa-&gt;coef = s;  pc-&gt;next = pa;  pc = pa;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free(pa);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free(pb);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pa = ta;  pb = tb;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pc-&gt;next = (pa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? pa : pb;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607368"/>
            <a:ext cx="6059805" cy="729615"/>
            <a:chOff x="533400" y="5607368"/>
            <a:chExt cx="6059805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5607368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872163"/>
              <a:ext cx="200026" cy="200025"/>
              <a:chOff x="738188" y="587216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8721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9166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60277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753100"/>
              <a:ext cx="51057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这段代码就是有序表的归并。第 20 讲的归并排序是同一套写法，区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别只在那里比较的是关键字。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898005" y="1524000"/>
            <a:ext cx="4760595" cy="1760220"/>
            <a:chOff x="6898005" y="1524000"/>
            <a:chExt cx="4760595" cy="1760220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1760220"/>
            </a:xfrm>
            <a:prstGeom prst="roundRect">
              <a:avLst>
                <a:gd name="adj" fmla="val 75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84695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3316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75067" y="1745932"/>
              <a:ext cx="1984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A 有 m 项、B 有 n 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093267" y="21278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49287" y="2071688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每比较一次，pa 或 pb 至少有一个向后走一步，比较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次数不超过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m + n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93267" y="26850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49287" y="2628900"/>
              <a:ext cx="389448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O(m + 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，空间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，前提是两条链都已按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指数升序排好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898005" y="3453765"/>
            <a:ext cx="4760595" cy="2883218"/>
            <a:chOff x="6898005" y="3453765"/>
            <a:chExt cx="4760595" cy="2883218"/>
          </a:xfrm>
        </p:grpSpPr>
        <p:sp>
          <p:nvSpPr>
            <p:cNvPr id="27" name="Rectangle 27"/>
            <p:cNvSpPr/>
            <p:nvPr/>
          </p:nvSpPr>
          <p:spPr>
            <a:xfrm>
              <a:off x="6898005" y="3453765"/>
              <a:ext cx="4760595" cy="2883218"/>
            </a:xfrm>
            <a:prstGeom prst="roundRect">
              <a:avLst>
                <a:gd name="adj" fmla="val 46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07530" y="3587115"/>
              <a:ext cx="47625" cy="26165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22795" y="364045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89013" y="367331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三个容易写错的地方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131367" y="40405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87387" y="3984308"/>
              <a:ext cx="38627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指数相等且系数和为 0 时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两个结点都要释放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留系数为 0 的结点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131367" y="45986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87387" y="4542472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 pb 的结点前要先存下 `pb-&gt;next`，否则接到结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果链上就被覆盖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31367" y="515588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87387" y="509968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最后一行的收尾不能漏，两条链不会同时走完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72725" cy="264033"/>
            <a:chOff x="526542" y="1545907"/>
            <a:chExt cx="103727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先自己写出答案再看解答。另外自问两题：哨位结点分别消掉了哪几种边界情况？侵入式链表把什么东西从业务结构体里抽走了？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157412"/>
            <a:chOff x="533400" y="1928812"/>
            <a:chExt cx="3505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带哨位结点的单链表，判空和判表尾的条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件是什么？换成循环链表呢？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2277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单链表：`head-&gt;next == NULL`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`p-&gt;next == NULL`；循环链表：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`head-&gt;next == head` 和 `p-&gt;next ==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head`。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51008"/>
            <a:ext cx="3505200" cy="1914525"/>
            <a:chOff x="533400" y="4251008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772501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求倒数第 k 个结点，为什么快慢指针只遍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历一次就够？fast 的起点在哪？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2882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fast 先到正数第 k 个，两指针间隔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固定为 k−1 并同步前进。fast 停在第 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个时 slow 在第 n−k+1 个。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157412"/>
            <a:chOff x="4343400" y="1928812"/>
            <a:chExt cx="3505200" cy="2157412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300649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 之后插入 s 的两行赋值能不能交换顺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序？为什么？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302031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不能。必须先 `s-&gt;next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p-&gt;next` 再 `p-&gt;next = s`。反过来先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 p 的 next，p 原来的后继地址就丢了，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链表从 s 之后断开。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251008"/>
            <a:ext cx="3505200" cy="1914525"/>
            <a:chOff x="4343400" y="4251008"/>
            <a:chExt cx="3505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772501"/>
              <a:ext cx="292724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判环时 slow 走 1 步、fast 走 2 步，为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什么有环就一定相遇？入口怎么找？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300186"/>
              <a:ext cx="29715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进环后 fast 每轮追近 1 步，间隔不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超过环长必被追上。相遇后 p1 从 head、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从相遇点同速走，相等处即入口。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157412"/>
            <a:chOff x="8153400" y="1928812"/>
            <a:chExt cx="3505200" cy="215741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9633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 head=1，next[1]=6、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next[6]=3、next[3]=10、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next[10]=−1，写出访问到的下标顺序。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3220879"/>
              <a:ext cx="30040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6 → 3 → 10，next 为 −1 结束。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data 依次是 a₀ a₁ a₂ a₃，逻辑顺序就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a₀ a₁ a₂ a₃。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251008"/>
            <a:ext cx="3505200" cy="1914525"/>
            <a:chOff x="8153400" y="4251008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772501"/>
              <a:ext cx="291221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顺序表和链表各有哪个操作是 O(1)？前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提是什么？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300186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顺序表按下标取，前提是元素等长、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空间连续；链表插入删除，前提是已拿到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前驱指针。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第3讲 链表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59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796" y="2023110"/>
              <a:ext cx="2821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哨位不计入表长，判空 head-&gt;next == NULL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6796" y="2404110"/>
              <a:ext cx="306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尾结点 next 指回哨位，判空与判尾都和 head 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双向链表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796" y="278511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 加 next；双向循环后删除插入不分首尾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796" y="3167062"/>
              <a:ext cx="27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下标当指针；结点不动，只动 prev 和 next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双指针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6796" y="354806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快慢、对齐、反转后半三种套路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714500"/>
            <a:chOff x="533400" y="3976688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96412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47、48 页 `ower` 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owner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、类型应为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char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；Flink 指后继、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Blink 指前驱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50186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页与第 63 页的“头结点”不是一回事，本讲义只说“哨位结点”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3635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3106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补上第 57 页思考题、第 68 页多圈推导、第 71–74 页缺失的代码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418228" cy="1432845"/>
            <a:chOff x="6681788" y="1533525"/>
            <a:chExt cx="4418228" cy="1432845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先问三件事：有没有哨位、要不要前驱、空表会不会错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插入删除的赋值有次序，先接新结点的出边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3261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 插入删除的前提是已经拿到前驱指针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424589"/>
              <a:ext cx="2848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循环链表把判 NULL 一律换成判 head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71700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双指针三种套路：固定间隔、一快一慢、先对齐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081338"/>
            <a:ext cx="4977765" cy="2609850"/>
            <a:chOff x="6680835" y="3081338"/>
            <a:chExt cx="4977765" cy="2609850"/>
          </a:xfrm>
        </p:grpSpPr>
        <p:sp>
          <p:nvSpPr>
            <p:cNvPr id="56" name="Rectangle 56"/>
            <p:cNvSpPr/>
            <p:nvPr/>
          </p:nvSpPr>
          <p:spPr>
            <a:xfrm>
              <a:off x="6680835" y="3081338"/>
              <a:ext cx="4977765" cy="2609850"/>
            </a:xfrm>
            <a:prstGeom prst="roundRect">
              <a:avLst>
                <a:gd name="adj" fmla="val 51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3654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3602831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画一条 5 结点的链表，不看讲义写出插入、删除、反转三段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1824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130516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再把倒数第 k、中间、相交、判环四题默写一遍，盯住结束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下一讲是栈和队列，它们都是操作受限的线性表，本讲的顺序存储与链接存储两套实现会各用一次。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第3讲 线性表的链接存储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3">
  <a:themeElements>
    <a:clrScheme name="ds_l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2026-09-19T09:53:55Z</dcterms:created>
  <dcterms:modified xsi:type="dcterms:W3CDTF">2026-09-19T09:53:55Z</dcterms:modified>
  <cp:category/>
  <cp:contentStatus/>
</cp:coreProperties>
</file>