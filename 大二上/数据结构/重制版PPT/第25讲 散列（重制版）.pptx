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s_l25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s_l25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06efff25c09d9ca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1d62b7482b3578f.png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af1db33b8170e24.png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3662934" cy="3437763"/>
            <a:chOff x="666750" y="1619250"/>
            <a:chExt cx="3662934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617345" cy="3429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12921" y="1718310"/>
              <a:ext cx="13631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数据结构 · 第25讲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29971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散列查找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不比较关键词，直接把地址算出来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散列函数的五种设计法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拉链法与三种开放地址法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平均查找长度的算法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闭散列表的三种删除方案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229995" cy="205359"/>
            <a:chOff x="680466" y="6192202"/>
            <a:chExt cx="4229995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2299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自学复习版｜据吉林大学《数据结构》第 25 讲课件整理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3689317"/>
            <a:chOff x="521970" y="1515428"/>
            <a:chExt cx="6287453" cy="3689317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动机与定义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比较型查找的下界，以及散列怎么绕过它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散列函数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6783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除余法、MAD 法、乘法、平方取中、压缩、抽取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冲突处理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拉链法与线性、二次、双重探查，以及平均查找长度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散列表的删除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懒惰删除、实时删除、延迟删除三种方案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性能与应用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装填因子、与查找树的取舍、布隆过滤器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7114222" y="1524000"/>
            <a:ext cx="4544378" cy="3800475"/>
            <a:chOff x="7114222" y="1524000"/>
            <a:chExt cx="4544378" cy="3800475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3800475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353377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说出散列函数、散列地址、冲突、装填因子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四个术语的定义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给定关键词序列与散列函数，画出拉链法和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线性探查的散列表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手算查找成功与查找不成功两种平均查找长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度，并说清数的是什么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判断闭散列表中某个元素删除后哪些元素必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须前移，并写出代码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根据装填因子与操作类型，在拉链法和三种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开放地址法之间选型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429000" cy="2997517"/>
            <a:chOff x="667512" y="1835468"/>
            <a:chExt cx="3429000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散列的基本思想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地址不是找出来的，是算出来的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比较型查找的比较次数有下界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散列函数把关键词直接映射成下标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冲突是必然的，不是设计失误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16903" cy="909257"/>
            <a:chOff x="520446" y="342900"/>
            <a:chExt cx="661690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散列的基本思想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1690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 n 个元素，为什么至少要比较 log n 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683017" cy="264033"/>
            <a:chOff x="526542" y="1545907"/>
            <a:chExt cx="768301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6830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第22到24讲的查找方法都靠关键词之间的比较定位。只要还在比较，判定树的高度就压不下去。</a:t>
              </a:r>
            </a:p>
          </p:txBody>
        </p:sp>
      </p:grpSp>
      <p:grpSp>
        <p:nvGrpSpPr>
          <p:cNvPr id="38" name="c1-table-1"/>
          <p:cNvGrpSpPr/>
          <p:nvPr/>
        </p:nvGrpSpPr>
        <p:grpSpPr>
          <a:xfrm>
            <a:off x="533400" y="1928812"/>
            <a:ext cx="6167438" cy="2400300"/>
            <a:chOff x="533400" y="1928812"/>
            <a:chExt cx="6167438" cy="240030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167438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51014" y="20502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查找方法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27122" y="20502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平均查找长度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187988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0555" y="2450306"/>
              <a:ext cx="1391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顺序查找（第22讲）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81262" y="2450306"/>
              <a:ext cx="4021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O(n)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084320" y="24503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无要求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24150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728912"/>
              <a:ext cx="616743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0555" y="2850356"/>
              <a:ext cx="1391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折半查找（第22讲）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81262" y="2850356"/>
              <a:ext cx="5908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O(logn)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084320" y="28503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顺序存储且有序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124200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0555" y="3250406"/>
              <a:ext cx="1542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二叉查找树（第23讲）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481262" y="3250406"/>
              <a:ext cx="9381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O(logn) 平均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084320" y="325040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动态维护形状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524250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529012"/>
              <a:ext cx="616743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0555" y="3650456"/>
              <a:ext cx="10816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树（第24讲）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81262" y="3650456"/>
              <a:ext cx="5908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O(logn)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084320" y="36504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一次读一整个磁盘块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924300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42925" y="3938588"/>
              <a:ext cx="1831658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0555" y="40505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散列查找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481262" y="4050506"/>
              <a:ext cx="759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O(1)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平均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084320" y="405050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散列函数均匀且装填因子受控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1928812"/>
              <a:ext cx="6167438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2379345" y="192881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3982402" y="192881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4" name="c1-card-2"/>
          <p:cNvGrpSpPr/>
          <p:nvPr/>
        </p:nvGrpSpPr>
        <p:grpSpPr>
          <a:xfrm>
            <a:off x="533400" y="4498658"/>
            <a:ext cx="6167438" cy="1202055"/>
            <a:chOff x="533400" y="4498658"/>
            <a:chExt cx="6167438" cy="1202055"/>
          </a:xfrm>
        </p:grpSpPr>
        <p:sp>
          <p:nvSpPr>
            <p:cNvPr id="39" name="Rectangle 39"/>
            <p:cNvSpPr/>
            <p:nvPr/>
          </p:nvSpPr>
          <p:spPr>
            <a:xfrm>
              <a:off x="533400" y="4498658"/>
              <a:ext cx="6167438" cy="1202055"/>
            </a:xfrm>
            <a:prstGeom prst="roundRect">
              <a:avLst>
                <a:gd name="adj" fmla="val 11094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720090" y="468534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12762" y="471820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285684" y="472059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让关键词自己说出它该在哪一格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13232" y="5046345"/>
              <a:ext cx="55172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第20讲证明过，靠比较判定大小的算法受判定树高度约束。散列不比较大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小，直接把关键词的值算成数组下标。</a:t>
              </a:r>
            </a:p>
          </p:txBody>
        </p:sp>
      </p:grpSp>
      <p:grpSp>
        <p:nvGrpSpPr>
          <p:cNvPr id="51" name="c2-card-1"/>
          <p:cNvGrpSpPr/>
          <p:nvPr/>
        </p:nvGrpSpPr>
        <p:grpSpPr>
          <a:xfrm>
            <a:off x="7005638" y="1928812"/>
            <a:ext cx="4652962" cy="1202055"/>
            <a:chOff x="7005638" y="1928812"/>
            <a:chExt cx="4652962" cy="1202055"/>
          </a:xfrm>
        </p:grpSpPr>
        <p:sp>
          <p:nvSpPr>
            <p:cNvPr id="45" name="Rectangle 45"/>
            <p:cNvSpPr/>
            <p:nvPr/>
          </p:nvSpPr>
          <p:spPr>
            <a:xfrm>
              <a:off x="7005638" y="1928812"/>
              <a:ext cx="4652962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015162" y="2062162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230428" y="2115502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315949" y="214836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理想情况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045577" y="215074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根据给定关键词直接定位到存储地址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223570" y="2476500"/>
              <a:ext cx="39570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查找一个元素时不需要与表中其他元素逐个比较，计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算一次函数就得到它的存放位置。</a:t>
              </a:r>
            </a:p>
          </p:txBody>
        </p:sp>
      </p:grpSp>
      <p:grpSp>
        <p:nvGrpSpPr>
          <p:cNvPr id="58" name="c2-card-2"/>
          <p:cNvGrpSpPr/>
          <p:nvPr/>
        </p:nvGrpSpPr>
        <p:grpSpPr>
          <a:xfrm>
            <a:off x="7005638" y="3301365"/>
            <a:ext cx="4652962" cy="1459230"/>
            <a:chOff x="7005638" y="3301365"/>
            <a:chExt cx="4652962" cy="1459230"/>
          </a:xfrm>
        </p:grpSpPr>
        <p:sp>
          <p:nvSpPr>
            <p:cNvPr id="52" name="Rectangle 52"/>
            <p:cNvSpPr/>
            <p:nvPr/>
          </p:nvSpPr>
          <p:spPr>
            <a:xfrm>
              <a:off x="7005638" y="3301365"/>
              <a:ext cx="4652962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015162" y="3434715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230428" y="348805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323099" y="352091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人物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796974" y="3522345"/>
              <a:ext cx="30112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Hans Peter Luhn（1896 到 1964）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223570" y="3849052"/>
              <a:ext cx="402564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IBM 研究员，1953 年在一份内部备忘录里提出了用链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地址法处理冲突的散列表，这是散列方法最早的完整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描述。他也是 KWIC 索引和 Luhn 校验码的发明者。</a:t>
              </a:r>
            </a:p>
          </p:txBody>
        </p:sp>
      </p:grpSp>
      <p:grpSp>
        <p:nvGrpSpPr>
          <p:cNvPr id="65" name="c2-callout-3"/>
          <p:cNvGrpSpPr/>
          <p:nvPr/>
        </p:nvGrpSpPr>
        <p:grpSpPr>
          <a:xfrm>
            <a:off x="7005638" y="4930140"/>
            <a:ext cx="4652962" cy="770572"/>
            <a:chOff x="7005638" y="4930140"/>
            <a:chExt cx="4652962" cy="770572"/>
          </a:xfrm>
        </p:grpSpPr>
        <p:sp>
          <p:nvSpPr>
            <p:cNvPr id="59" name="Rectangle 59"/>
            <p:cNvSpPr/>
            <p:nvPr/>
          </p:nvSpPr>
          <p:spPr>
            <a:xfrm>
              <a:off x="7005638" y="4930140"/>
              <a:ext cx="4652962" cy="770572"/>
            </a:xfrm>
            <a:prstGeom prst="roundRect">
              <a:avLst>
                <a:gd name="adj" fmla="val 1483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210425" y="5215890"/>
              <a:ext cx="200026" cy="200025"/>
              <a:chOff x="7210425" y="5215890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210425" y="521589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250164" y="526034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284879" y="537146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7513130" y="5097780"/>
              <a:ext cx="363988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数据规模 n 翻一万倍，折半查找多比较十几次，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散列查找的平均代价几乎不变。</a:t>
              </a:r>
            </a:p>
          </p:txBody>
        </p:sp>
      </p:grpSp>
      <p:grpSp>
        <p:nvGrpSpPr>
          <p:cNvPr id="71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6" name="Rectangle 66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69" name="Group 69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0" name="TextBox 70"/>
            <p:cNvSpPr txBox="1"/>
            <p:nvPr/>
          </p:nvSpPr>
          <p:spPr>
            <a:xfrm>
              <a:off x="1040892" y="6028373"/>
              <a:ext cx="65744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散列换掉的是“比较”这个动作本身，所以它不受比较排序与比较查找的下界约束。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散列的基本思想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散列：把关键词映射成数组下标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graph-1"/>
          <p:cNvGrpSpPr/>
          <p:nvPr/>
        </p:nvGrpSpPr>
        <p:grpSpPr>
          <a:xfrm>
            <a:off x="812482" y="1903095"/>
            <a:ext cx="5259706" cy="2739390"/>
            <a:chOff x="812482" y="1903095"/>
            <a:chExt cx="5259706" cy="2739390"/>
          </a:xfrm>
        </p:grpSpPr>
        <p:sp>
          <p:nvSpPr>
            <p:cNvPr id="7" name="Freeform 7"/>
            <p:cNvSpPr/>
            <p:nvPr/>
          </p:nvSpPr>
          <p:spPr>
            <a:xfrm>
              <a:off x="1397318" y="2194560"/>
              <a:ext cx="1482090" cy="802005"/>
            </a:xfrm>
            <a:custGeom>
              <a:avLst/>
              <a:gdLst/>
              <a:ahLst/>
              <a:cxnLst/>
              <a:rect l="l" t="t" r="r" b="b"/>
              <a:pathLst>
                <a:path w="1482090" h="802005">
                  <a:moveTo>
                    <a:pt x="0" y="0"/>
                  </a:moveTo>
                  <a:lnTo>
                    <a:pt x="1482090" y="80200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856548" y="2954655"/>
              <a:ext cx="106680" cy="86678"/>
            </a:xfrm>
            <a:custGeom>
              <a:avLst/>
              <a:gdLst/>
              <a:ahLst/>
              <a:cxnLst/>
              <a:rect l="l" t="t" r="r" b="b"/>
              <a:pathLst>
                <a:path w="106680" h="86678">
                  <a:moveTo>
                    <a:pt x="106680" y="86678"/>
                  </a:moveTo>
                  <a:lnTo>
                    <a:pt x="0" y="82867"/>
                  </a:lnTo>
                  <a:lnTo>
                    <a:pt x="4476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443990" y="3272790"/>
              <a:ext cx="1364932" cy="9525"/>
            </a:xfrm>
            <a:custGeom>
              <a:avLst/>
              <a:gdLst/>
              <a:ahLst/>
              <a:cxnLst/>
              <a:rect l="l" t="t" r="r" b="b"/>
              <a:pathLst>
                <a:path w="1364932" h="9525">
                  <a:moveTo>
                    <a:pt x="0" y="0"/>
                  </a:moveTo>
                  <a:lnTo>
                    <a:pt x="136493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808922" y="322516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397318" y="3549015"/>
              <a:ext cx="1482090" cy="802005"/>
            </a:xfrm>
            <a:custGeom>
              <a:avLst/>
              <a:gdLst/>
              <a:ahLst/>
              <a:cxnLst/>
              <a:rect l="l" t="t" r="r" b="b"/>
              <a:pathLst>
                <a:path w="1482090" h="802005">
                  <a:moveTo>
                    <a:pt x="0" y="802005"/>
                  </a:moveTo>
                  <a:lnTo>
                    <a:pt x="148209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856548" y="3504248"/>
              <a:ext cx="106680" cy="86678"/>
            </a:xfrm>
            <a:custGeom>
              <a:avLst/>
              <a:gdLst/>
              <a:ahLst/>
              <a:cxnLst/>
              <a:rect l="l" t="t" r="r" b="b"/>
              <a:pathLst>
                <a:path w="106680" h="86678">
                  <a:moveTo>
                    <a:pt x="106680" y="0"/>
                  </a:moveTo>
                  <a:lnTo>
                    <a:pt x="44768" y="86678"/>
                  </a:lnTo>
                  <a:lnTo>
                    <a:pt x="0" y="285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875722" y="3272790"/>
              <a:ext cx="1259205" cy="9525"/>
            </a:xfrm>
            <a:custGeom>
              <a:avLst/>
              <a:gdLst/>
              <a:ahLst/>
              <a:cxnLst/>
              <a:rect l="l" t="t" r="r" b="b"/>
              <a:pathLst>
                <a:path w="1259205" h="9525">
                  <a:moveTo>
                    <a:pt x="0" y="0"/>
                  </a:moveTo>
                  <a:lnTo>
                    <a:pt x="125920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134928" y="322516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812482" y="1903095"/>
              <a:ext cx="631508" cy="291465"/>
            </a:xfrm>
            <a:prstGeom prst="roundRect">
              <a:avLst>
                <a:gd name="adj" fmla="val 32680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812482" y="3127058"/>
              <a:ext cx="631508" cy="291465"/>
            </a:xfrm>
            <a:prstGeom prst="roundRect">
              <a:avLst>
                <a:gd name="adj" fmla="val 32680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812482" y="4351020"/>
              <a:ext cx="631508" cy="291465"/>
            </a:xfrm>
            <a:prstGeom prst="roundRect">
              <a:avLst>
                <a:gd name="adj" fmla="val 32680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2913698" y="2796540"/>
              <a:ext cx="952500" cy="9525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230178" y="2988945"/>
              <a:ext cx="842010" cy="566738"/>
            </a:xfrm>
            <a:prstGeom prst="roundRect">
              <a:avLst>
                <a:gd name="adj" fmla="val 16807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43259" y="1988344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43259" y="3212306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43259" y="4436269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062267" y="3212306"/>
              <a:ext cx="6553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散列函数 h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86133" y="3134201"/>
              <a:ext cx="5300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散列表 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48338" y="328945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的下标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4400550" y="3193732"/>
              <a:ext cx="30575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423324" y="3223736"/>
              <a:ext cx="25925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h(K)</a:t>
              </a:r>
            </a:p>
          </p:txBody>
        </p:sp>
      </p:grpSp>
      <p:grpSp>
        <p:nvGrpSpPr>
          <p:cNvPr id="48" name="c1-cells-2"/>
          <p:cNvGrpSpPr/>
          <p:nvPr/>
        </p:nvGrpSpPr>
        <p:grpSpPr>
          <a:xfrm>
            <a:off x="528447" y="5186362"/>
            <a:ext cx="5956173" cy="571977"/>
            <a:chOff x="528447" y="5186362"/>
            <a:chExt cx="5956173" cy="571977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530399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散列表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40130" y="5186362"/>
              <a:ext cx="907732" cy="3562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408066" y="5303996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V₃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947862" y="5186362"/>
              <a:ext cx="907732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330336" y="5303996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854642" y="5186362"/>
              <a:ext cx="907732" cy="3562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223531" y="5303996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V₂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762375" y="5186362"/>
              <a:ext cx="907732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144848" y="5303996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670108" y="5186362"/>
              <a:ext cx="907732" cy="3562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038044" y="5303996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V₁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576888" y="5186362"/>
              <a:ext cx="907732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960313" y="5303996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458401" y="559641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366133" y="559641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273866" y="559641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180646" y="559641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088378" y="559641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996111" y="559641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  <p:grpSp>
        <p:nvGrpSpPr>
          <p:cNvPr id="60" name="c2-kv-1"/>
          <p:cNvGrpSpPr/>
          <p:nvPr/>
        </p:nvGrpSpPr>
        <p:grpSpPr>
          <a:xfrm>
            <a:off x="6782943" y="1545431"/>
            <a:ext cx="4899743" cy="1850517"/>
            <a:chOff x="6782943" y="1545431"/>
            <a:chExt cx="4899743" cy="1850517"/>
          </a:xfrm>
        </p:grpSpPr>
        <p:sp>
          <p:nvSpPr>
            <p:cNvPr id="49" name="TextBox 49"/>
            <p:cNvSpPr txBox="1"/>
            <p:nvPr/>
          </p:nvSpPr>
          <p:spPr>
            <a:xfrm>
              <a:off x="6782943" y="15454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散列函数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707820" y="1545431"/>
              <a:ext cx="3727450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把关键词值映射到散列地址的函数，记作 h。自变量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是关键词 K，函数值 h(K) 是元素在表中的存放位置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789420" y="205644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782943" y="215884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散列地址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707820" y="2158841"/>
              <a:ext cx="39748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h(K) 的值，也就是数组下标，取值范围是 0 到 M−1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89420" y="2430780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782943" y="253317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散列表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707820" y="2533174"/>
              <a:ext cx="3597402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存放这些元素的一维数组，长度记作 M。散列也译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作哈希、杂凑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789420" y="3044190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782943" y="314658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冲突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707820" y="3146584"/>
              <a:ext cx="26528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存在 K₁ ≠ K₂ 却有 h(K₁) = h(K₂)</a:t>
              </a:r>
            </a:p>
          </p:txBody>
        </p:sp>
      </p:grpSp>
      <p:grpSp>
        <p:nvGrpSpPr>
          <p:cNvPr id="78" name="c2-table-2"/>
          <p:cNvGrpSpPr/>
          <p:nvPr/>
        </p:nvGrpSpPr>
        <p:grpSpPr>
          <a:xfrm>
            <a:off x="6784467" y="3510915"/>
            <a:ext cx="4874133" cy="1026509"/>
            <a:chOff x="6784467" y="3510915"/>
            <a:chExt cx="4874133" cy="1026509"/>
          </a:xfrm>
        </p:grpSpPr>
        <p:sp>
          <p:nvSpPr>
            <p:cNvPr id="61" name="Rectangle 61"/>
            <p:cNvSpPr/>
            <p:nvPr/>
          </p:nvSpPr>
          <p:spPr>
            <a:xfrm>
              <a:off x="6789420" y="3510915"/>
              <a:ext cx="4869180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259791" y="3628073"/>
              <a:ext cx="5680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 K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591196" y="3628073"/>
              <a:ext cx="5360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K₁ = 10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710383" y="3628073"/>
              <a:ext cx="5360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K₂ = 14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830523" y="3628073"/>
              <a:ext cx="5360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K₃ = 24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884098" y="4009073"/>
              <a:ext cx="9039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h(K) = K % 6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8308658" y="3901440"/>
              <a:ext cx="1101090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8393811" y="400907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9427845" y="3901440"/>
              <a:ext cx="1101090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512998" y="400907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10547985" y="3901440"/>
              <a:ext cx="1101090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10633139" y="400907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6789420" y="3510915"/>
              <a:ext cx="4869180" cy="7629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8294370" y="3510915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413558" y="3510915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10533698" y="3510915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784467" y="4346734"/>
              <a:ext cx="39882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左图代入具体数字：表长 M = 6，三个关键词分别落在 4、2、0 号格</a:t>
              </a:r>
            </a:p>
          </p:txBody>
        </p:sp>
      </p:grpSp>
      <p:grpSp>
        <p:nvGrpSpPr>
          <p:cNvPr id="85" name="c2-callout-3"/>
          <p:cNvGrpSpPr/>
          <p:nvPr/>
        </p:nvGrpSpPr>
        <p:grpSpPr>
          <a:xfrm>
            <a:off x="6789420" y="4663440"/>
            <a:ext cx="4869180" cy="702945"/>
            <a:chOff x="6789420" y="4663440"/>
            <a:chExt cx="4869180" cy="702945"/>
          </a:xfrm>
        </p:grpSpPr>
        <p:sp>
          <p:nvSpPr>
            <p:cNvPr id="79" name="Rectangle 79"/>
            <p:cNvSpPr/>
            <p:nvPr/>
          </p:nvSpPr>
          <p:spPr>
            <a:xfrm>
              <a:off x="6789420" y="4663440"/>
              <a:ext cx="4869180" cy="702945"/>
            </a:xfrm>
            <a:prstGeom prst="roundRect">
              <a:avLst>
                <a:gd name="adj" fmla="val 1626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3" name="Group 83"/>
            <p:cNvGrpSpPr/>
            <p:nvPr/>
          </p:nvGrpSpPr>
          <p:grpSpPr>
            <a:xfrm>
              <a:off x="6994208" y="4914900"/>
              <a:ext cx="200026" cy="200025"/>
              <a:chOff x="6994208" y="4914900"/>
              <a:chExt cx="200026" cy="200025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6994208" y="491490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1" name="Freeform 81"/>
              <p:cNvSpPr/>
              <p:nvPr/>
            </p:nvSpPr>
            <p:spPr>
              <a:xfrm>
                <a:off x="7033946" y="495935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2" name="Freeform 82"/>
              <p:cNvSpPr/>
              <p:nvPr/>
            </p:nvSpPr>
            <p:spPr>
              <a:xfrm>
                <a:off x="7068662" y="507047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4" name="TextBox 84"/>
            <p:cNvSpPr txBox="1"/>
            <p:nvPr/>
          </p:nvSpPr>
          <p:spPr>
            <a:xfrm>
              <a:off x="7297293" y="4808696"/>
              <a:ext cx="401193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查找 14 时先算 h(14) = 2，直接取第 2 格，不和其他关</a:t>
              </a:r>
              <a:br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键词比较。</a:t>
              </a:r>
            </a:p>
          </p:txBody>
        </p:sp>
      </p:grpSp>
      <p:grpSp>
        <p:nvGrpSpPr>
          <p:cNvPr id="91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86" name="Rectangle 86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89" name="Group 89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90" name="TextBox 90"/>
            <p:cNvSpPr txBox="1"/>
            <p:nvPr/>
          </p:nvSpPr>
          <p:spPr>
            <a:xfrm>
              <a:off x="1041273" y="6039326"/>
              <a:ext cx="6578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散列表是数组，散列函数负责回答“这个关键词归哪一格”，两者合起来才叫散列方法。</a:t>
              </a:r>
            </a:p>
          </p:txBody>
        </p:sp>
      </p:grpSp>
      <p:grpSp>
        <p:nvGrpSpPr>
          <p:cNvPr id="9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2" name="TextBox 92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散列的基本思想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冲突躲不掉，只能处理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919722" cy="264033"/>
            <a:chOff x="526542" y="1545907"/>
            <a:chExt cx="691972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919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关键词的取值范围几乎总是远大于表长，鸽巢原理保证一定有两个关键词挤进同一格。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28812"/>
            <a:ext cx="5842635" cy="1403032"/>
            <a:chOff x="533400" y="1928812"/>
            <a:chExt cx="5842635" cy="140303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842635" cy="1403032"/>
            </a:xfrm>
            <a:prstGeom prst="roundRect">
              <a:avLst>
                <a:gd name="adj" fmla="val 95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13633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2475" y="210978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37044" y="21426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鸽巢原理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68006" y="2149316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关键词多于地址，就必有冲突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5998" y="2465546"/>
              <a:ext cx="5044186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学号是 18 位十进制数，取值共 10¹⁸ 种；散列表开到 10⁶ 格已经很大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了。平均每一格要容纳 10¹² 个可能的关键词，无论 h 怎么设计都躲不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开。</a:t>
              </a:r>
            </a:p>
          </p:txBody>
        </p:sp>
      </p:grpSp>
      <p:grpSp>
        <p:nvGrpSpPr>
          <p:cNvPr id="37" name="c1-table-2"/>
          <p:cNvGrpSpPr/>
          <p:nvPr/>
        </p:nvGrpSpPr>
        <p:grpSpPr>
          <a:xfrm>
            <a:off x="528447" y="3496628"/>
            <a:ext cx="5847588" cy="1408461"/>
            <a:chOff x="528447" y="3496628"/>
            <a:chExt cx="5847588" cy="1408461"/>
          </a:xfrm>
        </p:grpSpPr>
        <p:sp>
          <p:nvSpPr>
            <p:cNvPr id="16" name="Rectangle 16"/>
            <p:cNvSpPr/>
            <p:nvPr/>
          </p:nvSpPr>
          <p:spPr>
            <a:xfrm>
              <a:off x="533400" y="3496628"/>
              <a:ext cx="5842635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59489" y="3613785"/>
              <a:ext cx="5993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地址数 M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06108" y="3613785"/>
              <a:ext cx="8435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关键词个数 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166682" y="361378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装填因子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37532" y="3613785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至少发生一次冲突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8078" y="399573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679638" y="399573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965513" y="3995738"/>
              <a:ext cx="3993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0.063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134231" y="3995738"/>
              <a:ext cx="427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50.7%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25481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259580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28078" y="4376738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79638" y="437673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965513" y="4376738"/>
              <a:ext cx="3993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0.038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049078" y="4269105"/>
              <a:ext cx="2318385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134231" y="4376738"/>
              <a:ext cx="427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50.9%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496628"/>
              <a:ext cx="5842635" cy="11439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580198" y="3496628"/>
              <a:ext cx="9525" cy="1143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2866072" y="3496628"/>
              <a:ext cx="9525" cy="1143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4034790" y="3496628"/>
              <a:ext cx="9525" cy="1143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28447" y="4714399"/>
              <a:ext cx="27047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关键词随机落入 M 个地址时，出现冲突的概率</a:t>
              </a:r>
            </a:p>
          </p:txBody>
        </p:sp>
      </p:grpSp>
      <p:grpSp>
        <p:nvGrpSpPr>
          <p:cNvPr id="44" name="c1-callout-3"/>
          <p:cNvGrpSpPr/>
          <p:nvPr/>
        </p:nvGrpSpPr>
        <p:grpSpPr>
          <a:xfrm>
            <a:off x="533400" y="5031105"/>
            <a:ext cx="5842635" cy="1200150"/>
            <a:chOff x="533400" y="5031105"/>
            <a:chExt cx="5842635" cy="1200150"/>
          </a:xfrm>
        </p:grpSpPr>
        <p:sp>
          <p:nvSpPr>
            <p:cNvPr id="38" name="Rectangle 38"/>
            <p:cNvSpPr/>
            <p:nvPr/>
          </p:nvSpPr>
          <p:spPr>
            <a:xfrm>
              <a:off x="533400" y="5031105"/>
              <a:ext cx="5842635" cy="1200150"/>
            </a:xfrm>
            <a:prstGeom prst="roundRect">
              <a:avLst>
                <a:gd name="adj" fmla="val 952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26129" y="5527476"/>
              <a:ext cx="224134" cy="192560"/>
              <a:chOff x="726129" y="5527476"/>
              <a:chExt cx="224134" cy="19256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838200" y="559784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726129" y="552747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38200" y="567563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1273" y="5424964"/>
              <a:ext cx="484098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表才装了 3.8%，冲突就已经是大概率事件。设计散列函数的目标是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让冲突少，不是让冲突消失。</a:t>
              </a:r>
            </a:p>
          </p:txBody>
        </p:sp>
      </p:grpSp>
      <p:grpSp>
        <p:nvGrpSpPr>
          <p:cNvPr id="47" name="c2-image-1"/>
          <p:cNvGrpSpPr/>
          <p:nvPr/>
        </p:nvGrpSpPr>
        <p:grpSpPr>
          <a:xfrm>
            <a:off x="7550468" y="1928812"/>
            <a:ext cx="3238500" cy="2711482"/>
            <a:chOff x="7550468" y="1928812"/>
            <a:chExt cx="3238500" cy="2711482"/>
          </a:xfrm>
        </p:grpSpPr>
        <p:pic>
          <p:nvPicPr>
            <p:cNvPr id="45" name="Image 4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50468" y="1928812"/>
              <a:ext cx="3238500" cy="2428875"/>
            </a:xfrm>
            <a:prstGeom prst="roundRect">
              <a:avLst>
                <a:gd name="adj" fmla="val 5490"/>
              </a:avLst>
            </a:prstGeom>
          </p:spPr>
        </p:pic>
        <p:sp>
          <p:nvSpPr>
            <p:cNvPr id="46" name="TextBox 46"/>
            <p:cNvSpPr txBox="1"/>
            <p:nvPr/>
          </p:nvSpPr>
          <p:spPr>
            <a:xfrm>
              <a:off x="7779525" y="4449604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两件不同的外套被指到同一个挂钩，这就是冲突</a:t>
              </a:r>
            </a:p>
          </p:txBody>
        </p:sp>
      </p:grpSp>
      <p:grpSp>
        <p:nvGrpSpPr>
          <p:cNvPr id="58" name="c2-card-2"/>
          <p:cNvGrpSpPr/>
          <p:nvPr/>
        </p:nvGrpSpPr>
        <p:grpSpPr>
          <a:xfrm>
            <a:off x="6680835" y="4786312"/>
            <a:ext cx="4977765" cy="1444942"/>
            <a:chOff x="6680835" y="4786312"/>
            <a:chExt cx="4977765" cy="1444942"/>
          </a:xfrm>
        </p:grpSpPr>
        <p:sp>
          <p:nvSpPr>
            <p:cNvPr id="48" name="Rectangle 48"/>
            <p:cNvSpPr/>
            <p:nvPr/>
          </p:nvSpPr>
          <p:spPr>
            <a:xfrm>
              <a:off x="6680835" y="4786312"/>
              <a:ext cx="4977765" cy="1444942"/>
            </a:xfrm>
            <a:prstGeom prst="roundRect">
              <a:avLst>
                <a:gd name="adj" fmla="val 9229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861810" y="4967288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950431" y="500014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两件事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552563" y="500681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散列方法的全部工作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862762" y="5312092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914669" y="534771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132511" y="5323046"/>
              <a:ext cx="41005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设计 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散列函数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，让关键词尽量均匀地铺满 0 到 M−1。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862762" y="5596890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914669" y="563251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132511" y="5607844"/>
              <a:ext cx="412572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设计 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冲突处理方法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，规定撞车之后元素去哪里、怎么再找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回来。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散列的基本思想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三种操作都要绕开同一个问题：冲突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flow-1"/>
          <p:cNvGrpSpPr/>
          <p:nvPr/>
        </p:nvGrpSpPr>
        <p:grpSpPr>
          <a:xfrm>
            <a:off x="674370" y="1711642"/>
            <a:ext cx="5777865" cy="3785235"/>
            <a:chOff x="674370" y="1711642"/>
            <a:chExt cx="5777865" cy="3785235"/>
          </a:xfrm>
        </p:grpSpPr>
        <p:sp>
          <p:nvSpPr>
            <p:cNvPr id="7" name="Freeform 7"/>
            <p:cNvSpPr/>
            <p:nvPr/>
          </p:nvSpPr>
          <p:spPr>
            <a:xfrm>
              <a:off x="1543050" y="2149792"/>
              <a:ext cx="9525" cy="269558"/>
            </a:xfrm>
            <a:custGeom>
              <a:avLst/>
              <a:gdLst/>
              <a:ahLst/>
              <a:cxnLst/>
              <a:rect l="l" t="t" r="r" b="b"/>
              <a:pathLst>
                <a:path w="9525" h="269558">
                  <a:moveTo>
                    <a:pt x="0" y="0"/>
                  </a:moveTo>
                  <a:lnTo>
                    <a:pt x="0" y="26955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490662" y="24193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543050" y="2962275"/>
              <a:ext cx="9525" cy="79058"/>
            </a:xfrm>
            <a:custGeom>
              <a:avLst/>
              <a:gdLst/>
              <a:ahLst/>
              <a:cxnLst/>
              <a:rect l="l" t="t" r="r" b="b"/>
              <a:pathLst>
                <a:path w="9525" h="79058">
                  <a:moveTo>
                    <a:pt x="0" y="0"/>
                  </a:moveTo>
                  <a:lnTo>
                    <a:pt x="0" y="7905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490662" y="304133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543050" y="3966210"/>
              <a:ext cx="9525" cy="796290"/>
            </a:xfrm>
            <a:custGeom>
              <a:avLst/>
              <a:gdLst/>
              <a:ahLst/>
              <a:cxnLst/>
              <a:rect l="l" t="t" r="r" b="b"/>
              <a:pathLst>
                <a:path w="9525" h="796290">
                  <a:moveTo>
                    <a:pt x="0" y="0"/>
                  </a:moveTo>
                  <a:lnTo>
                    <a:pt x="0" y="79629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490662" y="47625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11730" y="3556635"/>
              <a:ext cx="2198370" cy="9525"/>
            </a:xfrm>
            <a:custGeom>
              <a:avLst/>
              <a:gdLst/>
              <a:ahLst/>
              <a:cxnLst/>
              <a:rect l="l" t="t" r="r" b="b"/>
              <a:pathLst>
                <a:path w="2198370" h="9525">
                  <a:moveTo>
                    <a:pt x="0" y="0"/>
                  </a:moveTo>
                  <a:lnTo>
                    <a:pt x="219837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610100" y="35042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5582602" y="3870960"/>
              <a:ext cx="9525" cy="79058"/>
            </a:xfrm>
            <a:custGeom>
              <a:avLst/>
              <a:gdLst/>
              <a:ahLst/>
              <a:cxnLst/>
              <a:rect l="l" t="t" r="r" b="b"/>
              <a:pathLst>
                <a:path w="9525" h="79058">
                  <a:moveTo>
                    <a:pt x="0" y="0"/>
                  </a:moveTo>
                  <a:lnTo>
                    <a:pt x="0" y="7905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530215" y="39500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5582602" y="4683442"/>
              <a:ext cx="9525" cy="79058"/>
            </a:xfrm>
            <a:custGeom>
              <a:avLst/>
              <a:gdLst/>
              <a:ahLst/>
              <a:cxnLst/>
              <a:rect l="l" t="t" r="r" b="b"/>
              <a:pathLst>
                <a:path w="9525" h="79058">
                  <a:moveTo>
                    <a:pt x="0" y="0"/>
                  </a:moveTo>
                  <a:lnTo>
                    <a:pt x="0" y="7905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530215" y="47625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74370" y="1711642"/>
              <a:ext cx="1737360" cy="4381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74370" y="2524125"/>
              <a:ext cx="1737360" cy="438150"/>
            </a:xfrm>
            <a:prstGeom prst="roundRect">
              <a:avLst>
                <a:gd name="adj" fmla="val 21739"/>
              </a:avLst>
            </a:prstGeom>
            <a:solidFill>
              <a:srgbClr val="E6EFF9"/>
            </a:solidFill>
            <a:ln w="19050">
              <a:solidFill>
                <a:srgbClr val="1F5FA8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674370" y="3146108"/>
              <a:ext cx="1737360" cy="820102"/>
            </a:xfrm>
            <a:custGeom>
              <a:avLst/>
              <a:gdLst/>
              <a:ahLst/>
              <a:cxnLst/>
              <a:rect l="l" t="t" r="r" b="b"/>
              <a:pathLst>
                <a:path w="1737360" h="820102">
                  <a:moveTo>
                    <a:pt x="868680" y="0"/>
                  </a:moveTo>
                  <a:lnTo>
                    <a:pt x="1737360" y="410527"/>
                  </a:lnTo>
                  <a:lnTo>
                    <a:pt x="868680" y="820102"/>
                  </a:lnTo>
                  <a:lnTo>
                    <a:pt x="0" y="410527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74370" y="4867275"/>
              <a:ext cx="1737360" cy="629602"/>
            </a:xfrm>
            <a:prstGeom prst="roundRect">
              <a:avLst>
                <a:gd name="adj" fmla="val 49924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4714875" y="3241358"/>
              <a:ext cx="1736407" cy="629602"/>
            </a:xfrm>
            <a:custGeom>
              <a:avLst/>
              <a:gdLst/>
              <a:ahLst/>
              <a:cxnLst/>
              <a:rect l="l" t="t" r="r" b="b"/>
              <a:pathLst>
                <a:path w="1736407" h="629602">
                  <a:moveTo>
                    <a:pt x="133350" y="0"/>
                  </a:moveTo>
                  <a:lnTo>
                    <a:pt x="1736407" y="0"/>
                  </a:lnTo>
                  <a:lnTo>
                    <a:pt x="1603057" y="629602"/>
                  </a:lnTo>
                  <a:lnTo>
                    <a:pt x="0" y="629602"/>
                  </a:lnTo>
                  <a:close/>
                </a:path>
              </a:pathLst>
            </a:custGeom>
            <a:solidFill>
              <a:srgbClr val="E6EFF9"/>
            </a:solidFill>
            <a:ln w="13335">
              <a:solidFill>
                <a:srgbClr val="1F5FA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714875" y="4054792"/>
              <a:ext cx="1737360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4714875" y="4867275"/>
              <a:ext cx="1737360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196855" y="1841659"/>
              <a:ext cx="6923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 K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228928" y="2654141"/>
              <a:ext cx="6282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 h(K)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6701" y="3358039"/>
              <a:ext cx="101269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T[h(K)] 空着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吗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69467" y="4983956"/>
              <a:ext cx="1347165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直接放进去 / 直接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取出来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088446" y="3358039"/>
              <a:ext cx="98831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冲突处理方法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另找一个位置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169726" y="4170521"/>
              <a:ext cx="82575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拉链法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挂到链表上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925886" y="4983956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开放地址法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按探查序列往下找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571625" y="4324350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594866" y="435102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449002" y="334041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487293" y="336708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6898005" y="1524000"/>
            <a:ext cx="4760595" cy="2252662"/>
            <a:chOff x="6898005" y="1524000"/>
            <a:chExt cx="4760595" cy="2252662"/>
          </a:xfrm>
        </p:grpSpPr>
        <p:sp>
          <p:nvSpPr>
            <p:cNvPr id="38" name="Rectangle 38"/>
            <p:cNvSpPr/>
            <p:nvPr/>
          </p:nvSpPr>
          <p:spPr>
            <a:xfrm>
              <a:off x="6898005" y="1524000"/>
              <a:ext cx="4760595" cy="2252662"/>
            </a:xfrm>
            <a:prstGeom prst="roundRect">
              <a:avLst>
                <a:gd name="adj" fmla="val 592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907530" y="1657350"/>
              <a:ext cx="47625" cy="198596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7145655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235863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术语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745730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开散列法与闭散列法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151370" y="219265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309485" y="212979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开散列法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：元素可以存到散列表数组之外，代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表是拉链法。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151370" y="281368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309485" y="275082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闭散列法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：元素只能存在数组内部，冲突时在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数组里另找空位，又叫开放地址法。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139178" y="3368516"/>
              <a:ext cx="38383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两个“开”字含义相反，靠“元素能不能出数组”来记</a:t>
              </a:r>
            </a:p>
          </p:txBody>
        </p:sp>
      </p:grpSp>
      <p:grpSp>
        <p:nvGrpSpPr>
          <p:cNvPr id="55" name="c2-card-2"/>
          <p:cNvGrpSpPr/>
          <p:nvPr/>
        </p:nvGrpSpPr>
        <p:grpSpPr>
          <a:xfrm>
            <a:off x="6898005" y="3967162"/>
            <a:ext cx="4760595" cy="1621155"/>
            <a:chOff x="6898005" y="3967162"/>
            <a:chExt cx="4760595" cy="1621155"/>
          </a:xfrm>
        </p:grpSpPr>
        <p:sp>
          <p:nvSpPr>
            <p:cNvPr id="49" name="Rectangle 49"/>
            <p:cNvSpPr/>
            <p:nvPr/>
          </p:nvSpPr>
          <p:spPr>
            <a:xfrm>
              <a:off x="6898005" y="3967162"/>
              <a:ext cx="4760595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907530" y="4100512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7145655" y="417671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235863" y="421243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745730" y="4211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查找和删除也要走同一条路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138035" y="4572952"/>
              <a:ext cx="4015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插入时因为冲突绕到了别处，查找时就必须沿着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同一条探查路径走一遍，删除时还要保证这条路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不被切断。第四部分整节都在处理这件事。</a:t>
              </a:r>
            </a:p>
          </p:txBody>
        </p:sp>
      </p:grpSp>
      <p:grpSp>
        <p:nvGrpSpPr>
          <p:cNvPr id="62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6" name="Rectangle 56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1040130" y="5991225"/>
              <a:ext cx="70827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冲突处理方法一旦选定，插入、查找、删除三种操作的实现就被它一起决定了。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429000" cy="2997517"/>
            <a:chOff x="667512" y="1835468"/>
            <a:chExt cx="3429000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散列函数的设计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算得快，还要散得开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5856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除余法最常用，M 取素数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781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MAD 法与乘法散列对 M 不敏感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平方取中、压缩、抽取各有各的坑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散列函数的设计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好的散列函数要同时满足三条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335405"/>
            <a:chOff x="533400" y="1524000"/>
            <a:chExt cx="5410200" cy="13354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0031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散列函数 h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h(Key) = Address of Hash Table，把关键词值映射成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散列表的下标。</a:t>
              </a:r>
            </a:p>
          </p:txBody>
        </p:sp>
      </p:grpSp>
      <p:grpSp>
        <p:nvGrpSpPr>
          <p:cNvPr id="29" name="c1-bullets-2"/>
          <p:cNvGrpSpPr/>
          <p:nvPr/>
        </p:nvGrpSpPr>
        <p:grpSpPr>
          <a:xfrm>
            <a:off x="533400" y="3061335"/>
            <a:ext cx="5219827" cy="2466309"/>
            <a:chOff x="533400" y="3061335"/>
            <a:chExt cx="5219827" cy="2466309"/>
          </a:xfrm>
        </p:grpSpPr>
        <p:sp>
          <p:nvSpPr>
            <p:cNvPr id="14" name="Ellipse 14"/>
            <p:cNvSpPr/>
            <p:nvPr/>
          </p:nvSpPr>
          <p:spPr>
            <a:xfrm>
              <a:off x="533400" y="306133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95249" y="31036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34390" y="307467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便于快速计算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42010" y="3441382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26033" y="3368516"/>
              <a:ext cx="458901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算一次 h 的代价必须是常数，且要比几次关键词比较更便宜，否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则不如直接用查找树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389953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5249" y="39418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4390" y="3912870"/>
              <a:ext cx="34518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函数值落在表长范围内：0 ≤ h(K) &lt; M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42010" y="4278630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26033" y="4205764"/>
              <a:ext cx="47271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算出表外的下标就是数组越界，这一条由函数形式本身保证，不靠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运行时检查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33400" y="4736782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95249" y="4779074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4390" y="4750118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极少出现冲突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42010" y="5116830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26033" y="5043964"/>
              <a:ext cx="461340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关键词映射到各位置的概率尽量相等，即散列值在区间 0 到 M−1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上均匀分布</a:t>
              </a:r>
            </a:p>
          </p:txBody>
        </p:sp>
      </p:grpSp>
      <p:grpSp>
        <p:nvGrpSpPr>
          <p:cNvPr id="35" name="c2-card-1"/>
          <p:cNvGrpSpPr/>
          <p:nvPr/>
        </p:nvGrpSpPr>
        <p:grpSpPr>
          <a:xfrm>
            <a:off x="6248400" y="1524000"/>
            <a:ext cx="5410200" cy="1621155"/>
            <a:chOff x="6248400" y="1524000"/>
            <a:chExt cx="5410200" cy="1621155"/>
          </a:xfrm>
        </p:grpSpPr>
        <p:sp>
          <p:nvSpPr>
            <p:cNvPr id="30" name="Rectangle 30"/>
            <p:cNvSpPr/>
            <p:nvPr/>
          </p:nvSpPr>
          <p:spPr>
            <a:xfrm>
              <a:off x="6248400" y="1524000"/>
              <a:ext cx="5410200" cy="1621155"/>
            </a:xfrm>
            <a:prstGeom prst="roundRect">
              <a:avLst>
                <a:gd name="adj" fmla="val 8226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579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402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关键区别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342823" y="1768792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均匀分布说的是关键词，不是随机数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50330" y="2129790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真实数据从来不是理想随机的。学号连号、日期等距、商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品编号带固定前缀，散列函数必须把这些规律打散，而不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是假定输入已经随机。</a:t>
              </a:r>
            </a:p>
          </p:txBody>
        </p:sp>
      </p:grpSp>
      <p:grpSp>
        <p:nvGrpSpPr>
          <p:cNvPr id="42" name="c2-card-2"/>
          <p:cNvGrpSpPr/>
          <p:nvPr/>
        </p:nvGrpSpPr>
        <p:grpSpPr>
          <a:xfrm>
            <a:off x="6248400" y="3335655"/>
            <a:ext cx="5410200" cy="1621155"/>
            <a:chOff x="6248400" y="3335655"/>
            <a:chExt cx="5410200" cy="1621155"/>
          </a:xfrm>
        </p:grpSpPr>
        <p:sp>
          <p:nvSpPr>
            <p:cNvPr id="36" name="Rectangle 36"/>
            <p:cNvSpPr/>
            <p:nvPr/>
          </p:nvSpPr>
          <p:spPr>
            <a:xfrm>
              <a:off x="6248400" y="3335655"/>
              <a:ext cx="5410200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257925" y="3469005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96050" y="354520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86258" y="358092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97078" y="3580448"/>
              <a:ext cx="25009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把“少冲突”理解成“不冲突”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88430" y="3941445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上一页已经算过，冲突是必然事件。选取原则里说的是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让冲突的概率尽量低、分布尽量均匀，绝不是承诺一次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都不撞。</a:t>
              </a:r>
            </a:p>
          </p:txBody>
        </p:sp>
      </p:grpSp>
      <p:grpSp>
        <p:nvGrpSpPr>
          <p:cNvPr id="49" name="c2-callout-3"/>
          <p:cNvGrpSpPr/>
          <p:nvPr/>
        </p:nvGrpSpPr>
        <p:grpSpPr>
          <a:xfrm>
            <a:off x="6248400" y="5147310"/>
            <a:ext cx="5410200" cy="782955"/>
            <a:chOff x="6248400" y="5147310"/>
            <a:chExt cx="5410200" cy="782955"/>
          </a:xfrm>
        </p:grpSpPr>
        <p:sp>
          <p:nvSpPr>
            <p:cNvPr id="43" name="Rectangle 43"/>
            <p:cNvSpPr/>
            <p:nvPr/>
          </p:nvSpPr>
          <p:spPr>
            <a:xfrm>
              <a:off x="6248400" y="514731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453188" y="5438775"/>
              <a:ext cx="200026" cy="200025"/>
              <a:chOff x="6453188" y="5438775"/>
              <a:chExt cx="200026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453188" y="543877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492926" y="548322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527642" y="559435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755130" y="5295900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判断一个散列函数好不好，只看它在你这批真实关键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词上的分布，不看它在随机数上的表现。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31732" cy="909257"/>
            <a:chOff x="520446" y="342900"/>
            <a:chExt cx="52317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散列函数的设计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317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除余法：M 取素数，数据才铺得开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829332" cy="278702"/>
            <a:chOff x="526161" y="1547336"/>
            <a:chExt cx="7829332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8293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h(K) = K % M，其中 M 是表长，% 是取余运算，也写作 mod。这是最常用的一种散列函数。</a:t>
              </a:r>
            </a:p>
          </p:txBody>
        </p:sp>
      </p:grpSp>
      <p:grpSp>
        <p:nvGrpSpPr>
          <p:cNvPr id="47" name="c1-table-1"/>
          <p:cNvGrpSpPr/>
          <p:nvPr/>
        </p:nvGrpSpPr>
        <p:grpSpPr>
          <a:xfrm>
            <a:off x="528066" y="1941195"/>
            <a:ext cx="6281356" cy="1497902"/>
            <a:chOff x="528066" y="1941195"/>
            <a:chExt cx="6281356" cy="149790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6276022" cy="40576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72247" y="206549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210079" y="20654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900641" y="20654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546715" y="206549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237278" y="206549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27840" y="206549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618403" y="206549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39445" y="206549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42925" y="2356485"/>
              <a:ext cx="1362075" cy="38671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3412" y="2471261"/>
              <a:ext cx="81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h(K), M=9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14538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704148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394710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085272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775835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65445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156008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274796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2752725"/>
              <a:ext cx="627602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2762250"/>
              <a:ext cx="1362075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3412" y="2877026"/>
              <a:ext cx="81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h(K), M=7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014538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704148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394710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085272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775835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465445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156008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1941195"/>
              <a:ext cx="6276022" cy="12172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909762" y="1941195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2599372" y="1941195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3289935" y="1941195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3980498" y="1941195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671060" y="1941195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360670" y="1941195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051232" y="1941195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8066" y="3233738"/>
              <a:ext cx="30991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公差 d = 6 的等差数列 1, 7, 13, 19, 25, 31, 37</a:t>
              </a:r>
            </a:p>
          </p:txBody>
        </p:sp>
      </p:grpSp>
      <p:grpSp>
        <p:nvGrpSpPr>
          <p:cNvPr id="58" name="c1-card-2"/>
          <p:cNvGrpSpPr/>
          <p:nvPr/>
        </p:nvGrpSpPr>
        <p:grpSpPr>
          <a:xfrm>
            <a:off x="533400" y="3572828"/>
            <a:ext cx="6276022" cy="2506980"/>
            <a:chOff x="533400" y="3572828"/>
            <a:chExt cx="6276022" cy="2506980"/>
          </a:xfrm>
        </p:grpSpPr>
        <p:sp>
          <p:nvSpPr>
            <p:cNvPr id="48" name="Rectangle 48"/>
            <p:cNvSpPr/>
            <p:nvPr/>
          </p:nvSpPr>
          <p:spPr>
            <a:xfrm>
              <a:off x="533400" y="3572828"/>
              <a:ext cx="6276022" cy="2506980"/>
            </a:xfrm>
            <a:prstGeom prst="roundRect">
              <a:avLst>
                <a:gd name="adj" fmla="val 53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542925" y="3706178"/>
              <a:ext cx="47625" cy="224028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763905" y="376523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55345" y="379952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347597" y="380428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公差与表长互质时才均匀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57047" y="4138612"/>
              <a:ext cx="562013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对公差为 d 的等差数列 a, a+d, a+2d, …，当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GCD(d, M) = 1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时，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(a+xd) % M 在 0 到 M−1 上均匀分布；否则散列值只在 M / GCD(d, M) 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地址上打转。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72478" y="501205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28497" y="4955858"/>
              <a:ext cx="46713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= 9、d = 6：GCD = 3，七个关键词只落到 1、4、7 三格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72478" y="531399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28497" y="5257800"/>
              <a:ext cx="40806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= 7、d = 6：GCD = 1，七个关键词正好占满七格</a:t>
              </a:r>
            </a:p>
          </p:txBody>
        </p:sp>
      </p:grpSp>
      <p:grpSp>
        <p:nvGrpSpPr>
          <p:cNvPr id="69" name="c2-card-1"/>
          <p:cNvGrpSpPr/>
          <p:nvPr/>
        </p:nvGrpSpPr>
        <p:grpSpPr>
          <a:xfrm>
            <a:off x="7114222" y="1941195"/>
            <a:ext cx="4544378" cy="1831658"/>
            <a:chOff x="7114222" y="1941195"/>
            <a:chExt cx="4544378" cy="1831658"/>
          </a:xfrm>
        </p:grpSpPr>
        <p:sp>
          <p:nvSpPr>
            <p:cNvPr id="59" name="Rectangle 59"/>
            <p:cNvSpPr/>
            <p:nvPr/>
          </p:nvSpPr>
          <p:spPr>
            <a:xfrm>
              <a:off x="7114222" y="1941195"/>
              <a:ext cx="4544378" cy="1831658"/>
            </a:xfrm>
            <a:prstGeom prst="roundRect">
              <a:avLst>
                <a:gd name="adj" fmla="val 728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7306628" y="2133600"/>
              <a:ext cx="756285" cy="247650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385079" y="2167890"/>
              <a:ext cx="5993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怎么选 M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170354" y="2173605"/>
              <a:ext cx="24140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取素数，并且离 2 的幂远一点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7315200" y="256413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471220" y="2507932"/>
              <a:ext cx="31231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理想随机的序列，M 取什么都无所谓。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7315200" y="286702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471220" y="2810827"/>
              <a:ext cx="40318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真实数据远非理想随机，M 取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素数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时覆盖最充分。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7315200" y="3168968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471220" y="3112770"/>
              <a:ext cx="35798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避开 2ᵏ 附近：M = 2ᵏ 时 h(K) 等于取 K 的低 k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位，高位全部作废。</a:t>
              </a:r>
            </a:p>
          </p:txBody>
        </p:sp>
      </p:grpSp>
      <p:grpSp>
        <p:nvGrpSpPr>
          <p:cNvPr id="76" name="c2-callout-2"/>
          <p:cNvGrpSpPr/>
          <p:nvPr/>
        </p:nvGrpSpPr>
        <p:grpSpPr>
          <a:xfrm>
            <a:off x="7114222" y="3948112"/>
            <a:ext cx="4544378" cy="729615"/>
            <a:chOff x="7114222" y="3948112"/>
            <a:chExt cx="4544378" cy="729615"/>
          </a:xfrm>
        </p:grpSpPr>
        <p:sp>
          <p:nvSpPr>
            <p:cNvPr id="70" name="Rectangle 70"/>
            <p:cNvSpPr/>
            <p:nvPr/>
          </p:nvSpPr>
          <p:spPr>
            <a:xfrm>
              <a:off x="7114222" y="3948112"/>
              <a:ext cx="4544378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319010" y="4212908"/>
              <a:ext cx="200026" cy="200026"/>
              <a:chOff x="7319010" y="4212908"/>
              <a:chExt cx="200026" cy="200026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7319010" y="42129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7419023" y="42795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7407910" y="43129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7621714" y="4094798"/>
              <a:ext cx="360559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源课件给出的选表长参考：planetmath.org 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good hash table primes 列表。</a:t>
              </a:r>
            </a:p>
          </p:txBody>
        </p:sp>
      </p:grpSp>
      <p:grpSp>
        <p:nvGrpSpPr>
          <p:cNvPr id="83" name="c2-card-3"/>
          <p:cNvGrpSpPr/>
          <p:nvPr/>
        </p:nvGrpSpPr>
        <p:grpSpPr>
          <a:xfrm>
            <a:off x="7114222" y="4852988"/>
            <a:ext cx="4544378" cy="1226820"/>
            <a:chOff x="7114222" y="4852988"/>
            <a:chExt cx="4544378" cy="1226820"/>
          </a:xfrm>
        </p:grpSpPr>
        <p:sp>
          <p:nvSpPr>
            <p:cNvPr id="77" name="Rectangle 77"/>
            <p:cNvSpPr/>
            <p:nvPr/>
          </p:nvSpPr>
          <p:spPr>
            <a:xfrm>
              <a:off x="7114222" y="4852988"/>
              <a:ext cx="4544378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8" name="Rectangle 78"/>
            <p:cNvSpPr/>
            <p:nvPr/>
          </p:nvSpPr>
          <p:spPr>
            <a:xfrm>
              <a:off x="7123748" y="4986338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7344728" y="504539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7436168" y="507968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记忆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928420" y="508539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一句话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337870" y="5419725"/>
              <a:ext cx="384562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除余法的全部风险都集中在 M 的取值上，函数形式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本身没有任何可调的地方。</a:t>
              </a:r>
            </a:p>
          </p:txBody>
        </p:sp>
      </p:grpSp>
      <p:grpSp>
        <p:nvGrpSpPr>
          <p:cNvPr id="8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4" name="TextBox 84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80507" cy="909257"/>
            <a:chOff x="520446" y="342900"/>
            <a:chExt cx="668050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散列函数的设计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8050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MAD 法与乘法散列：先把关键词搅乱再取余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1857375"/>
            <a:chOff x="533400" y="1524000"/>
            <a:chExt cx="5410200" cy="18573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857375"/>
            </a:xfrm>
            <a:prstGeom prst="roundRect">
              <a:avLst>
                <a:gd name="adj" fmla="val 71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9067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61531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1873" y="1737836"/>
              <a:ext cx="4565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MAD 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75613" y="1744504"/>
              <a:ext cx="17306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Multiply-Add-Divide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20"/>
                <p:cNvSpPr txBox="1">
                  <a:spLocks noGrp="1"/>
                </p:cNvSpPr>
                <p:nvPr/>
              </p:nvSpPr>
              <p:spPr>
                <a:xfrm>
                  <a:off x="752475" y="2040255"/>
                  <a:ext cx="501015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h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aK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e>
                        </m:d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mod</m:t>
                            </m:r>
                          </m:fName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45998" y="2561749"/>
              <a:ext cx="36804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要求 M 为素数，a &gt; 1，b &gt; 0，且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 不整除 a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7141" y="2842260"/>
              <a:ext cx="4771263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若 M 整除 a，则 aK 恒为 M 的倍数，h(K) 退化成常数 b % M，所有关键词撞在同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一格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3546158"/>
            <a:ext cx="5410200" cy="2060258"/>
            <a:chOff x="533400" y="3546158"/>
            <a:chExt cx="5410200" cy="2060258"/>
          </a:xfrm>
        </p:grpSpPr>
        <p:sp>
          <p:nvSpPr>
            <p:cNvPr id="16" name="Rectangle 16"/>
            <p:cNvSpPr/>
            <p:nvPr/>
          </p:nvSpPr>
          <p:spPr>
            <a:xfrm>
              <a:off x="533400" y="3546158"/>
              <a:ext cx="5410200" cy="2060258"/>
            </a:xfrm>
            <a:prstGeom prst="roundRect">
              <a:avLst>
                <a:gd name="adj" fmla="val 64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679508"/>
              <a:ext cx="47625" cy="1793558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52475" y="3727132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37044" y="375999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乘法散列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568006" y="376666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先取小数部分，再放大到表长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formula21"/>
                <p:cNvSpPr txBox="1">
                  <a:spLocks noGrp="1"/>
                </p:cNvSpPr>
                <p:nvPr/>
              </p:nvSpPr>
              <p:spPr>
                <a:xfrm>
                  <a:off x="752475" y="4062412"/>
                  <a:ext cx="501015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h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⌊"/>
                            <m:sepChr m:val=""/>
                            <m:endChr m:val="⌋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⋅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Kθ</m:t>
                                </m:r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mod</m:t>
                                    </m:r>
                                  </m:fName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func>
                              </m:e>
                            </m:d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2" name="TextBox 22"/>
            <p:cNvSpPr txBox="1"/>
            <p:nvPr/>
          </p:nvSpPr>
          <p:spPr>
            <a:xfrm>
              <a:off x="745998" y="4582954"/>
              <a:ext cx="4800346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其中 0 &lt; θ &lt; 1，mod 1 指取小数部分。Knuth 指出 θ 取黄金分割点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0.6180339887 或 0.3819660113 时，函数值在 0 到 M−1 上分布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最均匀。</a:t>
              </a:r>
            </a:p>
          </p:txBody>
        </p:sp>
      </p:grpSp>
      <p:grpSp>
        <p:nvGrpSpPr>
          <p:cNvPr id="65" name="c2-table-1"/>
          <p:cNvGrpSpPr/>
          <p:nvPr/>
        </p:nvGrpSpPr>
        <p:grpSpPr>
          <a:xfrm>
            <a:off x="6243447" y="1524000"/>
            <a:ext cx="5415153" cy="2552414"/>
            <a:chOff x="6243447" y="1524000"/>
            <a:chExt cx="5415153" cy="2552414"/>
          </a:xfrm>
        </p:grpSpPr>
        <p:sp>
          <p:nvSpPr>
            <p:cNvPr id="24" name="Rectangle 24"/>
            <p:cNvSpPr/>
            <p:nvPr/>
          </p:nvSpPr>
          <p:spPr>
            <a:xfrm>
              <a:off x="6248400" y="1524000"/>
              <a:ext cx="5410200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79036" y="1641157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05915" y="1641157"/>
              <a:ext cx="9310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Kθ 的小数部分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15710" y="1641157"/>
              <a:ext cx="9576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乘法散列 h(K)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526588" y="1641157"/>
              <a:ext cx="8581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除余法 K%16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43079" y="20231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100316" y="2023110"/>
              <a:ext cx="632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0.360680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831961" y="2023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0261282" y="1914525"/>
              <a:ext cx="1387792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346436" y="2023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48400" y="22821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48400" y="2286952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43079" y="24041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100316" y="2404110"/>
              <a:ext cx="632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0.249224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831961" y="2404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10261282" y="2296478"/>
              <a:ext cx="1387792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0346436" y="2404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26631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43079" y="27851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100316" y="2785110"/>
              <a:ext cx="632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0.137767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831961" y="2785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10261282" y="2677478"/>
              <a:ext cx="1387792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0346436" y="2785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30451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248400" y="3049905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343079" y="31670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68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100316" y="3167062"/>
              <a:ext cx="632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0.026311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831961" y="316706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10261282" y="3059430"/>
              <a:ext cx="1387792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0346436" y="316706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34261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343079" y="35480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84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100316" y="3548062"/>
              <a:ext cx="632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0.914855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831961" y="354806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10261282" y="3440430"/>
              <a:ext cx="1387792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0346436" y="354806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248400" y="1524000"/>
              <a:ext cx="5410200" cy="2287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7000875" y="1524000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8732520" y="1524000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10246995" y="1524000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243447" y="3885724"/>
              <a:ext cx="36339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取 θ = 0.6180339887、M = 16，关键词是公差 16 的等差数列</a:t>
              </a:r>
            </a:p>
          </p:txBody>
        </p:sp>
      </p:grpSp>
      <p:grpSp>
        <p:nvGrpSpPr>
          <p:cNvPr id="71" name="c2-card-2"/>
          <p:cNvGrpSpPr/>
          <p:nvPr/>
        </p:nvGrpSpPr>
        <p:grpSpPr>
          <a:xfrm>
            <a:off x="6248400" y="4202430"/>
            <a:ext cx="5410200" cy="1403032"/>
            <a:chOff x="6248400" y="4202430"/>
            <a:chExt cx="5410200" cy="1403032"/>
          </a:xfrm>
        </p:grpSpPr>
        <p:sp>
          <p:nvSpPr>
            <p:cNvPr id="66" name="Rectangle 66"/>
            <p:cNvSpPr/>
            <p:nvPr/>
          </p:nvSpPr>
          <p:spPr>
            <a:xfrm>
              <a:off x="6248400" y="4202430"/>
              <a:ext cx="5410200" cy="1403032"/>
            </a:xfrm>
            <a:prstGeom prst="roundRect">
              <a:avLst>
                <a:gd name="adj" fmla="val 9504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429375" y="4383405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510846" y="4416266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为什么用它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368730" y="4422934"/>
              <a:ext cx="21664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乘法散列对 M 的取值不敏感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422898" y="4740116"/>
              <a:ext cx="4832858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上表里五个关键词的公差正好等于 M，除余法全部撞在第 4 格；乘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法散列靠无理数 θ 的小数部分把它们拉开，所以 M 可以放心取 2 的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幂。</a:t>
              </a:r>
            </a:p>
          </p:txBody>
        </p:sp>
      </p:grpSp>
      <p:grpSp>
        <p:nvGrpSpPr>
          <p:cNvPr id="78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72" name="Rectangle 72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7" name="TextBox 77"/>
            <p:cNvSpPr txBox="1"/>
            <p:nvPr/>
          </p:nvSpPr>
          <p:spPr>
            <a:xfrm>
              <a:off x="1041273" y="6039326"/>
              <a:ext cx="68325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除余法的均匀性靠 M 撑着，乘法散列的均匀性靠 θ 撑着，前者简单，后者更抗输入规律。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散列函数的设计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平方取中法与压缩法：让每一位都参与运算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268730"/>
            <a:chOff x="533400" y="1524000"/>
            <a:chExt cx="4977765" cy="12687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268730"/>
            </a:xfrm>
            <a:prstGeom prst="roundRect">
              <a:avLst>
                <a:gd name="adj" fmla="val 10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0203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9058" y="17564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平方取中法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52981" y="1756886"/>
              <a:ext cx="17131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K² 的中间若干位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100739"/>
              <a:ext cx="436968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平方运算让 K 的每一位都影响到结果的中间几位，再截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取中间位作为散列地址。</a:t>
              </a:r>
            </a:p>
          </p:txBody>
        </p:sp>
      </p:grpSp>
      <p:grpSp>
        <p:nvGrpSpPr>
          <p:cNvPr id="31" name="c1-table-2"/>
          <p:cNvGrpSpPr/>
          <p:nvPr/>
        </p:nvGrpSpPr>
        <p:grpSpPr>
          <a:xfrm>
            <a:off x="533400" y="2972752"/>
            <a:ext cx="4977765" cy="1274445"/>
            <a:chOff x="533400" y="2972752"/>
            <a:chExt cx="4977765" cy="1274445"/>
          </a:xfrm>
        </p:grpSpPr>
        <p:sp>
          <p:nvSpPr>
            <p:cNvPr id="14" name="Rectangle 14"/>
            <p:cNvSpPr/>
            <p:nvPr/>
          </p:nvSpPr>
          <p:spPr>
            <a:xfrm>
              <a:off x="533400" y="2972752"/>
              <a:ext cx="4977765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82206" y="310134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705100" y="310134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54449" y="310134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取中间三位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5889" y="352615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830324" y="3526155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15129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027170" y="3407092"/>
              <a:ext cx="147447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120134" y="3526155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81762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3822382"/>
              <a:ext cx="497776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5889" y="3950018"/>
              <a:ext cx="6652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1234567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830324" y="3950018"/>
              <a:ext cx="11672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1524155677489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4027170" y="3831908"/>
              <a:ext cx="147447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120134" y="3950018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2972752"/>
              <a:ext cx="4977765" cy="12734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723072" y="2972752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012882" y="2972752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8" name="c1-callout-3"/>
          <p:cNvGrpSpPr/>
          <p:nvPr/>
        </p:nvGrpSpPr>
        <p:grpSpPr>
          <a:xfrm>
            <a:off x="533400" y="4426268"/>
            <a:ext cx="4977765" cy="1219200"/>
            <a:chOff x="533400" y="4426268"/>
            <a:chExt cx="4977765" cy="1219200"/>
          </a:xfrm>
        </p:grpSpPr>
        <p:sp>
          <p:nvSpPr>
            <p:cNvPr id="32" name="Rectangle 32"/>
            <p:cNvSpPr/>
            <p:nvPr/>
          </p:nvSpPr>
          <p:spPr>
            <a:xfrm>
              <a:off x="533400" y="4426268"/>
              <a:ext cx="4977765" cy="1219200"/>
            </a:xfrm>
            <a:prstGeom prst="roundRect">
              <a:avLst>
                <a:gd name="adj" fmla="val 937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4935855"/>
              <a:ext cx="200026" cy="200026"/>
              <a:chOff x="738188" y="4935855"/>
              <a:chExt cx="200026" cy="200026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493585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38200" y="500253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27088" y="503586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511" y="4805839"/>
              <a:ext cx="398195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中间位同时受高位和低位影响，比直接截取低位更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均匀。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5815965" y="1524000"/>
            <a:ext cx="5842635" cy="2401252"/>
            <a:chOff x="5815965" y="1524000"/>
            <a:chExt cx="5842635" cy="2401252"/>
          </a:xfrm>
        </p:grpSpPr>
        <p:sp>
          <p:nvSpPr>
            <p:cNvPr id="39" name="Rectangle 39"/>
            <p:cNvSpPr/>
            <p:nvPr/>
          </p:nvSpPr>
          <p:spPr>
            <a:xfrm>
              <a:off x="5815965" y="1524000"/>
              <a:ext cx="5842635" cy="2401252"/>
            </a:xfrm>
            <a:prstGeom prst="roundRect">
              <a:avLst>
                <a:gd name="adj" fmla="val 55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825490" y="1657350"/>
              <a:ext cx="47625" cy="213455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052185" y="1722120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139624" y="175641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压缩法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768846" y="175688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切成等宽子串，再合并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044946" y="2100739"/>
              <a:ext cx="5109083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位异或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：对各子串做异或。h(356) = h(101 100 100) = 101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XOR 100 XOR 100 = (101)₂ = 5；按 A=1 到 Z=26 的 5 位编码，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h(THE) = 10100 XOR 01000 XOR 00101 = (11001)₂ = 25。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044946" y="2961799"/>
              <a:ext cx="5127117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折叠法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：对各子串求和。自左向右 h(123456789) = 123 + 456 +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789 = 1368；往复折返把中段倒过来写，h(123456789) = 123 +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654 + 789 = 1566。</a:t>
              </a:r>
            </a:p>
          </p:txBody>
        </p:sp>
      </p:grpSp>
      <p:grpSp>
        <p:nvGrpSpPr>
          <p:cNvPr id="53" name="c2-card-2"/>
          <p:cNvGrpSpPr/>
          <p:nvPr/>
        </p:nvGrpSpPr>
        <p:grpSpPr>
          <a:xfrm>
            <a:off x="5815965" y="4105275"/>
            <a:ext cx="5842635" cy="1540192"/>
            <a:chOff x="5815965" y="4105275"/>
            <a:chExt cx="5842635" cy="1540192"/>
          </a:xfrm>
        </p:grpSpPr>
        <p:sp>
          <p:nvSpPr>
            <p:cNvPr id="47" name="Rectangle 47"/>
            <p:cNvSpPr/>
            <p:nvPr/>
          </p:nvSpPr>
          <p:spPr>
            <a:xfrm>
              <a:off x="5815965" y="4105275"/>
              <a:ext cx="5842635" cy="1540192"/>
            </a:xfrm>
            <a:prstGeom prst="roundRect">
              <a:avLst>
                <a:gd name="adj" fmla="val 86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5825490" y="4238625"/>
              <a:ext cx="47625" cy="127349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052185" y="430339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143625" y="433768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635496" y="4338161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异或和加法都满足交换律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044946" y="4682014"/>
              <a:ext cx="4964811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字母相同、顺序不同的单词会得到同一个地址：h(THE)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h(HTE) = h(ETH) = h(TEH) = 25。往复折返把一部分子串倒序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写，就是为了破坏这种对称性。</a:t>
              </a:r>
            </a:p>
          </p:txBody>
        </p:sp>
      </p:grpSp>
      <p:grpSp>
        <p:nvGrpSpPr>
          <p:cNvPr id="59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4" name="Rectangle 54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0511" y="6011704"/>
              <a:ext cx="67050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压缩法的价值在于让长关键词的每一位都参与运算，代价是要专门防住交换律。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散列函数的设计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抽取法只看几位，所以冲突多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483995"/>
            <a:chOff x="533400" y="1524000"/>
            <a:chExt cx="4977765" cy="14839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483995"/>
            </a:xfrm>
            <a:prstGeom prst="roundRect">
              <a:avLst>
                <a:gd name="adj" fmla="val 8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1729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1344" y="175069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抽取法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80947" y="175641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又叫数字分析法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1285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抽取关键词中的某几位构成地址。取十进制的奇数位：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h(1234567) = 1357；取二进制的第 3 位和后 2 位：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h(THE) = h(101000100000101) = (101)₂ = 5。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183255"/>
            <a:ext cx="4977765" cy="1831658"/>
            <a:chOff x="533400" y="3183255"/>
            <a:chExt cx="4977765" cy="1831658"/>
          </a:xfrm>
        </p:grpSpPr>
        <p:sp>
          <p:nvSpPr>
            <p:cNvPr id="14" name="Rectangle 14"/>
            <p:cNvSpPr/>
            <p:nvPr/>
          </p:nvSpPr>
          <p:spPr>
            <a:xfrm>
              <a:off x="533400" y="3183255"/>
              <a:ext cx="4977765" cy="1831658"/>
            </a:xfrm>
            <a:prstGeom prst="roundRect">
              <a:avLst>
                <a:gd name="adj" fmla="val 72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316605"/>
              <a:ext cx="47625" cy="156495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3905" y="337566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5345" y="340995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47597" y="341566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函数值只依赖关键词的一部分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7047" y="3749040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没被抽到的位完全不影响结果，只要抽到的那几位相同就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一定冲突：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72478" y="436530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28497" y="4309110"/>
              <a:ext cx="40391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h(1234567) = h(1639527) = h(1536517) = 1357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72478" y="4668202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8497" y="4612005"/>
              <a:ext cx="36417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h(THE) = h(FROM) = h(ONE) = h(WE) = 5</a:t>
              </a:r>
            </a:p>
          </p:txBody>
        </p:sp>
      </p:grpSp>
      <p:grpSp>
        <p:nvGrpSpPr>
          <p:cNvPr id="31" name="c1-callout-3"/>
          <p:cNvGrpSpPr/>
          <p:nvPr/>
        </p:nvGrpSpPr>
        <p:grpSpPr>
          <a:xfrm>
            <a:off x="533400" y="5190172"/>
            <a:ext cx="4977765" cy="1071562"/>
            <a:chOff x="533400" y="5190172"/>
            <a:chExt cx="4977765" cy="1071562"/>
          </a:xfrm>
        </p:grpSpPr>
        <p:sp>
          <p:nvSpPr>
            <p:cNvPr id="25" name="Rectangle 25"/>
            <p:cNvSpPr/>
            <p:nvPr/>
          </p:nvSpPr>
          <p:spPr>
            <a:xfrm>
              <a:off x="533400" y="5190172"/>
              <a:ext cx="4977765" cy="1071562"/>
            </a:xfrm>
            <a:prstGeom prst="roundRect">
              <a:avLst>
                <a:gd name="adj" fmla="val 10667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5626418"/>
              <a:ext cx="200026" cy="200025"/>
              <a:chOff x="738188" y="5626418"/>
              <a:chExt cx="200026" cy="200025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62641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77926" y="567086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12642" y="578199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892" y="5507355"/>
              <a:ext cx="39570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只有在事先分析过数据、确认某几位分布均匀时才能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用，比如学号里的流水号段。</a:t>
              </a:r>
            </a:p>
          </p:txBody>
        </p:sp>
      </p:grpSp>
      <p:grpSp>
        <p:nvGrpSpPr>
          <p:cNvPr id="67" name="c2-table-1"/>
          <p:cNvGrpSpPr/>
          <p:nvPr/>
        </p:nvGrpSpPr>
        <p:grpSpPr>
          <a:xfrm>
            <a:off x="5810631" y="1524000"/>
            <a:ext cx="5847969" cy="3120009"/>
            <a:chOff x="5810631" y="1524000"/>
            <a:chExt cx="5847969" cy="3120009"/>
          </a:xfrm>
        </p:grpSpPr>
        <p:sp>
          <p:nvSpPr>
            <p:cNvPr id="32" name="Rectangle 32"/>
            <p:cNvSpPr/>
            <p:nvPr/>
          </p:nvSpPr>
          <p:spPr>
            <a:xfrm>
              <a:off x="5815965" y="1524000"/>
              <a:ext cx="5842635" cy="40576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24335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99595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33339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注意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825490" y="1939290"/>
              <a:ext cx="1149668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15978" y="205406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除余法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083742" y="2054066"/>
              <a:ext cx="433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% M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421178" y="2054066"/>
              <a:ext cx="18598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必须取素数，避开 2 的幂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815965" y="233076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815965" y="2335530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915978" y="2459831"/>
              <a:ext cx="521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MAD 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83742" y="2459831"/>
              <a:ext cx="9416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(aK + b) % M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421178" y="2459831"/>
              <a:ext cx="2177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素数，a&gt;1，b&gt;0，M 不整除 a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815965" y="273653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915978" y="28655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乘法散列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083742" y="2865596"/>
              <a:ext cx="1094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⌊M(Kθ mod 1)⌋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421178" y="2865596"/>
              <a:ext cx="18146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 取黄金分割点，M 可任取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815965" y="314229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815965" y="3147060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915978" y="327136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平方取中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083742" y="3271361"/>
              <a:ext cx="118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K² 的中间几位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421178" y="327136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关键词位数不能太少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815965" y="354806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915978" y="367712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压缩法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083742" y="367712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切段后异或或求和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421178" y="367712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要用往复折返破坏交换律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815965" y="395382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815965" y="3958590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915978" y="408289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抽取法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083742" y="408289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取关键词的某几位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421178" y="408289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必须先做数据分布分析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815965" y="1524000"/>
              <a:ext cx="5842635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6978968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9316402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810631" y="4438650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六种散列函数的适用场合</a:t>
              </a:r>
            </a:p>
          </p:txBody>
        </p:sp>
      </p:grpSp>
      <p:grpSp>
        <p:nvGrpSpPr>
          <p:cNvPr id="73" name="c2-card-2"/>
          <p:cNvGrpSpPr/>
          <p:nvPr/>
        </p:nvGrpSpPr>
        <p:grpSpPr>
          <a:xfrm>
            <a:off x="5815965" y="4777740"/>
            <a:ext cx="5842635" cy="1483995"/>
            <a:chOff x="5815965" y="4777740"/>
            <a:chExt cx="5842635" cy="1483995"/>
          </a:xfrm>
        </p:grpSpPr>
        <p:sp>
          <p:nvSpPr>
            <p:cNvPr id="68" name="Rectangle 68"/>
            <p:cNvSpPr/>
            <p:nvPr/>
          </p:nvSpPr>
          <p:spPr>
            <a:xfrm>
              <a:off x="5815965" y="4777740"/>
              <a:ext cx="5842635" cy="1483995"/>
            </a:xfrm>
            <a:prstGeom prst="roundRect">
              <a:avLst>
                <a:gd name="adj" fmla="val 8986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6008370" y="497014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095810" y="500443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怎么挑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725412" y="50101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拿不准时就用除余法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001512" y="5344478"/>
              <a:ext cx="5200079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六种方法里只有除余法几乎不需要分析数据分布。先用 K % M 配一个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素数表长，实测冲突偏多再换 MAD 法或乘法散列。关键词是字符串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时，压缩法是把它变成整数的第一步。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485388" cy="2997517"/>
            <a:chOff x="667512" y="1835468"/>
            <a:chExt cx="348538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冲突处理方法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撞车之后，元素去哪儿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拉链法把同址元素串成链表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开放地址法在数组内部另找空位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平均查找长度是衡量效率的统一标尺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冲突处理方法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冲突处理方法分成两大类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tree-1"/>
          <p:cNvGrpSpPr/>
          <p:nvPr/>
        </p:nvGrpSpPr>
        <p:grpSpPr>
          <a:xfrm>
            <a:off x="533400" y="1948815"/>
            <a:ext cx="6276023" cy="3989070"/>
            <a:chOff x="533400" y="1948815"/>
            <a:chExt cx="6276023" cy="3989070"/>
          </a:xfrm>
        </p:grpSpPr>
        <p:sp>
          <p:nvSpPr>
            <p:cNvPr id="7" name="Freeform 7"/>
            <p:cNvSpPr/>
            <p:nvPr/>
          </p:nvSpPr>
          <p:spPr>
            <a:xfrm>
              <a:off x="5046345" y="2128838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5046345" y="3338512"/>
              <a:ext cx="419100" cy="1209675"/>
            </a:xfrm>
            <a:custGeom>
              <a:avLst/>
              <a:gdLst/>
              <a:ahLst/>
              <a:cxnLst/>
              <a:rect l="l" t="t" r="r" b="b"/>
              <a:pathLst>
                <a:path w="419100" h="1209675">
                  <a:moveTo>
                    <a:pt x="0" y="1209675"/>
                  </a:moveTo>
                  <a:lnTo>
                    <a:pt x="209550" y="120967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5046345" y="4548188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5046345" y="4548188"/>
              <a:ext cx="419100" cy="1209675"/>
            </a:xfrm>
            <a:custGeom>
              <a:avLst/>
              <a:gdLst/>
              <a:ahLst/>
              <a:cxnLst/>
              <a:rect l="l" t="t" r="r" b="b"/>
              <a:pathLst>
                <a:path w="419100" h="1209675">
                  <a:moveTo>
                    <a:pt x="0" y="0"/>
                  </a:moveTo>
                  <a:lnTo>
                    <a:pt x="209550" y="0"/>
                  </a:lnTo>
                  <a:lnTo>
                    <a:pt x="209550" y="1209675"/>
                  </a:lnTo>
                  <a:lnTo>
                    <a:pt x="419100" y="120967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269808" y="2128838"/>
              <a:ext cx="419100" cy="1209675"/>
            </a:xfrm>
            <a:custGeom>
              <a:avLst/>
              <a:gdLst/>
              <a:ahLst/>
              <a:cxnLst/>
              <a:rect l="l" t="t" r="r" b="b"/>
              <a:pathLst>
                <a:path w="419100" h="1209675">
                  <a:moveTo>
                    <a:pt x="0" y="1209675"/>
                  </a:moveTo>
                  <a:lnTo>
                    <a:pt x="209550" y="120967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269808" y="3338512"/>
              <a:ext cx="419100" cy="1209675"/>
            </a:xfrm>
            <a:custGeom>
              <a:avLst/>
              <a:gdLst/>
              <a:ahLst/>
              <a:cxnLst/>
              <a:rect l="l" t="t" r="r" b="b"/>
              <a:pathLst>
                <a:path w="419100" h="1209675">
                  <a:moveTo>
                    <a:pt x="0" y="0"/>
                  </a:moveTo>
                  <a:lnTo>
                    <a:pt x="209550" y="0"/>
                  </a:lnTo>
                  <a:lnTo>
                    <a:pt x="209550" y="1209675"/>
                  </a:lnTo>
                  <a:lnTo>
                    <a:pt x="419100" y="120967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5465445" y="1948815"/>
              <a:ext cx="1343978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688908" y="1948815"/>
              <a:ext cx="2357438" cy="360045"/>
            </a:xfrm>
            <a:prstGeom prst="roundRect">
              <a:avLst>
                <a:gd name="adj" fmla="val 26455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65445" y="3158490"/>
              <a:ext cx="1343978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65445" y="4368165"/>
              <a:ext cx="1343978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65445" y="5577840"/>
              <a:ext cx="1343978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688908" y="4269105"/>
              <a:ext cx="2357438" cy="558165"/>
            </a:xfrm>
            <a:prstGeom prst="roundRect">
              <a:avLst>
                <a:gd name="adj" fmla="val 17065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3059430"/>
              <a:ext cx="1736408" cy="558165"/>
            </a:xfrm>
            <a:prstGeom prst="roundRect">
              <a:avLst>
                <a:gd name="adj" fmla="val 17065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554599" y="204501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拉链法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778062" y="204501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开散列法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554599" y="325469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线性探查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554599" y="446436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二次探查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554599" y="56740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双重探查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778062" y="4365308"/>
              <a:ext cx="950214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60"/>
                </a:lnSpc>
              </a:pPr>
              <a:r>
                <a:rPr lang="zh-CN" sz="120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闭散列法</a:t>
              </a:r>
              <a:br/>
              <a:r>
                <a:rPr lang="zh-CN" sz="120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(开放地址法)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2554" y="3155632"/>
              <a:ext cx="621792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6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冲突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处理方法</a:t>
              </a:r>
            </a:p>
          </p:txBody>
        </p:sp>
      </p:grpSp>
      <p:grpSp>
        <p:nvGrpSpPr>
          <p:cNvPr id="56" name="c2-table-1"/>
          <p:cNvGrpSpPr/>
          <p:nvPr/>
        </p:nvGrpSpPr>
        <p:grpSpPr>
          <a:xfrm>
            <a:off x="7114222" y="1524000"/>
            <a:ext cx="4544378" cy="3007995"/>
            <a:chOff x="7114222" y="1524000"/>
            <a:chExt cx="4544378" cy="3007995"/>
          </a:xfrm>
        </p:grpSpPr>
        <p:sp>
          <p:nvSpPr>
            <p:cNvPr id="28" name="Rectangle 28"/>
            <p:cNvSpPr/>
            <p:nvPr/>
          </p:nvSpPr>
          <p:spPr>
            <a:xfrm>
              <a:off x="7114222" y="1524000"/>
              <a:ext cx="4544378" cy="43053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02080" y="165544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875776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开散列法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511218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闭散列法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19569" y="219170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元素存在哪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92109" y="2085022"/>
              <a:ext cx="1231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数组之外的链表结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127552" y="219170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数组内部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114222" y="259270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114222" y="2597468"/>
              <a:ext cx="454437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219569" y="272891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装填因子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92109" y="2728912"/>
              <a:ext cx="7956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可以大于 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127552" y="2728912"/>
              <a:ext cx="7956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必须小于 1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114222" y="302323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219569" y="326612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492109" y="326612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链表删除即可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127552" y="3159442"/>
              <a:ext cx="1231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要专门处理探查路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径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114222" y="366617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7114222" y="3670935"/>
              <a:ext cx="454437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219569" y="380238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额外空间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492109" y="380238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每个元素一个指针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127552" y="380238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不需要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7114222" y="409670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219569" y="42329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缓存命中率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492109" y="423291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低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127552" y="423291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高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114222" y="1524000"/>
              <a:ext cx="4544378" cy="30079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8382000" y="1524000"/>
              <a:ext cx="9525" cy="30079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017442" y="1524000"/>
              <a:ext cx="9525" cy="30079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2" name="c2-card-2"/>
          <p:cNvGrpSpPr/>
          <p:nvPr/>
        </p:nvGrpSpPr>
        <p:grpSpPr>
          <a:xfrm>
            <a:off x="7114222" y="4716780"/>
            <a:ext cx="4544378" cy="1564958"/>
            <a:chOff x="7114222" y="4716780"/>
            <a:chExt cx="4544378" cy="1564958"/>
          </a:xfrm>
        </p:grpSpPr>
        <p:sp>
          <p:nvSpPr>
            <p:cNvPr id="57" name="Rectangle 57"/>
            <p:cNvSpPr/>
            <p:nvPr/>
          </p:nvSpPr>
          <p:spPr>
            <a:xfrm>
              <a:off x="7114222" y="4716780"/>
              <a:ext cx="4544378" cy="1564958"/>
            </a:xfrm>
            <a:prstGeom prst="roundRect">
              <a:avLst>
                <a:gd name="adj" fmla="val 8521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7318058" y="49206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408266" y="49563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918514" y="4961096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开与闭说的是元素的活动范围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310818" y="5312569"/>
              <a:ext cx="3819652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开散列法里元素可以“走出”数组，闭散列法里元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素被“关在”数组内。开放地址法是闭散列法的别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名，强调的是空闲地址对所有关键词开放。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冲突处理方法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拉链法：散列地址相同的记录串成一条链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582442" cy="293370"/>
            <a:chOff x="525780" y="1548765"/>
            <a:chExt cx="6582442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5824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令散列地址等于 i 的记录组成一个单链表，指针 T[i] 是该链表的头指针。</a:t>
              </a:r>
            </a:p>
          </p:txBody>
        </p:sp>
      </p:grpSp>
      <p:grpSp>
        <p:nvGrpSpPr>
          <p:cNvPr id="62" name="c1-cells-1"/>
          <p:cNvGrpSpPr/>
          <p:nvPr/>
        </p:nvGrpSpPr>
        <p:grpSpPr>
          <a:xfrm>
            <a:off x="527685" y="1954530"/>
            <a:ext cx="4510087" cy="3843338"/>
            <a:chOff x="527685" y="1954530"/>
            <a:chExt cx="4510087" cy="3843338"/>
          </a:xfrm>
        </p:grpSpPr>
        <p:sp>
          <p:nvSpPr>
            <p:cNvPr id="9" name="TextBox 9"/>
            <p:cNvSpPr txBox="1"/>
            <p:nvPr/>
          </p:nvSpPr>
          <p:spPr>
            <a:xfrm>
              <a:off x="527685" y="2087404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T[0]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95362" y="1954530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63585" y="208740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917382" y="1954530"/>
              <a:ext cx="209550" cy="406718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980924" y="209502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27685" y="2660809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T[1]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95362" y="2526982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407121" y="26608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1917382" y="2526982"/>
              <a:ext cx="209550" cy="406718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1993582" y="2702242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2022158" y="2730818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2365058" y="2687955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2450782" y="2526982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819005" y="266080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372802" y="2526982"/>
              <a:ext cx="209550" cy="406718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436344" y="266842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7685" y="3233261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T[2]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995362" y="3100388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363585" y="323326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917382" y="3100388"/>
              <a:ext cx="209550" cy="406718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980924" y="324088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27685" y="3806666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T[3]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5362" y="3672840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407121" y="38066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917382" y="3672840"/>
              <a:ext cx="209550" cy="406718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980924" y="381428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27685" y="4379119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T[4]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995362" y="4246245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363585" y="437911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1917382" y="4246245"/>
              <a:ext cx="209550" cy="406718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980924" y="43867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27685" y="4951571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T[5]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95362" y="4818698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363585" y="495157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1917382" y="4818698"/>
              <a:ext cx="209550" cy="406718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1993582" y="499300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2022158" y="502158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2365058" y="497871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2450782" y="4818698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2819005" y="495157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68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372802" y="4818698"/>
              <a:ext cx="209550" cy="406718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50" name="Ellipse 50"/>
            <p:cNvSpPr/>
            <p:nvPr/>
          </p:nvSpPr>
          <p:spPr>
            <a:xfrm>
              <a:off x="3449002" y="499300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3477578" y="502158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3820478" y="497871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3906202" y="4818698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4274425" y="495157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82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828222" y="4818698"/>
              <a:ext cx="209550" cy="406718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4891764" y="495919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27685" y="5524976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T[6]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95362" y="5391150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363585" y="552497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1917382" y="5391150"/>
              <a:ext cx="209550" cy="406718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980924" y="553259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</p:grpSp>
      <p:grpSp>
        <p:nvGrpSpPr>
          <p:cNvPr id="95" name="c2-table-1"/>
          <p:cNvGrpSpPr/>
          <p:nvPr/>
        </p:nvGrpSpPr>
        <p:grpSpPr>
          <a:xfrm>
            <a:off x="6242685" y="1954530"/>
            <a:ext cx="5415915" cy="1155859"/>
            <a:chOff x="6242685" y="1954530"/>
            <a:chExt cx="5415915" cy="1155859"/>
          </a:xfrm>
        </p:grpSpPr>
        <p:sp>
          <p:nvSpPr>
            <p:cNvPr id="63" name="Rectangle 63"/>
            <p:cNvSpPr/>
            <p:nvPr/>
          </p:nvSpPr>
          <p:spPr>
            <a:xfrm>
              <a:off x="6248400" y="1954530"/>
              <a:ext cx="5410200" cy="43053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491478" y="208597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378690" y="20859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916826" y="208597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362622" y="20859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854112" y="20859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345602" y="20859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838045" y="20859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68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329535" y="20859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821025" y="20859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82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313467" y="20859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353747" y="251555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散列值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337679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829169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8320659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813102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9304592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9797034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0288524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0780014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272456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6248400" y="1954530"/>
              <a:ext cx="5410200" cy="86010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5" name="Rectangle 85"/>
            <p:cNvSpPr/>
            <p:nvPr/>
          </p:nvSpPr>
          <p:spPr>
            <a:xfrm>
              <a:off x="7227570" y="195453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7719060" y="195453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8210550" y="195453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8702992" y="195453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9194482" y="195453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9686925" y="195453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10178415" y="195453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2" name="Rectangle 92"/>
            <p:cNvSpPr/>
            <p:nvPr/>
          </p:nvSpPr>
          <p:spPr>
            <a:xfrm>
              <a:off x="10669905" y="195453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11162348" y="195453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6242685" y="2890361"/>
              <a:ext cx="1568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散列函数 h(K) = K % 7</a:t>
              </a:r>
            </a:p>
          </p:txBody>
        </p:sp>
      </p:grpSp>
      <p:grpSp>
        <p:nvGrpSpPr>
          <p:cNvPr id="105" name="c2-card-2"/>
          <p:cNvGrpSpPr/>
          <p:nvPr/>
        </p:nvGrpSpPr>
        <p:grpSpPr>
          <a:xfrm>
            <a:off x="6248400" y="3251835"/>
            <a:ext cx="5410200" cy="1894522"/>
            <a:chOff x="6248400" y="3251835"/>
            <a:chExt cx="5410200" cy="1894522"/>
          </a:xfrm>
        </p:grpSpPr>
        <p:sp>
          <p:nvSpPr>
            <p:cNvPr id="96" name="Rectangle 96"/>
            <p:cNvSpPr/>
            <p:nvPr/>
          </p:nvSpPr>
          <p:spPr>
            <a:xfrm>
              <a:off x="6248400" y="3251835"/>
              <a:ext cx="5410200" cy="1894522"/>
            </a:xfrm>
            <a:prstGeom prst="roundRect">
              <a:avLst>
                <a:gd name="adj" fmla="val 7039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6452235" y="345567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6534544" y="349138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工程实现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7337488" y="3495199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主流语言的字典就是拉链法</a:t>
              </a:r>
            </a:p>
          </p:txBody>
        </p:sp>
        <p:sp>
          <p:nvSpPr>
            <p:cNvPr id="100" name="Ellipse 100"/>
            <p:cNvSpPr/>
            <p:nvPr/>
          </p:nvSpPr>
          <p:spPr>
            <a:xfrm>
              <a:off x="6459855" y="390715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6616446" y="3846671"/>
              <a:ext cx="24557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C++ STL 的 </a:t>
              </a:r>
              <a:r>
                <a:rPr lang="en-US" sz="1420" dirty="0">
                  <a:solidFill>
                    <a:srgbClr val="E6EFF9"/>
                  </a:solidFill>
                  <a:latin typeface="+mn-lt"/>
                  <a:ea typeface="+mn-ea"/>
                  <a:cs typeface="+mn-cs"/>
                </a:rPr>
                <a:t>unordered_map</a:t>
              </a:r>
            </a:p>
          </p:txBody>
        </p:sp>
        <p:sp>
          <p:nvSpPr>
            <p:cNvPr id="102" name="Ellipse 102"/>
            <p:cNvSpPr/>
            <p:nvPr/>
          </p:nvSpPr>
          <p:spPr>
            <a:xfrm>
              <a:off x="6459855" y="422719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6616446" y="4166711"/>
              <a:ext cx="464921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Java 的 </a:t>
              </a:r>
              <a:r>
                <a:rPr lang="en-US" sz="1420" dirty="0">
                  <a:solidFill>
                    <a:srgbClr val="E6EFF9"/>
                  </a:solidFill>
                  <a:latin typeface="+mn-lt"/>
                  <a:ea typeface="+mn-ea"/>
                  <a:cs typeface="+mn-cs"/>
                </a:rPr>
                <a:t>HashMap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，单桶链长超过 8 且表长不小于 64 时把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链表转成红黑树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6446139" y="4754880"/>
              <a:ext cx="48958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链表很长时也可以换成跳表或查找树，把单桶的 O(n) 降到 O(logn)</a:t>
              </a:r>
            </a:p>
          </p:txBody>
        </p:sp>
      </p:grpSp>
      <p:grpSp>
        <p:nvGrpSpPr>
          <p:cNvPr id="112" name="c2-callout-3"/>
          <p:cNvGrpSpPr/>
          <p:nvPr/>
        </p:nvGrpSpPr>
        <p:grpSpPr>
          <a:xfrm>
            <a:off x="6248400" y="5331142"/>
            <a:ext cx="5410200" cy="756285"/>
            <a:chOff x="6248400" y="5331142"/>
            <a:chExt cx="5410200" cy="756285"/>
          </a:xfrm>
        </p:grpSpPr>
        <p:sp>
          <p:nvSpPr>
            <p:cNvPr id="106" name="Rectangle 106"/>
            <p:cNvSpPr/>
            <p:nvPr/>
          </p:nvSpPr>
          <p:spPr>
            <a:xfrm>
              <a:off x="6248400" y="5331142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10" name="Group 110"/>
            <p:cNvGrpSpPr/>
            <p:nvPr/>
          </p:nvGrpSpPr>
          <p:grpSpPr>
            <a:xfrm>
              <a:off x="6453188" y="5609273"/>
              <a:ext cx="200026" cy="200025"/>
              <a:chOff x="6453188" y="5609273"/>
              <a:chExt cx="200026" cy="200025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6453188" y="56092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08" name="Freeform 108"/>
              <p:cNvSpPr/>
              <p:nvPr/>
            </p:nvSpPr>
            <p:spPr>
              <a:xfrm>
                <a:off x="6492926" y="56537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09" name="Freeform 109"/>
              <p:cNvSpPr/>
              <p:nvPr/>
            </p:nvSpPr>
            <p:spPr>
              <a:xfrm>
                <a:off x="6527642" y="57648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11" name="TextBox 111"/>
            <p:cNvSpPr txBox="1"/>
            <p:nvPr/>
          </p:nvSpPr>
          <p:spPr>
            <a:xfrm>
              <a:off x="6755511" y="5479256"/>
              <a:ext cx="4396740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表长 M = 7 却存了 9 个元素，装填因子 9/7 大于 1，这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在拉链法里完全正常。</a:t>
              </a:r>
            </a:p>
          </p:txBody>
        </p:sp>
      </p:grpSp>
      <p:grpSp>
        <p:nvGrpSpPr>
          <p:cNvPr id="11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3" name="TextBox 113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冲突处理方法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拉链法的查找成功平均查找长度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829300" cy="264033"/>
            <a:chOff x="526542" y="1545907"/>
            <a:chExt cx="582930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散列建立了直接映射，但冲突还在，所以仍要用平均查找长度衡量效率。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28812"/>
            <a:ext cx="5842635" cy="1202055"/>
            <a:chOff x="533400" y="1928812"/>
            <a:chExt cx="5842635" cy="120205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842635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13155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查找成功的 ASL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51829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输入是表中实际存在的元素，共 n 种，每种等概率。对每种输入数出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要比较多少次关键词，再取平均。</a:t>
              </a:r>
            </a:p>
          </p:txBody>
        </p:sp>
      </p:grpSp>
      <p:grpSp>
        <p:nvGrpSpPr>
          <p:cNvPr id="36" name="c1-table-2"/>
          <p:cNvGrpSpPr/>
          <p:nvPr/>
        </p:nvGrpSpPr>
        <p:grpSpPr>
          <a:xfrm>
            <a:off x="533400" y="3301365"/>
            <a:ext cx="5842635" cy="1600200"/>
            <a:chOff x="533400" y="3301365"/>
            <a:chExt cx="5842635" cy="1600200"/>
          </a:xfrm>
        </p:grpSpPr>
        <p:sp>
          <p:nvSpPr>
            <p:cNvPr id="16" name="Rectangle 16"/>
            <p:cNvSpPr/>
            <p:nvPr/>
          </p:nvSpPr>
          <p:spPr>
            <a:xfrm>
              <a:off x="533400" y="3301365"/>
              <a:ext cx="5842635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69074" y="342280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比较次数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089351" y="342280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哪些元素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18506" y="34228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0555" y="3822859"/>
              <a:ext cx="2967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16430" y="3822859"/>
              <a:ext cx="1564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21, 1, 23, 11, 19, 55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071110" y="38228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09670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101465"/>
              <a:ext cx="584263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0555" y="4222909"/>
              <a:ext cx="2967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次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916430" y="4222909"/>
              <a:ext cx="471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36, 68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71110" y="4222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49675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0555" y="4622959"/>
              <a:ext cx="2967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次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916430" y="462295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82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983480" y="4511040"/>
              <a:ext cx="1383030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071110" y="4622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301365"/>
              <a:ext cx="5842635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814512" y="330136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4969192" y="330136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formula27"/>
              <p:cNvSpPr txBox="1">
                <a:spLocks noGrp="1"/>
              </p:cNvSpPr>
              <p:nvPr/>
            </p:nvSpPr>
            <p:spPr>
              <a:xfrm>
                <a:off x="533400" y="5071110"/>
                <a:ext cx="5842635" cy="5915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AS</m:t>
                      </m:r>
                      <m:sSub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m:rPr>
                              <m:nor m:val="on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成功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9</m:t>
                          </m:r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13</m:t>
                          </m:r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1.44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44" name="c2-card-1"/>
          <p:cNvGrpSpPr/>
          <p:nvPr/>
        </p:nvGrpSpPr>
        <p:grpSpPr>
          <a:xfrm>
            <a:off x="6680835" y="1928812"/>
            <a:ext cx="4977765" cy="1459230"/>
            <a:chOff x="6680835" y="1928812"/>
            <a:chExt cx="4977765" cy="1459230"/>
          </a:xfrm>
        </p:grpSpPr>
        <p:sp>
          <p:nvSpPr>
            <p:cNvPr id="38" name="Rectangle 38"/>
            <p:cNvSpPr/>
            <p:nvPr/>
          </p:nvSpPr>
          <p:spPr>
            <a:xfrm>
              <a:off x="6680835" y="1928812"/>
              <a:ext cx="4977765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690360" y="2062162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905625" y="2115502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994246" y="214836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怎么数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95997" y="2150745"/>
              <a:ext cx="24517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链上第 k 个结点就要比较 k 次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898767" y="2476500"/>
              <a:ext cx="432568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查找从桶的头指针开始沿链走，遇到的第一个结点比较 1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次，第二个比较 2 次。所以只要数出每条链上各位置的结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点个数就够了，不必逐个关键词列举。</a:t>
              </a:r>
            </a:p>
          </p:txBody>
        </p:sp>
      </p:grpSp>
      <p:grpSp>
        <p:nvGrpSpPr>
          <p:cNvPr id="50" name="c2-card-2"/>
          <p:cNvGrpSpPr/>
          <p:nvPr/>
        </p:nvGrpSpPr>
        <p:grpSpPr>
          <a:xfrm>
            <a:off x="6680835" y="3558540"/>
            <a:ext cx="4977765" cy="2104072"/>
            <a:chOff x="6680835" y="3558540"/>
            <a:chExt cx="4977765" cy="2104072"/>
          </a:xfrm>
        </p:grpSpPr>
        <p:sp>
          <p:nvSpPr>
            <p:cNvPr id="45" name="Rectangle 45"/>
            <p:cNvSpPr/>
            <p:nvPr/>
          </p:nvSpPr>
          <p:spPr>
            <a:xfrm>
              <a:off x="6680835" y="3558540"/>
              <a:ext cx="4977765" cy="2104072"/>
            </a:xfrm>
            <a:prstGeom prst="roundRect">
              <a:avLst>
                <a:gd name="adj" fmla="val 6338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867525" y="374523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960197" y="377809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前提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434072" y="3779520"/>
              <a:ext cx="16485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O(1) 的前提写清楚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860667" y="4106227"/>
              <a:ext cx="4374547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 1.44 次比较是在这 9 个关键词、这一个散列函数下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算出来的。一般结论 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平均 O(1)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要求散列函数均匀、装填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因子受控；若所有关键词撞进同一条链，查找退化成</a:t>
              </a:r>
              <a:br/>
              <a:r>
                <a:rPr lang="en-US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O(n)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的顺序查找。</a:t>
              </a:r>
            </a:p>
          </p:txBody>
        </p:sp>
      </p:grpSp>
      <p:grpSp>
        <p:nvGrpSpPr>
          <p:cNvPr id="56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1" name="Rectangle 51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1040892" y="6028373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比较次数只数与链上结点的关键词比较，不数“取出头指针”这一步。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冲突处理方法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拉链法的查找不成功平均查找长度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842635" cy="1621155"/>
            <a:chOff x="533400" y="1524000"/>
            <a:chExt cx="5842635" cy="16211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6636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查找不成功的 ASL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5158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输入是表中没有的关键词。它们经散列函数计算后只可能落到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0 到 6 这 7 个位置，所以可能的输入分成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7 种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，等于散列函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数的值域大小，与元素个数无关。</a:t>
              </a:r>
            </a:p>
          </p:txBody>
        </p:sp>
      </p:grpSp>
      <p:grpSp>
        <p:nvGrpSpPr>
          <p:cNvPr id="50" name="c1-table-2"/>
          <p:cNvGrpSpPr/>
          <p:nvPr/>
        </p:nvGrpSpPr>
        <p:grpSpPr>
          <a:xfrm>
            <a:off x="533400" y="3335655"/>
            <a:ext cx="5842635" cy="1346835"/>
            <a:chOff x="533400" y="3335655"/>
            <a:chExt cx="5842635" cy="1346835"/>
          </a:xfrm>
        </p:grpSpPr>
        <p:sp>
          <p:nvSpPr>
            <p:cNvPr id="14" name="Rectangle 14"/>
            <p:cNvSpPr/>
            <p:nvPr/>
          </p:nvSpPr>
          <p:spPr>
            <a:xfrm>
              <a:off x="533400" y="3335655"/>
              <a:ext cx="584263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97547" y="34713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桶号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084035" y="34713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726972" y="34713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69910" y="34713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011895" y="34713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54832" y="34713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297770" y="34713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969282" y="34713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1223" y="392001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链长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27098" y="39200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569083" y="39200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212020" y="39200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854958" y="39200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497896" y="39200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139880" y="39200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782818" y="39200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22814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4232910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1223" y="436864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比较次数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927098" y="43686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569083" y="43686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212020" y="43686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3756660" y="4242435"/>
              <a:ext cx="623888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854958" y="43686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497896" y="43686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139880" y="43686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782818" y="43686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3335655"/>
              <a:ext cx="5842635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1814512" y="333565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2456498" y="333565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3099435" y="333565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3742372" y="333565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4385310" y="333565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027295" y="333565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670232" y="333565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formula29"/>
              <p:cNvSpPr txBox="1">
                <a:spLocks noGrp="1"/>
              </p:cNvSpPr>
              <p:nvPr/>
            </p:nvSpPr>
            <p:spPr>
              <a:xfrm>
                <a:off x="533400" y="4872990"/>
                <a:ext cx="5842635" cy="6429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AS</m:t>
                      </m:r>
                      <m:sSub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m:rPr>
                              <m:nor m:val="on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不成功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7</m:t>
                          </m:r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9</m:t>
                          </m:r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7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1.29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58" name="c2-card-1"/>
          <p:cNvGrpSpPr/>
          <p:nvPr/>
        </p:nvGrpSpPr>
        <p:grpSpPr>
          <a:xfrm>
            <a:off x="6680835" y="1524000"/>
            <a:ext cx="4977765" cy="1621155"/>
            <a:chOff x="6680835" y="1524000"/>
            <a:chExt cx="4977765" cy="1621155"/>
          </a:xfrm>
        </p:grpSpPr>
        <p:sp>
          <p:nvSpPr>
            <p:cNvPr id="52" name="Rectangle 52"/>
            <p:cNvSpPr/>
            <p:nvPr/>
          </p:nvSpPr>
          <p:spPr>
            <a:xfrm>
              <a:off x="6680835" y="1524000"/>
              <a:ext cx="4977765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690360" y="165735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928485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006844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最常见的错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956233" y="1768792"/>
              <a:ext cx="18109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分母写成元素个数 9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920865" y="2129790"/>
              <a:ext cx="42252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查找不成功时元素个数根本不参与计算，分母永远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是散列函数的值域大小。这一条在开放地址法里同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样成立，第24页的考研题就是拿这一点设的陷阱。</a:t>
              </a:r>
            </a:p>
          </p:txBody>
        </p:sp>
      </p:grpSp>
      <p:grpSp>
        <p:nvGrpSpPr>
          <p:cNvPr id="66" name="c2-card-2"/>
          <p:cNvGrpSpPr/>
          <p:nvPr/>
        </p:nvGrpSpPr>
        <p:grpSpPr>
          <a:xfrm>
            <a:off x="6680835" y="3335655"/>
            <a:ext cx="4977765" cy="2438400"/>
            <a:chOff x="6680835" y="3335655"/>
            <a:chExt cx="4977765" cy="2438400"/>
          </a:xfrm>
        </p:grpSpPr>
        <p:sp>
          <p:nvSpPr>
            <p:cNvPr id="59" name="Rectangle 59"/>
            <p:cNvSpPr/>
            <p:nvPr/>
          </p:nvSpPr>
          <p:spPr>
            <a:xfrm>
              <a:off x="6680835" y="3335655"/>
              <a:ext cx="4977765" cy="2438400"/>
            </a:xfrm>
            <a:prstGeom prst="roundRect">
              <a:avLst>
                <a:gd name="adj" fmla="val 5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690360" y="3469005"/>
              <a:ext cx="47625" cy="21717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928485" y="354520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006844" y="358092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两种记数法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956233" y="3580448"/>
              <a:ext cx="21183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空桶记 0 次还是记 1 次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920865" y="3941445"/>
              <a:ext cx="41967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本页把空桶 T[3] 记作 0 次比较，这样算出来的结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果恒等于装填因子 α = n/M。第36页的理论公式 α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e⁻ᵅ 则把“查看头指针发现是空”也算一次探查，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相当于空桶记 1 次。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922008" y="5130641"/>
              <a:ext cx="434517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两种记法各自自洽，做题时按题面问的是“比较次数”还是“探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查次数”来选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冲突处理方法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线性探查：位置被占就顺着往后挪一格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6276022" cy="1724025"/>
            <a:chOff x="533400" y="1524000"/>
            <a:chExt cx="6276022" cy="17240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1724025"/>
            </a:xfrm>
            <a:prstGeom prst="roundRect">
              <a:avLst>
                <a:gd name="adj" fmla="val 77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5732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2759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线性探查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73340" y="1745932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以固定次序查找，直到命中或遇到空位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40"/>
                <p:cNvSpPr txBox="1">
                  <a:spLocks noGrp="1"/>
                </p:cNvSpPr>
                <p:nvPr/>
              </p:nvSpPr>
              <p:spPr>
                <a:xfrm>
                  <a:off x="758190" y="2049780"/>
                  <a:ext cx="5864542" cy="4381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e>
                        </m:d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mod</m:t>
                            </m:r>
                          </m:fName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,…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51332" y="2593658"/>
              <a:ext cx="54658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循环探查路径：h(K), h(K)+1, …, M−1, 0, 1, …, h(K)−1，走满一圈为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止。</a:t>
              </a:r>
            </a:p>
          </p:txBody>
        </p:sp>
      </p:grpSp>
      <p:grpSp>
        <p:nvGrpSpPr>
          <p:cNvPr id="46" name="c1-table-2"/>
          <p:cNvGrpSpPr/>
          <p:nvPr/>
        </p:nvGrpSpPr>
        <p:grpSpPr>
          <a:xfrm>
            <a:off x="528447" y="3418522"/>
            <a:ext cx="6280975" cy="1063657"/>
            <a:chOff x="528447" y="3418522"/>
            <a:chExt cx="6280975" cy="1063657"/>
          </a:xfrm>
        </p:grpSpPr>
        <p:sp>
          <p:nvSpPr>
            <p:cNvPr id="15" name="Rectangle 15"/>
            <p:cNvSpPr/>
            <p:nvPr/>
          </p:nvSpPr>
          <p:spPr>
            <a:xfrm>
              <a:off x="533400" y="3418522"/>
              <a:ext cx="6276022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92086" y="353996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135110" y="353996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762808" y="353996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402609" y="35399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955338" y="353996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83035" y="353996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209780" y="353996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849581" y="35399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45846" y="35399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0555" y="394001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散列地址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011680" y="39400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638425" y="39400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266122" y="39400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830955" y="39400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371022" y="3828098"/>
              <a:ext cx="608648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458652" y="39400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86350" y="39400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626418" y="3828098"/>
              <a:ext cx="545782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714048" y="39400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278880" y="39400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3418522"/>
              <a:ext cx="6276022" cy="8001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1909762" y="3418522"/>
              <a:ext cx="9525" cy="8001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2536508" y="3418522"/>
              <a:ext cx="9525" cy="8001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3164205" y="3418522"/>
              <a:ext cx="9525" cy="8001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3729038" y="3418522"/>
              <a:ext cx="9525" cy="8001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4356735" y="3418522"/>
              <a:ext cx="9525" cy="8001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4984432" y="3418522"/>
              <a:ext cx="9525" cy="8001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612130" y="3418522"/>
              <a:ext cx="9525" cy="8001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176962" y="3418522"/>
              <a:ext cx="9525" cy="8001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28447" y="4291489"/>
              <a:ext cx="23038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散列函数 h(K) = K % 10，表长 M = 10</a:t>
              </a:r>
            </a:p>
          </p:txBody>
        </p:sp>
      </p:grpSp>
      <p:grpSp>
        <p:nvGrpSpPr>
          <p:cNvPr id="78" name="c1-cells-3"/>
          <p:cNvGrpSpPr/>
          <p:nvPr/>
        </p:nvGrpSpPr>
        <p:grpSpPr>
          <a:xfrm>
            <a:off x="528447" y="4613910"/>
            <a:ext cx="6280976" cy="584359"/>
            <a:chOff x="528447" y="4613910"/>
            <a:chExt cx="6280976" cy="584359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473725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散列表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1040130" y="4613910"/>
              <a:ext cx="57721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247596" y="473725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1617345" y="4613910"/>
              <a:ext cx="57721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862905" y="473725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2193608" y="4613910"/>
              <a:ext cx="57721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2439168" y="473725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2770822" y="4613910"/>
              <a:ext cx="57721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2978289" y="473725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3348038" y="4613910"/>
              <a:ext cx="577215" cy="368618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3555504" y="473725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3924300" y="4613910"/>
              <a:ext cx="57721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4141991" y="473725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4501515" y="4613910"/>
              <a:ext cx="57721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4708981" y="473725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66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078730" y="4613910"/>
              <a:ext cx="57721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286196" y="473725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654992" y="4613910"/>
              <a:ext cx="577215" cy="368618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5900553" y="473725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232208" y="4613910"/>
              <a:ext cx="57721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449898" y="473725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293618" y="50363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870833" y="50363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2447096" y="50363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3024311" y="50363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3601526" y="50363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4177788" y="50363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4755003" y="50363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5332218" y="50363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5908481" y="50363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485696" y="50363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  <p:grpSp>
        <p:nvGrpSpPr>
          <p:cNvPr id="81" name="c2-image-1"/>
          <p:cNvGrpSpPr/>
          <p:nvPr/>
        </p:nvGrpSpPr>
        <p:grpSpPr>
          <a:xfrm>
            <a:off x="7709535" y="1524000"/>
            <a:ext cx="3352800" cy="2797206"/>
            <a:chOff x="7709535" y="1524000"/>
            <a:chExt cx="3352800" cy="2797206"/>
          </a:xfrm>
        </p:grpSpPr>
        <p:pic>
          <p:nvPicPr>
            <p:cNvPr id="79" name="Image 7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09535" y="1524000"/>
              <a:ext cx="3352800" cy="2514600"/>
            </a:xfrm>
            <a:prstGeom prst="roundRect">
              <a:avLst>
                <a:gd name="adj" fmla="val 5303"/>
              </a:avLst>
            </a:prstGeom>
          </p:spPr>
        </p:pic>
        <p:sp>
          <p:nvSpPr>
            <p:cNvPr id="80" name="TextBox 80"/>
            <p:cNvSpPr txBox="1"/>
            <p:nvPr/>
          </p:nvSpPr>
          <p:spPr>
            <a:xfrm>
              <a:off x="8061706" y="4130516"/>
              <a:ext cx="26484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车位被占就沿着车道往前找，这就是线性探查</a:t>
              </a:r>
            </a:p>
          </p:txBody>
        </p:sp>
      </p:grpSp>
      <p:grpSp>
        <p:nvGrpSpPr>
          <p:cNvPr id="87" name="c2-card-2"/>
          <p:cNvGrpSpPr/>
          <p:nvPr/>
        </p:nvGrpSpPr>
        <p:grpSpPr>
          <a:xfrm>
            <a:off x="7114222" y="4471988"/>
            <a:ext cx="4544378" cy="1202055"/>
            <a:chOff x="7114222" y="4471988"/>
            <a:chExt cx="4544378" cy="1202055"/>
          </a:xfrm>
        </p:grpSpPr>
        <p:sp>
          <p:nvSpPr>
            <p:cNvPr id="82" name="Rectangle 82"/>
            <p:cNvSpPr/>
            <p:nvPr/>
          </p:nvSpPr>
          <p:spPr>
            <a:xfrm>
              <a:off x="7114222" y="4471988"/>
              <a:ext cx="4544378" cy="1202055"/>
            </a:xfrm>
            <a:prstGeom prst="roundRect">
              <a:avLst>
                <a:gd name="adj" fmla="val 11094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7300912" y="465867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7385482" y="469153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两处冲突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8115110" y="4693920"/>
              <a:ext cx="1590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32 和 6 各挪了两格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7294054" y="5019675"/>
              <a:ext cx="394849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32 的地址是 2，2 和 3 都被占，落到 4；6 的地址是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6，6 和 7 都被占，落到 8。</a:t>
              </a:r>
            </a:p>
          </p:txBody>
        </p:sp>
      </p:grpSp>
      <p:grpSp>
        <p:nvGrpSpPr>
          <p:cNvPr id="94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88" name="Rectangle 88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92" name="Group 92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91" name="Freeform 91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93" name="TextBox 93"/>
            <p:cNvSpPr txBox="1"/>
            <p:nvPr/>
          </p:nvSpPr>
          <p:spPr>
            <a:xfrm>
              <a:off x="1040892" y="6028373"/>
              <a:ext cx="71014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线性探查只访问相邻单元，一次缓存行加载就能覆盖好几个探查位置，缓存命中率很高。</a:t>
              </a:r>
            </a:p>
          </p:txBody>
        </p:sp>
      </p:grpSp>
      <p:grpSp>
        <p:nvGrpSpPr>
          <p:cNvPr id="9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5" name="TextBox 95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冲突处理方法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装填因子与聚集现象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626418" cy="1975485"/>
            <a:chOff x="533400" y="1524000"/>
            <a:chExt cx="5626418" cy="19754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975485"/>
            </a:xfrm>
            <a:prstGeom prst="roundRect">
              <a:avLst>
                <a:gd name="adj" fmla="val 67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0878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52931" y="1756886"/>
              <a:ext cx="20173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装填因子 Load Factor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45"/>
                <p:cNvSpPr txBox="1">
                  <a:spLocks noGrp="1"/>
                </p:cNvSpPr>
                <p:nvPr/>
              </p:nvSpPr>
              <p:spPr>
                <a:xfrm>
                  <a:off x="769620" y="2077402"/>
                  <a:ext cx="5192078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α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62381" y="2807494"/>
              <a:ext cx="486562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是散列表空间大小，N 是已填入的元素个数。上一页的例子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α = 8/10 = 0.8。</a:t>
              </a:r>
            </a:p>
          </p:txBody>
        </p:sp>
      </p:grpSp>
      <p:grpSp>
        <p:nvGrpSpPr>
          <p:cNvPr id="35" name="c1-table-2"/>
          <p:cNvGrpSpPr/>
          <p:nvPr/>
        </p:nvGrpSpPr>
        <p:grpSpPr>
          <a:xfrm>
            <a:off x="528066" y="3679508"/>
            <a:ext cx="5631752" cy="1977961"/>
            <a:chOff x="528066" y="3679508"/>
            <a:chExt cx="5631752" cy="1977961"/>
          </a:xfrm>
        </p:grpSpPr>
        <p:sp>
          <p:nvSpPr>
            <p:cNvPr id="15" name="Rectangle 15"/>
            <p:cNvSpPr/>
            <p:nvPr/>
          </p:nvSpPr>
          <p:spPr>
            <a:xfrm>
              <a:off x="533400" y="3679508"/>
              <a:ext cx="5626418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322070" y="380809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792158" y="380809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装填因子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49534" y="380809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超过之后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5889" y="4232910"/>
              <a:ext cx="11403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HashMap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548509" y="4232910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899154" y="4232910"/>
              <a:ext cx="17245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容量翻倍并全表 rehash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52437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4529138"/>
              <a:ext cx="562641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5889" y="4656772"/>
              <a:ext cx="15965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C++ unordered_map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548509" y="4656772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99154" y="4656772"/>
              <a:ext cx="20799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可用 max_load_factor 修改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494823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5889" y="5081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一般建议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548509" y="5081588"/>
              <a:ext cx="8037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 到 0.8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899154" y="5081588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闭散列法尤其要留空位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679508"/>
              <a:ext cx="5626418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2441258" y="3679508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3791902" y="3679508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28066" y="5452110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工程实现的默认值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6464618" y="1524000"/>
            <a:ext cx="5193982" cy="1268730"/>
            <a:chOff x="6464618" y="1524000"/>
            <a:chExt cx="5193982" cy="1268730"/>
          </a:xfrm>
        </p:grpSpPr>
        <p:sp>
          <p:nvSpPr>
            <p:cNvPr id="36" name="Rectangle 36"/>
            <p:cNvSpPr/>
            <p:nvPr/>
          </p:nvSpPr>
          <p:spPr>
            <a:xfrm>
              <a:off x="6464618" y="1524000"/>
              <a:ext cx="5193982" cy="1268730"/>
            </a:xfrm>
            <a:prstGeom prst="roundRect">
              <a:avLst>
                <a:gd name="adj" fmla="val 10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74142" y="1657350"/>
              <a:ext cx="47625" cy="100203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700838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92278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84148" y="17568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聚集现象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93598" y="210073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很多元素连成一片，后来的关键词只要落进这一片，就得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把整片走完才能找到空位，探查次数迅速增加。</a:t>
              </a:r>
            </a:p>
          </p:txBody>
        </p:sp>
      </p:grpSp>
      <p:grpSp>
        <p:nvGrpSpPr>
          <p:cNvPr id="74" name="c2-cells-2"/>
          <p:cNvGrpSpPr/>
          <p:nvPr/>
        </p:nvGrpSpPr>
        <p:grpSpPr>
          <a:xfrm>
            <a:off x="6459284" y="2972752"/>
            <a:ext cx="5199316" cy="610077"/>
            <a:chOff x="6459284" y="2972752"/>
            <a:chExt cx="5199316" cy="610077"/>
          </a:xfrm>
        </p:grpSpPr>
        <p:sp>
          <p:nvSpPr>
            <p:cNvPr id="43" name="TextBox 43"/>
            <p:cNvSpPr txBox="1"/>
            <p:nvPr/>
          </p:nvSpPr>
          <p:spPr>
            <a:xfrm>
              <a:off x="6459284" y="310515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散列表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998018" y="2972752"/>
              <a:ext cx="465772" cy="39433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144416" y="31051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463790" y="2972752"/>
              <a:ext cx="465772" cy="39433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651003" y="310515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7930515" y="2972752"/>
              <a:ext cx="465772" cy="39433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116776" y="310515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396288" y="2972752"/>
              <a:ext cx="465772" cy="39433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542686" y="31051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8862060" y="2972752"/>
              <a:ext cx="465772" cy="39433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008458" y="31051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328785" y="2972752"/>
              <a:ext cx="46577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485186" y="310515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794558" y="2972752"/>
              <a:ext cx="46577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940956" y="31051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66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10260330" y="2972752"/>
              <a:ext cx="46577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0406728" y="31051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10726102" y="2972752"/>
              <a:ext cx="46577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0913316" y="310515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11192828" y="2972752"/>
              <a:ext cx="46577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1349228" y="310515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196261" y="34209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662033" y="34209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127806" y="34209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594531" y="34209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060303" y="34209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526076" y="34209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992801" y="34209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458573" y="34209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924346" y="34209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390118" y="34209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  <p:grpSp>
        <p:nvGrpSpPr>
          <p:cNvPr id="80" name="c2-callout-3"/>
          <p:cNvGrpSpPr/>
          <p:nvPr/>
        </p:nvGrpSpPr>
        <p:grpSpPr>
          <a:xfrm>
            <a:off x="6464618" y="3728085"/>
            <a:ext cx="5193982" cy="1887855"/>
            <a:chOff x="6464618" y="3728085"/>
            <a:chExt cx="5193982" cy="1887855"/>
          </a:xfrm>
        </p:grpSpPr>
        <p:sp>
          <p:nvSpPr>
            <p:cNvPr id="75" name="Rectangle 75"/>
            <p:cNvSpPr/>
            <p:nvPr/>
          </p:nvSpPr>
          <p:spPr>
            <a:xfrm>
              <a:off x="6464618" y="3728085"/>
              <a:ext cx="5193982" cy="1887855"/>
            </a:xfrm>
            <a:prstGeom prst="roundRect">
              <a:avLst>
                <a:gd name="adj" fmla="val 6054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6669405" y="4572002"/>
              <a:ext cx="200023" cy="200023"/>
              <a:chOff x="6669405" y="4572002"/>
              <a:chExt cx="200023" cy="200023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6669405" y="457200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6802755" y="46386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9" name="TextBox 79"/>
            <p:cNvSpPr txBox="1"/>
            <p:nvPr/>
          </p:nvSpPr>
          <p:spPr>
            <a:xfrm>
              <a:off x="6971729" y="4310539"/>
              <a:ext cx="4207383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查找 31 时 h(31) = 1，要依次探查 1、2、3、4 四个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被占位置，第 5 次碰到空位 5 才能断定 31 不在表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中。</a:t>
              </a:r>
            </a:p>
          </p:txBody>
        </p:sp>
      </p:grpSp>
      <p:grpSp>
        <p:nvGrpSpPr>
          <p:cNvPr id="86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81" name="Rectangle 81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84" name="Group 84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5" name="TextBox 85"/>
            <p:cNvSpPr txBox="1"/>
            <p:nvPr/>
          </p:nvSpPr>
          <p:spPr>
            <a:xfrm>
              <a:off x="1040511" y="6011704"/>
              <a:ext cx="67050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聚集是线性探查独有的毛病：两片相邻的簇一旦连起来，探查长度会成倍变长。</a:t>
              </a:r>
            </a:p>
          </p:txBody>
        </p:sp>
      </p:grpSp>
      <p:grpSp>
        <p:nvGrpSpPr>
          <p:cNvPr id="8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7" name="TextBox 87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冲突处理方法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线性探查的查找成功平均查找长度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011037" cy="264033"/>
            <a:chOff x="526542" y="1545907"/>
            <a:chExt cx="601103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0110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查找成功时的比较次数，正好等于这个元素当初被插入时所用的探查次数。</a:t>
              </a:r>
            </a:p>
          </p:txBody>
        </p:sp>
      </p:grpSp>
      <p:grpSp>
        <p:nvGrpSpPr>
          <p:cNvPr id="63" name="c1-table-1"/>
          <p:cNvGrpSpPr/>
          <p:nvPr/>
        </p:nvGrpSpPr>
        <p:grpSpPr>
          <a:xfrm>
            <a:off x="533400" y="1928812"/>
            <a:ext cx="6059805" cy="3600450"/>
            <a:chOff x="533400" y="1928812"/>
            <a:chExt cx="6059805" cy="360045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059805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28281" y="20502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469829" y="2050256"/>
              <a:ext cx="369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h(K)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30676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落位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316296" y="20502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比较次数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0555" y="24503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85022" y="2450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417570" y="2450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51070" y="2450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72415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728912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0555" y="285035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85022" y="28503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417570" y="28503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751070" y="28503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12420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0555" y="32504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085022" y="32504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417570" y="32504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751070" y="32504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52425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3529012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0555" y="365045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085022" y="36504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417570" y="36504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751070" y="36504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92430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0555" y="40505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085022" y="40505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417570" y="40505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4663440" y="3938588"/>
              <a:ext cx="1920240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751070" y="40505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432435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4329112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0555" y="445055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66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085022" y="4450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417570" y="4450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751070" y="4450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472440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0555" y="48506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085022" y="48506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417570" y="48506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663440" y="4738688"/>
              <a:ext cx="1920240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751070" y="48506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33400" y="512445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533400" y="5129212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30555" y="52506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2085022" y="52506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3417570" y="52506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751070" y="52506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33400" y="1928812"/>
              <a:ext cx="6059805" cy="36004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1983105" y="1928812"/>
              <a:ext cx="9525" cy="36004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3315652" y="1928812"/>
              <a:ext cx="9525" cy="36004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4649152" y="1928812"/>
              <a:ext cx="9525" cy="36004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formula51"/>
              <p:cNvSpPr txBox="1">
                <a:spLocks noGrp="1"/>
              </p:cNvSpPr>
              <p:nvPr/>
            </p:nvSpPr>
            <p:spPr>
              <a:xfrm>
                <a:off x="533400" y="5698808"/>
                <a:ext cx="6059805" cy="5915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AS</m:t>
                      </m:r>
                      <m:sSub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m:rPr>
                              <m:nor m:val="on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成功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8</m:t>
                          </m:r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1.5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71" name="c2-card-1"/>
          <p:cNvGrpSpPr/>
          <p:nvPr/>
        </p:nvGrpSpPr>
        <p:grpSpPr>
          <a:xfrm>
            <a:off x="6898005" y="1928812"/>
            <a:ext cx="4760595" cy="1459230"/>
            <a:chOff x="6898005" y="1928812"/>
            <a:chExt cx="4760595" cy="1459230"/>
          </a:xfrm>
        </p:grpSpPr>
        <p:sp>
          <p:nvSpPr>
            <p:cNvPr id="65" name="Rectangle 65"/>
            <p:cNvSpPr/>
            <p:nvPr/>
          </p:nvSpPr>
          <p:spPr>
            <a:xfrm>
              <a:off x="6898005" y="1928812"/>
              <a:ext cx="4760595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6907530" y="2062162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7122795" y="2115502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211416" y="214836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怎么数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813167" y="215074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输入种数等于表中实际元素个数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115937" y="2476500"/>
              <a:ext cx="407708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表里有 8 个元素就有 8 种输入，每种等概率。查找 20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探查 1 次命中，查找 32 要先看 2、3 两格再在 4 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中，共 3 次。</a:t>
              </a:r>
            </a:p>
          </p:txBody>
        </p:sp>
      </p:grpSp>
      <p:grpSp>
        <p:nvGrpSpPr>
          <p:cNvPr id="77" name="c2-card-2"/>
          <p:cNvGrpSpPr/>
          <p:nvPr/>
        </p:nvGrpSpPr>
        <p:grpSpPr>
          <a:xfrm>
            <a:off x="6898005" y="3558540"/>
            <a:ext cx="4760595" cy="1459230"/>
            <a:chOff x="6898005" y="3558540"/>
            <a:chExt cx="4760595" cy="1459230"/>
          </a:xfrm>
        </p:grpSpPr>
        <p:sp>
          <p:nvSpPr>
            <p:cNvPr id="72" name="Rectangle 72"/>
            <p:cNvSpPr/>
            <p:nvPr/>
          </p:nvSpPr>
          <p:spPr>
            <a:xfrm>
              <a:off x="6898005" y="3558540"/>
              <a:ext cx="4760595" cy="1459230"/>
            </a:xfrm>
            <a:prstGeom prst="roundRect">
              <a:avLst>
                <a:gd name="adj" fmla="val 9138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7084695" y="374523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7176414" y="377809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前提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650289" y="3779520"/>
              <a:ext cx="20409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这里的“次数”是探查次数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077837" y="4106227"/>
              <a:ext cx="417995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每访问一个数组单元算一次。开放地址法习惯叫 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平均探</a:t>
              </a:r>
              <a:br/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测次数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，拉链法习惯叫平均比较次数，两者数的都是访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问存储单元的次数。</a:t>
              </a:r>
            </a:p>
          </p:txBody>
        </p:sp>
      </p:grpSp>
      <p:grpSp>
        <p:nvGrpSpPr>
          <p:cNvPr id="84" name="c2-callout-3"/>
          <p:cNvGrpSpPr/>
          <p:nvPr/>
        </p:nvGrpSpPr>
        <p:grpSpPr>
          <a:xfrm>
            <a:off x="6898005" y="5187315"/>
            <a:ext cx="4760595" cy="1102995"/>
            <a:chOff x="6898005" y="5187315"/>
            <a:chExt cx="4760595" cy="1102995"/>
          </a:xfrm>
        </p:grpSpPr>
        <p:sp>
          <p:nvSpPr>
            <p:cNvPr id="78" name="Rectangle 78"/>
            <p:cNvSpPr/>
            <p:nvPr/>
          </p:nvSpPr>
          <p:spPr>
            <a:xfrm>
              <a:off x="6898005" y="5187315"/>
              <a:ext cx="4760595" cy="1102995"/>
            </a:xfrm>
            <a:prstGeom prst="roundRect">
              <a:avLst>
                <a:gd name="adj" fmla="val 1036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2" name="Group 82"/>
            <p:cNvGrpSpPr/>
            <p:nvPr/>
          </p:nvGrpSpPr>
          <p:grpSpPr>
            <a:xfrm>
              <a:off x="7102793" y="5638800"/>
              <a:ext cx="200026" cy="200025"/>
              <a:chOff x="7102793" y="5638800"/>
              <a:chExt cx="200026" cy="200025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7102793" y="563880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7142531" y="568325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1" name="Freeform 81"/>
              <p:cNvSpPr/>
              <p:nvPr/>
            </p:nvSpPr>
            <p:spPr>
              <a:xfrm>
                <a:off x="7177247" y="579437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3" name="TextBox 83"/>
            <p:cNvSpPr txBox="1"/>
            <p:nvPr/>
          </p:nvSpPr>
          <p:spPr>
            <a:xfrm>
              <a:off x="7405497" y="5520690"/>
              <a:ext cx="37856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手算时不必重新模拟查找，直接沿用插入时的探查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次数即可，两者一定相等。</a:t>
              </a:r>
            </a:p>
          </p:txBody>
        </p:sp>
      </p:grpSp>
      <p:grpSp>
        <p:nvGrpSpPr>
          <p:cNvPr id="8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5" name="TextBox 85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冲突处理方法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线性探查的查找不成功平均查找长度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3" name="c1-table-1"/>
          <p:cNvGrpSpPr/>
          <p:nvPr/>
        </p:nvGrpSpPr>
        <p:grpSpPr>
          <a:xfrm>
            <a:off x="527685" y="1524000"/>
            <a:ext cx="6281737" cy="1193007"/>
            <a:chOff x="527685" y="1524000"/>
            <a:chExt cx="6281737" cy="1193007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4236" y="1659731"/>
              <a:ext cx="4222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h(K)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744945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71677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99362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326095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853780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380512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08197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34930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962615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347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1223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探查次数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1546860" y="1982152"/>
              <a:ext cx="507682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645158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172843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99576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227260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53993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281678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808410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35143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862828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9561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1524000"/>
              <a:ext cx="6276022" cy="8972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532572" y="152400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2060258" y="152400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2586990" y="152400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114675" y="152400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3641408" y="152400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169092" y="152400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695825" y="152400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222558" y="152400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750242" y="152400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76975" y="152400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27685" y="2496979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从每个可能的散列地址出发，探查到空位为止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formula53"/>
              <p:cNvSpPr txBox="1">
                <a:spLocks noGrp="1"/>
              </p:cNvSpPr>
              <p:nvPr/>
            </p:nvSpPr>
            <p:spPr>
              <a:xfrm>
                <a:off x="533400" y="2863215"/>
                <a:ext cx="6276022" cy="56578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AS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m:rPr>
                              <m:nor m:val="on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不成功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10</m:t>
                          </m:r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31</m:t>
                          </m:r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10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3.1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50" name="c1-card-3"/>
          <p:cNvGrpSpPr/>
          <p:nvPr/>
        </p:nvGrpSpPr>
        <p:grpSpPr>
          <a:xfrm>
            <a:off x="533400" y="3619500"/>
            <a:ext cx="6276022" cy="1621155"/>
            <a:chOff x="533400" y="3619500"/>
            <a:chExt cx="6276022" cy="1621155"/>
          </a:xfrm>
        </p:grpSpPr>
        <p:sp>
          <p:nvSpPr>
            <p:cNvPr id="45" name="Rectangle 45"/>
            <p:cNvSpPr/>
            <p:nvPr/>
          </p:nvSpPr>
          <p:spPr>
            <a:xfrm>
              <a:off x="533400" y="3619500"/>
              <a:ext cx="6276022" cy="1621155"/>
            </a:xfrm>
            <a:prstGeom prst="roundRect">
              <a:avLst>
                <a:gd name="adj" fmla="val 8226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742950" y="38290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33158" y="38647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读表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343978" y="3864292"/>
              <a:ext cx="211902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 h(K)=0 记 6 次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35330" y="4225290"/>
              <a:ext cx="54730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从地址 0 出发要走过 0、1、2、3、4 五个被占单元，第 6 次探到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空位 5 才停，所以记 6 次。地址 6 的那一段同理：走过 6、7、8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三格，第 4 次探到空位 9。</a:t>
              </a:r>
            </a:p>
          </p:txBody>
        </p:sp>
      </p:grpSp>
      <p:grpSp>
        <p:nvGrpSpPr>
          <p:cNvPr id="57" name="c2-card-1"/>
          <p:cNvGrpSpPr/>
          <p:nvPr/>
        </p:nvGrpSpPr>
        <p:grpSpPr>
          <a:xfrm>
            <a:off x="7114222" y="1524000"/>
            <a:ext cx="4544378" cy="1621155"/>
            <a:chOff x="7114222" y="1524000"/>
            <a:chExt cx="4544378" cy="1621155"/>
          </a:xfrm>
        </p:grpSpPr>
        <p:sp>
          <p:nvSpPr>
            <p:cNvPr id="51" name="Rectangle 51"/>
            <p:cNvSpPr/>
            <p:nvPr/>
          </p:nvSpPr>
          <p:spPr>
            <a:xfrm>
              <a:off x="7114222" y="1524000"/>
              <a:ext cx="4544378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7123748" y="165735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7361872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448131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怎么数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104823" y="1768792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输入种数等于散列函数的值域大小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354252" y="2129790"/>
              <a:ext cx="388620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输入数据经散列函数计算后只可能映射到 0 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9，所以可能的输入有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10 种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。从每个起点沿探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查路径走，直到遇到第一个空位。</a:t>
              </a:r>
            </a:p>
          </p:txBody>
        </p:sp>
      </p:grpSp>
      <p:grpSp>
        <p:nvGrpSpPr>
          <p:cNvPr id="64" name="c2-card-2"/>
          <p:cNvGrpSpPr/>
          <p:nvPr/>
        </p:nvGrpSpPr>
        <p:grpSpPr>
          <a:xfrm>
            <a:off x="7114222" y="3335655"/>
            <a:ext cx="4544378" cy="1905000"/>
            <a:chOff x="7114222" y="3335655"/>
            <a:chExt cx="4544378" cy="1905000"/>
          </a:xfrm>
        </p:grpSpPr>
        <p:sp>
          <p:nvSpPr>
            <p:cNvPr id="58" name="Rectangle 58"/>
            <p:cNvSpPr/>
            <p:nvPr/>
          </p:nvSpPr>
          <p:spPr>
            <a:xfrm>
              <a:off x="7114222" y="3335655"/>
              <a:ext cx="4544378" cy="19050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123748" y="3469005"/>
              <a:ext cx="47625" cy="163830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7361872" y="354520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452081" y="358092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961948" y="3580448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最后那次探到空位也要计数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354252" y="3941445"/>
              <a:ext cx="3825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只有探到空位才能断定关键词不在表中，这一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次访问是判定的依据，必须计入。漏掉它会让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每一项都少 1，答案系统性偏小。</a:t>
              </a:r>
            </a:p>
          </p:txBody>
        </p:sp>
      </p:grpSp>
      <p:grpSp>
        <p:nvGrpSpPr>
          <p:cNvPr id="7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5" name="Rectangle 6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040130" y="5991225"/>
              <a:ext cx="63512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不成功的 ASL 只和表的当前形状有关，和表里存的是哪些关键词无关。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冲突处理方法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例题：三个关键词撞在同一格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600754" cy="512636"/>
            <a:chOff x="526542" y="1545907"/>
            <a:chExt cx="10600754" cy="512636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60075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2018 年考研全国卷。长度为 7、初始为空的散列表 HT，散列函数 H(K) = K % 7，线性探查法解决冲突。依次插入 22、43、15 后，查找成功</a:t>
              </a:r>
              <a:br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的平均查找长度是多少。</a:t>
              </a:r>
            </a:p>
          </p:txBody>
        </p:sp>
      </p:grpSp>
      <p:grpSp>
        <p:nvGrpSpPr>
          <p:cNvPr id="22" name="c1-steps-1"/>
          <p:cNvGrpSpPr/>
          <p:nvPr/>
        </p:nvGrpSpPr>
        <p:grpSpPr>
          <a:xfrm>
            <a:off x="533400" y="2186940"/>
            <a:ext cx="5338382" cy="1789367"/>
            <a:chOff x="533400" y="2186940"/>
            <a:chExt cx="5338382" cy="1789367"/>
          </a:xfrm>
        </p:grpSpPr>
        <p:sp>
          <p:nvSpPr>
            <p:cNvPr id="9" name="Rectangle 9"/>
            <p:cNvSpPr/>
            <p:nvPr/>
          </p:nvSpPr>
          <p:spPr>
            <a:xfrm>
              <a:off x="666750" y="2329815"/>
              <a:ext cx="19050" cy="12992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218694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607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3939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13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8615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6023" y="221694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算散列地址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7166" y="2471738"/>
              <a:ext cx="39472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22 % 7 = 43 % 7 = 15 % 7 = 1，三个关键词的散列地址全是 1。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6023" y="277034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依次插入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7166" y="3025140"/>
              <a:ext cx="4924616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 落在 1，1 次；43 的地址 1 被占，落在 2，2 次；15 的 1、2 都被占，落在 3，3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023" y="351710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求平均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7166" y="3770948"/>
              <a:ext cx="41522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表里 3 个元素，查找成功的输入就是 3 种，把三次探查次数平均。</a:t>
              </a:r>
            </a:p>
          </p:txBody>
        </p:sp>
      </p:grpSp>
      <p:grpSp>
        <p:nvGrpSpPr>
          <p:cNvPr id="45" name="c1-cells-2"/>
          <p:cNvGrpSpPr/>
          <p:nvPr/>
        </p:nvGrpSpPr>
        <p:grpSpPr>
          <a:xfrm>
            <a:off x="528447" y="4138612"/>
            <a:ext cx="5847588" cy="571977"/>
            <a:chOff x="528447" y="4138612"/>
            <a:chExt cx="5847588" cy="571977"/>
          </a:xfrm>
        </p:grpSpPr>
        <p:sp>
          <p:nvSpPr>
            <p:cNvPr id="23" name="TextBox 23"/>
            <p:cNvSpPr txBox="1"/>
            <p:nvPr/>
          </p:nvSpPr>
          <p:spPr>
            <a:xfrm>
              <a:off x="528447" y="425529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散列表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040130" y="4138612"/>
              <a:ext cx="76200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350213" y="4255294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802130" y="4138612"/>
              <a:ext cx="762000" cy="3562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102941" y="425529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565082" y="4138612"/>
              <a:ext cx="762000" cy="3562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2864941" y="425529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3327082" y="4138612"/>
              <a:ext cx="762000" cy="35623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626941" y="425529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4089082" y="4138612"/>
              <a:ext cx="76200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400118" y="4255294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852035" y="4138612"/>
              <a:ext cx="76200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162118" y="4255294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614035" y="4138612"/>
              <a:ext cx="76200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24118" y="4255294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386011" y="45486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148963" y="45486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910963" y="45486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672963" y="45486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435916" y="45486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197916" y="45486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959916" y="45486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formula60"/>
              <p:cNvSpPr txBox="1">
                <a:spLocks noGrp="1"/>
              </p:cNvSpPr>
              <p:nvPr/>
            </p:nvSpPr>
            <p:spPr>
              <a:xfrm>
                <a:off x="533400" y="4840605"/>
                <a:ext cx="5842635" cy="56578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AS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m:rPr>
                              <m:nor m:val="on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成功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52" name="c2-card-1"/>
          <p:cNvGrpSpPr/>
          <p:nvPr/>
        </p:nvGrpSpPr>
        <p:grpSpPr>
          <a:xfrm>
            <a:off x="6680835" y="2177415"/>
            <a:ext cx="4977765" cy="917258"/>
            <a:chOff x="6680835" y="2177415"/>
            <a:chExt cx="4977765" cy="917258"/>
          </a:xfrm>
        </p:grpSpPr>
        <p:sp>
          <p:nvSpPr>
            <p:cNvPr id="47" name="Rectangle 47"/>
            <p:cNvSpPr/>
            <p:nvPr/>
          </p:nvSpPr>
          <p:spPr>
            <a:xfrm>
              <a:off x="6680835" y="2177415"/>
              <a:ext cx="4977765" cy="917258"/>
            </a:xfrm>
            <a:prstGeom prst="roundRect">
              <a:avLst>
                <a:gd name="adj" fmla="val 14538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861810" y="23583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954482" y="23912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答案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428738" y="2397919"/>
              <a:ext cx="9805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ASL成功 = 2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855333" y="2714149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源课件把这道题留作课下练习，没有给出答案，这里补全。</a:t>
              </a:r>
            </a:p>
          </p:txBody>
        </p:sp>
      </p:grpSp>
      <p:grpSp>
        <p:nvGrpSpPr>
          <p:cNvPr id="59" name="c2-card-2"/>
          <p:cNvGrpSpPr/>
          <p:nvPr/>
        </p:nvGrpSpPr>
        <p:grpSpPr>
          <a:xfrm>
            <a:off x="6680835" y="3259455"/>
            <a:ext cx="4977765" cy="1160145"/>
            <a:chOff x="6680835" y="3259455"/>
            <a:chExt cx="4977765" cy="1160145"/>
          </a:xfrm>
        </p:grpSpPr>
        <p:sp>
          <p:nvSpPr>
            <p:cNvPr id="53" name="Rectangle 53"/>
            <p:cNvSpPr/>
            <p:nvPr/>
          </p:nvSpPr>
          <p:spPr>
            <a:xfrm>
              <a:off x="6680835" y="3259455"/>
              <a:ext cx="4977765" cy="1160145"/>
            </a:xfrm>
            <a:prstGeom prst="roundRect">
              <a:avLst>
                <a:gd name="adj" fmla="val 114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690360" y="3392805"/>
              <a:ext cx="47625" cy="89344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899910" y="344043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992582" y="347329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规律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466838" y="3479959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全撞在一起时是等差数列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893433" y="3797141"/>
              <a:ext cx="39550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个关键词的散列地址完全相同时，探查次数依次是 1,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2, …, n，ASL成功 = (n+1)/2。本题 n = 3，得 2。</a:t>
              </a:r>
            </a:p>
          </p:txBody>
        </p:sp>
      </p:grpSp>
      <p:grpSp>
        <p:nvGrpSpPr>
          <p:cNvPr id="66" name="c2-callout-3"/>
          <p:cNvGrpSpPr/>
          <p:nvPr/>
        </p:nvGrpSpPr>
        <p:grpSpPr>
          <a:xfrm>
            <a:off x="6680835" y="4584382"/>
            <a:ext cx="4977765" cy="821055"/>
            <a:chOff x="6680835" y="4584382"/>
            <a:chExt cx="4977765" cy="821055"/>
          </a:xfrm>
        </p:grpSpPr>
        <p:sp>
          <p:nvSpPr>
            <p:cNvPr id="60" name="Rectangle 60"/>
            <p:cNvSpPr/>
            <p:nvPr/>
          </p:nvSpPr>
          <p:spPr>
            <a:xfrm>
              <a:off x="6680835" y="4584382"/>
              <a:ext cx="4977765" cy="821055"/>
            </a:xfrm>
            <a:prstGeom prst="roundRect">
              <a:avLst>
                <a:gd name="adj" fmla="val 1392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6873564" y="4891206"/>
              <a:ext cx="224134" cy="192560"/>
              <a:chOff x="6873564" y="4891206"/>
              <a:chExt cx="224134" cy="19256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6985635" y="496157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873564" y="489120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985635" y="503936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7188708" y="4788694"/>
              <a:ext cx="404444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若改问查找不成功的 ASL，分母换成值域大小 7，从每个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起点数到空位：(1+4+3+2+1+1+1)/7 = 13/7 ≈ 1.86。</a:t>
              </a:r>
            </a:p>
          </p:txBody>
        </p:sp>
      </p:grpSp>
      <p:grpSp>
        <p:nvGrpSpPr>
          <p:cNvPr id="73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7" name="Rectangle 67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1041273" y="6039326"/>
              <a:ext cx="6440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这是线性探查最坏的一种输入：所有元素连成一片，第 k 个插入的元素要探查 k 次。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冲突处理方法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例题：值域比表长小的时候，分母取谁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506456" cy="512636"/>
            <a:chOff x="526542" y="1545907"/>
            <a:chExt cx="10506456" cy="512636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50645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2019 年考研全国卷。长度为 11 且初始为空的散列表 HT，散列函数 H(K) = K % 7，线性探查法。依次插入 87, 40, 30, 6, 11, 22, 98, 20</a:t>
              </a:r>
              <a:br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后，查找失败的平均查找长度是多少。</a:t>
              </a:r>
            </a:p>
          </p:txBody>
        </p:sp>
      </p:grpSp>
      <p:grpSp>
        <p:nvGrpSpPr>
          <p:cNvPr id="38" name="c1-table-1"/>
          <p:cNvGrpSpPr/>
          <p:nvPr/>
        </p:nvGrpSpPr>
        <p:grpSpPr>
          <a:xfrm>
            <a:off x="533400" y="2177415"/>
            <a:ext cx="6059805" cy="762952"/>
            <a:chOff x="533400" y="2177415"/>
            <a:chExt cx="6059805" cy="762952"/>
          </a:xfrm>
        </p:grpSpPr>
        <p:sp>
          <p:nvSpPr>
            <p:cNvPr id="9" name="Rectangle 9"/>
            <p:cNvSpPr/>
            <p:nvPr/>
          </p:nvSpPr>
          <p:spPr>
            <a:xfrm>
              <a:off x="533400" y="2177415"/>
              <a:ext cx="6059805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82789" y="229457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82831" y="22945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87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88621" y="22945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294411" y="22945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910536" y="229457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45983" y="22945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051773" y="22945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657563" y="22945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98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32873" y="22945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8078" y="2675573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散列值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961578" y="267557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67368" y="267557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173158" y="267557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778948" y="267557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324731" y="267557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930521" y="267557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536311" y="267557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056948" y="2567940"/>
              <a:ext cx="526732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142101" y="267557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2177415"/>
              <a:ext cx="6059805" cy="7629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1862138" y="2177415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2467928" y="2177415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3073718" y="2177415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3679508" y="2177415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4225290" y="2177415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4831080" y="2177415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436870" y="2177415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042660" y="2177415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3" name="c1-cells-2"/>
          <p:cNvGrpSpPr/>
          <p:nvPr/>
        </p:nvGrpSpPr>
        <p:grpSpPr>
          <a:xfrm>
            <a:off x="528447" y="3105150"/>
            <a:ext cx="6064758" cy="571976"/>
            <a:chOff x="528447" y="3105150"/>
            <a:chExt cx="6064758" cy="571976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322183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散列表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1040130" y="3105150"/>
              <a:ext cx="50482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211401" y="322183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98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1544955" y="3105150"/>
              <a:ext cx="50482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716226" y="322183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2049780" y="3105150"/>
              <a:ext cx="50482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221051" y="322183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2554605" y="3105150"/>
              <a:ext cx="50482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2725876" y="322183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87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3059430" y="3105150"/>
              <a:ext cx="50482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230701" y="322183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3564255" y="3105150"/>
              <a:ext cx="50482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3735526" y="322183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069080" y="3105150"/>
              <a:ext cx="50482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278445" y="322183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73905" y="3105150"/>
              <a:ext cx="504825" cy="35623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4745176" y="322183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078730" y="3105150"/>
              <a:ext cx="50482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260226" y="322183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583555" y="3105150"/>
              <a:ext cx="50482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765051" y="322183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088380" y="3105150"/>
              <a:ext cx="50482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269876" y="322183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257423" y="351520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762248" y="351520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2267073" y="351520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2771898" y="351520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276723" y="351520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3781548" y="351520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4286373" y="351520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4791198" y="351520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5296023" y="351520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5800848" y="351520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275316" y="351520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  <p:grpSp>
        <p:nvGrpSpPr>
          <p:cNvPr id="100" name="c1-table-3"/>
          <p:cNvGrpSpPr/>
          <p:nvPr/>
        </p:nvGrpSpPr>
        <p:grpSpPr>
          <a:xfrm>
            <a:off x="528447" y="3807142"/>
            <a:ext cx="6064758" cy="1026509"/>
            <a:chOff x="528447" y="3807142"/>
            <a:chExt cx="6064758" cy="1026509"/>
          </a:xfrm>
        </p:grpSpPr>
        <p:sp>
          <p:nvSpPr>
            <p:cNvPr id="74" name="Rectangle 74"/>
            <p:cNvSpPr/>
            <p:nvPr/>
          </p:nvSpPr>
          <p:spPr>
            <a:xfrm>
              <a:off x="533400" y="3807142"/>
              <a:ext cx="6059805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1026935" y="3924300"/>
              <a:ext cx="3464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h(K)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2153173" y="392430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2819923" y="392430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3486673" y="392430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4153423" y="392430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4820173" y="392430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5485971" y="392430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6183201" y="392430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28078" y="430530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探查次数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961578" y="430530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2627376" y="430530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3294126" y="430530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3960876" y="430530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4627626" y="430530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5293424" y="430530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5960174" y="430530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533400" y="3807142"/>
              <a:ext cx="6059805" cy="7629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2" name="Rectangle 92"/>
            <p:cNvSpPr/>
            <p:nvPr/>
          </p:nvSpPr>
          <p:spPr>
            <a:xfrm>
              <a:off x="1862138" y="3807142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2527935" y="3807142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3194685" y="3807142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3861435" y="3807142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4528185" y="3807142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5193982" y="3807142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5860732" y="3807142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528447" y="4642961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散列函数值域只有 0 到 6，所以只有 7 种输入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formula67"/>
              <p:cNvSpPr txBox="1">
                <a:spLocks noGrp="1"/>
              </p:cNvSpPr>
              <p:nvPr/>
            </p:nvSpPr>
            <p:spPr>
              <a:xfrm>
                <a:off x="533400" y="4959668"/>
                <a:ext cx="6059805" cy="56578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AS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m:rPr>
                              <m:nor m:val="on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失败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9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8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7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7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42</m:t>
                          </m:r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7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6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107" name="c2-card-1"/>
          <p:cNvGrpSpPr/>
          <p:nvPr/>
        </p:nvGrpSpPr>
        <p:grpSpPr>
          <a:xfrm>
            <a:off x="6898005" y="2177415"/>
            <a:ext cx="4760595" cy="1160145"/>
            <a:chOff x="6898005" y="2177415"/>
            <a:chExt cx="4760595" cy="1160145"/>
          </a:xfrm>
        </p:grpSpPr>
        <p:sp>
          <p:nvSpPr>
            <p:cNvPr id="102" name="Rectangle 102"/>
            <p:cNvSpPr/>
            <p:nvPr/>
          </p:nvSpPr>
          <p:spPr>
            <a:xfrm>
              <a:off x="6898005" y="2177415"/>
              <a:ext cx="4760595" cy="1160145"/>
            </a:xfrm>
            <a:prstGeom prst="roundRect">
              <a:avLst>
                <a:gd name="adj" fmla="val 11494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3" name="Rectangle 103"/>
            <p:cNvSpPr/>
            <p:nvPr/>
          </p:nvSpPr>
          <p:spPr>
            <a:xfrm>
              <a:off x="7078980" y="23583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7170699" y="23912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答案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7644956" y="2397919"/>
              <a:ext cx="148771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 C，ASL失败 = 6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7072503" y="2714149"/>
              <a:ext cx="410133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表长是 11，但散列函数是 K % 7，值域只有 0 到 6。分母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必须取 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值域大小 7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，不是表长 11，也不是元素个数 8。</a:t>
              </a:r>
            </a:p>
          </p:txBody>
        </p:sp>
      </p:grpSp>
      <p:grpSp>
        <p:nvGrpSpPr>
          <p:cNvPr id="123" name="c2-table-2"/>
          <p:cNvGrpSpPr/>
          <p:nvPr/>
        </p:nvGrpSpPr>
        <p:grpSpPr>
          <a:xfrm>
            <a:off x="6893052" y="3502342"/>
            <a:ext cx="4765548" cy="1789462"/>
            <a:chOff x="6893052" y="3502342"/>
            <a:chExt cx="4765548" cy="1789462"/>
          </a:xfrm>
        </p:grpSpPr>
        <p:sp>
          <p:nvSpPr>
            <p:cNvPr id="108" name="Rectangle 108"/>
            <p:cNvSpPr/>
            <p:nvPr/>
          </p:nvSpPr>
          <p:spPr>
            <a:xfrm>
              <a:off x="6898005" y="3502342"/>
              <a:ext cx="4760595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9" name="TextBox 109"/>
            <p:cNvSpPr txBox="1"/>
            <p:nvPr/>
          </p:nvSpPr>
          <p:spPr>
            <a:xfrm>
              <a:off x="7178992" y="361950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9489567" y="361950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从哪来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6992684" y="4001452"/>
              <a:ext cx="4889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5.25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7848981" y="4001452"/>
              <a:ext cx="19613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42 / 8，误把分母当成元素个数</a:t>
              </a:r>
            </a:p>
          </p:txBody>
        </p:sp>
        <p:sp>
          <p:nvSpPr>
            <p:cNvPr id="113" name="Rectangle 113"/>
            <p:cNvSpPr/>
            <p:nvPr/>
          </p:nvSpPr>
          <p:spPr>
            <a:xfrm>
              <a:off x="6898005" y="426053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4" name="Rectangle 114"/>
            <p:cNvSpPr/>
            <p:nvPr/>
          </p:nvSpPr>
          <p:spPr>
            <a:xfrm>
              <a:off x="6898005" y="4265295"/>
              <a:ext cx="476059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15" name="TextBox 115"/>
            <p:cNvSpPr txBox="1"/>
            <p:nvPr/>
          </p:nvSpPr>
          <p:spPr>
            <a:xfrm>
              <a:off x="6992684" y="4382452"/>
              <a:ext cx="4889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6.29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7848981" y="4382452"/>
              <a:ext cx="2130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(42+2) / 7，误把值域当成 0 到 7</a:t>
              </a:r>
            </a:p>
          </p:txBody>
        </p:sp>
        <p:sp>
          <p:nvSpPr>
            <p:cNvPr id="117" name="Rectangle 117"/>
            <p:cNvSpPr/>
            <p:nvPr/>
          </p:nvSpPr>
          <p:spPr>
            <a:xfrm>
              <a:off x="6898005" y="464153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8" name="TextBox 118"/>
            <p:cNvSpPr txBox="1"/>
            <p:nvPr/>
          </p:nvSpPr>
          <p:spPr>
            <a:xfrm>
              <a:off x="6992684" y="4763452"/>
              <a:ext cx="2302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4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7848981" y="4763452"/>
              <a:ext cx="215213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42 / 11 ≈ 3.8，误把分母当成表长</a:t>
              </a:r>
            </a:p>
          </p:txBody>
        </p:sp>
        <p:sp>
          <p:nvSpPr>
            <p:cNvPr id="120" name="Rectangle 120"/>
            <p:cNvSpPr/>
            <p:nvPr/>
          </p:nvSpPr>
          <p:spPr>
            <a:xfrm>
              <a:off x="6898005" y="3502342"/>
              <a:ext cx="4760595" cy="1525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21" name="Rectangle 121"/>
            <p:cNvSpPr/>
            <p:nvPr/>
          </p:nvSpPr>
          <p:spPr>
            <a:xfrm>
              <a:off x="7749540" y="3502342"/>
              <a:ext cx="9525" cy="1525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2" name="TextBox 122"/>
            <p:cNvSpPr txBox="1"/>
            <p:nvPr/>
          </p:nvSpPr>
          <p:spPr>
            <a:xfrm>
              <a:off x="6893052" y="5101114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三个干扰项各自对应一种错法</a:t>
              </a:r>
            </a:p>
          </p:txBody>
        </p:sp>
      </p:grpSp>
      <p:grpSp>
        <p:nvGrpSpPr>
          <p:cNvPr id="130" name="c2-callout-3"/>
          <p:cNvGrpSpPr/>
          <p:nvPr/>
        </p:nvGrpSpPr>
        <p:grpSpPr>
          <a:xfrm>
            <a:off x="6898005" y="5417820"/>
            <a:ext cx="4760595" cy="937260"/>
            <a:chOff x="6898005" y="5417820"/>
            <a:chExt cx="4760595" cy="937260"/>
          </a:xfrm>
        </p:grpSpPr>
        <p:sp>
          <p:nvSpPr>
            <p:cNvPr id="124" name="Rectangle 124"/>
            <p:cNvSpPr/>
            <p:nvPr/>
          </p:nvSpPr>
          <p:spPr>
            <a:xfrm>
              <a:off x="6898005" y="5417820"/>
              <a:ext cx="4760595" cy="937260"/>
            </a:xfrm>
            <a:prstGeom prst="roundRect">
              <a:avLst>
                <a:gd name="adj" fmla="val 1219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28" name="Group 128"/>
            <p:cNvGrpSpPr/>
            <p:nvPr/>
          </p:nvGrpSpPr>
          <p:grpSpPr>
            <a:xfrm>
              <a:off x="7090734" y="5783698"/>
              <a:ext cx="224134" cy="192560"/>
              <a:chOff x="7090734" y="5783698"/>
              <a:chExt cx="224134" cy="192560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7202805" y="585406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26" name="Freeform 126"/>
              <p:cNvSpPr/>
              <p:nvPr/>
            </p:nvSpPr>
            <p:spPr>
              <a:xfrm>
                <a:off x="7090734" y="578369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27" name="Freeform 127"/>
              <p:cNvSpPr/>
              <p:nvPr/>
            </p:nvSpPr>
            <p:spPr>
              <a:xfrm>
                <a:off x="7202805" y="59318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29" name="TextBox 129"/>
            <p:cNvSpPr txBox="1"/>
            <p:nvPr/>
          </p:nvSpPr>
          <p:spPr>
            <a:xfrm>
              <a:off x="7405878" y="5563076"/>
              <a:ext cx="3881882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20 的散列值是 6，位置 6 被 6 占着，所以落到 7。位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置 8、9、10 永远不会被直接散列到，只能靠冲突溢出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过去。</a:t>
              </a:r>
            </a:p>
          </p:txBody>
        </p:sp>
      </p:grpSp>
      <p:grpSp>
        <p:nvGrpSpPr>
          <p:cNvPr id="1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31" name="TextBox 131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冲突处理方法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二次探查：一冲突就跳离是非之地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842635" cy="1930718"/>
            <a:chOff x="533400" y="1524000"/>
            <a:chExt cx="5842635" cy="193071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1930718"/>
            </a:xfrm>
            <a:prstGeom prst="roundRect">
              <a:avLst>
                <a:gd name="adj" fmla="val 69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64018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7344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二次探查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14297" y="175641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探测序列在散列地址两侧来回跳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72"/>
                <p:cNvSpPr txBox="1">
                  <a:spLocks noGrp="1"/>
                </p:cNvSpPr>
                <p:nvPr/>
              </p:nvSpPr>
              <p:spPr>
                <a:xfrm>
                  <a:off x="763905" y="2067878"/>
                  <a:ext cx="5419725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±</m:t>
                            </m:r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  <m:sup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mod</m:t>
                            </m:r>
                          </m:fName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,…,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57047" y="2794635"/>
              <a:ext cx="456571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具体路径：h(K), h(K)+1², h(K)−1², h(K)+2², h(K)−2²,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h(K)+3², h(K)−3², …，各值均在 % M 意义下。</a:t>
              </a:r>
            </a:p>
          </p:txBody>
        </p:sp>
      </p:grpSp>
      <p:grpSp>
        <p:nvGrpSpPr>
          <p:cNvPr id="47" name="c1-table-2"/>
          <p:cNvGrpSpPr/>
          <p:nvPr/>
        </p:nvGrpSpPr>
        <p:grpSpPr>
          <a:xfrm>
            <a:off x="528066" y="3629978"/>
            <a:ext cx="5847969" cy="1091183"/>
            <a:chOff x="528066" y="3629978"/>
            <a:chExt cx="5847969" cy="1091183"/>
          </a:xfrm>
        </p:grpSpPr>
        <p:sp>
          <p:nvSpPr>
            <p:cNvPr id="15" name="Rectangle 15"/>
            <p:cNvSpPr/>
            <p:nvPr/>
          </p:nvSpPr>
          <p:spPr>
            <a:xfrm>
              <a:off x="533400" y="3629978"/>
              <a:ext cx="5842635" cy="40576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2543" y="375427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793163" y="375427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323426" y="37542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766618" y="375427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307638" y="375427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848658" y="375427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389678" y="375427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68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930698" y="375427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1718" y="375427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012738" y="375427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3412" y="41600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散列值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715452" y="41600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256472" y="41600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688907" y="41600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229927" y="41600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70948" y="41600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311968" y="41600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852988" y="41600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394008" y="41600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935028" y="41600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3629978"/>
              <a:ext cx="5842635" cy="811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1610678" y="362997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2151698" y="362997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2584132" y="362997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3125152" y="362997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3666172" y="362997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4207192" y="362997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748212" y="362997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289232" y="362997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830252" y="362997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8066" y="4515802"/>
              <a:ext cx="24684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散列函数 h(K) = K % 11，表长 M = 11</a:t>
              </a:r>
            </a:p>
          </p:txBody>
        </p:sp>
      </p:grpSp>
      <p:grpSp>
        <p:nvGrpSpPr>
          <p:cNvPr id="82" name="c1-cells-3"/>
          <p:cNvGrpSpPr/>
          <p:nvPr/>
        </p:nvGrpSpPr>
        <p:grpSpPr>
          <a:xfrm>
            <a:off x="528066" y="4854892"/>
            <a:ext cx="5848922" cy="596742"/>
            <a:chOff x="528066" y="4854892"/>
            <a:chExt cx="5848922" cy="596742"/>
          </a:xfrm>
        </p:grpSpPr>
        <p:sp>
          <p:nvSpPr>
            <p:cNvPr id="48" name="TextBox 48"/>
            <p:cNvSpPr txBox="1"/>
            <p:nvPr/>
          </p:nvSpPr>
          <p:spPr>
            <a:xfrm>
              <a:off x="528066" y="498062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散列表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066800" y="4854892"/>
              <a:ext cx="48291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220818" y="498062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1549718" y="4854892"/>
              <a:ext cx="48291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1744551" y="498062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2032635" y="4854892"/>
              <a:ext cx="482918" cy="3810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2186653" y="498062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2514600" y="4854892"/>
              <a:ext cx="48291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2669571" y="498062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2997518" y="4854892"/>
              <a:ext cx="482918" cy="3810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3151536" y="498062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3480435" y="4854892"/>
              <a:ext cx="48291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3634453" y="498062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82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3963352" y="4854892"/>
              <a:ext cx="482918" cy="3810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4117371" y="498062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68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4445318" y="4854892"/>
              <a:ext cx="48291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4611243" y="498062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4928235" y="4854892"/>
              <a:ext cx="48291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082253" y="498062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5411152" y="4854892"/>
              <a:ext cx="48291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576126" y="498062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894070" y="4854892"/>
              <a:ext cx="482918" cy="3810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048088" y="498062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272663" y="528970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755581" y="528970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2238498" y="528970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2721416" y="528970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3203381" y="528970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3686298" y="528970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4169216" y="528970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4652133" y="528970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5134098" y="528970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5617016" y="528970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069576" y="5289709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  <p:grpSp>
        <p:nvGrpSpPr>
          <p:cNvPr id="114" name="c2-table-1"/>
          <p:cNvGrpSpPr/>
          <p:nvPr/>
        </p:nvGrpSpPr>
        <p:grpSpPr>
          <a:xfrm>
            <a:off x="6675501" y="1524000"/>
            <a:ext cx="4983099" cy="2308479"/>
            <a:chOff x="6675501" y="1524000"/>
            <a:chExt cx="4983099" cy="2308479"/>
          </a:xfrm>
        </p:grpSpPr>
        <p:sp>
          <p:nvSpPr>
            <p:cNvPr id="83" name="Rectangle 83"/>
            <p:cNvSpPr/>
            <p:nvPr/>
          </p:nvSpPr>
          <p:spPr>
            <a:xfrm>
              <a:off x="6680835" y="1524000"/>
              <a:ext cx="4977765" cy="40576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6996646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8039097" y="1648301"/>
              <a:ext cx="369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h(K)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9135681" y="164830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用到的偏移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85536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落位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6780848" y="205406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7876222" y="20540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8772525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+1²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0464165" y="20540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2" name="Rectangle 92"/>
            <p:cNvSpPr/>
            <p:nvPr/>
          </p:nvSpPr>
          <p:spPr>
            <a:xfrm>
              <a:off x="6680835" y="233076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6680835" y="2335530"/>
              <a:ext cx="497776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6780848" y="245983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68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7876222" y="24598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8772525" y="2459831"/>
              <a:ext cx="1406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+1² 占, −1² 占, +2²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10464165" y="24598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6680835" y="273653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6780848" y="286559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7876222" y="286559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8772525" y="2865596"/>
              <a:ext cx="833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+1² 占, −1²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10464165" y="286559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03" name="Rectangle 103"/>
            <p:cNvSpPr/>
            <p:nvPr/>
          </p:nvSpPr>
          <p:spPr>
            <a:xfrm>
              <a:off x="6680835" y="314229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4" name="Rectangle 104"/>
            <p:cNvSpPr/>
            <p:nvPr/>
          </p:nvSpPr>
          <p:spPr>
            <a:xfrm>
              <a:off x="6680835" y="3147060"/>
              <a:ext cx="497776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6780848" y="327136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7876222" y="32713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8772525" y="327136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+1²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10464165" y="32713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9" name="Rectangle 109"/>
            <p:cNvSpPr/>
            <p:nvPr/>
          </p:nvSpPr>
          <p:spPr>
            <a:xfrm>
              <a:off x="6680835" y="1524000"/>
              <a:ext cx="4977765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7771448" y="1524000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1" name="Rectangle 111"/>
            <p:cNvSpPr/>
            <p:nvPr/>
          </p:nvSpPr>
          <p:spPr>
            <a:xfrm>
              <a:off x="8667750" y="1524000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2" name="Rectangle 112"/>
            <p:cNvSpPr/>
            <p:nvPr/>
          </p:nvSpPr>
          <p:spPr>
            <a:xfrm>
              <a:off x="10359390" y="1524000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3" name="TextBox 113"/>
            <p:cNvSpPr txBox="1"/>
            <p:nvPr/>
          </p:nvSpPr>
          <p:spPr>
            <a:xfrm>
              <a:off x="6675501" y="362712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四次冲突的去向</a:t>
              </a:r>
            </a:p>
          </p:txBody>
        </p:sp>
      </p:grpSp>
      <p:grpSp>
        <p:nvGrpSpPr>
          <p:cNvPr id="120" name="c2-card-2"/>
          <p:cNvGrpSpPr/>
          <p:nvPr/>
        </p:nvGrpSpPr>
        <p:grpSpPr>
          <a:xfrm>
            <a:off x="6680835" y="3966210"/>
            <a:ext cx="4977765" cy="1483995"/>
            <a:chOff x="6680835" y="3966210"/>
            <a:chExt cx="4977765" cy="1483995"/>
          </a:xfrm>
        </p:grpSpPr>
        <p:sp>
          <p:nvSpPr>
            <p:cNvPr id="115" name="Rectangle 115"/>
            <p:cNvSpPr/>
            <p:nvPr/>
          </p:nvSpPr>
          <p:spPr>
            <a:xfrm>
              <a:off x="6680835" y="3966210"/>
              <a:ext cx="4977765" cy="1483995"/>
            </a:xfrm>
            <a:prstGeom prst="roundRect">
              <a:avLst>
                <a:gd name="adj" fmla="val 8986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6" name="Rectangle 116"/>
            <p:cNvSpPr/>
            <p:nvPr/>
          </p:nvSpPr>
          <p:spPr>
            <a:xfrm>
              <a:off x="6873240" y="415861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117" name="TextBox 117"/>
            <p:cNvSpPr txBox="1"/>
            <p:nvPr/>
          </p:nvSpPr>
          <p:spPr>
            <a:xfrm>
              <a:off x="6964680" y="419290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好处</a:t>
              </a:r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7456932" y="419862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冲突之后跳得远，不容易聚集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6866382" y="4532948"/>
              <a:ext cx="435140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线性探查把冲突的元素堆在相邻单元里，越堆越长。二次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探查第二次就跳出 4 格、第三次跳出 9 格，同一段区域不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会被反复碾过。</a:t>
              </a:r>
            </a:p>
          </p:txBody>
        </p:sp>
      </p:grpSp>
      <p:grpSp>
        <p:nvGrpSpPr>
          <p:cNvPr id="127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121" name="Rectangle 121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25" name="Group 125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122" name="Freeform 122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23" name="Freeform 123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24" name="Freeform 124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26" name="TextBox 126"/>
            <p:cNvSpPr txBox="1"/>
            <p:nvPr/>
          </p:nvSpPr>
          <p:spPr>
            <a:xfrm>
              <a:off x="1040892" y="6023610"/>
              <a:ext cx="66289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68 的散列地址 2 已被 23 占用，+1² 到 3、−1² 到 1 也都被占，跳到 +2² 才落地。</a:t>
              </a:r>
            </a:p>
          </p:txBody>
        </p:sp>
      </p:grpSp>
      <p:grpSp>
        <p:nvGrpSpPr>
          <p:cNvPr id="13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8" name="TextBox 128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冲突处理方法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双重探查：连步长都由关键词决定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1660208"/>
            <a:chOff x="533400" y="1524000"/>
            <a:chExt cx="5410200" cy="166020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660208"/>
            </a:xfrm>
            <a:prstGeom prst="roundRect">
              <a:avLst>
                <a:gd name="adj" fmla="val 803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93508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7044" y="173783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双重探查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68006" y="1744504"/>
              <a:ext cx="27554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δ(K) 代替线性探查的固定步长 1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79"/>
                <p:cNvSpPr txBox="1">
                  <a:spLocks noGrp="1"/>
                </p:cNvSpPr>
                <p:nvPr/>
              </p:nvSpPr>
              <p:spPr>
                <a:xfrm>
                  <a:off x="752475" y="2040255"/>
                  <a:ext cx="501015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⋅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δ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e>
                        </m:d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mod</m:t>
                            </m:r>
                          </m:fName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δ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45998" y="2561749"/>
              <a:ext cx="469468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循环探查路径：h(K), h(K)+δ(K), h(K)+2δ(K), …，各值均在 %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意义下。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3348990"/>
            <a:ext cx="5410200" cy="1403032"/>
            <a:chOff x="533400" y="3348990"/>
            <a:chExt cx="5410200" cy="1403032"/>
          </a:xfrm>
        </p:grpSpPr>
        <p:sp>
          <p:nvSpPr>
            <p:cNvPr id="15" name="Rectangle 15"/>
            <p:cNvSpPr/>
            <p:nvPr/>
          </p:nvSpPr>
          <p:spPr>
            <a:xfrm>
              <a:off x="533400" y="3348990"/>
              <a:ext cx="5410200" cy="1403032"/>
            </a:xfrm>
            <a:prstGeom prst="roundRect">
              <a:avLst>
                <a:gd name="adj" fmla="val 95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482340"/>
              <a:ext cx="47625" cy="113633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52475" y="352996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5147" y="356282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条件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18450" y="3569494"/>
              <a:ext cx="15977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δ(K) 与 M 必须互质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45998" y="3886676"/>
              <a:ext cx="4735322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 GCD(δ(K), M) = 1 时，反复加 δ(K) 才能走遍全部 M 个地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址；否则只能走到其中 M / GCD(δ(K), M) 个，表里明明有空位却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插不进去。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把 M 取成素数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，这一条自动满足。</a:t>
              </a:r>
            </a:p>
          </p:txBody>
        </p:sp>
      </p:grpSp>
      <p:grpSp>
        <p:nvGrpSpPr>
          <p:cNvPr id="28" name="c1-callout-3"/>
          <p:cNvGrpSpPr/>
          <p:nvPr/>
        </p:nvGrpSpPr>
        <p:grpSpPr>
          <a:xfrm>
            <a:off x="533400" y="4916805"/>
            <a:ext cx="5410200" cy="702945"/>
            <a:chOff x="533400" y="4916805"/>
            <a:chExt cx="5410200" cy="702945"/>
          </a:xfrm>
        </p:grpSpPr>
        <p:sp>
          <p:nvSpPr>
            <p:cNvPr id="22" name="Rectangle 22"/>
            <p:cNvSpPr/>
            <p:nvPr/>
          </p:nvSpPr>
          <p:spPr>
            <a:xfrm>
              <a:off x="533400" y="4916805"/>
              <a:ext cx="5410200" cy="702945"/>
            </a:xfrm>
            <a:prstGeom prst="roundRect">
              <a:avLst>
                <a:gd name="adj" fmla="val 1626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5168265"/>
              <a:ext cx="200026" cy="200025"/>
              <a:chOff x="738188" y="5168265"/>
              <a:chExt cx="200026" cy="200025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38188" y="516826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77926" y="521271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12642" y="532384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1273" y="5062061"/>
              <a:ext cx="433705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常用的取法是 δ(K) = 1 + (K % (M−1))，保证落在 1 到 M−1</a:t>
              </a:r>
              <a:br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之间。</a:t>
              </a:r>
            </a:p>
          </p:txBody>
        </p:sp>
      </p:grpSp>
      <p:grpSp>
        <p:nvGrpSpPr>
          <p:cNvPr id="65" name="c2-table-1"/>
          <p:cNvGrpSpPr/>
          <p:nvPr/>
        </p:nvGrpSpPr>
        <p:grpSpPr>
          <a:xfrm>
            <a:off x="6243447" y="1524000"/>
            <a:ext cx="5415153" cy="2552414"/>
            <a:chOff x="6243447" y="1524000"/>
            <a:chExt cx="5415153" cy="2552414"/>
          </a:xfrm>
        </p:grpSpPr>
        <p:sp>
          <p:nvSpPr>
            <p:cNvPr id="29" name="Rectangle 29"/>
            <p:cNvSpPr/>
            <p:nvPr/>
          </p:nvSpPr>
          <p:spPr>
            <a:xfrm>
              <a:off x="6248400" y="1524000"/>
              <a:ext cx="5410200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16694" y="1641157"/>
              <a:ext cx="1282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42123" y="1641157"/>
              <a:ext cx="4262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 % 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734952" y="1641157"/>
              <a:ext cx="5456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只用 +i²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536320" y="1641157"/>
              <a:ext cx="4043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 ±i²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43079" y="20231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208901" y="2023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90941" y="2023110"/>
              <a:ext cx="4064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 / 11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914001" y="2023110"/>
              <a:ext cx="5078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11 / 11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22821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48400" y="2286952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43079" y="24041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208901" y="2404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90941" y="2404110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 / 19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914001" y="2404110"/>
              <a:ext cx="5078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19 / 19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26631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43079" y="27851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208901" y="2785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90941" y="2785110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 / 23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914001" y="2785110"/>
              <a:ext cx="5078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23 / 23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30451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48400" y="3049905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43079" y="31670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208901" y="316706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290941" y="3167062"/>
              <a:ext cx="4064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/ 13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914001" y="3167062"/>
              <a:ext cx="4262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7 / 13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248400" y="34261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343079" y="35480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208901" y="354806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290941" y="3548062"/>
              <a:ext cx="4064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 / 17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914001" y="3548062"/>
              <a:ext cx="4262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9 / 17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248400" y="1524000"/>
              <a:ext cx="5410200" cy="2287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7109460" y="1524000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8191500" y="1524000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9814560" y="1524000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243447" y="3885724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二次探查的探查路径能覆盖多少个地址</a:t>
              </a:r>
            </a:p>
          </p:txBody>
        </p:sp>
      </p:grpSp>
      <p:grpSp>
        <p:nvGrpSpPr>
          <p:cNvPr id="72" name="c2-card-2"/>
          <p:cNvGrpSpPr/>
          <p:nvPr/>
        </p:nvGrpSpPr>
        <p:grpSpPr>
          <a:xfrm>
            <a:off x="6248400" y="4202430"/>
            <a:ext cx="5410200" cy="1417320"/>
            <a:chOff x="6248400" y="4202430"/>
            <a:chExt cx="5410200" cy="1417320"/>
          </a:xfrm>
        </p:grpSpPr>
        <p:sp>
          <p:nvSpPr>
            <p:cNvPr id="66" name="Rectangle 66"/>
            <p:cNvSpPr/>
            <p:nvPr/>
          </p:nvSpPr>
          <p:spPr>
            <a:xfrm>
              <a:off x="6248400" y="4202430"/>
              <a:ext cx="5410200" cy="1417320"/>
            </a:xfrm>
            <a:prstGeom prst="roundRect">
              <a:avLst>
                <a:gd name="adj" fmla="val 94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6257925" y="4335780"/>
              <a:ext cx="47625" cy="11506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6467475" y="438340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560147" y="441626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033451" y="4422934"/>
              <a:ext cx="18218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二次探查对 M 也有要求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460998" y="4740116"/>
              <a:ext cx="4658106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源课件没有提这一条：只用 +i² 时最多只能探到 (M+1)/2 个地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址；改成 ±i² 之后，只有当 M 是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4k+3 型素数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（11、19、23）时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才能走遍全表。M = 13、17 这类 4k+1 型素数仍然走不全。</a:t>
              </a:r>
            </a:p>
          </p:txBody>
        </p:sp>
      </p:grpSp>
      <p:grpSp>
        <p:nvGrpSpPr>
          <p:cNvPr id="78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73" name="Rectangle 73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7" name="TextBox 77"/>
            <p:cNvSpPr txBox="1"/>
            <p:nvPr/>
          </p:nvSpPr>
          <p:spPr>
            <a:xfrm>
              <a:off x="1041273" y="6039326"/>
              <a:ext cx="60439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三种开放地址法都要求探查路径能覆盖尽量多的地址，否则表没满就插不进去。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冲突处理方法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四种冲突处理方法怎么选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8" name="c1-table-1"/>
          <p:cNvGrpSpPr/>
          <p:nvPr/>
        </p:nvGrpSpPr>
        <p:grpSpPr>
          <a:xfrm>
            <a:off x="533400" y="1524000"/>
            <a:ext cx="6708458" cy="2364105"/>
            <a:chOff x="533400" y="1524000"/>
            <a:chExt cx="6708458" cy="23641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708458" cy="43053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9645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351151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探查路径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323398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54280" y="165544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要当心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42925" y="1964055"/>
              <a:ext cx="1188720" cy="62484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38746" y="219170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拉链法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846517" y="2191702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同址元素串成链表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24846" y="2085022"/>
              <a:ext cx="13380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α 可大于 1，删除简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68874" y="2191702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每元素多一个指针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592705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2597468"/>
              <a:ext cx="670845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8746" y="272891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线性探查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846517" y="2728912"/>
              <a:ext cx="514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h(K)+i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24846" y="272891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缓存命中率最高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468874" y="2728912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聚集，探查次数涨得快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023235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8746" y="31594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二次探查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846517" y="3159442"/>
              <a:ext cx="6047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h(K)±i²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724846" y="3159442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跳得远，不易聚集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468874" y="3159442"/>
              <a:ext cx="14514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要取 4k+3 型素数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45281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33400" y="3457575"/>
              <a:ext cx="670845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8746" y="358902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双重探查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846517" y="3589020"/>
              <a:ext cx="9703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h(K)+i·δ(K)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724846" y="358902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步长随关键词变化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468874" y="3589020"/>
              <a:ext cx="14656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δ(K) 必须与 M 互质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1524000"/>
              <a:ext cx="6708458" cy="23641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1736408" y="1524000"/>
              <a:ext cx="9525" cy="23641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3614738" y="1524000"/>
              <a:ext cx="9525" cy="23641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358765" y="1524000"/>
              <a:ext cx="9525" cy="23641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9" name="c1-compare-2"/>
          <p:cNvGrpSpPr/>
          <p:nvPr/>
        </p:nvGrpSpPr>
        <p:grpSpPr>
          <a:xfrm>
            <a:off x="533400" y="4073842"/>
            <a:ext cx="6709410" cy="1904048"/>
            <a:chOff x="533400" y="4073842"/>
            <a:chExt cx="6709410" cy="1904048"/>
          </a:xfrm>
        </p:grpSpPr>
        <p:sp>
          <p:nvSpPr>
            <p:cNvPr id="39" name="Rectangle 39"/>
            <p:cNvSpPr/>
            <p:nvPr/>
          </p:nvSpPr>
          <p:spPr>
            <a:xfrm>
              <a:off x="533400" y="4073842"/>
              <a:ext cx="3107055" cy="1904048"/>
            </a:xfrm>
            <a:prstGeom prst="roundRect">
              <a:avLst>
                <a:gd name="adj" fmla="val 70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42925" y="4207192"/>
              <a:ext cx="47625" cy="163734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68096" y="430101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选拉链法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782955" y="4699635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39546" y="4639151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元素个数事先估不准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782955" y="5019675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39546" y="495919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删除操作频繁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782955" y="5339715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39546" y="5279231"/>
              <a:ext cx="23588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单个元素较大，多一个指针无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所谓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4135755" y="4073842"/>
              <a:ext cx="3107055" cy="1904048"/>
            </a:xfrm>
            <a:prstGeom prst="roundRect">
              <a:avLst>
                <a:gd name="adj" fmla="val 70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4145280" y="4207192"/>
              <a:ext cx="47625" cy="163734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370451" y="430101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选开放地址法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4385310" y="4699635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541901" y="4639151"/>
              <a:ext cx="23588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元素个数有上界且装填因子能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控住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4385310" y="5291138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4541901" y="5230654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元素小，指针开销占比高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4385310" y="5611177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4541901" y="5550694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在意缓存命中率与内存连续性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3688080" y="4825365"/>
              <a:ext cx="400050" cy="4000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3741420" y="495966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取舍</a:t>
              </a:r>
            </a:p>
          </p:txBody>
        </p:sp>
      </p:grpSp>
      <p:grpSp>
        <p:nvGrpSpPr>
          <p:cNvPr id="65" name="c2-card-1"/>
          <p:cNvGrpSpPr/>
          <p:nvPr/>
        </p:nvGrpSpPr>
        <p:grpSpPr>
          <a:xfrm>
            <a:off x="7546658" y="1524000"/>
            <a:ext cx="4111942" cy="1564958"/>
            <a:chOff x="7546658" y="1524000"/>
            <a:chExt cx="4111942" cy="1564958"/>
          </a:xfrm>
        </p:grpSpPr>
        <p:sp>
          <p:nvSpPr>
            <p:cNvPr id="60" name="Rectangle 60"/>
            <p:cNvSpPr/>
            <p:nvPr/>
          </p:nvSpPr>
          <p:spPr>
            <a:xfrm>
              <a:off x="7546658" y="1524000"/>
              <a:ext cx="4111942" cy="1564958"/>
            </a:xfrm>
            <a:prstGeom prst="roundRect">
              <a:avLst>
                <a:gd name="adj" fmla="val 8521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7750492" y="17278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832801" y="17635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实际系统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636698" y="176736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大多数用拉链法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743254" y="2119789"/>
              <a:ext cx="356717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拉链法效率最高，易于实现，不会产生聚集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现象，删除也方便。源课件第 48 页给出的这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条结论和主流标准库的做法一致。</a:t>
              </a:r>
            </a:p>
          </p:txBody>
        </p:sp>
      </p:grpSp>
      <p:grpSp>
        <p:nvGrpSpPr>
          <p:cNvPr id="74" name="c2-card-2"/>
          <p:cNvGrpSpPr/>
          <p:nvPr/>
        </p:nvGrpSpPr>
        <p:grpSpPr>
          <a:xfrm>
            <a:off x="7546658" y="3273742"/>
            <a:ext cx="4111942" cy="2703195"/>
            <a:chOff x="7546658" y="3273742"/>
            <a:chExt cx="4111942" cy="2703195"/>
          </a:xfrm>
        </p:grpSpPr>
        <p:sp>
          <p:nvSpPr>
            <p:cNvPr id="66" name="Rectangle 66"/>
            <p:cNvSpPr/>
            <p:nvPr/>
          </p:nvSpPr>
          <p:spPr>
            <a:xfrm>
              <a:off x="7546658" y="3273742"/>
              <a:ext cx="4111942" cy="2703195"/>
            </a:xfrm>
            <a:prstGeom prst="roundRect">
              <a:avLst>
                <a:gd name="adj" fmla="val 493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7556182" y="3407092"/>
              <a:ext cx="47625" cy="24364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7788592" y="347757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879753" y="35132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但是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390001" y="3518059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线性探查没有被淘汰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781354" y="3869531"/>
              <a:ext cx="3440938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线性探查的数据访问有很好的空间局部性，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缓存命中率高。在装填因子压得较低（比如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0.5）的场合，它的实测速度常常反超拉链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法。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7796212" y="5064442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952804" y="5003959"/>
              <a:ext cx="328764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Python 的 dict 用的就是开放地址法，探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查序列由散列值的高位扰动生成，装填因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子超过 2/3 就扩容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687318" cy="2997517"/>
            <a:chOff x="667512" y="1835468"/>
            <a:chExt cx="368731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散列表的删除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清空一格，可能切断别人的路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拉链法的删除就是链表删除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闭散列法有懒惰、实时、延迟三种方案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实时删除要判断探查路径是否被阻断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散列表的删除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闭散列表里的元素不能直接清空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8" name="c1-cells-1"/>
          <p:cNvGrpSpPr/>
          <p:nvPr/>
        </p:nvGrpSpPr>
        <p:grpSpPr>
          <a:xfrm>
            <a:off x="527685" y="1524000"/>
            <a:ext cx="5849303" cy="634841"/>
            <a:chOff x="527685" y="1524000"/>
            <a:chExt cx="5849303" cy="634841"/>
          </a:xfrm>
        </p:grpSpPr>
        <p:sp>
          <p:nvSpPr>
            <p:cNvPr id="7" name="TextBox 7"/>
            <p:cNvSpPr txBox="1"/>
            <p:nvPr/>
          </p:nvSpPr>
          <p:spPr>
            <a:xfrm>
              <a:off x="527685" y="166354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散列表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93470" y="1524000"/>
              <a:ext cx="52863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276210" y="166354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622108" y="1524000"/>
              <a:ext cx="528638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836699" y="16635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149792" y="1524000"/>
              <a:ext cx="52863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321800" y="166354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678430" y="1524000"/>
              <a:ext cx="52863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849485" y="166354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207068" y="1524000"/>
              <a:ext cx="52863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378123" y="166354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734752" y="1524000"/>
              <a:ext cx="52863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918445" y="166354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263390" y="1524000"/>
              <a:ext cx="52863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446130" y="166354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791075" y="1524000"/>
              <a:ext cx="52863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974768" y="166354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19712" y="1524000"/>
              <a:ext cx="52863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502453" y="166354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848350" y="1524000"/>
              <a:ext cx="52863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031090" y="166354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22193" y="199691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850831" y="199691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379468" y="199691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907153" y="199691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435791" y="199691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964428" y="199691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492113" y="199691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020751" y="199691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548436" y="199691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077073" y="199691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  <p:grpSp>
        <p:nvGrpSpPr>
          <p:cNvPr id="46" name="c1-card-2"/>
          <p:cNvGrpSpPr/>
          <p:nvPr/>
        </p:nvGrpSpPr>
        <p:grpSpPr>
          <a:xfrm>
            <a:off x="533400" y="2314575"/>
            <a:ext cx="5842635" cy="2242185"/>
            <a:chOff x="533400" y="2314575"/>
            <a:chExt cx="5842635" cy="2242185"/>
          </a:xfrm>
        </p:grpSpPr>
        <p:sp>
          <p:nvSpPr>
            <p:cNvPr id="39" name="Rectangle 39"/>
            <p:cNvSpPr/>
            <p:nvPr/>
          </p:nvSpPr>
          <p:spPr>
            <a:xfrm>
              <a:off x="533400" y="2314575"/>
              <a:ext cx="5842635" cy="2242185"/>
            </a:xfrm>
            <a:prstGeom prst="roundRect">
              <a:avLst>
                <a:gd name="adj" fmla="val 59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42925" y="2447925"/>
              <a:ext cx="47625" cy="197548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81050" y="252412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71258" y="25598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反例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382078" y="2559368"/>
              <a:ext cx="22783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把位置 1 清空会发生什么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73430" y="2920365"/>
              <a:ext cx="5177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散列函数 h(K) = K % 10，四个关键词 1、21、31、51 的散列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地址都是 1，靠线性探查依次落在 1、2、3、4。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73430" y="3541395"/>
              <a:ext cx="51873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如果删除 1 时直接把位置 1 清空，再查找 21 就会从地址 1 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发，第一步就撞上空位，立刻判定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21 不在表中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。31 和 51 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样查不到。</a:t>
              </a:r>
            </a:p>
          </p:txBody>
        </p:sp>
      </p:grpSp>
      <p:grpSp>
        <p:nvGrpSpPr>
          <p:cNvPr id="52" name="c1-callout-3"/>
          <p:cNvGrpSpPr/>
          <p:nvPr/>
        </p:nvGrpSpPr>
        <p:grpSpPr>
          <a:xfrm>
            <a:off x="533400" y="4747260"/>
            <a:ext cx="5842635" cy="1282065"/>
            <a:chOff x="533400" y="4747260"/>
            <a:chExt cx="5842635" cy="1282065"/>
          </a:xfrm>
        </p:grpSpPr>
        <p:sp>
          <p:nvSpPr>
            <p:cNvPr id="47" name="Rectangle 47"/>
            <p:cNvSpPr/>
            <p:nvPr/>
          </p:nvSpPr>
          <p:spPr>
            <a:xfrm>
              <a:off x="533400" y="4747260"/>
              <a:ext cx="5842635" cy="1282065"/>
            </a:xfrm>
            <a:prstGeom prst="roundRect">
              <a:avLst>
                <a:gd name="adj" fmla="val 8915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5288282"/>
              <a:ext cx="200023" cy="200023"/>
              <a:chOff x="738188" y="5288282"/>
              <a:chExt cx="200023" cy="20002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528828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71538" y="53549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130" y="5145405"/>
              <a:ext cx="47967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查找算法用“遇到空位”作为失败的判据，所以任何一次清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空都可能把后面元素的探查路径切断。</a:t>
              </a:r>
            </a:p>
          </p:txBody>
        </p:sp>
      </p:grpSp>
      <p:grpSp>
        <p:nvGrpSpPr>
          <p:cNvPr id="59" name="c2-card-1"/>
          <p:cNvGrpSpPr/>
          <p:nvPr/>
        </p:nvGrpSpPr>
        <p:grpSpPr>
          <a:xfrm>
            <a:off x="6680835" y="1524000"/>
            <a:ext cx="4977765" cy="1621155"/>
            <a:chOff x="6680835" y="1524000"/>
            <a:chExt cx="4977765" cy="1621155"/>
          </a:xfrm>
        </p:grpSpPr>
        <p:sp>
          <p:nvSpPr>
            <p:cNvPr id="53" name="Rectangle 53"/>
            <p:cNvSpPr/>
            <p:nvPr/>
          </p:nvSpPr>
          <p:spPr>
            <a:xfrm>
              <a:off x="6680835" y="1524000"/>
              <a:ext cx="4977765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690360" y="165735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928485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014743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拉链法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671435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拉链法没有这个问题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920865" y="2129790"/>
              <a:ext cx="43014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拉链法的删除就是链表删除：改一个 next 指针再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free 掉结点。链表本身就是探查路径，删掉中间一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个结点，前后仍然连着。</a:t>
              </a:r>
            </a:p>
          </p:txBody>
        </p:sp>
      </p:grpSp>
      <p:grpSp>
        <p:nvGrpSpPr>
          <p:cNvPr id="73" name="c2-card-2"/>
          <p:cNvGrpSpPr/>
          <p:nvPr/>
        </p:nvGrpSpPr>
        <p:grpSpPr>
          <a:xfrm>
            <a:off x="6680835" y="3335655"/>
            <a:ext cx="4977765" cy="1720215"/>
            <a:chOff x="6680835" y="3335655"/>
            <a:chExt cx="4977765" cy="1720215"/>
          </a:xfrm>
        </p:grpSpPr>
        <p:sp>
          <p:nvSpPr>
            <p:cNvPr id="60" name="Rectangle 60"/>
            <p:cNvSpPr/>
            <p:nvPr/>
          </p:nvSpPr>
          <p:spPr>
            <a:xfrm>
              <a:off x="6680835" y="3335655"/>
              <a:ext cx="4977765" cy="1720215"/>
            </a:xfrm>
            <a:prstGeom prst="roundRect">
              <a:avLst>
                <a:gd name="adj" fmla="val 7752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890385" y="354520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972694" y="358092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闭散列法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776210" y="358044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三种方案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890385" y="3928110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952234" y="397040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191375" y="394144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懒惰删除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：只打标记，不真删。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6890385" y="4263390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952234" y="43056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191375" y="427672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实时删除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：真删，并把受影响的元素前移补位。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6890385" y="4598670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952234" y="46409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191375" y="461200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延迟删除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：平时打标记，定期批量重建。</a:t>
              </a:r>
            </a:p>
          </p:txBody>
        </p:sp>
      </p:grpSp>
      <p:grpSp>
        <p:nvGrpSpPr>
          <p:cNvPr id="80" name="c2-callout-3"/>
          <p:cNvGrpSpPr/>
          <p:nvPr/>
        </p:nvGrpSpPr>
        <p:grpSpPr>
          <a:xfrm>
            <a:off x="6680835" y="5246370"/>
            <a:ext cx="4977765" cy="782955"/>
            <a:chOff x="6680835" y="5246370"/>
            <a:chExt cx="4977765" cy="782955"/>
          </a:xfrm>
        </p:grpSpPr>
        <p:sp>
          <p:nvSpPr>
            <p:cNvPr id="74" name="Rectangle 74"/>
            <p:cNvSpPr/>
            <p:nvPr/>
          </p:nvSpPr>
          <p:spPr>
            <a:xfrm>
              <a:off x="6680835" y="5246370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6885623" y="5537835"/>
              <a:ext cx="200026" cy="200026"/>
              <a:chOff x="6885623" y="5537835"/>
              <a:chExt cx="200026" cy="200026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6885623" y="553783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6985635" y="560451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6974523" y="563784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9" name="TextBox 79"/>
            <p:cNvSpPr txBox="1"/>
            <p:nvPr/>
          </p:nvSpPr>
          <p:spPr>
            <a:xfrm>
              <a:off x="7187565" y="5394960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下面三页以线性探查法为例讨论，二次探查和双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重探查的道理相同，只是探查路径换了形状。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89635" cy="909257"/>
            <a:chOff x="520446" y="342900"/>
            <a:chExt cx="558963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散列表的删除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8963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方案 1 懒惰删除：打个标记就算删了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293495"/>
            <a:chOff x="533400" y="1524000"/>
            <a:chExt cx="5410200" cy="12934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93495"/>
            </a:xfrm>
            <a:prstGeom prst="roundRect">
              <a:avLst>
                <a:gd name="adj" fmla="val 103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2679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644" y="17635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懒惰删除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60588" y="1767364"/>
              <a:ext cx="131119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Lazy Deletion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72135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并不真正删除元素，而是把该位置的状态置为“已删除”。散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列表中每个位置有三种状态：空的、已占用的、已删除的。</a:t>
              </a:r>
            </a:p>
          </p:txBody>
        </p:sp>
      </p:grpSp>
      <p:grpSp>
        <p:nvGrpSpPr>
          <p:cNvPr id="34" name="c1-table-2"/>
          <p:cNvGrpSpPr/>
          <p:nvPr/>
        </p:nvGrpSpPr>
        <p:grpSpPr>
          <a:xfrm>
            <a:off x="533400" y="3002280"/>
            <a:ext cx="5410200" cy="1720215"/>
            <a:chOff x="533400" y="3002280"/>
            <a:chExt cx="5410200" cy="1720215"/>
          </a:xfrm>
        </p:grpSpPr>
        <p:sp>
          <p:nvSpPr>
            <p:cNvPr id="14" name="Rectangle 14"/>
            <p:cNvSpPr/>
            <p:nvPr/>
          </p:nvSpPr>
          <p:spPr>
            <a:xfrm>
              <a:off x="533400" y="3002280"/>
              <a:ext cx="5410200" cy="43053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7161" y="313372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位置状态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719578" y="313372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查找时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21733" y="313372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插入时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8746" y="356425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45589" y="356425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判定失败，停止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01084" y="356425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可以插入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85857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863340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8746" y="399383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已占用的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045589" y="3993832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比较关键词，继续往下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01084" y="399383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不能插入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2881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42925" y="4302442"/>
              <a:ext cx="1387792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8746" y="442436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已删除的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045589" y="4424362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当作已占用，跳过继续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101084" y="442436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可以插入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002280"/>
              <a:ext cx="5410200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935480" y="300228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3990975" y="300228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1" name="c1-callout-3"/>
          <p:cNvGrpSpPr/>
          <p:nvPr/>
        </p:nvGrpSpPr>
        <p:grpSpPr>
          <a:xfrm>
            <a:off x="533400" y="4908232"/>
            <a:ext cx="5410200" cy="756285"/>
            <a:chOff x="533400" y="4908232"/>
            <a:chExt cx="5410200" cy="756285"/>
          </a:xfrm>
        </p:grpSpPr>
        <p:sp>
          <p:nvSpPr>
            <p:cNvPr id="35" name="Rectangle 35"/>
            <p:cNvSpPr/>
            <p:nvPr/>
          </p:nvSpPr>
          <p:spPr>
            <a:xfrm>
              <a:off x="533400" y="4908232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38188" y="5186363"/>
              <a:ext cx="200026" cy="200025"/>
              <a:chOff x="738188" y="5186363"/>
              <a:chExt cx="200026" cy="200025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518636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77926" y="523081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12642" y="534193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511" y="5056346"/>
              <a:ext cx="436067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查找时把“已删除”当成已占用，探查路径就不会断；插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入时把它当成空的，空间就能复用。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6248400" y="1524000"/>
            <a:ext cx="5410200" cy="1564958"/>
            <a:chOff x="6248400" y="1524000"/>
            <a:chExt cx="5410200" cy="1564958"/>
          </a:xfrm>
        </p:grpSpPr>
        <p:sp>
          <p:nvSpPr>
            <p:cNvPr id="42" name="Rectangle 42"/>
            <p:cNvSpPr/>
            <p:nvPr/>
          </p:nvSpPr>
          <p:spPr>
            <a:xfrm>
              <a:off x="6248400" y="1524000"/>
              <a:ext cx="5410200" cy="1564958"/>
            </a:xfrm>
            <a:prstGeom prst="roundRect">
              <a:avLst>
                <a:gd name="adj" fmla="val 85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257925" y="1657350"/>
              <a:ext cx="47625" cy="129825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90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80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91744" y="176736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空位越来越少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83096" y="2119789"/>
              <a:ext cx="462216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删除并不能把位置真正变为空。大量删除和插入之后，“空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的”位置越来越少，每次不成功的查找都要走更长的路，最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坏时要走满整个表长 M。</a:t>
              </a:r>
            </a:p>
          </p:txBody>
        </p:sp>
      </p:grpSp>
      <p:grpSp>
        <p:nvGrpSpPr>
          <p:cNvPr id="80" name="c2-cells-2"/>
          <p:cNvGrpSpPr/>
          <p:nvPr/>
        </p:nvGrpSpPr>
        <p:grpSpPr>
          <a:xfrm>
            <a:off x="6242685" y="3273742"/>
            <a:ext cx="5415915" cy="622459"/>
            <a:chOff x="6242685" y="3273742"/>
            <a:chExt cx="5415915" cy="622459"/>
          </a:xfrm>
        </p:grpSpPr>
        <p:sp>
          <p:nvSpPr>
            <p:cNvPr id="49" name="TextBox 49"/>
            <p:cNvSpPr txBox="1"/>
            <p:nvPr/>
          </p:nvSpPr>
          <p:spPr>
            <a:xfrm>
              <a:off x="6242685" y="34075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散列表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808470" y="3273742"/>
              <a:ext cx="484822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958570" y="340756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7293292" y="3273742"/>
              <a:ext cx="484822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486929" y="34075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778115" y="3273742"/>
              <a:ext cx="484822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928215" y="340756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8263890" y="3273742"/>
              <a:ext cx="484822" cy="406718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413038" y="340756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8748712" y="3273742"/>
              <a:ext cx="484822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897860" y="340756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9233535" y="3273742"/>
              <a:ext cx="484822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9383635" y="340756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65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9718358" y="3273742"/>
              <a:ext cx="484822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868458" y="340756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66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10203180" y="3273742"/>
              <a:ext cx="484822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10353280" y="340756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10688955" y="3273742"/>
              <a:ext cx="484822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10881639" y="34075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11173778" y="3273742"/>
              <a:ext cx="484822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11322925" y="340756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016238" y="373427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501061" y="373427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985883" y="373427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470706" y="373427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955528" y="373427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441303" y="373427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926126" y="373427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0410948" y="373427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0895771" y="373427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380593" y="373427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  <p:grpSp>
        <p:nvGrpSpPr>
          <p:cNvPr id="86" name="c2-card-3"/>
          <p:cNvGrpSpPr/>
          <p:nvPr/>
        </p:nvGrpSpPr>
        <p:grpSpPr>
          <a:xfrm>
            <a:off x="6248400" y="4047172"/>
            <a:ext cx="5410200" cy="1617345"/>
            <a:chOff x="6248400" y="4047172"/>
            <a:chExt cx="5410200" cy="1617345"/>
          </a:xfrm>
        </p:grpSpPr>
        <p:sp>
          <p:nvSpPr>
            <p:cNvPr id="81" name="Rectangle 81"/>
            <p:cNvSpPr/>
            <p:nvPr/>
          </p:nvSpPr>
          <p:spPr>
            <a:xfrm>
              <a:off x="6248400" y="4047172"/>
              <a:ext cx="5410200" cy="1617345"/>
            </a:xfrm>
            <a:prstGeom prst="roundRect">
              <a:avLst>
                <a:gd name="adj" fmla="val 8245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2" name="Rectangle 82"/>
            <p:cNvSpPr/>
            <p:nvPr/>
          </p:nvSpPr>
          <p:spPr>
            <a:xfrm>
              <a:off x="6452235" y="4251008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6538493" y="428672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算一遍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7195566" y="4290536"/>
              <a:ext cx="17836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删除 33 后再查找 31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6444996" y="4642009"/>
              <a:ext cx="469790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h(31) = 1。位置 1 到 9 全被占用或标记为已删除，绕回位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置 0 也被占用，要探查 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10 次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（正好等于表长 M）才能断定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31 不在表中。</a:t>
              </a:r>
            </a:p>
          </p:txBody>
        </p:sp>
      </p:grpSp>
      <p:grpSp>
        <p:nvGrpSpPr>
          <p:cNvPr id="92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87" name="Rectangle 87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90" name="Group 90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9" name="Freeform 89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91" name="TextBox 91"/>
            <p:cNvSpPr txBox="1"/>
            <p:nvPr/>
          </p:nvSpPr>
          <p:spPr>
            <a:xfrm>
              <a:off x="1040511" y="6004084"/>
              <a:ext cx="7059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懒惰删除把删除做成了 O(1)，代价是查找不成功的开销会随着删除次数一路变差。</a:t>
              </a:r>
            </a:p>
          </p:txBody>
        </p:sp>
      </p:grpSp>
      <p:grpSp>
        <p:nvGrpSpPr>
          <p:cNvPr id="9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3" name="TextBox 93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19478" cy="909257"/>
            <a:chOff x="520446" y="342900"/>
            <a:chExt cx="661947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散列表的删除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1947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方案 2 实时删除：谁的路被切断，谁就前移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9770678" cy="264033"/>
            <a:chOff x="526542" y="1545907"/>
            <a:chExt cx="977067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97706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删除 T[j] 后考察位置 j 后面的每个元素 T[i]，令 r = h(T[i])。只要清空 j 会挡住从 r 走到 i 的路，就把 T[i] 前移到 j。</a:t>
              </a:r>
            </a:p>
          </p:txBody>
        </p:sp>
      </p:grpSp>
      <p:grpSp>
        <p:nvGrpSpPr>
          <p:cNvPr id="46" name="c1-cells-1"/>
          <p:cNvGrpSpPr/>
          <p:nvPr/>
        </p:nvGrpSpPr>
        <p:grpSpPr>
          <a:xfrm>
            <a:off x="528447" y="1963579"/>
            <a:ext cx="5632323" cy="813435"/>
            <a:chOff x="528447" y="1963579"/>
            <a:chExt cx="5632323" cy="813435"/>
          </a:xfrm>
        </p:grpSpPr>
        <p:sp>
          <p:nvSpPr>
            <p:cNvPr id="9" name="TextBox 9"/>
            <p:cNvSpPr txBox="1"/>
            <p:nvPr/>
          </p:nvSpPr>
          <p:spPr>
            <a:xfrm>
              <a:off x="528447" y="232267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散列表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40130" y="2205038"/>
              <a:ext cx="51244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15211" y="232267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552575" y="2205038"/>
              <a:ext cx="512445" cy="3562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764798" y="232267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064068" y="2205038"/>
              <a:ext cx="51244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277243" y="232267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576512" y="2205038"/>
              <a:ext cx="512445" cy="35623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750641" y="232267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088005" y="2205038"/>
              <a:ext cx="51244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263086" y="232267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3600450" y="2205038"/>
              <a:ext cx="51244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774579" y="232267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111942" y="2205038"/>
              <a:ext cx="512445" cy="3562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287024" y="232267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61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624388" y="2205038"/>
              <a:ext cx="51244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798516" y="232267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135880" y="2205038"/>
              <a:ext cx="51244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349055" y="232267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648325" y="2205038"/>
              <a:ext cx="51244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822454" y="232267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261233" y="26150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772726" y="26150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285171" y="26150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796663" y="26150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309108" y="26150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820601" y="26150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333046" y="26150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844538" y="26150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356983" y="26150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868476" y="26150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771208" y="1963579"/>
              <a:ext cx="7327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1769745" y="210978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809634" y="1963579"/>
              <a:ext cx="4429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2793682" y="210978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4346016" y="1963579"/>
              <a:ext cx="4429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45" name="Freeform 45"/>
            <p:cNvSpPr/>
            <p:nvPr/>
          </p:nvSpPr>
          <p:spPr>
            <a:xfrm>
              <a:off x="4330065" y="210978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</p:grpSp>
      <p:grpSp>
        <p:nvGrpSpPr>
          <p:cNvPr id="53" name="c1-card-2"/>
          <p:cNvGrpSpPr/>
          <p:nvPr/>
        </p:nvGrpSpPr>
        <p:grpSpPr>
          <a:xfrm>
            <a:off x="533400" y="2907030"/>
            <a:ext cx="5626418" cy="1403032"/>
            <a:chOff x="533400" y="2907030"/>
            <a:chExt cx="5626418" cy="1403032"/>
          </a:xfrm>
        </p:grpSpPr>
        <p:sp>
          <p:nvSpPr>
            <p:cNvPr id="47" name="Rectangle 47"/>
            <p:cNvSpPr/>
            <p:nvPr/>
          </p:nvSpPr>
          <p:spPr>
            <a:xfrm>
              <a:off x="533400" y="2907030"/>
              <a:ext cx="5626418" cy="1403032"/>
            </a:xfrm>
            <a:prstGeom prst="roundRect">
              <a:avLst>
                <a:gd name="adj" fmla="val 95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542925" y="3040380"/>
              <a:ext cx="47625" cy="113633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752475" y="3088005"/>
              <a:ext cx="569595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41519" y="3120866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情况 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429893" y="3127534"/>
              <a:ext cx="26906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 T[3] = 33，考察 T[6] = 61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45998" y="3443764"/>
              <a:ext cx="4987290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= h(61) = 1。查找 61 要从 1 出发走 1、2、3、4、5、6，正好经过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 = 3。位置 3 一旦清空，查找 61 会在这里判定失败。所以必须把 61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前移到位置 3。</a:t>
              </a:r>
            </a:p>
          </p:txBody>
        </p:sp>
      </p:grpSp>
      <p:grpSp>
        <p:nvGrpSpPr>
          <p:cNvPr id="59" name="c1-callout-3"/>
          <p:cNvGrpSpPr/>
          <p:nvPr/>
        </p:nvGrpSpPr>
        <p:grpSpPr>
          <a:xfrm>
            <a:off x="533400" y="4474845"/>
            <a:ext cx="5626418" cy="1154430"/>
            <a:chOff x="533400" y="4474845"/>
            <a:chExt cx="5626418" cy="1154430"/>
          </a:xfrm>
        </p:grpSpPr>
        <p:sp>
          <p:nvSpPr>
            <p:cNvPr id="54" name="Rectangle 54"/>
            <p:cNvSpPr/>
            <p:nvPr/>
          </p:nvSpPr>
          <p:spPr>
            <a:xfrm>
              <a:off x="533400" y="4474845"/>
              <a:ext cx="5626418" cy="1154430"/>
            </a:xfrm>
            <a:prstGeom prst="roundRect">
              <a:avLst>
                <a:gd name="adj" fmla="val 9901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38188" y="4952050"/>
              <a:ext cx="200023" cy="200023"/>
              <a:chOff x="738188" y="4952050"/>
              <a:chExt cx="200023" cy="200023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495205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71538" y="50187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1273" y="4963001"/>
              <a:ext cx="46051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判据只有一句话：j 是否落在从 r 走到 i 的那段探查路径上。</a:t>
              </a:r>
            </a:p>
          </p:txBody>
        </p:sp>
      </p:grpSp>
      <p:grpSp>
        <p:nvGrpSpPr>
          <p:cNvPr id="104" name="c2-table-1"/>
          <p:cNvGrpSpPr/>
          <p:nvPr/>
        </p:nvGrpSpPr>
        <p:grpSpPr>
          <a:xfrm>
            <a:off x="6459665" y="1928812"/>
            <a:ext cx="5198935" cy="2170462"/>
            <a:chOff x="6459665" y="1928812"/>
            <a:chExt cx="5198935" cy="2170462"/>
          </a:xfrm>
        </p:grpSpPr>
        <p:sp>
          <p:nvSpPr>
            <p:cNvPr id="60" name="Rectangle 60"/>
            <p:cNvSpPr/>
            <p:nvPr/>
          </p:nvSpPr>
          <p:spPr>
            <a:xfrm>
              <a:off x="6464618" y="1928812"/>
              <a:ext cx="5193982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681788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情况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457646" y="204597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099133" y="2045970"/>
              <a:ext cx="55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722068" y="2045970"/>
              <a:ext cx="55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448419" y="2045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下标关系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747629" y="2045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要前移吗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474142" y="2319338"/>
              <a:ext cx="707708" cy="36195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559296" y="242697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287006" y="242697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909941" y="242697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532876" y="242697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156764" y="2426970"/>
              <a:ext cx="4983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&lt; j &lt; i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0506456" y="242697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要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6464618" y="268700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6464618" y="2691765"/>
              <a:ext cx="519398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559296" y="280892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287006" y="2808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909941" y="2808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532876" y="2808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9156764" y="2808923"/>
              <a:ext cx="4983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 &lt; r ≤ i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0506456" y="280892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不要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6464618" y="306800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6559296" y="318992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7287006" y="3189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7909941" y="3189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8532876" y="3189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9156764" y="3189923"/>
              <a:ext cx="4983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≤ i &lt; j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0506456" y="318992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不要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6464618" y="344900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6464618" y="3453765"/>
              <a:ext cx="519398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6559296" y="357187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7287006" y="357187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7909941" y="357187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8532876" y="357187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9156764" y="3571875"/>
              <a:ext cx="4983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&lt; j &lt; r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10506456" y="357187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不要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6464618" y="1928812"/>
              <a:ext cx="5193982" cy="1906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8" name="Rectangle 98"/>
            <p:cNvSpPr/>
            <p:nvPr/>
          </p:nvSpPr>
          <p:spPr>
            <a:xfrm>
              <a:off x="7187565" y="192881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7810500" y="192881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8433435" y="192881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9057322" y="192881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2" name="Rectangle 102"/>
            <p:cNvSpPr/>
            <p:nvPr/>
          </p:nvSpPr>
          <p:spPr>
            <a:xfrm>
              <a:off x="10407015" y="192881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6459665" y="3908584"/>
              <a:ext cx="16154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源课件的四种情况，M = 10</a:t>
              </a:r>
            </a:p>
          </p:txBody>
        </p:sp>
      </p:grpSp>
      <p:grpSp>
        <p:nvGrpSpPr>
          <p:cNvPr id="111" name="c2-card-2"/>
          <p:cNvGrpSpPr/>
          <p:nvPr/>
        </p:nvGrpSpPr>
        <p:grpSpPr>
          <a:xfrm>
            <a:off x="6464618" y="4226242"/>
            <a:ext cx="5193982" cy="1403032"/>
            <a:chOff x="6464618" y="4226242"/>
            <a:chExt cx="5193982" cy="1403032"/>
          </a:xfrm>
        </p:grpSpPr>
        <p:sp>
          <p:nvSpPr>
            <p:cNvPr id="105" name="Rectangle 105"/>
            <p:cNvSpPr/>
            <p:nvPr/>
          </p:nvSpPr>
          <p:spPr>
            <a:xfrm>
              <a:off x="6464618" y="4226242"/>
              <a:ext cx="5193982" cy="1403032"/>
            </a:xfrm>
            <a:prstGeom prst="roundRect">
              <a:avLst>
                <a:gd name="adj" fmla="val 95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6" name="Rectangle 106"/>
            <p:cNvSpPr/>
            <p:nvPr/>
          </p:nvSpPr>
          <p:spPr>
            <a:xfrm>
              <a:off x="6474142" y="4359592"/>
              <a:ext cx="47625" cy="113633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7" name="Rectangle 107"/>
            <p:cNvSpPr/>
            <p:nvPr/>
          </p:nvSpPr>
          <p:spPr>
            <a:xfrm>
              <a:off x="6683692" y="440721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6769214" y="444007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统一判据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7499223" y="4446746"/>
              <a:ext cx="14272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r 当起点量一量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6677216" y="4762976"/>
              <a:ext cx="4491482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r 出发沿探查方向走，先遇到 j 还是先遇到 i。先遇到 j 就说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明路被切断，必须前移；先遇到 i（情况 2、3、4）就说明 j 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本不在这段路上，不用动。</a:t>
              </a:r>
            </a:p>
          </p:txBody>
        </p:sp>
      </p:grpSp>
      <p:grpSp>
        <p:nvGrpSpPr>
          <p:cNvPr id="118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112" name="Rectangle 112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16" name="Group 116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113" name="Freeform 113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14" name="Freeform 114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15" name="Freeform 115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17" name="TextBox 117"/>
            <p:cNvSpPr txBox="1"/>
            <p:nvPr/>
          </p:nvSpPr>
          <p:spPr>
            <a:xfrm>
              <a:off x="1041273" y="6039326"/>
              <a:ext cx="67331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四种情况看起来在讨论下标大小，本质上只是同一个循环判据在四种绕圈方式下的样子。</a:t>
              </a:r>
            </a:p>
          </p:txBody>
        </p:sp>
      </p:grpSp>
      <p:grpSp>
        <p:nvGrpSpPr>
          <p:cNvPr id="1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9" name="TextBox 119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69817" cy="909257"/>
            <a:chOff x="520446" y="342900"/>
            <a:chExt cx="526981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散列表的删除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6981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实时删除的 C 实现：判据只有一行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2641282"/>
            <a:chOff x="533400" y="1524000"/>
            <a:chExt cx="5410200" cy="26412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641282"/>
            </a:xfrm>
            <a:prstGeom prst="roundRect">
              <a:avLst>
                <a:gd name="adj" fmla="val 360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表结构与查找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4289"/>
              <a:ext cx="2678303" cy="2141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18"/>
                </a:lnSpc>
              </a:pP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#define M 13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#define EMPTY 0        /* 空的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#define USED  1        /* 已占用 */</a:t>
              </a:r>
              <a:br/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key[M];</a:t>
              </a:r>
              <a:br/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st[M];     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实时删除只需两种状态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HSearch(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K) {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返回下标，失败返回 -1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= K % M, i, p;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0; i &lt; M; i++) {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 = (a + i) % M;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(st[p] == EMPTY)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-1;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(key[p] == K)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-1;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1-card-2"/>
          <p:cNvGrpSpPr/>
          <p:nvPr/>
        </p:nvGrpSpPr>
        <p:grpSpPr>
          <a:xfrm>
            <a:off x="533400" y="4340542"/>
            <a:ext cx="5410200" cy="1928812"/>
            <a:chOff x="533400" y="4340542"/>
            <a:chExt cx="5410200" cy="1928812"/>
          </a:xfrm>
        </p:grpSpPr>
        <p:sp>
          <p:nvSpPr>
            <p:cNvPr id="11" name="Rectangle 11"/>
            <p:cNvSpPr/>
            <p:nvPr/>
          </p:nvSpPr>
          <p:spPr>
            <a:xfrm>
              <a:off x="533400" y="4340542"/>
              <a:ext cx="5410200" cy="1928812"/>
            </a:xfrm>
            <a:prstGeom prst="roundRect">
              <a:avLst>
                <a:gd name="adj" fmla="val 6914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25805" y="4532948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09244" y="456723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关键一行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76197" y="4572952"/>
              <a:ext cx="14908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Blocked 在算什么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18947" y="490728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以 r 为起点，(j−r+M)%M 与 (i−r+M)%M 分别是 j、i 到 r 的循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环距离。前者更小，说明从 r 出发会先走到 j。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0090" y="5463064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表里没有“已删除”状态，所以查找逻辑和插入前完全一样</a:t>
              </a:r>
            </a:p>
          </p:txBody>
        </p:sp>
      </p:grpSp>
      <p:grpSp>
        <p:nvGrpSpPr>
          <p:cNvPr id="21" name="c2-code-1"/>
          <p:cNvGrpSpPr/>
          <p:nvPr/>
        </p:nvGrpSpPr>
        <p:grpSpPr>
          <a:xfrm>
            <a:off x="6248400" y="1524000"/>
            <a:ext cx="5410200" cy="2783205"/>
            <a:chOff x="6248400" y="1524000"/>
            <a:chExt cx="5410200" cy="2783205"/>
          </a:xfrm>
        </p:grpSpPr>
        <p:sp>
          <p:nvSpPr>
            <p:cNvPr id="18" name="Rectangle 18"/>
            <p:cNvSpPr/>
            <p:nvPr/>
          </p:nvSpPr>
          <p:spPr>
            <a:xfrm>
              <a:off x="6248400" y="1524000"/>
              <a:ext cx="5410200" cy="2783205"/>
            </a:xfrm>
            <a:prstGeom prst="roundRect">
              <a:avLst>
                <a:gd name="adj" fmla="val 342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76797" y="16759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判据与删除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76988" y="1934289"/>
              <a:ext cx="3044508" cy="22836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18"/>
                </a:lnSpc>
              </a:pP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清空 j 后，从 r 到 i 的探查路径是否被截断 */</a:t>
              </a:r>
              <a:br/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Blocked(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r,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i,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j) {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- r + M) % M &lt; (i - r + M) % M;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HashRemove(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j) {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T[j] 已确认要删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i, r;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st[j] = EMPTY;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(j+1) % M; st[i] == USED; i = (i+1) % M) {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r = key[i] % M;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(Blocked(r, i, j)) {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key[j] = key[i];  st[j] = USED;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st[i] = EMPTY;    j = i;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3" name="c2-card-2"/>
          <p:cNvGrpSpPr/>
          <p:nvPr/>
        </p:nvGrpSpPr>
        <p:grpSpPr>
          <a:xfrm>
            <a:off x="6248400" y="4482465"/>
            <a:ext cx="5410200" cy="1786890"/>
            <a:chOff x="6248400" y="4482465"/>
            <a:chExt cx="5410200" cy="1786890"/>
          </a:xfrm>
        </p:grpSpPr>
        <p:sp>
          <p:nvSpPr>
            <p:cNvPr id="22" name="Rectangle 22"/>
            <p:cNvSpPr/>
            <p:nvPr/>
          </p:nvSpPr>
          <p:spPr>
            <a:xfrm>
              <a:off x="6248400" y="4482465"/>
              <a:ext cx="5410200" cy="1786890"/>
            </a:xfrm>
            <a:prstGeom prst="roundRect">
              <a:avLst>
                <a:gd name="adj" fmla="val 7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57925" y="4615815"/>
              <a:ext cx="47625" cy="152019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8905" y="467487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70345" y="470916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062597" y="47148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源课件伪代码的两处问题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478905" y="5036820"/>
              <a:ext cx="192405" cy="19240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34583" y="50752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759702" y="5049202"/>
              <a:ext cx="450570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原课件写 </a:t>
              </a:r>
              <a:r>
                <a:rPr lang="en-US" sz="135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for(i=j+1; …)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，初值没有取模。j = M−1 时 i 的初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值就是 M，访问 T[M] 即数组越界，已改为 </a:t>
              </a:r>
              <a:r>
                <a:rPr lang="en-US" sz="135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(j+1)%M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478905" y="5596890"/>
              <a:ext cx="192405" cy="19240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34583" y="563527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59702" y="5608320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原课件把“探查路径被阻断”留作文字描述，本页的 </a:t>
              </a:r>
              <a:r>
                <a:rPr lang="en-US" sz="135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Blocked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把它写成可运行的判据。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39333" cy="909257"/>
            <a:chOff x="520446" y="342900"/>
            <a:chExt cx="60393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散列表的删除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393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例题：2020 级期末，实时删除关键词 9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1281067" cy="264033"/>
            <a:chOff x="526542" y="1545907"/>
            <a:chExt cx="1128106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12810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长度为 13、初始为空的散列表 HT[0..12]，散列函数 h(K) = K % 13。写出删除 9 的过程依次移动了哪些关键词，并画出删除后的散列表。</a:t>
              </a:r>
            </a:p>
          </p:txBody>
        </p:sp>
      </p:grpSp>
      <p:grpSp>
        <p:nvGrpSpPr>
          <p:cNvPr id="157" name="c1-cells-1"/>
          <p:cNvGrpSpPr/>
          <p:nvPr/>
        </p:nvGrpSpPr>
        <p:grpSpPr>
          <a:xfrm>
            <a:off x="528638" y="1928812"/>
            <a:ext cx="6064568" cy="2545081"/>
            <a:chOff x="528638" y="1928812"/>
            <a:chExt cx="6064568" cy="2545081"/>
          </a:xfrm>
        </p:grpSpPr>
        <p:sp>
          <p:nvSpPr>
            <p:cNvPr id="9" name="TextBox 9"/>
            <p:cNvSpPr txBox="1"/>
            <p:nvPr/>
          </p:nvSpPr>
          <p:spPr>
            <a:xfrm>
              <a:off x="528638" y="2050732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初始表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62990" y="192881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01619" y="205073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488758" y="192881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26434" y="205073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92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914525" y="192881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052201" y="205073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339340" y="192881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477016" y="205073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2765108" y="192881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902784" y="205073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3189922" y="192881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327599" y="205073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15690" y="192881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762756" y="2050732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040505" y="192881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188524" y="2050732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4466272" y="192881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13338" y="2050732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891088" y="192881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029716" y="205073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16855" y="192881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454531" y="205073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62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741670" y="1928812"/>
              <a:ext cx="425768" cy="35623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915283" y="2050732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67438" y="192881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05114" y="205073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241231" y="23388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666046" y="23388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091813" y="23388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516628" y="23388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942396" y="23388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367211" y="23388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792978" y="23388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218746" y="23388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43561" y="23388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069328" y="23388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463786" y="233886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889554" y="233886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314369" y="233886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28638" y="2733675"/>
              <a:ext cx="3599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清空 9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1062990" y="2611755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201619" y="2733675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65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1488758" y="2611755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626434" y="2733675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92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1914525" y="2611755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2052201" y="2733675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2339340" y="2611755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2477016" y="2733675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2765108" y="2611755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2902784" y="2733675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3189922" y="2611755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3327599" y="2733675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3615690" y="2611755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3762756" y="2733675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4040505" y="2611755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4188524" y="2733675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4466272" y="2611755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4613338" y="2733675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4891088" y="2611755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5029716" y="2733675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5316855" y="2611755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5454531" y="2733675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62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5741670" y="2611755"/>
              <a:ext cx="425768" cy="3562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5889688" y="2733675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6167438" y="2611755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305114" y="2733675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528638" y="3235642"/>
              <a:ext cx="4299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移动 35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1062990" y="311372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1201619" y="323564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65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1488758" y="311372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1626434" y="323564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92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1914525" y="3113722"/>
              <a:ext cx="425768" cy="3562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2061591" y="3235642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2339340" y="311372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2477016" y="323564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2765108" y="311372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2902784" y="323564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3189922" y="311372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3327599" y="323564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3615690" y="311372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3762756" y="3235642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4040505" y="311372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4188524" y="3235642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4466272" y="311372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4613338" y="3235642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4891088" y="311372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5029716" y="323564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5316855" y="311372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5454531" y="323564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62</a:t>
              </a:r>
            </a:p>
          </p:txBody>
        </p:sp>
        <p:sp>
          <p:nvSpPr>
            <p:cNvPr id="99" name="Rectangle 99"/>
            <p:cNvSpPr/>
            <p:nvPr/>
          </p:nvSpPr>
          <p:spPr>
            <a:xfrm>
              <a:off x="5741670" y="3113722"/>
              <a:ext cx="425768" cy="3562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00" name="TextBox 100"/>
            <p:cNvSpPr txBox="1"/>
            <p:nvPr/>
          </p:nvSpPr>
          <p:spPr>
            <a:xfrm>
              <a:off x="5880299" y="323564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6167438" y="3113722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6305114" y="323564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528638" y="3737610"/>
              <a:ext cx="4299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移动 40</a:t>
              </a:r>
            </a:p>
          </p:txBody>
        </p:sp>
        <p:sp>
          <p:nvSpPr>
            <p:cNvPr id="104" name="Rectangle 104"/>
            <p:cNvSpPr/>
            <p:nvPr/>
          </p:nvSpPr>
          <p:spPr>
            <a:xfrm>
              <a:off x="1062990" y="3615690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1201619" y="373761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65</a:t>
              </a:r>
            </a:p>
          </p:txBody>
        </p:sp>
        <p:sp>
          <p:nvSpPr>
            <p:cNvPr id="106" name="Rectangle 106"/>
            <p:cNvSpPr/>
            <p:nvPr/>
          </p:nvSpPr>
          <p:spPr>
            <a:xfrm>
              <a:off x="1488758" y="3615690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07" name="TextBox 107"/>
            <p:cNvSpPr txBox="1"/>
            <p:nvPr/>
          </p:nvSpPr>
          <p:spPr>
            <a:xfrm>
              <a:off x="1626434" y="373761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92</a:t>
              </a:r>
            </a:p>
          </p:txBody>
        </p:sp>
        <p:sp>
          <p:nvSpPr>
            <p:cNvPr id="108" name="Rectangle 108"/>
            <p:cNvSpPr/>
            <p:nvPr/>
          </p:nvSpPr>
          <p:spPr>
            <a:xfrm>
              <a:off x="1914525" y="3615690"/>
              <a:ext cx="425768" cy="3562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09" name="TextBox 109"/>
            <p:cNvSpPr txBox="1"/>
            <p:nvPr/>
          </p:nvSpPr>
          <p:spPr>
            <a:xfrm>
              <a:off x="2052201" y="373761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110" name="Rectangle 110"/>
            <p:cNvSpPr/>
            <p:nvPr/>
          </p:nvSpPr>
          <p:spPr>
            <a:xfrm>
              <a:off x="2339340" y="3615690"/>
              <a:ext cx="425768" cy="3562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2486406" y="3737610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112" name="Rectangle 112"/>
            <p:cNvSpPr/>
            <p:nvPr/>
          </p:nvSpPr>
          <p:spPr>
            <a:xfrm>
              <a:off x="2765108" y="3615690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3" name="TextBox 113"/>
            <p:cNvSpPr txBox="1"/>
            <p:nvPr/>
          </p:nvSpPr>
          <p:spPr>
            <a:xfrm>
              <a:off x="2902784" y="373761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114" name="Rectangle 114"/>
            <p:cNvSpPr/>
            <p:nvPr/>
          </p:nvSpPr>
          <p:spPr>
            <a:xfrm>
              <a:off x="3189922" y="3615690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5" name="TextBox 115"/>
            <p:cNvSpPr txBox="1"/>
            <p:nvPr/>
          </p:nvSpPr>
          <p:spPr>
            <a:xfrm>
              <a:off x="3327599" y="373761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</a:t>
              </a:r>
            </a:p>
          </p:txBody>
        </p:sp>
        <p:sp>
          <p:nvSpPr>
            <p:cNvPr id="116" name="Rectangle 116"/>
            <p:cNvSpPr/>
            <p:nvPr/>
          </p:nvSpPr>
          <p:spPr>
            <a:xfrm>
              <a:off x="3615690" y="3615690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7" name="TextBox 117"/>
            <p:cNvSpPr txBox="1"/>
            <p:nvPr/>
          </p:nvSpPr>
          <p:spPr>
            <a:xfrm>
              <a:off x="3762756" y="3737610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118" name="Rectangle 118"/>
            <p:cNvSpPr/>
            <p:nvPr/>
          </p:nvSpPr>
          <p:spPr>
            <a:xfrm>
              <a:off x="4040505" y="3615690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9" name="TextBox 119"/>
            <p:cNvSpPr txBox="1"/>
            <p:nvPr/>
          </p:nvSpPr>
          <p:spPr>
            <a:xfrm>
              <a:off x="4188524" y="3737610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120" name="Rectangle 120"/>
            <p:cNvSpPr/>
            <p:nvPr/>
          </p:nvSpPr>
          <p:spPr>
            <a:xfrm>
              <a:off x="4466272" y="3615690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21" name="TextBox 121"/>
            <p:cNvSpPr txBox="1"/>
            <p:nvPr/>
          </p:nvSpPr>
          <p:spPr>
            <a:xfrm>
              <a:off x="4613338" y="3737610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122" name="Rectangle 122"/>
            <p:cNvSpPr/>
            <p:nvPr/>
          </p:nvSpPr>
          <p:spPr>
            <a:xfrm>
              <a:off x="4891088" y="3615690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23" name="TextBox 123"/>
            <p:cNvSpPr txBox="1"/>
            <p:nvPr/>
          </p:nvSpPr>
          <p:spPr>
            <a:xfrm>
              <a:off x="5029716" y="373761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124" name="Rectangle 124"/>
            <p:cNvSpPr/>
            <p:nvPr/>
          </p:nvSpPr>
          <p:spPr>
            <a:xfrm>
              <a:off x="5316855" y="3615690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25" name="TextBox 125"/>
            <p:cNvSpPr txBox="1"/>
            <p:nvPr/>
          </p:nvSpPr>
          <p:spPr>
            <a:xfrm>
              <a:off x="5454531" y="373761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62</a:t>
              </a:r>
            </a:p>
          </p:txBody>
        </p:sp>
        <p:sp>
          <p:nvSpPr>
            <p:cNvPr id="126" name="Rectangle 126"/>
            <p:cNvSpPr/>
            <p:nvPr/>
          </p:nvSpPr>
          <p:spPr>
            <a:xfrm>
              <a:off x="5741670" y="3615690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27" name="TextBox 127"/>
            <p:cNvSpPr txBox="1"/>
            <p:nvPr/>
          </p:nvSpPr>
          <p:spPr>
            <a:xfrm>
              <a:off x="5880299" y="373761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  <p:sp>
          <p:nvSpPr>
            <p:cNvPr id="128" name="Rectangle 128"/>
            <p:cNvSpPr/>
            <p:nvPr/>
          </p:nvSpPr>
          <p:spPr>
            <a:xfrm>
              <a:off x="6167438" y="3615690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29" name="TextBox 129"/>
            <p:cNvSpPr txBox="1"/>
            <p:nvPr/>
          </p:nvSpPr>
          <p:spPr>
            <a:xfrm>
              <a:off x="6305114" y="373761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528638" y="4239578"/>
              <a:ext cx="4299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移动 15</a:t>
              </a:r>
            </a:p>
          </p:txBody>
        </p:sp>
        <p:sp>
          <p:nvSpPr>
            <p:cNvPr id="131" name="Rectangle 131"/>
            <p:cNvSpPr/>
            <p:nvPr/>
          </p:nvSpPr>
          <p:spPr>
            <a:xfrm>
              <a:off x="1062990" y="4117658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32" name="TextBox 132"/>
            <p:cNvSpPr txBox="1"/>
            <p:nvPr/>
          </p:nvSpPr>
          <p:spPr>
            <a:xfrm>
              <a:off x="1201619" y="4239578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65</a:t>
              </a:r>
            </a:p>
          </p:txBody>
        </p:sp>
        <p:sp>
          <p:nvSpPr>
            <p:cNvPr id="133" name="Rectangle 133"/>
            <p:cNvSpPr/>
            <p:nvPr/>
          </p:nvSpPr>
          <p:spPr>
            <a:xfrm>
              <a:off x="1488758" y="4117658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34" name="TextBox 134"/>
            <p:cNvSpPr txBox="1"/>
            <p:nvPr/>
          </p:nvSpPr>
          <p:spPr>
            <a:xfrm>
              <a:off x="1626434" y="4239578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92</a:t>
              </a:r>
            </a:p>
          </p:txBody>
        </p:sp>
        <p:sp>
          <p:nvSpPr>
            <p:cNvPr id="135" name="Rectangle 135"/>
            <p:cNvSpPr/>
            <p:nvPr/>
          </p:nvSpPr>
          <p:spPr>
            <a:xfrm>
              <a:off x="1914525" y="4117658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36" name="TextBox 136"/>
            <p:cNvSpPr txBox="1"/>
            <p:nvPr/>
          </p:nvSpPr>
          <p:spPr>
            <a:xfrm>
              <a:off x="2052201" y="4239578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137" name="Rectangle 137"/>
            <p:cNvSpPr/>
            <p:nvPr/>
          </p:nvSpPr>
          <p:spPr>
            <a:xfrm>
              <a:off x="2339340" y="4117658"/>
              <a:ext cx="425768" cy="3562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38" name="TextBox 138"/>
            <p:cNvSpPr txBox="1"/>
            <p:nvPr/>
          </p:nvSpPr>
          <p:spPr>
            <a:xfrm>
              <a:off x="2477016" y="4239578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139" name="Rectangle 139"/>
            <p:cNvSpPr/>
            <p:nvPr/>
          </p:nvSpPr>
          <p:spPr>
            <a:xfrm>
              <a:off x="2765108" y="4117658"/>
              <a:ext cx="425768" cy="3562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40" name="TextBox 140"/>
            <p:cNvSpPr txBox="1"/>
            <p:nvPr/>
          </p:nvSpPr>
          <p:spPr>
            <a:xfrm>
              <a:off x="2912174" y="4239578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141" name="Rectangle 141"/>
            <p:cNvSpPr/>
            <p:nvPr/>
          </p:nvSpPr>
          <p:spPr>
            <a:xfrm>
              <a:off x="3189922" y="4117658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42" name="TextBox 142"/>
            <p:cNvSpPr txBox="1"/>
            <p:nvPr/>
          </p:nvSpPr>
          <p:spPr>
            <a:xfrm>
              <a:off x="3327599" y="4239578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</a:t>
              </a:r>
            </a:p>
          </p:txBody>
        </p:sp>
        <p:sp>
          <p:nvSpPr>
            <p:cNvPr id="143" name="Rectangle 143"/>
            <p:cNvSpPr/>
            <p:nvPr/>
          </p:nvSpPr>
          <p:spPr>
            <a:xfrm>
              <a:off x="3615690" y="4117658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3762756" y="4239578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145" name="Rectangle 145"/>
            <p:cNvSpPr/>
            <p:nvPr/>
          </p:nvSpPr>
          <p:spPr>
            <a:xfrm>
              <a:off x="4040505" y="4117658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46" name="TextBox 146"/>
            <p:cNvSpPr txBox="1"/>
            <p:nvPr/>
          </p:nvSpPr>
          <p:spPr>
            <a:xfrm>
              <a:off x="4188524" y="4239578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147" name="Rectangle 147"/>
            <p:cNvSpPr/>
            <p:nvPr/>
          </p:nvSpPr>
          <p:spPr>
            <a:xfrm>
              <a:off x="4466272" y="4117658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48" name="TextBox 148"/>
            <p:cNvSpPr txBox="1"/>
            <p:nvPr/>
          </p:nvSpPr>
          <p:spPr>
            <a:xfrm>
              <a:off x="4613338" y="4239578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149" name="Rectangle 149"/>
            <p:cNvSpPr/>
            <p:nvPr/>
          </p:nvSpPr>
          <p:spPr>
            <a:xfrm>
              <a:off x="4891088" y="4117658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0" name="TextBox 150"/>
            <p:cNvSpPr txBox="1"/>
            <p:nvPr/>
          </p:nvSpPr>
          <p:spPr>
            <a:xfrm>
              <a:off x="5029716" y="4239578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151" name="Rectangle 151"/>
            <p:cNvSpPr/>
            <p:nvPr/>
          </p:nvSpPr>
          <p:spPr>
            <a:xfrm>
              <a:off x="5316855" y="4117658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2" name="TextBox 152"/>
            <p:cNvSpPr txBox="1"/>
            <p:nvPr/>
          </p:nvSpPr>
          <p:spPr>
            <a:xfrm>
              <a:off x="5454531" y="4239578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62</a:t>
              </a:r>
            </a:p>
          </p:txBody>
        </p:sp>
        <p:sp>
          <p:nvSpPr>
            <p:cNvPr id="153" name="Rectangle 153"/>
            <p:cNvSpPr/>
            <p:nvPr/>
          </p:nvSpPr>
          <p:spPr>
            <a:xfrm>
              <a:off x="5741670" y="4117658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4" name="TextBox 154"/>
            <p:cNvSpPr txBox="1"/>
            <p:nvPr/>
          </p:nvSpPr>
          <p:spPr>
            <a:xfrm>
              <a:off x="5880299" y="4239578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  <p:sp>
          <p:nvSpPr>
            <p:cNvPr id="155" name="Rectangle 155"/>
            <p:cNvSpPr/>
            <p:nvPr/>
          </p:nvSpPr>
          <p:spPr>
            <a:xfrm>
              <a:off x="6167438" y="4117658"/>
              <a:ext cx="425768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6" name="TextBox 156"/>
            <p:cNvSpPr txBox="1"/>
            <p:nvPr/>
          </p:nvSpPr>
          <p:spPr>
            <a:xfrm>
              <a:off x="6305114" y="4239578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  <p:grpSp>
        <p:nvGrpSpPr>
          <p:cNvPr id="163" name="c1-card-2"/>
          <p:cNvGrpSpPr/>
          <p:nvPr/>
        </p:nvGrpSpPr>
        <p:grpSpPr>
          <a:xfrm>
            <a:off x="533400" y="4638675"/>
            <a:ext cx="6059805" cy="1510665"/>
            <a:chOff x="533400" y="4638675"/>
            <a:chExt cx="6059805" cy="1510665"/>
          </a:xfrm>
        </p:grpSpPr>
        <p:sp>
          <p:nvSpPr>
            <p:cNvPr id="158" name="Rectangle 158"/>
            <p:cNvSpPr/>
            <p:nvPr/>
          </p:nvSpPr>
          <p:spPr>
            <a:xfrm>
              <a:off x="533400" y="4638675"/>
              <a:ext cx="6059805" cy="1510665"/>
            </a:xfrm>
            <a:prstGeom prst="roundRect">
              <a:avLst>
                <a:gd name="adj" fmla="val 8827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9" name="Rectangle 159"/>
            <p:cNvSpPr/>
            <p:nvPr/>
          </p:nvSpPr>
          <p:spPr>
            <a:xfrm>
              <a:off x="714375" y="481965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160" name="TextBox 160"/>
            <p:cNvSpPr txBox="1"/>
            <p:nvPr/>
          </p:nvSpPr>
          <p:spPr>
            <a:xfrm>
              <a:off x="807047" y="485251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读图</a:t>
              </a:r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1280350" y="4859179"/>
              <a:ext cx="16805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空位一路从 11 挪到 4</a:t>
              </a:r>
            </a:p>
          </p:txBody>
        </p:sp>
        <p:sp>
          <p:nvSpPr>
            <p:cNvPr id="162" name="TextBox 162"/>
            <p:cNvSpPr txBox="1"/>
            <p:nvPr/>
          </p:nvSpPr>
          <p:spPr>
            <a:xfrm>
              <a:off x="707898" y="5175409"/>
              <a:ext cx="5434330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每一行里浅色的那一格就是当前的空位 j。它先在 11，35 补上后挪到 2，40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补上后挪到 3，15 补上后停在 4。扫描到位置 6 发现本来就是空的，循环结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束。</a:t>
              </a:r>
            </a:p>
          </p:txBody>
        </p:sp>
      </p:grpSp>
      <p:grpSp>
        <p:nvGrpSpPr>
          <p:cNvPr id="213" name="c2-table-1"/>
          <p:cNvGrpSpPr/>
          <p:nvPr/>
        </p:nvGrpSpPr>
        <p:grpSpPr>
          <a:xfrm>
            <a:off x="6893052" y="1928812"/>
            <a:ext cx="4765548" cy="2933414"/>
            <a:chOff x="6893052" y="1928812"/>
            <a:chExt cx="4765548" cy="2933414"/>
          </a:xfrm>
        </p:grpSpPr>
        <p:sp>
          <p:nvSpPr>
            <p:cNvPr id="164" name="Rectangle 164"/>
            <p:cNvSpPr/>
            <p:nvPr/>
          </p:nvSpPr>
          <p:spPr>
            <a:xfrm>
              <a:off x="6898005" y="1928812"/>
              <a:ext cx="4760595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5" name="TextBox 165"/>
            <p:cNvSpPr txBox="1"/>
            <p:nvPr/>
          </p:nvSpPr>
          <p:spPr>
            <a:xfrm>
              <a:off x="7250456" y="2045970"/>
              <a:ext cx="55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166" name="TextBox 166"/>
            <p:cNvSpPr txBox="1"/>
            <p:nvPr/>
          </p:nvSpPr>
          <p:spPr>
            <a:xfrm>
              <a:off x="7981165" y="2045970"/>
              <a:ext cx="3082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T[i]</a:t>
              </a:r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8851153" y="204597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9330577" y="2045970"/>
              <a:ext cx="11337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探查路径经过 j 吗</a:t>
              </a:r>
            </a:p>
          </p:txBody>
        </p:sp>
        <p:sp>
          <p:nvSpPr>
            <p:cNvPr id="169" name="TextBox 169"/>
            <p:cNvSpPr txBox="1"/>
            <p:nvPr/>
          </p:nvSpPr>
          <p:spPr>
            <a:xfrm>
              <a:off x="10988040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动作</a:t>
              </a:r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6992684" y="2426970"/>
              <a:ext cx="500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12/0/1</a:t>
              </a:r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7753731" y="2426970"/>
              <a:ext cx="632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38/65/92</a:t>
              </a:r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8706231" y="2426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归位</a:t>
              </a:r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9277731" y="242697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不经过</a:t>
              </a:r>
            </a:p>
          </p:txBody>
        </p:sp>
        <p:sp>
          <p:nvSpPr>
            <p:cNvPr id="174" name="TextBox 174"/>
            <p:cNvSpPr txBox="1"/>
            <p:nvPr/>
          </p:nvSpPr>
          <p:spPr>
            <a:xfrm>
              <a:off x="10705528" y="2426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</a:t>
              </a:r>
            </a:p>
          </p:txBody>
        </p:sp>
        <p:sp>
          <p:nvSpPr>
            <p:cNvPr id="175" name="Rectangle 175"/>
            <p:cNvSpPr/>
            <p:nvPr/>
          </p:nvSpPr>
          <p:spPr>
            <a:xfrm>
              <a:off x="6898005" y="268700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6" name="Rectangle 176"/>
            <p:cNvSpPr/>
            <p:nvPr/>
          </p:nvSpPr>
          <p:spPr>
            <a:xfrm>
              <a:off x="6898005" y="2691765"/>
              <a:ext cx="476059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7" name="TextBox 177"/>
            <p:cNvSpPr txBox="1"/>
            <p:nvPr/>
          </p:nvSpPr>
          <p:spPr>
            <a:xfrm>
              <a:off x="6992684" y="280892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8" name="TextBox 178"/>
            <p:cNvSpPr txBox="1"/>
            <p:nvPr/>
          </p:nvSpPr>
          <p:spPr>
            <a:xfrm>
              <a:off x="7753731" y="2808923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  <p:sp>
          <p:nvSpPr>
            <p:cNvPr id="179" name="TextBox 179"/>
            <p:cNvSpPr txBox="1"/>
            <p:nvPr/>
          </p:nvSpPr>
          <p:spPr>
            <a:xfrm>
              <a:off x="8706231" y="2808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80" name="TextBox 180"/>
            <p:cNvSpPr txBox="1"/>
            <p:nvPr/>
          </p:nvSpPr>
          <p:spPr>
            <a:xfrm>
              <a:off x="9277731" y="2808923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9→…→2，经过 j=11</a:t>
              </a:r>
            </a:p>
          </p:txBody>
        </p:sp>
        <p:sp>
          <p:nvSpPr>
            <p:cNvPr id="181" name="TextBox 181"/>
            <p:cNvSpPr txBox="1"/>
            <p:nvPr/>
          </p:nvSpPr>
          <p:spPr>
            <a:xfrm>
              <a:off x="10705528" y="280892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前移</a:t>
              </a:r>
            </a:p>
          </p:txBody>
        </p:sp>
        <p:sp>
          <p:nvSpPr>
            <p:cNvPr id="182" name="Rectangle 182"/>
            <p:cNvSpPr/>
            <p:nvPr/>
          </p:nvSpPr>
          <p:spPr>
            <a:xfrm>
              <a:off x="6898005" y="306800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3" name="TextBox 183"/>
            <p:cNvSpPr txBox="1"/>
            <p:nvPr/>
          </p:nvSpPr>
          <p:spPr>
            <a:xfrm>
              <a:off x="6992684" y="318992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7753731" y="3189923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185" name="TextBox 185"/>
            <p:cNvSpPr txBox="1"/>
            <p:nvPr/>
          </p:nvSpPr>
          <p:spPr>
            <a:xfrm>
              <a:off x="8706231" y="3189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6" name="TextBox 186"/>
            <p:cNvSpPr txBox="1"/>
            <p:nvPr/>
          </p:nvSpPr>
          <p:spPr>
            <a:xfrm>
              <a:off x="9277731" y="3189923"/>
              <a:ext cx="10637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1→2→3，经过 j=2</a:t>
              </a:r>
            </a:p>
          </p:txBody>
        </p:sp>
        <p:sp>
          <p:nvSpPr>
            <p:cNvPr id="187" name="TextBox 187"/>
            <p:cNvSpPr txBox="1"/>
            <p:nvPr/>
          </p:nvSpPr>
          <p:spPr>
            <a:xfrm>
              <a:off x="10705528" y="318992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前移</a:t>
              </a:r>
            </a:p>
          </p:txBody>
        </p:sp>
        <p:sp>
          <p:nvSpPr>
            <p:cNvPr id="188" name="Rectangle 188"/>
            <p:cNvSpPr/>
            <p:nvPr/>
          </p:nvSpPr>
          <p:spPr>
            <a:xfrm>
              <a:off x="6898005" y="344900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9" name="Rectangle 189"/>
            <p:cNvSpPr/>
            <p:nvPr/>
          </p:nvSpPr>
          <p:spPr>
            <a:xfrm>
              <a:off x="6898005" y="3453765"/>
              <a:ext cx="476059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0" name="TextBox 190"/>
            <p:cNvSpPr txBox="1"/>
            <p:nvPr/>
          </p:nvSpPr>
          <p:spPr>
            <a:xfrm>
              <a:off x="6992684" y="357187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91" name="TextBox 191"/>
            <p:cNvSpPr txBox="1"/>
            <p:nvPr/>
          </p:nvSpPr>
          <p:spPr>
            <a:xfrm>
              <a:off x="7753731" y="3571875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192" name="TextBox 192"/>
            <p:cNvSpPr txBox="1"/>
            <p:nvPr/>
          </p:nvSpPr>
          <p:spPr>
            <a:xfrm>
              <a:off x="8706231" y="357187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3" name="TextBox 193"/>
            <p:cNvSpPr txBox="1"/>
            <p:nvPr/>
          </p:nvSpPr>
          <p:spPr>
            <a:xfrm>
              <a:off x="9277731" y="3571875"/>
              <a:ext cx="10637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2→3→4，经过 j=3</a:t>
              </a:r>
            </a:p>
          </p:txBody>
        </p:sp>
        <p:sp>
          <p:nvSpPr>
            <p:cNvPr id="194" name="TextBox 194"/>
            <p:cNvSpPr txBox="1"/>
            <p:nvPr/>
          </p:nvSpPr>
          <p:spPr>
            <a:xfrm>
              <a:off x="10705528" y="357187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前移</a:t>
              </a:r>
            </a:p>
          </p:txBody>
        </p:sp>
        <p:sp>
          <p:nvSpPr>
            <p:cNvPr id="195" name="Rectangle 195"/>
            <p:cNvSpPr/>
            <p:nvPr/>
          </p:nvSpPr>
          <p:spPr>
            <a:xfrm>
              <a:off x="6898005" y="383095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6" name="TextBox 196"/>
            <p:cNvSpPr txBox="1"/>
            <p:nvPr/>
          </p:nvSpPr>
          <p:spPr>
            <a:xfrm>
              <a:off x="6992684" y="395287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97" name="TextBox 197"/>
            <p:cNvSpPr txBox="1"/>
            <p:nvPr/>
          </p:nvSpPr>
          <p:spPr>
            <a:xfrm>
              <a:off x="7753731" y="3952875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</a:t>
              </a:r>
            </a:p>
          </p:txBody>
        </p:sp>
        <p:sp>
          <p:nvSpPr>
            <p:cNvPr id="198" name="TextBox 198"/>
            <p:cNvSpPr txBox="1"/>
            <p:nvPr/>
          </p:nvSpPr>
          <p:spPr>
            <a:xfrm>
              <a:off x="8706231" y="395287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99" name="TextBox 199"/>
            <p:cNvSpPr txBox="1"/>
            <p:nvPr/>
          </p:nvSpPr>
          <p:spPr>
            <a:xfrm>
              <a:off x="9277731" y="395287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不经过</a:t>
              </a:r>
            </a:p>
          </p:txBody>
        </p:sp>
        <p:sp>
          <p:nvSpPr>
            <p:cNvPr id="200" name="TextBox 200"/>
            <p:cNvSpPr txBox="1"/>
            <p:nvPr/>
          </p:nvSpPr>
          <p:spPr>
            <a:xfrm>
              <a:off x="10705528" y="395287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</a:t>
              </a:r>
            </a:p>
          </p:txBody>
        </p:sp>
        <p:sp>
          <p:nvSpPr>
            <p:cNvPr id="201" name="Rectangle 201"/>
            <p:cNvSpPr/>
            <p:nvPr/>
          </p:nvSpPr>
          <p:spPr>
            <a:xfrm>
              <a:off x="6898005" y="421195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2" name="Rectangle 202"/>
            <p:cNvSpPr/>
            <p:nvPr/>
          </p:nvSpPr>
          <p:spPr>
            <a:xfrm>
              <a:off x="6898005" y="4216718"/>
              <a:ext cx="476059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3" name="TextBox 203"/>
            <p:cNvSpPr txBox="1"/>
            <p:nvPr/>
          </p:nvSpPr>
          <p:spPr>
            <a:xfrm>
              <a:off x="6992684" y="433387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04" name="TextBox 204"/>
            <p:cNvSpPr txBox="1"/>
            <p:nvPr/>
          </p:nvSpPr>
          <p:spPr>
            <a:xfrm>
              <a:off x="7753731" y="4333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205" name="TextBox 205"/>
            <p:cNvSpPr txBox="1"/>
            <p:nvPr/>
          </p:nvSpPr>
          <p:spPr>
            <a:xfrm>
              <a:off x="9277731" y="433387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遇到空位</a:t>
              </a:r>
            </a:p>
          </p:txBody>
        </p:sp>
        <p:sp>
          <p:nvSpPr>
            <p:cNvPr id="206" name="TextBox 206"/>
            <p:cNvSpPr txBox="1"/>
            <p:nvPr/>
          </p:nvSpPr>
          <p:spPr>
            <a:xfrm>
              <a:off x="10705528" y="433387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结束</a:t>
              </a:r>
            </a:p>
          </p:txBody>
        </p:sp>
        <p:sp>
          <p:nvSpPr>
            <p:cNvPr id="207" name="Rectangle 207"/>
            <p:cNvSpPr/>
            <p:nvPr/>
          </p:nvSpPr>
          <p:spPr>
            <a:xfrm>
              <a:off x="6898005" y="1928812"/>
              <a:ext cx="4760595" cy="26698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8" name="Rectangle 208"/>
            <p:cNvSpPr/>
            <p:nvPr/>
          </p:nvSpPr>
          <p:spPr>
            <a:xfrm>
              <a:off x="7654290" y="1928812"/>
              <a:ext cx="9525" cy="2669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9" name="Rectangle 209"/>
            <p:cNvSpPr/>
            <p:nvPr/>
          </p:nvSpPr>
          <p:spPr>
            <a:xfrm>
              <a:off x="8606790" y="1928812"/>
              <a:ext cx="9525" cy="2669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0" name="Rectangle 210"/>
            <p:cNvSpPr/>
            <p:nvPr/>
          </p:nvSpPr>
          <p:spPr>
            <a:xfrm>
              <a:off x="9178290" y="1928812"/>
              <a:ext cx="9525" cy="2669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1" name="Rectangle 211"/>
            <p:cNvSpPr/>
            <p:nvPr/>
          </p:nvSpPr>
          <p:spPr>
            <a:xfrm>
              <a:off x="10606088" y="1928812"/>
              <a:ext cx="9525" cy="2669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2" name="TextBox 212"/>
            <p:cNvSpPr txBox="1"/>
            <p:nvPr/>
          </p:nvSpPr>
          <p:spPr>
            <a:xfrm>
              <a:off x="6893052" y="4671536"/>
              <a:ext cx="24267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 j = 11 的下一格开始逐个考察，M = 13</a:t>
              </a:r>
            </a:p>
          </p:txBody>
        </p:sp>
      </p:grpSp>
      <p:grpSp>
        <p:nvGrpSpPr>
          <p:cNvPr id="219" name="c2-card-2"/>
          <p:cNvGrpSpPr/>
          <p:nvPr/>
        </p:nvGrpSpPr>
        <p:grpSpPr>
          <a:xfrm>
            <a:off x="6898005" y="4988242"/>
            <a:ext cx="4760595" cy="1160145"/>
            <a:chOff x="6898005" y="4988242"/>
            <a:chExt cx="4760595" cy="1160145"/>
          </a:xfrm>
        </p:grpSpPr>
        <p:sp>
          <p:nvSpPr>
            <p:cNvPr id="214" name="Rectangle 214"/>
            <p:cNvSpPr/>
            <p:nvPr/>
          </p:nvSpPr>
          <p:spPr>
            <a:xfrm>
              <a:off x="6898005" y="4988242"/>
              <a:ext cx="4760595" cy="1160145"/>
            </a:xfrm>
            <a:prstGeom prst="roundRect">
              <a:avLst>
                <a:gd name="adj" fmla="val 11494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15" name="Rectangle 215"/>
            <p:cNvSpPr/>
            <p:nvPr/>
          </p:nvSpPr>
          <p:spPr>
            <a:xfrm>
              <a:off x="7078980" y="516921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216" name="TextBox 216"/>
            <p:cNvSpPr txBox="1"/>
            <p:nvPr/>
          </p:nvSpPr>
          <p:spPr>
            <a:xfrm>
              <a:off x="7170699" y="520207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答案</a:t>
              </a:r>
            </a:p>
          </p:txBody>
        </p:sp>
        <p:sp>
          <p:nvSpPr>
            <p:cNvPr id="217" name="TextBox 217"/>
            <p:cNvSpPr txBox="1"/>
            <p:nvPr/>
          </p:nvSpPr>
          <p:spPr>
            <a:xfrm>
              <a:off x="7644956" y="5209699"/>
              <a:ext cx="16981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依次移动 35、40、15</a:t>
              </a:r>
            </a:p>
          </p:txBody>
        </p:sp>
        <p:sp>
          <p:nvSpPr>
            <p:cNvPr id="218" name="TextBox 218"/>
            <p:cNvSpPr txBox="1"/>
            <p:nvPr/>
          </p:nvSpPr>
          <p:spPr>
            <a:xfrm>
              <a:off x="7072503" y="5525929"/>
              <a:ext cx="416636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最终表 0 到 5 为 65、92、40、15、空、70，9 到 12 为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22、62、35、38。删除后其余 9 个关键词全部仍能查到。</a:t>
              </a:r>
            </a:p>
          </p:txBody>
        </p:sp>
      </p:grpSp>
      <p:grpSp>
        <p:nvGrpSpPr>
          <p:cNvPr id="22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20" name="TextBox 220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221" name="TextBox 22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76197" cy="909257"/>
            <a:chOff x="520446" y="342900"/>
            <a:chExt cx="62761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散列表的删除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761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方案 3 延迟删除：平时打标记，定期重建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193982" cy="1226820"/>
            <a:chOff x="533400" y="1524000"/>
            <a:chExt cx="5193982" cy="12268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7344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延迟删除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14297" y="175641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懒惰删除加定期整理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平时采用懒惰删除，每隔一段时间执行一次真正的删除，把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标记为“已删除”的结点真正清空。</a:t>
              </a:r>
            </a:p>
          </p:txBody>
        </p:sp>
      </p:grpSp>
      <p:grpSp>
        <p:nvGrpSpPr>
          <p:cNvPr id="27" name="c1-steps-2"/>
          <p:cNvGrpSpPr/>
          <p:nvPr/>
        </p:nvGrpSpPr>
        <p:grpSpPr>
          <a:xfrm>
            <a:off x="533400" y="2935605"/>
            <a:ext cx="4646498" cy="1693069"/>
            <a:chOff x="533400" y="2935605"/>
            <a:chExt cx="4646498" cy="1693069"/>
          </a:xfrm>
        </p:grpSpPr>
        <p:sp>
          <p:nvSpPr>
            <p:cNvPr id="14" name="Rectangle 14"/>
            <p:cNvSpPr/>
            <p:nvPr/>
          </p:nvSpPr>
          <p:spPr>
            <a:xfrm>
              <a:off x="666750" y="3078480"/>
              <a:ext cx="19050" cy="1173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533400" y="293560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7024" y="30094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352234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7024" y="35961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410908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7024" y="41829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5642" y="296703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平时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785" y="3235166"/>
              <a:ext cx="24016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删除只改状态标记，操作代价 O(1)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5642" y="3553777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记账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6785" y="382190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顺便记录每个元素被访问的次数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5642" y="414147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重建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6785" y="4408646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清空所有已删除位置，再把元素按访问次数递减的顺序重新插入</a:t>
              </a:r>
            </a:p>
          </p:txBody>
        </p:sp>
      </p:grpSp>
      <p:grpSp>
        <p:nvGrpSpPr>
          <p:cNvPr id="33" name="c1-callout-3"/>
          <p:cNvGrpSpPr/>
          <p:nvPr/>
        </p:nvGrpSpPr>
        <p:grpSpPr>
          <a:xfrm>
            <a:off x="533400" y="4797742"/>
            <a:ext cx="5193982" cy="861060"/>
            <a:chOff x="533400" y="4797742"/>
            <a:chExt cx="5193982" cy="861060"/>
          </a:xfrm>
        </p:grpSpPr>
        <p:sp>
          <p:nvSpPr>
            <p:cNvPr id="28" name="Rectangle 28"/>
            <p:cNvSpPr/>
            <p:nvPr/>
          </p:nvSpPr>
          <p:spPr>
            <a:xfrm>
              <a:off x="533400" y="4797742"/>
              <a:ext cx="5193982" cy="861060"/>
            </a:xfrm>
            <a:prstGeom prst="roundRect">
              <a:avLst>
                <a:gd name="adj" fmla="val 13274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5128262"/>
              <a:ext cx="200023" cy="200023"/>
              <a:chOff x="738188" y="5128262"/>
              <a:chExt cx="200023" cy="200023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12826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71538" y="51949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892" y="5009198"/>
              <a:ext cx="42999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重建时先插入高频元素，它们就更可能落在自己的散列地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址上，整体平均查找长度随之下降。</a:t>
              </a:r>
            </a:p>
          </p:txBody>
        </p:sp>
      </p:grpSp>
      <p:grpSp>
        <p:nvGrpSpPr>
          <p:cNvPr id="60" name="c2-table-1"/>
          <p:cNvGrpSpPr/>
          <p:nvPr/>
        </p:nvGrpSpPr>
        <p:grpSpPr>
          <a:xfrm>
            <a:off x="6026848" y="1524000"/>
            <a:ext cx="5631752" cy="2302764"/>
            <a:chOff x="6026848" y="1524000"/>
            <a:chExt cx="5631752" cy="2302764"/>
          </a:xfrm>
        </p:grpSpPr>
        <p:sp>
          <p:nvSpPr>
            <p:cNvPr id="34" name="Rectangle 34"/>
            <p:cNvSpPr/>
            <p:nvPr/>
          </p:nvSpPr>
          <p:spPr>
            <a:xfrm>
              <a:off x="6032182" y="1524000"/>
              <a:ext cx="5626418" cy="40576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8147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方案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412749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删除代价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875789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查找代价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507421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适用场合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132195" y="205406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懒惰删除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144702" y="2054066"/>
              <a:ext cx="412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O(1)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495348" y="205406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随删除次数变差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070783" y="205406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删除少、实现要简单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032182" y="23307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032182" y="2335530"/>
              <a:ext cx="5626418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041708" y="2345055"/>
              <a:ext cx="993458" cy="58674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132195" y="25598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实时删除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144702" y="2459831"/>
              <a:ext cx="96443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 O(1)，最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坏 O(n)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495348" y="255984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始终和无删除时一样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070783" y="2459831"/>
              <a:ext cx="12915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删除频繁、要稳定性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032182" y="293655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132195" y="31656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延迟删除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144702" y="3065621"/>
              <a:ext cx="96443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平时 O(1)，重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 O(M)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495348" y="3065621"/>
              <a:ext cx="12915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两次重建之间逐渐变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070783" y="316563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允许离线整理的系统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032182" y="1524000"/>
              <a:ext cx="5626418" cy="202311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7039928" y="1524000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8390572" y="1524000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9966008" y="1524000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026848" y="3621405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三种删除方案的取舍</a:t>
              </a:r>
            </a:p>
          </p:txBody>
        </p:sp>
      </p:grpSp>
      <p:grpSp>
        <p:nvGrpSpPr>
          <p:cNvPr id="68" name="c2-card-2"/>
          <p:cNvGrpSpPr/>
          <p:nvPr/>
        </p:nvGrpSpPr>
        <p:grpSpPr>
          <a:xfrm>
            <a:off x="6032182" y="3960495"/>
            <a:ext cx="5626418" cy="1697355"/>
            <a:chOff x="6032182" y="3960495"/>
            <a:chExt cx="5626418" cy="1697355"/>
          </a:xfrm>
        </p:grpSpPr>
        <p:sp>
          <p:nvSpPr>
            <p:cNvPr id="61" name="Rectangle 61"/>
            <p:cNvSpPr/>
            <p:nvPr/>
          </p:nvSpPr>
          <p:spPr>
            <a:xfrm>
              <a:off x="6032182" y="3960495"/>
              <a:ext cx="5626418" cy="1697355"/>
            </a:xfrm>
            <a:prstGeom prst="roundRect">
              <a:avLst>
                <a:gd name="adj" fmla="val 785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041708" y="4093845"/>
              <a:ext cx="47625" cy="143065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262688" y="4152900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350127" y="418719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复杂度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979730" y="419290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实时删除的时间代价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255830" y="4527232"/>
              <a:ext cx="4954905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最坏情况下要遍历整个散列表，时间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O(n)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。可以证明，当装填因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子 α ≤ 2/3 时平均时间为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O(1)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256972" y="5083016"/>
              <a:ext cx="494004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证明见 Cormen 等《算法导论》第 4 版，以及 Pagh 等 2007、Thorup 2015 两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篇论文</a:t>
              </a:r>
            </a:p>
          </p:txBody>
        </p:sp>
      </p:grpSp>
      <p:grpSp>
        <p:nvGrpSpPr>
          <p:cNvPr id="75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9" name="Rectangle 69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1040892" y="6023610"/>
              <a:ext cx="76466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三种方案都只针对闭散列法。拉链法从头到尾不需要这一套，这是它在工程上流行的重要原因。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091178" cy="2997517"/>
            <a:chOff x="667512" y="1835468"/>
            <a:chExt cx="409117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性能分析与应用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49783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平均 O(1) 的代价是什么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3223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四种策略的 ASL 都只由装填因子决定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散列表换不掉查找树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散列思想在分布式、安全、过滤里到处都是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性能分析与应用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平均查找长度只取决于装填因子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179847" cy="264033"/>
            <a:chOff x="526542" y="1545907"/>
            <a:chExt cx="517984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1798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表长 M 和元素个数 n 都不单独出现，出现的只有它们的比值 α。</a:t>
              </a:r>
            </a:p>
          </p:txBody>
        </p:sp>
      </p:grpSp>
      <p:grpSp>
        <p:nvGrpSpPr>
          <p:cNvPr id="35" name="c1-table-1"/>
          <p:cNvGrpSpPr/>
          <p:nvPr/>
        </p:nvGrpSpPr>
        <p:grpSpPr>
          <a:xfrm>
            <a:off x="528447" y="1928812"/>
            <a:ext cx="5631371" cy="2263807"/>
            <a:chOff x="528447" y="1928812"/>
            <a:chExt cx="5631371" cy="2263807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626418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00087" y="20502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解决冲突的策略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870276" y="20502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查找成功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708462" y="205025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查找不成功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42925" y="2338388"/>
              <a:ext cx="178117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0555" y="24503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拉链法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430780" y="2450306"/>
              <a:ext cx="516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α/2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118610" y="2450306"/>
              <a:ext cx="516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α + e⁻ᵅ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72415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2728912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0555" y="28503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线性探查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430780" y="2850356"/>
              <a:ext cx="1097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½(1 + 1/(1−α))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18610" y="2850356"/>
              <a:ext cx="11799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½(1 + 1/(1−α)²)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12420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0555" y="32504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二次探查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430780" y="3250406"/>
              <a:ext cx="1383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(1/α)·ln(1/(1−α))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18610" y="325040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1/(1−α)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52425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3529012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0555" y="36504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双重探查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430780" y="3650456"/>
              <a:ext cx="1383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(1/α)·ln(1/(1−α))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118610" y="365045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1/(1−α)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1928812"/>
              <a:ext cx="5626418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2328862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4016692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28447" y="400192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四种冲突处理策略的平均查找长度</a:t>
              </a:r>
            </a:p>
          </p:txBody>
        </p:sp>
      </p:grpSp>
      <p:grpSp>
        <p:nvGrpSpPr>
          <p:cNvPr id="41" name="c1-card-2"/>
          <p:cNvGrpSpPr/>
          <p:nvPr/>
        </p:nvGrpSpPr>
        <p:grpSpPr>
          <a:xfrm>
            <a:off x="533400" y="4324350"/>
            <a:ext cx="5626418" cy="1960245"/>
            <a:chOff x="533400" y="4324350"/>
            <a:chExt cx="5626418" cy="1960245"/>
          </a:xfrm>
        </p:grpSpPr>
        <p:sp>
          <p:nvSpPr>
            <p:cNvPr id="36" name="Rectangle 36"/>
            <p:cNvSpPr/>
            <p:nvPr/>
          </p:nvSpPr>
          <p:spPr>
            <a:xfrm>
              <a:off x="533400" y="4324350"/>
              <a:ext cx="5626418" cy="1960245"/>
            </a:xfrm>
            <a:prstGeom prst="roundRect">
              <a:avLst>
                <a:gd name="adj" fmla="val 6803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20090" y="451104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12762" y="454390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前提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285684" y="454628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这些公式成立的条件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13232" y="4872037"/>
              <a:ext cx="500291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散列函数把关键词均匀独立地映射到各地址，且表中不存在被标记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为“已删除”的位置。真实数据只要有明显规律，实测值就会比公式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高。</a:t>
              </a:r>
            </a:p>
          </p:txBody>
        </p:sp>
      </p:grpSp>
      <p:grpSp>
        <p:nvGrpSpPr>
          <p:cNvPr id="87" name="c2-table-1"/>
          <p:cNvGrpSpPr/>
          <p:nvPr/>
        </p:nvGrpSpPr>
        <p:grpSpPr>
          <a:xfrm>
            <a:off x="6459665" y="1928812"/>
            <a:ext cx="5198935" cy="2463832"/>
            <a:chOff x="6459665" y="1928812"/>
            <a:chExt cx="5198935" cy="2463832"/>
          </a:xfrm>
        </p:grpSpPr>
        <p:sp>
          <p:nvSpPr>
            <p:cNvPr id="42" name="Rectangle 42"/>
            <p:cNvSpPr/>
            <p:nvPr/>
          </p:nvSpPr>
          <p:spPr>
            <a:xfrm>
              <a:off x="6464618" y="1928812"/>
              <a:ext cx="5193982" cy="60007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26834" y="21502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α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247966" y="2150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拉链成功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183321" y="2150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拉链失败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117724" y="2150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线性成功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053079" y="2150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线性失败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983163" y="2050256"/>
              <a:ext cx="52029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二次/双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重失败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561772" y="265033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185660" y="26503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120062" y="26503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055418" y="26503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1.17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989820" y="26503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1.39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925175" y="26503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1.33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464618" y="29241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464618" y="2928938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474142" y="2938462"/>
              <a:ext cx="60388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561772" y="305038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0.50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185660" y="30503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1.25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120062" y="30503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1.11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055418" y="30503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1.50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989820" y="30503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925175" y="30503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2.00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464618" y="332422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561772" y="345043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0.75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185660" y="34504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1.38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120062" y="34504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1.22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055418" y="34504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2.50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989820" y="34504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8.50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925175" y="34504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4.00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6464618" y="37242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6464618" y="3729038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561772" y="385048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0.90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185660" y="38504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1.45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120062" y="38504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1.31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055418" y="38504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5.50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9902190" y="3738562"/>
              <a:ext cx="916305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9989820" y="385048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50.50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0925175" y="385048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10.00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6464618" y="1928812"/>
              <a:ext cx="5193982" cy="22002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1" name="Rectangle 81"/>
            <p:cNvSpPr/>
            <p:nvPr/>
          </p:nvSpPr>
          <p:spPr>
            <a:xfrm>
              <a:off x="7083742" y="1928812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2" name="Rectangle 82"/>
            <p:cNvSpPr/>
            <p:nvPr/>
          </p:nvSpPr>
          <p:spPr>
            <a:xfrm>
              <a:off x="8018145" y="1928812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8953500" y="1928812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9887902" y="1928812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10823258" y="1928812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6459665" y="4201954"/>
              <a:ext cx="18371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代入具体的 α，单位是探查次数</a:t>
              </a:r>
            </a:p>
          </p:txBody>
        </p:sp>
      </p:grpSp>
      <p:grpSp>
        <p:nvGrpSpPr>
          <p:cNvPr id="97" name="c2-card-2"/>
          <p:cNvGrpSpPr/>
          <p:nvPr/>
        </p:nvGrpSpPr>
        <p:grpSpPr>
          <a:xfrm>
            <a:off x="6464618" y="4524375"/>
            <a:ext cx="5193982" cy="1760220"/>
            <a:chOff x="6464618" y="4524375"/>
            <a:chExt cx="5193982" cy="1760220"/>
          </a:xfrm>
        </p:grpSpPr>
        <p:sp>
          <p:nvSpPr>
            <p:cNvPr id="88" name="Rectangle 88"/>
            <p:cNvSpPr/>
            <p:nvPr/>
          </p:nvSpPr>
          <p:spPr>
            <a:xfrm>
              <a:off x="6464618" y="4524375"/>
              <a:ext cx="5193982" cy="1760220"/>
            </a:xfrm>
            <a:prstGeom prst="roundRect">
              <a:avLst>
                <a:gd name="adj" fmla="val 75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9" name="Rectangle 89"/>
            <p:cNvSpPr/>
            <p:nvPr/>
          </p:nvSpPr>
          <p:spPr>
            <a:xfrm>
              <a:off x="6474142" y="4657725"/>
              <a:ext cx="47625" cy="14935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6689408" y="4711065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6766827" y="4743926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源课件的结论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7753160" y="4746308"/>
              <a:ext cx="11309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 α = 0.5 时</a:t>
              </a:r>
            </a:p>
          </p:txBody>
        </p:sp>
        <p:sp>
          <p:nvSpPr>
            <p:cNvPr id="93" name="Ellipse 93"/>
            <p:cNvSpPr/>
            <p:nvPr/>
          </p:nvSpPr>
          <p:spPr>
            <a:xfrm>
              <a:off x="6697980" y="512826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6853999" y="5072062"/>
              <a:ext cx="43342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线性探查：成功平均 1.5 次探查，不成功与插入平均 2.5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次。</a:t>
              </a:r>
            </a:p>
          </p:txBody>
        </p:sp>
        <p:sp>
          <p:nvSpPr>
            <p:cNvPr id="95" name="Ellipse 95"/>
            <p:cNvSpPr/>
            <p:nvPr/>
          </p:nvSpPr>
          <p:spPr>
            <a:xfrm>
              <a:off x="6697980" y="5685472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6853999" y="5629275"/>
              <a:ext cx="44371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二次探查与双重探查：成功平均 1.39 次，不成功与插入平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均 2 次。</a:t>
              </a:r>
            </a:p>
          </p:txBody>
        </p:sp>
      </p:grpSp>
      <p:grpSp>
        <p:nvGrpSpPr>
          <p:cNvPr id="10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8" name="TextBox 98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性能分析与应用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装填因子过半，闭散列表就开始塌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bullets-1"/>
          <p:cNvGrpSpPr/>
          <p:nvPr/>
        </p:nvGrpSpPr>
        <p:grpSpPr>
          <a:xfrm>
            <a:off x="533400" y="1535430"/>
            <a:ext cx="5577459" cy="2834926"/>
            <a:chOff x="533400" y="1535430"/>
            <a:chExt cx="5577459" cy="2834926"/>
          </a:xfrm>
        </p:grpSpPr>
        <p:sp>
          <p:nvSpPr>
            <p:cNvPr id="7" name="Ellipse 7"/>
            <p:cNvSpPr/>
            <p:nvPr/>
          </p:nvSpPr>
          <p:spPr>
            <a:xfrm>
              <a:off x="533400" y="1535430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5249" y="1577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4390" y="154876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装填因子越大，平均探测次数越多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842010" y="1915478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26033" y="1842611"/>
              <a:ext cx="49066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四个公式里 α 都在分母的 1−α 里，α 趋近 1 时探查次数趋于无穷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138362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95249" y="2180654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34390" y="2151698"/>
              <a:ext cx="30946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装填因子超过 0.5 时性能急剧下降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42010" y="2518410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26033" y="2445544"/>
              <a:ext cx="508482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α 从 0.5 涨到 0.9，线性探查的失败探查次数从 2.5 涨到 50.5，是 20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倍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2976562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95249" y="3018854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4390" y="298989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拉链法几乎不受影响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42010" y="3356610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6033" y="3282791"/>
              <a:ext cx="49928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α 从 0.25 涨到 0.9，拉链法的成功探查次数只从 1.13 涨到 1.45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357949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5249" y="36217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4390" y="359283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线性探查的实测速度未必最差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42010" y="3959542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26033" y="3886676"/>
              <a:ext cx="502793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它的数据访问有很好的空间局部性，缓存命中率高，α 压得低时常常反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超</a:t>
              </a:r>
            </a:p>
          </p:txBody>
        </p:sp>
      </p:grpSp>
      <p:grpSp>
        <p:nvGrpSpPr>
          <p:cNvPr id="33" name="c1-callout-2"/>
          <p:cNvGrpSpPr/>
          <p:nvPr/>
        </p:nvGrpSpPr>
        <p:grpSpPr>
          <a:xfrm>
            <a:off x="533400" y="4511040"/>
            <a:ext cx="5842635" cy="1704975"/>
            <a:chOff x="533400" y="4511040"/>
            <a:chExt cx="5842635" cy="1704975"/>
          </a:xfrm>
        </p:grpSpPr>
        <p:sp>
          <p:nvSpPr>
            <p:cNvPr id="28" name="Rectangle 28"/>
            <p:cNvSpPr/>
            <p:nvPr/>
          </p:nvSpPr>
          <p:spPr>
            <a:xfrm>
              <a:off x="533400" y="4511040"/>
              <a:ext cx="5842635" cy="1704975"/>
            </a:xfrm>
            <a:prstGeom prst="roundRect">
              <a:avLst>
                <a:gd name="adj" fmla="val 6704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5263517"/>
              <a:ext cx="200023" cy="200023"/>
              <a:chOff x="738188" y="5263517"/>
              <a:chExt cx="200023" cy="200023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26351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71538" y="53301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130" y="5120640"/>
              <a:ext cx="47491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闭散列法必须留出空位，这是用空间换时间；拉链法的 α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可以大于 1，代价是每个元素多一个指针。</a:t>
              </a:r>
            </a:p>
          </p:txBody>
        </p:sp>
      </p:grpSp>
      <p:grpSp>
        <p:nvGrpSpPr>
          <p:cNvPr id="40" name="c2-card-1"/>
          <p:cNvGrpSpPr/>
          <p:nvPr/>
        </p:nvGrpSpPr>
        <p:grpSpPr>
          <a:xfrm>
            <a:off x="6680835" y="1524000"/>
            <a:ext cx="4977765" cy="1621155"/>
            <a:chOff x="6680835" y="1524000"/>
            <a:chExt cx="4977765" cy="1621155"/>
          </a:xfrm>
        </p:grpSpPr>
        <p:sp>
          <p:nvSpPr>
            <p:cNvPr id="34" name="Rectangle 34"/>
            <p:cNvSpPr/>
            <p:nvPr/>
          </p:nvSpPr>
          <p:spPr>
            <a:xfrm>
              <a:off x="6680835" y="1524000"/>
              <a:ext cx="4977765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690360" y="165735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928485" y="1733550"/>
              <a:ext cx="106965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002171" y="1769269"/>
              <a:ext cx="923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为什么是 1−α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04823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空位越少，聚集越长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20865" y="2129790"/>
              <a:ext cx="42252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装填因子 α 时剩余空位比例是 1−α。线性探查走到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下一个空位平均要跨过 1/(1−α) 量级的单元，α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 时这个量级是 10，α = 0.99 时是 100。</a:t>
              </a:r>
            </a:p>
          </p:txBody>
        </p:sp>
      </p:grpSp>
      <p:grpSp>
        <p:nvGrpSpPr>
          <p:cNvPr id="46" name="c2-card-2"/>
          <p:cNvGrpSpPr/>
          <p:nvPr/>
        </p:nvGrpSpPr>
        <p:grpSpPr>
          <a:xfrm>
            <a:off x="6680835" y="3335655"/>
            <a:ext cx="4977765" cy="1906905"/>
            <a:chOff x="6680835" y="3335655"/>
            <a:chExt cx="4977765" cy="1906905"/>
          </a:xfrm>
        </p:grpSpPr>
        <p:sp>
          <p:nvSpPr>
            <p:cNvPr id="41" name="Rectangle 41"/>
            <p:cNvSpPr/>
            <p:nvPr/>
          </p:nvSpPr>
          <p:spPr>
            <a:xfrm>
              <a:off x="6680835" y="3335655"/>
              <a:ext cx="4977765" cy="1906905"/>
            </a:xfrm>
            <a:prstGeom prst="roundRect">
              <a:avLst>
                <a:gd name="adj" fmla="val 6993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890385" y="354520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972694" y="358092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工程做法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776210" y="358044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到了阈值就扩容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882765" y="3941445"/>
              <a:ext cx="43586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 HashMap 在 α 超过 0.75 时把容量翻倍并全表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rehash；C++ unordered_map 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max_load_factor 默认是 1.0。扩容是 O(M) 的，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但摊还到每次插入上仍是 O(1)。</a:t>
              </a:r>
            </a:p>
          </p:txBody>
        </p:sp>
      </p:grpSp>
      <p:grpSp>
        <p:nvGrpSpPr>
          <p:cNvPr id="53" name="c2-callout-3"/>
          <p:cNvGrpSpPr/>
          <p:nvPr/>
        </p:nvGrpSpPr>
        <p:grpSpPr>
          <a:xfrm>
            <a:off x="6680835" y="5433060"/>
            <a:ext cx="4977765" cy="782955"/>
            <a:chOff x="6680835" y="5433060"/>
            <a:chExt cx="4977765" cy="782955"/>
          </a:xfrm>
        </p:grpSpPr>
        <p:sp>
          <p:nvSpPr>
            <p:cNvPr id="47" name="Rectangle 47"/>
            <p:cNvSpPr/>
            <p:nvPr/>
          </p:nvSpPr>
          <p:spPr>
            <a:xfrm>
              <a:off x="6680835" y="5433060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885623" y="5724525"/>
              <a:ext cx="200026" cy="200025"/>
              <a:chOff x="6885623" y="5724525"/>
              <a:chExt cx="200026" cy="2000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6885623" y="572452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925361" y="576897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960077" y="588010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7187565" y="5581650"/>
              <a:ext cx="40824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扩容之后所有元素的散列地址都会变，因为 M 变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了，必须重新计算，不能直接搬。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17666" cy="909257"/>
            <a:chOff x="520446" y="342900"/>
            <a:chExt cx="63176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性能分析与应用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176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有了 O(1) 的散列，为什么还留着查找树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2" name="c1-table-1"/>
          <p:cNvGrpSpPr/>
          <p:nvPr/>
        </p:nvGrpSpPr>
        <p:grpSpPr>
          <a:xfrm>
            <a:off x="533400" y="1524000"/>
            <a:ext cx="6059805" cy="3011805"/>
            <a:chOff x="533400" y="1524000"/>
            <a:chExt cx="6059805" cy="30118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3053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456372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能力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435858" y="165544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散列表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75148" y="165544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查找树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8746" y="2085022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按关键词精确查找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724150" y="1964055"/>
              <a:ext cx="1920240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819972" y="2085022"/>
              <a:ext cx="8191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平均 O(1)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759262" y="2085022"/>
              <a:ext cx="6330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O(logn)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37934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384108"/>
              <a:ext cx="605980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8746" y="251555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最坏情况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819972" y="2515552"/>
              <a:ext cx="430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O(n)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759262" y="2515552"/>
              <a:ext cx="6640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O(logn)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80987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8746" y="294608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空间开销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819972" y="294608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要留空位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759262" y="294608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结点紧凑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23945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3244215"/>
              <a:ext cx="605980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8746" y="3375660"/>
              <a:ext cx="11765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查最小或第 k 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819972" y="3375660"/>
              <a:ext cx="430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O(n)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759262" y="3375660"/>
              <a:ext cx="6640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O(logn)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66998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8746" y="380619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范围查询与排序输出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819972" y="380619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不支持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4663440" y="3684270"/>
              <a:ext cx="1920240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759262" y="380619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中根遍历即可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10051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105275"/>
              <a:ext cx="605980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8746" y="4235768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查找失败时的信息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819972" y="423576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只知道不在表中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759262" y="4235768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还能给出前驱和后继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1524000"/>
              <a:ext cx="6059805" cy="30108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2709862" y="1524000"/>
              <a:ext cx="9525" cy="3010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4649152" y="1524000"/>
              <a:ext cx="9525" cy="3010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8" name="c1-callout-2"/>
          <p:cNvGrpSpPr/>
          <p:nvPr/>
        </p:nvGrpSpPr>
        <p:grpSpPr>
          <a:xfrm>
            <a:off x="533400" y="4720590"/>
            <a:ext cx="6059805" cy="1380172"/>
            <a:chOff x="533400" y="4720590"/>
            <a:chExt cx="6059805" cy="1380172"/>
          </a:xfrm>
        </p:grpSpPr>
        <p:sp>
          <p:nvSpPr>
            <p:cNvPr id="43" name="Rectangle 43"/>
            <p:cNvSpPr/>
            <p:nvPr/>
          </p:nvSpPr>
          <p:spPr>
            <a:xfrm>
              <a:off x="533400" y="4720590"/>
              <a:ext cx="6059805" cy="1380172"/>
            </a:xfrm>
            <a:prstGeom prst="roundRect">
              <a:avLst>
                <a:gd name="adj" fmla="val 8282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5310190"/>
              <a:ext cx="200023" cy="200023"/>
              <a:chOff x="738188" y="5310190"/>
              <a:chExt cx="200023" cy="20002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53101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71538" y="53768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511" y="5180171"/>
              <a:ext cx="508203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散列表丢掉的是“序”。它把关键词打散成互不相关的地址，也就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不可能再回答任何与顺序有关的问题。</a:t>
              </a:r>
            </a:p>
          </p:txBody>
        </p:sp>
      </p:grpSp>
      <p:grpSp>
        <p:nvGrpSpPr>
          <p:cNvPr id="58" name="c2-card-1"/>
          <p:cNvGrpSpPr/>
          <p:nvPr/>
        </p:nvGrpSpPr>
        <p:grpSpPr>
          <a:xfrm>
            <a:off x="6898005" y="1524000"/>
            <a:ext cx="4760595" cy="1884998"/>
            <a:chOff x="6898005" y="1524000"/>
            <a:chExt cx="4760595" cy="1884998"/>
          </a:xfrm>
        </p:grpSpPr>
        <p:sp>
          <p:nvSpPr>
            <p:cNvPr id="49" name="Rectangle 49"/>
            <p:cNvSpPr/>
            <p:nvPr/>
          </p:nvSpPr>
          <p:spPr>
            <a:xfrm>
              <a:off x="6898005" y="1524000"/>
              <a:ext cx="4760595" cy="1884998"/>
            </a:xfrm>
            <a:prstGeom prst="roundRect">
              <a:avLst>
                <a:gd name="adj" fmla="val 7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907530" y="1657350"/>
              <a:ext cx="47625" cy="161829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7139940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230148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740396" y="176736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两者的分工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147560" y="2179320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304151" y="2119789"/>
              <a:ext cx="385572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只做精确查找、插入、删除，数据量大，用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散列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表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147560" y="2770823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304151" y="2711291"/>
              <a:ext cx="377456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需要范围查询、有序输出、找前驱后继、求第 k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小，用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查找树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65" name="c2-card-2"/>
          <p:cNvGrpSpPr/>
          <p:nvPr/>
        </p:nvGrpSpPr>
        <p:grpSpPr>
          <a:xfrm>
            <a:off x="6898005" y="3593782"/>
            <a:ext cx="4760595" cy="1564958"/>
            <a:chOff x="6898005" y="3593782"/>
            <a:chExt cx="4760595" cy="1564958"/>
          </a:xfrm>
        </p:grpSpPr>
        <p:sp>
          <p:nvSpPr>
            <p:cNvPr id="59" name="Rectangle 59"/>
            <p:cNvSpPr/>
            <p:nvPr/>
          </p:nvSpPr>
          <p:spPr>
            <a:xfrm>
              <a:off x="6898005" y="3593782"/>
              <a:ext cx="4760595" cy="1564958"/>
            </a:xfrm>
            <a:prstGeom prst="roundRect">
              <a:avLst>
                <a:gd name="adj" fmla="val 85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907530" y="3727132"/>
              <a:ext cx="47625" cy="129825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7139940" y="3797618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226198" y="383333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别忘了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883271" y="3838099"/>
              <a:ext cx="23075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O(1) 是理想情况下的性能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132701" y="4189571"/>
              <a:ext cx="410819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实际时间随数据量和数据分布而变。关键词分布不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好或装填因子失控时，散列表最坏会退化到 O(n)，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而平衡查找树的 O(logn) 是有保证的。</a:t>
              </a:r>
            </a:p>
          </p:txBody>
        </p:sp>
      </p:grpSp>
      <p:grpSp>
        <p:nvGrpSpPr>
          <p:cNvPr id="72" name="c2-callout-3"/>
          <p:cNvGrpSpPr/>
          <p:nvPr/>
        </p:nvGrpSpPr>
        <p:grpSpPr>
          <a:xfrm>
            <a:off x="6898005" y="5344478"/>
            <a:ext cx="4760595" cy="756285"/>
            <a:chOff x="6898005" y="5344478"/>
            <a:chExt cx="4760595" cy="756285"/>
          </a:xfrm>
        </p:grpSpPr>
        <p:sp>
          <p:nvSpPr>
            <p:cNvPr id="66" name="Rectangle 66"/>
            <p:cNvSpPr/>
            <p:nvPr/>
          </p:nvSpPr>
          <p:spPr>
            <a:xfrm>
              <a:off x="6898005" y="5344478"/>
              <a:ext cx="4760595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102793" y="5622608"/>
              <a:ext cx="200026" cy="200026"/>
              <a:chOff x="7102793" y="5622608"/>
              <a:chExt cx="200026" cy="200026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102793" y="5622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7202805" y="5689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7191693" y="5722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7405116" y="5491639"/>
              <a:ext cx="3846703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第24讲的 B 树面向外存，散列表在外存上没有优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势，因为它的随机访问模式对磁盘很不友好。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性能分析与应用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散列的两个典型应用：分片与摘要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graph-1"/>
          <p:cNvGrpSpPr/>
          <p:nvPr/>
        </p:nvGrpSpPr>
        <p:grpSpPr>
          <a:xfrm>
            <a:off x="853440" y="1634490"/>
            <a:ext cx="4692968" cy="1685925"/>
            <a:chOff x="853440" y="1634490"/>
            <a:chExt cx="4692968" cy="1685925"/>
          </a:xfrm>
        </p:grpSpPr>
        <p:sp>
          <p:nvSpPr>
            <p:cNvPr id="7" name="Freeform 7"/>
            <p:cNvSpPr/>
            <p:nvPr/>
          </p:nvSpPr>
          <p:spPr>
            <a:xfrm>
              <a:off x="1511618" y="2477452"/>
              <a:ext cx="890588" cy="9525"/>
            </a:xfrm>
            <a:custGeom>
              <a:avLst/>
              <a:gdLst/>
              <a:ahLst/>
              <a:cxnLst/>
              <a:rect l="l" t="t" r="r" b="b"/>
              <a:pathLst>
                <a:path w="890588" h="9525">
                  <a:moveTo>
                    <a:pt x="0" y="0"/>
                  </a:moveTo>
                  <a:lnTo>
                    <a:pt x="89058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402205" y="242982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329940" y="1967865"/>
              <a:ext cx="1188720" cy="377190"/>
            </a:xfrm>
            <a:custGeom>
              <a:avLst/>
              <a:gdLst/>
              <a:ahLst/>
              <a:cxnLst/>
              <a:rect l="l" t="t" r="r" b="b"/>
              <a:pathLst>
                <a:path w="1188720" h="377190">
                  <a:moveTo>
                    <a:pt x="0" y="377190"/>
                  </a:moveTo>
                  <a:lnTo>
                    <a:pt x="118872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504372" y="1923098"/>
              <a:ext cx="105728" cy="90488"/>
            </a:xfrm>
            <a:custGeom>
              <a:avLst/>
              <a:gdLst/>
              <a:ahLst/>
              <a:cxnLst/>
              <a:rect l="l" t="t" r="r" b="b"/>
              <a:pathLst>
                <a:path w="105728" h="90488">
                  <a:moveTo>
                    <a:pt x="105728" y="16192"/>
                  </a:moveTo>
                  <a:lnTo>
                    <a:pt x="29528" y="904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329940" y="2477452"/>
              <a:ext cx="1184910" cy="9525"/>
            </a:xfrm>
            <a:custGeom>
              <a:avLst/>
              <a:gdLst/>
              <a:ahLst/>
              <a:cxnLst/>
              <a:rect l="l" t="t" r="r" b="b"/>
              <a:pathLst>
                <a:path w="1184910" h="9525">
                  <a:moveTo>
                    <a:pt x="0" y="0"/>
                  </a:moveTo>
                  <a:lnTo>
                    <a:pt x="118491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514850" y="242982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329940" y="2609850"/>
              <a:ext cx="1188720" cy="377190"/>
            </a:xfrm>
            <a:custGeom>
              <a:avLst/>
              <a:gdLst/>
              <a:ahLst/>
              <a:cxnLst/>
              <a:rect l="l" t="t" r="r" b="b"/>
              <a:pathLst>
                <a:path w="1188720" h="377190">
                  <a:moveTo>
                    <a:pt x="0" y="0"/>
                  </a:moveTo>
                  <a:lnTo>
                    <a:pt x="1188720" y="37719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504372" y="2941320"/>
              <a:ext cx="105728" cy="90488"/>
            </a:xfrm>
            <a:custGeom>
              <a:avLst/>
              <a:gdLst/>
              <a:ahLst/>
              <a:cxnLst/>
              <a:rect l="l" t="t" r="r" b="b"/>
              <a:pathLst>
                <a:path w="105728" h="90488">
                  <a:moveTo>
                    <a:pt x="105728" y="74295"/>
                  </a:moveTo>
                  <a:lnTo>
                    <a:pt x="0" y="90488"/>
                  </a:lnTo>
                  <a:lnTo>
                    <a:pt x="2952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853440" y="2312670"/>
              <a:ext cx="659130" cy="329565"/>
            </a:xfrm>
            <a:prstGeom prst="roundRect">
              <a:avLst>
                <a:gd name="adj" fmla="val 28902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497455" y="2304098"/>
              <a:ext cx="832485" cy="346710"/>
            </a:xfrm>
            <a:prstGeom prst="roundRect">
              <a:avLst>
                <a:gd name="adj" fmla="val 27473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610100" y="1634490"/>
              <a:ext cx="936308" cy="312420"/>
            </a:xfrm>
            <a:prstGeom prst="roundRect">
              <a:avLst>
                <a:gd name="adj" fmla="val 30488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610100" y="2321242"/>
              <a:ext cx="936308" cy="312420"/>
            </a:xfrm>
            <a:prstGeom prst="roundRect">
              <a:avLst>
                <a:gd name="adj" fmla="val 30488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610100" y="3007995"/>
              <a:ext cx="936308" cy="312420"/>
            </a:xfrm>
            <a:prstGeom prst="roundRect">
              <a:avLst>
                <a:gd name="adj" fmla="val 30488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36320" y="241173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数据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25661" y="241173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散列函数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97339" y="1725930"/>
              <a:ext cx="5608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 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797339" y="2411730"/>
              <a:ext cx="5608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 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797339" y="3098482"/>
              <a:ext cx="5608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 2</a:t>
              </a:r>
            </a:p>
          </p:txBody>
        </p:sp>
      </p:grpSp>
      <p:grpSp>
        <p:nvGrpSpPr>
          <p:cNvPr id="32" name="c1-card-2"/>
          <p:cNvGrpSpPr/>
          <p:nvPr/>
        </p:nvGrpSpPr>
        <p:grpSpPr>
          <a:xfrm>
            <a:off x="533400" y="3606165"/>
            <a:ext cx="5410200" cy="1226820"/>
            <a:chOff x="533400" y="3606165"/>
            <a:chExt cx="5410200" cy="1226820"/>
          </a:xfrm>
        </p:grpSpPr>
        <p:sp>
          <p:nvSpPr>
            <p:cNvPr id="26" name="Rectangle 26"/>
            <p:cNvSpPr/>
            <p:nvPr/>
          </p:nvSpPr>
          <p:spPr>
            <a:xfrm>
              <a:off x="533400" y="3606165"/>
              <a:ext cx="5410200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42925" y="3739515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63905" y="379857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43343" y="383286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分布式存储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747647" y="38385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用散列值决定数据放在哪台机器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7047" y="4171950"/>
              <a:ext cx="475430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h(key) % 服务器台数，就能把数据均匀分到各节点，并且任何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一台机器都能独立算出某条数据归谁管，不需要中心目录。</a:t>
              </a:r>
            </a:p>
          </p:txBody>
        </p:sp>
      </p:grpSp>
      <p:grpSp>
        <p:nvGrpSpPr>
          <p:cNvPr id="39" name="c1-callout-3"/>
          <p:cNvGrpSpPr/>
          <p:nvPr/>
        </p:nvGrpSpPr>
        <p:grpSpPr>
          <a:xfrm>
            <a:off x="533400" y="5008245"/>
            <a:ext cx="5410200" cy="1050608"/>
            <a:chOff x="533400" y="5008245"/>
            <a:chExt cx="5410200" cy="1050608"/>
          </a:xfrm>
        </p:grpSpPr>
        <p:sp>
          <p:nvSpPr>
            <p:cNvPr id="33" name="Rectangle 33"/>
            <p:cNvSpPr/>
            <p:nvPr/>
          </p:nvSpPr>
          <p:spPr>
            <a:xfrm>
              <a:off x="533400" y="5008245"/>
              <a:ext cx="5410200" cy="1050608"/>
            </a:xfrm>
            <a:prstGeom prst="roundRect">
              <a:avLst>
                <a:gd name="adj" fmla="val 1087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5433060"/>
              <a:ext cx="200026" cy="200026"/>
              <a:chOff x="738188" y="5433060"/>
              <a:chExt cx="200026" cy="200026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543306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38200" y="54997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27088" y="553307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892" y="5314950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机器数量变化时要重算全部散列值，工程上用一致性散列缓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解，思想仍是本讲的散列函数。</a:t>
              </a:r>
            </a:p>
          </p:txBody>
        </p:sp>
      </p:grpSp>
      <p:grpSp>
        <p:nvGrpSpPr>
          <p:cNvPr id="50" name="c2-graph-1"/>
          <p:cNvGrpSpPr/>
          <p:nvPr/>
        </p:nvGrpSpPr>
        <p:grpSpPr>
          <a:xfrm>
            <a:off x="6412230" y="2087880"/>
            <a:ext cx="5068252" cy="346710"/>
            <a:chOff x="6412230" y="2087880"/>
            <a:chExt cx="5068252" cy="346710"/>
          </a:xfrm>
        </p:grpSpPr>
        <p:sp>
          <p:nvSpPr>
            <p:cNvPr id="40" name="Freeform 40"/>
            <p:cNvSpPr/>
            <p:nvPr/>
          </p:nvSpPr>
          <p:spPr>
            <a:xfrm>
              <a:off x="7382828" y="2261235"/>
              <a:ext cx="788670" cy="9525"/>
            </a:xfrm>
            <a:custGeom>
              <a:avLst/>
              <a:gdLst/>
              <a:ahLst/>
              <a:cxnLst/>
              <a:rect l="l" t="t" r="r" b="b"/>
              <a:pathLst>
                <a:path w="788670" h="9525">
                  <a:moveTo>
                    <a:pt x="0" y="0"/>
                  </a:moveTo>
                  <a:lnTo>
                    <a:pt x="78867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8171498" y="22136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9099232" y="2261235"/>
              <a:ext cx="586740" cy="9525"/>
            </a:xfrm>
            <a:custGeom>
              <a:avLst/>
              <a:gdLst/>
              <a:ahLst/>
              <a:cxnLst/>
              <a:rect l="l" t="t" r="r" b="b"/>
              <a:pathLst>
                <a:path w="586740" h="9525">
                  <a:moveTo>
                    <a:pt x="0" y="0"/>
                  </a:moveTo>
                  <a:lnTo>
                    <a:pt x="58674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685972" y="22136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12230" y="2096452"/>
              <a:ext cx="970598" cy="329565"/>
            </a:xfrm>
            <a:prstGeom prst="roundRect">
              <a:avLst>
                <a:gd name="adj" fmla="val 28902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266748" y="2087880"/>
              <a:ext cx="832485" cy="346710"/>
            </a:xfrm>
            <a:prstGeom prst="roundRect">
              <a:avLst>
                <a:gd name="adj" fmla="val 27473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9781222" y="2096452"/>
              <a:ext cx="1699260" cy="329565"/>
            </a:xfrm>
            <a:prstGeom prst="roundRect">
              <a:avLst>
                <a:gd name="adj" fmla="val 2890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51308" y="2195512"/>
              <a:ext cx="6933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password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94954" y="219551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散列函数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931662" y="2195512"/>
              <a:ext cx="13983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921988ba…3fa6cb6d</a:t>
              </a:r>
            </a:p>
          </p:txBody>
        </p:sp>
      </p:grpSp>
      <p:grpSp>
        <p:nvGrpSpPr>
          <p:cNvPr id="57" name="c2-card-2"/>
          <p:cNvGrpSpPr/>
          <p:nvPr/>
        </p:nvGrpSpPr>
        <p:grpSpPr>
          <a:xfrm>
            <a:off x="6248400" y="3172778"/>
            <a:ext cx="5410200" cy="1226820"/>
            <a:chOff x="6248400" y="3172778"/>
            <a:chExt cx="5410200" cy="1226820"/>
          </a:xfrm>
        </p:grpSpPr>
        <p:sp>
          <p:nvSpPr>
            <p:cNvPr id="51" name="Rectangle 51"/>
            <p:cNvSpPr/>
            <p:nvPr/>
          </p:nvSpPr>
          <p:spPr>
            <a:xfrm>
              <a:off x="6248400" y="3172778"/>
              <a:ext cx="5410200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257925" y="3306128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478905" y="3365182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562344" y="3399473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信息安全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329297" y="340518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密码散列化后再存进数据库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472047" y="3738562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数据库里只存散列值，不存明文。登录时把用户输入的口令再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算一次散列，与库里的值比对。库被拖走也拿不到原始口令。</a:t>
              </a:r>
            </a:p>
          </p:txBody>
        </p:sp>
      </p:grpSp>
      <p:grpSp>
        <p:nvGrpSpPr>
          <p:cNvPr id="64" name="c2-card-3"/>
          <p:cNvGrpSpPr/>
          <p:nvPr/>
        </p:nvGrpSpPr>
        <p:grpSpPr>
          <a:xfrm>
            <a:off x="6248400" y="4574858"/>
            <a:ext cx="5410200" cy="1483995"/>
            <a:chOff x="6248400" y="4574858"/>
            <a:chExt cx="5410200" cy="1483995"/>
          </a:xfrm>
        </p:grpSpPr>
        <p:sp>
          <p:nvSpPr>
            <p:cNvPr id="58" name="Rectangle 58"/>
            <p:cNvSpPr/>
            <p:nvPr/>
          </p:nvSpPr>
          <p:spPr>
            <a:xfrm>
              <a:off x="6248400" y="4574858"/>
              <a:ext cx="5410200" cy="1483995"/>
            </a:xfrm>
            <a:prstGeom prst="roundRect">
              <a:avLst>
                <a:gd name="adj" fmla="val 8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257925" y="4708208"/>
              <a:ext cx="47625" cy="121729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6478905" y="476726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570345" y="48015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062597" y="480631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这里不能用本讲的散列函数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472047" y="5140642"/>
              <a:ext cx="474573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口令散列要用专门的慢速函数并加随机盐（bcrypt、scrypt、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Argon2），目的是让暴力破解变慢。除余法这类算得越快越好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的函数，以及 MD5、SHA-1，都已不能用于口令。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性能分析与应用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布隆过滤器：不存关键词，只留几位痕迹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9350883" cy="264033"/>
            <a:chOff x="526542" y="1545907"/>
            <a:chExt cx="935088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935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浏览器要判断一个网址是不是恶意站点。恶意 URL 很多，把它们全存进散列表太占内存，希望表里根本不存关键词。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28812"/>
            <a:ext cx="5842635" cy="1649730"/>
            <a:chOff x="533400" y="1928812"/>
            <a:chExt cx="5842635" cy="164973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842635" cy="1649730"/>
            </a:xfrm>
            <a:prstGeom prst="roundRect">
              <a:avLst>
                <a:gd name="adj" fmla="val 80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38303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2475" y="21097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5147" y="2142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18450" y="2149316"/>
              <a:ext cx="14272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一个关键词占 k 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5998" y="2465546"/>
              <a:ext cx="5166106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k 个互相独立的散列函数 h₁、h₂、h₃。插入 K 时把 h₁(K)、h₂(K)、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h₃(K) 三个位置全置 1。查找 K 时看这三位：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全为 1 判定在表中，只要</a:t>
              </a:r>
              <a:br/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有一位为 0 就判定不在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7141" y="3232785"/>
              <a:ext cx="45375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下图中 K₁ 占第 2、6、11 位，K₂ 占第 6、9、13 位，第 6 位被两者共用</a:t>
              </a:r>
            </a:p>
          </p:txBody>
        </p:sp>
      </p:grpSp>
      <p:grpSp>
        <p:nvGrpSpPr>
          <p:cNvPr id="63" name="c1-cells-2"/>
          <p:cNvGrpSpPr/>
          <p:nvPr/>
        </p:nvGrpSpPr>
        <p:grpSpPr>
          <a:xfrm>
            <a:off x="528638" y="3742372"/>
            <a:ext cx="5848350" cy="571977"/>
            <a:chOff x="528638" y="3742372"/>
            <a:chExt cx="5848350" cy="571977"/>
          </a:xfrm>
        </p:grpSpPr>
        <p:sp>
          <p:nvSpPr>
            <p:cNvPr id="17" name="TextBox 17"/>
            <p:cNvSpPr txBox="1"/>
            <p:nvPr/>
          </p:nvSpPr>
          <p:spPr>
            <a:xfrm>
              <a:off x="528638" y="3865245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位串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95350" y="3742372"/>
              <a:ext cx="36576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38483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1261110" y="3742372"/>
              <a:ext cx="36576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403291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625918" y="3742372"/>
              <a:ext cx="365760" cy="3562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769051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991678" y="3742372"/>
              <a:ext cx="36576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134811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357438" y="3742372"/>
              <a:ext cx="36576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499618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722245" y="3742372"/>
              <a:ext cx="36576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2865378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3088005" y="3742372"/>
              <a:ext cx="365760" cy="3562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231138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3452812" y="3742372"/>
              <a:ext cx="36576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595946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818572" y="3742372"/>
              <a:ext cx="36576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961706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184332" y="3742372"/>
              <a:ext cx="365760" cy="3562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326513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549140" y="3742372"/>
              <a:ext cx="36576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92273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914900" y="3742372"/>
              <a:ext cx="365760" cy="3562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058033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280660" y="3742372"/>
              <a:ext cx="36576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422841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645468" y="3742372"/>
              <a:ext cx="365760" cy="3562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788601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011228" y="3742372"/>
              <a:ext cx="36576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154361" y="3865245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43111" y="41524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407918" y="41524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773678" y="41524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139438" y="41524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2504246" y="41524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870006" y="41524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235766" y="41524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600573" y="41524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3966333" y="41524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331141" y="41524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666544" y="415242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032304" y="415242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5397111" y="415242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5762871" y="415242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128631" y="415242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  <p:grpSp>
        <p:nvGrpSpPr>
          <p:cNvPr id="85" name="c1-table-3"/>
          <p:cNvGrpSpPr/>
          <p:nvPr/>
        </p:nvGrpSpPr>
        <p:grpSpPr>
          <a:xfrm>
            <a:off x="528447" y="4444365"/>
            <a:ext cx="5847588" cy="1789461"/>
            <a:chOff x="528447" y="4444365"/>
            <a:chExt cx="5847588" cy="1789461"/>
          </a:xfrm>
        </p:grpSpPr>
        <p:sp>
          <p:nvSpPr>
            <p:cNvPr id="64" name="Rectangle 64"/>
            <p:cNvSpPr/>
            <p:nvPr/>
          </p:nvSpPr>
          <p:spPr>
            <a:xfrm>
              <a:off x="533400" y="4444365"/>
              <a:ext cx="5842635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1008596" y="4562475"/>
              <a:ext cx="10365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每元素位数 m/n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2904150" y="4562475"/>
              <a:ext cx="9849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散列函数个数 k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107115" y="456247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误判率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28078" y="49434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2614994" y="494347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367594" y="4943475"/>
              <a:ext cx="427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1.74%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533400" y="520255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533400" y="5207318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28078" y="53244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2614994" y="532447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4282440" y="5216842"/>
              <a:ext cx="2084070" cy="36195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4367594" y="5324475"/>
              <a:ext cx="427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0.82%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533400" y="558450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28078" y="570642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2614994" y="570642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4367594" y="5706428"/>
              <a:ext cx="427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0.02%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533400" y="4444365"/>
              <a:ext cx="5842635" cy="1525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2" name="Rectangle 82"/>
            <p:cNvSpPr/>
            <p:nvPr/>
          </p:nvSpPr>
          <p:spPr>
            <a:xfrm>
              <a:off x="2515552" y="4444365"/>
              <a:ext cx="9525" cy="1525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4268152" y="4444365"/>
              <a:ext cx="9525" cy="1525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528447" y="6043136"/>
              <a:ext cx="33212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误判率 ≈ (1 − exp(−kn/m))ᵏ，n 是元素个数，m 是位数</a:t>
              </a:r>
            </a:p>
          </p:txBody>
        </p:sp>
      </p:grpSp>
      <p:grpSp>
        <p:nvGrpSpPr>
          <p:cNvPr id="100" name="c2-card-1"/>
          <p:cNvGrpSpPr/>
          <p:nvPr/>
        </p:nvGrpSpPr>
        <p:grpSpPr>
          <a:xfrm>
            <a:off x="6680835" y="1928812"/>
            <a:ext cx="4977765" cy="1973580"/>
            <a:chOff x="6680835" y="1928812"/>
            <a:chExt cx="4977765" cy="1973580"/>
          </a:xfrm>
        </p:grpSpPr>
        <p:sp>
          <p:nvSpPr>
            <p:cNvPr id="86" name="Rectangle 86"/>
            <p:cNvSpPr/>
            <p:nvPr/>
          </p:nvSpPr>
          <p:spPr>
            <a:xfrm>
              <a:off x="6680835" y="1928812"/>
              <a:ext cx="4977765" cy="1973580"/>
            </a:xfrm>
            <a:prstGeom prst="roundRect">
              <a:avLst>
                <a:gd name="adj" fmla="val 67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7" name="Rectangle 87"/>
            <p:cNvSpPr/>
            <p:nvPr/>
          </p:nvSpPr>
          <p:spPr>
            <a:xfrm>
              <a:off x="6690360" y="2062162"/>
              <a:ext cx="47625" cy="170688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6899910" y="210978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6985432" y="21426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三条性质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7715441" y="214931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会误报，不会漏报</a:t>
              </a:r>
            </a:p>
          </p:txBody>
        </p:sp>
        <p:sp>
          <p:nvSpPr>
            <p:cNvPr id="91" name="Ellipse 91"/>
            <p:cNvSpPr/>
            <p:nvPr/>
          </p:nvSpPr>
          <p:spPr>
            <a:xfrm>
              <a:off x="6900862" y="2454592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952769" y="249021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7170611" y="2465546"/>
              <a:ext cx="409321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存在误判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：判定“在表中”时可能是别的关键词把这几位凑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齐了。</a:t>
              </a:r>
            </a:p>
          </p:txBody>
        </p:sp>
        <p:sp>
          <p:nvSpPr>
            <p:cNvPr id="94" name="Ellipse 94"/>
            <p:cNvSpPr/>
            <p:nvPr/>
          </p:nvSpPr>
          <p:spPr>
            <a:xfrm>
              <a:off x="6900862" y="2982278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6952769" y="301790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7170611" y="2994184"/>
              <a:ext cx="34764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不会误判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：判定“不在表中”时一定真的不在。</a:t>
              </a:r>
            </a:p>
          </p:txBody>
        </p:sp>
        <p:sp>
          <p:nvSpPr>
            <p:cNvPr id="97" name="Ellipse 97"/>
            <p:cNvSpPr/>
            <p:nvPr/>
          </p:nvSpPr>
          <p:spPr>
            <a:xfrm>
              <a:off x="6900862" y="3268028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6952769" y="330269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7170611" y="3278981"/>
              <a:ext cx="40769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不能删除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：某一位可能被多个关键词共用，清零会误伤别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人。</a:t>
              </a:r>
            </a:p>
          </p:txBody>
        </p:sp>
      </p:grpSp>
      <p:grpSp>
        <p:nvGrpSpPr>
          <p:cNvPr id="108" name="c2-card-2"/>
          <p:cNvGrpSpPr/>
          <p:nvPr/>
        </p:nvGrpSpPr>
        <p:grpSpPr>
          <a:xfrm>
            <a:off x="6680835" y="4066222"/>
            <a:ext cx="4977765" cy="2128838"/>
            <a:chOff x="6680835" y="4066222"/>
            <a:chExt cx="4977765" cy="2128838"/>
          </a:xfrm>
        </p:grpSpPr>
        <p:sp>
          <p:nvSpPr>
            <p:cNvPr id="101" name="Rectangle 101"/>
            <p:cNvSpPr/>
            <p:nvPr/>
          </p:nvSpPr>
          <p:spPr>
            <a:xfrm>
              <a:off x="6680835" y="4066222"/>
              <a:ext cx="4977765" cy="2128838"/>
            </a:xfrm>
            <a:prstGeom prst="roundRect">
              <a:avLst>
                <a:gd name="adj" fmla="val 62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2" name="Rectangle 102"/>
            <p:cNvSpPr/>
            <p:nvPr/>
          </p:nvSpPr>
          <p:spPr>
            <a:xfrm>
              <a:off x="6690360" y="4199572"/>
              <a:ext cx="47625" cy="18621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03" name="Rectangle 103"/>
            <p:cNvSpPr/>
            <p:nvPr/>
          </p:nvSpPr>
          <p:spPr>
            <a:xfrm>
              <a:off x="6899910" y="4247198"/>
              <a:ext cx="107918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6971455" y="4280059"/>
              <a:ext cx="9370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Chrome 的用法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8087868" y="4287679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先本地过滤，再远程确认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6893433" y="4603909"/>
              <a:ext cx="44020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访问网址时先查本地布隆过滤器。不在表中就直接放行，因为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不会漏报；在表中才连远程服务器做进一步检查。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6893433" y="5131594"/>
              <a:ext cx="438581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 100 万条 URL，直接存要约 57 MB，按 10 位一条的布隆过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滤器只要约 1.2 MB。</a:t>
              </a:r>
            </a:p>
          </p:txBody>
        </p:sp>
      </p:grpSp>
      <p:grpSp>
        <p:nvGrpSpPr>
          <p:cNvPr id="11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9" name="TextBox 109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 · 性能分析与应用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动手实现：一个能插入、查找、删除的散列表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464933" cy="264033"/>
            <a:chOff x="526542" y="1545907"/>
            <a:chExt cx="746493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4649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腾讯校园招聘笔试的最后一道大题。用拉链法最省事，删除就是链表删除，不需要三种状态。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5410200" cy="2641282"/>
            <a:chOff x="533400" y="1928812"/>
            <a:chExt cx="5410200" cy="264128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2641282"/>
            </a:xfrm>
            <a:prstGeom prst="roundRect">
              <a:avLst>
                <a:gd name="adj" fmla="val 360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结构与查找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988" y="2339102"/>
              <a:ext cx="3064574" cy="2141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18"/>
                </a:lnSpc>
              </a:pPr>
              <a:r>
                <a:rPr lang="zh-CN" sz="79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#define M 13                /* 桶数取素数 */</a:t>
              </a:r>
              <a:br/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typedef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Node {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key;         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关键词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Node *next;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指针域 */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Node;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Node *T[M];          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头指针数组，初值全 NULL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Hash(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K) {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 % M; }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Node *Search(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K) {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失败返回 NULL */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Node *p = T[Hash(K)];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 !=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&amp;&amp; p-&gt;key != K)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 = p-&gt;next;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4734878"/>
            <a:ext cx="5410200" cy="986790"/>
            <a:chOff x="533400" y="4734878"/>
            <a:chExt cx="5410200" cy="986790"/>
          </a:xfrm>
        </p:grpSpPr>
        <p:sp>
          <p:nvSpPr>
            <p:cNvPr id="13" name="Rectangle 13"/>
            <p:cNvSpPr/>
            <p:nvPr/>
          </p:nvSpPr>
          <p:spPr>
            <a:xfrm>
              <a:off x="533400" y="4734878"/>
              <a:ext cx="5410200" cy="986790"/>
            </a:xfrm>
            <a:prstGeom prst="roundRect">
              <a:avLst>
                <a:gd name="adj" fmla="val 1158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26129" y="5124568"/>
              <a:ext cx="224134" cy="192560"/>
              <a:chOff x="726129" y="5124568"/>
              <a:chExt cx="224134" cy="19256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838200" y="519493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26129" y="512456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38200" y="52727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1273" y="5022056"/>
              <a:ext cx="437769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M 必须取素数。写成 16 这样的 2 的幂，K % M 就只看关键词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的低 4 位，高位信息全部作废。</a:t>
              </a:r>
            </a:p>
          </p:txBody>
        </p:sp>
      </p:grpSp>
      <p:grpSp>
        <p:nvGrpSpPr>
          <p:cNvPr id="23" name="c2-code-1"/>
          <p:cNvGrpSpPr/>
          <p:nvPr/>
        </p:nvGrpSpPr>
        <p:grpSpPr>
          <a:xfrm>
            <a:off x="6248400" y="1928812"/>
            <a:ext cx="5410200" cy="2926080"/>
            <a:chOff x="6248400" y="1928812"/>
            <a:chExt cx="5410200" cy="2926080"/>
          </a:xfrm>
        </p:grpSpPr>
        <p:sp>
          <p:nvSpPr>
            <p:cNvPr id="20" name="Rectangle 20"/>
            <p:cNvSpPr/>
            <p:nvPr/>
          </p:nvSpPr>
          <p:spPr>
            <a:xfrm>
              <a:off x="6248400" y="1928812"/>
              <a:ext cx="5410200" cy="2926080"/>
            </a:xfrm>
            <a:prstGeom prst="roundRect">
              <a:avLst>
                <a:gd name="adj" fmla="val 325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76797" y="2080736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插入与删除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76988" y="2339102"/>
              <a:ext cx="2848864" cy="24255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18"/>
                </a:lnSpc>
              </a:pP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Insert(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K) {  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尾插，链序即插入序 */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Node **pp = &amp;T[Hash(K)];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(*pp !=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&amp;&amp; (*pp)-&gt;key != K)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pp = &amp;(*pp)-&gt;next;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(*pp !=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0;   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已存在 */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*pp = (Node *)malloc(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sizeof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(Node));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(*pp)-&gt;key = K;  (*pp)-&gt;next =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1;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Remove(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K) {  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就是链表删除 */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Node **pp = &amp;T[Hash(K)], *q;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(*pp !=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&amp;&amp; (*pp)-&gt;key != K)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pp = &amp;(*pp)-&gt;next;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(*pp ==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0;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q = *pp;  *pp = q-&gt;next;  free(q);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1;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0" name="c2-callout-2"/>
          <p:cNvGrpSpPr/>
          <p:nvPr/>
        </p:nvGrpSpPr>
        <p:grpSpPr>
          <a:xfrm>
            <a:off x="6248400" y="5018722"/>
            <a:ext cx="5410200" cy="702945"/>
            <a:chOff x="6248400" y="5018722"/>
            <a:chExt cx="5410200" cy="702945"/>
          </a:xfrm>
        </p:grpSpPr>
        <p:sp>
          <p:nvSpPr>
            <p:cNvPr id="24" name="Rectangle 24"/>
            <p:cNvSpPr/>
            <p:nvPr/>
          </p:nvSpPr>
          <p:spPr>
            <a:xfrm>
              <a:off x="6248400" y="5018722"/>
              <a:ext cx="5410200" cy="702945"/>
            </a:xfrm>
            <a:prstGeom prst="roundRect">
              <a:avLst>
                <a:gd name="adj" fmla="val 1626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6453188" y="5270183"/>
              <a:ext cx="200026" cy="200025"/>
              <a:chOff x="6453188" y="5270183"/>
              <a:chExt cx="200026" cy="20002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6453188" y="527018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492926" y="531463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6527642" y="542575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6756273" y="5163979"/>
              <a:ext cx="423138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元素变多时要扩容：n/M 超过 0.75 就换一个约两倍大的素</a:t>
              </a:r>
              <a:br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数，再把全部关键词重算地址搬过去。</a:t>
              </a:r>
            </a:p>
          </p:txBody>
        </p:sp>
      </p:grpSp>
      <p:grpSp>
        <p:nvGrpSpPr>
          <p:cNvPr id="36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31" name="Rectangle 31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1273" y="6039326"/>
              <a:ext cx="80159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二级指针 </a:t>
              </a:r>
              <a:r>
                <a:rPr lang="en-US" sz="1280" dirty="0">
                  <a:solidFill>
                    <a:srgbClr val="E6EFF9"/>
                  </a:solidFill>
                  <a:latin typeface="+mn-lt"/>
                  <a:ea typeface="+mn-ea"/>
                  <a:cs typeface="+mn-cs"/>
                </a:rPr>
                <a:t>Node **pp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让头结点和中间结点的删除写成同一套代码，不必单独判断“要删的是不是第一个”。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57846" cy="909257"/>
            <a:chOff x="520446" y="342900"/>
            <a:chExt cx="105784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2376297" cy="264033"/>
            <a:chOff x="526542" y="1545907"/>
            <a:chExt cx="237629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先自己写出答案，再看解答。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28812"/>
            <a:ext cx="3505200" cy="2157412"/>
            <a:chOff x="533400" y="1928812"/>
            <a:chExt cx="3505200" cy="215741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3505200" cy="2157412"/>
            </a:xfrm>
            <a:prstGeom prst="roundRect">
              <a:avLst>
                <a:gd name="adj" fmla="val 618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14375" y="210978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03832" y="214264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07898" y="2449354"/>
              <a:ext cx="29390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为什么散列查找不受比较型查找的下界约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束？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7898" y="2977991"/>
              <a:ext cx="2939034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那条下界只约束靠关键词之间的比较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来定位的算法。散列直接用关键词的值算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地址，不做大小比较，不在它的适用范围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4251008"/>
            <a:ext cx="3505200" cy="1914525"/>
            <a:chOff x="533400" y="4251008"/>
            <a:chExt cx="3505200" cy="1914525"/>
          </a:xfrm>
        </p:grpSpPr>
        <p:sp>
          <p:nvSpPr>
            <p:cNvPr id="15" name="Rectangle 15"/>
            <p:cNvSpPr/>
            <p:nvPr/>
          </p:nvSpPr>
          <p:spPr>
            <a:xfrm>
              <a:off x="533400" y="4251008"/>
              <a:ext cx="3505200" cy="1914525"/>
            </a:xfrm>
            <a:prstGeom prst="roundRect">
              <a:avLst>
                <a:gd name="adj" fmla="val 696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4375" y="443198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3832" y="446484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7898" y="4772501"/>
              <a:ext cx="29390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线性探查表里能不能把要删的元素直接清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7898" y="5300186"/>
              <a:ext cx="293903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不能。别的元素可能是绕过这个位置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存到后面的，清空会让查找在这里提前判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定失败。要用懒惰删除或实时删除。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4343400" y="1928812"/>
            <a:ext cx="3505200" cy="1914525"/>
            <a:chOff x="4343400" y="1928812"/>
            <a:chExt cx="3505200" cy="1914525"/>
          </a:xfrm>
        </p:grpSpPr>
        <p:sp>
          <p:nvSpPr>
            <p:cNvPr id="21" name="Rectangle 21"/>
            <p:cNvSpPr/>
            <p:nvPr/>
          </p:nvSpPr>
          <p:spPr>
            <a:xfrm>
              <a:off x="4343400" y="1928812"/>
              <a:ext cx="3505200" cy="1914525"/>
            </a:xfrm>
            <a:prstGeom prst="roundRect">
              <a:avLst>
                <a:gd name="adj" fmla="val 696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524375" y="210978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613832" y="214264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17898" y="2449354"/>
              <a:ext cx="23387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除余法为什么要求 M 取素数？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17898" y="2735104"/>
              <a:ext cx="2947162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真实关键词常成等差分布。M 与公差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的最大公因数为 g 时，散列值只落在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M/g 个地址上。M 取素数能让 g = 1 的概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率最大。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4343400" y="4008120"/>
            <a:ext cx="3505200" cy="2157412"/>
            <a:chOff x="4343400" y="4008120"/>
            <a:chExt cx="3505200" cy="2157412"/>
          </a:xfrm>
        </p:grpSpPr>
        <p:sp>
          <p:nvSpPr>
            <p:cNvPr id="27" name="Rectangle 27"/>
            <p:cNvSpPr/>
            <p:nvPr/>
          </p:nvSpPr>
          <p:spPr>
            <a:xfrm>
              <a:off x="4343400" y="4008120"/>
              <a:ext cx="3505200" cy="2157412"/>
            </a:xfrm>
            <a:prstGeom prst="roundRect">
              <a:avLst>
                <a:gd name="adj" fmla="val 618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4524375" y="418909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613832" y="422195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17898" y="4529614"/>
              <a:ext cx="30720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实时删除时怎么判断 T[i] 要不要前移？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17898" y="4814411"/>
              <a:ext cx="3020314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 r = h(T[i])。从 r 沿探查方向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走，若先遇到被清空的 j 再遇到 i，路径被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切断，T[i] 必须前移到 j；若先遇到 i 则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不动。</a:t>
              </a:r>
            </a:p>
          </p:txBody>
        </p:sp>
      </p:grpSp>
      <p:grpSp>
        <p:nvGrpSpPr>
          <p:cNvPr id="38" name="c3-card-1"/>
          <p:cNvGrpSpPr/>
          <p:nvPr/>
        </p:nvGrpSpPr>
        <p:grpSpPr>
          <a:xfrm>
            <a:off x="8153400" y="1928812"/>
            <a:ext cx="3505200" cy="1914525"/>
            <a:chOff x="8153400" y="1928812"/>
            <a:chExt cx="3505200" cy="1914525"/>
          </a:xfrm>
        </p:grpSpPr>
        <p:sp>
          <p:nvSpPr>
            <p:cNvPr id="33" name="Rectangle 33"/>
            <p:cNvSpPr/>
            <p:nvPr/>
          </p:nvSpPr>
          <p:spPr>
            <a:xfrm>
              <a:off x="8153400" y="1928812"/>
              <a:ext cx="3505200" cy="1914525"/>
            </a:xfrm>
            <a:prstGeom prst="roundRect">
              <a:avLst>
                <a:gd name="adj" fmla="val 696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8334375" y="210978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423832" y="214264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27898" y="2449354"/>
              <a:ext cx="29704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查找不成功的 ASL，分母应该取什么？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27898" y="2735104"/>
              <a:ext cx="2995930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取散列函数值域的大小，即可能的散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列地址个数，不是表长，也不是元素个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数。2019 年考研题里值域 7 与表长 11 就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不相等。</a:t>
              </a:r>
            </a:p>
          </p:txBody>
        </p:sp>
      </p:grpSp>
      <p:grpSp>
        <p:nvGrpSpPr>
          <p:cNvPr id="44" name="c3-card-2"/>
          <p:cNvGrpSpPr/>
          <p:nvPr/>
        </p:nvGrpSpPr>
        <p:grpSpPr>
          <a:xfrm>
            <a:off x="8153400" y="4008120"/>
            <a:ext cx="3505200" cy="2157412"/>
            <a:chOff x="8153400" y="4008120"/>
            <a:chExt cx="3505200" cy="2157412"/>
          </a:xfrm>
        </p:grpSpPr>
        <p:sp>
          <p:nvSpPr>
            <p:cNvPr id="39" name="Rectangle 39"/>
            <p:cNvSpPr/>
            <p:nvPr/>
          </p:nvSpPr>
          <p:spPr>
            <a:xfrm>
              <a:off x="8153400" y="4008120"/>
              <a:ext cx="3505200" cy="2157412"/>
            </a:xfrm>
            <a:prstGeom prst="roundRect">
              <a:avLst>
                <a:gd name="adj" fmla="val 618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8334375" y="418909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423832" y="422195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27898" y="4529614"/>
              <a:ext cx="27966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布隆过滤器判定“不在表中”可信吗？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27898" y="4814411"/>
              <a:ext cx="2955290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可信。插入只会把位置 1，所以只要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有一位是 0，就说明这个关键词从未插入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过。反过来判定“在表中”可能是多个关键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词凑出来的误判。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第25讲 散列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table-1"/>
          <p:cNvGrpSpPr/>
          <p:nvPr/>
        </p:nvGrpSpPr>
        <p:grpSpPr>
          <a:xfrm>
            <a:off x="533400" y="1524000"/>
            <a:ext cx="5842635" cy="2287905"/>
            <a:chOff x="533400" y="1524000"/>
            <a:chExt cx="5842635" cy="22879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89698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概念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311015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28078" y="20231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散列函数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634044" y="2023110"/>
              <a:ext cx="26511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h(K) 算出下标，除余法最常用，M 取素数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2821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286952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28078" y="2404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634044" y="2404110"/>
              <a:ext cx="2130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鸽巢原理保证必然发生，只能处理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6631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8078" y="278511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拉链法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34044" y="2785110"/>
              <a:ext cx="23712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同址串成链表，α 可大于 1，删除简单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4514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049905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8078" y="316706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开放地址法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634044" y="3167062"/>
              <a:ext cx="23712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线性、二次、双重探查，α 必须小于 1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42614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28078" y="3548062"/>
              <a:ext cx="5991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 ASL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634044" y="3548062"/>
              <a:ext cx="19895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成功看元素个数，不成功看值域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1524000"/>
              <a:ext cx="5842635" cy="2287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2534602" y="1524000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3" name="c1-card-2"/>
          <p:cNvGrpSpPr/>
          <p:nvPr/>
        </p:nvGrpSpPr>
        <p:grpSpPr>
          <a:xfrm>
            <a:off x="533400" y="3976688"/>
            <a:ext cx="5842635" cy="1512570"/>
            <a:chOff x="533400" y="3976688"/>
            <a:chExt cx="5842635" cy="1512570"/>
          </a:xfrm>
        </p:grpSpPr>
        <p:sp>
          <p:nvSpPr>
            <p:cNvPr id="29" name="Rectangle 29"/>
            <p:cNvSpPr/>
            <p:nvPr/>
          </p:nvSpPr>
          <p:spPr>
            <a:xfrm>
              <a:off x="533400" y="3976688"/>
              <a:ext cx="5842635" cy="1512570"/>
            </a:xfrm>
            <a:prstGeom prst="roundRect">
              <a:avLst>
                <a:gd name="adj" fmla="val 8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2925" y="4110038"/>
              <a:ext cx="47625" cy="124587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52475" y="4157662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3946" y="41905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更正与补充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691830" y="419814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本讲义对源课件的更正与补充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52475" y="4503420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04382" y="453904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22223" y="4514374"/>
              <a:ext cx="51246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第 39 页伪代码 </a:t>
              </a:r>
              <a:r>
                <a:rPr lang="en-US" sz="128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i=j+1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未取模，j = M−1 时越界，已改成 </a:t>
              </a:r>
              <a:r>
                <a:rPr lang="en-US" sz="128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(j+1)%M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52475" y="4788218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04382" y="482384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22223" y="4799171"/>
              <a:ext cx="51389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补出留空的三道题：2018 答 2，2019 选 C，腾讯笔试的完整实现。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752475" y="5073015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04382" y="510863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22223" y="5083969"/>
              <a:ext cx="41146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补充二次探查对 M 的要求与两套 ASL 记数法的区别。</a:t>
              </a:r>
            </a:p>
          </p:txBody>
        </p:sp>
      </p:grpSp>
      <p:grpSp>
        <p:nvGrpSpPr>
          <p:cNvPr id="56" name="c2-bullets-1"/>
          <p:cNvGrpSpPr/>
          <p:nvPr/>
        </p:nvGrpSpPr>
        <p:grpSpPr>
          <a:xfrm>
            <a:off x="6681788" y="1533525"/>
            <a:ext cx="4704334" cy="1626203"/>
            <a:chOff x="6681788" y="1533525"/>
            <a:chExt cx="4704334" cy="1626203"/>
          </a:xfrm>
        </p:grpSpPr>
        <p:sp>
          <p:nvSpPr>
            <p:cNvPr id="44" name="Ellipse 44"/>
            <p:cNvSpPr/>
            <p:nvPr/>
          </p:nvSpPr>
          <p:spPr>
            <a:xfrm>
              <a:off x="6681788" y="1533525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33694" y="156914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951536" y="1545431"/>
              <a:ext cx="443458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散列用“算地址”替换了“比较关键词”，这是它绕开下界的全部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原因。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681788" y="2069782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733694" y="210540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951536" y="2080736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散列函数的设计目标是均匀，不是无冲突。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681788" y="2363152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733694" y="239877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951536" y="2374106"/>
              <a:ext cx="38688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 ASL 的分母不同，这是考研题最爱设的陷阱。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681788" y="2656522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733694" y="2691193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951536" y="2667476"/>
              <a:ext cx="441833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闭散列法的删除之所以麻烦，是因为查找用“遇到空位”判定失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败。</a:t>
              </a:r>
            </a:p>
          </p:txBody>
        </p:sp>
      </p:grpSp>
      <p:grpSp>
        <p:nvGrpSpPr>
          <p:cNvPr id="70" name="c2-card-2"/>
          <p:cNvGrpSpPr/>
          <p:nvPr/>
        </p:nvGrpSpPr>
        <p:grpSpPr>
          <a:xfrm>
            <a:off x="6680835" y="3273742"/>
            <a:ext cx="4977765" cy="2216468"/>
            <a:chOff x="6680835" y="3273742"/>
            <a:chExt cx="4977765" cy="2216468"/>
          </a:xfrm>
        </p:grpSpPr>
        <p:sp>
          <p:nvSpPr>
            <p:cNvPr id="57" name="Rectangle 57"/>
            <p:cNvSpPr/>
            <p:nvPr/>
          </p:nvSpPr>
          <p:spPr>
            <a:xfrm>
              <a:off x="6680835" y="3273742"/>
              <a:ext cx="4977765" cy="2216468"/>
            </a:xfrm>
            <a:prstGeom prst="roundRect">
              <a:avLst>
                <a:gd name="adj" fmla="val 6016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861810" y="345471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947332" y="348757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复习方法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677341" y="349519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三步自查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862762" y="3800475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914669" y="383609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132511" y="3811429"/>
              <a:ext cx="405257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 h(K) = K % 7 把 19, 1, 23, 21, 55, 68, 11, 82, 36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画成拉链表，算出 13/9 与 9/7。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862762" y="4328160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914669" y="436378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132511" y="4339114"/>
              <a:ext cx="409321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 h(K) = K % 10 线性探查插入 20, 17, 2, 23, 32, 66,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6, 1，算出 1.5 与 3.1。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6862762" y="4855845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914669" y="489146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132511" y="4866799"/>
              <a:ext cx="406069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默写第 32 页的 </a:t>
              </a:r>
              <a:r>
                <a:rPr lang="en-US" sz="1280" dirty="0">
                  <a:solidFill>
                    <a:srgbClr val="E6EFF9"/>
                  </a:solidFill>
                  <a:latin typeface="+mn-lt"/>
                  <a:ea typeface="+mn-ea"/>
                  <a:cs typeface="+mn-cs"/>
                </a:rPr>
                <a:t>Blocked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和 </a:t>
              </a:r>
              <a:r>
                <a:rPr lang="en-US" sz="1280" dirty="0">
                  <a:solidFill>
                    <a:srgbClr val="E6EFF9"/>
                  </a:solidFill>
                  <a:latin typeface="+mn-lt"/>
                  <a:ea typeface="+mn-ea"/>
                  <a:cs typeface="+mn-cs"/>
                </a:rPr>
                <a:t>HashRemove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，再手算一遍第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33 页删除 9 的过程。</a:t>
              </a:r>
            </a:p>
          </p:txBody>
        </p:sp>
      </p:grpSp>
      <p:grpSp>
        <p:nvGrpSpPr>
          <p:cNvPr id="76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71" name="Rectangle 71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1041273" y="6039326"/>
              <a:ext cx="89474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本讲是全课最后一讲。复习时回到第 1 讲第 28 页的课程地图，按基础、线性结构、树、图、排序、查找六组过一遍。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401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第25讲 散列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ds_l25">
  <a:themeElements>
    <a:clrScheme name="ds_l2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s_l25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s_l25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2026-09-23T06:26:08Z</dcterms:created>
  <dcterms:modified xsi:type="dcterms:W3CDTF">2026-09-23T06:26:08Z</dcterms:modified>
  <cp:category/>
  <cp:contentStatus/>
</cp:coreProperties>
</file>